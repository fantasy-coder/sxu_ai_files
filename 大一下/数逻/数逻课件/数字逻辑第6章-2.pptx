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28"/>
  </p:notesMasterIdLst>
  <p:sldIdLst>
    <p:sldId id="1380" r:id="rId4"/>
    <p:sldId id="1044" r:id="rId5"/>
    <p:sldId id="1047" r:id="rId6"/>
    <p:sldId id="1048" r:id="rId7"/>
    <p:sldId id="1049" r:id="rId8"/>
    <p:sldId id="1050" r:id="rId9"/>
    <p:sldId id="1403" r:id="rId10"/>
    <p:sldId id="635" r:id="rId11"/>
    <p:sldId id="1051" r:id="rId12"/>
    <p:sldId id="636" r:id="rId13"/>
    <p:sldId id="638" r:id="rId14"/>
    <p:sldId id="639" r:id="rId15"/>
    <p:sldId id="653" r:id="rId16"/>
    <p:sldId id="641" r:id="rId17"/>
    <p:sldId id="640" r:id="rId18"/>
    <p:sldId id="637" r:id="rId19"/>
    <p:sldId id="649" r:id="rId20"/>
    <p:sldId id="648" r:id="rId21"/>
    <p:sldId id="650" r:id="rId22"/>
    <p:sldId id="645" r:id="rId23"/>
    <p:sldId id="646" r:id="rId24"/>
    <p:sldId id="647" r:id="rId25"/>
    <p:sldId id="651" r:id="rId26"/>
    <p:sldId id="652" r:id="rId27"/>
  </p:sldIdLst>
  <p:sldSz cx="9144000" cy="6858000" type="screen4x3"/>
  <p:notesSz cx="7104380" cy="10234930"/>
  <p:custDataLst>
    <p:tags r:id="rId3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FF"/>
    <a:srgbClr val="008000"/>
    <a:srgbClr val="990099"/>
    <a:srgbClr val="0000FF"/>
    <a:srgbClr val="F20EDC"/>
    <a:srgbClr val="33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489"/>
    <p:restoredTop sz="95244"/>
  </p:normalViewPr>
  <p:slideViewPr>
    <p:cSldViewPr snapToGrid="0" showGuides="1">
      <p:cViewPr>
        <p:scale>
          <a:sx n="75" d="100"/>
          <a:sy n="75" d="100"/>
        </p:scale>
        <p:origin x="1858" y="298"/>
      </p:cViewPr>
      <p:guideLst>
        <p:guide orient="horz" pos="2155"/>
        <p:guide pos="29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gs" Target="tags/tag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7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algn="r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7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720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B1CEEB-BDB6-460C-A731-12CF5FACA222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B1CEEB-BDB6-460C-A731-12CF5FACA222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jpeg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498475" y="266700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479425" y="1260475"/>
            <a:ext cx="8274050" cy="4702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000760" y="0"/>
            <a:ext cx="3143240" cy="785793"/>
          </a:xfrm>
          <a:prstGeom prst="roundRect">
            <a:avLst>
              <a:gd name="adj" fmla="val 2375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29" name="AutoShape 4"/>
          <p:cNvSpPr/>
          <p:nvPr userDrawn="1"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1998354"/>
              </a:cxn>
              <a:cxn ang="0">
                <a:pos x="0" y="11998354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>
              <a:alpha val="100000"/>
            </a:srgbClr>
          </a:solidFill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1030" name="Picture 9" descr="BJ2039"/>
          <p:cNvPicPr preferRelativeResize="0"/>
          <p:nvPr userDrawn="1"/>
        </p:nvPicPr>
        <p:blipFill>
          <a:blip r:embed="rId17"/>
          <a:stretch>
            <a:fillRect/>
          </a:stretch>
        </p:blipFill>
        <p:spPr>
          <a:xfrm>
            <a:off x="5867400" y="6096000"/>
            <a:ext cx="32766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61E8DB-7173-4D6F-BCF1-2741B4247A88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8350" y="6453188"/>
            <a:ext cx="720725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randomBar dir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2400">
          <a:solidFill>
            <a:srgbClr val="0000FF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Rot="1"/>
          </p:cNvSpPr>
          <p:nvPr>
            <p:ph type="title"/>
          </p:nvPr>
        </p:nvSpPr>
        <p:spPr>
          <a:xfrm>
            <a:off x="498475" y="266700"/>
            <a:ext cx="6746875" cy="7254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 noRot="1"/>
          </p:cNvSpPr>
          <p:nvPr>
            <p:ph type="body"/>
          </p:nvPr>
        </p:nvSpPr>
        <p:spPr>
          <a:xfrm>
            <a:off x="479425" y="1260475"/>
            <a:ext cx="8274050" cy="4702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00760" y="0"/>
            <a:ext cx="3143240" cy="785793"/>
          </a:xfrm>
          <a:prstGeom prst="roundRect">
            <a:avLst>
              <a:gd name="adj" fmla="val 2375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149" name="AutoShape 4"/>
          <p:cNvSpPr/>
          <p:nvPr userDrawn="1"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1998354"/>
              </a:cxn>
              <a:cxn ang="0">
                <a:pos x="0" y="11998354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>
              <a:alpha val="100000"/>
            </a:srgbClr>
          </a:solidFill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6150" name="Picture 9" descr="BJ2039"/>
          <p:cNvPicPr preferRelativeResize="0"/>
          <p:nvPr userDrawn="1"/>
        </p:nvPicPr>
        <p:blipFill>
          <a:blip r:embed="rId4"/>
          <a:stretch>
            <a:fillRect/>
          </a:stretch>
        </p:blipFill>
        <p:spPr>
          <a:xfrm>
            <a:off x="5867400" y="6096000"/>
            <a:ext cx="32766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B1CEEB-BDB6-460C-A731-12CF5FACA222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8350" y="6453188"/>
            <a:ext cx="720725" cy="3603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ransition spd="slow">
    <p:randomBar dir="vert"/>
  </p:transition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CC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2400">
          <a:solidFill>
            <a:srgbClr val="0000FF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30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o"/>
        <a:defRPr sz="2800" b="1">
          <a:solidFill>
            <a:srgbClr val="0000FF"/>
          </a:solidFill>
          <a:latin typeface="Arial Narrow" panose="020B0606020202030204" pitchFamily="34" charset="0"/>
          <a:ea typeface="楷体_GB2312" charset="-122"/>
          <a:cs typeface="楷体_GB231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5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1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pn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7"/>
          <p:cNvSpPr txBox="1"/>
          <p:nvPr/>
        </p:nvSpPr>
        <p:spPr>
          <a:xfrm>
            <a:off x="339725" y="2857500"/>
            <a:ext cx="7951788" cy="2454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数字逻辑基础与</a:t>
            </a:r>
            <a:r>
              <a:rPr lang="en-US" altLang="zh-CN" sz="4800" dirty="0">
                <a:solidFill>
                  <a:srgbClr val="000000"/>
                </a:solidFill>
                <a:latin typeface="Agency FB" panose="020B0503020202020204" pitchFamily="34" charset="0"/>
                <a:ea typeface="楷体" panose="02010609060101010101" pitchFamily="49" charset="-122"/>
              </a:rPr>
              <a:t>Verilog</a:t>
            </a: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endParaRPr lang="en-US" altLang="zh-CN" sz="4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zh-CN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r>
              <a:rPr lang="zh-CN" altLang="en-US" sz="4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篇</a:t>
            </a:r>
            <a:endParaRPr lang="en-US" altLang="zh-CN" sz="4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74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7412" name="灯片编号占位符 2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Text Box 17"/>
          <p:cNvSpPr txBox="1"/>
          <p:nvPr/>
        </p:nvSpPr>
        <p:spPr>
          <a:xfrm>
            <a:off x="1422400" y="2162175"/>
            <a:ext cx="6523038" cy="164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10000"/>
              </a:spcBef>
            </a:pPr>
            <a:endParaRPr lang="en-US" altLang="zh-CN" sz="4800" b="1" dirty="0">
              <a:solidFill>
                <a:srgbClr val="0000CC"/>
              </a:solidFill>
              <a:latin typeface="Arial" panose="020B0604020202020204" pitchFamily="34" charset="0"/>
              <a:ea typeface="楷体_GB2312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  <a:latin typeface="Britannic Bold" panose="020B0903060703020204" pitchFamily="34" charset="0"/>
                <a:ea typeface="楷体_GB2312" charset="-122"/>
              </a:rPr>
              <a:t>6</a:t>
            </a:r>
            <a:r>
              <a:rPr lang="zh-CN" altLang="en-US" sz="4800" dirty="0">
                <a:solidFill>
                  <a:srgbClr val="FF0000"/>
                </a:solidFill>
                <a:latin typeface="Arial" panose="020B0604020202020204" pitchFamily="34" charset="0"/>
                <a:ea typeface="楷体_GB2312" charset="-122"/>
              </a:rPr>
              <a:t>章 同步时序电路</a:t>
            </a:r>
            <a:endParaRPr lang="zh-CN" altLang="en-US" sz="4800" dirty="0">
              <a:solidFill>
                <a:srgbClr val="FF0000"/>
              </a:solidFill>
              <a:latin typeface="Arial" panose="020B0604020202020204" pitchFamily="34" charset="0"/>
              <a:ea typeface="楷体_GB2312" charset="-122"/>
            </a:endParaRPr>
          </a:p>
        </p:txBody>
      </p:sp>
      <p:sp>
        <p:nvSpPr>
          <p:cNvPr id="155651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内容占位符 2"/>
          <p:cNvSpPr>
            <a:spLocks noGrp="1" noRot="1"/>
          </p:cNvSpPr>
          <p:nvPr>
            <p:ph idx="1"/>
          </p:nvPr>
        </p:nvSpPr>
        <p:spPr>
          <a:xfrm>
            <a:off x="479425" y="1260475"/>
            <a:ext cx="8274050" cy="5256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本章内容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时序的基本设计步骤举例（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Moore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型）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Mealy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型状态机及举例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•"/>
              <a:defRPr/>
            </a:pPr>
            <a:r>
              <a:rPr kumimoji="0" lang="zh-CN" altLang="en-US" sz="21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_GB2312" charset="-122"/>
              </a:rPr>
              <a:t>串行数据检测：</a:t>
            </a: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车速控制电路、</a:t>
            </a:r>
            <a:r>
              <a:rPr kumimoji="0" lang="zh-CN" altLang="en-US" sz="21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_GB2312" charset="-122"/>
              </a:rPr>
              <a:t>串行加法器、奇偶校验器等。</a:t>
            </a:r>
            <a:endParaRPr kumimoji="0" lang="zh-CN" altLang="en-US" sz="21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楷体_GB2312" charset="-122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同步计数器设计与同步时序电路分析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0227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8022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车速控制电路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1252" name="TextBox 1"/>
          <p:cNvSpPr txBox="1"/>
          <p:nvPr/>
        </p:nvSpPr>
        <p:spPr>
          <a:xfrm>
            <a:off x="614363" y="1139825"/>
            <a:ext cx="8305800" cy="900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har char="•"/>
            </a:pPr>
            <a:r>
              <a:rPr lang="zh-CN" altLang="en-US" sz="2300" b="1" dirty="0">
                <a:solidFill>
                  <a:srgbClr val="000000"/>
                </a:solidFill>
              </a:rPr>
              <a:t>将上例中“车速控制电路”做如下修改“当连续两次检测到</a:t>
            </a:r>
            <a:r>
              <a:rPr lang="en-US" altLang="zh-CN" sz="2300" b="1" i="1" dirty="0">
                <a:solidFill>
                  <a:srgbClr val="000000"/>
                </a:solidFill>
              </a:rPr>
              <a:t>w=</a:t>
            </a:r>
            <a:r>
              <a:rPr lang="en-US" altLang="zh-CN" sz="2300" b="1" dirty="0">
                <a:solidFill>
                  <a:srgbClr val="000000"/>
                </a:solidFill>
              </a:rPr>
              <a:t>1</a:t>
            </a:r>
            <a:r>
              <a:rPr lang="zh-CN" altLang="en-US" sz="2300" b="1" dirty="0">
                <a:solidFill>
                  <a:srgbClr val="000000"/>
                </a:solidFill>
              </a:rPr>
              <a:t>时，在</a:t>
            </a:r>
            <a:r>
              <a:rPr lang="zh-CN" altLang="en-US" sz="2300" b="1" u="sng" dirty="0">
                <a:solidFill>
                  <a:srgbClr val="000000"/>
                </a:solidFill>
              </a:rPr>
              <a:t>相同时钟</a:t>
            </a:r>
            <a:r>
              <a:rPr lang="zh-CN" altLang="en-US" sz="2300" b="1" dirty="0">
                <a:solidFill>
                  <a:srgbClr val="000000"/>
                </a:solidFill>
              </a:rPr>
              <a:t>周期内，输出控制信号</a:t>
            </a:r>
            <a:r>
              <a:rPr lang="en-US" altLang="zh-CN" sz="2300" b="1" i="1" dirty="0">
                <a:solidFill>
                  <a:srgbClr val="000000"/>
                </a:solidFill>
              </a:rPr>
              <a:t>z</a:t>
            </a:r>
            <a:r>
              <a:rPr lang="en-US" altLang="zh-CN" sz="2300" b="1" dirty="0">
                <a:solidFill>
                  <a:srgbClr val="000000"/>
                </a:solidFill>
              </a:rPr>
              <a:t>=1</a:t>
            </a:r>
            <a:r>
              <a:rPr lang="zh-CN" altLang="en-US" sz="2300" b="1" dirty="0">
                <a:solidFill>
                  <a:srgbClr val="000000"/>
                </a:solidFill>
              </a:rPr>
              <a:t>，否则</a:t>
            </a:r>
            <a:r>
              <a:rPr lang="en-US" altLang="zh-CN" sz="2300" b="1" i="1" dirty="0">
                <a:solidFill>
                  <a:srgbClr val="000000"/>
                </a:solidFill>
              </a:rPr>
              <a:t>z</a:t>
            </a:r>
            <a:r>
              <a:rPr lang="en-US" altLang="zh-CN" sz="2300" b="1" dirty="0">
                <a:solidFill>
                  <a:srgbClr val="000000"/>
                </a:solidFill>
              </a:rPr>
              <a:t>=0.</a:t>
            </a:r>
            <a:r>
              <a:rPr lang="zh-CN" altLang="en-US" sz="2300" b="1" dirty="0">
                <a:solidFill>
                  <a:srgbClr val="000000"/>
                </a:solidFill>
              </a:rPr>
              <a:t>”</a:t>
            </a:r>
            <a:endParaRPr lang="en-US" altLang="zh-CN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8125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388" y="2071688"/>
            <a:ext cx="5541962" cy="10652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" name="表格 54"/>
          <p:cNvGraphicFramePr>
            <a:graphicFrameLocks noGrp="1"/>
          </p:cNvGraphicFramePr>
          <p:nvPr/>
        </p:nvGraphicFramePr>
        <p:xfrm>
          <a:off x="4475163" y="3721100"/>
          <a:ext cx="3657600" cy="1839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145"/>
                <a:gridCol w="1291758"/>
                <a:gridCol w="1460697"/>
              </a:tblGrid>
              <a:tr h="365794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 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243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C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C</a:t>
                      </a:r>
                      <a:endParaRPr lang="zh-CN" altLang="en-US" sz="20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0       1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1" marR="9139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箭头: 虚尾 13"/>
          <p:cNvSpPr/>
          <p:nvPr/>
        </p:nvSpPr>
        <p:spPr bwMode="auto">
          <a:xfrm>
            <a:off x="3476625" y="4498975"/>
            <a:ext cx="790575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1272" name="Rectangle 32"/>
          <p:cNvSpPr/>
          <p:nvPr/>
        </p:nvSpPr>
        <p:spPr>
          <a:xfrm>
            <a:off x="614363" y="5868988"/>
            <a:ext cx="8191500" cy="4302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200" b="1" dirty="0"/>
              <a:t>输出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与电路的原始状态及当前输入信号有关，属于</a:t>
            </a:r>
            <a:r>
              <a:rPr lang="en-US" altLang="zh-CN" sz="2200" b="1" dirty="0"/>
              <a:t>Mealy</a:t>
            </a:r>
            <a:r>
              <a:rPr lang="zh-CN" altLang="en-US" sz="2200" b="1" dirty="0"/>
              <a:t>型</a:t>
            </a:r>
            <a:r>
              <a:rPr lang="en-US" altLang="zh-CN" sz="2200" b="1" dirty="0"/>
              <a:t>FSM</a:t>
            </a:r>
            <a:endParaRPr lang="en-US" altLang="zh-CN" sz="2200" b="1" dirty="0">
              <a:ea typeface="Times New Roman" panose="02020603050405020304" pitchFamily="18" charset="0"/>
            </a:endParaRPr>
          </a:p>
        </p:txBody>
      </p:sp>
      <p:sp>
        <p:nvSpPr>
          <p:cNvPr id="18127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81274" name="矩形 19"/>
          <p:cNvSpPr/>
          <p:nvPr/>
        </p:nvSpPr>
        <p:spPr>
          <a:xfrm>
            <a:off x="2052638" y="5662613"/>
            <a:ext cx="431800" cy="25241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6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181275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" y="3279775"/>
            <a:ext cx="2732088" cy="2547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1276" name="Rectangle 2"/>
          <p:cNvSpPr/>
          <p:nvPr/>
        </p:nvSpPr>
        <p:spPr>
          <a:xfrm>
            <a:off x="2714625" y="3136900"/>
            <a:ext cx="3714750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6.22 </a:t>
            </a:r>
            <a:r>
              <a:rPr lang="zh-CN" altLang="en-US" sz="2000" b="1" dirty="0">
                <a:solidFill>
                  <a:srgbClr val="000000"/>
                </a:solidFill>
              </a:rPr>
              <a:t>输入输出的信号时序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54" name="表格 54"/>
          <p:cNvGraphicFramePr>
            <a:graphicFrameLocks noGrp="1"/>
          </p:cNvGraphicFramePr>
          <p:nvPr/>
        </p:nvGraphicFramePr>
        <p:xfrm>
          <a:off x="985838" y="2560638"/>
          <a:ext cx="3111500" cy="1646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323"/>
                <a:gridCol w="1221568"/>
                <a:gridCol w="1266609"/>
              </a:tblGrid>
              <a:tr h="36584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 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=0  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18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5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B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C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C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9" marR="91409" marT="45742" marB="457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车速控制电路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aphicFrame>
        <p:nvGraphicFramePr>
          <p:cNvPr id="10" name="表格 54"/>
          <p:cNvGraphicFramePr>
            <a:graphicFrameLocks noGrp="1"/>
          </p:cNvGraphicFramePr>
          <p:nvPr/>
        </p:nvGraphicFramePr>
        <p:xfrm>
          <a:off x="4976813" y="2560638"/>
          <a:ext cx="3659188" cy="1552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8"/>
                <a:gridCol w="1292318"/>
                <a:gridCol w="1461331"/>
              </a:tblGrid>
              <a:tr h="3657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 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68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0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     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0       0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0       1</a:t>
                      </a:r>
                      <a:endParaRPr lang="en-US" altLang="zh-CN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34" marB="4573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2310" name="TextBox 1"/>
          <p:cNvSpPr txBox="1"/>
          <p:nvPr/>
        </p:nvSpPr>
        <p:spPr>
          <a:xfrm>
            <a:off x="614363" y="1139825"/>
            <a:ext cx="8305800" cy="1420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状态化简和分配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300" b="1" dirty="0">
                <a:solidFill>
                  <a:srgbClr val="000000"/>
                </a:solidFill>
              </a:rPr>
              <a:t>分析状态</a:t>
            </a:r>
            <a:r>
              <a:rPr lang="en-US" altLang="zh-CN" sz="2300" b="1" dirty="0">
                <a:solidFill>
                  <a:srgbClr val="000000"/>
                </a:solidFill>
              </a:rPr>
              <a:t>B</a:t>
            </a:r>
            <a:r>
              <a:rPr lang="zh-CN" altLang="en-US" sz="2300" b="1" dirty="0">
                <a:solidFill>
                  <a:srgbClr val="000000"/>
                </a:solidFill>
              </a:rPr>
              <a:t>和</a:t>
            </a:r>
            <a:r>
              <a:rPr lang="en-US" altLang="zh-CN" sz="2300" b="1" dirty="0">
                <a:solidFill>
                  <a:srgbClr val="000000"/>
                </a:solidFill>
              </a:rPr>
              <a:t>C</a:t>
            </a:r>
            <a:r>
              <a:rPr lang="zh-CN" altLang="en-US" sz="2300" b="1" dirty="0">
                <a:solidFill>
                  <a:srgbClr val="000000"/>
                </a:solidFill>
              </a:rPr>
              <a:t>：以</a:t>
            </a:r>
            <a:r>
              <a:rPr lang="en-US" altLang="zh-CN" sz="2300" b="1" dirty="0">
                <a:solidFill>
                  <a:srgbClr val="000000"/>
                </a:solidFill>
              </a:rPr>
              <a:t>B</a:t>
            </a:r>
            <a:r>
              <a:rPr lang="zh-CN" altLang="en-US" sz="2300" b="1" dirty="0">
                <a:solidFill>
                  <a:srgbClr val="000000"/>
                </a:solidFill>
              </a:rPr>
              <a:t>或</a:t>
            </a:r>
            <a:r>
              <a:rPr lang="en-US" altLang="zh-CN" sz="2300" b="1" dirty="0">
                <a:solidFill>
                  <a:srgbClr val="000000"/>
                </a:solidFill>
              </a:rPr>
              <a:t>C</a:t>
            </a:r>
            <a:r>
              <a:rPr lang="zh-CN" altLang="en-US" sz="2300" b="1" dirty="0">
                <a:solidFill>
                  <a:srgbClr val="000000"/>
                </a:solidFill>
              </a:rPr>
              <a:t>为起始状态，在输入</a:t>
            </a:r>
            <a:r>
              <a:rPr lang="en-US" altLang="zh-CN" sz="2300" b="1" i="1" dirty="0">
                <a:solidFill>
                  <a:srgbClr val="000000"/>
                </a:solidFill>
              </a:rPr>
              <a:t>w</a:t>
            </a:r>
            <a:r>
              <a:rPr lang="zh-CN" altLang="en-US" sz="2300" b="1" dirty="0">
                <a:solidFill>
                  <a:srgbClr val="000000"/>
                </a:solidFill>
              </a:rPr>
              <a:t>相同的情况下，产生相同的输出</a:t>
            </a:r>
            <a:r>
              <a:rPr lang="en-US" altLang="zh-CN" sz="2300" b="1" i="1" dirty="0">
                <a:solidFill>
                  <a:srgbClr val="000000"/>
                </a:solidFill>
              </a:rPr>
              <a:t>z</a:t>
            </a:r>
            <a:r>
              <a:rPr lang="zh-CN" altLang="en-US" sz="2300" b="1" dirty="0">
                <a:solidFill>
                  <a:srgbClr val="000000"/>
                </a:solidFill>
              </a:rPr>
              <a:t>。</a:t>
            </a:r>
            <a:r>
              <a:rPr lang="en-US" altLang="zh-CN" sz="2300" b="1" dirty="0">
                <a:solidFill>
                  <a:srgbClr val="000000"/>
                </a:solidFill>
              </a:rPr>
              <a:t>B</a:t>
            </a:r>
            <a:r>
              <a:rPr lang="zh-CN" altLang="en-US" sz="2300" b="1" dirty="0">
                <a:solidFill>
                  <a:srgbClr val="000000"/>
                </a:solidFill>
              </a:rPr>
              <a:t>与</a:t>
            </a:r>
            <a:r>
              <a:rPr lang="en-US" altLang="zh-CN" sz="2300" b="1" dirty="0">
                <a:solidFill>
                  <a:srgbClr val="000000"/>
                </a:solidFill>
              </a:rPr>
              <a:t>C</a:t>
            </a:r>
            <a:r>
              <a:rPr lang="zh-CN" altLang="en-US" sz="2300" b="1" dirty="0">
                <a:solidFill>
                  <a:srgbClr val="000000"/>
                </a:solidFill>
              </a:rPr>
              <a:t>为等效状态。</a:t>
            </a:r>
            <a:endParaRPr lang="en-US" altLang="zh-CN" sz="23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2" name="箭头: 虚尾 11"/>
          <p:cNvSpPr/>
          <p:nvPr/>
        </p:nvSpPr>
        <p:spPr bwMode="auto">
          <a:xfrm>
            <a:off x="4160838" y="3100388"/>
            <a:ext cx="790575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231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538" y="4438650"/>
            <a:ext cx="4721225" cy="1636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箭头: 虚尾 15"/>
          <p:cNvSpPr/>
          <p:nvPr/>
        </p:nvSpPr>
        <p:spPr bwMode="auto">
          <a:xfrm rot="5400000">
            <a:off x="6941344" y="4142581"/>
            <a:ext cx="531813" cy="4730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表格 54"/>
          <p:cNvGraphicFramePr>
            <a:graphicFrameLocks noGrp="1"/>
          </p:cNvGraphicFramePr>
          <p:nvPr/>
        </p:nvGraphicFramePr>
        <p:xfrm>
          <a:off x="5991225" y="4641850"/>
          <a:ext cx="2206625" cy="1466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278"/>
                <a:gridCol w="1615347"/>
              </a:tblGrid>
              <a:tr h="3657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26" marR="91426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2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2327" name="Rectangle 2"/>
          <p:cNvSpPr/>
          <p:nvPr/>
        </p:nvSpPr>
        <p:spPr>
          <a:xfrm>
            <a:off x="2405063" y="6237288"/>
            <a:ext cx="4722812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0000"/>
                </a:solidFill>
              </a:rPr>
              <a:t>图</a:t>
            </a:r>
            <a:r>
              <a:rPr lang="en-US" altLang="zh-CN" sz="2000" b="1" dirty="0">
                <a:solidFill>
                  <a:srgbClr val="000000"/>
                </a:solidFill>
              </a:rPr>
              <a:t>6.23 FSM</a:t>
            </a:r>
            <a:r>
              <a:rPr lang="zh-CN" altLang="en-US" sz="2000" b="1" dirty="0">
                <a:solidFill>
                  <a:srgbClr val="000000"/>
                </a:solidFill>
              </a:rPr>
              <a:t>状态图和状态表（紧凑）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18232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车速控制电路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83300" name="TextBox 1"/>
          <p:cNvSpPr txBox="1"/>
          <p:nvPr/>
        </p:nvSpPr>
        <p:spPr>
          <a:xfrm>
            <a:off x="498475" y="1139825"/>
            <a:ext cx="8477250" cy="504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状态化简和分配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: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" name="表格 54"/>
          <p:cNvGraphicFramePr>
            <a:graphicFrameLocks noGrp="1"/>
          </p:cNvGraphicFramePr>
          <p:nvPr/>
        </p:nvGraphicFramePr>
        <p:xfrm>
          <a:off x="658813" y="1749425"/>
          <a:ext cx="2474913" cy="1466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505"/>
                <a:gridCol w="1817407"/>
              </a:tblGrid>
              <a:tr h="3657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9" marR="91449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9" marR="91449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2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9" marR="91449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9" marR="91449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     1/0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     1/1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9" marR="91449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箭头: 虚尾 14"/>
          <p:cNvSpPr/>
          <p:nvPr/>
        </p:nvSpPr>
        <p:spPr bwMode="auto">
          <a:xfrm>
            <a:off x="3302000" y="2246313"/>
            <a:ext cx="611188" cy="503238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315" name="TextBox 1"/>
          <p:cNvSpPr txBox="1"/>
          <p:nvPr/>
        </p:nvSpPr>
        <p:spPr>
          <a:xfrm>
            <a:off x="498475" y="3317875"/>
            <a:ext cx="8305800" cy="487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C00000"/>
                </a:solidFill>
                <a:latin typeface="宋体" panose="02010600030101010101" pitchFamily="2" charset="-122"/>
              </a:rPr>
              <a:t>根据驱动方程和输出方程，画出电路</a:t>
            </a:r>
            <a:endParaRPr lang="zh-CN" altLang="en-US" sz="23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83316" name="组合 2"/>
          <p:cNvGrpSpPr/>
          <p:nvPr/>
        </p:nvGrpSpPr>
        <p:grpSpPr>
          <a:xfrm>
            <a:off x="1041400" y="3968750"/>
            <a:ext cx="7043738" cy="2549525"/>
            <a:chOff x="1250633" y="3378200"/>
            <a:chExt cx="7044055" cy="2548397"/>
          </a:xfrm>
        </p:grpSpPr>
        <p:sp>
          <p:nvSpPr>
            <p:cNvPr id="183322" name="Rectangle 51"/>
            <p:cNvSpPr/>
            <p:nvPr/>
          </p:nvSpPr>
          <p:spPr>
            <a:xfrm>
              <a:off x="1744663" y="3378200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3" name="Rectangle 52"/>
            <p:cNvSpPr/>
            <p:nvPr/>
          </p:nvSpPr>
          <p:spPr>
            <a:xfrm>
              <a:off x="1744663" y="3613150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4" name="Rectangle 53"/>
            <p:cNvSpPr/>
            <p:nvPr/>
          </p:nvSpPr>
          <p:spPr>
            <a:xfrm>
              <a:off x="1744663" y="3903663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5" name="Rectangle 54"/>
            <p:cNvSpPr/>
            <p:nvPr/>
          </p:nvSpPr>
          <p:spPr>
            <a:xfrm>
              <a:off x="1744663" y="4138613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6" name="Rectangle 55"/>
            <p:cNvSpPr/>
            <p:nvPr/>
          </p:nvSpPr>
          <p:spPr>
            <a:xfrm>
              <a:off x="1744663" y="4451350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7" name="Rectangle 56"/>
            <p:cNvSpPr/>
            <p:nvPr/>
          </p:nvSpPr>
          <p:spPr>
            <a:xfrm>
              <a:off x="1744663" y="4686300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8" name="Rectangle 57"/>
            <p:cNvSpPr/>
            <p:nvPr/>
          </p:nvSpPr>
          <p:spPr>
            <a:xfrm>
              <a:off x="1744663" y="4989513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29" name="Rectangle 58"/>
            <p:cNvSpPr/>
            <p:nvPr/>
          </p:nvSpPr>
          <p:spPr>
            <a:xfrm>
              <a:off x="1744663" y="5224463"/>
              <a:ext cx="204787" cy="238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-Roman"/>
                </a:rPr>
                <a:t>0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30" name="Rectangle 59"/>
            <p:cNvSpPr/>
            <p:nvPr/>
          </p:nvSpPr>
          <p:spPr>
            <a:xfrm>
              <a:off x="1250633" y="3492500"/>
              <a:ext cx="37830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800" b="1" i="1" dirty="0">
                  <a:solidFill>
                    <a:srgbClr val="000000"/>
                  </a:solidFill>
                  <a:latin typeface="Times-Roman"/>
                </a:rPr>
                <a:t>Clk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-Roman"/>
                </a:rPr>
                <a:t>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31" name="Rectangle 60"/>
            <p:cNvSpPr/>
            <p:nvPr/>
          </p:nvSpPr>
          <p:spPr>
            <a:xfrm>
              <a:off x="1376363" y="4554538"/>
              <a:ext cx="173124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q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-Roman"/>
                </a:rPr>
                <a:t>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32" name="Rectangle 61"/>
            <p:cNvSpPr/>
            <p:nvPr/>
          </p:nvSpPr>
          <p:spPr>
            <a:xfrm>
              <a:off x="1353185" y="4017963"/>
              <a:ext cx="216406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w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-Roman"/>
                </a:rPr>
                <a:t>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33" name="Rectangle 62"/>
            <p:cNvSpPr/>
            <p:nvPr/>
          </p:nvSpPr>
          <p:spPr>
            <a:xfrm>
              <a:off x="1362075" y="5081588"/>
              <a:ext cx="14427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-Roman"/>
                </a:rPr>
                <a:t>z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-Roman"/>
                </a:rPr>
                <a:t> </a:t>
              </a:r>
              <a:endParaRPr lang="en-US" altLang="zh-CN" dirty="0">
                <a:solidFill>
                  <a:srgbClr val="007A77"/>
                </a:solidFill>
              </a:endParaRPr>
            </a:p>
          </p:txBody>
        </p:sp>
        <p:sp>
          <p:nvSpPr>
            <p:cNvPr id="183334" name="Freeform 64"/>
            <p:cNvSpPr/>
            <p:nvPr/>
          </p:nvSpPr>
          <p:spPr>
            <a:xfrm>
              <a:off x="6005513" y="3792538"/>
              <a:ext cx="1587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7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35" name="Line 65"/>
            <p:cNvSpPr/>
            <p:nvPr/>
          </p:nvSpPr>
          <p:spPr>
            <a:xfrm flipV="1">
              <a:off x="6005513" y="3792538"/>
              <a:ext cx="1587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36" name="Freeform 66"/>
            <p:cNvSpPr/>
            <p:nvPr/>
          </p:nvSpPr>
          <p:spPr>
            <a:xfrm>
              <a:off x="6538913" y="3792538"/>
              <a:ext cx="1587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7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37" name="Line 67"/>
            <p:cNvSpPr/>
            <p:nvPr/>
          </p:nvSpPr>
          <p:spPr>
            <a:xfrm flipV="1">
              <a:off x="6538913" y="3792538"/>
              <a:ext cx="1587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38" name="Freeform 68"/>
            <p:cNvSpPr/>
            <p:nvPr/>
          </p:nvSpPr>
          <p:spPr>
            <a:xfrm>
              <a:off x="7073900" y="3792538"/>
              <a:ext cx="1588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8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39" name="Line 69"/>
            <p:cNvSpPr/>
            <p:nvPr/>
          </p:nvSpPr>
          <p:spPr>
            <a:xfrm flipV="1">
              <a:off x="7073900" y="3792538"/>
              <a:ext cx="1588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40" name="Freeform 70"/>
            <p:cNvSpPr/>
            <p:nvPr/>
          </p:nvSpPr>
          <p:spPr>
            <a:xfrm>
              <a:off x="7626350" y="3792538"/>
              <a:ext cx="1588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8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41" name="Line 71"/>
            <p:cNvSpPr/>
            <p:nvPr/>
          </p:nvSpPr>
          <p:spPr>
            <a:xfrm flipV="1">
              <a:off x="7626350" y="3792538"/>
              <a:ext cx="1588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42" name="Freeform 72"/>
            <p:cNvSpPr/>
            <p:nvPr/>
          </p:nvSpPr>
          <p:spPr>
            <a:xfrm>
              <a:off x="3830638" y="3792538"/>
              <a:ext cx="1587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7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43" name="Line 73"/>
            <p:cNvSpPr/>
            <p:nvPr/>
          </p:nvSpPr>
          <p:spPr>
            <a:xfrm flipV="1">
              <a:off x="3830638" y="3792538"/>
              <a:ext cx="1587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44" name="Freeform 74"/>
            <p:cNvSpPr/>
            <p:nvPr/>
          </p:nvSpPr>
          <p:spPr>
            <a:xfrm>
              <a:off x="4364038" y="3792538"/>
              <a:ext cx="1587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7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45" name="Line 75"/>
            <p:cNvSpPr/>
            <p:nvPr/>
          </p:nvSpPr>
          <p:spPr>
            <a:xfrm flipV="1">
              <a:off x="4364038" y="3792538"/>
              <a:ext cx="1587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46" name="Freeform 76"/>
            <p:cNvSpPr/>
            <p:nvPr/>
          </p:nvSpPr>
          <p:spPr>
            <a:xfrm>
              <a:off x="4918075" y="3792538"/>
              <a:ext cx="1588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8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47" name="Line 77"/>
            <p:cNvSpPr/>
            <p:nvPr/>
          </p:nvSpPr>
          <p:spPr>
            <a:xfrm flipV="1">
              <a:off x="4918075" y="3792538"/>
              <a:ext cx="1588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48" name="Freeform 78"/>
            <p:cNvSpPr/>
            <p:nvPr/>
          </p:nvSpPr>
          <p:spPr>
            <a:xfrm>
              <a:off x="5451475" y="3792538"/>
              <a:ext cx="1588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8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49" name="Line 79"/>
            <p:cNvSpPr/>
            <p:nvPr/>
          </p:nvSpPr>
          <p:spPr>
            <a:xfrm flipV="1">
              <a:off x="5451475" y="3792538"/>
              <a:ext cx="1588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50" name="Freeform 80"/>
            <p:cNvSpPr/>
            <p:nvPr/>
          </p:nvSpPr>
          <p:spPr>
            <a:xfrm>
              <a:off x="2208213" y="3792538"/>
              <a:ext cx="1587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7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51" name="Line 81"/>
            <p:cNvSpPr/>
            <p:nvPr/>
          </p:nvSpPr>
          <p:spPr>
            <a:xfrm flipV="1">
              <a:off x="2208213" y="3792538"/>
              <a:ext cx="1587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52" name="Freeform 82"/>
            <p:cNvSpPr/>
            <p:nvPr/>
          </p:nvSpPr>
          <p:spPr>
            <a:xfrm>
              <a:off x="2743200" y="3792538"/>
              <a:ext cx="1588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8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53" name="Line 83"/>
            <p:cNvSpPr/>
            <p:nvPr/>
          </p:nvSpPr>
          <p:spPr>
            <a:xfrm flipV="1">
              <a:off x="2743200" y="3792538"/>
              <a:ext cx="1588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54" name="Freeform 84"/>
            <p:cNvSpPr/>
            <p:nvPr/>
          </p:nvSpPr>
          <p:spPr>
            <a:xfrm>
              <a:off x="3295650" y="3792538"/>
              <a:ext cx="1588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8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55" name="Line 85"/>
            <p:cNvSpPr/>
            <p:nvPr/>
          </p:nvSpPr>
          <p:spPr>
            <a:xfrm flipV="1">
              <a:off x="3295650" y="3792538"/>
              <a:ext cx="1588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56" name="Freeform 86"/>
            <p:cNvSpPr/>
            <p:nvPr/>
          </p:nvSpPr>
          <p:spPr>
            <a:xfrm>
              <a:off x="8161338" y="3792538"/>
              <a:ext cx="1587" cy="1679575"/>
            </a:xfrm>
            <a:custGeom>
              <a:avLst/>
              <a:gdLst/>
              <a:ahLst/>
              <a:cxnLst>
                <a:cxn ang="0">
                  <a:pos x="0" y="1333162656"/>
                </a:cxn>
                <a:cxn ang="0">
                  <a:pos x="0" y="0"/>
                </a:cxn>
                <a:cxn ang="0">
                  <a:pos x="0" y="1333162656"/>
                </a:cxn>
              </a:cxnLst>
              <a:pathLst>
                <a:path w="1587" h="2116">
                  <a:moveTo>
                    <a:pt x="0" y="2116"/>
                  </a:moveTo>
                  <a:lnTo>
                    <a:pt x="0" y="0"/>
                  </a:lnTo>
                  <a:lnTo>
                    <a:pt x="0" y="21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57" name="Line 87"/>
            <p:cNvSpPr/>
            <p:nvPr/>
          </p:nvSpPr>
          <p:spPr>
            <a:xfrm flipV="1">
              <a:off x="8161338" y="3792538"/>
              <a:ext cx="1587" cy="1679575"/>
            </a:xfrm>
            <a:prstGeom prst="line">
              <a:avLst/>
            </a:prstGeom>
            <a:ln w="17463" cap="flat" cmpd="sng">
              <a:solidFill>
                <a:srgbClr val="7F7F7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3358" name="Freeform 88"/>
            <p:cNvSpPr/>
            <p:nvPr/>
          </p:nvSpPr>
          <p:spPr>
            <a:xfrm>
              <a:off x="1941513" y="3449638"/>
              <a:ext cx="534987" cy="266700"/>
            </a:xfrm>
            <a:custGeom>
              <a:avLst/>
              <a:gdLst/>
              <a:ahLst/>
              <a:cxnLst>
                <a:cxn ang="0">
                  <a:pos x="425276508" y="211064955"/>
                </a:cxn>
                <a:cxn ang="0">
                  <a:pos x="425276508" y="0"/>
                </a:cxn>
                <a:cxn ang="0">
                  <a:pos x="212954238" y="0"/>
                </a:cxn>
                <a:cxn ang="0">
                  <a:pos x="212954238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59" name="Freeform 89"/>
            <p:cNvSpPr/>
            <p:nvPr/>
          </p:nvSpPr>
          <p:spPr>
            <a:xfrm>
              <a:off x="2466340" y="3449638"/>
              <a:ext cx="576000" cy="266700"/>
            </a:xfrm>
            <a:custGeom>
              <a:avLst/>
              <a:gdLst/>
              <a:ahLst/>
              <a:cxnLst>
                <a:cxn ang="0">
                  <a:pos x="476005739" y="211064955"/>
                </a:cxn>
                <a:cxn ang="0">
                  <a:pos x="476005739" y="0"/>
                </a:cxn>
                <a:cxn ang="0">
                  <a:pos x="230148775" y="0"/>
                </a:cxn>
                <a:cxn ang="0">
                  <a:pos x="230148775" y="211064955"/>
                </a:cxn>
                <a:cxn ang="0">
                  <a:pos x="0" y="211064955"/>
                </a:cxn>
              </a:cxnLst>
              <a:pathLst>
                <a:path w="697" h="337">
                  <a:moveTo>
                    <a:pt x="697" y="337"/>
                  </a:moveTo>
                  <a:lnTo>
                    <a:pt x="697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0" name="Freeform 90"/>
            <p:cNvSpPr/>
            <p:nvPr/>
          </p:nvSpPr>
          <p:spPr>
            <a:xfrm>
              <a:off x="3031490" y="3449638"/>
              <a:ext cx="534988" cy="266700"/>
            </a:xfrm>
            <a:custGeom>
              <a:avLst/>
              <a:gdLst/>
              <a:ahLst/>
              <a:cxnLst>
                <a:cxn ang="0">
                  <a:pos x="425278098" y="211064955"/>
                </a:cxn>
                <a:cxn ang="0">
                  <a:pos x="425278098" y="0"/>
                </a:cxn>
                <a:cxn ang="0">
                  <a:pos x="212954636" y="0"/>
                </a:cxn>
                <a:cxn ang="0">
                  <a:pos x="212954636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1" name="Freeform 91"/>
            <p:cNvSpPr/>
            <p:nvPr/>
          </p:nvSpPr>
          <p:spPr>
            <a:xfrm>
              <a:off x="3556318" y="3449638"/>
              <a:ext cx="550800" cy="266700"/>
            </a:xfrm>
            <a:custGeom>
              <a:avLst/>
              <a:gdLst/>
              <a:ahLst/>
              <a:cxnLst>
                <a:cxn ang="0">
                  <a:pos x="450788470" y="211064955"/>
                </a:cxn>
                <a:cxn ang="0">
                  <a:pos x="450788470" y="0"/>
                </a:cxn>
                <a:cxn ang="0">
                  <a:pos x="225728971" y="0"/>
                </a:cxn>
                <a:cxn ang="0">
                  <a:pos x="225728971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2" name="Freeform 92"/>
            <p:cNvSpPr/>
            <p:nvPr/>
          </p:nvSpPr>
          <p:spPr>
            <a:xfrm>
              <a:off x="4094798" y="3449638"/>
              <a:ext cx="554037" cy="266700"/>
            </a:xfrm>
            <a:custGeom>
              <a:avLst/>
              <a:gdLst/>
              <a:ahLst/>
              <a:cxnLst>
                <a:cxn ang="0">
                  <a:pos x="440397414" y="211064955"/>
                </a:cxn>
                <a:cxn ang="0">
                  <a:pos x="440397414" y="0"/>
                </a:cxn>
                <a:cxn ang="0">
                  <a:pos x="212932237" y="0"/>
                </a:cxn>
                <a:cxn ang="0">
                  <a:pos x="212932237" y="211064955"/>
                </a:cxn>
                <a:cxn ang="0">
                  <a:pos x="0" y="211064955"/>
                </a:cxn>
              </a:cxnLst>
              <a:pathLst>
                <a:path w="697" h="337">
                  <a:moveTo>
                    <a:pt x="697" y="337"/>
                  </a:moveTo>
                  <a:lnTo>
                    <a:pt x="697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3" name="Freeform 93"/>
            <p:cNvSpPr/>
            <p:nvPr/>
          </p:nvSpPr>
          <p:spPr>
            <a:xfrm>
              <a:off x="4638675" y="3449638"/>
              <a:ext cx="550800" cy="266700"/>
            </a:xfrm>
            <a:custGeom>
              <a:avLst/>
              <a:gdLst/>
              <a:ahLst/>
              <a:cxnLst>
                <a:cxn ang="0">
                  <a:pos x="450788470" y="211064955"/>
                </a:cxn>
                <a:cxn ang="0">
                  <a:pos x="450788470" y="0"/>
                </a:cxn>
                <a:cxn ang="0">
                  <a:pos x="225728971" y="0"/>
                </a:cxn>
                <a:cxn ang="0">
                  <a:pos x="225728971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4" name="Freeform 94"/>
            <p:cNvSpPr/>
            <p:nvPr/>
          </p:nvSpPr>
          <p:spPr>
            <a:xfrm>
              <a:off x="5179695" y="3449638"/>
              <a:ext cx="534988" cy="266700"/>
            </a:xfrm>
            <a:custGeom>
              <a:avLst/>
              <a:gdLst/>
              <a:ahLst/>
              <a:cxnLst>
                <a:cxn ang="0">
                  <a:pos x="425278098" y="211064955"/>
                </a:cxn>
                <a:cxn ang="0">
                  <a:pos x="425278098" y="0"/>
                </a:cxn>
                <a:cxn ang="0">
                  <a:pos x="212954636" y="0"/>
                </a:cxn>
                <a:cxn ang="0">
                  <a:pos x="212954636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5" name="Freeform 95"/>
            <p:cNvSpPr/>
            <p:nvPr/>
          </p:nvSpPr>
          <p:spPr>
            <a:xfrm>
              <a:off x="5707063" y="3449638"/>
              <a:ext cx="576000" cy="266700"/>
            </a:xfrm>
            <a:custGeom>
              <a:avLst/>
              <a:gdLst/>
              <a:ahLst/>
              <a:cxnLst>
                <a:cxn ang="0">
                  <a:pos x="476005739" y="211064955"/>
                </a:cxn>
                <a:cxn ang="0">
                  <a:pos x="476005739" y="0"/>
                </a:cxn>
                <a:cxn ang="0">
                  <a:pos x="246539570" y="0"/>
                </a:cxn>
                <a:cxn ang="0">
                  <a:pos x="246539570" y="211064955"/>
                </a:cxn>
                <a:cxn ang="0">
                  <a:pos x="0" y="211064955"/>
                </a:cxn>
              </a:cxnLst>
              <a:pathLst>
                <a:path w="697" h="337">
                  <a:moveTo>
                    <a:pt x="697" y="337"/>
                  </a:moveTo>
                  <a:lnTo>
                    <a:pt x="697" y="0"/>
                  </a:lnTo>
                  <a:lnTo>
                    <a:pt x="361" y="0"/>
                  </a:lnTo>
                  <a:lnTo>
                    <a:pt x="361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6" name="Freeform 96"/>
            <p:cNvSpPr/>
            <p:nvPr/>
          </p:nvSpPr>
          <p:spPr>
            <a:xfrm>
              <a:off x="6272213" y="3449638"/>
              <a:ext cx="534987" cy="266700"/>
            </a:xfrm>
            <a:custGeom>
              <a:avLst/>
              <a:gdLst/>
              <a:ahLst/>
              <a:cxnLst>
                <a:cxn ang="0">
                  <a:pos x="425276508" y="211064955"/>
                </a:cxn>
                <a:cxn ang="0">
                  <a:pos x="425276508" y="0"/>
                </a:cxn>
                <a:cxn ang="0">
                  <a:pos x="212954238" y="0"/>
                </a:cxn>
                <a:cxn ang="0">
                  <a:pos x="212954238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7" name="Freeform 97"/>
            <p:cNvSpPr/>
            <p:nvPr/>
          </p:nvSpPr>
          <p:spPr>
            <a:xfrm>
              <a:off x="6797040" y="3449638"/>
              <a:ext cx="550800" cy="266700"/>
            </a:xfrm>
            <a:custGeom>
              <a:avLst/>
              <a:gdLst/>
              <a:ahLst/>
              <a:cxnLst>
                <a:cxn ang="0">
                  <a:pos x="450788470" y="211064955"/>
                </a:cxn>
                <a:cxn ang="0">
                  <a:pos x="450788470" y="0"/>
                </a:cxn>
                <a:cxn ang="0">
                  <a:pos x="225728971" y="0"/>
                </a:cxn>
                <a:cxn ang="0">
                  <a:pos x="225728971" y="211064955"/>
                </a:cxn>
                <a:cxn ang="0">
                  <a:pos x="0" y="211064955"/>
                </a:cxn>
              </a:cxnLst>
              <a:pathLst>
                <a:path w="673" h="337">
                  <a:moveTo>
                    <a:pt x="673" y="337"/>
                  </a:moveTo>
                  <a:lnTo>
                    <a:pt x="673" y="0"/>
                  </a:ln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8" name="Freeform 98"/>
            <p:cNvSpPr/>
            <p:nvPr/>
          </p:nvSpPr>
          <p:spPr>
            <a:xfrm>
              <a:off x="1941513" y="3984625"/>
              <a:ext cx="6353175" cy="285750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26185769"/>
                </a:cxn>
                <a:cxn ang="0">
                  <a:pos x="2147483646" y="226185769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26185769"/>
                </a:cxn>
                <a:cxn ang="0">
                  <a:pos x="2147483646" y="226185769"/>
                </a:cxn>
                <a:cxn ang="0">
                  <a:pos x="2147483646" y="0"/>
                </a:cxn>
                <a:cxn ang="0">
                  <a:pos x="1559976719" y="0"/>
                </a:cxn>
                <a:cxn ang="0">
                  <a:pos x="1559976719" y="226185769"/>
                </a:cxn>
                <a:cxn ang="0">
                  <a:pos x="1120839294" y="226185769"/>
                </a:cxn>
                <a:cxn ang="0">
                  <a:pos x="1120839294" y="0"/>
                </a:cxn>
                <a:cxn ang="0">
                  <a:pos x="696823600" y="0"/>
                </a:cxn>
                <a:cxn ang="0">
                  <a:pos x="696823600" y="226185769"/>
                </a:cxn>
                <a:cxn ang="0">
                  <a:pos x="0" y="226185769"/>
                </a:cxn>
              </a:cxnLst>
              <a:pathLst>
                <a:path w="8004" h="361">
                  <a:moveTo>
                    <a:pt x="8004" y="0"/>
                  </a:moveTo>
                  <a:lnTo>
                    <a:pt x="7235" y="0"/>
                  </a:lnTo>
                  <a:lnTo>
                    <a:pt x="7235" y="361"/>
                  </a:lnTo>
                  <a:lnTo>
                    <a:pt x="6562" y="361"/>
                  </a:lnTo>
                  <a:lnTo>
                    <a:pt x="6562" y="0"/>
                  </a:lnTo>
                  <a:lnTo>
                    <a:pt x="4519" y="0"/>
                  </a:lnTo>
                  <a:lnTo>
                    <a:pt x="4519" y="361"/>
                  </a:lnTo>
                  <a:lnTo>
                    <a:pt x="3822" y="361"/>
                  </a:lnTo>
                  <a:lnTo>
                    <a:pt x="3822" y="0"/>
                  </a:lnTo>
                  <a:lnTo>
                    <a:pt x="2476" y="0"/>
                  </a:lnTo>
                  <a:lnTo>
                    <a:pt x="2476" y="361"/>
                  </a:lnTo>
                  <a:lnTo>
                    <a:pt x="1779" y="361"/>
                  </a:lnTo>
                  <a:lnTo>
                    <a:pt x="1779" y="0"/>
                  </a:lnTo>
                  <a:lnTo>
                    <a:pt x="1106" y="0"/>
                  </a:lnTo>
                  <a:lnTo>
                    <a:pt x="1106" y="361"/>
                  </a:lnTo>
                  <a:lnTo>
                    <a:pt x="0" y="361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69" name="Freeform 99"/>
            <p:cNvSpPr/>
            <p:nvPr/>
          </p:nvSpPr>
          <p:spPr>
            <a:xfrm>
              <a:off x="7338060" y="3449638"/>
              <a:ext cx="554038" cy="266700"/>
            </a:xfrm>
            <a:custGeom>
              <a:avLst/>
              <a:gdLst/>
              <a:ahLst/>
              <a:cxnLst>
                <a:cxn ang="0">
                  <a:pos x="440399004" y="211064955"/>
                </a:cxn>
                <a:cxn ang="0">
                  <a:pos x="440399004" y="0"/>
                </a:cxn>
                <a:cxn ang="0">
                  <a:pos x="228097524" y="0"/>
                </a:cxn>
                <a:cxn ang="0">
                  <a:pos x="228097524" y="211064955"/>
                </a:cxn>
                <a:cxn ang="0">
                  <a:pos x="0" y="211064955"/>
                </a:cxn>
              </a:cxnLst>
              <a:pathLst>
                <a:path w="697" h="337">
                  <a:moveTo>
                    <a:pt x="697" y="337"/>
                  </a:moveTo>
                  <a:lnTo>
                    <a:pt x="697" y="0"/>
                  </a:lnTo>
                  <a:lnTo>
                    <a:pt x="361" y="0"/>
                  </a:lnTo>
                  <a:lnTo>
                    <a:pt x="361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70" name="Freeform 100"/>
            <p:cNvSpPr/>
            <p:nvPr/>
          </p:nvSpPr>
          <p:spPr>
            <a:xfrm>
              <a:off x="7881938" y="3449638"/>
              <a:ext cx="400050" cy="266700"/>
            </a:xfrm>
            <a:custGeom>
              <a:avLst/>
              <a:gdLst/>
              <a:ahLst/>
              <a:cxnLst>
                <a:cxn ang="0">
                  <a:pos x="316910896" y="0"/>
                </a:cxn>
                <a:cxn ang="0">
                  <a:pos x="211483066" y="0"/>
                </a:cxn>
                <a:cxn ang="0">
                  <a:pos x="211483066" y="211064955"/>
                </a:cxn>
                <a:cxn ang="0">
                  <a:pos x="0" y="211064955"/>
                </a:cxn>
              </a:cxnLst>
              <a:pathLst>
                <a:path w="505" h="337">
                  <a:moveTo>
                    <a:pt x="505" y="0"/>
                  </a:moveTo>
                  <a:lnTo>
                    <a:pt x="337" y="0"/>
                  </a:lnTo>
                  <a:lnTo>
                    <a:pt x="337" y="337"/>
                  </a:lnTo>
                  <a:lnTo>
                    <a:pt x="0" y="337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71" name="Freeform 101"/>
            <p:cNvSpPr/>
            <p:nvPr/>
          </p:nvSpPr>
          <p:spPr>
            <a:xfrm>
              <a:off x="1941513" y="4537075"/>
              <a:ext cx="6353175" cy="268288"/>
            </a:xfrm>
            <a:custGeom>
              <a:avLst/>
              <a:gdLst/>
              <a:ahLst/>
              <a:cxnLst>
                <a:cxn ang="0">
                  <a:pos x="2147483646" y="214221580"/>
                </a:cxn>
                <a:cxn ang="0">
                  <a:pos x="2147483646" y="21422158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221580"/>
                </a:cxn>
                <a:cxn ang="0">
                  <a:pos x="2147483646" y="214221580"/>
                </a:cxn>
                <a:cxn ang="0">
                  <a:pos x="2147483646" y="0"/>
                </a:cxn>
                <a:cxn ang="0">
                  <a:pos x="1983993206" y="0"/>
                </a:cxn>
                <a:cxn ang="0">
                  <a:pos x="1983993206" y="214221580"/>
                </a:cxn>
                <a:cxn ang="0">
                  <a:pos x="1559976719" y="214221580"/>
                </a:cxn>
                <a:cxn ang="0">
                  <a:pos x="1559976719" y="0"/>
                </a:cxn>
                <a:cxn ang="0">
                  <a:pos x="1120839294" y="0"/>
                </a:cxn>
                <a:cxn ang="0">
                  <a:pos x="1120839294" y="214221580"/>
                </a:cxn>
                <a:cxn ang="0">
                  <a:pos x="0" y="214221580"/>
                </a:cxn>
              </a:cxnLst>
              <a:pathLst>
                <a:path w="8004" h="336">
                  <a:moveTo>
                    <a:pt x="8004" y="336"/>
                  </a:moveTo>
                  <a:lnTo>
                    <a:pt x="7235" y="336"/>
                  </a:lnTo>
                  <a:lnTo>
                    <a:pt x="7235" y="0"/>
                  </a:lnTo>
                  <a:lnTo>
                    <a:pt x="5192" y="0"/>
                  </a:lnTo>
                  <a:lnTo>
                    <a:pt x="5192" y="336"/>
                  </a:lnTo>
                  <a:lnTo>
                    <a:pt x="4519" y="336"/>
                  </a:lnTo>
                  <a:lnTo>
                    <a:pt x="4519" y="0"/>
                  </a:lnTo>
                  <a:lnTo>
                    <a:pt x="3149" y="0"/>
                  </a:lnTo>
                  <a:lnTo>
                    <a:pt x="3149" y="336"/>
                  </a:lnTo>
                  <a:lnTo>
                    <a:pt x="2476" y="336"/>
                  </a:lnTo>
                  <a:lnTo>
                    <a:pt x="2476" y="0"/>
                  </a:lnTo>
                  <a:lnTo>
                    <a:pt x="1779" y="0"/>
                  </a:lnTo>
                  <a:lnTo>
                    <a:pt x="1779" y="336"/>
                  </a:lnTo>
                  <a:lnTo>
                    <a:pt x="0" y="336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72" name="Freeform 102"/>
            <p:cNvSpPr/>
            <p:nvPr/>
          </p:nvSpPr>
          <p:spPr>
            <a:xfrm>
              <a:off x="1941513" y="5072063"/>
              <a:ext cx="6353175" cy="266700"/>
            </a:xfrm>
            <a:custGeom>
              <a:avLst/>
              <a:gdLst/>
              <a:ahLst/>
              <a:cxnLst>
                <a:cxn ang="0">
                  <a:pos x="2147483646" y="211693125"/>
                </a:cxn>
                <a:cxn ang="0">
                  <a:pos x="2147483646" y="211693125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1693125"/>
                </a:cxn>
                <a:cxn ang="0">
                  <a:pos x="2147483646" y="211693125"/>
                </a:cxn>
                <a:cxn ang="0">
                  <a:pos x="2147483646" y="0"/>
                </a:cxn>
                <a:cxn ang="0">
                  <a:pos x="2044476956" y="0"/>
                </a:cxn>
                <a:cxn ang="0">
                  <a:pos x="2044476956" y="211693125"/>
                </a:cxn>
                <a:cxn ang="0">
                  <a:pos x="0" y="211693125"/>
                </a:cxn>
              </a:cxnLst>
              <a:pathLst>
                <a:path w="8004" h="336">
                  <a:moveTo>
                    <a:pt x="8004" y="336"/>
                  </a:moveTo>
                  <a:lnTo>
                    <a:pt x="6634" y="336"/>
                  </a:lnTo>
                  <a:lnTo>
                    <a:pt x="6634" y="0"/>
                  </a:lnTo>
                  <a:lnTo>
                    <a:pt x="5288" y="0"/>
                  </a:lnTo>
                  <a:lnTo>
                    <a:pt x="5288" y="336"/>
                  </a:lnTo>
                  <a:lnTo>
                    <a:pt x="3918" y="336"/>
                  </a:lnTo>
                  <a:lnTo>
                    <a:pt x="3918" y="0"/>
                  </a:lnTo>
                  <a:lnTo>
                    <a:pt x="3245" y="0"/>
                  </a:lnTo>
                  <a:lnTo>
                    <a:pt x="3245" y="336"/>
                  </a:lnTo>
                  <a:lnTo>
                    <a:pt x="0" y="336"/>
                  </a:lnTo>
                </a:path>
              </a:pathLst>
            </a:cu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373" name="Rectangle 105"/>
            <p:cNvSpPr/>
            <p:nvPr/>
          </p:nvSpPr>
          <p:spPr>
            <a:xfrm>
              <a:off x="3556318" y="5619331"/>
              <a:ext cx="2030821" cy="3072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dirty="0">
                  <a:solidFill>
                    <a:srgbClr val="000000"/>
                  </a:solidFill>
                  <a:latin typeface="Helvetica" pitchFamily="34" charset="0"/>
                </a:rPr>
                <a:t>图 </a:t>
              </a:r>
              <a:r>
                <a:rPr lang="en-US" altLang="zh-CN" sz="2000" dirty="0">
                  <a:solidFill>
                    <a:srgbClr val="000000"/>
                  </a:solidFill>
                  <a:latin typeface="Helvetica" pitchFamily="34" charset="0"/>
                </a:rPr>
                <a:t>6.26 (b) </a:t>
              </a:r>
              <a:r>
                <a:rPr lang="zh-CN" altLang="en-US" sz="2000" dirty="0">
                  <a:solidFill>
                    <a:srgbClr val="000000"/>
                  </a:solidFill>
                  <a:latin typeface="Helvetica" pitchFamily="34" charset="0"/>
                </a:rPr>
                <a:t>时序图</a:t>
              </a:r>
              <a:endParaRPr lang="zh-CN" altLang="en-US" sz="2000" dirty="0">
                <a:solidFill>
                  <a:srgbClr val="000000"/>
                </a:solidFill>
                <a:latin typeface="Helvetica" pitchFamily="34" charset="0"/>
              </a:endParaRPr>
            </a:p>
          </p:txBody>
        </p:sp>
      </p:grpSp>
      <p:sp>
        <p:nvSpPr>
          <p:cNvPr id="95" name="箭头: 虚尾 94"/>
          <p:cNvSpPr/>
          <p:nvPr/>
        </p:nvSpPr>
        <p:spPr bwMode="auto">
          <a:xfrm>
            <a:off x="5387975" y="2246313"/>
            <a:ext cx="612775" cy="503238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33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663" y="1423988"/>
            <a:ext cx="2728912" cy="1798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3319" name="Rectangle 28"/>
          <p:cNvSpPr/>
          <p:nvPr/>
        </p:nvSpPr>
        <p:spPr>
          <a:xfrm>
            <a:off x="6597650" y="3351213"/>
            <a:ext cx="800100" cy="276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Helvetica" pitchFamily="34" charset="0"/>
              </a:rPr>
              <a:t>(a) </a:t>
            </a:r>
            <a:r>
              <a:rPr lang="zh-CN" altLang="en-US" sz="1800" dirty="0">
                <a:solidFill>
                  <a:srgbClr val="000000"/>
                </a:solidFill>
                <a:latin typeface="Helvetica" pitchFamily="34" charset="0"/>
              </a:rPr>
              <a:t>电路</a:t>
            </a:r>
            <a:r>
              <a:rPr lang="en-US" altLang="zh-CN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zh-CN" sz="1800" dirty="0">
              <a:solidFill>
                <a:srgbClr val="007A77"/>
              </a:solidFill>
            </a:endParaRPr>
          </a:p>
        </p:txBody>
      </p:sp>
      <p:sp>
        <p:nvSpPr>
          <p:cNvPr id="18332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18332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88" y="1885950"/>
            <a:ext cx="1412875" cy="119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800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_GB2312" charset="-122"/>
                <a:sym typeface="+mn-ea"/>
              </a:rPr>
              <a:t>6.4 </a:t>
            </a:r>
            <a:r>
              <a:rPr lang="zh-CN" altLang="en-US" sz="2800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_GB2312" charset="-122"/>
                <a:sym typeface="+mn-ea"/>
              </a:rPr>
              <a:t>实例</a:t>
            </a:r>
            <a:r>
              <a:rPr lang="en-US" altLang="zh-CN" sz="2800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_GB2312" charset="-122"/>
                <a:sym typeface="+mn-ea"/>
              </a:rPr>
              <a:t>1</a:t>
            </a:r>
            <a:r>
              <a:rPr lang="zh-CN" altLang="en-US" sz="2800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_GB2312" charset="-122"/>
                <a:sym typeface="+mn-ea"/>
              </a:rPr>
              <a:t>：</a:t>
            </a:r>
            <a:r>
              <a:rPr kumimoji="1" lang="zh-CN" altLang="en-US" sz="2800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车速控制电路</a:t>
            </a:r>
            <a:endParaRPr kumimoji="1" lang="zh-CN" altLang="en-US" sz="2800" kern="12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           </a:t>
            </a:r>
            <a:r>
              <a:rPr lang="zh-CN" altLang="en-US" b="1"/>
              <a:t>米利型</a:t>
            </a:r>
            <a:r>
              <a:rPr lang="en-US" altLang="zh-CN" b="1"/>
              <a:t>                                               </a:t>
            </a:r>
            <a:r>
              <a:rPr lang="zh-CN" altLang="en-US" b="1"/>
              <a:t>穆尔型</a:t>
            </a:r>
            <a:endParaRPr lang="zh-CN" altLang="en-US" b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B1CEEB-BDB6-460C-A731-12CF5FACA222}" type="datetime1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76135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87800" y="2826703"/>
            <a:ext cx="4765675" cy="1684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331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23" y="2712403"/>
            <a:ext cx="2728912" cy="1798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647700" y="1795463"/>
            <a:ext cx="5308600" cy="46402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lnSpc>
                <a:spcPct val="130000"/>
              </a:lnSpc>
              <a:spcBef>
                <a:spcPct val="200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module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simple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w,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output reg</a:t>
            </a:r>
            <a:r>
              <a:rPr kumimoji="1" lang="en-US" alt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reg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[2:1] q, </a:t>
            </a:r>
            <a:r>
              <a:rPr kumimoji="1" lang="en-US" alt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D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;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parameter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[2:1] A=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’b0,B=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’b1;   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always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@ (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w,q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case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(q)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A: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if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z,D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={0,B};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 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20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z,D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={0,A};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B: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{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</a:t>
            </a:r>
            <a:r>
              <a:rPr kumimoji="1" lang="en-US" altLang="en-CA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D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 ={1,B};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       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   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CA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</a:t>
            </a:r>
            <a:r>
              <a:rPr kumimoji="1" lang="en-US" altLang="en-CA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D</a:t>
            </a: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 ={0,A};   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</a:t>
            </a:r>
            <a:r>
              <a:rPr kumimoji="1" lang="en-CA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endcase</a:t>
            </a:r>
            <a:endParaRPr kumimoji="1" lang="en-CA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184324" name="Rectangle 8"/>
          <p:cNvSpPr/>
          <p:nvPr/>
        </p:nvSpPr>
        <p:spPr>
          <a:xfrm>
            <a:off x="3898900" y="4625975"/>
            <a:ext cx="4597400" cy="180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b="1" dirty="0">
                <a:solidFill>
                  <a:srgbClr val="000000"/>
                </a:solidFill>
                <a:ea typeface="MS Mincho" panose="02020609040205080304" pitchFamily="49" charset="-128"/>
              </a:rPr>
              <a:t>	</a:t>
            </a:r>
            <a:r>
              <a:rPr lang="en-CA" altLang="zh-CN" sz="2000" b="1" dirty="0">
                <a:ea typeface="MS Mincho" panose="02020609040205080304" pitchFamily="49" charset="-128"/>
              </a:rPr>
              <a:t>always 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@ (posedge clk, negedge rst_n)</a:t>
            </a:r>
            <a:endParaRPr lang="en-US" altLang="zh-CN" sz="20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CA" altLang="zh-CN" sz="2000" b="1" dirty="0">
                <a:ea typeface="MS Mincho" panose="02020609040205080304" pitchFamily="49" charset="-128"/>
              </a:rPr>
              <a:t>if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(rst_n)   q &lt;= A;</a:t>
            </a:r>
            <a:endParaRPr lang="en-CA" altLang="zh-CN" sz="2000" b="1" dirty="0"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CA" altLang="zh-CN" sz="2000" b="1" dirty="0">
                <a:ea typeface="MS Mincho" panose="02020609040205080304" pitchFamily="49" charset="-128"/>
              </a:rPr>
              <a:t>else</a:t>
            </a:r>
            <a:r>
              <a:rPr lang="en-US" altLang="zh-CN" sz="2000" dirty="0">
                <a:solidFill>
                  <a:srgbClr val="000000"/>
                </a:solidFill>
                <a:ea typeface="MS Mincho" panose="02020609040205080304" pitchFamily="49" charset="-128"/>
              </a:rPr>
              <a:t>  q &lt;= D;</a:t>
            </a:r>
            <a:endParaRPr lang="en-US" altLang="zh-CN" sz="20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2000" b="1" dirty="0">
                <a:solidFill>
                  <a:srgbClr val="C00000"/>
                </a:solidFill>
                <a:ea typeface="MS Mincho" panose="02020609040205080304" pitchFamily="49" charset="-128"/>
              </a:rPr>
              <a:t>endmodule</a:t>
            </a:r>
            <a:endParaRPr lang="en-US" altLang="zh-CN" sz="1800" dirty="0">
              <a:solidFill>
                <a:srgbClr val="C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		</a:t>
            </a:r>
            <a:endParaRPr lang="en-US" altLang="zh-CN" sz="1800" b="1" dirty="0">
              <a:solidFill>
                <a:srgbClr val="000000"/>
              </a:solidFill>
              <a:ea typeface="MS Mincho" panose="02020609040205080304" pitchFamily="49" charset="-128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车速控制电路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84326" name="Rectangle 2"/>
          <p:cNvSpPr/>
          <p:nvPr/>
        </p:nvSpPr>
        <p:spPr>
          <a:xfrm>
            <a:off x="508000" y="1265238"/>
            <a:ext cx="4267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</a:rPr>
              <a:t>Mealy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的</a:t>
            </a:r>
            <a:r>
              <a:rPr lang="en-US" altLang="zh-CN" b="1" dirty="0">
                <a:solidFill>
                  <a:srgbClr val="000000"/>
                </a:solidFill>
              </a:rPr>
              <a:t>Verilog</a:t>
            </a:r>
            <a:r>
              <a:rPr lang="zh-CN" altLang="en-US" b="1" dirty="0">
                <a:solidFill>
                  <a:srgbClr val="000000"/>
                </a:solidFill>
              </a:rPr>
              <a:t>代码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pic>
        <p:nvPicPr>
          <p:cNvPr id="184327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3725" y="1798638"/>
            <a:ext cx="4095750" cy="13589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84328" name="Rectangle 2"/>
          <p:cNvSpPr/>
          <p:nvPr/>
        </p:nvSpPr>
        <p:spPr>
          <a:xfrm>
            <a:off x="6197600" y="5702300"/>
            <a:ext cx="2282825" cy="738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000000"/>
                </a:solidFill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</a:rPr>
              <a:t>6.36 </a:t>
            </a:r>
            <a:r>
              <a:rPr lang="zh-CN" altLang="en-US" sz="2000" dirty="0">
                <a:solidFill>
                  <a:srgbClr val="000000"/>
                </a:solidFill>
              </a:rPr>
              <a:t>多段式描述</a:t>
            </a:r>
            <a:r>
              <a:rPr lang="en-US" altLang="zh-CN" sz="2000" dirty="0">
                <a:solidFill>
                  <a:srgbClr val="000000"/>
                </a:solidFill>
              </a:rPr>
              <a:t>Mealy</a:t>
            </a:r>
            <a:r>
              <a:rPr lang="zh-CN" altLang="en-US" sz="2000" dirty="0">
                <a:solidFill>
                  <a:srgbClr val="000000"/>
                </a:solidFill>
              </a:rPr>
              <a:t>型</a:t>
            </a:r>
            <a:r>
              <a:rPr lang="en-US" altLang="zh-CN" sz="2000" dirty="0">
                <a:solidFill>
                  <a:srgbClr val="000000"/>
                </a:solidFill>
              </a:rPr>
              <a:t>FSM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5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854700" y="3165475"/>
          <a:ext cx="2643188" cy="1463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226"/>
                <a:gridCol w="1940962"/>
              </a:tblGrid>
              <a:tr h="365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60" marB="457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60" marB="457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2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60" marB="457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5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60" marB="457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A/0     B/0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A/0     B/1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60" marB="457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434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85348" name="TextBox 1"/>
          <p:cNvSpPr txBox="1"/>
          <p:nvPr/>
        </p:nvSpPr>
        <p:spPr>
          <a:xfrm>
            <a:off x="508000" y="1206500"/>
            <a:ext cx="8586788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</a:rPr>
              <a:t>第三章讲到行波进位与快速进位加法器均属于</a:t>
            </a:r>
            <a:r>
              <a:rPr lang="en-US" altLang="zh-CN" sz="2200" b="1" dirty="0">
                <a:solidFill>
                  <a:srgbClr val="000000"/>
                </a:solidFill>
              </a:rPr>
              <a:t>n</a:t>
            </a:r>
            <a:r>
              <a:rPr lang="zh-CN" altLang="en-US" sz="2200" b="1" dirty="0">
                <a:solidFill>
                  <a:srgbClr val="000000"/>
                </a:solidFill>
              </a:rPr>
              <a:t>位并行加法器。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sz="2200" b="1" u="sng" dirty="0">
                <a:solidFill>
                  <a:srgbClr val="000000"/>
                </a:solidFill>
              </a:rPr>
              <a:t>串行加法器</a:t>
            </a:r>
            <a:r>
              <a:rPr lang="zh-CN" altLang="en-US" sz="2200" b="1" dirty="0">
                <a:solidFill>
                  <a:srgbClr val="000000"/>
                </a:solidFill>
              </a:rPr>
              <a:t>设计思路：设</a:t>
            </a:r>
            <a:r>
              <a:rPr lang="en-US" altLang="zh-CN" sz="2200" b="1" dirty="0">
                <a:solidFill>
                  <a:srgbClr val="000000"/>
                </a:solidFill>
              </a:rPr>
              <a:t>A</a:t>
            </a:r>
            <a:r>
              <a:rPr lang="zh-CN" altLang="en-US" sz="2200" b="1" dirty="0">
                <a:solidFill>
                  <a:srgbClr val="000000"/>
                </a:solidFill>
              </a:rPr>
              <a:t>、</a:t>
            </a:r>
            <a:r>
              <a:rPr lang="en-US" altLang="zh-CN" sz="2200" b="1" dirty="0">
                <a:solidFill>
                  <a:srgbClr val="000000"/>
                </a:solidFill>
              </a:rPr>
              <a:t>B</a:t>
            </a:r>
            <a:r>
              <a:rPr lang="zh-CN" altLang="en-US" sz="2200" b="1" dirty="0">
                <a:solidFill>
                  <a:srgbClr val="000000"/>
                </a:solidFill>
              </a:rPr>
              <a:t>分别为两个无符号数</a:t>
            </a:r>
            <a:r>
              <a:rPr lang="en-US" altLang="zh-CN" sz="2200" b="1" dirty="0">
                <a:solidFill>
                  <a:srgbClr val="000000"/>
                </a:solidFill>
              </a:rPr>
              <a:t>n</a:t>
            </a:r>
            <a:r>
              <a:rPr lang="zh-CN" altLang="en-US" sz="2200" b="1" dirty="0">
                <a:solidFill>
                  <a:srgbClr val="000000"/>
                </a:solidFill>
              </a:rPr>
              <a:t>位整数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移位寄存器保存两个加数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在时钟控制下</a:t>
            </a:r>
            <a:r>
              <a:rPr lang="zh-CN" altLang="en-US" sz="2200" u="sng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按位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右移，送入加法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；将计算结果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送入移位寄存器存储。下一个时钟到达开始接受下一位加数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8534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988" y="3424238"/>
            <a:ext cx="6748462" cy="277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5350" name="Rectangle 2"/>
          <p:cNvSpPr/>
          <p:nvPr/>
        </p:nvSpPr>
        <p:spPr>
          <a:xfrm>
            <a:off x="2022475" y="6172200"/>
            <a:ext cx="57927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00"/>
                </a:solidFill>
              </a:rPr>
              <a:t>Figure 6.39.   Block diagram for the serial adder</a:t>
            </a:r>
            <a:endParaRPr lang="en-US" altLang="zh-CN" sz="2200" b="1" i="1" dirty="0">
              <a:solidFill>
                <a:srgbClr val="000000"/>
              </a:solidFill>
            </a:endParaRPr>
          </a:p>
        </p:txBody>
      </p:sp>
      <p:sp>
        <p:nvSpPr>
          <p:cNvPr id="185351" name="矩形 6"/>
          <p:cNvSpPr/>
          <p:nvPr/>
        </p:nvSpPr>
        <p:spPr>
          <a:xfrm>
            <a:off x="4572000" y="3992563"/>
            <a:ext cx="1219200" cy="1220787"/>
          </a:xfrm>
          <a:prstGeom prst="rect">
            <a:avLst/>
          </a:prstGeom>
          <a:solidFill>
            <a:srgbClr val="FFC000">
              <a:alpha val="23137"/>
            </a:srgbClr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535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pic>
        <p:nvPicPr>
          <p:cNvPr id="186371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988" y="3735388"/>
            <a:ext cx="6740525" cy="176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6372" name="Rectangle 2"/>
          <p:cNvSpPr/>
          <p:nvPr/>
        </p:nvSpPr>
        <p:spPr>
          <a:xfrm>
            <a:off x="1081088" y="5651500"/>
            <a:ext cx="74422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00"/>
                </a:solidFill>
              </a:rPr>
              <a:t>Figure 6.40   State diagram for the Mealy-type serial adder FSM.</a:t>
            </a:r>
            <a:endParaRPr lang="en-US" altLang="zh-CN" sz="2000" b="1" i="1" dirty="0">
              <a:solidFill>
                <a:srgbClr val="000000"/>
              </a:solidFill>
            </a:endParaRPr>
          </a:p>
        </p:txBody>
      </p:sp>
      <p:sp>
        <p:nvSpPr>
          <p:cNvPr id="3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86374" name="TextBox 1"/>
          <p:cNvSpPr txBox="1"/>
          <p:nvPr/>
        </p:nvSpPr>
        <p:spPr>
          <a:xfrm>
            <a:off x="508000" y="1206500"/>
            <a:ext cx="8586788" cy="228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en-US" altLang="zh-CN" b="1" u="sng" dirty="0">
                <a:solidFill>
                  <a:srgbClr val="C00000"/>
                </a:solidFill>
              </a:rPr>
              <a:t>Mealy</a:t>
            </a:r>
            <a:r>
              <a:rPr lang="zh-CN" altLang="en-US" b="1" u="sng" dirty="0">
                <a:solidFill>
                  <a:srgbClr val="C00000"/>
                </a:solidFill>
              </a:rPr>
              <a:t>型</a:t>
            </a:r>
            <a:r>
              <a:rPr lang="en-US" altLang="zh-CN" b="1" u="sng" dirty="0">
                <a:solidFill>
                  <a:srgbClr val="C00000"/>
                </a:solidFill>
              </a:rPr>
              <a:t>FSM</a:t>
            </a:r>
            <a:r>
              <a:rPr lang="zh-CN" altLang="en-US" b="1" u="sng" dirty="0">
                <a:solidFill>
                  <a:srgbClr val="C00000"/>
                </a:solidFill>
              </a:rPr>
              <a:t>设计</a:t>
            </a:r>
            <a:r>
              <a:rPr lang="zh-CN" altLang="en-US" b="1" dirty="0">
                <a:solidFill>
                  <a:srgbClr val="000000"/>
                </a:solidFill>
              </a:rPr>
              <a:t>：</a:t>
            </a:r>
            <a:r>
              <a:rPr lang="en-US" altLang="zh-CN" b="1" dirty="0">
                <a:solidFill>
                  <a:srgbClr val="0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en-US" altLang="zh-CN" b="1" dirty="0">
                <a:solidFill>
                  <a:srgbClr val="0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为输入，</a:t>
            </a:r>
            <a:r>
              <a:rPr lang="en-US" altLang="zh-CN" b="1" dirty="0">
                <a:solidFill>
                  <a:srgbClr val="000000"/>
                </a:solidFill>
              </a:rPr>
              <a:t>S</a:t>
            </a:r>
            <a:r>
              <a:rPr lang="zh-CN" altLang="en-US" b="1" dirty="0">
                <a:solidFill>
                  <a:srgbClr val="000000"/>
                </a:solidFill>
              </a:rPr>
              <a:t>为输出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根据前一位的进位值将产生不同的动作。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定义两个状态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，分别表示进位为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的状态，得到状态转换图。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是当前状态与输入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的函数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——Mealy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型；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63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29" name="表格 54"/>
          <p:cNvGraphicFramePr>
            <a:graphicFrameLocks noGrp="1"/>
          </p:cNvGraphicFramePr>
          <p:nvPr/>
        </p:nvGraphicFramePr>
        <p:xfrm>
          <a:off x="762000" y="2774950"/>
          <a:ext cx="4016375" cy="1466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140"/>
                <a:gridCol w="3231235"/>
              </a:tblGrid>
              <a:tr h="3657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20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41" marR="91441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2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00      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1     10      11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G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G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 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1" marR="91441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表格 54"/>
          <p:cNvGraphicFramePr>
            <a:graphicFrameLocks noGrp="1"/>
          </p:cNvGraphicFramePr>
          <p:nvPr/>
        </p:nvGraphicFramePr>
        <p:xfrm>
          <a:off x="4967288" y="2774950"/>
          <a:ext cx="3597275" cy="1466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213"/>
                <a:gridCol w="2894062"/>
              </a:tblGrid>
              <a:tr h="3657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20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2000" b="1" i="1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2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00     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1    11    10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0/0    0/1   1/0   0/1 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0/1    1/0   1/1   1/0 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marT="45710" marB="4571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87422" name="TextBox 1"/>
          <p:cNvSpPr txBox="1"/>
          <p:nvPr/>
        </p:nvSpPr>
        <p:spPr>
          <a:xfrm>
            <a:off x="508000" y="1206500"/>
            <a:ext cx="8586788" cy="140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en-US" altLang="zh-CN" b="1" u="sng" dirty="0">
                <a:solidFill>
                  <a:srgbClr val="C00000"/>
                </a:solidFill>
              </a:rPr>
              <a:t>Mealy</a:t>
            </a:r>
            <a:r>
              <a:rPr lang="zh-CN" altLang="en-US" b="1" u="sng" dirty="0">
                <a:solidFill>
                  <a:srgbClr val="C00000"/>
                </a:solidFill>
              </a:rPr>
              <a:t>型</a:t>
            </a:r>
            <a:r>
              <a:rPr lang="en-US" altLang="zh-CN" b="1" u="sng" dirty="0">
                <a:solidFill>
                  <a:srgbClr val="C00000"/>
                </a:solidFill>
              </a:rPr>
              <a:t>FSM</a:t>
            </a:r>
            <a:r>
              <a:rPr lang="zh-CN" altLang="en-US" b="1" u="sng" dirty="0">
                <a:solidFill>
                  <a:srgbClr val="C00000"/>
                </a:solidFill>
              </a:rPr>
              <a:t>设计</a:t>
            </a:r>
            <a:r>
              <a:rPr lang="zh-CN" altLang="en-US" b="1" dirty="0">
                <a:solidFill>
                  <a:srgbClr val="000000"/>
                </a:solidFill>
              </a:rPr>
              <a:t>：</a:t>
            </a:r>
            <a:r>
              <a:rPr lang="en-US" altLang="zh-CN" b="1" dirty="0">
                <a:solidFill>
                  <a:srgbClr val="0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en-US" altLang="zh-CN" b="1" dirty="0">
                <a:solidFill>
                  <a:srgbClr val="0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为输入，</a:t>
            </a:r>
            <a:r>
              <a:rPr lang="en-US" altLang="zh-CN" b="1" dirty="0">
                <a:solidFill>
                  <a:srgbClr val="000000"/>
                </a:solidFill>
              </a:rPr>
              <a:t>S</a:t>
            </a:r>
            <a:r>
              <a:rPr lang="zh-CN" altLang="en-US" b="1" dirty="0">
                <a:solidFill>
                  <a:srgbClr val="000000"/>
                </a:solidFill>
              </a:rPr>
              <a:t>为输出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将状态图转化为状态表。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状态编码：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态，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态。现态变量为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，次态变量为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7423" name="椭圆 1"/>
          <p:cNvSpPr/>
          <p:nvPr/>
        </p:nvSpPr>
        <p:spPr>
          <a:xfrm>
            <a:off x="6929438" y="3529013"/>
            <a:ext cx="431800" cy="395287"/>
          </a:xfrm>
          <a:prstGeom prst="ellipse">
            <a:avLst/>
          </a:prstGeom>
          <a:solidFill>
            <a:srgbClr val="FFFF00">
              <a:alpha val="34117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24" name="椭圆 9"/>
          <p:cNvSpPr/>
          <p:nvPr/>
        </p:nvSpPr>
        <p:spPr>
          <a:xfrm>
            <a:off x="7453313" y="3846513"/>
            <a:ext cx="433387" cy="395287"/>
          </a:xfrm>
          <a:prstGeom prst="ellipse">
            <a:avLst/>
          </a:prstGeom>
          <a:solidFill>
            <a:srgbClr val="FFFF00">
              <a:alpha val="34117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25" name="椭圆 10"/>
          <p:cNvSpPr/>
          <p:nvPr/>
        </p:nvSpPr>
        <p:spPr>
          <a:xfrm>
            <a:off x="7950200" y="3540125"/>
            <a:ext cx="431800" cy="396875"/>
          </a:xfrm>
          <a:prstGeom prst="ellipse">
            <a:avLst/>
          </a:prstGeom>
          <a:solidFill>
            <a:srgbClr val="FFFF00">
              <a:alpha val="34117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26" name="椭圆 11"/>
          <p:cNvSpPr/>
          <p:nvPr/>
        </p:nvSpPr>
        <p:spPr>
          <a:xfrm>
            <a:off x="6342063" y="3846513"/>
            <a:ext cx="433387" cy="395287"/>
          </a:xfrm>
          <a:prstGeom prst="ellipse">
            <a:avLst/>
          </a:prstGeom>
          <a:solidFill>
            <a:srgbClr val="FFFF00">
              <a:alpha val="34117"/>
            </a:srgbClr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27" name="矩形 2"/>
          <p:cNvSpPr/>
          <p:nvPr/>
        </p:nvSpPr>
        <p:spPr>
          <a:xfrm>
            <a:off x="6959600" y="3914775"/>
            <a:ext cx="396875" cy="266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28" name="矩形 14"/>
          <p:cNvSpPr/>
          <p:nvPr/>
        </p:nvSpPr>
        <p:spPr>
          <a:xfrm>
            <a:off x="7975600" y="3910013"/>
            <a:ext cx="396875" cy="266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29" name="矩形 15"/>
          <p:cNvSpPr/>
          <p:nvPr/>
        </p:nvSpPr>
        <p:spPr>
          <a:xfrm>
            <a:off x="7458075" y="3921125"/>
            <a:ext cx="396875" cy="266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30" name="矩形 16"/>
          <p:cNvSpPr/>
          <p:nvPr/>
        </p:nvSpPr>
        <p:spPr>
          <a:xfrm>
            <a:off x="7458075" y="3617913"/>
            <a:ext cx="396875" cy="265112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87431" name="TextBox 1"/>
          <p:cNvSpPr txBox="1"/>
          <p:nvPr/>
        </p:nvSpPr>
        <p:spPr>
          <a:xfrm>
            <a:off x="625475" y="4398963"/>
            <a:ext cx="8305800" cy="46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可得到次态方程和输出方程：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87432" name="组合 13"/>
          <p:cNvGrpSpPr/>
          <p:nvPr/>
        </p:nvGrpSpPr>
        <p:grpSpPr>
          <a:xfrm>
            <a:off x="6111875" y="4868863"/>
            <a:ext cx="2489200" cy="1177925"/>
            <a:chOff x="5201920" y="5140658"/>
            <a:chExt cx="2489200" cy="1177972"/>
          </a:xfrm>
        </p:grpSpPr>
        <p:pic>
          <p:nvPicPr>
            <p:cNvPr id="187440" name="图片 19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42890" y="5828940"/>
              <a:ext cx="1611312" cy="28733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87441" name="图片 19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7015" y="5300303"/>
              <a:ext cx="2232025" cy="31591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7442" name="矩形 7"/>
            <p:cNvSpPr/>
            <p:nvPr/>
          </p:nvSpPr>
          <p:spPr>
            <a:xfrm>
              <a:off x="5201920" y="5140658"/>
              <a:ext cx="2489200" cy="1177972"/>
            </a:xfrm>
            <a:prstGeom prst="rect">
              <a:avLst/>
            </a:prstGeom>
            <a:noFill/>
            <a:ln w="158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7433" name="组合 8"/>
          <p:cNvGrpSpPr/>
          <p:nvPr/>
        </p:nvGrpSpPr>
        <p:grpSpPr>
          <a:xfrm>
            <a:off x="949325" y="4914900"/>
            <a:ext cx="2489200" cy="1177925"/>
            <a:chOff x="949115" y="5158172"/>
            <a:chExt cx="2489200" cy="1177972"/>
          </a:xfrm>
        </p:grpSpPr>
        <p:pic>
          <p:nvPicPr>
            <p:cNvPr id="187438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8965" y="5353481"/>
              <a:ext cx="2293196" cy="86863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7439" name="矩形 32"/>
            <p:cNvSpPr/>
            <p:nvPr/>
          </p:nvSpPr>
          <p:spPr>
            <a:xfrm>
              <a:off x="949115" y="5158172"/>
              <a:ext cx="2489200" cy="1177972"/>
            </a:xfrm>
            <a:prstGeom prst="rect">
              <a:avLst/>
            </a:prstGeom>
            <a:noFill/>
            <a:ln w="158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87434" name="直接箭头连接符 21"/>
          <p:cNvCxnSpPr/>
          <p:nvPr/>
        </p:nvCxnSpPr>
        <p:spPr>
          <a:xfrm>
            <a:off x="3438525" y="5487988"/>
            <a:ext cx="2663825" cy="0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olid"/>
            <a:headEnd type="triangle" w="lg" len="lg"/>
            <a:tailEnd type="triangle" w="lg" len="lg"/>
          </a:ln>
        </p:spPr>
      </p:cxnSp>
      <p:sp>
        <p:nvSpPr>
          <p:cNvPr id="187435" name="Rectangle 2"/>
          <p:cNvSpPr/>
          <p:nvPr/>
        </p:nvSpPr>
        <p:spPr>
          <a:xfrm>
            <a:off x="3846513" y="4968875"/>
            <a:ext cx="1835150" cy="11763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200" b="1" i="1" dirty="0">
                <a:solidFill>
                  <a:srgbClr val="000000"/>
                </a:solidFill>
              </a:rPr>
              <a:t>Q</a:t>
            </a:r>
            <a:r>
              <a:rPr lang="zh-CN" altLang="en-US" sz="2200" b="1" dirty="0">
                <a:solidFill>
                  <a:srgbClr val="000000"/>
                </a:solidFill>
              </a:rPr>
              <a:t>：进位输出</a:t>
            </a:r>
            <a:endParaRPr lang="en-US" altLang="zh-CN" sz="2200" b="1" i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200" b="1" i="1" dirty="0">
                <a:solidFill>
                  <a:srgbClr val="000000"/>
                </a:solidFill>
              </a:rPr>
              <a:t>q </a:t>
            </a:r>
            <a:r>
              <a:rPr lang="zh-CN" altLang="en-US" sz="2200" b="1" dirty="0">
                <a:solidFill>
                  <a:srgbClr val="000000"/>
                </a:solidFill>
              </a:rPr>
              <a:t>：进位输入</a:t>
            </a:r>
            <a:endParaRPr lang="en-US" altLang="zh-CN" sz="22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200" b="1" i="1" dirty="0">
                <a:solidFill>
                  <a:srgbClr val="000000"/>
                </a:solidFill>
              </a:rPr>
              <a:t>s </a:t>
            </a:r>
            <a:r>
              <a:rPr lang="zh-CN" altLang="en-US" sz="2200" b="1" dirty="0">
                <a:solidFill>
                  <a:srgbClr val="000000"/>
                </a:solidFill>
              </a:rPr>
              <a:t>：和位</a:t>
            </a:r>
            <a:endParaRPr lang="en-US" altLang="zh-CN" sz="2200" b="1" dirty="0">
              <a:solidFill>
                <a:srgbClr val="000000"/>
              </a:solidFill>
            </a:endParaRPr>
          </a:p>
        </p:txBody>
      </p:sp>
      <p:sp>
        <p:nvSpPr>
          <p:cNvPr id="187436" name="Rectangle 2"/>
          <p:cNvSpPr/>
          <p:nvPr/>
        </p:nvSpPr>
        <p:spPr>
          <a:xfrm>
            <a:off x="6000750" y="4503738"/>
            <a:ext cx="2489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</a:rPr>
              <a:t>全加器输出表达式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18743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pic>
        <p:nvPicPr>
          <p:cNvPr id="18841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975" y="2363788"/>
            <a:ext cx="3984625" cy="2143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88421" name="Rectangle 2"/>
          <p:cNvSpPr/>
          <p:nvPr/>
        </p:nvSpPr>
        <p:spPr>
          <a:xfrm>
            <a:off x="1816100" y="4570413"/>
            <a:ext cx="4902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000000"/>
                </a:solidFill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</a:rPr>
              <a:t> 6.43. Mealy</a:t>
            </a:r>
            <a:r>
              <a:rPr lang="zh-CN" altLang="en-US" sz="2000" dirty="0">
                <a:solidFill>
                  <a:srgbClr val="000000"/>
                </a:solidFill>
              </a:rPr>
              <a:t>型串行加法器</a:t>
            </a:r>
            <a:r>
              <a:rPr lang="en-US" altLang="zh-CN" sz="2000" dirty="0">
                <a:solidFill>
                  <a:srgbClr val="000000"/>
                </a:solidFill>
              </a:rPr>
              <a:t>FSM</a:t>
            </a:r>
            <a:r>
              <a:rPr lang="zh-CN" altLang="en-US" sz="2000" dirty="0">
                <a:solidFill>
                  <a:srgbClr val="000000"/>
                </a:solidFill>
              </a:rPr>
              <a:t>电路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188422" name="TextBox 1"/>
          <p:cNvSpPr txBox="1"/>
          <p:nvPr/>
        </p:nvSpPr>
        <p:spPr>
          <a:xfrm>
            <a:off x="663575" y="5121275"/>
            <a:ext cx="8305800" cy="487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串行加法器可实现一个可以用于任意长度数据相加。</a:t>
            </a:r>
            <a:endParaRPr lang="zh-CN" altLang="en-US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188423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850" y="3195638"/>
            <a:ext cx="2293938" cy="868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8424" name="TextBox 1"/>
          <p:cNvSpPr txBox="1"/>
          <p:nvPr/>
        </p:nvSpPr>
        <p:spPr>
          <a:xfrm>
            <a:off x="571500" y="1249363"/>
            <a:ext cx="4902200" cy="487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由全加器生成激励信号与输出信号：</a:t>
            </a:r>
            <a:endParaRPr lang="zh-CN" altLang="en-US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8425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10" name="Picture 3" descr="6-1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675" y="57468"/>
            <a:ext cx="2311400" cy="2462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8475" y="365125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实例2：串行加法器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pic>
        <p:nvPicPr>
          <p:cNvPr id="189443" name="内容占位符 4"/>
          <p:cNvPicPr>
            <a:picLocks noGrp="1" noRot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1705610" y="2252980"/>
            <a:ext cx="5732463" cy="4375150"/>
          </a:xfrm>
        </p:spPr>
      </p:pic>
      <p:sp>
        <p:nvSpPr>
          <p:cNvPr id="189444" name="TextBox 1"/>
          <p:cNvSpPr txBox="1"/>
          <p:nvPr/>
        </p:nvSpPr>
        <p:spPr>
          <a:xfrm>
            <a:off x="571500" y="1249363"/>
            <a:ext cx="8572500" cy="1350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串行加法器完整的电路；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数据通路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：处理数据，包括寄存器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计数器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选择器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加法器等</a:t>
            </a: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控制电路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：常用有限状态机来控制电路。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9446" name="日期占位符 9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89447" name="灯片编号占位符 10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3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0468" name="TextBox 1"/>
          <p:cNvSpPr txBox="1"/>
          <p:nvPr/>
        </p:nvSpPr>
        <p:spPr>
          <a:xfrm>
            <a:off x="508000" y="1206500"/>
            <a:ext cx="8586788" cy="966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en-US" altLang="zh-CN" b="1" u="sng" dirty="0">
                <a:solidFill>
                  <a:srgbClr val="C00000"/>
                </a:solidFill>
              </a:rPr>
              <a:t>Moore</a:t>
            </a:r>
            <a:r>
              <a:rPr lang="zh-CN" altLang="en-US" b="1" u="sng" dirty="0">
                <a:solidFill>
                  <a:srgbClr val="C00000"/>
                </a:solidFill>
              </a:rPr>
              <a:t>型</a:t>
            </a:r>
            <a:r>
              <a:rPr lang="en-US" altLang="zh-CN" b="1" u="sng" dirty="0">
                <a:solidFill>
                  <a:srgbClr val="C00000"/>
                </a:solidFill>
              </a:rPr>
              <a:t>FSM</a:t>
            </a:r>
            <a:r>
              <a:rPr lang="zh-CN" altLang="en-US" b="1" u="sng" dirty="0">
                <a:solidFill>
                  <a:srgbClr val="C00000"/>
                </a:solidFill>
              </a:rPr>
              <a:t>设计</a:t>
            </a:r>
            <a:r>
              <a:rPr lang="zh-CN" altLang="en-US" b="1" dirty="0">
                <a:solidFill>
                  <a:srgbClr val="000000"/>
                </a:solidFill>
              </a:rPr>
              <a:t>：</a:t>
            </a:r>
            <a:r>
              <a:rPr lang="en-US" altLang="zh-CN" b="1" dirty="0">
                <a:solidFill>
                  <a:srgbClr val="0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en-US" altLang="zh-CN" b="1" dirty="0">
                <a:solidFill>
                  <a:srgbClr val="0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为输入，</a:t>
            </a:r>
            <a:r>
              <a:rPr lang="en-US" altLang="zh-CN" b="1" dirty="0">
                <a:solidFill>
                  <a:srgbClr val="000000"/>
                </a:solidFill>
              </a:rPr>
              <a:t>S</a:t>
            </a:r>
            <a:r>
              <a:rPr lang="zh-CN" altLang="en-US" b="1" dirty="0">
                <a:solidFill>
                  <a:srgbClr val="000000"/>
                </a:solidFill>
              </a:rPr>
              <a:t>为输出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根据当前的进位及和位为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，定义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FSM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中的四种状态：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469" name="TextBox 1"/>
          <p:cNvSpPr txBox="1"/>
          <p:nvPr/>
        </p:nvSpPr>
        <p:spPr>
          <a:xfrm>
            <a:off x="498475" y="3094038"/>
            <a:ext cx="8586788" cy="48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得到状态转换图。输出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只是当前状态的函数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——Moore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型；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2033588" y="2236788"/>
          <a:ext cx="5076826" cy="792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642"/>
                <a:gridCol w="841687"/>
                <a:gridCol w="900898"/>
                <a:gridCol w="943293"/>
                <a:gridCol w="837306"/>
              </a:tblGrid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2000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进位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和位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3" marR="91443" marT="45642" marB="45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90490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3757613"/>
            <a:ext cx="3783013" cy="2444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0491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graphicFrame>
        <p:nvGraphicFramePr>
          <p:cNvPr id="30" name="表格 54"/>
          <p:cNvGraphicFramePr>
            <a:graphicFrameLocks noGrp="1"/>
          </p:cNvGraphicFramePr>
          <p:nvPr/>
        </p:nvGraphicFramePr>
        <p:xfrm>
          <a:off x="2755900" y="2727325"/>
          <a:ext cx="3551238" cy="207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463"/>
                <a:gridCol w="2134549"/>
                <a:gridCol w="650226"/>
              </a:tblGrid>
              <a:tr h="3658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en-US" altLang="zh-CN" sz="20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b="1" i="1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0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b="1" i="0" kern="1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endParaRPr lang="en-US" altLang="zh-CN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55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=00  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1  10  11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91431" marR="91431" marT="45736" marB="4573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00  01  01  10        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00  01  01  10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01  10  10  11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01  10  10  11 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0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0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1" i="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1508" name="TextBox 1"/>
          <p:cNvSpPr txBox="1"/>
          <p:nvPr/>
        </p:nvSpPr>
        <p:spPr>
          <a:xfrm>
            <a:off x="508000" y="1206500"/>
            <a:ext cx="8382000" cy="1444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en-US" altLang="zh-CN" b="1" u="sng" dirty="0">
                <a:solidFill>
                  <a:srgbClr val="C00000"/>
                </a:solidFill>
              </a:rPr>
              <a:t>Moore</a:t>
            </a:r>
            <a:r>
              <a:rPr lang="zh-CN" altLang="en-US" b="1" u="sng" dirty="0">
                <a:solidFill>
                  <a:srgbClr val="C00000"/>
                </a:solidFill>
              </a:rPr>
              <a:t>型</a:t>
            </a:r>
            <a:r>
              <a:rPr lang="en-US" altLang="zh-CN" b="1" u="sng" dirty="0">
                <a:solidFill>
                  <a:srgbClr val="C00000"/>
                </a:solidFill>
              </a:rPr>
              <a:t>FSM</a:t>
            </a:r>
            <a:r>
              <a:rPr lang="zh-CN" altLang="en-US" b="1" u="sng" dirty="0">
                <a:solidFill>
                  <a:srgbClr val="C00000"/>
                </a:solidFill>
              </a:rPr>
              <a:t>设计</a:t>
            </a:r>
            <a:r>
              <a:rPr lang="zh-CN" altLang="en-US" b="1" dirty="0">
                <a:solidFill>
                  <a:srgbClr val="000000"/>
                </a:solidFill>
              </a:rPr>
              <a:t>：</a:t>
            </a:r>
            <a:r>
              <a:rPr lang="en-US" altLang="zh-CN" b="1" dirty="0">
                <a:solidFill>
                  <a:srgbClr val="000000"/>
                </a:solidFill>
              </a:rPr>
              <a:t>a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en-US" altLang="zh-CN" b="1" dirty="0">
                <a:solidFill>
                  <a:srgbClr val="0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为输入，</a:t>
            </a:r>
            <a:r>
              <a:rPr lang="en-US" altLang="zh-CN" b="1" dirty="0">
                <a:solidFill>
                  <a:srgbClr val="000000"/>
                </a:solidFill>
              </a:rPr>
              <a:t>s</a:t>
            </a:r>
            <a:r>
              <a:rPr lang="zh-CN" altLang="en-US" b="1" dirty="0">
                <a:solidFill>
                  <a:srgbClr val="000000"/>
                </a:solidFill>
              </a:rPr>
              <a:t>为输出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742950" lvl="1" indent="-285750">
              <a:spcBef>
                <a:spcPct val="0"/>
              </a:spcBef>
              <a:buFontTx/>
              <a:buChar char="•"/>
            </a:pP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将状态图转化为状态表。状态编码：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01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H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。两个现态变量为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，次态变量为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3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3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3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1509" name="TextBox 1"/>
          <p:cNvSpPr txBox="1"/>
          <p:nvPr/>
        </p:nvSpPr>
        <p:spPr>
          <a:xfrm>
            <a:off x="1012825" y="4876800"/>
            <a:ext cx="4262438" cy="46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342900" lvl="0" indent="-342900">
              <a:spcBef>
                <a:spcPct val="0"/>
              </a:spcBef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</a:rPr>
              <a:t>可得到次态方程和输出方程：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191510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2713" y="4989513"/>
            <a:ext cx="2493962" cy="141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15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92515" name="Rectangle 2"/>
          <p:cNvSpPr/>
          <p:nvPr/>
        </p:nvSpPr>
        <p:spPr>
          <a:xfrm>
            <a:off x="457200" y="4675188"/>
            <a:ext cx="475773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800" b="1" dirty="0">
                <a:solidFill>
                  <a:srgbClr val="000000"/>
                </a:solidFill>
              </a:rPr>
              <a:t>图</a:t>
            </a:r>
            <a:r>
              <a:rPr lang="en-US" altLang="zh-CN" sz="1800" b="1" dirty="0">
                <a:solidFill>
                  <a:srgbClr val="000000"/>
                </a:solidFill>
              </a:rPr>
              <a:t> 6.47. Moore</a:t>
            </a:r>
            <a:r>
              <a:rPr lang="zh-CN" altLang="en-US" sz="1800" b="1" dirty="0">
                <a:solidFill>
                  <a:srgbClr val="000000"/>
                </a:solidFill>
              </a:rPr>
              <a:t>型串行加法器</a:t>
            </a:r>
            <a:r>
              <a:rPr lang="en-US" altLang="zh-CN" sz="1800" b="1" dirty="0">
                <a:solidFill>
                  <a:srgbClr val="000000"/>
                </a:solidFill>
              </a:rPr>
              <a:t>FSM</a:t>
            </a:r>
            <a:r>
              <a:rPr lang="zh-CN" altLang="en-US" sz="1800" b="1" dirty="0">
                <a:solidFill>
                  <a:srgbClr val="000000"/>
                </a:solidFill>
              </a:rPr>
              <a:t>电路</a:t>
            </a:r>
            <a:endParaRPr lang="zh-CN" altLang="en-US" sz="1800" b="1" dirty="0">
              <a:solidFill>
                <a:srgbClr val="000000"/>
              </a:solidFill>
            </a:endParaRPr>
          </a:p>
        </p:txBody>
      </p:sp>
      <p:pic>
        <p:nvPicPr>
          <p:cNvPr id="192516" name="图片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65" y="1831975"/>
            <a:ext cx="4462463" cy="2843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：串行加法器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2518" name="TextBox 1"/>
          <p:cNvSpPr txBox="1"/>
          <p:nvPr/>
        </p:nvSpPr>
        <p:spPr>
          <a:xfrm>
            <a:off x="571500" y="1344613"/>
            <a:ext cx="4902200" cy="487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buClr>
                <a:srgbClr val="007A77"/>
              </a:buClr>
            </a:pPr>
            <a:r>
              <a:rPr lang="zh-CN" altLang="en-US" sz="2300" b="1" dirty="0">
                <a:solidFill>
                  <a:srgbClr val="000000"/>
                </a:solidFill>
                <a:latin typeface="宋体" panose="02010600030101010101" pitchFamily="2" charset="-122"/>
              </a:rPr>
              <a:t>由全加器生成激励信号：</a:t>
            </a:r>
            <a:endParaRPr lang="zh-CN" altLang="en-US" sz="23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92519" name="TextBox 1"/>
          <p:cNvSpPr txBox="1"/>
          <p:nvPr/>
        </p:nvSpPr>
        <p:spPr>
          <a:xfrm>
            <a:off x="571500" y="5181600"/>
            <a:ext cx="8039100" cy="1271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>
                <a:srgbClr val="007A77"/>
              </a:buClr>
            </a:pPr>
            <a:r>
              <a:rPr lang="en-US" altLang="zh-CN" sz="2200" b="1" dirty="0">
                <a:solidFill>
                  <a:srgbClr val="000000"/>
                </a:solidFill>
              </a:rPr>
              <a:t>Mealy</a:t>
            </a:r>
            <a:r>
              <a:rPr lang="zh-CN" altLang="en-US" sz="2200" b="1" dirty="0">
                <a:solidFill>
                  <a:srgbClr val="000000"/>
                </a:solidFill>
              </a:rPr>
              <a:t>型和</a:t>
            </a:r>
            <a:r>
              <a:rPr lang="en-US" altLang="zh-CN" sz="2200" b="1" dirty="0">
                <a:solidFill>
                  <a:srgbClr val="000000"/>
                </a:solidFill>
              </a:rPr>
              <a:t>Moore</a:t>
            </a:r>
            <a:r>
              <a:rPr lang="zh-CN" altLang="en-US" sz="2200" b="1" dirty="0">
                <a:solidFill>
                  <a:srgbClr val="000000"/>
                </a:solidFill>
              </a:rPr>
              <a:t>型</a:t>
            </a:r>
            <a:r>
              <a:rPr lang="en-US" altLang="zh-CN" sz="2200" b="1" dirty="0">
                <a:solidFill>
                  <a:srgbClr val="000000"/>
                </a:solidFill>
              </a:rPr>
              <a:t>FSM</a:t>
            </a:r>
            <a:r>
              <a:rPr lang="zh-CN" altLang="en-US" sz="2200" b="1" dirty="0">
                <a:solidFill>
                  <a:srgbClr val="000000"/>
                </a:solidFill>
              </a:rPr>
              <a:t>主要区别：</a:t>
            </a:r>
            <a:r>
              <a:rPr lang="en-US" altLang="zh-CN" sz="2200" b="1" dirty="0">
                <a:solidFill>
                  <a:srgbClr val="000000"/>
                </a:solidFill>
              </a:rPr>
              <a:t>Mealy</a:t>
            </a:r>
            <a:r>
              <a:rPr lang="zh-CN" altLang="en-US" sz="2200" b="1" dirty="0">
                <a:solidFill>
                  <a:srgbClr val="000000"/>
                </a:solidFill>
              </a:rPr>
              <a:t>型输入的变化会立即反映到输出，而</a:t>
            </a:r>
            <a:r>
              <a:rPr lang="en-US" altLang="zh-CN" sz="2200" b="1" dirty="0">
                <a:solidFill>
                  <a:srgbClr val="000000"/>
                </a:solidFill>
              </a:rPr>
              <a:t>Moore</a:t>
            </a:r>
            <a:r>
              <a:rPr lang="zh-CN" altLang="en-US" sz="2200" b="1" dirty="0">
                <a:solidFill>
                  <a:srgbClr val="000000"/>
                </a:solidFill>
              </a:rPr>
              <a:t>型则在输入改变后的下一个时钟周期，状态机状态改变之后输出才发生变化。</a:t>
            </a:r>
            <a:endParaRPr lang="zh-CN" altLang="en-US" sz="2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9252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18841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390" y="2585720"/>
            <a:ext cx="3603625" cy="1938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8421" name="Rectangle 2"/>
          <p:cNvSpPr/>
          <p:nvPr/>
        </p:nvSpPr>
        <p:spPr>
          <a:xfrm>
            <a:off x="5096510" y="4622165"/>
            <a:ext cx="404749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800" b="1" dirty="0">
                <a:solidFill>
                  <a:srgbClr val="000000"/>
                </a:solidFill>
              </a:rPr>
              <a:t>图</a:t>
            </a:r>
            <a:r>
              <a:rPr lang="en-US" altLang="zh-CN" sz="1800" b="1" dirty="0">
                <a:solidFill>
                  <a:srgbClr val="000000"/>
                </a:solidFill>
              </a:rPr>
              <a:t> 6.43. Mealy</a:t>
            </a:r>
            <a:r>
              <a:rPr lang="zh-CN" altLang="en-US" sz="1800" b="1" dirty="0">
                <a:solidFill>
                  <a:srgbClr val="000000"/>
                </a:solidFill>
              </a:rPr>
              <a:t>型串行加法器</a:t>
            </a:r>
            <a:r>
              <a:rPr lang="en-US" altLang="zh-CN" sz="1800" b="1" dirty="0">
                <a:solidFill>
                  <a:srgbClr val="000000"/>
                </a:solidFill>
              </a:rPr>
              <a:t>FSM</a:t>
            </a:r>
            <a:r>
              <a:rPr lang="zh-CN" altLang="en-US" sz="1800" b="1" dirty="0">
                <a:solidFill>
                  <a:srgbClr val="000000"/>
                </a:solidFill>
              </a:rPr>
              <a:t>电路</a:t>
            </a:r>
            <a:endParaRPr lang="zh-CN" altLang="en-US" sz="1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内容占位符 2"/>
          <p:cNvSpPr>
            <a:spLocks noGrp="1" noRot="1"/>
          </p:cNvSpPr>
          <p:nvPr>
            <p:ph idx="1"/>
          </p:nvPr>
        </p:nvSpPr>
        <p:spPr>
          <a:xfrm>
            <a:off x="479425" y="1260475"/>
            <a:ext cx="8389938" cy="1517650"/>
          </a:xfrm>
        </p:spPr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Char char="•"/>
            </a:pPr>
            <a:r>
              <a:rPr lang="en-US" altLang="en-US" sz="2200" b="1" dirty="0">
                <a:solidFill>
                  <a:srgbClr val="000000"/>
                </a:solidFill>
              </a:rPr>
              <a:t>设计要求：设计一个时序电路，两个输入</a:t>
            </a:r>
            <a:r>
              <a:rPr lang="en-US" altLang="zh-CN" sz="22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22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en-US" sz="2200" b="1" dirty="0">
                <a:solidFill>
                  <a:srgbClr val="000000"/>
                </a:solidFill>
                <a:sym typeface="+mn-ea"/>
              </a:rPr>
              <a:t>、</a:t>
            </a:r>
            <a:r>
              <a:rPr lang="en-US" altLang="zh-CN" sz="22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22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en-US" altLang="en-US" sz="2200" b="1" dirty="0">
                <a:solidFill>
                  <a:srgbClr val="000000"/>
                </a:solidFill>
                <a:sym typeface="+mn-ea"/>
              </a:rPr>
              <a:t>，</a:t>
            </a:r>
            <a:r>
              <a:rPr lang="en-US" altLang="en-US" sz="2200" b="1" dirty="0">
                <a:solidFill>
                  <a:srgbClr val="000000"/>
                </a:solidFill>
              </a:rPr>
              <a:t>和一个输出</a:t>
            </a:r>
            <a:r>
              <a:rPr lang="en-US" altLang="zh-CN" sz="2200" b="1" i="1" dirty="0">
                <a:solidFill>
                  <a:srgbClr val="000000"/>
                </a:solidFill>
              </a:rPr>
              <a:t>z</a:t>
            </a:r>
            <a:r>
              <a:rPr lang="en-US" altLang="en-US" sz="2200" b="1" dirty="0">
                <a:solidFill>
                  <a:srgbClr val="000000"/>
                </a:solidFill>
              </a:rPr>
              <a:t>，并实现对两个输入序列进行比较：如果在任意</a:t>
            </a:r>
            <a:r>
              <a:rPr lang="en-US" altLang="zh-CN" sz="2200" b="1" dirty="0">
                <a:solidFill>
                  <a:srgbClr val="000000"/>
                </a:solidFill>
              </a:rPr>
              <a:t>4</a:t>
            </a:r>
            <a:r>
              <a:rPr lang="en-US" altLang="en-US" sz="2200" b="1" dirty="0">
                <a:solidFill>
                  <a:srgbClr val="000000"/>
                </a:solidFill>
              </a:rPr>
              <a:t>个连续时钟周期中</a:t>
            </a:r>
            <a:r>
              <a:rPr lang="en-US" altLang="zh-CN" sz="22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22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  <a:sym typeface="+mn-ea"/>
              </a:rPr>
              <a:t>=</a:t>
            </a:r>
            <a:r>
              <a:rPr lang="en-US" altLang="zh-CN" sz="22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22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en-US" altLang="en-US" sz="2200" b="1" dirty="0">
                <a:solidFill>
                  <a:srgbClr val="000000"/>
                </a:solidFill>
              </a:rPr>
              <a:t>，电路产生输出</a:t>
            </a:r>
            <a:r>
              <a:rPr lang="en-US" altLang="zh-CN" sz="2200" b="1" dirty="0">
                <a:solidFill>
                  <a:srgbClr val="000000"/>
                </a:solidFill>
              </a:rPr>
              <a:t>z=1</a:t>
            </a:r>
            <a:r>
              <a:rPr lang="en-US" altLang="en-US" sz="2200" b="1" dirty="0">
                <a:solidFill>
                  <a:srgbClr val="000000"/>
                </a:solidFill>
              </a:rPr>
              <a:t>，否则</a:t>
            </a:r>
            <a:r>
              <a:rPr lang="en-US" altLang="zh-CN" sz="2200" b="1" dirty="0">
                <a:solidFill>
                  <a:srgbClr val="000000"/>
                </a:solidFill>
              </a:rPr>
              <a:t>z=0.</a:t>
            </a:r>
            <a:endParaRPr lang="en-US" altLang="zh-CN" sz="2200" b="1" i="1" dirty="0">
              <a:solidFill>
                <a:srgbClr val="000000"/>
              </a:solidFill>
            </a:endParaRPr>
          </a:p>
        </p:txBody>
      </p:sp>
      <p:sp>
        <p:nvSpPr>
          <p:cNvPr id="193539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70516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6.7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串行数据比较器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3541" name="TextBox 1"/>
          <p:cNvSpPr txBox="1"/>
          <p:nvPr/>
        </p:nvSpPr>
        <p:spPr>
          <a:xfrm>
            <a:off x="752475" y="2778125"/>
            <a:ext cx="8170863" cy="1162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分析：为了比较</a:t>
            </a:r>
            <a:r>
              <a:rPr lang="en-US" altLang="zh-CN" sz="2000" b="1" i="1" dirty="0">
                <a:solidFill>
                  <a:srgbClr val="C00000"/>
                </a:solidFill>
                <a:sym typeface="+mn-ea"/>
              </a:rPr>
              <a:t>w</a:t>
            </a:r>
            <a:r>
              <a:rPr lang="en-US" altLang="zh-CN" sz="2000" b="1" baseline="-25000" dirty="0">
                <a:solidFill>
                  <a:srgbClr val="C00000"/>
                </a:solidFill>
                <a:sym typeface="+mn-ea"/>
              </a:rPr>
              <a:t>1</a:t>
            </a:r>
            <a:r>
              <a:rPr lang="en-US" altLang="en-US" sz="2000" b="1" dirty="0">
                <a:solidFill>
                  <a:srgbClr val="C00000"/>
                </a:solidFill>
                <a:sym typeface="+mn-ea"/>
              </a:rPr>
              <a:t>与</a:t>
            </a:r>
            <a:r>
              <a:rPr lang="en-US" altLang="zh-CN" sz="2000" b="1" i="1" dirty="0">
                <a:solidFill>
                  <a:srgbClr val="C00000"/>
                </a:solidFill>
                <a:sym typeface="+mn-ea"/>
              </a:rPr>
              <a:t>w</a:t>
            </a:r>
            <a:r>
              <a:rPr lang="en-US" altLang="zh-CN" sz="2000" b="1" baseline="-25000" dirty="0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，令</a:t>
            </a:r>
            <a:r>
              <a:rPr lang="en-US" altLang="zh-CN" sz="2000" b="1" i="1" dirty="0">
                <a:solidFill>
                  <a:srgbClr val="C00000"/>
                </a:solidFill>
                <a:sym typeface="+mn-ea"/>
              </a:rPr>
              <a:t>k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en-US" altLang="zh-CN" sz="2000" b="1" i="1" dirty="0">
                <a:solidFill>
                  <a:srgbClr val="C00000"/>
                </a:solidFill>
                <a:sym typeface="+mn-ea"/>
              </a:rPr>
              <a:t>w</a:t>
            </a:r>
            <a:r>
              <a:rPr lang="en-US" altLang="zh-CN" sz="2000" b="1" baseline="-25000" dirty="0">
                <a:solidFill>
                  <a:srgbClr val="C00000"/>
                </a:solidFill>
                <a:sym typeface="+mn-ea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⊕</a:t>
            </a:r>
            <a:r>
              <a:rPr lang="en-US" altLang="zh-CN" sz="2000" b="1" i="1" dirty="0">
                <a:solidFill>
                  <a:srgbClr val="C00000"/>
                </a:solidFill>
                <a:sym typeface="+mn-ea"/>
              </a:rPr>
              <a:t>w</a:t>
            </a:r>
            <a:r>
              <a:rPr lang="en-US" altLang="zh-CN" sz="2000" b="1" baseline="-25000" dirty="0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，若</a:t>
            </a:r>
            <a:r>
              <a:rPr lang="en-US" altLang="zh-CN" sz="2000" b="1" i="1" dirty="0">
                <a:solidFill>
                  <a:srgbClr val="C00000"/>
                </a:solidFill>
                <a:sym typeface="+mn-ea"/>
              </a:rPr>
              <a:t>k = </a:t>
            </a:r>
            <a:r>
              <a:rPr lang="en-US" altLang="zh-CN" sz="2000" b="1" dirty="0">
                <a:solidFill>
                  <a:srgbClr val="C00000"/>
                </a:solidFill>
                <a:sym typeface="+mn-ea"/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，则二者相等。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000000"/>
                </a:solidFill>
              </a:rPr>
              <a:t>A</a:t>
            </a:r>
            <a:r>
              <a:rPr lang="zh-CN" altLang="en-US" sz="1800" b="1" dirty="0">
                <a:solidFill>
                  <a:srgbClr val="000000"/>
                </a:solidFill>
              </a:rPr>
              <a:t>：之前序列从未出现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=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</a:rPr>
              <a:t>；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B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：连续输入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1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次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=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；</a:t>
            </a:r>
            <a:endParaRPr lang="zh-CN" altLang="en-US" sz="18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C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：连续出现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次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=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；          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D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：连续出现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3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次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=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；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E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：连续出现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次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sym typeface="+mn-ea"/>
              </a:rPr>
              <a:t>=</a:t>
            </a:r>
            <a:r>
              <a:rPr lang="en-US" altLang="zh-CN" sz="1800" b="1" i="1" dirty="0">
                <a:solidFill>
                  <a:srgbClr val="000000"/>
                </a:solidFill>
                <a:sym typeface="+mn-ea"/>
              </a:rPr>
              <a:t>w</a:t>
            </a:r>
            <a:r>
              <a:rPr lang="en-US" altLang="zh-CN" sz="1800" b="1" baseline="-25000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sym typeface="+mn-ea"/>
              </a:rPr>
              <a:t>；</a:t>
            </a:r>
            <a:endParaRPr lang="en-US" altLang="zh-CN" sz="18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箭头: 虚尾 14"/>
          <p:cNvSpPr/>
          <p:nvPr/>
        </p:nvSpPr>
        <p:spPr bwMode="auto">
          <a:xfrm>
            <a:off x="4178300" y="5046663"/>
            <a:ext cx="992188" cy="3841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3543" name="TextBox 1"/>
          <p:cNvSpPr txBox="1"/>
          <p:nvPr/>
        </p:nvSpPr>
        <p:spPr>
          <a:xfrm>
            <a:off x="4029075" y="4456113"/>
            <a:ext cx="1150938" cy="660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sz="1600" b="1" dirty="0">
                <a:solidFill>
                  <a:srgbClr val="C00000"/>
                </a:solidFill>
              </a:rPr>
              <a:t>状态约简</a:t>
            </a:r>
            <a:endParaRPr lang="zh-CN" altLang="en-US" sz="1600" b="1" dirty="0">
              <a:solidFill>
                <a:srgbClr val="C00000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en-US" altLang="zh-CN" sz="1600" b="1" dirty="0">
                <a:solidFill>
                  <a:srgbClr val="C00000"/>
                </a:solidFill>
              </a:rPr>
              <a:t>D = E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pic>
        <p:nvPicPr>
          <p:cNvPr id="19354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13" y="4243388"/>
            <a:ext cx="3363912" cy="18002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7" name="表格 54"/>
          <p:cNvGraphicFramePr>
            <a:graphicFrameLocks noGrp="1"/>
          </p:cNvGraphicFramePr>
          <p:nvPr/>
        </p:nvGraphicFramePr>
        <p:xfrm>
          <a:off x="836613" y="4119563"/>
          <a:ext cx="3151188" cy="2024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421"/>
                <a:gridCol w="1071988"/>
                <a:gridCol w="1129779"/>
              </a:tblGrid>
              <a:tr h="36582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state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 z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0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   k=1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k=0   k=1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    A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     A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     A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     A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    A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0       0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0       0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0       0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1       0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1       0</a:t>
                      </a:r>
                      <a:endParaRPr lang="en-US" altLang="zh-CN" sz="16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356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6.7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：串行数据比较器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5" name="箭头: 虚尾 14"/>
          <p:cNvSpPr/>
          <p:nvPr/>
        </p:nvSpPr>
        <p:spPr bwMode="auto">
          <a:xfrm>
            <a:off x="3897313" y="2076450"/>
            <a:ext cx="990600" cy="384175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65" name="TextBox 1"/>
          <p:cNvSpPr txBox="1"/>
          <p:nvPr/>
        </p:nvSpPr>
        <p:spPr>
          <a:xfrm>
            <a:off x="3821113" y="1673225"/>
            <a:ext cx="1150937" cy="409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状态分配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pic>
        <p:nvPicPr>
          <p:cNvPr id="19456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" y="1228725"/>
            <a:ext cx="3363913" cy="1800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67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4930775" y="1177925"/>
            <a:ext cx="3348038" cy="180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" name="箭头: 虚尾 57"/>
          <p:cNvSpPr/>
          <p:nvPr/>
        </p:nvSpPr>
        <p:spPr bwMode="auto">
          <a:xfrm>
            <a:off x="2246313" y="5219700"/>
            <a:ext cx="906463" cy="604838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4569" name="组合 33"/>
          <p:cNvGrpSpPr/>
          <p:nvPr/>
        </p:nvGrpSpPr>
        <p:grpSpPr>
          <a:xfrm>
            <a:off x="596900" y="2936875"/>
            <a:ext cx="2432050" cy="1620838"/>
            <a:chOff x="1205" y="7142"/>
            <a:chExt cx="3830" cy="2614"/>
          </a:xfrm>
        </p:grpSpPr>
        <p:grpSp>
          <p:nvGrpSpPr>
            <p:cNvPr id="194605" name="Group 1098"/>
            <p:cNvGrpSpPr/>
            <p:nvPr/>
          </p:nvGrpSpPr>
          <p:grpSpPr>
            <a:xfrm>
              <a:off x="1205" y="7142"/>
              <a:ext cx="3830" cy="2613"/>
              <a:chOff x="1083" y="793"/>
              <a:chExt cx="1532" cy="1015"/>
            </a:xfrm>
          </p:grpSpPr>
          <p:sp>
            <p:nvSpPr>
              <p:cNvPr id="194608" name="Rectangle 1029"/>
              <p:cNvSpPr/>
              <p:nvPr/>
            </p:nvSpPr>
            <p:spPr>
              <a:xfrm>
                <a:off x="1327" y="1173"/>
                <a:ext cx="1281" cy="635"/>
              </a:xfrm>
              <a:prstGeom prst="rect">
                <a:avLst/>
              </a:prstGeom>
              <a:noFill/>
              <a:ln w="28575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endParaRPr lang="zh-CN" altLang="en-US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09" name="Line 1030"/>
              <p:cNvSpPr/>
              <p:nvPr/>
            </p:nvSpPr>
            <p:spPr>
              <a:xfrm flipH="1" flipV="1">
                <a:off x="1150" y="972"/>
                <a:ext cx="192" cy="20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610" name="Line 1031"/>
              <p:cNvSpPr/>
              <p:nvPr/>
            </p:nvSpPr>
            <p:spPr>
              <a:xfrm>
                <a:off x="1337" y="1481"/>
                <a:ext cx="1277" cy="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611" name="Line 1032"/>
              <p:cNvSpPr/>
              <p:nvPr/>
            </p:nvSpPr>
            <p:spPr>
              <a:xfrm>
                <a:off x="1665" y="1164"/>
                <a:ext cx="0" cy="63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612" name="Text Box 1033"/>
              <p:cNvSpPr txBox="1"/>
              <p:nvPr/>
            </p:nvSpPr>
            <p:spPr>
              <a:xfrm>
                <a:off x="1377" y="950"/>
                <a:ext cx="12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0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00    01    11    10</a:t>
                </a:r>
                <a:endParaRPr lang="en-US" altLang="zh-CN" sz="2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13" name="Text Box 1034"/>
              <p:cNvSpPr txBox="1"/>
              <p:nvPr/>
            </p:nvSpPr>
            <p:spPr>
              <a:xfrm>
                <a:off x="1151" y="1140"/>
                <a:ext cx="184" cy="6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01</a:t>
                </a:r>
                <a:endParaRPr lang="en-US" altLang="zh-CN" sz="2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14" name="Text Box 1035"/>
              <p:cNvSpPr txBox="1"/>
              <p:nvPr/>
            </p:nvSpPr>
            <p:spPr>
              <a:xfrm>
                <a:off x="1151" y="793"/>
                <a:ext cx="1104" cy="3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2000" b="1" i="1" dirty="0">
                    <a:solidFill>
                      <a:srgbClr val="0033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1                 </a:t>
                </a:r>
                <a:r>
                  <a:rPr lang="en-US" altLang="zh-CN" sz="2000" b="1" i="1" dirty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C00000"/>
                    </a:solidFill>
                  </a:rPr>
                  <a:t>2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15" name="Text Box 1036"/>
              <p:cNvSpPr txBox="1"/>
              <p:nvPr/>
            </p:nvSpPr>
            <p:spPr>
              <a:xfrm>
                <a:off x="1083" y="995"/>
                <a:ext cx="22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k</a:t>
                </a:r>
                <a:endParaRPr lang="en-US" altLang="zh-CN" sz="2000" b="1" i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16" name="Text Box 1037"/>
              <p:cNvSpPr txBox="1"/>
              <p:nvPr/>
            </p:nvSpPr>
            <p:spPr>
              <a:xfrm>
                <a:off x="1370" y="1184"/>
                <a:ext cx="1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003300"/>
                    </a:solidFill>
                  </a:rPr>
                  <a:t>0      1      </a:t>
                </a:r>
                <a:r>
                  <a:rPr lang="en-US" altLang="zh-CN" sz="2000" b="1" dirty="0">
                    <a:solidFill>
                      <a:srgbClr val="000000"/>
                    </a:solidFill>
                  </a:rPr>
                  <a:t>1     1</a:t>
                </a:r>
                <a:endParaRPr lang="en-US" altLang="zh-CN" sz="2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617" name="Line 1038"/>
              <p:cNvSpPr/>
              <p:nvPr/>
            </p:nvSpPr>
            <p:spPr>
              <a:xfrm>
                <a:off x="1977" y="1174"/>
                <a:ext cx="0" cy="63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618" name="Line 1039"/>
              <p:cNvSpPr/>
              <p:nvPr/>
            </p:nvSpPr>
            <p:spPr>
              <a:xfrm>
                <a:off x="2310" y="1165"/>
                <a:ext cx="0" cy="63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4606" name="矩形: 圆角 1"/>
            <p:cNvSpPr/>
            <p:nvPr/>
          </p:nvSpPr>
          <p:spPr>
            <a:xfrm>
              <a:off x="2773" y="8186"/>
              <a:ext cx="1361" cy="658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607" name="Text Box 1037"/>
            <p:cNvSpPr txBox="1"/>
            <p:nvPr/>
          </p:nvSpPr>
          <p:spPr>
            <a:xfrm>
              <a:off x="1927" y="8951"/>
              <a:ext cx="2978" cy="7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rgbClr val="0033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0      0      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0     0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4570" name="组合 34"/>
          <p:cNvGrpSpPr/>
          <p:nvPr/>
        </p:nvGrpSpPr>
        <p:grpSpPr>
          <a:xfrm>
            <a:off x="3321050" y="2973388"/>
            <a:ext cx="2522538" cy="1585912"/>
            <a:chOff x="5623" y="7202"/>
            <a:chExt cx="3973" cy="2496"/>
          </a:xfrm>
        </p:grpSpPr>
        <p:grpSp>
          <p:nvGrpSpPr>
            <p:cNvPr id="194591" name="Group 1098"/>
            <p:cNvGrpSpPr/>
            <p:nvPr/>
          </p:nvGrpSpPr>
          <p:grpSpPr>
            <a:xfrm>
              <a:off x="5623" y="7202"/>
              <a:ext cx="3864" cy="2496"/>
              <a:chOff x="1069" y="793"/>
              <a:chExt cx="1545" cy="999"/>
            </a:xfrm>
          </p:grpSpPr>
          <p:sp>
            <p:nvSpPr>
              <p:cNvPr id="194595" name="Rectangle 1029"/>
              <p:cNvSpPr/>
              <p:nvPr/>
            </p:nvSpPr>
            <p:spPr>
              <a:xfrm>
                <a:off x="1328" y="1164"/>
                <a:ext cx="1281" cy="628"/>
              </a:xfrm>
              <a:prstGeom prst="rect">
                <a:avLst/>
              </a:prstGeom>
              <a:noFill/>
              <a:ln w="28575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endParaRPr lang="zh-CN" altLang="en-US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596" name="Line 1030"/>
              <p:cNvSpPr/>
              <p:nvPr/>
            </p:nvSpPr>
            <p:spPr>
              <a:xfrm flipH="1" flipV="1">
                <a:off x="1150" y="972"/>
                <a:ext cx="192" cy="20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97" name="Line 1031"/>
              <p:cNvSpPr/>
              <p:nvPr/>
            </p:nvSpPr>
            <p:spPr>
              <a:xfrm>
                <a:off x="1337" y="1469"/>
                <a:ext cx="1277" cy="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98" name="Line 1032"/>
              <p:cNvSpPr/>
              <p:nvPr/>
            </p:nvSpPr>
            <p:spPr>
              <a:xfrm>
                <a:off x="1665" y="1170"/>
                <a:ext cx="0" cy="612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99" name="Text Box 1033"/>
              <p:cNvSpPr txBox="1"/>
              <p:nvPr/>
            </p:nvSpPr>
            <p:spPr>
              <a:xfrm>
                <a:off x="1371" y="950"/>
                <a:ext cx="122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0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00    01    11    10</a:t>
                </a:r>
                <a:endParaRPr lang="en-US" altLang="zh-CN" sz="2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00" name="Text Box 1034"/>
              <p:cNvSpPr txBox="1"/>
              <p:nvPr/>
            </p:nvSpPr>
            <p:spPr>
              <a:xfrm>
                <a:off x="1168" y="1139"/>
                <a:ext cx="184" cy="6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01</a:t>
                </a:r>
                <a:endParaRPr lang="en-US" altLang="zh-CN" sz="2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01" name="Text Box 1035"/>
              <p:cNvSpPr txBox="1"/>
              <p:nvPr/>
            </p:nvSpPr>
            <p:spPr>
              <a:xfrm>
                <a:off x="1162" y="793"/>
                <a:ext cx="1186" cy="3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2000" b="1" i="1" dirty="0">
                    <a:solidFill>
                      <a:srgbClr val="0033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1                 </a:t>
                </a:r>
                <a:r>
                  <a:rPr lang="en-US" altLang="zh-CN" sz="2000" b="1" i="1" dirty="0">
                    <a:solidFill>
                      <a:srgbClr val="C00000"/>
                    </a:solidFill>
                    <a:sym typeface="宋体" panose="02010600030101010101" pitchFamily="2" charset="-122"/>
                  </a:rPr>
                  <a:t>Y</a:t>
                </a:r>
                <a:r>
                  <a:rPr lang="en-US" altLang="zh-CN" sz="2000" b="1" baseline="-25000" dirty="0">
                    <a:solidFill>
                      <a:srgbClr val="C00000"/>
                    </a:solidFill>
                    <a:sym typeface="宋体" panose="02010600030101010101" pitchFamily="2" charset="-122"/>
                  </a:rPr>
                  <a:t>1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02" name="Text Box 1036"/>
              <p:cNvSpPr txBox="1"/>
              <p:nvPr/>
            </p:nvSpPr>
            <p:spPr>
              <a:xfrm>
                <a:off x="1069" y="979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k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603" name="Line 1038"/>
              <p:cNvSpPr/>
              <p:nvPr/>
            </p:nvSpPr>
            <p:spPr>
              <a:xfrm>
                <a:off x="1975" y="1173"/>
                <a:ext cx="0" cy="612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604" name="Line 1039"/>
              <p:cNvSpPr/>
              <p:nvPr/>
            </p:nvSpPr>
            <p:spPr>
              <a:xfrm>
                <a:off x="2310" y="1167"/>
                <a:ext cx="0" cy="612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4592" name="矩形 47"/>
            <p:cNvSpPr/>
            <p:nvPr/>
          </p:nvSpPr>
          <p:spPr>
            <a:xfrm>
              <a:off x="6448" y="8939"/>
              <a:ext cx="314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</a:rPr>
                <a:t>0      0      0      0</a:t>
              </a:r>
              <a:r>
                <a:rPr lang="en-US" altLang="zh-CN" b="1" dirty="0">
                  <a:solidFill>
                    <a:srgbClr val="003300"/>
                  </a:solidFill>
                </a:rPr>
                <a:t>  </a:t>
              </a:r>
              <a:endParaRPr lang="zh-CN" altLang="en-US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593" name="矩形: 圆角 1"/>
            <p:cNvSpPr/>
            <p:nvPr/>
          </p:nvSpPr>
          <p:spPr>
            <a:xfrm>
              <a:off x="8092" y="8187"/>
              <a:ext cx="1207" cy="643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alpha val="39999"/>
              </a:schemeClr>
            </a:solidFill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594" name="矩形 47"/>
            <p:cNvSpPr/>
            <p:nvPr/>
          </p:nvSpPr>
          <p:spPr>
            <a:xfrm>
              <a:off x="6459" y="8222"/>
              <a:ext cx="3088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3300"/>
                  </a:solidFill>
                </a:rPr>
                <a:t>1      0      1      1  </a:t>
              </a:r>
              <a:endParaRPr lang="zh-CN" altLang="en-US" sz="20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4571" name="组合 32"/>
          <p:cNvGrpSpPr/>
          <p:nvPr/>
        </p:nvGrpSpPr>
        <p:grpSpPr>
          <a:xfrm>
            <a:off x="6105525" y="2844800"/>
            <a:ext cx="2419350" cy="1708150"/>
            <a:chOff x="9144" y="1734"/>
            <a:chExt cx="3810" cy="2691"/>
          </a:xfrm>
        </p:grpSpPr>
        <p:grpSp>
          <p:nvGrpSpPr>
            <p:cNvPr id="194577" name="Group 1098"/>
            <p:cNvGrpSpPr/>
            <p:nvPr/>
          </p:nvGrpSpPr>
          <p:grpSpPr>
            <a:xfrm>
              <a:off x="9144" y="1734"/>
              <a:ext cx="3810" cy="2691"/>
              <a:chOff x="1084" y="768"/>
              <a:chExt cx="1524" cy="1045"/>
            </a:xfrm>
          </p:grpSpPr>
          <p:sp>
            <p:nvSpPr>
              <p:cNvPr id="194580" name="Rectangle 1029"/>
              <p:cNvSpPr/>
              <p:nvPr/>
            </p:nvSpPr>
            <p:spPr>
              <a:xfrm>
                <a:off x="1327" y="1173"/>
                <a:ext cx="1281" cy="635"/>
              </a:xfrm>
              <a:prstGeom prst="rect">
                <a:avLst/>
              </a:prstGeom>
              <a:noFill/>
              <a:ln w="28575" cap="flat" cmpd="sng">
                <a:solidFill>
                  <a:srgbClr val="00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endParaRPr lang="zh-CN" altLang="en-US" sz="2000" b="1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581" name="Line 1030"/>
              <p:cNvSpPr/>
              <p:nvPr/>
            </p:nvSpPr>
            <p:spPr>
              <a:xfrm flipH="1" flipV="1">
                <a:off x="1150" y="972"/>
                <a:ext cx="192" cy="201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82" name="Line 1031"/>
              <p:cNvSpPr/>
              <p:nvPr/>
            </p:nvSpPr>
            <p:spPr>
              <a:xfrm>
                <a:off x="1331" y="1501"/>
                <a:ext cx="1277" cy="0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83" name="Line 1032"/>
              <p:cNvSpPr/>
              <p:nvPr/>
            </p:nvSpPr>
            <p:spPr>
              <a:xfrm>
                <a:off x="1665" y="1164"/>
                <a:ext cx="0" cy="639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84" name="Text Box 1033"/>
              <p:cNvSpPr txBox="1"/>
              <p:nvPr/>
            </p:nvSpPr>
            <p:spPr>
              <a:xfrm>
                <a:off x="1377" y="950"/>
                <a:ext cx="1229" cy="2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lnSpc>
                    <a:spcPct val="100000"/>
                  </a:lnSpc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00    01    11    10</a:t>
                </a:r>
                <a:endParaRPr lang="en-US" altLang="zh-CN" sz="2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585" name="Text Box 1034"/>
              <p:cNvSpPr txBox="1"/>
              <p:nvPr/>
            </p:nvSpPr>
            <p:spPr>
              <a:xfrm>
                <a:off x="1116" y="1205"/>
                <a:ext cx="184" cy="5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defTabSz="914400" eaLnBrk="1" hangingPunct="1">
                  <a:spcBef>
                    <a:spcPct val="0"/>
                  </a:spcBef>
                  <a:tabLst>
                    <a:tab pos="758825" algn="l"/>
                  </a:tabLst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01</a:t>
                </a:r>
                <a:endParaRPr lang="en-US" altLang="zh-CN" sz="2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586" name="Text Box 1035"/>
              <p:cNvSpPr txBox="1"/>
              <p:nvPr/>
            </p:nvSpPr>
            <p:spPr>
              <a:xfrm>
                <a:off x="1188" y="768"/>
                <a:ext cx="1164" cy="4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2</a:t>
                </a:r>
                <a:r>
                  <a:rPr lang="en-US" altLang="zh-CN" sz="2000" b="1" i="1" dirty="0">
                    <a:solidFill>
                      <a:srgbClr val="003300"/>
                    </a:solidFill>
                  </a:rPr>
                  <a:t>y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</a:rPr>
                  <a:t>1                   </a:t>
                </a:r>
                <a:r>
                  <a:rPr lang="en-US" altLang="zh-CN" b="1" i="1" dirty="0">
                    <a:solidFill>
                      <a:srgbClr val="C00000"/>
                    </a:solidFill>
                    <a:sym typeface="宋体" panose="02010600030101010101" pitchFamily="2" charset="-122"/>
                  </a:rPr>
                  <a:t>z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587" name="Text Box 1036"/>
              <p:cNvSpPr txBox="1"/>
              <p:nvPr/>
            </p:nvSpPr>
            <p:spPr>
              <a:xfrm>
                <a:off x="1084" y="995"/>
                <a:ext cx="195" cy="2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003300"/>
                    </a:solidFill>
                  </a:rPr>
                  <a:t>k</a:t>
                </a:r>
                <a:endParaRPr lang="en-US" altLang="zh-CN" sz="2000" b="1" baseline="-25000" dirty="0">
                  <a:solidFill>
                    <a:srgbClr val="003300"/>
                  </a:solidFill>
                </a:endParaRPr>
              </a:p>
            </p:txBody>
          </p:sp>
          <p:sp>
            <p:nvSpPr>
              <p:cNvPr id="194588" name="Text Box 1037"/>
              <p:cNvSpPr txBox="1"/>
              <p:nvPr/>
            </p:nvSpPr>
            <p:spPr>
              <a:xfrm>
                <a:off x="1366" y="1207"/>
                <a:ext cx="1242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003300"/>
                    </a:solidFill>
                  </a:rPr>
                  <a:t>0      0      </a:t>
                </a:r>
                <a:r>
                  <a:rPr lang="en-US" altLang="zh-CN" sz="2000" b="1" dirty="0">
                    <a:solidFill>
                      <a:srgbClr val="000000"/>
                    </a:solidFill>
                  </a:rPr>
                  <a:t>1      0</a:t>
                </a:r>
                <a:endParaRPr lang="en-US" altLang="zh-CN" sz="2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589" name="Line 1038"/>
              <p:cNvSpPr/>
              <p:nvPr/>
            </p:nvSpPr>
            <p:spPr>
              <a:xfrm>
                <a:off x="1977" y="1174"/>
                <a:ext cx="0" cy="639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590" name="Line 1039"/>
              <p:cNvSpPr/>
              <p:nvPr/>
            </p:nvSpPr>
            <p:spPr>
              <a:xfrm>
                <a:off x="2310" y="1165"/>
                <a:ext cx="0" cy="639"/>
              </a:xfrm>
              <a:prstGeom prst="line">
                <a:avLst/>
              </a:prstGeom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4578" name="Text Box 1037"/>
            <p:cNvSpPr txBox="1"/>
            <p:nvPr/>
          </p:nvSpPr>
          <p:spPr>
            <a:xfrm>
              <a:off x="9865" y="3601"/>
              <a:ext cx="3034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rgbClr val="0033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0      0      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0      0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sp>
          <p:nvSpPr>
            <p:cNvPr id="194579" name="矩形: 圆角 1"/>
            <p:cNvSpPr/>
            <p:nvPr/>
          </p:nvSpPr>
          <p:spPr>
            <a:xfrm>
              <a:off x="11463" y="2915"/>
              <a:ext cx="671" cy="642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4572" name="矩形: 圆角 1"/>
          <p:cNvSpPr/>
          <p:nvPr/>
        </p:nvSpPr>
        <p:spPr>
          <a:xfrm>
            <a:off x="2082800" y="3584575"/>
            <a:ext cx="863600" cy="407988"/>
          </a:xfrm>
          <a:prstGeom prst="roundRect">
            <a:avLst>
              <a:gd name="adj" fmla="val 16667"/>
            </a:avLst>
          </a:prstGeom>
          <a:solidFill>
            <a:schemeClr val="accent2">
              <a:alpha val="39999"/>
            </a:schemeClr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b="1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94573" name="右中括号 48"/>
          <p:cNvSpPr/>
          <p:nvPr/>
        </p:nvSpPr>
        <p:spPr>
          <a:xfrm>
            <a:off x="3678238" y="3611563"/>
            <a:ext cx="506412" cy="387350"/>
          </a:xfrm>
          <a:prstGeom prst="rightBracket">
            <a:avLst>
              <a:gd name="adj" fmla="val 8328"/>
            </a:avLst>
          </a:prstGeom>
          <a:solidFill>
            <a:srgbClr val="F20EDC">
              <a:alpha val="23137"/>
            </a:srgbClr>
          </a:solidFill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94574" name="右中括号 49"/>
          <p:cNvSpPr/>
          <p:nvPr/>
        </p:nvSpPr>
        <p:spPr>
          <a:xfrm flipH="1">
            <a:off x="5354638" y="3608388"/>
            <a:ext cx="458787" cy="387350"/>
          </a:xfrm>
          <a:prstGeom prst="rightBracket">
            <a:avLst>
              <a:gd name="adj" fmla="val 8328"/>
            </a:avLst>
          </a:prstGeom>
          <a:solidFill>
            <a:srgbClr val="F20EDC">
              <a:alpha val="43921"/>
            </a:srgbClr>
          </a:solidFill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endParaRPr lang="zh-CN" altLang="en-US" sz="1800" dirty="0">
              <a:solidFill>
                <a:srgbClr val="007A77"/>
              </a:solidFill>
              <a:latin typeface="Arial" panose="020B0604020202020204" pitchFamily="34" charset="0"/>
            </a:endParaRPr>
          </a:p>
        </p:txBody>
      </p:sp>
      <p:sp>
        <p:nvSpPr>
          <p:cNvPr id="1945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194576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75" y="4787900"/>
            <a:ext cx="2152650" cy="1385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6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647700" y="1795463"/>
            <a:ext cx="5772150" cy="4452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lnSpc>
                <a:spcPct val="130000"/>
              </a:lnSpc>
              <a:spcBef>
                <a:spcPct val="200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module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simple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,w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w2,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w1,w2;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output reg</a:t>
            </a:r>
            <a:r>
              <a:rPr kumimoji="1" lang="en-US" alt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reg</a:t>
            </a: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[2:1]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;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wire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k;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parameter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[2:1] A=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0,B=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1;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1" lang="en-US" alt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k=w1^w2;</a:t>
            </a:r>
            <a:endParaRPr kumimoji="1" lang="en-CA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always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@ (</a:t>
            </a:r>
            <a:r>
              <a:rPr kumimoji="1" lang="en-US" altLang="en-C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k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</a:t>
            </a: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case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(q)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A: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k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z,Y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Y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={0,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B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B: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k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 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 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}; 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 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(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k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)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z,Y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A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else</a:t>
            </a:r>
            <a:r>
              <a:rPr kumimoji="1" lang="en-CA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z,Y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   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(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k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) 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A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else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Y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 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}; 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</a:t>
            </a: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endcase</a:t>
            </a:r>
            <a:endParaRPr kumimoji="1" lang="en-CA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195588" name="Rectangle 8"/>
          <p:cNvSpPr/>
          <p:nvPr/>
        </p:nvSpPr>
        <p:spPr>
          <a:xfrm>
            <a:off x="5056188" y="4333875"/>
            <a:ext cx="3781425" cy="19145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en-CA" sz="1800" b="1" dirty="0">
                <a:solidFill>
                  <a:srgbClr val="000000"/>
                </a:solidFill>
                <a:ea typeface="MS Mincho" panose="02020609040205080304" pitchFamily="49" charset="-128"/>
              </a:rPr>
              <a:t>//define the sequential block</a:t>
            </a:r>
            <a:endParaRPr lang="en-CA" altLang="zh-CN" sz="1800" b="1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2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1800" b="1" dirty="0">
                <a:ea typeface="MS Mincho" panose="02020609040205080304" pitchFamily="49" charset="-128"/>
              </a:rPr>
              <a:t>always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@ (posedge clk, negedge rst_n)</a:t>
            </a:r>
            <a:endParaRPr lang="en-CA" altLang="zh-CN" sz="18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2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CA" altLang="zh-CN" sz="1800" dirty="0">
                <a:ea typeface="MS Mincho" panose="02020609040205080304" pitchFamily="49" charset="-128"/>
              </a:rPr>
              <a:t>if</a:t>
            </a:r>
            <a:r>
              <a:rPr lang="en-US" altLang="en-CA" sz="1800" dirty="0">
                <a:ea typeface="MS Mincho" panose="02020609040205080304" pitchFamily="49" charset="-128"/>
              </a:rPr>
              <a:t> 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</a:rPr>
              <a:t>!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rst_n)   </a:t>
            </a: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y &lt;= A;</a:t>
            </a:r>
            <a:endParaRPr lang="en-US" altLang="zh-CN" sz="18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2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US" altLang="zh-CN" sz="1800" dirty="0">
                <a:ea typeface="MS Mincho" panose="02020609040205080304" pitchFamily="49" charset="-128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 y &lt;= Y;</a:t>
            </a:r>
            <a:endParaRPr lang="en-US" altLang="zh-CN" sz="18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2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1800" b="1" dirty="0">
                <a:solidFill>
                  <a:srgbClr val="C00000"/>
                </a:solidFill>
                <a:ea typeface="MS Mincho" panose="02020609040205080304" pitchFamily="49" charset="-128"/>
              </a:rPr>
              <a:t>endmodule</a:t>
            </a:r>
            <a:endParaRPr lang="en-CA" altLang="zh-CN" sz="1800" dirty="0">
              <a:solidFill>
                <a:srgbClr val="C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		</a:t>
            </a:r>
            <a:endParaRPr lang="en-CA" altLang="zh-CN" sz="1800" b="1" dirty="0">
              <a:solidFill>
                <a:srgbClr val="000000"/>
              </a:solidFill>
              <a:ea typeface="MS Mincho" panose="02020609040205080304" pitchFamily="49" charset="-128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6.7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：串行数据比较器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5590" name="Rectangle 2"/>
          <p:cNvSpPr/>
          <p:nvPr/>
        </p:nvSpPr>
        <p:spPr>
          <a:xfrm>
            <a:off x="508000" y="1265238"/>
            <a:ext cx="4267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</a:rPr>
              <a:t>Mealy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的</a:t>
            </a:r>
            <a:r>
              <a:rPr lang="en-US" altLang="zh-CN" b="1" dirty="0">
                <a:solidFill>
                  <a:srgbClr val="000000"/>
                </a:solidFill>
              </a:rPr>
              <a:t>Verilog</a:t>
            </a:r>
            <a:r>
              <a:rPr lang="zh-CN" altLang="en-US" b="1" dirty="0">
                <a:solidFill>
                  <a:srgbClr val="000000"/>
                </a:solidFill>
              </a:rPr>
              <a:t>代码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pic>
        <p:nvPicPr>
          <p:cNvPr id="195591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838" y="1201738"/>
            <a:ext cx="4095750" cy="13589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95592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5984875" y="2581275"/>
            <a:ext cx="2882900" cy="1728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559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内容占位符 2"/>
          <p:cNvSpPr>
            <a:spLocks noGrp="1" noRot="1"/>
          </p:cNvSpPr>
          <p:nvPr>
            <p:ph idx="1"/>
          </p:nvPr>
        </p:nvSpPr>
        <p:spPr>
          <a:xfrm>
            <a:off x="479425" y="1260475"/>
            <a:ext cx="8389938" cy="1603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设计要求：设计一个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位奇校验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Mealy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电路，对输入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w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在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个连续的时钟周期内的每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位数据进行奇校验，即：当且仅当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位长度序列中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的个数位奇数时，输出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z=1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kumimoji="0" lang="en-US" altLang="zh-CN" sz="2400" b="1" i="1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6611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6.8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</a:rPr>
              <a:t>奇偶校验电路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graphicFrame>
        <p:nvGraphicFramePr>
          <p:cNvPr id="17" name="表格 54"/>
          <p:cNvGraphicFramePr>
            <a:graphicFrameLocks noGrp="1"/>
          </p:cNvGraphicFramePr>
          <p:nvPr/>
        </p:nvGraphicFramePr>
        <p:xfrm>
          <a:off x="3397250" y="3575050"/>
          <a:ext cx="2206625" cy="207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278"/>
                <a:gridCol w="1615347"/>
              </a:tblGrid>
              <a:tr h="36587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26" marR="91426" marT="45726" marB="4572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</a:rPr>
                        <a:t>z</a:t>
                      </a:r>
                      <a:endParaRPr lang="en-US" altLang="zh-CN" sz="18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6" marB="4572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35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6" marB="4572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6" marB="4572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2000" b="1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/1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/0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/0     </a:t>
                      </a:r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/1</a:t>
                      </a:r>
                      <a:endParaRPr lang="en-US" altLang="zh-CN" sz="2000" b="1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6" marB="4572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6626" name="TextBox 1"/>
          <p:cNvSpPr txBox="1"/>
          <p:nvPr/>
        </p:nvSpPr>
        <p:spPr>
          <a:xfrm>
            <a:off x="808038" y="3586163"/>
            <a:ext cx="3600450" cy="2060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状态分析：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00"/>
                </a:solidFill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</a:rPr>
              <a:t>：连续输入</a:t>
            </a:r>
            <a:r>
              <a:rPr lang="en-US" altLang="zh-CN" sz="2000" b="1" dirty="0">
                <a:solidFill>
                  <a:srgbClr val="000000"/>
                </a:solidFill>
              </a:rPr>
              <a:t>“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×</a:t>
            </a:r>
            <a:r>
              <a:rPr lang="en-US" altLang="zh-CN" sz="2000" b="1" dirty="0">
                <a:solidFill>
                  <a:srgbClr val="000000"/>
                </a:solidFill>
              </a:rPr>
              <a:t>00”</a:t>
            </a:r>
            <a:r>
              <a:rPr lang="zh-CN" altLang="en-US" sz="2000" b="1" dirty="0">
                <a:solidFill>
                  <a:srgbClr val="000000"/>
                </a:solidFill>
              </a:rPr>
              <a:t>；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B</a:t>
            </a:r>
            <a:r>
              <a:rPr lang="zh-CN" altLang="en-US" sz="2000" b="1" dirty="0">
                <a:solidFill>
                  <a:srgbClr val="000000"/>
                </a:solidFill>
                <a:sym typeface="+mn-ea"/>
              </a:rPr>
              <a:t>：连续输入</a:t>
            </a: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“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01”</a:t>
            </a:r>
            <a:r>
              <a:rPr lang="zh-CN" altLang="en-US" sz="2000" b="1" dirty="0">
                <a:solidFill>
                  <a:srgbClr val="000000"/>
                </a:solidFill>
                <a:sym typeface="+mn-ea"/>
              </a:rPr>
              <a:t>；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C</a:t>
            </a:r>
            <a:r>
              <a:rPr lang="zh-CN" altLang="en-US" sz="2000" b="1" dirty="0">
                <a:solidFill>
                  <a:srgbClr val="000000"/>
                </a:solidFill>
                <a:sym typeface="+mn-ea"/>
              </a:rPr>
              <a:t>：连续输入</a:t>
            </a: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“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10”</a:t>
            </a:r>
            <a:r>
              <a:rPr lang="zh-CN" altLang="en-US" sz="2000" b="1" dirty="0">
                <a:solidFill>
                  <a:srgbClr val="000000"/>
                </a:solidFill>
                <a:sym typeface="+mn-ea"/>
              </a:rPr>
              <a:t>；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  <a:sym typeface="+mn-ea"/>
              </a:rPr>
              <a:t>：连续输入</a:t>
            </a: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“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000" b="1" dirty="0">
                <a:solidFill>
                  <a:srgbClr val="000000"/>
                </a:solidFill>
                <a:sym typeface="+mn-ea"/>
              </a:rPr>
              <a:t>11”</a:t>
            </a:r>
            <a:r>
              <a:rPr lang="zh-CN" altLang="en-US" sz="2000" b="1" dirty="0">
                <a:solidFill>
                  <a:srgbClr val="000000"/>
                </a:solidFill>
                <a:sym typeface="+mn-ea"/>
              </a:rPr>
              <a:t>；</a:t>
            </a:r>
            <a:endParaRPr lang="en-US" altLang="zh-CN" sz="20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96627" name="Rectangle 32"/>
          <p:cNvSpPr/>
          <p:nvPr/>
        </p:nvSpPr>
        <p:spPr>
          <a:xfrm>
            <a:off x="742950" y="2863850"/>
            <a:ext cx="8191500" cy="4302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sz="2200" b="1" dirty="0">
                <a:sym typeface="+mn-ea"/>
              </a:rPr>
              <a:t>Mealy</a:t>
            </a:r>
            <a:r>
              <a:rPr lang="zh-CN" altLang="en-US" sz="2200" b="1" dirty="0">
                <a:sym typeface="+mn-ea"/>
              </a:rPr>
              <a:t>型</a:t>
            </a:r>
            <a:r>
              <a:rPr lang="en-US" altLang="zh-CN" sz="2200" b="1" dirty="0">
                <a:sym typeface="+mn-ea"/>
              </a:rPr>
              <a:t>FSM</a:t>
            </a:r>
            <a:r>
              <a:rPr lang="zh-CN" altLang="en-US" sz="2200" b="1" dirty="0">
                <a:sym typeface="+mn-ea"/>
              </a:rPr>
              <a:t>：</a:t>
            </a:r>
            <a:r>
              <a:rPr lang="zh-CN" altLang="en-US" sz="2200" b="1" dirty="0"/>
              <a:t>输出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与电路的原始状态及当前输入信号有关。</a:t>
            </a:r>
            <a:endParaRPr lang="en-US" altLang="zh-CN" sz="2200" b="1" dirty="0">
              <a:ea typeface="Times New Roman" panose="02020603050405020304" pitchFamily="18" charset="0"/>
            </a:endParaRPr>
          </a:p>
        </p:txBody>
      </p:sp>
      <p:sp>
        <p:nvSpPr>
          <p:cNvPr id="15" name="箭头: 虚尾 14"/>
          <p:cNvSpPr/>
          <p:nvPr/>
        </p:nvSpPr>
        <p:spPr bwMode="auto">
          <a:xfrm>
            <a:off x="5707063" y="4375150"/>
            <a:ext cx="611188" cy="503238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表格 54"/>
          <p:cNvGraphicFramePr>
            <a:graphicFrameLocks noGrp="1"/>
          </p:cNvGraphicFramePr>
          <p:nvPr/>
        </p:nvGraphicFramePr>
        <p:xfrm>
          <a:off x="6307138" y="3586163"/>
          <a:ext cx="2413000" cy="19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884"/>
                <a:gridCol w="1736116"/>
              </a:tblGrid>
              <a:tr h="45362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2" marR="91422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2" marR="91422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267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2" marR="91422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2" marR="91422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00/0     01/1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10/1     11/0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00/1     01/0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10/0     11/1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2" marR="91422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6642" name="TextBox 1"/>
          <p:cNvSpPr txBox="1"/>
          <p:nvPr/>
        </p:nvSpPr>
        <p:spPr>
          <a:xfrm>
            <a:off x="6756400" y="5657850"/>
            <a:ext cx="15843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状态分配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9664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56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：奇偶校验电路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7636" name="TextBox 1"/>
          <p:cNvSpPr txBox="1"/>
          <p:nvPr/>
        </p:nvSpPr>
        <p:spPr>
          <a:xfrm>
            <a:off x="498475" y="1366838"/>
            <a:ext cx="2724150" cy="571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>
                <a:srgbClr val="007A77"/>
              </a:buClr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选择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触发器实现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: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箭头: 虚尾 14"/>
          <p:cNvSpPr/>
          <p:nvPr/>
        </p:nvSpPr>
        <p:spPr bwMode="auto">
          <a:xfrm>
            <a:off x="3076575" y="2835275"/>
            <a:ext cx="476250" cy="503238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表格 54"/>
          <p:cNvGraphicFramePr>
            <a:graphicFrameLocks noGrp="1"/>
          </p:cNvGraphicFramePr>
          <p:nvPr/>
        </p:nvGraphicFramePr>
        <p:xfrm>
          <a:off x="584200" y="2198688"/>
          <a:ext cx="2413000" cy="196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910"/>
                <a:gridCol w="1736090"/>
              </a:tblGrid>
              <a:tr h="42821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27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</a:t>
                      </a:r>
                      <a:r>
                        <a:rPr lang="en-US" altLang="zh-CN" sz="18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8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00/0     01/1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10/1     11/0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00/1     01/0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10/0     11/1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0402" marB="404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箭头: 虚尾 57"/>
          <p:cNvSpPr/>
          <p:nvPr/>
        </p:nvSpPr>
        <p:spPr bwMode="auto">
          <a:xfrm>
            <a:off x="6261100" y="3305175"/>
            <a:ext cx="498475" cy="604838"/>
          </a:xfrm>
          <a:prstGeom prst="stripedRightArrow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7652" name="组合 33"/>
          <p:cNvGrpSpPr/>
          <p:nvPr/>
        </p:nvGrpSpPr>
        <p:grpSpPr>
          <a:xfrm>
            <a:off x="2770188" y="1033463"/>
            <a:ext cx="3275012" cy="1636712"/>
            <a:chOff x="-123" y="7117"/>
            <a:chExt cx="5158" cy="2639"/>
          </a:xfrm>
        </p:grpSpPr>
        <p:grpSp>
          <p:nvGrpSpPr>
            <p:cNvPr id="197696" name="组合 92"/>
            <p:cNvGrpSpPr/>
            <p:nvPr/>
          </p:nvGrpSpPr>
          <p:grpSpPr>
            <a:xfrm>
              <a:off x="-123" y="7117"/>
              <a:ext cx="5158" cy="2639"/>
              <a:chOff x="536209" y="4131006"/>
              <a:chExt cx="3275330" cy="1627188"/>
            </a:xfrm>
          </p:grpSpPr>
          <p:grpSp>
            <p:nvGrpSpPr>
              <p:cNvPr id="197699" name="Group 1098"/>
              <p:cNvGrpSpPr/>
              <p:nvPr/>
            </p:nvGrpSpPr>
            <p:grpSpPr>
              <a:xfrm>
                <a:off x="1363614" y="4131006"/>
                <a:ext cx="2447925" cy="1627188"/>
                <a:chOff x="1073" y="783"/>
                <a:chExt cx="1542" cy="1025"/>
              </a:xfrm>
            </p:grpSpPr>
            <p:sp>
              <p:nvSpPr>
                <p:cNvPr id="197701" name="Rectangle 1029"/>
                <p:cNvSpPr/>
                <p:nvPr/>
              </p:nvSpPr>
              <p:spPr>
                <a:xfrm>
                  <a:off x="1327" y="1173"/>
                  <a:ext cx="1281" cy="635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702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703" name="Line 1031"/>
                <p:cNvSpPr/>
                <p:nvPr/>
              </p:nvSpPr>
              <p:spPr>
                <a:xfrm>
                  <a:off x="1337" y="1481"/>
                  <a:ext cx="1277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704" name="Line 1032"/>
                <p:cNvSpPr/>
                <p:nvPr/>
              </p:nvSpPr>
              <p:spPr>
                <a:xfrm>
                  <a:off x="1665" y="1164"/>
                  <a:ext cx="0" cy="63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705" name="Text Box 1033"/>
                <p:cNvSpPr txBox="1"/>
                <p:nvPr/>
              </p:nvSpPr>
              <p:spPr>
                <a:xfrm>
                  <a:off x="1377" y="950"/>
                  <a:ext cx="123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00    01    11    10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706" name="Text Box 1034"/>
                <p:cNvSpPr txBox="1"/>
                <p:nvPr/>
              </p:nvSpPr>
              <p:spPr>
                <a:xfrm>
                  <a:off x="1116" y="1205"/>
                  <a:ext cx="184" cy="55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707" name="Text Box 1035"/>
                <p:cNvSpPr txBox="1"/>
                <p:nvPr/>
              </p:nvSpPr>
              <p:spPr>
                <a:xfrm>
                  <a:off x="1131" y="783"/>
                  <a:ext cx="385" cy="3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708" name="Text Box 1036"/>
                <p:cNvSpPr txBox="1"/>
                <p:nvPr/>
              </p:nvSpPr>
              <p:spPr>
                <a:xfrm>
                  <a:off x="1073" y="1010"/>
                  <a:ext cx="22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709" name="Text Box 1037"/>
                <p:cNvSpPr txBox="1"/>
                <p:nvPr/>
              </p:nvSpPr>
              <p:spPr>
                <a:xfrm>
                  <a:off x="1370" y="1184"/>
                  <a:ext cx="119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rgbClr val="003300"/>
                      </a:solidFill>
                    </a:rPr>
                    <a:t> </a:t>
                  </a: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0      1      </a:t>
                  </a: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1     0</a:t>
                  </a:r>
                  <a:endParaRPr lang="en-US" altLang="zh-CN" sz="2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7710" name="Line 1038"/>
                <p:cNvSpPr/>
                <p:nvPr/>
              </p:nvSpPr>
              <p:spPr>
                <a:xfrm>
                  <a:off x="1977" y="1174"/>
                  <a:ext cx="0" cy="63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711" name="Line 1039"/>
                <p:cNvSpPr/>
                <p:nvPr/>
              </p:nvSpPr>
              <p:spPr>
                <a:xfrm>
                  <a:off x="2310" y="1165"/>
                  <a:ext cx="0" cy="63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97700" name="Rectangle 5"/>
              <p:cNvSpPr/>
              <p:nvPr/>
            </p:nvSpPr>
            <p:spPr>
              <a:xfrm>
                <a:off x="536209" y="5085411"/>
                <a:ext cx="952500" cy="337916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  <a:sym typeface="宋体" panose="02010600030101010101" pitchFamily="2" charset="-122"/>
                  </a:rPr>
                  <a:t>Q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  <a:sym typeface="宋体" panose="02010600030101010101" pitchFamily="2" charset="-122"/>
                  </a:rPr>
                  <a:t>2</a:t>
                </a:r>
                <a:r>
                  <a:rPr lang="en-US" altLang="zh-CN" sz="2000" b="1" baseline="-25000" dirty="0">
                    <a:solidFill>
                      <a:srgbClr val="003300"/>
                    </a:solidFill>
                    <a:sym typeface="宋体" panose="02010600030101010101" pitchFamily="2" charset="-122"/>
                  </a:rPr>
                  <a:t> </a:t>
                </a:r>
                <a:endParaRPr lang="en-US" altLang="zh-CN" sz="2000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197697" name="矩形: 圆角 1"/>
            <p:cNvSpPr/>
            <p:nvPr/>
          </p:nvSpPr>
          <p:spPr>
            <a:xfrm>
              <a:off x="2773" y="8282"/>
              <a:ext cx="1361" cy="1335"/>
            </a:xfrm>
            <a:prstGeom prst="roundRect">
              <a:avLst>
                <a:gd name="adj" fmla="val 16667"/>
              </a:avLst>
            </a:prstGeom>
            <a:solidFill>
              <a:srgbClr val="069E0A">
                <a:alpha val="39999"/>
              </a:srgbClr>
            </a:solidFill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698" name="Text Box 1037"/>
            <p:cNvSpPr txBox="1"/>
            <p:nvPr/>
          </p:nvSpPr>
          <p:spPr>
            <a:xfrm>
              <a:off x="1927" y="8951"/>
              <a:ext cx="2978" cy="7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rgbClr val="0033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3300"/>
                  </a:solidFill>
                </a:rPr>
                <a:t>0      1      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1     0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7653" name="组合 34"/>
          <p:cNvGrpSpPr/>
          <p:nvPr/>
        </p:nvGrpSpPr>
        <p:grpSpPr>
          <a:xfrm>
            <a:off x="5726113" y="1077913"/>
            <a:ext cx="3133725" cy="1593850"/>
            <a:chOff x="4660" y="7190"/>
            <a:chExt cx="4936" cy="2509"/>
          </a:xfrm>
        </p:grpSpPr>
        <p:grpSp>
          <p:nvGrpSpPr>
            <p:cNvPr id="197680" name="组合 92"/>
            <p:cNvGrpSpPr/>
            <p:nvPr/>
          </p:nvGrpSpPr>
          <p:grpSpPr>
            <a:xfrm>
              <a:off x="4660" y="7190"/>
              <a:ext cx="4828" cy="2509"/>
              <a:chOff x="746031" y="4138944"/>
              <a:chExt cx="3063921" cy="1593851"/>
            </a:xfrm>
          </p:grpSpPr>
          <p:grpSp>
            <p:nvGrpSpPr>
              <p:cNvPr id="197684" name="Group 1098"/>
              <p:cNvGrpSpPr/>
              <p:nvPr/>
            </p:nvGrpSpPr>
            <p:grpSpPr>
              <a:xfrm>
                <a:off x="1325514" y="4138944"/>
                <a:ext cx="2484438" cy="1593851"/>
                <a:chOff x="1049" y="788"/>
                <a:chExt cx="1565" cy="1004"/>
              </a:xfrm>
            </p:grpSpPr>
            <p:sp>
              <p:nvSpPr>
                <p:cNvPr id="197686" name="Rectangle 1029"/>
                <p:cNvSpPr/>
                <p:nvPr/>
              </p:nvSpPr>
              <p:spPr>
                <a:xfrm>
                  <a:off x="1328" y="1164"/>
                  <a:ext cx="1281" cy="628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87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88" name="Line 1031"/>
                <p:cNvSpPr/>
                <p:nvPr/>
              </p:nvSpPr>
              <p:spPr>
                <a:xfrm>
                  <a:off x="1337" y="1469"/>
                  <a:ext cx="1277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89" name="Line 1032"/>
                <p:cNvSpPr/>
                <p:nvPr/>
              </p:nvSpPr>
              <p:spPr>
                <a:xfrm>
                  <a:off x="1665" y="1170"/>
                  <a:ext cx="0" cy="612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90" name="Text Box 1033"/>
                <p:cNvSpPr txBox="1"/>
                <p:nvPr/>
              </p:nvSpPr>
              <p:spPr>
                <a:xfrm>
                  <a:off x="1371" y="950"/>
                  <a:ext cx="123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00    01    11    10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91" name="Text Box 1034"/>
                <p:cNvSpPr txBox="1"/>
                <p:nvPr/>
              </p:nvSpPr>
              <p:spPr>
                <a:xfrm>
                  <a:off x="1128" y="1189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92" name="Text Box 1035"/>
                <p:cNvSpPr txBox="1"/>
                <p:nvPr/>
              </p:nvSpPr>
              <p:spPr>
                <a:xfrm>
                  <a:off x="1142" y="788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93" name="Text Box 1036"/>
                <p:cNvSpPr txBox="1"/>
                <p:nvPr/>
              </p:nvSpPr>
              <p:spPr>
                <a:xfrm>
                  <a:off x="1049" y="974"/>
                  <a:ext cx="224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94" name="Line 1038"/>
                <p:cNvSpPr/>
                <p:nvPr/>
              </p:nvSpPr>
              <p:spPr>
                <a:xfrm>
                  <a:off x="1975" y="1173"/>
                  <a:ext cx="0" cy="612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95" name="Line 1039"/>
                <p:cNvSpPr/>
                <p:nvPr/>
              </p:nvSpPr>
              <p:spPr>
                <a:xfrm>
                  <a:off x="2310" y="1167"/>
                  <a:ext cx="0" cy="612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97685" name="Rectangle 5"/>
              <p:cNvSpPr/>
              <p:nvPr/>
            </p:nvSpPr>
            <p:spPr>
              <a:xfrm>
                <a:off x="746031" y="4965101"/>
                <a:ext cx="852290" cy="431912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669925" algn="r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  <a:sym typeface="宋体" panose="02010600030101010101" pitchFamily="2" charset="-122"/>
                  </a:rPr>
                  <a:t>Q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  <a:sym typeface="宋体" panose="02010600030101010101" pitchFamily="2" charset="-122"/>
                  </a:rPr>
                  <a:t>1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</a:rPr>
                  <a:t> </a:t>
                </a:r>
                <a:endParaRPr lang="en-US" altLang="zh-CN" sz="2000" b="1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197681" name="矩形 47"/>
            <p:cNvSpPr/>
            <p:nvPr/>
          </p:nvSpPr>
          <p:spPr>
            <a:xfrm>
              <a:off x="6448" y="8960"/>
              <a:ext cx="314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rgbClr val="003300"/>
                  </a:solidFill>
                </a:rPr>
                <a:t>1     1    1     1  </a:t>
              </a:r>
              <a:endParaRPr lang="zh-CN" altLang="en-US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682" name="矩形: 圆角 1"/>
            <p:cNvSpPr/>
            <p:nvPr/>
          </p:nvSpPr>
          <p:spPr>
            <a:xfrm>
              <a:off x="6331" y="8993"/>
              <a:ext cx="3079" cy="643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39999"/>
              </a:srgbClr>
            </a:solidFill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683" name="矩形 47"/>
            <p:cNvSpPr/>
            <p:nvPr/>
          </p:nvSpPr>
          <p:spPr>
            <a:xfrm>
              <a:off x="6443" y="8182"/>
              <a:ext cx="308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rgbClr val="003300"/>
                  </a:solidFill>
                </a:rPr>
                <a:t>0     0    0     0  </a:t>
              </a:r>
              <a:endParaRPr lang="zh-CN" altLang="en-US" b="1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197654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" y="4746625"/>
            <a:ext cx="4238625" cy="1358900"/>
          </a:xfrm>
          <a:prstGeom prst="rect">
            <a:avLst/>
          </a:prstGeom>
          <a:noFill/>
          <a:ln w="9525" cap="flat" cmpd="sng">
            <a:solidFill>
              <a:srgbClr val="F20EDC"/>
            </a:solidFill>
            <a:prstDash val="solid"/>
            <a:round/>
            <a:headEnd type="none" w="med" len="med"/>
            <a:tailEnd type="none" w="med" len="med"/>
          </a:ln>
        </p:spPr>
      </p:pic>
      <p:grpSp>
        <p:nvGrpSpPr>
          <p:cNvPr id="197655" name="组合 35"/>
          <p:cNvGrpSpPr/>
          <p:nvPr/>
        </p:nvGrpSpPr>
        <p:grpSpPr>
          <a:xfrm>
            <a:off x="6819900" y="2711450"/>
            <a:ext cx="2112963" cy="1530350"/>
            <a:chOff x="6415" y="4030"/>
            <a:chExt cx="3326" cy="2409"/>
          </a:xfrm>
        </p:grpSpPr>
        <p:sp>
          <p:nvSpPr>
            <p:cNvPr id="197678" name="TextBox 1"/>
            <p:cNvSpPr txBox="1"/>
            <p:nvPr/>
          </p:nvSpPr>
          <p:spPr>
            <a:xfrm>
              <a:off x="6800" y="4030"/>
              <a:ext cx="2941" cy="240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</a:rPr>
                <a:t>2 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=</a:t>
              </a:r>
              <a:r>
                <a:rPr lang="en-US" altLang="zh-CN" b="1" i="1" dirty="0">
                  <a:solidFill>
                    <a:srgbClr val="000000"/>
                  </a:solidFill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sym typeface="+mn-ea"/>
                </a:rPr>
                <a:t>1</a:t>
              </a:r>
              <a:r>
                <a:rPr lang="zh-CN" altLang="en-US" b="1" baseline="-25000" dirty="0">
                  <a:solidFill>
                    <a:srgbClr val="000000"/>
                  </a:solidFill>
                  <a:sym typeface="+mn-ea"/>
                </a:rPr>
                <a:t>，</a:t>
              </a:r>
              <a:endParaRPr lang="zh-CN" altLang="en-US" b="1" baseline="-25000" dirty="0">
                <a:solidFill>
                  <a:srgbClr val="000000"/>
                </a:solidFill>
                <a:sym typeface="+mn-ea"/>
              </a:endParaRPr>
            </a:p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b="1" i="1" dirty="0">
                  <a:solidFill>
                    <a:srgbClr val="000000"/>
                  </a:solidFill>
                  <a:sym typeface="+mn-ea"/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sym typeface="+mn-ea"/>
                </a:rPr>
                <a:t>1 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=</a:t>
              </a:r>
              <a:r>
                <a:rPr lang="en-US" altLang="zh-CN" b="1" i="1" dirty="0">
                  <a:solidFill>
                    <a:srgbClr val="000000"/>
                  </a:solidFill>
                  <a:sym typeface="+mn-ea"/>
                </a:rPr>
                <a:t>w</a:t>
              </a:r>
              <a:endParaRPr lang="en-US" altLang="zh-CN" b="1" dirty="0">
                <a:solidFill>
                  <a:srgbClr val="000000"/>
                </a:solidFill>
              </a:endParaRPr>
            </a:p>
            <a:p>
              <a:pPr marL="0" lvl="0" indent="0">
                <a:spcBef>
                  <a:spcPct val="0"/>
                </a:spcBef>
                <a:buClr>
                  <a:srgbClr val="007A77"/>
                </a:buClr>
              </a:pPr>
              <a:r>
                <a:rPr lang="en-US" altLang="zh-CN" b="1" i="1" dirty="0">
                  <a:solidFill>
                    <a:srgbClr val="000000"/>
                  </a:solidFill>
                </a:rPr>
                <a:t>z </a:t>
              </a:r>
              <a:r>
                <a:rPr lang="en-US" altLang="zh-CN" b="1" dirty="0">
                  <a:solidFill>
                    <a:srgbClr val="000000"/>
                  </a:solidFill>
                </a:rPr>
                <a:t>= </a:t>
              </a:r>
              <a:r>
                <a:rPr lang="en-US" altLang="zh-CN" b="1" i="1" dirty="0">
                  <a:solidFill>
                    <a:srgbClr val="000000"/>
                  </a:solidFill>
                </a:rPr>
                <a:t>w</a:t>
              </a:r>
              <a:r>
                <a:rPr lang="en-US" alt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⊕</a:t>
              </a:r>
              <a:r>
                <a:rPr lang="en-US" altLang="zh-CN" b="1" i="1" dirty="0">
                  <a:solidFill>
                    <a:srgbClr val="000000"/>
                  </a:solidFill>
                  <a:sym typeface="+mn-ea"/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sym typeface="+mn-ea"/>
                </a:rPr>
                <a:t>1</a:t>
              </a:r>
              <a:r>
                <a:rPr lang="en-US" alt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⊕</a:t>
              </a:r>
              <a:r>
                <a:rPr lang="en-US" altLang="zh-CN" b="1" i="1" dirty="0">
                  <a:solidFill>
                    <a:srgbClr val="000000"/>
                  </a:solidFill>
                  <a:sym typeface="+mn-ea"/>
                </a:rPr>
                <a:t>q</a:t>
              </a:r>
              <a:r>
                <a:rPr lang="en-US" altLang="zh-CN" b="1" baseline="-25000" dirty="0">
                  <a:solidFill>
                    <a:srgbClr val="000000"/>
                  </a:solidFill>
                  <a:sym typeface="+mn-ea"/>
                </a:rPr>
                <a:t>2</a:t>
              </a:r>
              <a:endParaRPr lang="en-US" altLang="zh-CN" b="1" baseline="-25000" dirty="0">
                <a:solidFill>
                  <a:srgbClr val="000000"/>
                </a:solidFill>
                <a:ea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7679" name="左大括号 13"/>
            <p:cNvSpPr/>
            <p:nvPr/>
          </p:nvSpPr>
          <p:spPr>
            <a:xfrm>
              <a:off x="6415" y="4440"/>
              <a:ext cx="455" cy="1757"/>
            </a:xfrm>
            <a:prstGeom prst="leftBrace">
              <a:avLst>
                <a:gd name="adj1" fmla="val 8205"/>
                <a:gd name="adj2" fmla="val 50338"/>
              </a:avLst>
            </a:prstGeom>
            <a:solidFill>
              <a:schemeClr val="bg1"/>
            </a:solidFill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800" dirty="0">
                <a:solidFill>
                  <a:srgbClr val="007A77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197656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850" y="4746625"/>
            <a:ext cx="4095750" cy="13589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</p:pic>
      <p:grpSp>
        <p:nvGrpSpPr>
          <p:cNvPr id="197657" name="组合 3"/>
          <p:cNvGrpSpPr/>
          <p:nvPr/>
        </p:nvGrpSpPr>
        <p:grpSpPr>
          <a:xfrm>
            <a:off x="2730500" y="2554288"/>
            <a:ext cx="3295650" cy="1684337"/>
            <a:chOff x="4301" y="4022"/>
            <a:chExt cx="5190" cy="2651"/>
          </a:xfrm>
        </p:grpSpPr>
        <p:grpSp>
          <p:nvGrpSpPr>
            <p:cNvPr id="197659" name="组合 32"/>
            <p:cNvGrpSpPr/>
            <p:nvPr/>
          </p:nvGrpSpPr>
          <p:grpSpPr>
            <a:xfrm>
              <a:off x="5576" y="4022"/>
              <a:ext cx="3915" cy="2651"/>
              <a:chOff x="9057" y="1774"/>
              <a:chExt cx="3915" cy="2652"/>
            </a:xfrm>
          </p:grpSpPr>
          <p:grpSp>
            <p:nvGrpSpPr>
              <p:cNvPr id="197661" name="Group 1098"/>
              <p:cNvGrpSpPr/>
              <p:nvPr/>
            </p:nvGrpSpPr>
            <p:grpSpPr>
              <a:xfrm>
                <a:off x="9057" y="1774"/>
                <a:ext cx="3915" cy="2652"/>
                <a:chOff x="1049" y="783"/>
                <a:chExt cx="1566" cy="1030"/>
              </a:xfrm>
            </p:grpSpPr>
            <p:sp>
              <p:nvSpPr>
                <p:cNvPr id="197667" name="Rectangle 1029"/>
                <p:cNvSpPr/>
                <p:nvPr/>
              </p:nvSpPr>
              <p:spPr>
                <a:xfrm>
                  <a:off x="1327" y="1173"/>
                  <a:ext cx="1281" cy="635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endParaRPr lang="zh-CN" altLang="en-US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68" name="Line 1030"/>
                <p:cNvSpPr/>
                <p:nvPr/>
              </p:nvSpPr>
              <p:spPr>
                <a:xfrm flipH="1" flipV="1">
                  <a:off x="1150" y="972"/>
                  <a:ext cx="192" cy="201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69" name="Line 1031"/>
                <p:cNvSpPr/>
                <p:nvPr/>
              </p:nvSpPr>
              <p:spPr>
                <a:xfrm>
                  <a:off x="1331" y="1501"/>
                  <a:ext cx="1277" cy="0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70" name="Line 1032"/>
                <p:cNvSpPr/>
                <p:nvPr/>
              </p:nvSpPr>
              <p:spPr>
                <a:xfrm>
                  <a:off x="1665" y="1164"/>
                  <a:ext cx="0" cy="639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71" name="Text Box 1033"/>
                <p:cNvSpPr txBox="1"/>
                <p:nvPr/>
              </p:nvSpPr>
              <p:spPr>
                <a:xfrm>
                  <a:off x="1377" y="950"/>
                  <a:ext cx="123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lnSpc>
                      <a:spcPct val="100000"/>
                    </a:lnSpc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00    01    11    10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72" name="Text Box 1034"/>
                <p:cNvSpPr txBox="1"/>
                <p:nvPr/>
              </p:nvSpPr>
              <p:spPr>
                <a:xfrm>
                  <a:off x="1116" y="1205"/>
                  <a:ext cx="184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defTabSz="914400" eaLnBrk="1" hangingPunct="1">
                    <a:spcBef>
                      <a:spcPct val="0"/>
                    </a:spcBef>
                    <a:tabLst>
                      <a:tab pos="758825" algn="l"/>
                    </a:tabLst>
                  </a:pP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01</a:t>
                  </a:r>
                  <a:endParaRPr lang="en-US" altLang="zh-CN" sz="2000" b="1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73" name="Text Box 1035"/>
                <p:cNvSpPr txBox="1"/>
                <p:nvPr/>
              </p:nvSpPr>
              <p:spPr>
                <a:xfrm>
                  <a:off x="1143" y="783"/>
                  <a:ext cx="385" cy="38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2</a:t>
                  </a: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q</a:t>
                  </a:r>
                  <a:r>
                    <a:rPr lang="en-US" altLang="zh-CN" sz="2000" b="1" baseline="-25000" dirty="0">
                      <a:solidFill>
                        <a:srgbClr val="003300"/>
                      </a:solidFill>
                    </a:rPr>
                    <a:t>1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74" name="Text Box 1036"/>
                <p:cNvSpPr txBox="1"/>
                <p:nvPr/>
              </p:nvSpPr>
              <p:spPr>
                <a:xfrm>
                  <a:off x="1049" y="980"/>
                  <a:ext cx="222" cy="24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rgbClr val="003300"/>
                      </a:solidFill>
                    </a:rPr>
                    <a:t>w</a:t>
                  </a:r>
                  <a:endParaRPr lang="en-US" altLang="zh-CN" sz="2000" b="1" baseline="-25000" dirty="0">
                    <a:solidFill>
                      <a:srgbClr val="003300"/>
                    </a:solidFill>
                  </a:endParaRPr>
                </a:p>
              </p:txBody>
            </p:sp>
            <p:sp>
              <p:nvSpPr>
                <p:cNvPr id="197675" name="Text Box 1037"/>
                <p:cNvSpPr txBox="1"/>
                <p:nvPr/>
              </p:nvSpPr>
              <p:spPr>
                <a:xfrm>
                  <a:off x="1366" y="1502"/>
                  <a:ext cx="1242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n"/>
                    <a:defRPr sz="30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80000"/>
                    <a:buFont typeface="Wingdings" panose="05000000000000000000" pitchFamily="2" charset="2"/>
                    <a:buChar char="o"/>
                    <a:defRPr sz="2800" b="1">
                      <a:solidFill>
                        <a:srgbClr val="0000FF"/>
                      </a:solidFill>
                      <a:latin typeface="Arial Narrow" panose="020B0606020202030204" pitchFamily="34" charset="0"/>
                      <a:ea typeface="楷体_GB2312" charset="-122"/>
                      <a:cs typeface="楷体_GB2312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2000" dirty="0">
                      <a:solidFill>
                        <a:srgbClr val="003300"/>
                      </a:solidFill>
                    </a:rPr>
                    <a:t> </a:t>
                  </a:r>
                  <a:r>
                    <a:rPr lang="en-US" altLang="zh-CN" sz="2000" b="1" dirty="0">
                      <a:solidFill>
                        <a:srgbClr val="003300"/>
                      </a:solidFill>
                    </a:rPr>
                    <a:t>1      0      </a:t>
                  </a:r>
                  <a:r>
                    <a:rPr lang="en-US" altLang="zh-CN" sz="2000" b="1" dirty="0">
                      <a:solidFill>
                        <a:srgbClr val="000000"/>
                      </a:solidFill>
                    </a:rPr>
                    <a:t>1      0</a:t>
                  </a:r>
                  <a:endParaRPr lang="en-US" altLang="zh-CN" sz="2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7676" name="Line 1038"/>
                <p:cNvSpPr/>
                <p:nvPr/>
              </p:nvSpPr>
              <p:spPr>
                <a:xfrm>
                  <a:off x="1977" y="1174"/>
                  <a:ext cx="0" cy="639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7677" name="Line 1039"/>
                <p:cNvSpPr/>
                <p:nvPr/>
              </p:nvSpPr>
              <p:spPr>
                <a:xfrm>
                  <a:off x="2310" y="1165"/>
                  <a:ext cx="0" cy="639"/>
                </a:xfrm>
                <a:prstGeom prst="line">
                  <a:avLst/>
                </a:prstGeom>
                <a:ln w="28575" cap="flat" cmpd="sng">
                  <a:solidFill>
                    <a:srgbClr val="0000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97662" name="矩形: 圆角 1"/>
              <p:cNvSpPr/>
              <p:nvPr/>
            </p:nvSpPr>
            <p:spPr>
              <a:xfrm>
                <a:off x="9843" y="3692"/>
                <a:ext cx="671" cy="642"/>
              </a:xfrm>
              <a:prstGeom prst="roundRect">
                <a:avLst>
                  <a:gd name="adj" fmla="val 16667"/>
                </a:avLst>
              </a:prstGeom>
              <a:solidFill>
                <a:srgbClr val="069E0A">
                  <a:alpha val="39999"/>
                </a:srgbClr>
              </a:solidFill>
              <a:ln w="127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sz="1800" b="1" dirty="0">
                  <a:solidFill>
                    <a:srgbClr val="007A77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7663" name="Text Box 1037"/>
              <p:cNvSpPr txBox="1"/>
              <p:nvPr/>
            </p:nvSpPr>
            <p:spPr>
              <a:xfrm>
                <a:off x="9877" y="2834"/>
                <a:ext cx="3034" cy="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rgbClr val="0033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003300"/>
                    </a:solidFill>
                  </a:rPr>
                  <a:t>0      1      </a:t>
                </a:r>
                <a:r>
                  <a:rPr lang="en-US" altLang="zh-CN" sz="2000" b="1" dirty="0">
                    <a:solidFill>
                      <a:srgbClr val="000000"/>
                    </a:solidFill>
                  </a:rPr>
                  <a:t>0      1</a:t>
                </a:r>
                <a:endParaRPr lang="en-US" altLang="zh-CN" sz="2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7664" name="矩形: 圆角 1"/>
              <p:cNvSpPr/>
              <p:nvPr/>
            </p:nvSpPr>
            <p:spPr>
              <a:xfrm>
                <a:off x="11461" y="3680"/>
                <a:ext cx="671" cy="642"/>
              </a:xfrm>
              <a:prstGeom prst="roundRect">
                <a:avLst>
                  <a:gd name="adj" fmla="val 16667"/>
                </a:avLst>
              </a:prstGeom>
              <a:solidFill>
                <a:srgbClr val="069E0A">
                  <a:alpha val="39999"/>
                </a:srgbClr>
              </a:solidFill>
              <a:ln w="127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sz="1800" b="1" dirty="0">
                  <a:solidFill>
                    <a:srgbClr val="007A77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7665" name="矩形: 圆角 1"/>
              <p:cNvSpPr/>
              <p:nvPr/>
            </p:nvSpPr>
            <p:spPr>
              <a:xfrm>
                <a:off x="10668" y="2894"/>
                <a:ext cx="671" cy="642"/>
              </a:xfrm>
              <a:prstGeom prst="roundRect">
                <a:avLst>
                  <a:gd name="adj" fmla="val 16667"/>
                </a:avLst>
              </a:prstGeom>
              <a:solidFill>
                <a:srgbClr val="069E0A">
                  <a:alpha val="39999"/>
                </a:srgbClr>
              </a:solidFill>
              <a:ln w="127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sz="1800" b="1" dirty="0">
                  <a:solidFill>
                    <a:srgbClr val="007A77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7666" name="矩形: 圆角 1"/>
              <p:cNvSpPr/>
              <p:nvPr/>
            </p:nvSpPr>
            <p:spPr>
              <a:xfrm>
                <a:off x="12238" y="2886"/>
                <a:ext cx="671" cy="643"/>
              </a:xfrm>
              <a:prstGeom prst="roundRect">
                <a:avLst>
                  <a:gd name="adj" fmla="val 16667"/>
                </a:avLst>
              </a:prstGeom>
              <a:solidFill>
                <a:srgbClr val="069E0A">
                  <a:alpha val="39999"/>
                </a:srgbClr>
              </a:solidFill>
              <a:ln w="127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n"/>
                  <a:defRPr sz="30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o"/>
                  <a:defRPr sz="2800" b="1">
                    <a:solidFill>
                      <a:srgbClr val="0000FF"/>
                    </a:solidFill>
                    <a:latin typeface="Arial Narrow" panose="020B0606020202030204" pitchFamily="34" charset="0"/>
                    <a:ea typeface="楷体_GB2312" charset="-122"/>
                    <a:cs typeface="楷体_GB2312" charset="-122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</a:pPr>
                <a:endParaRPr lang="zh-CN" altLang="en-US" sz="1800" b="1" dirty="0">
                  <a:solidFill>
                    <a:srgbClr val="007A77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660" name="Rectangle 5"/>
            <p:cNvSpPr/>
            <p:nvPr/>
          </p:nvSpPr>
          <p:spPr>
            <a:xfrm>
              <a:off x="4301" y="5412"/>
              <a:ext cx="1443" cy="535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90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n"/>
                <a:defRPr sz="30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0000"/>
                <a:buFont typeface="Wingdings" panose="05000000000000000000" pitchFamily="2" charset="2"/>
                <a:buChar char="o"/>
                <a:defRPr sz="2800" b="1">
                  <a:solidFill>
                    <a:srgbClr val="0000FF"/>
                  </a:solidFill>
                  <a:latin typeface="Arial Narrow" panose="020B0606020202030204" pitchFamily="34" charset="0"/>
                  <a:ea typeface="楷体_GB2312" charset="-122"/>
                  <a:cs typeface="楷体_GB2312" charset="-122"/>
                </a:defRPr>
              </a:lvl5pPr>
            </a:lstStyle>
            <a:p>
              <a:pPr marL="0" lvl="0" indent="669925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3600" b="1" i="1" baseline="-25000" dirty="0">
                  <a:solidFill>
                    <a:srgbClr val="FF0000"/>
                  </a:solidFill>
                  <a:sym typeface="宋体" panose="02010600030101010101" pitchFamily="2" charset="-122"/>
                </a:rPr>
                <a:t>z</a:t>
              </a:r>
              <a:r>
                <a:rPr lang="en-US" altLang="zh-CN" sz="3600" b="1" baseline="-25000" dirty="0">
                  <a:solidFill>
                    <a:srgbClr val="003300"/>
                  </a:solidFill>
                  <a:sym typeface="宋体" panose="02010600030101010101" pitchFamily="2" charset="-122"/>
                </a:rPr>
                <a:t> </a:t>
              </a:r>
              <a:endParaRPr lang="en-US" altLang="zh-CN" sz="3600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197658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647700" y="1795463"/>
            <a:ext cx="5772150" cy="4348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lnSpc>
                <a:spcPct val="130000"/>
              </a:lnSpc>
              <a:spcBef>
                <a:spcPct val="200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>
              <a:lnSpc>
                <a:spcPct val="130000"/>
              </a:lnSpc>
              <a:spcBef>
                <a:spcPct val="200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module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simple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w,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clk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rst_n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 w;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output </a:t>
            </a:r>
            <a:r>
              <a:rPr kumimoji="1" lang="en-US" alt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reg</a:t>
            </a:r>
            <a:r>
              <a:rPr kumimoji="1" lang="en-US" alt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reg</a:t>
            </a: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[2:1] q, Q;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parameter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[2:1] A=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0,B=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=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2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’b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always</a:t>
            </a: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@ (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w,q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)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</a:t>
            </a:r>
            <a:r>
              <a:rPr kumimoji="1" lang="en-CA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case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(q)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A: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z,Q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,B};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z,Q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={0,A};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  B: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(w) 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z,Q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else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z,Q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 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}; 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 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(w)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z,Q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,B};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else</a:t>
            </a:r>
            <a:r>
              <a:rPr kumimoji="1" lang="en-CA" altLang="zh-CN" sz="18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{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z,Q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,A};</a:t>
            </a:r>
            <a:endParaRPr kumimoji="1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    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: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if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(w) 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z,Q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1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D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}; 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else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 {</a:t>
            </a:r>
            <a:r>
              <a:rPr kumimoji="1" lang="en-CA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z,Q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 ={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0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,</a:t>
            </a:r>
            <a:r>
              <a:rPr kumimoji="1" lang="en-US" alt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C</a:t>
            </a:r>
            <a:r>
              <a:rPr kumimoji="1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  <a:sym typeface="+mn-ea"/>
              </a:rPr>
              <a:t>}; </a:t>
            </a:r>
            <a:endParaRPr kumimoji="1" lang="en-CA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  <a:defRPr/>
            </a:pPr>
            <a:r>
              <a:rPr kumimoji="1" lang="en-CA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   </a:t>
            </a:r>
            <a:r>
              <a:rPr kumimoji="1" lang="en-CA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+mn-cs"/>
              </a:rPr>
              <a:t>endcase</a:t>
            </a:r>
            <a:endParaRPr kumimoji="1" lang="en-CA" altLang="zh-CN" sz="1800" b="1" i="0" u="none" strike="noStrike" kern="1200" cap="none" spc="0" normalizeH="0" baseline="0" noProof="0" dirty="0" err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198660" name="Rectangle 8"/>
          <p:cNvSpPr/>
          <p:nvPr/>
        </p:nvSpPr>
        <p:spPr>
          <a:xfrm>
            <a:off x="5056188" y="4333875"/>
            <a:ext cx="3781425" cy="180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1800" b="1" dirty="0">
                <a:ea typeface="MS Mincho" panose="02020609040205080304" pitchFamily="49" charset="-128"/>
              </a:rPr>
              <a:t>always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@ (</a:t>
            </a:r>
            <a:r>
              <a:rPr lang="en-CA" altLang="zh-CN" sz="1800" dirty="0">
                <a:ea typeface="MS Mincho" panose="02020609040205080304" pitchFamily="49" charset="-128"/>
              </a:rPr>
              <a:t>posedge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clk, </a:t>
            </a:r>
            <a:r>
              <a:rPr lang="en-CA" altLang="zh-CN" sz="1800" dirty="0">
                <a:ea typeface="MS Mincho" panose="02020609040205080304" pitchFamily="49" charset="-128"/>
              </a:rPr>
              <a:t>negedge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rst_n)</a:t>
            </a:r>
            <a:endParaRPr lang="en-CA" altLang="zh-CN" sz="18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CA" altLang="zh-CN" sz="1800" dirty="0">
                <a:ea typeface="MS Mincho" panose="02020609040205080304" pitchFamily="49" charset="-128"/>
              </a:rPr>
              <a:t>if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</a:rPr>
              <a:t>!</a:t>
            </a: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rst_n)   </a:t>
            </a: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q &lt;= A;</a:t>
            </a:r>
            <a:endParaRPr lang="en-US" altLang="zh-CN" sz="18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         </a:t>
            </a:r>
            <a:r>
              <a:rPr lang="en-US" altLang="zh-CN" sz="1800" dirty="0">
                <a:ea typeface="MS Mincho" panose="02020609040205080304" pitchFamily="49" charset="-128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  q &lt;= Q;</a:t>
            </a:r>
            <a:endParaRPr lang="en-US" altLang="zh-CN" sz="1800" dirty="0">
              <a:solidFill>
                <a:srgbClr val="0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ts val="120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US" altLang="zh-CN" sz="1800" b="1" dirty="0">
                <a:solidFill>
                  <a:srgbClr val="C00000"/>
                </a:solidFill>
                <a:ea typeface="MS Mincho" panose="02020609040205080304" pitchFamily="49" charset="-128"/>
              </a:rPr>
              <a:t>endmodule</a:t>
            </a:r>
            <a:endParaRPr lang="en-CA" altLang="zh-CN" sz="1800" dirty="0">
              <a:solidFill>
                <a:srgbClr val="C00000"/>
              </a:solidFill>
              <a:ea typeface="MS Mincho" panose="02020609040205080304" pitchFamily="49" charset="-128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tabLst>
                <a:tab pos="346075" algn="l"/>
                <a:tab pos="635000" algn="l"/>
                <a:tab pos="968375" algn="l"/>
                <a:tab pos="1603375" algn="l"/>
                <a:tab pos="2054225" algn="l"/>
              </a:tabLst>
            </a:pPr>
            <a:r>
              <a:rPr lang="en-CA" altLang="zh-CN" sz="1800" dirty="0">
                <a:solidFill>
                  <a:srgbClr val="000000"/>
                </a:solidFill>
                <a:ea typeface="MS Mincho" panose="02020609040205080304" pitchFamily="49" charset="-128"/>
              </a:rPr>
              <a:t>		</a:t>
            </a:r>
            <a:endParaRPr lang="en-CA" altLang="zh-CN" sz="1800" b="1" dirty="0">
              <a:solidFill>
                <a:srgbClr val="000000"/>
              </a:solidFill>
              <a:ea typeface="MS Mincho" panose="02020609040205080304" pitchFamily="49" charset="-128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498475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：奇偶校验电路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charset="-122"/>
              <a:cs typeface="+mj-cs"/>
            </a:endParaRPr>
          </a:p>
        </p:txBody>
      </p:sp>
      <p:sp>
        <p:nvSpPr>
          <p:cNvPr id="198662" name="Rectangle 2"/>
          <p:cNvSpPr/>
          <p:nvPr/>
        </p:nvSpPr>
        <p:spPr>
          <a:xfrm>
            <a:off x="508000" y="1265238"/>
            <a:ext cx="4267200" cy="42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</a:rPr>
              <a:t>Mealy</a:t>
            </a:r>
            <a:r>
              <a:rPr lang="zh-CN" altLang="en-US" b="1" dirty="0">
                <a:solidFill>
                  <a:srgbClr val="000000"/>
                </a:solidFill>
              </a:rPr>
              <a:t>型</a:t>
            </a:r>
            <a:r>
              <a:rPr lang="en-US" altLang="zh-CN" b="1" dirty="0">
                <a:solidFill>
                  <a:srgbClr val="000000"/>
                </a:solidFill>
              </a:rPr>
              <a:t>FSM</a:t>
            </a:r>
            <a:r>
              <a:rPr lang="zh-CN" altLang="en-US" b="1" dirty="0">
                <a:solidFill>
                  <a:srgbClr val="000000"/>
                </a:solidFill>
              </a:rPr>
              <a:t>的</a:t>
            </a:r>
            <a:r>
              <a:rPr lang="en-US" altLang="zh-CN" b="1" dirty="0">
                <a:solidFill>
                  <a:srgbClr val="000000"/>
                </a:solidFill>
              </a:rPr>
              <a:t>Verilog</a:t>
            </a:r>
            <a:r>
              <a:rPr lang="zh-CN" altLang="en-US" b="1" dirty="0">
                <a:solidFill>
                  <a:srgbClr val="000000"/>
                </a:solidFill>
              </a:rPr>
              <a:t>代码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pic>
        <p:nvPicPr>
          <p:cNvPr id="198663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838" y="1201738"/>
            <a:ext cx="4095750" cy="13589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</p:pic>
      <p:graphicFrame>
        <p:nvGraphicFramePr>
          <p:cNvPr id="2" name="表格 54"/>
          <p:cNvGraphicFramePr>
            <a:graphicFrameLocks noGrp="1"/>
          </p:cNvGraphicFramePr>
          <p:nvPr/>
        </p:nvGraphicFramePr>
        <p:xfrm>
          <a:off x="6419850" y="2563813"/>
          <a:ext cx="2225675" cy="177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05"/>
                <a:gridCol w="1601470"/>
              </a:tblGrid>
              <a:tr h="3354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现态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7" marB="457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次态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en-US" altLang="zh-CN" sz="16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en-US" altLang="zh-CN" sz="1600" baseline="-25000" dirty="0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输出</a:t>
                      </a:r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7" marB="457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40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    </a:t>
                      </a:r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7" marB="457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A:00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B:01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C:10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D:11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7" marB="457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A/0     B/1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C/1     D/0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A/1     B/0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C/0     D/1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27" marB="457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8677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9682" name="内容占位符 4"/>
          <p:cNvPicPr>
            <a:picLocks noGrp="1" noRot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1709738" y="2671763"/>
            <a:ext cx="5897562" cy="3919537"/>
          </a:xfrm>
        </p:spPr>
      </p:pic>
      <p:sp>
        <p:nvSpPr>
          <p:cNvPr id="8" name="内容占位符 2"/>
          <p:cNvSpPr txBox="1">
            <a:spLocks noRot="1"/>
          </p:cNvSpPr>
          <p:nvPr/>
        </p:nvSpPr>
        <p:spPr bwMode="auto">
          <a:xfrm>
            <a:off x="479425" y="1260475"/>
            <a:ext cx="8389938" cy="16033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计算机系统中需要将并行数据进行串行传输，以节省并行互联成本。假设传输的是</a:t>
            </a:r>
            <a:r>
              <a:rPr kumimoji="0" lang="en-US" altLang="zh-CN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ASCII</a:t>
            </a:r>
            <a:r>
              <a:rPr kumimoji="0" lang="zh-CN" alt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字符（</a:t>
            </a:r>
            <a:r>
              <a:rPr kumimoji="0" lang="en-US" altLang="zh-CN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7</a:t>
            </a:r>
            <a:r>
              <a:rPr kumimoji="0" lang="zh-CN" alt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位），通常一个字符占用一个字节，最高位奇校验位。试设计一个奇校验位产生的</a:t>
            </a:r>
            <a:r>
              <a:rPr kumimoji="0" lang="en-US" altLang="zh-CN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FSM</a:t>
            </a:r>
            <a:r>
              <a:rPr kumimoji="0" lang="zh-CN" alt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kumimoji="0" lang="en-US" altLang="zh-CN" sz="2200" b="1" i="1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98475" y="428625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：奇偶校验电路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9685" name="日期占位符 9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99686" name="灯片编号占位符 10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588" y="417513"/>
            <a:ext cx="6746875" cy="7254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6.8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实例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charset="-122"/>
                <a:cs typeface="+mj-cs"/>
                <a:sym typeface="+mn-ea"/>
              </a:rPr>
              <a:t>：奇偶校验电路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070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3225" y="4137025"/>
            <a:ext cx="3257550" cy="2132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内容占位符 2"/>
          <p:cNvSpPr txBox="1">
            <a:spLocks noRot="1"/>
          </p:cNvSpPr>
          <p:nvPr/>
        </p:nvSpPr>
        <p:spPr bwMode="auto">
          <a:xfrm>
            <a:off x="479425" y="1260475"/>
            <a:ext cx="8389938" cy="982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n"/>
              <a:defRPr sz="30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o"/>
              <a:defRPr sz="2800" b="1">
                <a:solidFill>
                  <a:srgbClr val="0000FF"/>
                </a:solidFill>
                <a:latin typeface="Arial Narrow" panose="020B0606020202030204" pitchFamily="34" charset="0"/>
                <a:ea typeface="楷体_GB2312" charset="-122"/>
                <a:cs typeface="楷体_GB231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分析：状态机有两个状态，次态方程为：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kumimoji="0" lang="zh-CN" altLang="en-US" sz="2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⊕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w</a:t>
            </a:r>
            <a:endParaRPr kumimoji="1" lang="en-US" altLang="zh-CN" sz="2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由于校验位是位于字节的最高位，因此应该采用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Moore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型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FSM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。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00709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2243138"/>
            <a:ext cx="6556375" cy="1893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0710" name="日期占位符 8"/>
          <p:cNvSpPr txBox="1">
            <a:spLocks noGrp="1"/>
          </p:cNvSpPr>
          <p:nvPr>
            <p:ph type="dt" sz="half" idx="10"/>
          </p:nvPr>
        </p:nvSpPr>
        <p:spPr>
          <a:xfrm>
            <a:off x="457200" y="6453188"/>
            <a:ext cx="2133600" cy="360362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</a:pPr>
            <a:fld id="{BB962C8B-B14F-4D97-AF65-F5344CB8AC3E}" type="datetime1">
              <a:rPr lang="zh-CN" altLang="en-US" sz="1600" dirty="0">
                <a:solidFill>
                  <a:srgbClr val="000000"/>
                </a:solidFill>
              </a:rPr>
            </a:fld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00711" name="灯片编号占位符 9"/>
          <p:cNvSpPr txBox="1">
            <a:spLocks noGrp="1"/>
          </p:cNvSpPr>
          <p:nvPr>
            <p:ph type="sldNum" sz="quarter" idx="11"/>
          </p:nvPr>
        </p:nvSpPr>
        <p:spPr>
          <a:xfrm>
            <a:off x="8388350" y="6453188"/>
            <a:ext cx="720725" cy="360362"/>
          </a:xfrm>
          <a:noFill/>
          <a:ln>
            <a:noFill/>
          </a:ln>
        </p:spPr>
        <p:txBody>
          <a:bodyPr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</a:pPr>
            <a:fld id="{9A0DB2DC-4C9A-4742-B13C-FB6460FD3503}" type="slidenum">
              <a:rPr lang="en-US" altLang="zh-CN" sz="1600" dirty="0">
                <a:solidFill>
                  <a:srgbClr val="000000"/>
                </a:solidFill>
                <a:ea typeface="楷体_GB2312" charset="-122"/>
              </a:rPr>
            </a:fld>
            <a:endParaRPr lang="en-US" altLang="zh-CN" sz="1600" dirty="0">
              <a:solidFill>
                <a:srgbClr val="000000"/>
              </a:solidFill>
              <a:ea typeface="楷体_GB231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ags/tag1.xml><?xml version="1.0" encoding="utf-8"?>
<p:tagLst xmlns:p="http://schemas.openxmlformats.org/presentationml/2006/main">
  <p:tag name="KSO_WM_UNIT_PLACING_PICTURE_USER_VIEWPORT" val="{&quot;height&quot;:2652.499212598425,&quot;width&quot;:7505}"/>
</p:tagLst>
</file>

<file path=ppt/tags/tag2.xml><?xml version="1.0" encoding="utf-8"?>
<p:tagLst xmlns:p="http://schemas.openxmlformats.org/presentationml/2006/main">
  <p:tag name="KSO_WM_UNIT_TABLE_BEAUTIFY" val="smartTable{3248b876-ab98-43c6-af42-186607756683}"/>
</p:tagLst>
</file>

<file path=ppt/tags/tag3.xml><?xml version="1.0" encoding="utf-8"?>
<p:tagLst xmlns:p="http://schemas.openxmlformats.org/presentationml/2006/main">
  <p:tag name="COMMONDATA" val="eyJoZGlkIjoiMDY2YWZjNGE0ZmUyODRmMWRiYmE3Y2RlNTQwZWQxNzYifQ=="/>
  <p:tag name="KSO_WPP_MARK_KEY" val="6acf0f08-a5d2-4f62-a144-766b68ab6f01"/>
</p:tagLst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5345</Words>
  <Application>WPS 演示</Application>
  <PresentationFormat>全屏显示(4:3)</PresentationFormat>
  <Paragraphs>729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楷体_GB2312</vt:lpstr>
      <vt:lpstr>新宋体</vt:lpstr>
      <vt:lpstr>Arial Narrow</vt:lpstr>
      <vt:lpstr>楷体</vt:lpstr>
      <vt:lpstr>Agency FB</vt:lpstr>
      <vt:lpstr>Britannic Bold</vt:lpstr>
      <vt:lpstr>Times-Roman</vt:lpstr>
      <vt:lpstr>Helvetica</vt:lpstr>
      <vt:lpstr>MS Mincho</vt:lpstr>
      <vt:lpstr>Yu Gothic UI</vt:lpstr>
      <vt:lpstr>微软雅黑</vt:lpstr>
      <vt:lpstr>Arial Unicode MS</vt:lpstr>
      <vt:lpstr>华文中宋</vt:lpstr>
      <vt:lpstr>诗情画意</vt:lpstr>
      <vt:lpstr>6_诗情画意</vt:lpstr>
      <vt:lpstr>PowerPoint 演示文稿</vt:lpstr>
      <vt:lpstr>PowerPoint 演示文稿</vt:lpstr>
      <vt:lpstr>PowerPoint 演示文稿</vt:lpstr>
      <vt:lpstr>6.4 实例1：车速控制电路</vt:lpstr>
      <vt:lpstr>6.4 实例1：车速控制电路</vt:lpstr>
      <vt:lpstr>6.4 实例1：车速控制电路</vt:lpstr>
      <vt:lpstr>PowerPoint 演示文稿</vt:lpstr>
      <vt:lpstr>6.4 实例1：车速控制电路</vt:lpstr>
      <vt:lpstr>6.5 实例2：串行加法器</vt:lpstr>
      <vt:lpstr>6.5 实例2：串行加法器</vt:lpstr>
      <vt:lpstr>6.5 实例2：串行加法器</vt:lpstr>
      <vt:lpstr>6.5 实例2：串行加法器</vt:lpstr>
      <vt:lpstr>6.5 实例2：串行加法器</vt:lpstr>
      <vt:lpstr>6.5 实例2：串行加法器</vt:lpstr>
      <vt:lpstr>6.5 实例2：串行加法器</vt:lpstr>
      <vt:lpstr>6.5 实例2：串行加法器</vt:lpstr>
      <vt:lpstr>6.7 实例3：串行数据比较器</vt:lpstr>
      <vt:lpstr>6.7 实例3：串行数据比较器</vt:lpstr>
      <vt:lpstr>6.7 实例3：串行数据比较器</vt:lpstr>
      <vt:lpstr>6.8 实例4：奇偶校验电路</vt:lpstr>
      <vt:lpstr>6.8 实例4：奇偶校验电路</vt:lpstr>
      <vt:lpstr>6.8 实例4：奇偶校验电路</vt:lpstr>
      <vt:lpstr>6.8 实例4：奇偶校验电路</vt:lpstr>
      <vt:lpstr>6.8 实例4：奇偶校验电路</vt:lpstr>
    </vt:vector>
  </TitlesOfParts>
  <Company>hd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韩建栋</dc:creator>
  <cp:lastModifiedBy>建栋</cp:lastModifiedBy>
  <cp:revision>1540</cp:revision>
  <cp:lastPrinted>2019-10-21T03:11:00Z</cp:lastPrinted>
  <dcterms:created xsi:type="dcterms:W3CDTF">1999-09-18T02:11:00Z</dcterms:created>
  <dcterms:modified xsi:type="dcterms:W3CDTF">2022-10-19T11:26:06Z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2</vt:r8>
  </property>
  <property fmtid="{D5CDD505-2E9C-101B-9397-08002B2CF9AE}" pid="6" name="ScreenUsage">
    <vt:r8>3</vt:r8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1</vt:r8>
  </property>
  <property fmtid="{D5CDD505-2E9C-101B-9397-08002B2CF9AE}" pid="19" name="ShowNotes">
    <vt:bool>false</vt:bool>
  </property>
  <property fmtid="{D5CDD505-2E9C-101B-9397-08002B2CF9AE}" pid="20" name="NavBtnPos">
    <vt:r8>1</vt:r8>
  </property>
  <property fmtid="{D5CDD505-2E9C-101B-9397-08002B2CF9AE}" pid="21" name="OutputDir">
    <vt:lpwstr>D:\教案\数字逻辑</vt:lpwstr>
  </property>
  <property fmtid="{D5CDD505-2E9C-101B-9397-08002B2CF9AE}" pid="22" name="KSOProductBuildVer">
    <vt:lpwstr>2052-11.1.0.12598</vt:lpwstr>
  </property>
  <property fmtid="{D5CDD505-2E9C-101B-9397-08002B2CF9AE}" pid="23" name="ICV">
    <vt:lpwstr>23F7A5A99F44451CB80F8205F03818DA</vt:lpwstr>
  </property>
</Properties>
</file>