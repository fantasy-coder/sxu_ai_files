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1380" r:id="rId3"/>
    <p:sldId id="1044" r:id="rId4"/>
    <p:sldId id="1045" r:id="rId5"/>
    <p:sldId id="610" r:id="rId6"/>
    <p:sldId id="611" r:id="rId7"/>
    <p:sldId id="607" r:id="rId8"/>
    <p:sldId id="333" r:id="rId9"/>
    <p:sldId id="624" r:id="rId10"/>
    <p:sldId id="612" r:id="rId11"/>
    <p:sldId id="615" r:id="rId12"/>
    <p:sldId id="606" r:id="rId13"/>
    <p:sldId id="616" r:id="rId14"/>
    <p:sldId id="627" r:id="rId15"/>
    <p:sldId id="264" r:id="rId16"/>
    <p:sldId id="618" r:id="rId17"/>
    <p:sldId id="619" r:id="rId18"/>
    <p:sldId id="617" r:id="rId19"/>
    <p:sldId id="633" r:id="rId20"/>
    <p:sldId id="622" r:id="rId21"/>
    <p:sldId id="631" r:id="rId22"/>
    <p:sldId id="625" r:id="rId23"/>
    <p:sldId id="626" r:id="rId24"/>
    <p:sldId id="629" r:id="rId25"/>
    <p:sldId id="630" r:id="rId26"/>
    <p:sldId id="632" r:id="rId27"/>
  </p:sldIdLst>
  <p:sldSz cx="9144000" cy="6858000" type="screen4x3"/>
  <p:notesSz cx="7104380" cy="10234930"/>
  <p:custDataLst>
    <p:tags r:id="rId3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00FF"/>
    <a:srgbClr val="008000"/>
    <a:srgbClr val="990099"/>
    <a:srgbClr val="0000FF"/>
    <a:srgbClr val="F20EDC"/>
    <a:srgbClr val="3366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1489"/>
    <p:restoredTop sz="95244"/>
  </p:normalViewPr>
  <p:slideViewPr>
    <p:cSldViewPr snapToGrid="0" showGuides="1">
      <p:cViewPr>
        <p:scale>
          <a:sx n="75" d="100"/>
          <a:sy n="75" d="100"/>
        </p:scale>
        <p:origin x="1858" y="298"/>
      </p:cViewPr>
      <p:guideLst>
        <p:guide orient="horz" pos="2155"/>
        <p:guide pos="298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76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gs" Target="tags/tag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7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t" anchorCtr="0" compatLnSpc="1"/>
          <a:lstStyle>
            <a:lvl1pPr eaLnBrk="1" hangingPunct="1">
              <a:defRPr kumimoji="1"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t" anchorCtr="0" compatLnSpc="1"/>
          <a:lstStyle>
            <a:lvl1pPr algn="r" eaLnBrk="1" hangingPunct="1">
              <a:defRPr kumimoji="1" sz="13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8" name="Rectangle 4"/>
          <p:cNvSpPr>
            <a:spLocks noRot="1" noTextEdit="1"/>
          </p:cNvSpPr>
          <p:nvPr>
            <p:ph type="sldImg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87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1200" y="4860925"/>
            <a:ext cx="5683250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b" anchorCtr="0" compatLnSpc="1"/>
          <a:lstStyle>
            <a:lvl1pPr eaLnBrk="1" hangingPunct="1">
              <a:defRPr kumimoji="1"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7203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609600"/>
            <a:ext cx="8540750" cy="54895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2.jpeg"/><Relationship Id="rId16" Type="http://schemas.openxmlformats.org/officeDocument/2006/relationships/image" Target="../media/image1.jpe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498475" y="266700"/>
            <a:ext cx="6746875" cy="7254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 noRot="1"/>
          </p:cNvSpPr>
          <p:nvPr>
            <p:ph type="body"/>
          </p:nvPr>
        </p:nvSpPr>
        <p:spPr>
          <a:xfrm>
            <a:off x="479425" y="1260475"/>
            <a:ext cx="8274050" cy="4702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6000760" y="0"/>
            <a:ext cx="3143240" cy="785793"/>
          </a:xfrm>
          <a:prstGeom prst="roundRect">
            <a:avLst>
              <a:gd name="adj" fmla="val 2375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29" name="AutoShape 4"/>
          <p:cNvSpPr/>
          <p:nvPr userDrawn="1"/>
        </p:nvSpPr>
        <p:spPr>
          <a:xfrm>
            <a:off x="609600" y="1052513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11998354"/>
              </a:cxn>
              <a:cxn ang="0">
                <a:pos x="0" y="11998354"/>
              </a:cxn>
              <a:cxn ang="0">
                <a:pos x="0" y="0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>
              <a:alpha val="100000"/>
            </a:srgbClr>
          </a:solidFill>
          <a:ln w="952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1030" name="Picture 9" descr="BJ2039"/>
          <p:cNvPicPr preferRelativeResize="0"/>
          <p:nvPr userDrawn="1"/>
        </p:nvPicPr>
        <p:blipFill>
          <a:blip r:embed="rId17"/>
          <a:stretch>
            <a:fillRect/>
          </a:stretch>
        </p:blipFill>
        <p:spPr>
          <a:xfrm>
            <a:off x="5867400" y="6096000"/>
            <a:ext cx="3276600" cy="76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53188"/>
            <a:ext cx="2133600" cy="36036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6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88350" y="6453188"/>
            <a:ext cx="720725" cy="36036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slow">
    <p:randomBar dir="vert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defRPr sz="2400">
          <a:solidFill>
            <a:srgbClr val="0000FF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o"/>
        <a:defRPr sz="30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2pPr>
      <a:lvl3pPr marL="11430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30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3pPr>
      <a:lvl4pPr marL="16002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o"/>
        <a:defRPr sz="28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4pPr>
      <a:lvl5pPr marL="20574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o"/>
        <a:defRPr sz="28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7"/>
          <p:cNvSpPr txBox="1"/>
          <p:nvPr/>
        </p:nvSpPr>
        <p:spPr>
          <a:xfrm>
            <a:off x="339725" y="2857500"/>
            <a:ext cx="7951788" cy="2454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10000"/>
              </a:spcBef>
            </a:pPr>
            <a:r>
              <a:rPr lang="zh-CN" altLang="en-US" sz="4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数字逻辑基础与</a:t>
            </a:r>
            <a:r>
              <a:rPr lang="en-US" altLang="zh-CN" sz="4800" dirty="0">
                <a:solidFill>
                  <a:srgbClr val="000000"/>
                </a:solidFill>
                <a:latin typeface="Agency FB" panose="020B0503020202020204" pitchFamily="34" charset="0"/>
                <a:ea typeface="楷体" panose="02010609060101010101" pitchFamily="49" charset="-122"/>
              </a:rPr>
              <a:t>Verilog</a:t>
            </a:r>
            <a:r>
              <a:rPr lang="zh-CN" altLang="en-US" sz="4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</a:t>
            </a:r>
            <a:endParaRPr lang="en-US" altLang="zh-CN" sz="48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 algn="r" eaLnBrk="1" hangingPunct="1">
              <a:lnSpc>
                <a:spcPct val="100000"/>
              </a:lnSpc>
              <a:spcBef>
                <a:spcPct val="10000"/>
              </a:spcBef>
            </a:pPr>
            <a:r>
              <a:rPr lang="en-US" altLang="zh-CN" sz="4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</a:t>
            </a:r>
            <a:r>
              <a:rPr lang="zh-CN" altLang="zh-CN" sz="4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时序</a:t>
            </a:r>
            <a:r>
              <a:rPr lang="zh-CN" altLang="en-US" sz="4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篇</a:t>
            </a:r>
            <a:endParaRPr lang="en-US" altLang="zh-CN" sz="48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 algn="r" eaLnBrk="1" hangingPunct="1">
              <a:lnSpc>
                <a:spcPct val="100000"/>
              </a:lnSpc>
              <a:spcBef>
                <a:spcPct val="10000"/>
              </a:spcBef>
            </a:pPr>
            <a:endParaRPr lang="en-US" altLang="zh-CN" sz="4800" b="1" dirty="0">
              <a:solidFill>
                <a:srgbClr val="0000CC"/>
              </a:solidFill>
              <a:latin typeface="Arial" panose="020B0604020202020204" pitchFamily="34" charset="0"/>
              <a:ea typeface="楷体_GB2312" charset="-122"/>
            </a:endParaRPr>
          </a:p>
        </p:txBody>
      </p:sp>
      <p:sp>
        <p:nvSpPr>
          <p:cNvPr id="1741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17412" name="灯片编号占位符 2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5650" name="Text Box 17"/>
          <p:cNvSpPr txBox="1"/>
          <p:nvPr/>
        </p:nvSpPr>
        <p:spPr>
          <a:xfrm>
            <a:off x="1422400" y="2162175"/>
            <a:ext cx="6523038" cy="1643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10000"/>
              </a:spcBef>
            </a:pPr>
            <a:endParaRPr lang="en-US" altLang="zh-CN" sz="4800" b="1" dirty="0">
              <a:solidFill>
                <a:srgbClr val="0000CC"/>
              </a:solidFill>
              <a:latin typeface="Arial" panose="020B0604020202020204" pitchFamily="34" charset="0"/>
              <a:ea typeface="楷体_GB2312" charset="-122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ct val="10000"/>
              </a:spcBef>
            </a:pPr>
            <a:r>
              <a:rPr lang="zh-CN" altLang="en-US" sz="4800" dirty="0">
                <a:solidFill>
                  <a:srgbClr val="FF0000"/>
                </a:solidFill>
                <a:latin typeface="Arial" panose="020B0604020202020204" pitchFamily="34" charset="0"/>
                <a:ea typeface="楷体_GB2312" charset="-122"/>
              </a:rPr>
              <a:t>第</a:t>
            </a:r>
            <a:r>
              <a:rPr lang="en-US" altLang="zh-CN" sz="4800" dirty="0">
                <a:solidFill>
                  <a:srgbClr val="FF0000"/>
                </a:solidFill>
                <a:latin typeface="Britannic Bold" panose="020B0903060703020204" pitchFamily="34" charset="0"/>
                <a:ea typeface="楷体_GB2312" charset="-122"/>
              </a:rPr>
              <a:t>6</a:t>
            </a:r>
            <a:r>
              <a:rPr lang="zh-CN" altLang="en-US" sz="4800" dirty="0">
                <a:solidFill>
                  <a:srgbClr val="FF0000"/>
                </a:solidFill>
                <a:latin typeface="Arial" panose="020B0604020202020204" pitchFamily="34" charset="0"/>
                <a:ea typeface="楷体_GB2312" charset="-122"/>
              </a:rPr>
              <a:t>章 同步时序电路</a:t>
            </a:r>
            <a:endParaRPr lang="zh-CN" altLang="en-US" sz="4800" dirty="0">
              <a:solidFill>
                <a:srgbClr val="FF0000"/>
              </a:solidFill>
              <a:latin typeface="Arial" panose="020B0604020202020204" pitchFamily="34" charset="0"/>
              <a:ea typeface="楷体_GB2312" charset="-122"/>
            </a:endParaRPr>
          </a:p>
        </p:txBody>
      </p:sp>
      <p:sp>
        <p:nvSpPr>
          <p:cNvPr id="155651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6674" name="内容占位符 2"/>
          <p:cNvSpPr>
            <a:spLocks noGrp="1" noRot="1"/>
          </p:cNvSpPr>
          <p:nvPr>
            <p:ph idx="1"/>
          </p:nvPr>
        </p:nvSpPr>
        <p:spPr>
          <a:xfrm>
            <a:off x="479425" y="1260475"/>
            <a:ext cx="8274050" cy="5256213"/>
          </a:xfrm>
        </p:spPr>
        <p:txBody>
          <a:bodyPr vert="horz" wrap="square" lIns="91440" tIns="45720" rIns="91440" bIns="45720" anchor="t" anchorCtr="0"/>
          <a:p>
            <a:r>
              <a:rPr lang="zh-CN" altLang="en-US" sz="2800" b="1" dirty="0">
                <a:solidFill>
                  <a:srgbClr val="FF0000"/>
                </a:solidFill>
              </a:rPr>
              <a:t>本章内容</a:t>
            </a:r>
            <a:endParaRPr lang="en-US" altLang="zh-CN" sz="2800" b="1" dirty="0">
              <a:solidFill>
                <a:srgbClr val="000000"/>
              </a:solidFill>
            </a:endParaRPr>
          </a:p>
          <a:p>
            <a:pPr>
              <a:buChar char="•"/>
            </a:pPr>
            <a:r>
              <a:rPr lang="zh-CN" altLang="en-US" b="1" dirty="0"/>
              <a:t>同步时序电路的基本设计步骤举例（</a:t>
            </a:r>
            <a:r>
              <a:rPr lang="en-US" altLang="zh-CN" b="1" dirty="0"/>
              <a:t>Moore</a:t>
            </a:r>
            <a:r>
              <a:rPr lang="zh-CN" altLang="en-US" b="1" dirty="0"/>
              <a:t>型）</a:t>
            </a:r>
            <a:endParaRPr lang="en-US" altLang="zh-CN" b="1" dirty="0"/>
          </a:p>
          <a:p>
            <a:pPr>
              <a:buChar char="•"/>
            </a:pPr>
            <a:r>
              <a:rPr lang="en-US" altLang="zh-CN" b="1" dirty="0">
                <a:solidFill>
                  <a:srgbClr val="000000"/>
                </a:solidFill>
              </a:rPr>
              <a:t>Mealy</a:t>
            </a:r>
            <a:r>
              <a:rPr lang="zh-CN" altLang="en-US" b="1" dirty="0">
                <a:solidFill>
                  <a:srgbClr val="000000"/>
                </a:solidFill>
              </a:rPr>
              <a:t>型状态机及举例</a:t>
            </a:r>
            <a:endParaRPr lang="en-US" altLang="zh-CN" b="1" dirty="0">
              <a:solidFill>
                <a:srgbClr val="000000"/>
              </a:solidFill>
            </a:endParaRPr>
          </a:p>
          <a:p>
            <a:pPr>
              <a:buChar char="•"/>
            </a:pPr>
            <a:r>
              <a:rPr lang="zh-CN" altLang="en-US" b="1" dirty="0">
                <a:solidFill>
                  <a:srgbClr val="000000"/>
                </a:solidFill>
              </a:rPr>
              <a:t>同步计数器设计与同步时序电路分析</a:t>
            </a:r>
            <a:endParaRPr lang="en-US" altLang="zh-CN" b="1" dirty="0">
              <a:solidFill>
                <a:srgbClr val="000000"/>
              </a:solidFill>
            </a:endParaRPr>
          </a:p>
          <a:p>
            <a:pPr>
              <a:buChar char="•"/>
            </a:pPr>
            <a:endParaRPr lang="en-US" altLang="zh-CN" b="1" dirty="0">
              <a:solidFill>
                <a:srgbClr val="000000"/>
              </a:solidFill>
            </a:endParaRPr>
          </a:p>
        </p:txBody>
      </p:sp>
      <p:sp>
        <p:nvSpPr>
          <p:cNvPr id="156675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7698" name="内容占位符 2"/>
          <p:cNvSpPr>
            <a:spLocks noGrp="1" noRot="1"/>
          </p:cNvSpPr>
          <p:nvPr>
            <p:ph idx="1"/>
          </p:nvPr>
        </p:nvSpPr>
        <p:spPr>
          <a:xfrm>
            <a:off x="479425" y="1260475"/>
            <a:ext cx="8389938" cy="2462213"/>
          </a:xfrm>
        </p:spPr>
        <p:txBody>
          <a:bodyPr vert="horz" wrap="square" lIns="91440" tIns="45720" rIns="91440" bIns="45720" anchor="t" anchorCtr="0"/>
          <a:p>
            <a:pPr>
              <a:spcBef>
                <a:spcPct val="0"/>
              </a:spcBef>
              <a:buChar char="•"/>
            </a:pPr>
            <a:r>
              <a:rPr lang="zh-CN" altLang="en-US" b="1" dirty="0">
                <a:solidFill>
                  <a:srgbClr val="000000"/>
                </a:solidFill>
              </a:rPr>
              <a:t>电路结构：包含</a:t>
            </a:r>
            <a:r>
              <a:rPr lang="zh-CN" altLang="en-US" b="1" u="sng" dirty="0">
                <a:solidFill>
                  <a:srgbClr val="000000"/>
                </a:solidFill>
              </a:rPr>
              <a:t>存储电路</a:t>
            </a:r>
            <a:r>
              <a:rPr lang="zh-CN" altLang="en-US" b="1" dirty="0">
                <a:solidFill>
                  <a:srgbClr val="000000"/>
                </a:solidFill>
              </a:rPr>
              <a:t>和</a:t>
            </a:r>
            <a:r>
              <a:rPr lang="zh-CN" altLang="en-US" b="1" u="sng" dirty="0">
                <a:solidFill>
                  <a:srgbClr val="000000"/>
                </a:solidFill>
              </a:rPr>
              <a:t>组合电路</a:t>
            </a:r>
            <a:r>
              <a:rPr lang="zh-CN" altLang="en-US" b="1" dirty="0">
                <a:solidFill>
                  <a:srgbClr val="000000"/>
                </a:solidFill>
              </a:rPr>
              <a:t>，且存储电路必不可少。存储电路由若干触发器构成，其输出状态</a:t>
            </a: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zh-CN" altLang="en-US" b="1" dirty="0">
                <a:solidFill>
                  <a:srgbClr val="000000"/>
                </a:solidFill>
              </a:rPr>
              <a:t>必须反馈到组合电路输入端；</a:t>
            </a:r>
            <a:endParaRPr lang="en-US" altLang="zh-CN" b="1" dirty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har char="•"/>
            </a:pPr>
            <a:r>
              <a:rPr lang="zh-CN" altLang="en-US" b="1" dirty="0">
                <a:solidFill>
                  <a:srgbClr val="000000"/>
                </a:solidFill>
              </a:rPr>
              <a:t>特点：任一时刻的输出不仅取决于该时刻的输入；还与电路原来的状态有关。如，串行加法器。</a:t>
            </a:r>
            <a:endParaRPr lang="en-US" altLang="zh-CN" b="1" dirty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har char="•"/>
            </a:pPr>
            <a:endParaRPr lang="en-US" altLang="zh-CN" b="1" i="1" dirty="0">
              <a:solidFill>
                <a:srgbClr val="000000"/>
              </a:solidFill>
            </a:endParaRPr>
          </a:p>
        </p:txBody>
      </p:sp>
      <p:sp>
        <p:nvSpPr>
          <p:cNvPr id="157699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157700" name="Rectangle 2"/>
          <p:cNvSpPr/>
          <p:nvPr/>
        </p:nvSpPr>
        <p:spPr>
          <a:xfrm>
            <a:off x="1162050" y="5692775"/>
            <a:ext cx="4732338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图</a:t>
            </a:r>
            <a:r>
              <a:rPr lang="en-US" altLang="zh-CN" sz="2000" b="1" dirty="0">
                <a:solidFill>
                  <a:srgbClr val="000000"/>
                </a:solidFill>
              </a:rPr>
              <a:t>6.1.</a:t>
            </a:r>
            <a:r>
              <a:rPr lang="zh-CN" altLang="en-US" sz="2000" b="1" dirty="0">
                <a:solidFill>
                  <a:srgbClr val="000000"/>
                </a:solidFill>
              </a:rPr>
              <a:t>时序电路的一般形式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pic>
        <p:nvPicPr>
          <p:cNvPr id="10" name="Picture 3" descr="6-1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850" y="3402013"/>
            <a:ext cx="2311400" cy="24622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7702" name="Rectangle 2"/>
          <p:cNvSpPr/>
          <p:nvPr/>
        </p:nvSpPr>
        <p:spPr>
          <a:xfrm>
            <a:off x="6637338" y="5678488"/>
            <a:ext cx="191135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串行加法器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12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6.1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时序电路介绍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pic>
        <p:nvPicPr>
          <p:cNvPr id="157704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88" y="3738563"/>
            <a:ext cx="5397500" cy="17891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722" name="内容占位符 2"/>
          <p:cNvSpPr>
            <a:spLocks noGrp="1" noRot="1"/>
          </p:cNvSpPr>
          <p:nvPr>
            <p:ph idx="1"/>
          </p:nvPr>
        </p:nvSpPr>
        <p:spPr>
          <a:xfrm>
            <a:off x="523875" y="1244600"/>
            <a:ext cx="8389938" cy="2608263"/>
          </a:xfrm>
        </p:spPr>
        <p:txBody>
          <a:bodyPr vert="horz" wrap="square" lIns="91440" tIns="45720" rIns="91440" bIns="45720" anchor="t" anchorCtr="0"/>
          <a:p>
            <a:r>
              <a:rPr lang="zh-CN" altLang="en-US" b="1" dirty="0">
                <a:solidFill>
                  <a:srgbClr val="000000"/>
                </a:solidFill>
              </a:rPr>
              <a:t>时序电路中的三类信号（对应三类方程）：</a:t>
            </a:r>
            <a:endParaRPr lang="en-US" altLang="zh-CN" b="1" dirty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har char="•"/>
            </a:pPr>
            <a:r>
              <a:rPr lang="zh-CN" altLang="en-US" b="1" dirty="0">
                <a:solidFill>
                  <a:srgbClr val="000000"/>
                </a:solidFill>
              </a:rPr>
              <a:t>存储电路的输出</a:t>
            </a:r>
            <a:r>
              <a:rPr lang="zh-CN" altLang="en-US" b="1" u="sng" dirty="0">
                <a:solidFill>
                  <a:srgbClr val="C00000"/>
                </a:solidFill>
              </a:rPr>
              <a:t>状态</a:t>
            </a:r>
            <a:r>
              <a:rPr lang="en-US" altLang="zh-CN" b="1" i="1" u="sng" dirty="0">
                <a:solidFill>
                  <a:srgbClr val="C00000"/>
                </a:solidFill>
              </a:rPr>
              <a:t>q</a:t>
            </a:r>
            <a:r>
              <a:rPr lang="zh-CN" altLang="en-US" b="1" dirty="0">
                <a:solidFill>
                  <a:srgbClr val="000000"/>
                </a:solidFill>
              </a:rPr>
              <a:t>，与输入信号</a:t>
            </a:r>
            <a:r>
              <a:rPr lang="en-US" altLang="zh-CN" b="1" i="1" dirty="0">
                <a:solidFill>
                  <a:srgbClr val="000000"/>
                </a:solidFill>
              </a:rPr>
              <a:t>W</a:t>
            </a:r>
            <a:r>
              <a:rPr lang="zh-CN" altLang="en-US" b="1" dirty="0">
                <a:solidFill>
                  <a:srgbClr val="000000"/>
                </a:solidFill>
              </a:rPr>
              <a:t>共同决定组合电路</a:t>
            </a:r>
            <a:r>
              <a:rPr lang="en-US" altLang="zh-CN" b="1" dirty="0">
                <a:solidFill>
                  <a:srgbClr val="000000"/>
                </a:solidFill>
              </a:rPr>
              <a:t>I</a:t>
            </a:r>
            <a:r>
              <a:rPr lang="zh-CN" altLang="en-US" b="1" dirty="0">
                <a:solidFill>
                  <a:srgbClr val="000000"/>
                </a:solidFill>
              </a:rPr>
              <a:t>的输出，为存储电路提供输入</a:t>
            </a:r>
            <a:r>
              <a:rPr lang="zh-CN" altLang="en-US" b="1" u="sng" dirty="0">
                <a:solidFill>
                  <a:srgbClr val="C00000"/>
                </a:solidFill>
              </a:rPr>
              <a:t>激励信号</a:t>
            </a:r>
            <a:r>
              <a:rPr lang="en-US" altLang="zh-CN" b="1" i="1" u="sng" dirty="0">
                <a:solidFill>
                  <a:srgbClr val="C00000"/>
                </a:solidFill>
              </a:rPr>
              <a:t>D</a:t>
            </a:r>
            <a:r>
              <a:rPr lang="zh-CN" altLang="en-US" b="1" dirty="0">
                <a:solidFill>
                  <a:srgbClr val="000000"/>
                </a:solidFill>
              </a:rPr>
              <a:t>。</a:t>
            </a:r>
            <a:endParaRPr lang="en-US" altLang="zh-CN" b="1" dirty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har char="•"/>
            </a:pPr>
            <a:r>
              <a:rPr lang="zh-CN" altLang="en-US" b="1" dirty="0">
                <a:solidFill>
                  <a:srgbClr val="000000"/>
                </a:solidFill>
              </a:rPr>
              <a:t>存储电路状态</a:t>
            </a: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zh-CN" altLang="en-US" b="1" dirty="0">
                <a:solidFill>
                  <a:srgbClr val="000000"/>
                </a:solidFill>
              </a:rPr>
              <a:t>和输入信号</a:t>
            </a:r>
            <a:r>
              <a:rPr lang="en-US" altLang="zh-CN" b="1" i="1" dirty="0">
                <a:solidFill>
                  <a:srgbClr val="000000"/>
                </a:solidFill>
              </a:rPr>
              <a:t>W</a:t>
            </a:r>
            <a:r>
              <a:rPr lang="zh-CN" altLang="en-US" b="1" dirty="0">
                <a:solidFill>
                  <a:srgbClr val="000000"/>
                </a:solidFill>
              </a:rPr>
              <a:t>作为组合电路</a:t>
            </a:r>
            <a:r>
              <a:rPr lang="en-US" altLang="zh-CN" b="1" dirty="0">
                <a:solidFill>
                  <a:srgbClr val="000000"/>
                </a:solidFill>
              </a:rPr>
              <a:t>II</a:t>
            </a:r>
            <a:r>
              <a:rPr lang="zh-CN" altLang="en-US" b="1" dirty="0">
                <a:solidFill>
                  <a:srgbClr val="000000"/>
                </a:solidFill>
              </a:rPr>
              <a:t>的输入，产生</a:t>
            </a:r>
            <a:r>
              <a:rPr lang="zh-CN" altLang="en-US" b="1" u="sng" dirty="0">
                <a:solidFill>
                  <a:srgbClr val="C00000"/>
                </a:solidFill>
              </a:rPr>
              <a:t>输出</a:t>
            </a:r>
            <a:r>
              <a:rPr lang="en-US" altLang="zh-CN" b="1" i="1" u="sng" dirty="0">
                <a:solidFill>
                  <a:srgbClr val="C00000"/>
                </a:solidFill>
              </a:rPr>
              <a:t>Z</a:t>
            </a:r>
            <a:r>
              <a:rPr lang="zh-CN" altLang="en-US" b="1" i="1" dirty="0">
                <a:solidFill>
                  <a:srgbClr val="000000"/>
                </a:solidFill>
              </a:rPr>
              <a:t>。</a:t>
            </a:r>
            <a:endParaRPr lang="en-US" altLang="zh-CN" b="1" i="1" dirty="0">
              <a:solidFill>
                <a:srgbClr val="000000"/>
              </a:solidFill>
            </a:endParaRPr>
          </a:p>
        </p:txBody>
      </p:sp>
      <p:sp>
        <p:nvSpPr>
          <p:cNvPr id="158723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158724" name="Rectangle 2"/>
          <p:cNvSpPr/>
          <p:nvPr/>
        </p:nvSpPr>
        <p:spPr>
          <a:xfrm>
            <a:off x="2068513" y="5843588"/>
            <a:ext cx="473075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图</a:t>
            </a:r>
            <a:r>
              <a:rPr lang="en-US" altLang="zh-CN" sz="2000" b="1" dirty="0">
                <a:solidFill>
                  <a:srgbClr val="000000"/>
                </a:solidFill>
              </a:rPr>
              <a:t>6.1.</a:t>
            </a:r>
            <a:r>
              <a:rPr lang="zh-CN" altLang="en-US" sz="2000" b="1" dirty="0">
                <a:solidFill>
                  <a:srgbClr val="000000"/>
                </a:solidFill>
              </a:rPr>
              <a:t>时序电路的一般形式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10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6.1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时序电路介绍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pic>
        <p:nvPicPr>
          <p:cNvPr id="15872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3619500"/>
            <a:ext cx="6008688" cy="1993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" name="TextBox 1"/>
          <p:cNvSpPr txBox="1">
            <a:spLocks noChangeArrowheads="1"/>
          </p:cNvSpPr>
          <p:nvPr/>
        </p:nvSpPr>
        <p:spPr bwMode="auto">
          <a:xfrm>
            <a:off x="538163" y="1271588"/>
            <a:ext cx="8066088" cy="24828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130000"/>
              </a:lnSpc>
              <a:spcBef>
                <a:spcPct val="20000"/>
              </a:spcBef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根据存储电路中触发器的动作特点不同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同步电路（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Synchronous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）：所有触发器具有统一的时钟源；触发器状态变化与时钟脉冲同步。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异步电路（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Asynchronous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）：没有统一的时钟脉冲，电路中触发器的状态更新有先有后，异步进行。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538163" y="3744913"/>
            <a:ext cx="8304213" cy="1447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130000"/>
              </a:lnSpc>
              <a:spcBef>
                <a:spcPct val="20000"/>
              </a:spcBef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根据触发器的输出是否与输入有关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穆尔型（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Moore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输出仅取决于当前电路状态。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米利型（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Mealy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）：输出与当前的状态及输入信号有关。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时序电路分类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59749" name="TextBox 1"/>
          <p:cNvSpPr txBox="1"/>
          <p:nvPr/>
        </p:nvSpPr>
        <p:spPr>
          <a:xfrm>
            <a:off x="538163" y="5586413"/>
            <a:ext cx="8181975" cy="463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b="1" dirty="0"/>
              <a:t>时序电路又称</a:t>
            </a:r>
            <a:r>
              <a:rPr lang="zh-CN" altLang="en-US" b="1" u="sng" dirty="0"/>
              <a:t>有限状态机</a:t>
            </a:r>
            <a:r>
              <a:rPr lang="zh-CN" altLang="en-US" b="1" dirty="0"/>
              <a:t>（</a:t>
            </a:r>
            <a:r>
              <a:rPr lang="en-US" altLang="zh-CN" b="1" dirty="0"/>
              <a:t>FSM</a:t>
            </a:r>
            <a:r>
              <a:rPr lang="zh-CN" altLang="en-US" b="1" dirty="0"/>
              <a:t>，</a:t>
            </a:r>
            <a:r>
              <a:rPr lang="en-US" altLang="zh-CN" b="1" dirty="0"/>
              <a:t>Finite State Machines</a:t>
            </a:r>
            <a:r>
              <a:rPr lang="zh-CN" altLang="en-US" b="1" dirty="0"/>
              <a:t>）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0770" name="标题 2"/>
          <p:cNvSpPr txBox="1"/>
          <p:nvPr/>
        </p:nvSpPr>
        <p:spPr>
          <a:xfrm>
            <a:off x="498475" y="523875"/>
            <a:ext cx="6746875" cy="7254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楷体_GB2312" charset="-122"/>
              </a:rPr>
              <a:t>6.3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楷体_GB2312" charset="-122"/>
              </a:rPr>
              <a:t>同步时序电路举例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  <a:ea typeface="楷体_GB2312" charset="-122"/>
            </a:endParaRPr>
          </a:p>
        </p:txBody>
      </p:sp>
      <p:pic>
        <p:nvPicPr>
          <p:cNvPr id="16077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1827213"/>
            <a:ext cx="3135313" cy="4051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0772" name="TextBox 1"/>
          <p:cNvSpPr txBox="1"/>
          <p:nvPr/>
        </p:nvSpPr>
        <p:spPr>
          <a:xfrm>
            <a:off x="498475" y="1222375"/>
            <a:ext cx="818197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b="1" dirty="0">
                <a:solidFill>
                  <a:srgbClr val="000000"/>
                </a:solidFill>
              </a:rPr>
              <a:t>设计同步时序逻辑电路的一般步骤：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cxnSp>
        <p:nvCxnSpPr>
          <p:cNvPr id="160773" name="直接箭头连接符 3"/>
          <p:cNvCxnSpPr/>
          <p:nvPr/>
        </p:nvCxnSpPr>
        <p:spPr>
          <a:xfrm>
            <a:off x="3422650" y="2938463"/>
            <a:ext cx="898525" cy="0"/>
          </a:xfrm>
          <a:prstGeom prst="straightConnector1">
            <a:avLst/>
          </a:prstGeom>
          <a:ln w="19050" cap="flat" cmpd="sng">
            <a:solidFill>
              <a:srgbClr val="C00000"/>
            </a:solidFill>
            <a:prstDash val="sysDash"/>
            <a:headEnd type="none" w="med" len="med"/>
            <a:tailEnd type="triangle" w="med" len="lg"/>
          </a:ln>
        </p:spPr>
      </p:cxnSp>
      <p:sp>
        <p:nvSpPr>
          <p:cNvPr id="160774" name="Rectangle 2"/>
          <p:cNvSpPr/>
          <p:nvPr/>
        </p:nvSpPr>
        <p:spPr>
          <a:xfrm>
            <a:off x="4324350" y="2327275"/>
            <a:ext cx="3532188" cy="1012825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ys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确定电路输入、输出，状态个数，以及每个状态所代表的意义，得到状态转换图</a:t>
            </a:r>
            <a:r>
              <a:rPr lang="en-US" altLang="zh-CN" sz="2000" b="1" dirty="0">
                <a:solidFill>
                  <a:srgbClr val="000000"/>
                </a:solidFill>
              </a:rPr>
              <a:t>/</a:t>
            </a:r>
            <a:r>
              <a:rPr lang="zh-CN" altLang="en-US" sz="2000" b="1" dirty="0">
                <a:solidFill>
                  <a:srgbClr val="000000"/>
                </a:solidFill>
              </a:rPr>
              <a:t>表。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cxnSp>
        <p:nvCxnSpPr>
          <p:cNvPr id="160775" name="直接箭头连接符 21"/>
          <p:cNvCxnSpPr/>
          <p:nvPr/>
        </p:nvCxnSpPr>
        <p:spPr>
          <a:xfrm>
            <a:off x="3422650" y="3738563"/>
            <a:ext cx="898525" cy="0"/>
          </a:xfrm>
          <a:prstGeom prst="straightConnector1">
            <a:avLst/>
          </a:prstGeom>
          <a:ln w="19050" cap="flat" cmpd="sng">
            <a:solidFill>
              <a:srgbClr val="C00000"/>
            </a:solidFill>
            <a:prstDash val="sysDash"/>
            <a:headEnd type="none" w="med" len="med"/>
            <a:tailEnd type="triangle" w="med" len="lg"/>
          </a:ln>
        </p:spPr>
      </p:cxnSp>
      <p:sp>
        <p:nvSpPr>
          <p:cNvPr id="160776" name="Rectangle 2"/>
          <p:cNvSpPr/>
          <p:nvPr/>
        </p:nvSpPr>
        <p:spPr>
          <a:xfrm>
            <a:off x="4324350" y="3411538"/>
            <a:ext cx="3532188" cy="736600"/>
          </a:xfrm>
          <a:prstGeom prst="rect">
            <a:avLst/>
          </a:prstGeom>
          <a:noFill/>
          <a:ln w="12700" cap="flat" cmpd="sng">
            <a:solidFill>
              <a:srgbClr val="C00000"/>
            </a:solidFill>
            <a:prstDash val="sys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降低电路成本，对状态进行优化，并用二进制对状态编码。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cxnSp>
        <p:nvCxnSpPr>
          <p:cNvPr id="160777" name="直接箭头连接符 23"/>
          <p:cNvCxnSpPr/>
          <p:nvPr/>
        </p:nvCxnSpPr>
        <p:spPr>
          <a:xfrm>
            <a:off x="3822700" y="4583113"/>
            <a:ext cx="504825" cy="0"/>
          </a:xfrm>
          <a:prstGeom prst="straightConnector1">
            <a:avLst/>
          </a:prstGeom>
          <a:ln w="19050" cap="flat" cmpd="sng">
            <a:solidFill>
              <a:srgbClr val="C00000"/>
            </a:solidFill>
            <a:prstDash val="sysDash"/>
            <a:headEnd type="none" w="med" len="med"/>
            <a:tailEnd type="triangle" w="med" len="lg"/>
          </a:ln>
        </p:spPr>
      </p:cxnSp>
      <p:sp>
        <p:nvSpPr>
          <p:cNvPr id="160778" name="Rectangle 2"/>
          <p:cNvSpPr/>
          <p:nvPr/>
        </p:nvSpPr>
        <p:spPr>
          <a:xfrm>
            <a:off x="4324350" y="4214813"/>
            <a:ext cx="3532188" cy="738187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ys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激励方程可以由次态方程确定，也可以由驱动表确定。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cxnSp>
        <p:nvCxnSpPr>
          <p:cNvPr id="160779" name="直接箭头连接符 25"/>
          <p:cNvCxnSpPr/>
          <p:nvPr/>
        </p:nvCxnSpPr>
        <p:spPr>
          <a:xfrm>
            <a:off x="3422650" y="5518150"/>
            <a:ext cx="898525" cy="0"/>
          </a:xfrm>
          <a:prstGeom prst="straightConnector1">
            <a:avLst/>
          </a:prstGeom>
          <a:ln w="19050" cap="flat" cmpd="sng">
            <a:solidFill>
              <a:srgbClr val="C00000"/>
            </a:solidFill>
            <a:prstDash val="sysDash"/>
            <a:headEnd type="none" w="med" len="med"/>
            <a:tailEnd type="triangle" w="med" len="lg"/>
          </a:ln>
        </p:spPr>
      </p:cxnSp>
      <p:sp>
        <p:nvSpPr>
          <p:cNvPr id="160780" name="Rectangle 2"/>
          <p:cNvSpPr/>
          <p:nvPr/>
        </p:nvSpPr>
        <p:spPr>
          <a:xfrm>
            <a:off x="4316413" y="5091113"/>
            <a:ext cx="3540125" cy="7366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ys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自启动可以通过设置复位信号，也可以通过修改电路来解决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1794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161795" name="TextBox 1"/>
          <p:cNvSpPr txBox="1"/>
          <p:nvPr/>
        </p:nvSpPr>
        <p:spPr>
          <a:xfrm>
            <a:off x="498475" y="1252538"/>
            <a:ext cx="8305800" cy="1277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b="1" dirty="0">
                <a:solidFill>
                  <a:srgbClr val="000000"/>
                </a:solidFill>
              </a:rPr>
              <a:t>通过一个简单实例介绍时序电路的设计过程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b="1" dirty="0">
                <a:solidFill>
                  <a:srgbClr val="000000"/>
                </a:solidFill>
              </a:rPr>
              <a:t>例</a:t>
            </a:r>
            <a:r>
              <a:rPr lang="en-US" altLang="zh-CN" b="1" dirty="0">
                <a:solidFill>
                  <a:srgbClr val="000000"/>
                </a:solidFill>
              </a:rPr>
              <a:t>1</a:t>
            </a:r>
            <a:r>
              <a:rPr lang="zh-CN" altLang="en-US" b="1" dirty="0">
                <a:solidFill>
                  <a:srgbClr val="000000"/>
                </a:solidFill>
              </a:rPr>
              <a:t>：车速自动控制电路。设计要求：按照一定时间间隔检测车速，若两次或以上连续检测到超速，产生控制信号减速。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同步时序电路举例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pic>
        <p:nvPicPr>
          <p:cNvPr id="161797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613" y="4878388"/>
            <a:ext cx="5565775" cy="1073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1798" name="Rectangle 2"/>
          <p:cNvSpPr/>
          <p:nvPr/>
        </p:nvSpPr>
        <p:spPr>
          <a:xfrm>
            <a:off x="1901825" y="6092825"/>
            <a:ext cx="3714750" cy="3603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图</a:t>
            </a:r>
            <a:r>
              <a:rPr lang="en-US" altLang="zh-CN" sz="2000" b="1" dirty="0">
                <a:solidFill>
                  <a:srgbClr val="000000"/>
                </a:solidFill>
              </a:rPr>
              <a:t>6.2 </a:t>
            </a:r>
            <a:r>
              <a:rPr lang="zh-CN" altLang="en-US" sz="2000" b="1" dirty="0">
                <a:solidFill>
                  <a:srgbClr val="000000"/>
                </a:solidFill>
              </a:rPr>
              <a:t>输入输出的信号时序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161799" name="Rectangle 16"/>
          <p:cNvSpPr/>
          <p:nvPr/>
        </p:nvSpPr>
        <p:spPr>
          <a:xfrm>
            <a:off x="569913" y="2457450"/>
            <a:ext cx="8075612" cy="1001713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、逻辑抽象</a:t>
            </a:r>
            <a:r>
              <a:rPr lang="en-US" altLang="zh-CN" b="1" dirty="0">
                <a:solidFill>
                  <a:srgbClr val="C00000"/>
                </a:solidFill>
              </a:rPr>
              <a:t>-</a:t>
            </a:r>
            <a:r>
              <a:rPr lang="zh-CN" altLang="en-US" b="1" dirty="0">
                <a:solidFill>
                  <a:srgbClr val="C00000"/>
                </a:solidFill>
              </a:rPr>
              <a:t>建立原始状态图和状态表。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en-US" altLang="zh-CN" b="1" dirty="0"/>
              <a:t>① </a:t>
            </a:r>
            <a:r>
              <a:rPr lang="zh-CN" altLang="en-US" b="1" dirty="0"/>
              <a:t>确定输入、输出变量，定义其对应的含义</a:t>
            </a:r>
            <a:endParaRPr lang="en-US" altLang="zh-CN" b="1" dirty="0">
              <a:ea typeface="Times New Roman" panose="02020603050405020304" pitchFamily="18" charset="0"/>
            </a:endParaRPr>
          </a:p>
        </p:txBody>
      </p:sp>
      <p:sp>
        <p:nvSpPr>
          <p:cNvPr id="161800" name="TextBox 1"/>
          <p:cNvSpPr txBox="1"/>
          <p:nvPr/>
        </p:nvSpPr>
        <p:spPr>
          <a:xfrm>
            <a:off x="498475" y="3475038"/>
            <a:ext cx="8305800" cy="13255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har char="•"/>
            </a:pPr>
            <a:r>
              <a:rPr lang="zh-CN" altLang="en-US" sz="2300" b="1" dirty="0">
                <a:solidFill>
                  <a:srgbClr val="000000"/>
                </a:solidFill>
              </a:rPr>
              <a:t>利用一个时钟定义时间间隔，测速仪给出</a:t>
            </a:r>
            <a:r>
              <a:rPr lang="en-US" altLang="zh-CN" sz="2300" b="1" i="1" dirty="0">
                <a:solidFill>
                  <a:srgbClr val="000000"/>
                </a:solidFill>
              </a:rPr>
              <a:t>w</a:t>
            </a:r>
            <a:r>
              <a:rPr lang="zh-CN" altLang="en-US" sz="2300" b="1" dirty="0">
                <a:solidFill>
                  <a:srgbClr val="000000"/>
                </a:solidFill>
              </a:rPr>
              <a:t>信号，</a:t>
            </a:r>
            <a:r>
              <a:rPr lang="en-US" altLang="zh-CN" sz="2300" b="1" i="1" dirty="0">
                <a:solidFill>
                  <a:srgbClr val="000000"/>
                </a:solidFill>
              </a:rPr>
              <a:t>w</a:t>
            </a:r>
            <a:r>
              <a:rPr lang="en-US" altLang="zh-CN" sz="2300" b="1" dirty="0">
                <a:solidFill>
                  <a:srgbClr val="000000"/>
                </a:solidFill>
              </a:rPr>
              <a:t>=1</a:t>
            </a:r>
            <a:r>
              <a:rPr lang="zh-CN" altLang="en-US" sz="2300" b="1" dirty="0">
                <a:solidFill>
                  <a:srgbClr val="000000"/>
                </a:solidFill>
              </a:rPr>
              <a:t>表示超速，</a:t>
            </a:r>
            <a:r>
              <a:rPr lang="en-US" altLang="zh-CN" sz="2300" b="1" dirty="0">
                <a:solidFill>
                  <a:srgbClr val="000000"/>
                </a:solidFill>
              </a:rPr>
              <a:t> </a:t>
            </a:r>
            <a:r>
              <a:rPr lang="en-US" altLang="zh-CN" sz="2300" b="1" i="1" dirty="0">
                <a:solidFill>
                  <a:srgbClr val="000000"/>
                </a:solidFill>
              </a:rPr>
              <a:t>w</a:t>
            </a:r>
            <a:r>
              <a:rPr lang="en-US" altLang="zh-CN" sz="2300" b="1" dirty="0">
                <a:solidFill>
                  <a:srgbClr val="000000"/>
                </a:solidFill>
              </a:rPr>
              <a:t>=0</a:t>
            </a:r>
            <a:r>
              <a:rPr lang="zh-CN" altLang="en-US" sz="2300" b="1" dirty="0">
                <a:solidFill>
                  <a:srgbClr val="000000"/>
                </a:solidFill>
              </a:rPr>
              <a:t>表示未超速。当相邻时钟周期</a:t>
            </a:r>
            <a:r>
              <a:rPr lang="en-US" altLang="zh-CN" sz="2300" b="1" i="1" dirty="0">
                <a:solidFill>
                  <a:srgbClr val="000000"/>
                </a:solidFill>
              </a:rPr>
              <a:t>w</a:t>
            </a:r>
            <a:r>
              <a:rPr lang="zh-CN" altLang="en-US" sz="2300" b="1" dirty="0">
                <a:solidFill>
                  <a:srgbClr val="000000"/>
                </a:solidFill>
              </a:rPr>
              <a:t>连续出现</a:t>
            </a:r>
            <a:r>
              <a:rPr lang="en-US" altLang="zh-CN" sz="2300" b="1" dirty="0">
                <a:solidFill>
                  <a:srgbClr val="000000"/>
                </a:solidFill>
              </a:rPr>
              <a:t>11</a:t>
            </a:r>
            <a:r>
              <a:rPr lang="zh-CN" altLang="en-US" sz="2300" b="1" dirty="0">
                <a:solidFill>
                  <a:srgbClr val="000000"/>
                </a:solidFill>
              </a:rPr>
              <a:t>，在下一个时钟沿输出控制信号</a:t>
            </a:r>
            <a:r>
              <a:rPr lang="en-US" altLang="zh-CN" sz="2300" b="1" i="1" dirty="0">
                <a:solidFill>
                  <a:srgbClr val="000000"/>
                </a:solidFill>
              </a:rPr>
              <a:t>z</a:t>
            </a:r>
            <a:r>
              <a:rPr lang="en-US" altLang="zh-CN" sz="2300" b="1" dirty="0">
                <a:solidFill>
                  <a:srgbClr val="000000"/>
                </a:solidFill>
              </a:rPr>
              <a:t>=1</a:t>
            </a:r>
            <a:r>
              <a:rPr lang="zh-CN" altLang="en-US" sz="2300" b="1" dirty="0">
                <a:solidFill>
                  <a:srgbClr val="000000"/>
                </a:solidFill>
              </a:rPr>
              <a:t>，否则</a:t>
            </a:r>
            <a:r>
              <a:rPr lang="en-US" altLang="zh-CN" sz="2300" b="1" i="1" dirty="0">
                <a:solidFill>
                  <a:srgbClr val="000000"/>
                </a:solidFill>
              </a:rPr>
              <a:t>z</a:t>
            </a:r>
            <a:r>
              <a:rPr lang="en-US" altLang="zh-CN" sz="2300" b="1" dirty="0">
                <a:solidFill>
                  <a:srgbClr val="000000"/>
                </a:solidFill>
              </a:rPr>
              <a:t>=0.</a:t>
            </a:r>
            <a:endParaRPr lang="en-US" altLang="zh-CN" sz="23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pic>
        <p:nvPicPr>
          <p:cNvPr id="16180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513" y="4521200"/>
            <a:ext cx="2235200" cy="1536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2818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162819" name="TextBox 1"/>
          <p:cNvSpPr txBox="1"/>
          <p:nvPr/>
        </p:nvSpPr>
        <p:spPr>
          <a:xfrm>
            <a:off x="498475" y="1252538"/>
            <a:ext cx="8305800" cy="14970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b="1" dirty="0">
                <a:solidFill>
                  <a:srgbClr val="000000"/>
                </a:solidFill>
              </a:rPr>
              <a:t>例，汽车速度自动控制电路：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0" lvl="0" indent="0">
              <a:lnSpc>
                <a:spcPct val="110000"/>
              </a:lnSpc>
              <a:buClr>
                <a:srgbClr val="007A77"/>
              </a:buClr>
            </a:pPr>
            <a:r>
              <a:rPr lang="en-US" altLang="zh-CN" b="1" dirty="0">
                <a:latin typeface="宋体" panose="02010600030101010101" pitchFamily="2" charset="-122"/>
              </a:rPr>
              <a:t>②</a:t>
            </a:r>
            <a:r>
              <a:rPr lang="zh-CN" altLang="en-US" b="1" dirty="0"/>
              <a:t>确定电路的状态数，建立原始状态转换图或状态表</a:t>
            </a:r>
            <a:endParaRPr lang="en-US" altLang="zh-CN" b="1" dirty="0"/>
          </a:p>
          <a:p>
            <a:pPr marL="0" lv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har char="•"/>
            </a:pPr>
            <a:r>
              <a:rPr lang="zh-CN" altLang="en-US" b="1" dirty="0">
                <a:solidFill>
                  <a:srgbClr val="000000"/>
                </a:solidFill>
              </a:rPr>
              <a:t> 有限状态机中的状态数，影响触发器的使用个数。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pic>
        <p:nvPicPr>
          <p:cNvPr id="162820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038" y="2755900"/>
            <a:ext cx="3762375" cy="3405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2821" name="TextBox 1"/>
          <p:cNvSpPr txBox="1"/>
          <p:nvPr/>
        </p:nvSpPr>
        <p:spPr>
          <a:xfrm>
            <a:off x="4340225" y="2995613"/>
            <a:ext cx="4554538" cy="3140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har char="•"/>
            </a:pPr>
            <a:r>
              <a:rPr lang="zh-CN" altLang="en-US" b="1" u="sng" dirty="0">
                <a:solidFill>
                  <a:srgbClr val="C00000"/>
                </a:solidFill>
              </a:rPr>
              <a:t>状态</a:t>
            </a:r>
            <a:r>
              <a:rPr lang="en-US" altLang="zh-CN" b="1" u="sng" dirty="0">
                <a:solidFill>
                  <a:srgbClr val="C00000"/>
                </a:solidFill>
              </a:rPr>
              <a:t>A</a:t>
            </a:r>
            <a:r>
              <a:rPr lang="zh-CN" altLang="en-US" b="1" dirty="0">
                <a:solidFill>
                  <a:srgbClr val="000000"/>
                </a:solidFill>
              </a:rPr>
              <a:t>：初始态。若连续两次检测到</a:t>
            </a:r>
            <a:r>
              <a:rPr lang="en-US" altLang="zh-CN" b="1" i="1" dirty="0">
                <a:solidFill>
                  <a:srgbClr val="000000"/>
                </a:solidFill>
              </a:rPr>
              <a:t>w</a:t>
            </a:r>
            <a:r>
              <a:rPr lang="en-US" altLang="zh-CN" b="1" dirty="0">
                <a:solidFill>
                  <a:srgbClr val="000000"/>
                </a:solidFill>
              </a:rPr>
              <a:t>=0</a:t>
            </a:r>
            <a:r>
              <a:rPr lang="zh-CN" altLang="en-US" b="1" dirty="0">
                <a:solidFill>
                  <a:srgbClr val="000000"/>
                </a:solidFill>
              </a:rPr>
              <a:t>，或</a:t>
            </a:r>
            <a:r>
              <a:rPr lang="en-US" altLang="zh-CN" b="1" i="1" dirty="0">
                <a:solidFill>
                  <a:srgbClr val="000000"/>
                </a:solidFill>
              </a:rPr>
              <a:t>w</a:t>
            </a:r>
            <a:r>
              <a:rPr lang="zh-CN" altLang="en-US" b="1" dirty="0">
                <a:solidFill>
                  <a:srgbClr val="000000"/>
                </a:solidFill>
              </a:rPr>
              <a:t>由</a:t>
            </a:r>
            <a:r>
              <a:rPr lang="en-US" altLang="zh-CN" b="1" dirty="0">
                <a:solidFill>
                  <a:srgbClr val="000000"/>
                </a:solidFill>
              </a:rPr>
              <a:t>1</a:t>
            </a:r>
            <a:r>
              <a:rPr lang="zh-CN" altLang="en-US" b="1" dirty="0">
                <a:solidFill>
                  <a:srgbClr val="000000"/>
                </a:solidFill>
              </a:rPr>
              <a:t>到</a:t>
            </a:r>
            <a:r>
              <a:rPr lang="en-US" altLang="zh-CN" b="1" dirty="0">
                <a:solidFill>
                  <a:srgbClr val="000000"/>
                </a:solidFill>
              </a:rPr>
              <a:t>0</a:t>
            </a:r>
            <a:r>
              <a:rPr lang="zh-CN" altLang="en-US" b="1" dirty="0">
                <a:solidFill>
                  <a:srgbClr val="000000"/>
                </a:solidFill>
              </a:rPr>
              <a:t>，则保持（回到）状态</a:t>
            </a:r>
            <a:r>
              <a:rPr lang="en-US" altLang="zh-CN" b="1" dirty="0">
                <a:solidFill>
                  <a:srgbClr val="000000"/>
                </a:solidFill>
              </a:rPr>
              <a:t>A</a:t>
            </a:r>
            <a:r>
              <a:rPr lang="zh-CN" altLang="en-US" b="1" dirty="0">
                <a:solidFill>
                  <a:srgbClr val="000000"/>
                </a:solidFill>
              </a:rPr>
              <a:t>，且</a:t>
            </a:r>
            <a:r>
              <a:rPr lang="en-US" altLang="zh-CN" b="1" i="1" dirty="0">
                <a:solidFill>
                  <a:srgbClr val="000000"/>
                </a:solidFill>
              </a:rPr>
              <a:t>z</a:t>
            </a:r>
            <a:r>
              <a:rPr lang="en-US" altLang="zh-CN" b="1" dirty="0">
                <a:solidFill>
                  <a:srgbClr val="000000"/>
                </a:solidFill>
              </a:rPr>
              <a:t>=0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342900" lvl="0" indent="-34290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har char="•"/>
            </a:pPr>
            <a:r>
              <a:rPr lang="zh-CN" altLang="en-US" b="1" u="sng" dirty="0">
                <a:solidFill>
                  <a:srgbClr val="C00000"/>
                </a:solidFill>
              </a:rPr>
              <a:t>状态</a:t>
            </a:r>
            <a:r>
              <a:rPr lang="en-US" altLang="zh-CN" b="1" u="sng" dirty="0">
                <a:solidFill>
                  <a:srgbClr val="C00000"/>
                </a:solidFill>
              </a:rPr>
              <a:t>B</a:t>
            </a:r>
            <a:r>
              <a:rPr lang="zh-CN" altLang="en-US" b="1" dirty="0">
                <a:solidFill>
                  <a:srgbClr val="000000"/>
                </a:solidFill>
              </a:rPr>
              <a:t>：若第一次检测到</a:t>
            </a:r>
            <a:r>
              <a:rPr lang="en-US" altLang="zh-CN" b="1" i="1" dirty="0">
                <a:solidFill>
                  <a:srgbClr val="000000"/>
                </a:solidFill>
              </a:rPr>
              <a:t>w</a:t>
            </a:r>
            <a:r>
              <a:rPr lang="en-US" altLang="zh-CN" b="1" dirty="0">
                <a:solidFill>
                  <a:srgbClr val="000000"/>
                </a:solidFill>
              </a:rPr>
              <a:t>=1</a:t>
            </a:r>
            <a:r>
              <a:rPr lang="zh-CN" altLang="en-US" b="1" dirty="0">
                <a:solidFill>
                  <a:srgbClr val="000000"/>
                </a:solidFill>
              </a:rPr>
              <a:t>，则进入状态</a:t>
            </a:r>
            <a:r>
              <a:rPr lang="en-US" altLang="zh-CN" b="1" dirty="0">
                <a:solidFill>
                  <a:srgbClr val="000000"/>
                </a:solidFill>
              </a:rPr>
              <a:t>B</a:t>
            </a:r>
            <a:r>
              <a:rPr lang="zh-CN" altLang="en-US" b="1" dirty="0">
                <a:solidFill>
                  <a:srgbClr val="000000"/>
                </a:solidFill>
              </a:rPr>
              <a:t>，此时</a:t>
            </a:r>
            <a:r>
              <a:rPr lang="en-US" altLang="zh-CN" b="1" i="1" dirty="0">
                <a:solidFill>
                  <a:srgbClr val="000000"/>
                </a:solidFill>
              </a:rPr>
              <a:t>z</a:t>
            </a:r>
            <a:r>
              <a:rPr lang="en-US" altLang="zh-CN" b="1" dirty="0">
                <a:solidFill>
                  <a:srgbClr val="000000"/>
                </a:solidFill>
              </a:rPr>
              <a:t>=0</a:t>
            </a:r>
            <a:r>
              <a:rPr lang="zh-CN" altLang="en-US" b="1" dirty="0">
                <a:solidFill>
                  <a:srgbClr val="000000"/>
                </a:solidFill>
              </a:rPr>
              <a:t>；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342900" lvl="0" indent="-34290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har char="•"/>
            </a:pPr>
            <a:r>
              <a:rPr lang="zh-CN" altLang="en-US" b="1" u="sng" dirty="0">
                <a:solidFill>
                  <a:srgbClr val="C00000"/>
                </a:solidFill>
              </a:rPr>
              <a:t>状态</a:t>
            </a:r>
            <a:r>
              <a:rPr lang="en-US" altLang="zh-CN" b="1" u="sng" dirty="0">
                <a:solidFill>
                  <a:srgbClr val="C00000"/>
                </a:solidFill>
              </a:rPr>
              <a:t>C</a:t>
            </a:r>
            <a:r>
              <a:rPr lang="zh-CN" altLang="en-US" b="1" dirty="0">
                <a:solidFill>
                  <a:srgbClr val="000000"/>
                </a:solidFill>
              </a:rPr>
              <a:t>：若连续两次检测到</a:t>
            </a:r>
            <a:r>
              <a:rPr lang="en-US" altLang="zh-CN" b="1" i="1" dirty="0">
                <a:solidFill>
                  <a:srgbClr val="000000"/>
                </a:solidFill>
              </a:rPr>
              <a:t>w</a:t>
            </a:r>
            <a:r>
              <a:rPr lang="en-US" altLang="zh-CN" b="1" dirty="0">
                <a:solidFill>
                  <a:srgbClr val="000000"/>
                </a:solidFill>
              </a:rPr>
              <a:t>=1</a:t>
            </a:r>
            <a:r>
              <a:rPr lang="zh-CN" altLang="en-US" b="1" dirty="0">
                <a:solidFill>
                  <a:srgbClr val="000000"/>
                </a:solidFill>
              </a:rPr>
              <a:t>，则进入状态</a:t>
            </a:r>
            <a:r>
              <a:rPr lang="en-US" altLang="zh-CN" b="1" dirty="0">
                <a:solidFill>
                  <a:srgbClr val="000000"/>
                </a:solidFill>
              </a:rPr>
              <a:t>C</a:t>
            </a:r>
            <a:r>
              <a:rPr lang="zh-CN" altLang="en-US" b="1" dirty="0">
                <a:solidFill>
                  <a:srgbClr val="000000"/>
                </a:solidFill>
              </a:rPr>
              <a:t>，且</a:t>
            </a:r>
            <a:r>
              <a:rPr lang="en-US" altLang="zh-CN" b="1" i="1" dirty="0">
                <a:solidFill>
                  <a:srgbClr val="000000"/>
                </a:solidFill>
              </a:rPr>
              <a:t>z</a:t>
            </a:r>
            <a:r>
              <a:rPr lang="en-US" altLang="zh-CN" b="1" dirty="0">
                <a:solidFill>
                  <a:srgbClr val="000000"/>
                </a:solidFill>
              </a:rPr>
              <a:t>=1</a:t>
            </a:r>
            <a:r>
              <a:rPr lang="zh-CN" altLang="en-US" b="1" dirty="0">
                <a:solidFill>
                  <a:srgbClr val="000000"/>
                </a:solidFill>
              </a:rPr>
              <a:t>；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162822" name="Rectangle 2"/>
          <p:cNvSpPr/>
          <p:nvPr/>
        </p:nvSpPr>
        <p:spPr>
          <a:xfrm>
            <a:off x="534988" y="5605463"/>
            <a:ext cx="2027237" cy="425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图</a:t>
            </a:r>
            <a:r>
              <a:rPr lang="en-US" altLang="zh-CN" sz="2000" b="1" dirty="0">
                <a:solidFill>
                  <a:srgbClr val="000000"/>
                </a:solidFill>
              </a:rPr>
              <a:t>6.3 </a:t>
            </a:r>
            <a:r>
              <a:rPr lang="zh-CN" altLang="en-US" sz="2000" b="1" dirty="0">
                <a:solidFill>
                  <a:srgbClr val="000000"/>
                </a:solidFill>
              </a:rPr>
              <a:t>状态图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11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同步时序电路举例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42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pic>
        <p:nvPicPr>
          <p:cNvPr id="163843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425" y="2640013"/>
            <a:ext cx="3659188" cy="3313112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4" name="表格 54"/>
          <p:cNvGraphicFramePr>
            <a:graphicFrameLocks noGrp="1"/>
          </p:cNvGraphicFramePr>
          <p:nvPr/>
        </p:nvGraphicFramePr>
        <p:xfrm>
          <a:off x="5259388" y="3571875"/>
          <a:ext cx="3128963" cy="1768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323"/>
                <a:gridCol w="1587442"/>
                <a:gridCol w="767197"/>
              </a:tblGrid>
              <a:tr h="365891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zh-CN" alt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endParaRPr lang="zh-CN" alt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endParaRPr lang="en-US" altLang="zh-CN" sz="18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38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100620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    B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    C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    C</a:t>
                      </a:r>
                      <a:endParaRPr lang="zh-CN" altLang="en-US" sz="200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6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同步时序电路举例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63861" name="Rectangle 2"/>
          <p:cNvSpPr/>
          <p:nvPr/>
        </p:nvSpPr>
        <p:spPr>
          <a:xfrm>
            <a:off x="5775325" y="5562600"/>
            <a:ext cx="2027238" cy="425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图</a:t>
            </a:r>
            <a:r>
              <a:rPr lang="en-US" altLang="zh-CN" sz="2000" b="1" dirty="0">
                <a:solidFill>
                  <a:srgbClr val="000000"/>
                </a:solidFill>
              </a:rPr>
              <a:t>6.4 </a:t>
            </a:r>
            <a:r>
              <a:rPr lang="zh-CN" altLang="en-US" sz="2000" b="1" dirty="0">
                <a:solidFill>
                  <a:srgbClr val="000000"/>
                </a:solidFill>
              </a:rPr>
              <a:t>状态表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58" name="箭头: 虚尾 57"/>
          <p:cNvSpPr/>
          <p:nvPr/>
        </p:nvSpPr>
        <p:spPr bwMode="auto">
          <a:xfrm>
            <a:off x="4141788" y="4430713"/>
            <a:ext cx="790575" cy="473075"/>
          </a:xfrm>
          <a:prstGeom prst="stripedRightArrow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63" name="TextBox 1"/>
          <p:cNvSpPr txBox="1"/>
          <p:nvPr/>
        </p:nvSpPr>
        <p:spPr>
          <a:xfrm>
            <a:off x="498475" y="1330325"/>
            <a:ext cx="8305800" cy="9445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10000"/>
              </a:lnSpc>
              <a:buClr>
                <a:srgbClr val="007A77"/>
              </a:buClr>
            </a:pPr>
            <a:r>
              <a:rPr lang="zh-CN" altLang="en-US" b="1" dirty="0">
                <a:latin typeface="宋体" panose="02010600030101010101" pitchFamily="2" charset="-122"/>
              </a:rPr>
              <a:t>② 确定电路的状态数，建立原始状态转换图或状态表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har char="•"/>
            </a:pPr>
            <a:r>
              <a:rPr lang="zh-CN" altLang="en-US" b="1" dirty="0">
                <a:solidFill>
                  <a:srgbClr val="000000"/>
                </a:solidFill>
              </a:rPr>
              <a:t> 为了状态的约简与分配，一般需要将状态图转换为状态表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163864" name="标注: 弯曲线形 1"/>
          <p:cNvSpPr/>
          <p:nvPr/>
        </p:nvSpPr>
        <p:spPr>
          <a:xfrm>
            <a:off x="5259388" y="2524125"/>
            <a:ext cx="2171700" cy="708025"/>
          </a:xfrm>
          <a:prstGeom prst="borderCallout2">
            <a:avLst>
              <a:gd name="adj1" fmla="val 29319"/>
              <a:gd name="adj2" fmla="val 99958"/>
              <a:gd name="adj3" fmla="val 29676"/>
              <a:gd name="adj4" fmla="val 112009"/>
              <a:gd name="adj5" fmla="val 141347"/>
              <a:gd name="adj6" fmla="val 122065"/>
            </a:avLst>
          </a:prstGeom>
          <a:solidFill>
            <a:schemeClr val="accent1"/>
          </a:solidFill>
          <a:ln w="1270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lg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C00000"/>
                </a:solidFill>
              </a:rPr>
              <a:t>输出</a:t>
            </a:r>
            <a:r>
              <a:rPr lang="en-US" altLang="zh-CN" sz="2000" b="1" i="1" dirty="0">
                <a:solidFill>
                  <a:srgbClr val="C00000"/>
                </a:solidFill>
              </a:rPr>
              <a:t>z</a:t>
            </a:r>
            <a:r>
              <a:rPr lang="zh-CN" altLang="en-US" sz="2000" b="1" dirty="0">
                <a:solidFill>
                  <a:srgbClr val="C00000"/>
                </a:solidFill>
              </a:rPr>
              <a:t>为当前状态（现态）下的值</a:t>
            </a:r>
            <a:endParaRPr lang="zh-CN" altLang="en-US" sz="2000" b="1" dirty="0">
              <a:solidFill>
                <a:srgbClr val="C00000"/>
              </a:solidFill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4866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graphicFrame>
        <p:nvGraphicFramePr>
          <p:cNvPr id="54" name="表格 54"/>
          <p:cNvGraphicFramePr>
            <a:graphicFrameLocks noGrp="1"/>
          </p:cNvGraphicFramePr>
          <p:nvPr/>
        </p:nvGraphicFramePr>
        <p:xfrm>
          <a:off x="941388" y="3797300"/>
          <a:ext cx="3128963" cy="1768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323"/>
                <a:gridCol w="1587442"/>
                <a:gridCol w="767197"/>
              </a:tblGrid>
              <a:tr h="365891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zh-CN" alt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endParaRPr lang="zh-CN" alt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endParaRPr lang="en-US" altLang="zh-CN" sz="18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38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100620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    B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    C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    C</a:t>
                      </a:r>
                      <a:endParaRPr lang="zh-CN" altLang="en-US" sz="200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6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同步时序电路举例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64884" name="Rectangle 2"/>
          <p:cNvSpPr/>
          <p:nvPr/>
        </p:nvSpPr>
        <p:spPr>
          <a:xfrm>
            <a:off x="1492250" y="5791200"/>
            <a:ext cx="2027238" cy="425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图</a:t>
            </a:r>
            <a:r>
              <a:rPr lang="en-US" altLang="zh-CN" sz="2000" b="1" dirty="0">
                <a:solidFill>
                  <a:srgbClr val="000000"/>
                </a:solidFill>
              </a:rPr>
              <a:t>6.4 </a:t>
            </a:r>
            <a:r>
              <a:rPr lang="zh-CN" altLang="en-US" sz="2000" b="1" dirty="0">
                <a:solidFill>
                  <a:srgbClr val="000000"/>
                </a:solidFill>
              </a:rPr>
              <a:t>状态表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58" name="箭头: 虚尾 57"/>
          <p:cNvSpPr/>
          <p:nvPr/>
        </p:nvSpPr>
        <p:spPr bwMode="auto">
          <a:xfrm>
            <a:off x="4198938" y="4292600"/>
            <a:ext cx="788988" cy="473075"/>
          </a:xfrm>
          <a:prstGeom prst="stripedRightArrow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4886" name="TextBox 1"/>
          <p:cNvSpPr txBox="1"/>
          <p:nvPr/>
        </p:nvSpPr>
        <p:spPr>
          <a:xfrm>
            <a:off x="498475" y="1252538"/>
            <a:ext cx="8477250" cy="2235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spcAft>
                <a:spcPts val="600"/>
              </a:spcAft>
              <a:buClr>
                <a:srgbClr val="007A77"/>
              </a:buClr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、状态化简和分配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har char="•"/>
            </a:pPr>
            <a:r>
              <a:rPr lang="zh-CN" altLang="en-US" sz="2200" b="1" dirty="0">
                <a:solidFill>
                  <a:srgbClr val="000000"/>
                </a:solidFill>
              </a:rPr>
              <a:t>给每一个状态指定一个二进制代码，形成二进制状态表。</a:t>
            </a:r>
            <a:endParaRPr lang="en-US" altLang="zh-CN" sz="2200" b="1" dirty="0">
              <a:solidFill>
                <a:srgbClr val="000000"/>
              </a:solidFill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har char="•"/>
            </a:pPr>
            <a:r>
              <a:rPr lang="en-US" altLang="zh-CN" sz="2200" b="1" dirty="0">
                <a:solidFill>
                  <a:srgbClr val="000000"/>
                </a:solidFill>
              </a:rPr>
              <a:t>ABC</a:t>
            </a:r>
            <a:r>
              <a:rPr lang="zh-CN" altLang="en-US" sz="2200" b="1" dirty="0">
                <a:solidFill>
                  <a:srgbClr val="000000"/>
                </a:solidFill>
              </a:rPr>
              <a:t>三个状态，可用两个状态变量</a:t>
            </a:r>
            <a:r>
              <a:rPr lang="en-US" altLang="zh-CN" sz="2200" b="1" i="1" dirty="0">
                <a:solidFill>
                  <a:srgbClr val="0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2</a:t>
            </a:r>
            <a:r>
              <a:rPr lang="zh-CN" altLang="en-US" sz="2200" b="1" dirty="0">
                <a:solidFill>
                  <a:srgbClr val="000000"/>
                </a:solidFill>
              </a:rPr>
              <a:t>、</a:t>
            </a:r>
            <a:r>
              <a:rPr lang="en-US" altLang="zh-CN" sz="2200" b="1" i="1" dirty="0">
                <a:solidFill>
                  <a:srgbClr val="0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1</a:t>
            </a:r>
            <a:r>
              <a:rPr lang="zh-CN" altLang="en-US" sz="2200" b="1" dirty="0">
                <a:solidFill>
                  <a:srgbClr val="000000"/>
                </a:solidFill>
              </a:rPr>
              <a:t>表示（存在无关项）。</a:t>
            </a:r>
            <a:endParaRPr lang="en-US" altLang="zh-CN" sz="2200" b="1" dirty="0">
              <a:solidFill>
                <a:srgbClr val="000000"/>
              </a:solidFill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har char="•"/>
            </a:pPr>
            <a:r>
              <a:rPr lang="zh-CN" altLang="en-US" sz="2200" b="1" dirty="0">
                <a:solidFill>
                  <a:srgbClr val="000000"/>
                </a:solidFill>
              </a:rPr>
              <a:t>每个状态变量可以由一个触发器来实现。</a:t>
            </a:r>
            <a:endParaRPr lang="en-US" altLang="zh-CN" sz="2200" b="1" dirty="0">
              <a:solidFill>
                <a:srgbClr val="000000"/>
              </a:solidFill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har char="•"/>
            </a:pPr>
            <a:r>
              <a:rPr lang="zh-CN" altLang="en-US" sz="2200" b="1" dirty="0">
                <a:solidFill>
                  <a:srgbClr val="000000"/>
                </a:solidFill>
              </a:rPr>
              <a:t>输出</a:t>
            </a:r>
            <a:r>
              <a:rPr lang="en-US" altLang="zh-CN" sz="2200" b="1" i="1" dirty="0">
                <a:solidFill>
                  <a:srgbClr val="000000"/>
                </a:solidFill>
              </a:rPr>
              <a:t>z</a:t>
            </a:r>
            <a:r>
              <a:rPr lang="zh-CN" altLang="en-US" sz="2200" b="1" dirty="0">
                <a:solidFill>
                  <a:srgbClr val="000000"/>
                </a:solidFill>
              </a:rPr>
              <a:t>只与当前状态有关，与输入</a:t>
            </a:r>
            <a:r>
              <a:rPr lang="en-US" altLang="zh-CN" sz="2200" b="1" i="1" dirty="0">
                <a:solidFill>
                  <a:srgbClr val="000000"/>
                </a:solidFill>
              </a:rPr>
              <a:t>w</a:t>
            </a:r>
            <a:r>
              <a:rPr lang="zh-CN" altLang="en-US" sz="2200" b="1" dirty="0">
                <a:solidFill>
                  <a:srgbClr val="000000"/>
                </a:solidFill>
              </a:rPr>
              <a:t>无关，属于</a:t>
            </a:r>
            <a:r>
              <a:rPr lang="en-US" altLang="zh-CN" sz="2200" b="1" dirty="0">
                <a:solidFill>
                  <a:srgbClr val="000000"/>
                </a:solidFill>
              </a:rPr>
              <a:t>Moore</a:t>
            </a:r>
            <a:r>
              <a:rPr lang="zh-CN" altLang="en-US" sz="2200" b="1" dirty="0">
                <a:solidFill>
                  <a:srgbClr val="000000"/>
                </a:solidFill>
              </a:rPr>
              <a:t>型时序电路</a:t>
            </a:r>
            <a:endParaRPr lang="zh-CN" altLang="en-US" sz="2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9" name="表格 54"/>
          <p:cNvGraphicFramePr>
            <a:graphicFrameLocks noGrp="1"/>
          </p:cNvGraphicFramePr>
          <p:nvPr/>
        </p:nvGraphicFramePr>
        <p:xfrm>
          <a:off x="5091113" y="3644900"/>
          <a:ext cx="3432175" cy="2073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594"/>
                <a:gridCol w="1757355"/>
                <a:gridCol w="721226"/>
              </a:tblGrid>
              <a:tr h="365861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i="0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0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0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1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14" marR="91414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 </a:t>
                      </a: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14" marR="91414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endParaRPr lang="en-US" altLang="zh-CN" sz="18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35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13110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00(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01(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10(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00         01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00         10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00         10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Viner Hand ITC" panose="03070502030502020203" pitchFamily="66" charset="0"/>
                          <a:cs typeface="Times New Roman" panose="02020603050405020304" pitchFamily="18" charset="0"/>
                        </a:rPr>
                        <a:t>×     ××</a:t>
                      </a:r>
                      <a:endParaRPr lang="zh-CN" altLang="en-US" sz="2000" b="1" i="0" dirty="0">
                        <a:solidFill>
                          <a:srgbClr val="000000"/>
                        </a:solidFill>
                      </a:endParaRPr>
                    </a:p>
                  </a:txBody>
                  <a:tcPr marL="91414" marR="91414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Viner Hand ITC" panose="03070502030502020203" pitchFamily="66" charset="0"/>
                          <a:cs typeface="Times New Roman" panose="02020603050405020304" pitchFamily="18" charset="0"/>
                        </a:rPr>
                        <a:t>×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4903" name="Rectangle 2"/>
          <p:cNvSpPr/>
          <p:nvPr/>
        </p:nvSpPr>
        <p:spPr>
          <a:xfrm>
            <a:off x="5435600" y="5791200"/>
            <a:ext cx="2743200" cy="425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图</a:t>
            </a:r>
            <a:r>
              <a:rPr lang="en-US" altLang="zh-CN" sz="2000" b="1" dirty="0">
                <a:solidFill>
                  <a:srgbClr val="000000"/>
                </a:solidFill>
              </a:rPr>
              <a:t>6.5 </a:t>
            </a:r>
            <a:r>
              <a:rPr lang="zh-CN" altLang="en-US" sz="2000" b="1" dirty="0">
                <a:solidFill>
                  <a:srgbClr val="000000"/>
                </a:solidFill>
              </a:rPr>
              <a:t>状态分配表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5890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56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同步时序电路举例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58" name="箭头: 虚尾 57"/>
          <p:cNvSpPr/>
          <p:nvPr/>
        </p:nvSpPr>
        <p:spPr bwMode="auto">
          <a:xfrm>
            <a:off x="6167438" y="5478463"/>
            <a:ext cx="603250" cy="473075"/>
          </a:xfrm>
          <a:prstGeom prst="stripedRightArrow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5893" name="TextBox 1"/>
          <p:cNvSpPr txBox="1"/>
          <p:nvPr/>
        </p:nvSpPr>
        <p:spPr>
          <a:xfrm>
            <a:off x="498475" y="1173163"/>
            <a:ext cx="8305800" cy="503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、选择触发器，得到次态方程，激励方程和输出方程：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9" name="表格 54"/>
          <p:cNvGraphicFramePr>
            <a:graphicFrameLocks noGrp="1"/>
          </p:cNvGraphicFramePr>
          <p:nvPr/>
        </p:nvGraphicFramePr>
        <p:xfrm>
          <a:off x="671513" y="2735263"/>
          <a:ext cx="3055938" cy="1768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285"/>
                <a:gridCol w="1463655"/>
                <a:gridCol w="688997"/>
              </a:tblGrid>
              <a:tr h="365891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i="0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0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0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1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397" marR="91397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 </a:t>
                      </a: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397" marR="91397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endParaRPr lang="en-US" altLang="zh-CN" sz="18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7" marR="91397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38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7" marR="91397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100620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00(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01(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10(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7" marR="91397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00         01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00         10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00         10</a:t>
                      </a:r>
                      <a:endParaRPr lang="zh-CN" altLang="en-US" sz="2000" b="1" i="0" dirty="0">
                        <a:solidFill>
                          <a:srgbClr val="000000"/>
                        </a:solidFill>
                      </a:endParaRPr>
                    </a:p>
                  </a:txBody>
                  <a:tcPr marL="91397" marR="91397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7" marR="91397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65910" name="组合 2"/>
          <p:cNvGrpSpPr/>
          <p:nvPr/>
        </p:nvGrpSpPr>
        <p:grpSpPr>
          <a:xfrm>
            <a:off x="6845300" y="4918075"/>
            <a:ext cx="2133600" cy="1427163"/>
            <a:chOff x="14527704" y="2326289"/>
            <a:chExt cx="2387149" cy="1426801"/>
          </a:xfrm>
        </p:grpSpPr>
        <p:sp>
          <p:nvSpPr>
            <p:cNvPr id="165985" name="TextBox 1"/>
            <p:cNvSpPr txBox="1"/>
            <p:nvPr/>
          </p:nvSpPr>
          <p:spPr>
            <a:xfrm>
              <a:off x="14758604" y="2326289"/>
              <a:ext cx="2156249" cy="142680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spcBef>
                  <a:spcPct val="0"/>
                </a:spcBef>
                <a:buClr>
                  <a:srgbClr val="007A77"/>
                </a:buClr>
              </a:pPr>
              <a:r>
                <a:rPr lang="en-US" altLang="zh-CN" sz="2300" b="1" i="1" dirty="0">
                  <a:solidFill>
                    <a:srgbClr val="000000"/>
                  </a:solidFill>
                </a:rPr>
                <a:t>D</a:t>
              </a:r>
              <a:r>
                <a:rPr lang="en-US" altLang="zh-CN" sz="2300" b="1" baseline="-25000" dirty="0">
                  <a:solidFill>
                    <a:srgbClr val="000000"/>
                  </a:solidFill>
                </a:rPr>
                <a:t>2 </a:t>
              </a:r>
              <a:r>
                <a:rPr lang="en-US" altLang="zh-CN" sz="2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= </a:t>
              </a:r>
              <a:r>
                <a:rPr lang="en-US" altLang="zh-CN" sz="2300" b="1" i="1" dirty="0">
                  <a:solidFill>
                    <a:srgbClr val="000000"/>
                  </a:solidFill>
                </a:rPr>
                <a:t>w</a:t>
              </a:r>
              <a:r>
                <a:rPr lang="en-US" altLang="zh-CN" sz="2300" b="1" dirty="0">
                  <a:solidFill>
                    <a:srgbClr val="000000"/>
                  </a:solidFill>
                </a:rPr>
                <a:t>(</a:t>
              </a:r>
              <a:r>
                <a:rPr lang="en-US" altLang="zh-CN" sz="2300" b="1" i="1" dirty="0">
                  <a:solidFill>
                    <a:srgbClr val="000000"/>
                  </a:solidFill>
                </a:rPr>
                <a:t>q</a:t>
              </a:r>
              <a:r>
                <a:rPr lang="en-US" altLang="zh-CN" sz="2300" b="1" baseline="-25000" dirty="0">
                  <a:solidFill>
                    <a:srgbClr val="000000"/>
                  </a:solidFill>
                </a:rPr>
                <a:t>2</a:t>
              </a:r>
              <a:r>
                <a:rPr lang="en-US" altLang="zh-CN" sz="2300" b="1" i="1" dirty="0">
                  <a:solidFill>
                    <a:srgbClr val="000000"/>
                  </a:solidFill>
                </a:rPr>
                <a:t>+q</a:t>
              </a:r>
              <a:r>
                <a:rPr lang="en-US" altLang="zh-CN" sz="2300" b="1" baseline="-25000" dirty="0">
                  <a:solidFill>
                    <a:srgbClr val="000000"/>
                  </a:solidFill>
                </a:rPr>
                <a:t>1</a:t>
              </a:r>
              <a:r>
                <a:rPr lang="en-US" altLang="zh-CN" sz="2300" b="1" dirty="0">
                  <a:solidFill>
                    <a:srgbClr val="000000"/>
                  </a:solidFill>
                </a:rPr>
                <a:t>)</a:t>
              </a:r>
              <a:endParaRPr lang="en-US" altLang="zh-CN" sz="2300" b="1" dirty="0">
                <a:solidFill>
                  <a:srgbClr val="000000"/>
                </a:solidFill>
              </a:endParaRPr>
            </a:p>
            <a:p>
              <a:pPr marL="0" lvl="0" indent="0">
                <a:spcBef>
                  <a:spcPct val="0"/>
                </a:spcBef>
                <a:buClr>
                  <a:srgbClr val="007A77"/>
                </a:buClr>
              </a:pPr>
              <a:r>
                <a:rPr lang="en-US" altLang="zh-CN" sz="2300" b="1" i="1" dirty="0">
                  <a:solidFill>
                    <a:srgbClr val="000000"/>
                  </a:solidFill>
                </a:rPr>
                <a:t>D</a:t>
              </a:r>
              <a:r>
                <a:rPr lang="en-US" altLang="zh-CN" sz="2300" b="1" baseline="-25000" dirty="0">
                  <a:solidFill>
                    <a:srgbClr val="000000"/>
                  </a:solidFill>
                </a:rPr>
                <a:t>1 </a:t>
              </a:r>
              <a:r>
                <a:rPr lang="en-US" altLang="zh-CN" sz="2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= </a:t>
              </a:r>
              <a:r>
                <a:rPr lang="en-US" altLang="zh-CN" sz="2300" b="1" i="1" dirty="0">
                  <a:solidFill>
                    <a:srgbClr val="000000"/>
                  </a:solidFill>
                </a:rPr>
                <a:t>wq'</a:t>
              </a:r>
              <a:r>
                <a:rPr lang="en-US" altLang="zh-CN" sz="2300" b="1" baseline="-25000" dirty="0">
                  <a:solidFill>
                    <a:srgbClr val="000000"/>
                  </a:solidFill>
                </a:rPr>
                <a:t>2</a:t>
              </a:r>
              <a:r>
                <a:rPr lang="en-US" altLang="zh-CN" sz="2300" b="1" i="1" dirty="0">
                  <a:solidFill>
                    <a:srgbClr val="000000"/>
                  </a:solidFill>
                </a:rPr>
                <a:t>q'</a:t>
              </a:r>
              <a:r>
                <a:rPr lang="en-US" altLang="zh-CN" sz="2300" b="1" baseline="-25000" dirty="0">
                  <a:solidFill>
                    <a:srgbClr val="000000"/>
                  </a:solidFill>
                </a:rPr>
                <a:t>1</a:t>
              </a:r>
              <a:endParaRPr lang="en-US" altLang="zh-CN" sz="2300" b="1" baseline="-25000" dirty="0">
                <a:solidFill>
                  <a:srgbClr val="000000"/>
                </a:solidFill>
              </a:endParaRPr>
            </a:p>
            <a:p>
              <a:pPr marL="0" lvl="0" indent="0">
                <a:spcBef>
                  <a:spcPct val="0"/>
                </a:spcBef>
                <a:buClr>
                  <a:srgbClr val="007A77"/>
                </a:buClr>
              </a:pPr>
              <a:r>
                <a:rPr lang="en-US" altLang="zh-CN" sz="2300" b="1" i="1" dirty="0">
                  <a:solidFill>
                    <a:srgbClr val="000000"/>
                  </a:solidFill>
                </a:rPr>
                <a:t> z </a:t>
              </a:r>
              <a:r>
                <a:rPr lang="en-US" altLang="zh-CN" sz="2300" b="1" dirty="0">
                  <a:solidFill>
                    <a:srgbClr val="000000"/>
                  </a:solidFill>
                </a:rPr>
                <a:t>= </a:t>
              </a:r>
              <a:r>
                <a:rPr lang="en-US" altLang="zh-CN" sz="2300" b="1" i="1" dirty="0">
                  <a:solidFill>
                    <a:srgbClr val="000000"/>
                  </a:solidFill>
                </a:rPr>
                <a:t>q</a:t>
              </a:r>
              <a:r>
                <a:rPr lang="en-US" altLang="zh-CN" sz="2300" b="1" baseline="-25000" dirty="0">
                  <a:solidFill>
                    <a:srgbClr val="000000"/>
                  </a:solidFill>
                </a:rPr>
                <a:t>2</a:t>
              </a:r>
              <a:endParaRPr lang="en-US" altLang="zh-CN" sz="2300" b="1" baseline="-25000" dirty="0">
                <a:solidFill>
                  <a:srgbClr val="000000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165986" name="左大括号 1"/>
            <p:cNvSpPr/>
            <p:nvPr/>
          </p:nvSpPr>
          <p:spPr>
            <a:xfrm>
              <a:off x="14527704" y="2531454"/>
              <a:ext cx="266370" cy="1120140"/>
            </a:xfrm>
            <a:prstGeom prst="leftBrace">
              <a:avLst>
                <a:gd name="adj1" fmla="val 8157"/>
                <a:gd name="adj2" fmla="val 50338"/>
              </a:avLst>
            </a:prstGeom>
            <a:noFill/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800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65911" name="TextBox 1"/>
          <p:cNvSpPr txBox="1"/>
          <p:nvPr/>
        </p:nvSpPr>
        <p:spPr>
          <a:xfrm>
            <a:off x="522288" y="1662113"/>
            <a:ext cx="3205162" cy="9255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342900" lvl="0" indent="-342900">
              <a:spcBef>
                <a:spcPct val="0"/>
              </a:spcBef>
              <a:buChar char="•"/>
            </a:pPr>
            <a:r>
              <a:rPr lang="zh-CN" altLang="en-US" sz="2200" b="1" dirty="0">
                <a:solidFill>
                  <a:srgbClr val="000000"/>
                </a:solidFill>
              </a:rPr>
              <a:t>若选用</a:t>
            </a:r>
            <a:r>
              <a:rPr lang="en-US" altLang="zh-CN" sz="2200" b="1" i="1" dirty="0">
                <a:solidFill>
                  <a:srgbClr val="000000"/>
                </a:solidFill>
              </a:rPr>
              <a:t>D</a:t>
            </a:r>
            <a:r>
              <a:rPr lang="zh-CN" altLang="en-US" sz="2200" b="1" dirty="0">
                <a:solidFill>
                  <a:srgbClr val="000000"/>
                </a:solidFill>
              </a:rPr>
              <a:t>触发器，画出状态转换驱动表：</a:t>
            </a:r>
            <a:endParaRPr lang="en-US" altLang="zh-CN" sz="22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graphicFrame>
        <p:nvGraphicFramePr>
          <p:cNvPr id="15" name="表格 54"/>
          <p:cNvGraphicFramePr>
            <a:graphicFrameLocks noGrp="1"/>
          </p:cNvGraphicFramePr>
          <p:nvPr/>
        </p:nvGraphicFramePr>
        <p:xfrm>
          <a:off x="3800475" y="1768475"/>
          <a:ext cx="5099050" cy="2744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985"/>
                <a:gridCol w="558730"/>
                <a:gridCol w="772064"/>
                <a:gridCol w="721270"/>
                <a:gridCol w="690794"/>
                <a:gridCol w="670476"/>
                <a:gridCol w="629841"/>
                <a:gridCol w="568889"/>
              </a:tblGrid>
              <a:tr h="365991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b="1" i="0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91414" marR="91414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i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输入</a:t>
                      </a:r>
                      <a:endParaRPr lang="zh-CN" altLang="en-US" sz="1800" b="1" i="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endParaRPr lang="zh-CN" altLang="en-US" sz="1800" b="1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endParaRPr lang="en-US" altLang="zh-CN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C00000"/>
                          </a:solidFill>
                        </a:rPr>
                        <a:t>激励信号</a:t>
                      </a:r>
                      <a:endParaRPr lang="en-US" altLang="zh-CN" sz="18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3659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kern="12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i="0" kern="1200" baseline="-25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zh-CN" altLang="en-US" sz="1800" b="1" baseline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1800" b="1" i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CN" sz="1800" b="1" i="0" baseline="-25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800" b="1" i="0" baseline="-25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CN" sz="1800" b="1" i="0" baseline="-25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i="0" baseline="-25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28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0         1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0         1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0         1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3" marR="91403" marT="45761" marB="457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65947" name="组合 92"/>
          <p:cNvGrpSpPr/>
          <p:nvPr/>
        </p:nvGrpSpPr>
        <p:grpSpPr>
          <a:xfrm>
            <a:off x="625475" y="4470400"/>
            <a:ext cx="2576513" cy="2247900"/>
            <a:chOff x="1239789" y="4083381"/>
            <a:chExt cx="2576513" cy="2182889"/>
          </a:xfrm>
        </p:grpSpPr>
        <p:grpSp>
          <p:nvGrpSpPr>
            <p:cNvPr id="165971" name="Group 1098"/>
            <p:cNvGrpSpPr/>
            <p:nvPr/>
          </p:nvGrpSpPr>
          <p:grpSpPr>
            <a:xfrm>
              <a:off x="1239789" y="4083381"/>
              <a:ext cx="2576513" cy="1782763"/>
              <a:chOff x="995" y="753"/>
              <a:chExt cx="1623" cy="1123"/>
            </a:xfrm>
          </p:grpSpPr>
          <p:sp>
            <p:nvSpPr>
              <p:cNvPr id="165973" name="Rectangle 1029"/>
              <p:cNvSpPr/>
              <p:nvPr/>
            </p:nvSpPr>
            <p:spPr>
              <a:xfrm>
                <a:off x="1327" y="1173"/>
                <a:ext cx="1281" cy="700"/>
              </a:xfrm>
              <a:prstGeom prst="rect">
                <a:avLst/>
              </a:prstGeom>
              <a:noFill/>
              <a:ln w="28575" cap="flat" cmpd="sng">
                <a:solidFill>
                  <a:srgbClr val="0000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endParaRPr lang="zh-CN" altLang="en-US" sz="2000" b="1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65974" name="Line 1030"/>
              <p:cNvSpPr/>
              <p:nvPr/>
            </p:nvSpPr>
            <p:spPr>
              <a:xfrm flipH="1" flipV="1">
                <a:off x="1150" y="972"/>
                <a:ext cx="192" cy="201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5975" name="Line 1031"/>
              <p:cNvSpPr/>
              <p:nvPr/>
            </p:nvSpPr>
            <p:spPr>
              <a:xfrm>
                <a:off x="1341" y="1529"/>
                <a:ext cx="1277" cy="0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5976" name="Line 1032"/>
              <p:cNvSpPr/>
              <p:nvPr/>
            </p:nvSpPr>
            <p:spPr>
              <a:xfrm>
                <a:off x="1665" y="1164"/>
                <a:ext cx="0" cy="711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5977" name="Text Box 1033"/>
              <p:cNvSpPr txBox="1"/>
              <p:nvPr/>
            </p:nvSpPr>
            <p:spPr>
              <a:xfrm>
                <a:off x="1377" y="950"/>
                <a:ext cx="1238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defTabSz="914400" eaLnBrk="1" hangingPunct="1">
                  <a:lnSpc>
                    <a:spcPct val="100000"/>
                  </a:lnSpc>
                  <a:spcBef>
                    <a:spcPct val="0"/>
                  </a:spcBef>
                  <a:tabLst>
                    <a:tab pos="758825" algn="l"/>
                  </a:tabLst>
                </a:pPr>
                <a:r>
                  <a:rPr lang="en-US" altLang="zh-CN" sz="2000" b="1" dirty="0">
                    <a:solidFill>
                      <a:srgbClr val="003300"/>
                    </a:solidFill>
                  </a:rPr>
                  <a:t>00    01    11    10</a:t>
                </a:r>
                <a:endParaRPr lang="en-US" altLang="zh-CN" sz="2000" b="1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65978" name="Text Box 1034"/>
              <p:cNvSpPr txBox="1"/>
              <p:nvPr/>
            </p:nvSpPr>
            <p:spPr>
              <a:xfrm>
                <a:off x="1116" y="1205"/>
                <a:ext cx="184" cy="5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defTabSz="914400" eaLnBrk="1" hangingPunct="1">
                  <a:spcBef>
                    <a:spcPct val="0"/>
                  </a:spcBef>
                  <a:tabLst>
                    <a:tab pos="758825" algn="l"/>
                  </a:tabLst>
                </a:pPr>
                <a:r>
                  <a:rPr lang="en-US" altLang="zh-CN" sz="2000" b="1" dirty="0">
                    <a:solidFill>
                      <a:srgbClr val="003300"/>
                    </a:solidFill>
                  </a:rPr>
                  <a:t>01</a:t>
                </a:r>
                <a:endParaRPr lang="en-US" altLang="zh-CN" sz="2000" b="1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65979" name="Text Box 1035"/>
              <p:cNvSpPr txBox="1"/>
              <p:nvPr/>
            </p:nvSpPr>
            <p:spPr>
              <a:xfrm>
                <a:off x="1125" y="753"/>
                <a:ext cx="385" cy="3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i="1" dirty="0">
                    <a:solidFill>
                      <a:srgbClr val="003300"/>
                    </a:solidFill>
                  </a:rPr>
                  <a:t>q</a:t>
                </a:r>
                <a:r>
                  <a:rPr lang="en-US" altLang="zh-CN" sz="2000" b="1" baseline="-25000" dirty="0">
                    <a:solidFill>
                      <a:srgbClr val="003300"/>
                    </a:solidFill>
                  </a:rPr>
                  <a:t>2</a:t>
                </a:r>
                <a:r>
                  <a:rPr lang="en-US" altLang="zh-CN" sz="2000" b="1" i="1" dirty="0">
                    <a:solidFill>
                      <a:srgbClr val="003300"/>
                    </a:solidFill>
                  </a:rPr>
                  <a:t>q</a:t>
                </a:r>
                <a:r>
                  <a:rPr lang="en-US" altLang="zh-CN" sz="2000" b="1" baseline="-25000" dirty="0">
                    <a:solidFill>
                      <a:srgbClr val="003300"/>
                    </a:solidFill>
                  </a:rPr>
                  <a:t>1</a:t>
                </a:r>
                <a:endParaRPr lang="en-US" altLang="zh-CN" sz="2000" b="1" baseline="-25000" dirty="0">
                  <a:solidFill>
                    <a:srgbClr val="003300"/>
                  </a:solidFill>
                </a:endParaRPr>
              </a:p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endParaRPr lang="en-US" altLang="zh-CN" sz="2000" b="1" baseline="-25000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65980" name="Text Box 1036"/>
              <p:cNvSpPr txBox="1"/>
              <p:nvPr/>
            </p:nvSpPr>
            <p:spPr>
              <a:xfrm>
                <a:off x="995" y="962"/>
                <a:ext cx="224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i="1" dirty="0">
                    <a:solidFill>
                      <a:srgbClr val="003300"/>
                    </a:solidFill>
                  </a:rPr>
                  <a:t>w</a:t>
                </a:r>
                <a:endParaRPr lang="en-US" altLang="zh-CN" sz="2000" b="1" baseline="-25000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65981" name="Text Box 1037"/>
              <p:cNvSpPr txBox="1"/>
              <p:nvPr/>
            </p:nvSpPr>
            <p:spPr>
              <a:xfrm>
                <a:off x="1721" y="1305"/>
                <a:ext cx="254" cy="5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rgbClr val="003300"/>
                    </a:solidFill>
                  </a:rPr>
                  <a:t>      </a:t>
                </a:r>
                <a:r>
                  <a:rPr lang="en-US" altLang="zh-CN" sz="2000" b="1" dirty="0">
                    <a:solidFill>
                      <a:srgbClr val="000000"/>
                    </a:solidFill>
                  </a:rPr>
                  <a:t>1</a:t>
                </a:r>
                <a:endParaRPr lang="en-US" altLang="zh-CN" sz="2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5982" name="Line 1038"/>
              <p:cNvSpPr/>
              <p:nvPr/>
            </p:nvSpPr>
            <p:spPr>
              <a:xfrm>
                <a:off x="1977" y="1174"/>
                <a:ext cx="0" cy="680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5983" name="Line 1039"/>
              <p:cNvSpPr/>
              <p:nvPr/>
            </p:nvSpPr>
            <p:spPr>
              <a:xfrm>
                <a:off x="2310" y="1165"/>
                <a:ext cx="0" cy="711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5984" name="Text Box 1040"/>
              <p:cNvSpPr txBox="1"/>
              <p:nvPr/>
            </p:nvSpPr>
            <p:spPr>
              <a:xfrm>
                <a:off x="2294" y="1317"/>
                <a:ext cx="303" cy="5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algn="ctr" eaLnBrk="1" hangingPunct="1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rgbClr val="003300"/>
                    </a:solidFill>
                  </a:rPr>
                  <a:t>   </a:t>
                </a:r>
                <a:r>
                  <a:rPr lang="en-US" altLang="zh-CN" sz="2000" b="1" dirty="0">
                    <a:solidFill>
                      <a:srgbClr val="003300"/>
                    </a:solidFill>
                  </a:rPr>
                  <a:t>1</a:t>
                </a:r>
                <a:endParaRPr lang="en-US" altLang="zh-CN" sz="2000" b="1" dirty="0">
                  <a:solidFill>
                    <a:srgbClr val="003300"/>
                  </a:solidFill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165972" name="Rectangle 5"/>
            <p:cNvSpPr/>
            <p:nvPr/>
          </p:nvSpPr>
          <p:spPr>
            <a:xfrm>
              <a:off x="1384264" y="5834470"/>
              <a:ext cx="2285595" cy="43180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1905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669925" algn="r"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rgbClr val="003300"/>
                  </a:solidFill>
                </a:rPr>
                <a:t>D</a:t>
              </a:r>
              <a:r>
                <a:rPr lang="en-US" altLang="zh-CN" sz="2000" b="1" baseline="-25000" dirty="0">
                  <a:solidFill>
                    <a:srgbClr val="003300"/>
                  </a:solidFill>
                </a:rPr>
                <a:t>2</a:t>
              </a:r>
              <a:r>
                <a:rPr lang="en-US" altLang="zh-CN" sz="2000" b="1" i="1" dirty="0">
                  <a:solidFill>
                    <a:srgbClr val="003300"/>
                  </a:solidFill>
                </a:rPr>
                <a:t>= wq</a:t>
              </a:r>
              <a:r>
                <a:rPr lang="en-US" altLang="zh-CN" sz="2000" b="1" baseline="-25000" dirty="0">
                  <a:solidFill>
                    <a:srgbClr val="003300"/>
                  </a:solidFill>
                </a:rPr>
                <a:t>1 </a:t>
              </a:r>
              <a:r>
                <a:rPr lang="en-US" altLang="zh-CN" sz="2000" b="1" i="1" dirty="0">
                  <a:solidFill>
                    <a:srgbClr val="003300"/>
                  </a:solidFill>
                </a:rPr>
                <a:t>+wq</a:t>
              </a:r>
              <a:r>
                <a:rPr lang="en-US" altLang="zh-CN" sz="2000" b="1" baseline="-25000" dirty="0">
                  <a:solidFill>
                    <a:srgbClr val="003300"/>
                  </a:solidFill>
                </a:rPr>
                <a:t>2</a:t>
              </a:r>
              <a:endParaRPr lang="en-US" altLang="zh-CN" sz="2000" b="1" dirty="0">
                <a:solidFill>
                  <a:srgbClr val="0000CC"/>
                </a:solidFill>
              </a:endParaRPr>
            </a:p>
          </p:txBody>
        </p:sp>
      </p:grpSp>
      <p:sp>
        <p:nvSpPr>
          <p:cNvPr id="165948" name="矩形: 圆角 1"/>
          <p:cNvSpPr/>
          <p:nvPr/>
        </p:nvSpPr>
        <p:spPr>
          <a:xfrm>
            <a:off x="1739900" y="5827713"/>
            <a:ext cx="906463" cy="407987"/>
          </a:xfrm>
          <a:prstGeom prst="roundRect">
            <a:avLst>
              <a:gd name="adj" fmla="val 16667"/>
            </a:avLst>
          </a:prstGeom>
          <a:solidFill>
            <a:srgbClr val="069E0A">
              <a:alpha val="39999"/>
            </a:srgbClr>
          </a:solidFill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b="1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grpSp>
        <p:nvGrpSpPr>
          <p:cNvPr id="165949" name="组合 92"/>
          <p:cNvGrpSpPr/>
          <p:nvPr/>
        </p:nvGrpSpPr>
        <p:grpSpPr>
          <a:xfrm>
            <a:off x="3405188" y="4527550"/>
            <a:ext cx="2625725" cy="2173288"/>
            <a:chOff x="1192164" y="4100844"/>
            <a:chExt cx="2624138" cy="2173852"/>
          </a:xfrm>
        </p:grpSpPr>
        <p:grpSp>
          <p:nvGrpSpPr>
            <p:cNvPr id="165959" name="Group 1098"/>
            <p:cNvGrpSpPr/>
            <p:nvPr/>
          </p:nvGrpSpPr>
          <p:grpSpPr>
            <a:xfrm>
              <a:off x="1192164" y="4100844"/>
              <a:ext cx="2624138" cy="1765301"/>
              <a:chOff x="965" y="764"/>
              <a:chExt cx="1653" cy="1112"/>
            </a:xfrm>
          </p:grpSpPr>
          <p:sp>
            <p:nvSpPr>
              <p:cNvPr id="165961" name="Rectangle 1029"/>
              <p:cNvSpPr/>
              <p:nvPr/>
            </p:nvSpPr>
            <p:spPr>
              <a:xfrm>
                <a:off x="1327" y="1173"/>
                <a:ext cx="1281" cy="700"/>
              </a:xfrm>
              <a:prstGeom prst="rect">
                <a:avLst/>
              </a:prstGeom>
              <a:noFill/>
              <a:ln w="28575" cap="flat" cmpd="sng">
                <a:solidFill>
                  <a:srgbClr val="0000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endParaRPr lang="zh-CN" altLang="en-US" sz="2000" b="1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65962" name="Line 1030"/>
              <p:cNvSpPr/>
              <p:nvPr/>
            </p:nvSpPr>
            <p:spPr>
              <a:xfrm flipH="1" flipV="1">
                <a:off x="1150" y="972"/>
                <a:ext cx="192" cy="201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5963" name="Line 1031"/>
              <p:cNvSpPr/>
              <p:nvPr/>
            </p:nvSpPr>
            <p:spPr>
              <a:xfrm>
                <a:off x="1341" y="1529"/>
                <a:ext cx="1277" cy="0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5964" name="Line 1032"/>
              <p:cNvSpPr/>
              <p:nvPr/>
            </p:nvSpPr>
            <p:spPr>
              <a:xfrm>
                <a:off x="1665" y="1170"/>
                <a:ext cx="0" cy="703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5965" name="Text Box 1033"/>
              <p:cNvSpPr txBox="1"/>
              <p:nvPr/>
            </p:nvSpPr>
            <p:spPr>
              <a:xfrm>
                <a:off x="1371" y="950"/>
                <a:ext cx="1238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defTabSz="914400" eaLnBrk="1" hangingPunct="1">
                  <a:lnSpc>
                    <a:spcPct val="100000"/>
                  </a:lnSpc>
                  <a:spcBef>
                    <a:spcPct val="0"/>
                  </a:spcBef>
                  <a:tabLst>
                    <a:tab pos="758825" algn="l"/>
                  </a:tabLst>
                </a:pPr>
                <a:r>
                  <a:rPr lang="en-US" altLang="zh-CN" sz="2000" b="1" dirty="0">
                    <a:solidFill>
                      <a:srgbClr val="003300"/>
                    </a:solidFill>
                  </a:rPr>
                  <a:t>00    01    11    10</a:t>
                </a:r>
                <a:endParaRPr lang="en-US" altLang="zh-CN" sz="2000" b="1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65966" name="Text Box 1034"/>
              <p:cNvSpPr txBox="1"/>
              <p:nvPr/>
            </p:nvSpPr>
            <p:spPr>
              <a:xfrm>
                <a:off x="1116" y="1205"/>
                <a:ext cx="184" cy="5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defTabSz="914400" eaLnBrk="1" hangingPunct="1">
                  <a:spcBef>
                    <a:spcPct val="0"/>
                  </a:spcBef>
                  <a:tabLst>
                    <a:tab pos="758825" algn="l"/>
                  </a:tabLst>
                </a:pPr>
                <a:r>
                  <a:rPr lang="en-US" altLang="zh-CN" sz="2000" b="1" dirty="0">
                    <a:solidFill>
                      <a:srgbClr val="003300"/>
                    </a:solidFill>
                  </a:rPr>
                  <a:t>01</a:t>
                </a:r>
                <a:endParaRPr lang="en-US" altLang="zh-CN" sz="2000" b="1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65967" name="Text Box 1035"/>
              <p:cNvSpPr txBox="1"/>
              <p:nvPr/>
            </p:nvSpPr>
            <p:spPr>
              <a:xfrm>
                <a:off x="1130" y="764"/>
                <a:ext cx="385" cy="3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i="1" dirty="0">
                    <a:solidFill>
                      <a:srgbClr val="003300"/>
                    </a:solidFill>
                  </a:rPr>
                  <a:t>q</a:t>
                </a:r>
                <a:r>
                  <a:rPr lang="en-US" altLang="zh-CN" sz="2000" b="1" baseline="-25000" dirty="0">
                    <a:solidFill>
                      <a:srgbClr val="003300"/>
                    </a:solidFill>
                  </a:rPr>
                  <a:t>2</a:t>
                </a:r>
                <a:r>
                  <a:rPr lang="en-US" altLang="zh-CN" sz="2000" b="1" i="1" dirty="0">
                    <a:solidFill>
                      <a:srgbClr val="003300"/>
                    </a:solidFill>
                  </a:rPr>
                  <a:t>q</a:t>
                </a:r>
                <a:r>
                  <a:rPr lang="en-US" altLang="zh-CN" sz="2000" b="1" baseline="-25000" dirty="0">
                    <a:solidFill>
                      <a:srgbClr val="003300"/>
                    </a:solidFill>
                  </a:rPr>
                  <a:t>1</a:t>
                </a:r>
                <a:endParaRPr lang="en-US" altLang="zh-CN" sz="2000" b="1" baseline="-25000" dirty="0">
                  <a:solidFill>
                    <a:srgbClr val="003300"/>
                  </a:solidFill>
                </a:endParaRPr>
              </a:p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endParaRPr lang="en-US" altLang="zh-CN" sz="2000" b="1" baseline="-25000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65968" name="Text Box 1036"/>
              <p:cNvSpPr txBox="1"/>
              <p:nvPr/>
            </p:nvSpPr>
            <p:spPr>
              <a:xfrm>
                <a:off x="965" y="956"/>
                <a:ext cx="224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i="1" dirty="0">
                    <a:solidFill>
                      <a:srgbClr val="003300"/>
                    </a:solidFill>
                  </a:rPr>
                  <a:t>w</a:t>
                </a:r>
                <a:endParaRPr lang="en-US" altLang="zh-CN" sz="2000" b="1" baseline="-25000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65969" name="Line 1038"/>
              <p:cNvSpPr/>
              <p:nvPr/>
            </p:nvSpPr>
            <p:spPr>
              <a:xfrm>
                <a:off x="1977" y="1174"/>
                <a:ext cx="0" cy="680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5970" name="Line 1039"/>
              <p:cNvSpPr/>
              <p:nvPr/>
            </p:nvSpPr>
            <p:spPr>
              <a:xfrm>
                <a:off x="2310" y="1165"/>
                <a:ext cx="0" cy="711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65960" name="Rectangle 5"/>
            <p:cNvSpPr/>
            <p:nvPr/>
          </p:nvSpPr>
          <p:spPr>
            <a:xfrm>
              <a:off x="1720825" y="5842896"/>
              <a:ext cx="1854201" cy="43180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1905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669925" algn="r"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rgbClr val="003300"/>
                  </a:solidFill>
                </a:rPr>
                <a:t>D</a:t>
              </a:r>
              <a:r>
                <a:rPr lang="en-US" altLang="zh-CN" sz="2000" b="1" baseline="-25000" dirty="0">
                  <a:solidFill>
                    <a:srgbClr val="003300"/>
                  </a:solidFill>
                </a:rPr>
                <a:t>1</a:t>
              </a:r>
              <a:r>
                <a:rPr lang="en-US" altLang="zh-CN" sz="2000" b="1" i="1" dirty="0">
                  <a:solidFill>
                    <a:srgbClr val="003300"/>
                  </a:solidFill>
                </a:rPr>
                <a:t>= </a:t>
              </a:r>
              <a:r>
                <a:rPr lang="en-US" altLang="zh-CN" sz="2000" b="1" i="1" dirty="0">
                  <a:solidFill>
                    <a:srgbClr val="000000"/>
                  </a:solidFill>
                </a:rPr>
                <a:t>wq'</a:t>
              </a:r>
              <a:r>
                <a:rPr lang="en-US" altLang="zh-CN" sz="2000" b="1" baseline="-25000" dirty="0">
                  <a:solidFill>
                    <a:srgbClr val="000000"/>
                  </a:solidFill>
                </a:rPr>
                <a:t>2</a:t>
              </a:r>
              <a:r>
                <a:rPr lang="en-US" altLang="zh-CN" sz="2000" b="1" i="1" dirty="0">
                  <a:solidFill>
                    <a:srgbClr val="000000"/>
                  </a:solidFill>
                </a:rPr>
                <a:t>q'</a:t>
              </a:r>
              <a:r>
                <a:rPr lang="en-US" altLang="zh-CN" sz="2000" b="1" baseline="-25000" dirty="0">
                  <a:solidFill>
                    <a:srgbClr val="000000"/>
                  </a:solidFill>
                </a:rPr>
                <a:t>1 </a:t>
              </a:r>
              <a:endParaRPr lang="en-US" altLang="zh-CN" sz="2000" b="1" dirty="0">
                <a:solidFill>
                  <a:srgbClr val="0000CC"/>
                </a:solidFill>
              </a:endParaRPr>
            </a:p>
          </p:txBody>
        </p:sp>
      </p:grpSp>
      <p:sp>
        <p:nvSpPr>
          <p:cNvPr id="165950" name="矩形: 圆角 1"/>
          <p:cNvSpPr/>
          <p:nvPr/>
        </p:nvSpPr>
        <p:spPr>
          <a:xfrm>
            <a:off x="4017963" y="5822950"/>
            <a:ext cx="457200" cy="407988"/>
          </a:xfrm>
          <a:prstGeom prst="roundRect">
            <a:avLst>
              <a:gd name="adj" fmla="val 16667"/>
            </a:avLst>
          </a:prstGeom>
          <a:solidFill>
            <a:srgbClr val="069E0A">
              <a:alpha val="39999"/>
            </a:srgbClr>
          </a:solidFill>
          <a:ln w="12700" cap="flat" cmpd="sng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b="1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165951" name="Text Box 1040"/>
          <p:cNvSpPr txBox="1"/>
          <p:nvPr/>
        </p:nvSpPr>
        <p:spPr>
          <a:xfrm>
            <a:off x="2168525" y="5238750"/>
            <a:ext cx="481013" cy="1077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3300"/>
                </a:solidFill>
                <a:latin typeface="Viner Hand ITC" panose="03070502030502020203" pitchFamily="66" charset="0"/>
              </a:rPr>
              <a:t>×</a:t>
            </a:r>
            <a:r>
              <a:rPr lang="en-US" altLang="zh-CN" sz="2800" dirty="0">
                <a:solidFill>
                  <a:srgbClr val="003300"/>
                </a:solidFill>
              </a:rPr>
              <a:t>   </a:t>
            </a:r>
            <a:r>
              <a:rPr lang="en-US" altLang="zh-CN" sz="2800" dirty="0">
                <a:solidFill>
                  <a:srgbClr val="003300"/>
                </a:solidFill>
                <a:latin typeface="Viner Hand ITC" panose="03070502030502020203" pitchFamily="66" charset="0"/>
              </a:rPr>
              <a:t>×</a:t>
            </a:r>
            <a:endParaRPr lang="en-US" altLang="zh-CN" sz="2800" dirty="0">
              <a:solidFill>
                <a:srgbClr val="003300"/>
              </a:solidFill>
            </a:endParaRPr>
          </a:p>
        </p:txBody>
      </p:sp>
      <p:sp>
        <p:nvSpPr>
          <p:cNvPr id="165952" name="矩形 47"/>
          <p:cNvSpPr/>
          <p:nvPr/>
        </p:nvSpPr>
        <p:spPr>
          <a:xfrm>
            <a:off x="4092575" y="5808663"/>
            <a:ext cx="15382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003300"/>
                </a:solidFill>
              </a:rPr>
              <a:t>1          </a:t>
            </a:r>
            <a:r>
              <a:rPr lang="en-US" altLang="zh-CN" b="1" dirty="0">
                <a:solidFill>
                  <a:srgbClr val="003300"/>
                </a:solidFill>
                <a:latin typeface="Viner Hand ITC" panose="03070502030502020203" pitchFamily="66" charset="0"/>
              </a:rPr>
              <a:t>×</a:t>
            </a:r>
            <a:endParaRPr lang="zh-CN" altLang="en-US" b="1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165953" name="矩形 48"/>
          <p:cNvSpPr/>
          <p:nvPr/>
        </p:nvSpPr>
        <p:spPr>
          <a:xfrm>
            <a:off x="5002213" y="5270500"/>
            <a:ext cx="5715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003300"/>
                </a:solidFill>
                <a:latin typeface="Viner Hand ITC" panose="03070502030502020203" pitchFamily="66" charset="0"/>
              </a:rPr>
              <a:t>×</a:t>
            </a:r>
            <a:endParaRPr lang="zh-CN" altLang="en-US" b="1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165954" name="矩形: 圆角 1"/>
          <p:cNvSpPr/>
          <p:nvPr/>
        </p:nvSpPr>
        <p:spPr>
          <a:xfrm>
            <a:off x="2251075" y="5827713"/>
            <a:ext cx="906463" cy="407987"/>
          </a:xfrm>
          <a:prstGeom prst="roundRect">
            <a:avLst>
              <a:gd name="adj" fmla="val 16667"/>
            </a:avLst>
          </a:prstGeom>
          <a:solidFill>
            <a:srgbClr val="FF0000">
              <a:alpha val="39999"/>
            </a:srgbClr>
          </a:solidFill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b="1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630863" y="2147888"/>
            <a:ext cx="715963" cy="2376488"/>
          </a:xfrm>
          <a:prstGeom prst="rect">
            <a:avLst/>
          </a:prstGeom>
          <a:solidFill>
            <a:schemeClr val="tx1">
              <a:lumMod val="60000"/>
              <a:lumOff val="40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矩形 54"/>
          <p:cNvSpPr/>
          <p:nvPr/>
        </p:nvSpPr>
        <p:spPr bwMode="auto">
          <a:xfrm>
            <a:off x="7697788" y="2132013"/>
            <a:ext cx="603250" cy="2376488"/>
          </a:xfrm>
          <a:prstGeom prst="rect">
            <a:avLst/>
          </a:prstGeom>
          <a:solidFill>
            <a:schemeClr val="tx1">
              <a:lumMod val="60000"/>
              <a:lumOff val="40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5957" name="矩形 56"/>
          <p:cNvSpPr/>
          <p:nvPr/>
        </p:nvSpPr>
        <p:spPr>
          <a:xfrm>
            <a:off x="6334125" y="2132013"/>
            <a:ext cx="717550" cy="2376487"/>
          </a:xfrm>
          <a:prstGeom prst="rect">
            <a:avLst/>
          </a:prstGeom>
          <a:solidFill>
            <a:srgbClr val="FF0000">
              <a:alpha val="20000"/>
            </a:srgbClr>
          </a:solidFill>
          <a:ln w="12700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165958" name="矩形 59"/>
          <p:cNvSpPr/>
          <p:nvPr/>
        </p:nvSpPr>
        <p:spPr>
          <a:xfrm>
            <a:off x="8312150" y="2139950"/>
            <a:ext cx="569913" cy="2374900"/>
          </a:xfrm>
          <a:prstGeom prst="rect">
            <a:avLst/>
          </a:prstGeom>
          <a:solidFill>
            <a:srgbClr val="FF0000">
              <a:alpha val="20000"/>
            </a:srgbClr>
          </a:solidFill>
          <a:ln w="12700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6914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98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同步时序电路举例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66916" name="TextBox 1"/>
          <p:cNvSpPr txBox="1"/>
          <p:nvPr/>
        </p:nvSpPr>
        <p:spPr>
          <a:xfrm>
            <a:off x="498475" y="1252538"/>
            <a:ext cx="8326438" cy="503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zh-CN" altLang="en-US" sz="2300" b="1" dirty="0">
                <a:solidFill>
                  <a:srgbClr val="C00000"/>
                </a:solidFill>
                <a:latin typeface="宋体" panose="02010600030101010101" pitchFamily="2" charset="-122"/>
              </a:rPr>
              <a:t>根据激励方程和输出方程，画出电路（图中未画出</a:t>
            </a:r>
            <a:r>
              <a:rPr lang="en-US" altLang="zh-CN" sz="2300" b="1" i="1" dirty="0">
                <a:solidFill>
                  <a:srgbClr val="C00000"/>
                </a:solidFill>
              </a:rPr>
              <a:t>Reset_n</a:t>
            </a:r>
            <a:r>
              <a:rPr lang="zh-CN" altLang="en-US" sz="2300" b="1" dirty="0">
                <a:solidFill>
                  <a:srgbClr val="C00000"/>
                </a:solidFill>
                <a:latin typeface="宋体" panose="02010600030101010101" pitchFamily="2" charset="-122"/>
              </a:rPr>
              <a:t>）：</a:t>
            </a:r>
            <a:endParaRPr lang="zh-CN" altLang="en-US" sz="23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pic>
        <p:nvPicPr>
          <p:cNvPr id="166917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2816225"/>
            <a:ext cx="6302375" cy="2700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6918" name="TextBox 1"/>
          <p:cNvSpPr txBox="1"/>
          <p:nvPr/>
        </p:nvSpPr>
        <p:spPr>
          <a:xfrm>
            <a:off x="498475" y="1849438"/>
            <a:ext cx="6232525" cy="966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zh-CN" altLang="en-US" sz="2300" b="1" dirty="0">
                <a:solidFill>
                  <a:srgbClr val="000000"/>
                </a:solidFill>
              </a:rPr>
              <a:t>驱动方程：</a:t>
            </a:r>
            <a:r>
              <a:rPr lang="en-US" altLang="zh-CN" sz="2300" b="1" i="1" dirty="0">
                <a:solidFill>
                  <a:srgbClr val="000000"/>
                </a:solidFill>
              </a:rPr>
              <a:t>D</a:t>
            </a:r>
            <a:r>
              <a:rPr lang="en-US" altLang="zh-CN" sz="2300" b="1" baseline="-25000" dirty="0">
                <a:solidFill>
                  <a:srgbClr val="000000"/>
                </a:solidFill>
              </a:rPr>
              <a:t>2 </a:t>
            </a:r>
            <a:r>
              <a:rPr lang="en-US" altLang="zh-CN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= </a:t>
            </a:r>
            <a:r>
              <a:rPr lang="en-US" altLang="zh-CN" sz="2300" b="1" i="1" dirty="0">
                <a:solidFill>
                  <a:srgbClr val="000000"/>
                </a:solidFill>
              </a:rPr>
              <a:t>w</a:t>
            </a:r>
            <a:r>
              <a:rPr lang="en-US" altLang="zh-CN" sz="2300" b="1" dirty="0">
                <a:solidFill>
                  <a:srgbClr val="000000"/>
                </a:solidFill>
              </a:rPr>
              <a:t>(</a:t>
            </a:r>
            <a:r>
              <a:rPr lang="en-US" altLang="zh-CN" sz="2300" b="1" i="1" dirty="0">
                <a:solidFill>
                  <a:srgbClr val="000000"/>
                </a:solidFill>
              </a:rPr>
              <a:t>q</a:t>
            </a:r>
            <a:r>
              <a:rPr lang="en-US" altLang="zh-CN" sz="2300" b="1" baseline="-25000" dirty="0">
                <a:solidFill>
                  <a:srgbClr val="000000"/>
                </a:solidFill>
              </a:rPr>
              <a:t>2</a:t>
            </a:r>
            <a:r>
              <a:rPr lang="en-US" altLang="zh-CN" sz="2300" b="1" i="1" dirty="0">
                <a:solidFill>
                  <a:srgbClr val="000000"/>
                </a:solidFill>
              </a:rPr>
              <a:t>+q</a:t>
            </a:r>
            <a:r>
              <a:rPr lang="en-US" altLang="zh-CN" sz="2300" b="1" baseline="-25000" dirty="0">
                <a:solidFill>
                  <a:srgbClr val="000000"/>
                </a:solidFill>
              </a:rPr>
              <a:t>1</a:t>
            </a:r>
            <a:r>
              <a:rPr lang="en-US" altLang="zh-CN" sz="2300" b="1" dirty="0">
                <a:solidFill>
                  <a:srgbClr val="000000"/>
                </a:solidFill>
              </a:rPr>
              <a:t>) </a:t>
            </a:r>
            <a:r>
              <a:rPr lang="en-US" altLang="zh-CN" sz="2300" b="1" i="1" dirty="0">
                <a:solidFill>
                  <a:srgbClr val="000000"/>
                </a:solidFill>
              </a:rPr>
              <a:t>, D</a:t>
            </a:r>
            <a:r>
              <a:rPr lang="en-US" altLang="zh-CN" sz="2300" b="1" baseline="-25000" dirty="0">
                <a:solidFill>
                  <a:srgbClr val="000000"/>
                </a:solidFill>
              </a:rPr>
              <a:t>1 </a:t>
            </a:r>
            <a:r>
              <a:rPr lang="en-US" altLang="zh-CN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= </a:t>
            </a:r>
            <a:r>
              <a:rPr lang="en-US" altLang="zh-CN" sz="2300" b="1" i="1" dirty="0">
                <a:solidFill>
                  <a:srgbClr val="000000"/>
                </a:solidFill>
              </a:rPr>
              <a:t>wq'</a:t>
            </a:r>
            <a:r>
              <a:rPr lang="en-US" altLang="zh-CN" sz="2300" b="1" baseline="-25000" dirty="0">
                <a:solidFill>
                  <a:srgbClr val="000000"/>
                </a:solidFill>
              </a:rPr>
              <a:t>2</a:t>
            </a:r>
            <a:r>
              <a:rPr lang="en-US" altLang="zh-CN" sz="2300" b="1" i="1" dirty="0">
                <a:solidFill>
                  <a:srgbClr val="000000"/>
                </a:solidFill>
              </a:rPr>
              <a:t>q’</a:t>
            </a:r>
            <a:r>
              <a:rPr lang="en-US" altLang="zh-CN" sz="2300" b="1" baseline="-25000" dirty="0">
                <a:solidFill>
                  <a:srgbClr val="000000"/>
                </a:solidFill>
              </a:rPr>
              <a:t>1 </a:t>
            </a:r>
            <a:r>
              <a:rPr lang="zh-CN" altLang="en-US" sz="2300" b="1" i="1" dirty="0">
                <a:solidFill>
                  <a:srgbClr val="000000"/>
                </a:solidFill>
              </a:rPr>
              <a:t>；</a:t>
            </a:r>
            <a:endParaRPr lang="en-US" altLang="zh-CN" sz="2300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zh-CN" altLang="en-US" sz="2300" b="1" dirty="0">
                <a:solidFill>
                  <a:srgbClr val="000000"/>
                </a:solidFill>
              </a:rPr>
              <a:t>输出方程：</a:t>
            </a:r>
            <a:r>
              <a:rPr lang="en-US" altLang="zh-CN" sz="2300" b="1" dirty="0">
                <a:solidFill>
                  <a:srgbClr val="000000"/>
                </a:solidFill>
              </a:rPr>
              <a:t> </a:t>
            </a:r>
            <a:r>
              <a:rPr lang="en-US" altLang="zh-CN" sz="2300" b="1" i="1" dirty="0">
                <a:solidFill>
                  <a:srgbClr val="000000"/>
                </a:solidFill>
              </a:rPr>
              <a:t>z </a:t>
            </a:r>
            <a:r>
              <a:rPr lang="en-US" altLang="zh-CN" sz="2300" b="1" dirty="0">
                <a:solidFill>
                  <a:srgbClr val="000000"/>
                </a:solidFill>
              </a:rPr>
              <a:t>= </a:t>
            </a:r>
            <a:r>
              <a:rPr lang="en-US" altLang="zh-CN" sz="2300" b="1" i="1" dirty="0">
                <a:solidFill>
                  <a:srgbClr val="000000"/>
                </a:solidFill>
              </a:rPr>
              <a:t>q</a:t>
            </a:r>
            <a:r>
              <a:rPr lang="en-US" altLang="zh-CN" sz="2300" b="1" baseline="-25000" dirty="0">
                <a:solidFill>
                  <a:srgbClr val="000000"/>
                </a:solidFill>
              </a:rPr>
              <a:t>2</a:t>
            </a:r>
            <a:endParaRPr lang="en-US" altLang="zh-CN" sz="2300" b="1" baseline="-25000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166919" name="Rectangle 2"/>
          <p:cNvSpPr/>
          <p:nvPr/>
        </p:nvSpPr>
        <p:spPr>
          <a:xfrm>
            <a:off x="2413000" y="5605463"/>
            <a:ext cx="4318000" cy="425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图</a:t>
            </a:r>
            <a:r>
              <a:rPr lang="en-US" altLang="zh-CN" sz="2000" b="1" dirty="0">
                <a:solidFill>
                  <a:srgbClr val="000000"/>
                </a:solidFill>
              </a:rPr>
              <a:t>6.8 D</a:t>
            </a:r>
            <a:r>
              <a:rPr lang="zh-CN" altLang="en-US" sz="2000" b="1" dirty="0">
                <a:solidFill>
                  <a:srgbClr val="000000"/>
                </a:solidFill>
              </a:rPr>
              <a:t>触发器实现“</a:t>
            </a:r>
            <a:r>
              <a:rPr lang="en-US" altLang="zh-CN" sz="2000" b="1" dirty="0">
                <a:solidFill>
                  <a:srgbClr val="000000"/>
                </a:solidFill>
              </a:rPr>
              <a:t>11</a:t>
            </a:r>
            <a:r>
              <a:rPr lang="zh-CN" altLang="en-US" sz="2000" b="1" dirty="0">
                <a:solidFill>
                  <a:srgbClr val="000000"/>
                </a:solidFill>
              </a:rPr>
              <a:t>”序列检测器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7938" name="Rectangle 2"/>
          <p:cNvSpPr/>
          <p:nvPr/>
        </p:nvSpPr>
        <p:spPr>
          <a:xfrm>
            <a:off x="2778125" y="6061075"/>
            <a:ext cx="3673475" cy="466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000000"/>
                </a:solidFill>
              </a:rPr>
              <a:t>图</a:t>
            </a:r>
            <a:r>
              <a:rPr lang="en-US" altLang="zh-CN" dirty="0">
                <a:solidFill>
                  <a:srgbClr val="000000"/>
                </a:solidFill>
              </a:rPr>
              <a:t>6.9. </a:t>
            </a:r>
            <a:r>
              <a:rPr lang="zh-CN" altLang="en-US" dirty="0">
                <a:solidFill>
                  <a:srgbClr val="000000"/>
                </a:solidFill>
              </a:rPr>
              <a:t>时序图</a:t>
            </a:r>
            <a:endParaRPr lang="en-US" altLang="zh-CN" dirty="0">
              <a:solidFill>
                <a:srgbClr val="000000"/>
              </a:solidFill>
            </a:endParaRPr>
          </a:p>
        </p:txBody>
      </p:sp>
      <p:grpSp>
        <p:nvGrpSpPr>
          <p:cNvPr id="167939" name="Group 67"/>
          <p:cNvGrpSpPr/>
          <p:nvPr/>
        </p:nvGrpSpPr>
        <p:grpSpPr>
          <a:xfrm>
            <a:off x="1265238" y="2109788"/>
            <a:ext cx="6546850" cy="3927475"/>
            <a:chOff x="797" y="858"/>
            <a:chExt cx="4124" cy="2474"/>
          </a:xfrm>
        </p:grpSpPr>
        <p:sp>
          <p:nvSpPr>
            <p:cNvPr id="167942" name="Line 4"/>
            <p:cNvSpPr/>
            <p:nvPr/>
          </p:nvSpPr>
          <p:spPr>
            <a:xfrm flipV="1">
              <a:off x="1433" y="1198"/>
              <a:ext cx="1" cy="213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7943" name="Line 5"/>
            <p:cNvSpPr/>
            <p:nvPr/>
          </p:nvSpPr>
          <p:spPr>
            <a:xfrm flipV="1">
              <a:off x="1735" y="1198"/>
              <a:ext cx="1" cy="213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7944" name="Line 6"/>
            <p:cNvSpPr/>
            <p:nvPr/>
          </p:nvSpPr>
          <p:spPr>
            <a:xfrm flipV="1">
              <a:off x="2024" y="1198"/>
              <a:ext cx="1" cy="213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7945" name="Line 7"/>
            <p:cNvSpPr/>
            <p:nvPr/>
          </p:nvSpPr>
          <p:spPr>
            <a:xfrm flipV="1">
              <a:off x="2326" y="1198"/>
              <a:ext cx="1" cy="213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7946" name="Line 8"/>
            <p:cNvSpPr/>
            <p:nvPr/>
          </p:nvSpPr>
          <p:spPr>
            <a:xfrm flipV="1">
              <a:off x="2615" y="1198"/>
              <a:ext cx="1" cy="213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7947" name="Line 9"/>
            <p:cNvSpPr/>
            <p:nvPr/>
          </p:nvSpPr>
          <p:spPr>
            <a:xfrm flipV="1">
              <a:off x="2903" y="1198"/>
              <a:ext cx="1" cy="213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7948" name="Line 10"/>
            <p:cNvSpPr/>
            <p:nvPr/>
          </p:nvSpPr>
          <p:spPr>
            <a:xfrm flipV="1">
              <a:off x="3206" y="1198"/>
              <a:ext cx="1" cy="213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7949" name="Line 11"/>
            <p:cNvSpPr/>
            <p:nvPr/>
          </p:nvSpPr>
          <p:spPr>
            <a:xfrm flipV="1">
              <a:off x="3494" y="1198"/>
              <a:ext cx="1" cy="213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7950" name="Line 12"/>
            <p:cNvSpPr/>
            <p:nvPr/>
          </p:nvSpPr>
          <p:spPr>
            <a:xfrm flipV="1">
              <a:off x="3797" y="1198"/>
              <a:ext cx="1" cy="213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7951" name="Line 13"/>
            <p:cNvSpPr/>
            <p:nvPr/>
          </p:nvSpPr>
          <p:spPr>
            <a:xfrm flipV="1">
              <a:off x="4085" y="1198"/>
              <a:ext cx="1" cy="213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7952" name="Line 14"/>
            <p:cNvSpPr/>
            <p:nvPr/>
          </p:nvSpPr>
          <p:spPr>
            <a:xfrm flipV="1">
              <a:off x="4387" y="1198"/>
              <a:ext cx="1" cy="213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7953" name="Line 15"/>
            <p:cNvSpPr/>
            <p:nvPr/>
          </p:nvSpPr>
          <p:spPr>
            <a:xfrm flipV="1">
              <a:off x="4676" y="1198"/>
              <a:ext cx="1" cy="213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7954" name="Freeform 16"/>
            <p:cNvSpPr/>
            <p:nvPr/>
          </p:nvSpPr>
          <p:spPr>
            <a:xfrm>
              <a:off x="1289" y="953"/>
              <a:ext cx="1181" cy="216"/>
            </a:xfrm>
            <a:custGeom>
              <a:avLst/>
              <a:gdLst/>
              <a:ahLst/>
              <a:cxnLst>
                <a:cxn ang="0">
                  <a:pos x="590" y="108"/>
                </a:cxn>
                <a:cxn ang="0">
                  <a:pos x="590" y="0"/>
                </a:cxn>
                <a:cxn ang="0">
                  <a:pos x="518" y="0"/>
                </a:cxn>
                <a:cxn ang="0">
                  <a:pos x="518" y="108"/>
                </a:cxn>
                <a:cxn ang="0">
                  <a:pos x="439" y="108"/>
                </a:cxn>
                <a:cxn ang="0">
                  <a:pos x="439" y="0"/>
                </a:cxn>
                <a:cxn ang="0">
                  <a:pos x="367" y="0"/>
                </a:cxn>
                <a:cxn ang="0">
                  <a:pos x="367" y="108"/>
                </a:cxn>
                <a:cxn ang="0">
                  <a:pos x="295" y="108"/>
                </a:cxn>
                <a:cxn ang="0">
                  <a:pos x="295" y="0"/>
                </a:cxn>
                <a:cxn ang="0">
                  <a:pos x="223" y="0"/>
                </a:cxn>
                <a:cxn ang="0">
                  <a:pos x="223" y="108"/>
                </a:cxn>
                <a:cxn ang="0">
                  <a:pos x="151" y="108"/>
                </a:cxn>
                <a:cxn ang="0">
                  <a:pos x="151" y="0"/>
                </a:cxn>
                <a:cxn ang="0">
                  <a:pos x="72" y="0"/>
                </a:cxn>
                <a:cxn ang="0">
                  <a:pos x="72" y="108"/>
                </a:cxn>
                <a:cxn ang="0">
                  <a:pos x="0" y="108"/>
                </a:cxn>
              </a:cxnLst>
              <a:pathLst>
                <a:path w="2364" h="433">
                  <a:moveTo>
                    <a:pt x="2364" y="433"/>
                  </a:moveTo>
                  <a:lnTo>
                    <a:pt x="2364" y="0"/>
                  </a:lnTo>
                  <a:lnTo>
                    <a:pt x="2076" y="0"/>
                  </a:lnTo>
                  <a:lnTo>
                    <a:pt x="2076" y="433"/>
                  </a:lnTo>
                  <a:lnTo>
                    <a:pt x="1759" y="433"/>
                  </a:lnTo>
                  <a:lnTo>
                    <a:pt x="1759" y="0"/>
                  </a:lnTo>
                  <a:lnTo>
                    <a:pt x="1470" y="0"/>
                  </a:lnTo>
                  <a:lnTo>
                    <a:pt x="1470" y="433"/>
                  </a:lnTo>
                  <a:lnTo>
                    <a:pt x="1182" y="433"/>
                  </a:lnTo>
                  <a:lnTo>
                    <a:pt x="1182" y="0"/>
                  </a:lnTo>
                  <a:lnTo>
                    <a:pt x="894" y="0"/>
                  </a:lnTo>
                  <a:lnTo>
                    <a:pt x="894" y="433"/>
                  </a:lnTo>
                  <a:lnTo>
                    <a:pt x="605" y="433"/>
                  </a:lnTo>
                  <a:lnTo>
                    <a:pt x="605" y="0"/>
                  </a:lnTo>
                  <a:lnTo>
                    <a:pt x="288" y="0"/>
                  </a:lnTo>
                  <a:lnTo>
                    <a:pt x="288" y="433"/>
                  </a:lnTo>
                  <a:lnTo>
                    <a:pt x="0" y="433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7955" name="Freeform 17"/>
            <p:cNvSpPr/>
            <p:nvPr/>
          </p:nvSpPr>
          <p:spPr>
            <a:xfrm>
              <a:off x="2470" y="953"/>
              <a:ext cx="1168" cy="216"/>
            </a:xfrm>
            <a:custGeom>
              <a:avLst/>
              <a:gdLst/>
              <a:ahLst/>
              <a:cxnLst>
                <a:cxn ang="0">
                  <a:pos x="584" y="108"/>
                </a:cxn>
                <a:cxn ang="0">
                  <a:pos x="584" y="0"/>
                </a:cxn>
                <a:cxn ang="0">
                  <a:pos x="512" y="0"/>
                </a:cxn>
                <a:cxn ang="0">
                  <a:pos x="512" y="108"/>
                </a:cxn>
                <a:cxn ang="0">
                  <a:pos x="440" y="108"/>
                </a:cxn>
                <a:cxn ang="0">
                  <a:pos x="440" y="0"/>
                </a:cxn>
                <a:cxn ang="0">
                  <a:pos x="368" y="0"/>
                </a:cxn>
                <a:cxn ang="0">
                  <a:pos x="368" y="108"/>
                </a:cxn>
                <a:cxn ang="0">
                  <a:pos x="296" y="108"/>
                </a:cxn>
                <a:cxn ang="0">
                  <a:pos x="296" y="0"/>
                </a:cxn>
                <a:cxn ang="0">
                  <a:pos x="217" y="0"/>
                </a:cxn>
                <a:cxn ang="0">
                  <a:pos x="217" y="108"/>
                </a:cxn>
                <a:cxn ang="0">
                  <a:pos x="144" y="108"/>
                </a:cxn>
                <a:cxn ang="0">
                  <a:pos x="144" y="0"/>
                </a:cxn>
                <a:cxn ang="0">
                  <a:pos x="72" y="0"/>
                </a:cxn>
                <a:cxn ang="0">
                  <a:pos x="72" y="108"/>
                </a:cxn>
                <a:cxn ang="0">
                  <a:pos x="0" y="108"/>
                </a:cxn>
              </a:cxnLst>
              <a:pathLst>
                <a:path w="2335" h="433">
                  <a:moveTo>
                    <a:pt x="2335" y="433"/>
                  </a:moveTo>
                  <a:lnTo>
                    <a:pt x="2335" y="0"/>
                  </a:lnTo>
                  <a:lnTo>
                    <a:pt x="2047" y="0"/>
                  </a:lnTo>
                  <a:lnTo>
                    <a:pt x="2047" y="433"/>
                  </a:lnTo>
                  <a:lnTo>
                    <a:pt x="1758" y="433"/>
                  </a:lnTo>
                  <a:lnTo>
                    <a:pt x="1758" y="0"/>
                  </a:lnTo>
                  <a:lnTo>
                    <a:pt x="1470" y="0"/>
                  </a:lnTo>
                  <a:lnTo>
                    <a:pt x="1470" y="433"/>
                  </a:lnTo>
                  <a:lnTo>
                    <a:pt x="1182" y="433"/>
                  </a:lnTo>
                  <a:lnTo>
                    <a:pt x="1182" y="0"/>
                  </a:lnTo>
                  <a:lnTo>
                    <a:pt x="865" y="0"/>
                  </a:lnTo>
                  <a:lnTo>
                    <a:pt x="865" y="433"/>
                  </a:lnTo>
                  <a:lnTo>
                    <a:pt x="576" y="433"/>
                  </a:lnTo>
                  <a:lnTo>
                    <a:pt x="576" y="0"/>
                  </a:lnTo>
                  <a:lnTo>
                    <a:pt x="288" y="0"/>
                  </a:lnTo>
                  <a:lnTo>
                    <a:pt x="288" y="433"/>
                  </a:lnTo>
                  <a:lnTo>
                    <a:pt x="0" y="433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7956" name="Freeform 18"/>
            <p:cNvSpPr/>
            <p:nvPr/>
          </p:nvSpPr>
          <p:spPr>
            <a:xfrm>
              <a:off x="3638" y="953"/>
              <a:ext cx="1182" cy="216"/>
            </a:xfrm>
            <a:custGeom>
              <a:avLst/>
              <a:gdLst/>
              <a:ahLst/>
              <a:cxnLst>
                <a:cxn ang="0">
                  <a:pos x="591" y="0"/>
                </a:cxn>
                <a:cxn ang="0">
                  <a:pos x="519" y="0"/>
                </a:cxn>
                <a:cxn ang="0">
                  <a:pos x="519" y="108"/>
                </a:cxn>
                <a:cxn ang="0">
                  <a:pos x="447" y="108"/>
                </a:cxn>
                <a:cxn ang="0">
                  <a:pos x="447" y="0"/>
                </a:cxn>
                <a:cxn ang="0">
                  <a:pos x="368" y="0"/>
                </a:cxn>
                <a:cxn ang="0">
                  <a:pos x="368" y="108"/>
                </a:cxn>
                <a:cxn ang="0">
                  <a:pos x="296" y="108"/>
                </a:cxn>
                <a:cxn ang="0">
                  <a:pos x="296" y="0"/>
                </a:cxn>
                <a:cxn ang="0">
                  <a:pos x="224" y="0"/>
                </a:cxn>
                <a:cxn ang="0">
                  <a:pos x="224" y="108"/>
                </a:cxn>
                <a:cxn ang="0">
                  <a:pos x="152" y="108"/>
                </a:cxn>
                <a:cxn ang="0">
                  <a:pos x="152" y="0"/>
                </a:cxn>
                <a:cxn ang="0">
                  <a:pos x="80" y="0"/>
                </a:cxn>
                <a:cxn ang="0">
                  <a:pos x="80" y="108"/>
                </a:cxn>
                <a:cxn ang="0">
                  <a:pos x="0" y="108"/>
                </a:cxn>
              </a:cxnLst>
              <a:pathLst>
                <a:path w="2364" h="433">
                  <a:moveTo>
                    <a:pt x="2364" y="0"/>
                  </a:moveTo>
                  <a:lnTo>
                    <a:pt x="2076" y="0"/>
                  </a:lnTo>
                  <a:lnTo>
                    <a:pt x="2076" y="433"/>
                  </a:lnTo>
                  <a:lnTo>
                    <a:pt x="1787" y="433"/>
                  </a:lnTo>
                  <a:lnTo>
                    <a:pt x="1787" y="0"/>
                  </a:lnTo>
                  <a:lnTo>
                    <a:pt x="1470" y="0"/>
                  </a:lnTo>
                  <a:lnTo>
                    <a:pt x="1470" y="433"/>
                  </a:lnTo>
                  <a:lnTo>
                    <a:pt x="1182" y="433"/>
                  </a:lnTo>
                  <a:lnTo>
                    <a:pt x="1182" y="0"/>
                  </a:lnTo>
                  <a:lnTo>
                    <a:pt x="894" y="0"/>
                  </a:lnTo>
                  <a:lnTo>
                    <a:pt x="894" y="433"/>
                  </a:lnTo>
                  <a:lnTo>
                    <a:pt x="605" y="433"/>
                  </a:lnTo>
                  <a:lnTo>
                    <a:pt x="605" y="0"/>
                  </a:lnTo>
                  <a:lnTo>
                    <a:pt x="317" y="0"/>
                  </a:lnTo>
                  <a:lnTo>
                    <a:pt x="317" y="433"/>
                  </a:lnTo>
                  <a:lnTo>
                    <a:pt x="0" y="433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7957" name="Freeform 19"/>
            <p:cNvSpPr/>
            <p:nvPr/>
          </p:nvSpPr>
          <p:spPr>
            <a:xfrm>
              <a:off x="1274" y="1443"/>
              <a:ext cx="2854" cy="231"/>
            </a:xfrm>
            <a:custGeom>
              <a:avLst/>
              <a:gdLst/>
              <a:ahLst/>
              <a:cxnLst>
                <a:cxn ang="0">
                  <a:pos x="1427" y="0"/>
                </a:cxn>
                <a:cxn ang="0">
                  <a:pos x="988" y="0"/>
                </a:cxn>
                <a:cxn ang="0">
                  <a:pos x="988" y="116"/>
                </a:cxn>
                <a:cxn ang="0">
                  <a:pos x="836" y="116"/>
                </a:cxn>
                <a:cxn ang="0">
                  <a:pos x="836" y="8"/>
                </a:cxn>
                <a:cxn ang="0">
                  <a:pos x="548" y="8"/>
                </a:cxn>
                <a:cxn ang="0">
                  <a:pos x="548" y="116"/>
                </a:cxn>
                <a:cxn ang="0">
                  <a:pos x="397" y="116"/>
                </a:cxn>
                <a:cxn ang="0">
                  <a:pos x="397" y="8"/>
                </a:cxn>
                <a:cxn ang="0">
                  <a:pos x="325" y="8"/>
                </a:cxn>
                <a:cxn ang="0">
                  <a:pos x="253" y="8"/>
                </a:cxn>
                <a:cxn ang="0">
                  <a:pos x="253" y="116"/>
                </a:cxn>
                <a:cxn ang="0">
                  <a:pos x="0" y="116"/>
                </a:cxn>
              </a:cxnLst>
              <a:pathLst>
                <a:path w="5708" h="461">
                  <a:moveTo>
                    <a:pt x="5708" y="0"/>
                  </a:moveTo>
                  <a:lnTo>
                    <a:pt x="3950" y="0"/>
                  </a:lnTo>
                  <a:lnTo>
                    <a:pt x="3950" y="461"/>
                  </a:lnTo>
                  <a:lnTo>
                    <a:pt x="3344" y="461"/>
                  </a:lnTo>
                  <a:lnTo>
                    <a:pt x="3344" y="29"/>
                  </a:lnTo>
                  <a:lnTo>
                    <a:pt x="2191" y="29"/>
                  </a:lnTo>
                  <a:lnTo>
                    <a:pt x="2191" y="461"/>
                  </a:lnTo>
                  <a:lnTo>
                    <a:pt x="1586" y="461"/>
                  </a:lnTo>
                  <a:lnTo>
                    <a:pt x="1586" y="29"/>
                  </a:lnTo>
                  <a:lnTo>
                    <a:pt x="1297" y="29"/>
                  </a:lnTo>
                  <a:lnTo>
                    <a:pt x="1009" y="29"/>
                  </a:lnTo>
                  <a:lnTo>
                    <a:pt x="1009" y="461"/>
                  </a:lnTo>
                  <a:lnTo>
                    <a:pt x="0" y="461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7958" name="Freeform 20"/>
            <p:cNvSpPr/>
            <p:nvPr/>
          </p:nvSpPr>
          <p:spPr>
            <a:xfrm>
              <a:off x="1289" y="1980"/>
              <a:ext cx="1657" cy="231"/>
            </a:xfrm>
            <a:custGeom>
              <a:avLst/>
              <a:gdLst/>
              <a:ahLst/>
              <a:cxnLst>
                <a:cxn ang="0">
                  <a:pos x="828" y="116"/>
                </a:cxn>
                <a:cxn ang="0">
                  <a:pos x="828" y="0"/>
                </a:cxn>
                <a:cxn ang="0">
                  <a:pos x="684" y="0"/>
                </a:cxn>
                <a:cxn ang="0">
                  <a:pos x="684" y="116"/>
                </a:cxn>
                <a:cxn ang="0">
                  <a:pos x="540" y="116"/>
                </a:cxn>
                <a:cxn ang="0">
                  <a:pos x="540" y="0"/>
                </a:cxn>
                <a:cxn ang="0">
                  <a:pos x="396" y="0"/>
                </a:cxn>
                <a:cxn ang="0">
                  <a:pos x="396" y="116"/>
                </a:cxn>
                <a:cxn ang="0">
                  <a:pos x="0" y="116"/>
                </a:cxn>
              </a:cxnLst>
              <a:pathLst>
                <a:path w="3315" h="461">
                  <a:moveTo>
                    <a:pt x="3315" y="461"/>
                  </a:moveTo>
                  <a:lnTo>
                    <a:pt x="3315" y="0"/>
                  </a:lnTo>
                  <a:lnTo>
                    <a:pt x="2739" y="0"/>
                  </a:lnTo>
                  <a:lnTo>
                    <a:pt x="2739" y="461"/>
                  </a:lnTo>
                  <a:lnTo>
                    <a:pt x="2162" y="461"/>
                  </a:lnTo>
                  <a:lnTo>
                    <a:pt x="2162" y="0"/>
                  </a:lnTo>
                  <a:lnTo>
                    <a:pt x="1586" y="0"/>
                  </a:lnTo>
                  <a:lnTo>
                    <a:pt x="1586" y="461"/>
                  </a:lnTo>
                  <a:lnTo>
                    <a:pt x="0" y="461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7959" name="Freeform 21"/>
            <p:cNvSpPr/>
            <p:nvPr/>
          </p:nvSpPr>
          <p:spPr>
            <a:xfrm>
              <a:off x="1289" y="2495"/>
              <a:ext cx="2565" cy="231"/>
            </a:xfrm>
            <a:custGeom>
              <a:avLst/>
              <a:gdLst/>
              <a:ahLst/>
              <a:cxnLst>
                <a:cxn ang="0">
                  <a:pos x="1282" y="0"/>
                </a:cxn>
                <a:cxn ang="0">
                  <a:pos x="1282" y="116"/>
                </a:cxn>
                <a:cxn ang="0">
                  <a:pos x="973" y="116"/>
                </a:cxn>
                <a:cxn ang="0">
                  <a:pos x="973" y="0"/>
                </a:cxn>
                <a:cxn ang="0">
                  <a:pos x="828" y="0"/>
                </a:cxn>
                <a:cxn ang="0">
                  <a:pos x="828" y="116"/>
                </a:cxn>
                <a:cxn ang="0">
                  <a:pos x="0" y="109"/>
                </a:cxn>
              </a:cxnLst>
              <a:pathLst>
                <a:path w="5131" h="461">
                  <a:moveTo>
                    <a:pt x="5131" y="0"/>
                  </a:moveTo>
                  <a:lnTo>
                    <a:pt x="5131" y="461"/>
                  </a:lnTo>
                  <a:lnTo>
                    <a:pt x="3892" y="461"/>
                  </a:lnTo>
                  <a:lnTo>
                    <a:pt x="3892" y="0"/>
                  </a:lnTo>
                  <a:lnTo>
                    <a:pt x="3315" y="0"/>
                  </a:lnTo>
                  <a:lnTo>
                    <a:pt x="3315" y="461"/>
                  </a:lnTo>
                  <a:lnTo>
                    <a:pt x="0" y="433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7960" name="Rectangle 44"/>
            <p:cNvSpPr/>
            <p:nvPr/>
          </p:nvSpPr>
          <p:spPr>
            <a:xfrm>
              <a:off x="1157" y="858"/>
              <a:ext cx="109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Times-Roman"/>
                </a:rPr>
                <a:t>1 </a:t>
              </a:r>
              <a:endParaRPr lang="en-US" altLang="zh-CN" sz="1800" dirty="0">
                <a:solidFill>
                  <a:srgbClr val="000000"/>
                </a:solidFill>
              </a:endParaRPr>
            </a:p>
          </p:txBody>
        </p:sp>
        <p:sp>
          <p:nvSpPr>
            <p:cNvPr id="167961" name="Rectangle 45"/>
            <p:cNvSpPr/>
            <p:nvPr/>
          </p:nvSpPr>
          <p:spPr>
            <a:xfrm>
              <a:off x="1157" y="1067"/>
              <a:ext cx="109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Times-Roman"/>
                </a:rPr>
                <a:t>0 </a:t>
              </a:r>
              <a:endParaRPr lang="en-US" altLang="zh-CN" sz="1800" dirty="0">
                <a:solidFill>
                  <a:srgbClr val="000000"/>
                </a:solidFill>
              </a:endParaRPr>
            </a:p>
          </p:txBody>
        </p:sp>
        <p:sp>
          <p:nvSpPr>
            <p:cNvPr id="167962" name="Rectangle 46"/>
            <p:cNvSpPr/>
            <p:nvPr/>
          </p:nvSpPr>
          <p:spPr>
            <a:xfrm>
              <a:off x="1157" y="1348"/>
              <a:ext cx="109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Times-Roman"/>
                </a:rPr>
                <a:t>1 </a:t>
              </a:r>
              <a:endParaRPr lang="en-US" altLang="zh-CN" sz="1800" dirty="0">
                <a:solidFill>
                  <a:srgbClr val="000000"/>
                </a:solidFill>
              </a:endParaRPr>
            </a:p>
          </p:txBody>
        </p:sp>
        <p:sp>
          <p:nvSpPr>
            <p:cNvPr id="167963" name="Rectangle 47"/>
            <p:cNvSpPr/>
            <p:nvPr/>
          </p:nvSpPr>
          <p:spPr>
            <a:xfrm>
              <a:off x="1157" y="1582"/>
              <a:ext cx="109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Times-Roman"/>
                </a:rPr>
                <a:t>0 </a:t>
              </a:r>
              <a:endParaRPr lang="en-US" altLang="zh-CN" sz="1800" dirty="0">
                <a:solidFill>
                  <a:srgbClr val="000000"/>
                </a:solidFill>
              </a:endParaRPr>
            </a:p>
          </p:txBody>
        </p:sp>
        <p:sp>
          <p:nvSpPr>
            <p:cNvPr id="167964" name="Rectangle 48"/>
            <p:cNvSpPr/>
            <p:nvPr/>
          </p:nvSpPr>
          <p:spPr>
            <a:xfrm>
              <a:off x="1157" y="1888"/>
              <a:ext cx="109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Times-Roman"/>
                </a:rPr>
                <a:t>1 </a:t>
              </a:r>
              <a:endParaRPr lang="en-US" altLang="zh-CN" sz="1800" dirty="0">
                <a:solidFill>
                  <a:srgbClr val="000000"/>
                </a:solidFill>
              </a:endParaRPr>
            </a:p>
          </p:txBody>
        </p:sp>
        <p:sp>
          <p:nvSpPr>
            <p:cNvPr id="167965" name="Rectangle 49"/>
            <p:cNvSpPr/>
            <p:nvPr/>
          </p:nvSpPr>
          <p:spPr>
            <a:xfrm>
              <a:off x="1157" y="2102"/>
              <a:ext cx="109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Times-Roman"/>
                </a:rPr>
                <a:t>0 </a:t>
              </a:r>
              <a:endParaRPr lang="en-US" altLang="zh-CN" sz="1800" dirty="0">
                <a:solidFill>
                  <a:srgbClr val="000000"/>
                </a:solidFill>
              </a:endParaRPr>
            </a:p>
          </p:txBody>
        </p:sp>
        <p:sp>
          <p:nvSpPr>
            <p:cNvPr id="167966" name="Rectangle 50"/>
            <p:cNvSpPr/>
            <p:nvPr/>
          </p:nvSpPr>
          <p:spPr>
            <a:xfrm>
              <a:off x="1157" y="2380"/>
              <a:ext cx="109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Times-Roman"/>
                </a:rPr>
                <a:t>1 </a:t>
              </a:r>
              <a:endParaRPr lang="en-US" altLang="zh-CN" sz="1800" dirty="0">
                <a:solidFill>
                  <a:srgbClr val="000000"/>
                </a:solidFill>
              </a:endParaRPr>
            </a:p>
          </p:txBody>
        </p:sp>
        <p:sp>
          <p:nvSpPr>
            <p:cNvPr id="167967" name="Rectangle 51"/>
            <p:cNvSpPr/>
            <p:nvPr/>
          </p:nvSpPr>
          <p:spPr>
            <a:xfrm>
              <a:off x="1157" y="2613"/>
              <a:ext cx="109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Times-Roman"/>
                </a:rPr>
                <a:t>0 </a:t>
              </a:r>
              <a:endParaRPr lang="en-US" altLang="zh-CN" sz="1800" dirty="0">
                <a:solidFill>
                  <a:srgbClr val="000000"/>
                </a:solidFill>
              </a:endParaRPr>
            </a:p>
          </p:txBody>
        </p:sp>
        <p:sp>
          <p:nvSpPr>
            <p:cNvPr id="167968" name="Rectangle 52"/>
            <p:cNvSpPr/>
            <p:nvPr/>
          </p:nvSpPr>
          <p:spPr>
            <a:xfrm>
              <a:off x="797" y="998"/>
              <a:ext cx="274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-Roman"/>
                </a:rPr>
                <a:t>Clk </a:t>
              </a:r>
              <a:endParaRPr lang="en-US" altLang="zh-CN" sz="2000" b="1" dirty="0">
                <a:solidFill>
                  <a:srgbClr val="000000"/>
                </a:solidFill>
              </a:endParaRPr>
            </a:p>
          </p:txBody>
        </p:sp>
        <p:sp>
          <p:nvSpPr>
            <p:cNvPr id="167969" name="Rectangle 53"/>
            <p:cNvSpPr/>
            <p:nvPr/>
          </p:nvSpPr>
          <p:spPr>
            <a:xfrm>
              <a:off x="863" y="1495"/>
              <a:ext cx="148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-Roman"/>
                </a:rPr>
                <a:t>w </a:t>
              </a:r>
              <a:endParaRPr lang="en-US" altLang="zh-CN" sz="2000" b="1" dirty="0">
                <a:solidFill>
                  <a:srgbClr val="000000"/>
                </a:solidFill>
              </a:endParaRPr>
            </a:p>
          </p:txBody>
        </p:sp>
        <p:sp>
          <p:nvSpPr>
            <p:cNvPr id="167970" name="Rectangle 54"/>
            <p:cNvSpPr/>
            <p:nvPr/>
          </p:nvSpPr>
          <p:spPr>
            <a:xfrm>
              <a:off x="852" y="2015"/>
              <a:ext cx="175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-Roman"/>
                </a:rPr>
                <a:t>q</a:t>
              </a:r>
              <a:r>
                <a:rPr lang="en-US" altLang="zh-CN" sz="2000" b="1" baseline="-25000" dirty="0">
                  <a:solidFill>
                    <a:srgbClr val="000000"/>
                  </a:solidFill>
                  <a:latin typeface="Times-Roman"/>
                </a:rPr>
                <a:t>1</a:t>
              </a:r>
              <a:r>
                <a:rPr lang="en-US" altLang="zh-CN" sz="2000" b="1" i="1" dirty="0">
                  <a:latin typeface="Times-Roman"/>
                </a:rPr>
                <a:t> </a:t>
              </a:r>
              <a:endParaRPr lang="en-US" altLang="zh-CN" sz="2000" b="1" dirty="0"/>
            </a:p>
          </p:txBody>
        </p:sp>
        <p:sp>
          <p:nvSpPr>
            <p:cNvPr id="167971" name="Rectangle 56"/>
            <p:cNvSpPr/>
            <p:nvPr/>
          </p:nvSpPr>
          <p:spPr>
            <a:xfrm>
              <a:off x="852" y="2501"/>
              <a:ext cx="175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-Roman"/>
                </a:rPr>
                <a:t>q</a:t>
              </a:r>
              <a:r>
                <a:rPr lang="en-US" altLang="zh-CN" sz="2000" b="1" baseline="-25000" dirty="0">
                  <a:solidFill>
                    <a:srgbClr val="000000"/>
                  </a:solidFill>
                  <a:latin typeface="Times-Roman"/>
                </a:rPr>
                <a:t>2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-Roman"/>
                </a:rPr>
                <a:t> </a:t>
              </a:r>
              <a:endParaRPr lang="en-US" altLang="zh-CN" sz="2000" b="1" dirty="0">
                <a:solidFill>
                  <a:srgbClr val="000000"/>
                </a:solidFill>
              </a:endParaRPr>
            </a:p>
          </p:txBody>
        </p:sp>
        <p:sp>
          <p:nvSpPr>
            <p:cNvPr id="167972" name="Freeform 57"/>
            <p:cNvSpPr/>
            <p:nvPr/>
          </p:nvSpPr>
          <p:spPr>
            <a:xfrm>
              <a:off x="3554" y="1976"/>
              <a:ext cx="1297" cy="231"/>
            </a:xfrm>
            <a:custGeom>
              <a:avLst/>
              <a:gdLst/>
              <a:ahLst/>
              <a:cxnLst>
                <a:cxn ang="0">
                  <a:pos x="649" y="0"/>
                </a:cxn>
                <a:cxn ang="0">
                  <a:pos x="584" y="0"/>
                </a:cxn>
                <a:cxn ang="0">
                  <a:pos x="584" y="116"/>
                </a:cxn>
                <a:cxn ang="0">
                  <a:pos x="144" y="116"/>
                </a:cxn>
                <a:cxn ang="0">
                  <a:pos x="144" y="0"/>
                </a:cxn>
                <a:cxn ang="0">
                  <a:pos x="0" y="0"/>
                </a:cxn>
              </a:cxnLst>
              <a:pathLst>
                <a:path w="2594" h="461">
                  <a:moveTo>
                    <a:pt x="2594" y="0"/>
                  </a:moveTo>
                  <a:lnTo>
                    <a:pt x="2335" y="0"/>
                  </a:lnTo>
                  <a:lnTo>
                    <a:pt x="2335" y="461"/>
                  </a:lnTo>
                  <a:lnTo>
                    <a:pt x="576" y="461"/>
                  </a:ln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7973" name="Freeform 58"/>
            <p:cNvSpPr/>
            <p:nvPr/>
          </p:nvSpPr>
          <p:spPr>
            <a:xfrm>
              <a:off x="2940" y="1976"/>
              <a:ext cx="620" cy="234"/>
            </a:xfrm>
            <a:custGeom>
              <a:avLst/>
              <a:gdLst/>
              <a:ahLst/>
              <a:cxnLst>
                <a:cxn ang="0">
                  <a:pos x="620" y="0"/>
                </a:cxn>
                <a:cxn ang="0">
                  <a:pos x="620" y="234"/>
                </a:cxn>
                <a:cxn ang="0">
                  <a:pos x="0" y="231"/>
                </a:cxn>
              </a:cxnLst>
              <a:pathLst>
                <a:path w="620" h="234">
                  <a:moveTo>
                    <a:pt x="620" y="0"/>
                  </a:moveTo>
                  <a:lnTo>
                    <a:pt x="620" y="234"/>
                  </a:lnTo>
                  <a:lnTo>
                    <a:pt x="0" y="231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7974" name="Freeform 59"/>
            <p:cNvSpPr/>
            <p:nvPr/>
          </p:nvSpPr>
          <p:spPr>
            <a:xfrm>
              <a:off x="4125" y="1440"/>
              <a:ext cx="735" cy="231"/>
            </a:xfrm>
            <a:custGeom>
              <a:avLst/>
              <a:gdLst/>
              <a:ahLst/>
              <a:cxnLst>
                <a:cxn ang="0">
                  <a:pos x="368" y="8"/>
                </a:cxn>
                <a:cxn ang="0">
                  <a:pos x="152" y="8"/>
                </a:cxn>
                <a:cxn ang="0">
                  <a:pos x="152" y="116"/>
                </a:cxn>
                <a:cxn ang="0">
                  <a:pos x="0" y="116"/>
                </a:cxn>
                <a:cxn ang="0">
                  <a:pos x="0" y="0"/>
                </a:cxn>
              </a:cxnLst>
              <a:pathLst>
                <a:path w="1470" h="461">
                  <a:moveTo>
                    <a:pt x="1470" y="29"/>
                  </a:moveTo>
                  <a:lnTo>
                    <a:pt x="605" y="29"/>
                  </a:lnTo>
                  <a:lnTo>
                    <a:pt x="605" y="461"/>
                  </a:lnTo>
                  <a:lnTo>
                    <a:pt x="0" y="461"/>
                  </a:lnTo>
                  <a:lnTo>
                    <a:pt x="0" y="0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7975" name="Freeform 60"/>
            <p:cNvSpPr/>
            <p:nvPr/>
          </p:nvSpPr>
          <p:spPr>
            <a:xfrm>
              <a:off x="3854" y="2495"/>
              <a:ext cx="1067" cy="231"/>
            </a:xfrm>
            <a:custGeom>
              <a:avLst/>
              <a:gdLst/>
              <a:ahLst/>
              <a:cxnLst>
                <a:cxn ang="0">
                  <a:pos x="534" y="116"/>
                </a:cxn>
                <a:cxn ang="0">
                  <a:pos x="289" y="116"/>
                </a:cxn>
                <a:cxn ang="0">
                  <a:pos x="289" y="0"/>
                </a:cxn>
                <a:cxn ang="0">
                  <a:pos x="0" y="0"/>
                </a:cxn>
              </a:cxnLst>
              <a:pathLst>
                <a:path w="2134" h="461">
                  <a:moveTo>
                    <a:pt x="2134" y="461"/>
                  </a:moveTo>
                  <a:lnTo>
                    <a:pt x="1153" y="461"/>
                  </a:lnTo>
                  <a:lnTo>
                    <a:pt x="1153" y="0"/>
                  </a:lnTo>
                  <a:lnTo>
                    <a:pt x="0" y="0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7976" name="Freeform 61"/>
            <p:cNvSpPr/>
            <p:nvPr/>
          </p:nvSpPr>
          <p:spPr>
            <a:xfrm>
              <a:off x="1289" y="3000"/>
              <a:ext cx="2565" cy="231"/>
            </a:xfrm>
            <a:custGeom>
              <a:avLst/>
              <a:gdLst/>
              <a:ahLst/>
              <a:cxnLst>
                <a:cxn ang="0">
                  <a:pos x="1282" y="0"/>
                </a:cxn>
                <a:cxn ang="0">
                  <a:pos x="1282" y="116"/>
                </a:cxn>
                <a:cxn ang="0">
                  <a:pos x="973" y="116"/>
                </a:cxn>
                <a:cxn ang="0">
                  <a:pos x="973" y="0"/>
                </a:cxn>
                <a:cxn ang="0">
                  <a:pos x="828" y="0"/>
                </a:cxn>
                <a:cxn ang="0">
                  <a:pos x="828" y="116"/>
                </a:cxn>
                <a:cxn ang="0">
                  <a:pos x="0" y="116"/>
                </a:cxn>
              </a:cxnLst>
              <a:pathLst>
                <a:path w="5131" h="462">
                  <a:moveTo>
                    <a:pt x="5131" y="0"/>
                  </a:moveTo>
                  <a:lnTo>
                    <a:pt x="5131" y="462"/>
                  </a:lnTo>
                  <a:lnTo>
                    <a:pt x="3892" y="462"/>
                  </a:lnTo>
                  <a:lnTo>
                    <a:pt x="3892" y="0"/>
                  </a:lnTo>
                  <a:lnTo>
                    <a:pt x="3315" y="0"/>
                  </a:lnTo>
                  <a:lnTo>
                    <a:pt x="3315" y="462"/>
                  </a:lnTo>
                  <a:lnTo>
                    <a:pt x="0" y="462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7977" name="Rectangle 63"/>
            <p:cNvSpPr/>
            <p:nvPr/>
          </p:nvSpPr>
          <p:spPr>
            <a:xfrm>
              <a:off x="1163" y="2908"/>
              <a:ext cx="109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Times-Roman"/>
                </a:rPr>
                <a:t>1 </a:t>
              </a:r>
              <a:endParaRPr lang="en-US" altLang="zh-CN" sz="1800" dirty="0">
                <a:solidFill>
                  <a:srgbClr val="000000"/>
                </a:solidFill>
              </a:endParaRPr>
            </a:p>
          </p:txBody>
        </p:sp>
        <p:sp>
          <p:nvSpPr>
            <p:cNvPr id="167978" name="Rectangle 64"/>
            <p:cNvSpPr/>
            <p:nvPr/>
          </p:nvSpPr>
          <p:spPr>
            <a:xfrm>
              <a:off x="1163" y="3141"/>
              <a:ext cx="109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Times-Roman"/>
                </a:rPr>
                <a:t>0 </a:t>
              </a:r>
              <a:endParaRPr lang="en-US" altLang="zh-CN" sz="1800" dirty="0">
                <a:solidFill>
                  <a:srgbClr val="000000"/>
                </a:solidFill>
              </a:endParaRPr>
            </a:p>
          </p:txBody>
        </p:sp>
        <p:sp>
          <p:nvSpPr>
            <p:cNvPr id="167979" name="Freeform 65"/>
            <p:cNvSpPr/>
            <p:nvPr/>
          </p:nvSpPr>
          <p:spPr>
            <a:xfrm>
              <a:off x="3854" y="3000"/>
              <a:ext cx="1067" cy="231"/>
            </a:xfrm>
            <a:custGeom>
              <a:avLst/>
              <a:gdLst/>
              <a:ahLst/>
              <a:cxnLst>
                <a:cxn ang="0">
                  <a:pos x="534" y="116"/>
                </a:cxn>
                <a:cxn ang="0">
                  <a:pos x="289" y="116"/>
                </a:cxn>
                <a:cxn ang="0">
                  <a:pos x="289" y="0"/>
                </a:cxn>
                <a:cxn ang="0">
                  <a:pos x="0" y="0"/>
                </a:cxn>
              </a:cxnLst>
              <a:pathLst>
                <a:path w="2134" h="462">
                  <a:moveTo>
                    <a:pt x="2134" y="462"/>
                  </a:moveTo>
                  <a:lnTo>
                    <a:pt x="1153" y="462"/>
                  </a:lnTo>
                  <a:lnTo>
                    <a:pt x="1153" y="0"/>
                  </a:lnTo>
                  <a:lnTo>
                    <a:pt x="0" y="0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7980" name="Rectangle 66"/>
            <p:cNvSpPr/>
            <p:nvPr/>
          </p:nvSpPr>
          <p:spPr>
            <a:xfrm>
              <a:off x="887" y="3029"/>
              <a:ext cx="103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-Roman"/>
                </a:rPr>
                <a:t>z </a:t>
              </a:r>
              <a:endParaRPr lang="en-US" altLang="zh-CN" sz="20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167940" name="标题 2"/>
          <p:cNvSpPr txBox="1"/>
          <p:nvPr/>
        </p:nvSpPr>
        <p:spPr>
          <a:xfrm>
            <a:off x="498475" y="523875"/>
            <a:ext cx="6746875" cy="7254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楷体_GB2312" charset="-122"/>
              </a:rPr>
              <a:t>6.3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楷体_GB2312" charset="-122"/>
              </a:rPr>
              <a:t>同步时序电路举例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  <a:ea typeface="楷体_GB2312" charset="-122"/>
            </a:endParaRPr>
          </a:p>
        </p:txBody>
      </p:sp>
      <p:sp>
        <p:nvSpPr>
          <p:cNvPr id="167941" name="TextBox 1"/>
          <p:cNvSpPr txBox="1"/>
          <p:nvPr/>
        </p:nvSpPr>
        <p:spPr>
          <a:xfrm>
            <a:off x="514350" y="1263650"/>
            <a:ext cx="8326438" cy="503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时序图：</a:t>
            </a:r>
            <a:endParaRPr lang="zh-CN" altLang="en-US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8962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5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同步时序电路举例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graphicFrame>
        <p:nvGraphicFramePr>
          <p:cNvPr id="6" name="表格 54"/>
          <p:cNvGraphicFramePr>
            <a:graphicFrameLocks noGrp="1"/>
          </p:cNvGraphicFramePr>
          <p:nvPr/>
        </p:nvGraphicFramePr>
        <p:xfrm>
          <a:off x="635000" y="1782763"/>
          <a:ext cx="3432175" cy="1768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594"/>
                <a:gridCol w="1757355"/>
                <a:gridCol w="721226"/>
              </a:tblGrid>
              <a:tr h="365891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i="0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0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0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1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14" marR="91414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 </a:t>
                      </a: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14" marR="91414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endParaRPr lang="en-US" altLang="zh-CN" sz="18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38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100620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00(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01(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10(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00         01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00         10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00         10</a:t>
                      </a:r>
                      <a:endParaRPr lang="zh-CN" altLang="en-US" sz="2000" b="1" i="0" dirty="0">
                        <a:solidFill>
                          <a:srgbClr val="000000"/>
                        </a:solidFill>
                      </a:endParaRPr>
                    </a:p>
                  </a:txBody>
                  <a:tcPr marL="91414" marR="91414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9" name="表格 54"/>
          <p:cNvGraphicFramePr>
            <a:graphicFrameLocks noGrp="1"/>
          </p:cNvGraphicFramePr>
          <p:nvPr/>
        </p:nvGraphicFramePr>
        <p:xfrm>
          <a:off x="2573338" y="3613150"/>
          <a:ext cx="63119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94"/>
                <a:gridCol w="564971"/>
                <a:gridCol w="801176"/>
                <a:gridCol w="621768"/>
                <a:gridCol w="497518"/>
                <a:gridCol w="714174"/>
                <a:gridCol w="675398"/>
                <a:gridCol w="601974"/>
                <a:gridCol w="647693"/>
                <a:gridCol w="624833"/>
              </a:tblGrid>
              <a:tr h="365765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b="1" i="0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91414" marR="91414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i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输入</a:t>
                      </a:r>
                      <a:endParaRPr lang="zh-CN" altLang="en-US" sz="1800" b="1" i="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endParaRPr lang="zh-CN" altLang="en-US" sz="1800" b="1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endParaRPr lang="en-US" altLang="zh-CN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C00000"/>
                          </a:solidFill>
                        </a:rPr>
                        <a:t>激励信号</a:t>
                      </a:r>
                      <a:endParaRPr lang="en-US" altLang="zh-CN" sz="18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65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kern="12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i="0" kern="1200" baseline="-25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zh-CN" altLang="en-US" sz="1800" b="1" baseline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1800" b="1" i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en-US" altLang="zh-CN" sz="1800" b="1" i="0" baseline="-25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800" b="1" i="0" baseline="-25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CN" sz="1800" b="1" i="0" baseline="-25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800" b="1" i="0" baseline="-25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en-US" altLang="zh-CN" sz="1800" b="1" i="0" baseline="-25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i="0" baseline="-25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CN" sz="1800" b="1" i="0" baseline="-25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i="0" baseline="-25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0         1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0         1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0         1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3" marR="91413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9021" name="Rectangle 32"/>
          <p:cNvSpPr/>
          <p:nvPr/>
        </p:nvSpPr>
        <p:spPr>
          <a:xfrm>
            <a:off x="746125" y="4705350"/>
            <a:ext cx="1733550" cy="7080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</a:rPr>
              <a:t>状态转换真值表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</a:rPr>
              <a:t>驱动表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rgbClr val="000000"/>
              </a:solidFill>
              <a:latin typeface="宋体" panose="02010600030101010101" pitchFamily="2" charset="-122"/>
              <a:ea typeface="Times New Roman" panose="02020603050405020304" pitchFamily="18" charset="0"/>
            </a:endParaRPr>
          </a:p>
        </p:txBody>
      </p:sp>
      <p:pic>
        <p:nvPicPr>
          <p:cNvPr id="169022" name="图片 1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8950" y="1681163"/>
            <a:ext cx="4586288" cy="16716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5" name="箭头: 虚尾 134"/>
          <p:cNvSpPr/>
          <p:nvPr/>
        </p:nvSpPr>
        <p:spPr bwMode="auto">
          <a:xfrm rot="5400000">
            <a:off x="4519613" y="2962275"/>
            <a:ext cx="577850" cy="473075"/>
          </a:xfrm>
          <a:prstGeom prst="stripedRightArrow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9024" name="TextBox 1"/>
          <p:cNvSpPr txBox="1"/>
          <p:nvPr/>
        </p:nvSpPr>
        <p:spPr>
          <a:xfrm>
            <a:off x="498475" y="1179513"/>
            <a:ext cx="2974975" cy="50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342900" lvl="0" indent="-342900">
              <a:spcBef>
                <a:spcPct val="0"/>
              </a:spcBef>
              <a:buChar char="•"/>
            </a:pPr>
            <a:r>
              <a:rPr lang="zh-CN" altLang="en-US" sz="2300" b="1" dirty="0">
                <a:solidFill>
                  <a:srgbClr val="000000"/>
                </a:solidFill>
              </a:rPr>
              <a:t>若选用</a:t>
            </a:r>
            <a:r>
              <a:rPr lang="en-US" altLang="zh-CN" sz="2300" b="1" i="1" dirty="0">
                <a:solidFill>
                  <a:srgbClr val="000000"/>
                </a:solidFill>
              </a:rPr>
              <a:t>JK</a:t>
            </a:r>
            <a:r>
              <a:rPr lang="zh-CN" altLang="en-US" sz="2300" b="1" dirty="0">
                <a:solidFill>
                  <a:srgbClr val="000000"/>
                </a:solidFill>
              </a:rPr>
              <a:t>触发器</a:t>
            </a:r>
            <a:r>
              <a:rPr lang="en-US" altLang="zh-CN" sz="2300" b="1" dirty="0">
                <a:solidFill>
                  <a:srgbClr val="000000"/>
                </a:solidFill>
              </a:rPr>
              <a:t>:</a:t>
            </a:r>
            <a:endParaRPr lang="en-US" altLang="zh-CN" sz="23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169025" name="矩形: 圆角 136"/>
          <p:cNvSpPr/>
          <p:nvPr/>
        </p:nvSpPr>
        <p:spPr>
          <a:xfrm>
            <a:off x="2663825" y="5454650"/>
            <a:ext cx="395288" cy="323850"/>
          </a:xfrm>
          <a:prstGeom prst="roundRect">
            <a:avLst>
              <a:gd name="adj" fmla="val 16667"/>
            </a:avLst>
          </a:prstGeom>
          <a:solidFill>
            <a:srgbClr val="FFC000">
              <a:alpha val="25882"/>
            </a:srgbClr>
          </a:solidFill>
          <a:ln w="12700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169026" name="矩形: 圆角 137"/>
          <p:cNvSpPr/>
          <p:nvPr/>
        </p:nvSpPr>
        <p:spPr>
          <a:xfrm>
            <a:off x="4606925" y="5472113"/>
            <a:ext cx="396875" cy="323850"/>
          </a:xfrm>
          <a:prstGeom prst="roundRect">
            <a:avLst>
              <a:gd name="adj" fmla="val 16667"/>
            </a:avLst>
          </a:prstGeom>
          <a:solidFill>
            <a:srgbClr val="FFC000">
              <a:alpha val="25882"/>
            </a:srgbClr>
          </a:solidFill>
          <a:ln w="12700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169027" name="矩形: 圆角 138"/>
          <p:cNvSpPr/>
          <p:nvPr/>
        </p:nvSpPr>
        <p:spPr>
          <a:xfrm>
            <a:off x="6411913" y="5489575"/>
            <a:ext cx="1125537" cy="323850"/>
          </a:xfrm>
          <a:prstGeom prst="roundRect">
            <a:avLst>
              <a:gd name="adj" fmla="val 16667"/>
            </a:avLst>
          </a:prstGeom>
          <a:solidFill>
            <a:srgbClr val="FFC000">
              <a:alpha val="25882"/>
            </a:srgbClr>
          </a:solidFill>
          <a:ln w="12700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169028" name="矩形: 圆角 139"/>
          <p:cNvSpPr/>
          <p:nvPr/>
        </p:nvSpPr>
        <p:spPr>
          <a:xfrm>
            <a:off x="6034088" y="1690688"/>
            <a:ext cx="1130300" cy="323850"/>
          </a:xfrm>
          <a:prstGeom prst="roundRect">
            <a:avLst>
              <a:gd name="adj" fmla="val 16667"/>
            </a:avLst>
          </a:prstGeom>
          <a:solidFill>
            <a:srgbClr val="FFC000">
              <a:alpha val="25882"/>
            </a:srgbClr>
          </a:solidFill>
          <a:ln w="12700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986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grpSp>
        <p:nvGrpSpPr>
          <p:cNvPr id="169987" name="组合 107"/>
          <p:cNvGrpSpPr/>
          <p:nvPr/>
        </p:nvGrpSpPr>
        <p:grpSpPr>
          <a:xfrm>
            <a:off x="3413125" y="1050925"/>
            <a:ext cx="2282825" cy="2041525"/>
            <a:chOff x="-1411350" y="1415971"/>
            <a:chExt cx="2282928" cy="2042325"/>
          </a:xfrm>
        </p:grpSpPr>
        <p:grpSp>
          <p:nvGrpSpPr>
            <p:cNvPr id="170064" name="组合 92"/>
            <p:cNvGrpSpPr/>
            <p:nvPr/>
          </p:nvGrpSpPr>
          <p:grpSpPr>
            <a:xfrm>
              <a:off x="-1411350" y="1415971"/>
              <a:ext cx="2282928" cy="2042325"/>
              <a:chOff x="1249314" y="3996069"/>
              <a:chExt cx="2305050" cy="2043148"/>
            </a:xfrm>
          </p:grpSpPr>
          <p:grpSp>
            <p:nvGrpSpPr>
              <p:cNvPr id="170067" name="Group 1098"/>
              <p:cNvGrpSpPr/>
              <p:nvPr/>
            </p:nvGrpSpPr>
            <p:grpSpPr>
              <a:xfrm>
                <a:off x="1249314" y="3996069"/>
                <a:ext cx="2305050" cy="1660525"/>
                <a:chOff x="1001" y="698"/>
                <a:chExt cx="1452" cy="1046"/>
              </a:xfrm>
            </p:grpSpPr>
            <p:sp>
              <p:nvSpPr>
                <p:cNvPr id="170069" name="Rectangle 1029"/>
                <p:cNvSpPr/>
                <p:nvPr/>
              </p:nvSpPr>
              <p:spPr>
                <a:xfrm>
                  <a:off x="1327" y="1173"/>
                  <a:ext cx="1100" cy="568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50000"/>
                    </a:spcBef>
                  </a:pPr>
                  <a:endParaRPr lang="zh-CN" altLang="en-US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70" name="Line 1030"/>
                <p:cNvSpPr/>
                <p:nvPr/>
              </p:nvSpPr>
              <p:spPr>
                <a:xfrm flipH="1" flipV="1">
                  <a:off x="1150" y="972"/>
                  <a:ext cx="192" cy="201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71" name="Line 1031"/>
                <p:cNvSpPr/>
                <p:nvPr/>
              </p:nvSpPr>
              <p:spPr>
                <a:xfrm>
                  <a:off x="1317" y="1444"/>
                  <a:ext cx="1099" cy="0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72" name="Line 1032"/>
                <p:cNvSpPr/>
                <p:nvPr/>
              </p:nvSpPr>
              <p:spPr>
                <a:xfrm>
                  <a:off x="1582" y="1170"/>
                  <a:ext cx="0" cy="567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73" name="Text Box 1033"/>
                <p:cNvSpPr txBox="1"/>
                <p:nvPr/>
              </p:nvSpPr>
              <p:spPr>
                <a:xfrm>
                  <a:off x="1323" y="950"/>
                  <a:ext cx="1080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defTabSz="914400" eaLnBrk="1" hangingPunct="1">
                    <a:lnSpc>
                      <a:spcPct val="100000"/>
                    </a:lnSpc>
                    <a:spcBef>
                      <a:spcPct val="0"/>
                    </a:spcBef>
                    <a:tabLst>
                      <a:tab pos="758825" algn="l"/>
                    </a:tabLst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00   01   11  10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74" name="Text Box 1034"/>
                <p:cNvSpPr txBox="1"/>
                <p:nvPr/>
              </p:nvSpPr>
              <p:spPr>
                <a:xfrm>
                  <a:off x="1116" y="1205"/>
                  <a:ext cx="184" cy="5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defTabSz="914400" eaLnBrk="1" hangingPunct="1">
                    <a:spcBef>
                      <a:spcPct val="0"/>
                    </a:spcBef>
                    <a:tabLst>
                      <a:tab pos="758825" algn="l"/>
                    </a:tabLst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01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75" name="Text Box 1035"/>
                <p:cNvSpPr txBox="1"/>
                <p:nvPr/>
              </p:nvSpPr>
              <p:spPr>
                <a:xfrm>
                  <a:off x="1088" y="698"/>
                  <a:ext cx="385" cy="38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q</a:t>
                  </a:r>
                  <a:r>
                    <a:rPr lang="en-US" altLang="zh-CN" sz="2000" b="1" baseline="-25000" dirty="0">
                      <a:solidFill>
                        <a:srgbClr val="003300"/>
                      </a:solidFill>
                    </a:rPr>
                    <a:t>2</a:t>
                  </a: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q</a:t>
                  </a:r>
                  <a:r>
                    <a:rPr lang="en-US" altLang="zh-CN" sz="2000" b="1" baseline="-25000" dirty="0">
                      <a:solidFill>
                        <a:srgbClr val="003300"/>
                      </a:solidFill>
                    </a:rPr>
                    <a:t>1</a:t>
                  </a: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76" name="Text Box 1036"/>
                <p:cNvSpPr txBox="1"/>
                <p:nvPr/>
              </p:nvSpPr>
              <p:spPr>
                <a:xfrm>
                  <a:off x="1001" y="962"/>
                  <a:ext cx="224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w</a:t>
                  </a: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77" name="Text Box 1037"/>
                <p:cNvSpPr txBox="1"/>
                <p:nvPr/>
              </p:nvSpPr>
              <p:spPr>
                <a:xfrm>
                  <a:off x="1606" y="1212"/>
                  <a:ext cx="254" cy="5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      1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78" name="Line 1038"/>
                <p:cNvSpPr/>
                <p:nvPr/>
              </p:nvSpPr>
              <p:spPr>
                <a:xfrm>
                  <a:off x="1841" y="1174"/>
                  <a:ext cx="0" cy="567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79" name="Line 1039"/>
                <p:cNvSpPr/>
                <p:nvPr/>
              </p:nvSpPr>
              <p:spPr>
                <a:xfrm>
                  <a:off x="2132" y="1177"/>
                  <a:ext cx="0" cy="567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80" name="Text Box 1040"/>
                <p:cNvSpPr txBox="1"/>
                <p:nvPr/>
              </p:nvSpPr>
              <p:spPr>
                <a:xfrm>
                  <a:off x="2150" y="1214"/>
                  <a:ext cx="303" cy="50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3300"/>
                      </a:solidFill>
                      <a:latin typeface="Viner Hand ITC" panose="03070502030502020203" pitchFamily="66" charset="0"/>
                    </a:rPr>
                    <a:t>×</a:t>
                  </a: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   </a:t>
                  </a:r>
                  <a:r>
                    <a:rPr lang="en-US" altLang="zh-CN" sz="2000" b="1" dirty="0">
                      <a:solidFill>
                        <a:srgbClr val="003300"/>
                      </a:solidFill>
                      <a:latin typeface="Viner Hand ITC" panose="03070502030502020203" pitchFamily="66" charset="0"/>
                    </a:rPr>
                    <a:t>×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</p:grpSp>
          <p:sp>
            <p:nvSpPr>
              <p:cNvPr id="170068" name="Rectangle 5"/>
              <p:cNvSpPr/>
              <p:nvPr/>
            </p:nvSpPr>
            <p:spPr>
              <a:xfrm>
                <a:off x="1564356" y="5607417"/>
                <a:ext cx="1544633" cy="431800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  <a:ln w="1905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669925" algn="r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en-US" altLang="zh-CN" sz="2000" b="1" i="1" dirty="0"/>
                  <a:t>J</a:t>
                </a:r>
                <a:r>
                  <a:rPr lang="en-US" altLang="zh-CN" sz="2000" b="1" baseline="-25000" dirty="0"/>
                  <a:t>2</a:t>
                </a:r>
                <a:r>
                  <a:rPr lang="en-US" altLang="zh-CN" sz="2000" b="1" i="1" dirty="0"/>
                  <a:t>= wq</a:t>
                </a:r>
                <a:r>
                  <a:rPr lang="en-US" altLang="zh-CN" sz="2000" b="1" baseline="-25000" dirty="0"/>
                  <a:t>1</a:t>
                </a:r>
                <a:endParaRPr lang="en-US" altLang="zh-CN" sz="2000" b="1" dirty="0"/>
              </a:p>
            </p:txBody>
          </p:sp>
        </p:grpSp>
        <p:sp>
          <p:nvSpPr>
            <p:cNvPr id="170065" name="矩形: 圆角 1"/>
            <p:cNvSpPr/>
            <p:nvPr/>
          </p:nvSpPr>
          <p:spPr>
            <a:xfrm>
              <a:off x="-443481" y="2653527"/>
              <a:ext cx="792000" cy="360000"/>
            </a:xfrm>
            <a:prstGeom prst="roundRect">
              <a:avLst>
                <a:gd name="adj" fmla="val 16667"/>
              </a:avLst>
            </a:prstGeom>
            <a:solidFill>
              <a:srgbClr val="069E0A">
                <a:alpha val="39999"/>
              </a:srgbClr>
            </a:solidFill>
            <a:ln w="12700">
              <a:noFill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2000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0066" name="Text Box 1040"/>
            <p:cNvSpPr txBox="1"/>
            <p:nvPr/>
          </p:nvSpPr>
          <p:spPr>
            <a:xfrm>
              <a:off x="-79196" y="2236211"/>
              <a:ext cx="481067" cy="79566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rgbClr val="003300"/>
                  </a:solidFill>
                  <a:latin typeface="Viner Hand ITC" panose="03070502030502020203" pitchFamily="66" charset="0"/>
                </a:rPr>
                <a:t>×</a:t>
              </a:r>
              <a:r>
                <a:rPr lang="en-US" altLang="zh-CN" sz="2000" b="1" dirty="0">
                  <a:solidFill>
                    <a:srgbClr val="003300"/>
                  </a:solidFill>
                </a:rPr>
                <a:t>   </a:t>
              </a:r>
              <a:r>
                <a:rPr lang="en-US" altLang="zh-CN" sz="2000" b="1" dirty="0">
                  <a:solidFill>
                    <a:srgbClr val="003300"/>
                  </a:solidFill>
                  <a:latin typeface="Viner Hand ITC" panose="03070502030502020203" pitchFamily="66" charset="0"/>
                </a:rPr>
                <a:t>×</a:t>
              </a:r>
              <a:endParaRPr lang="en-US" altLang="zh-CN" sz="2000" b="1" dirty="0">
                <a:solidFill>
                  <a:srgbClr val="003300"/>
                </a:solidFill>
              </a:endParaRPr>
            </a:p>
          </p:txBody>
        </p:sp>
      </p:grpSp>
      <p:grpSp>
        <p:nvGrpSpPr>
          <p:cNvPr id="169988" name="组合 108"/>
          <p:cNvGrpSpPr/>
          <p:nvPr/>
        </p:nvGrpSpPr>
        <p:grpSpPr>
          <a:xfrm>
            <a:off x="6234113" y="1030288"/>
            <a:ext cx="2332037" cy="2055812"/>
            <a:chOff x="3402025" y="1094228"/>
            <a:chExt cx="2332660" cy="2054782"/>
          </a:xfrm>
        </p:grpSpPr>
        <p:grpSp>
          <p:nvGrpSpPr>
            <p:cNvPr id="170047" name="组合 92"/>
            <p:cNvGrpSpPr/>
            <p:nvPr/>
          </p:nvGrpSpPr>
          <p:grpSpPr>
            <a:xfrm>
              <a:off x="3402025" y="1094228"/>
              <a:ext cx="2251336" cy="2054782"/>
              <a:chOff x="1249314" y="4024644"/>
              <a:chExt cx="2251075" cy="2055609"/>
            </a:xfrm>
          </p:grpSpPr>
          <p:grpSp>
            <p:nvGrpSpPr>
              <p:cNvPr id="170051" name="Group 1098"/>
              <p:cNvGrpSpPr/>
              <p:nvPr/>
            </p:nvGrpSpPr>
            <p:grpSpPr>
              <a:xfrm>
                <a:off x="1249314" y="4024644"/>
                <a:ext cx="2251075" cy="1649413"/>
                <a:chOff x="1001" y="716"/>
                <a:chExt cx="1418" cy="1039"/>
              </a:xfrm>
            </p:grpSpPr>
            <p:sp>
              <p:nvSpPr>
                <p:cNvPr id="170053" name="Rectangle 1029"/>
                <p:cNvSpPr/>
                <p:nvPr/>
              </p:nvSpPr>
              <p:spPr>
                <a:xfrm>
                  <a:off x="1327" y="1173"/>
                  <a:ext cx="1088" cy="567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50000"/>
                    </a:spcBef>
                  </a:pPr>
                  <a:endParaRPr lang="zh-CN" altLang="en-US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54" name="Line 1030"/>
                <p:cNvSpPr/>
                <p:nvPr/>
              </p:nvSpPr>
              <p:spPr>
                <a:xfrm flipH="1" flipV="1">
                  <a:off x="1150" y="972"/>
                  <a:ext cx="192" cy="201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55" name="Line 1031"/>
                <p:cNvSpPr/>
                <p:nvPr/>
              </p:nvSpPr>
              <p:spPr>
                <a:xfrm>
                  <a:off x="1341" y="1475"/>
                  <a:ext cx="1066" cy="0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56" name="Line 1032"/>
                <p:cNvSpPr/>
                <p:nvPr/>
              </p:nvSpPr>
              <p:spPr>
                <a:xfrm>
                  <a:off x="1588" y="1165"/>
                  <a:ext cx="0" cy="590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57" name="Text Box 1033"/>
                <p:cNvSpPr txBox="1"/>
                <p:nvPr/>
              </p:nvSpPr>
              <p:spPr>
                <a:xfrm>
                  <a:off x="1323" y="938"/>
                  <a:ext cx="1080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defTabSz="914400" eaLnBrk="1" hangingPunct="1">
                    <a:lnSpc>
                      <a:spcPct val="100000"/>
                    </a:lnSpc>
                    <a:spcBef>
                      <a:spcPct val="0"/>
                    </a:spcBef>
                    <a:tabLst>
                      <a:tab pos="758825" algn="l"/>
                    </a:tabLst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00   01   11  10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58" name="Text Box 1034"/>
                <p:cNvSpPr txBox="1"/>
                <p:nvPr/>
              </p:nvSpPr>
              <p:spPr>
                <a:xfrm>
                  <a:off x="1116" y="1205"/>
                  <a:ext cx="184" cy="5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defTabSz="914400" eaLnBrk="1" hangingPunct="1">
                    <a:spcBef>
                      <a:spcPct val="0"/>
                    </a:spcBef>
                    <a:tabLst>
                      <a:tab pos="758825" algn="l"/>
                    </a:tabLst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01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59" name="Text Box 1035"/>
                <p:cNvSpPr txBox="1"/>
                <p:nvPr/>
              </p:nvSpPr>
              <p:spPr>
                <a:xfrm>
                  <a:off x="1088" y="716"/>
                  <a:ext cx="385" cy="38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q</a:t>
                  </a:r>
                  <a:r>
                    <a:rPr lang="en-US" altLang="zh-CN" sz="2000" b="1" baseline="-25000" dirty="0">
                      <a:solidFill>
                        <a:srgbClr val="003300"/>
                      </a:solidFill>
                    </a:rPr>
                    <a:t>2</a:t>
                  </a: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q</a:t>
                  </a:r>
                  <a:r>
                    <a:rPr lang="en-US" altLang="zh-CN" sz="2000" b="1" baseline="-25000" dirty="0">
                      <a:solidFill>
                        <a:srgbClr val="003300"/>
                      </a:solidFill>
                    </a:rPr>
                    <a:t>1</a:t>
                  </a: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60" name="Text Box 1036"/>
                <p:cNvSpPr txBox="1"/>
                <p:nvPr/>
              </p:nvSpPr>
              <p:spPr>
                <a:xfrm>
                  <a:off x="1001" y="962"/>
                  <a:ext cx="224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w</a:t>
                  </a: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61" name="Line 1038"/>
                <p:cNvSpPr/>
                <p:nvPr/>
              </p:nvSpPr>
              <p:spPr>
                <a:xfrm>
                  <a:off x="1875" y="1174"/>
                  <a:ext cx="0" cy="567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62" name="Line 1039"/>
                <p:cNvSpPr/>
                <p:nvPr/>
              </p:nvSpPr>
              <p:spPr>
                <a:xfrm>
                  <a:off x="2146" y="1165"/>
                  <a:ext cx="0" cy="567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63" name="Text Box 1040"/>
                <p:cNvSpPr txBox="1"/>
                <p:nvPr/>
              </p:nvSpPr>
              <p:spPr>
                <a:xfrm>
                  <a:off x="2116" y="1190"/>
                  <a:ext cx="303" cy="27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1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</p:grpSp>
          <p:sp>
            <p:nvSpPr>
              <p:cNvPr id="170052" name="Rectangle 5"/>
              <p:cNvSpPr/>
              <p:nvPr/>
            </p:nvSpPr>
            <p:spPr>
              <a:xfrm>
                <a:off x="1505772" y="5648453"/>
                <a:ext cx="1608560" cy="431800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  <a:ln w="1905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669925" algn="r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en-US" altLang="zh-CN" sz="2000" b="1" i="1" dirty="0"/>
                  <a:t>K</a:t>
                </a:r>
                <a:r>
                  <a:rPr lang="en-US" altLang="zh-CN" sz="2000" b="1" baseline="-25000" dirty="0"/>
                  <a:t>2</a:t>
                </a:r>
                <a:r>
                  <a:rPr lang="en-US" altLang="zh-CN" sz="2000" b="1" i="1" dirty="0"/>
                  <a:t>= w</a:t>
                </a:r>
                <a:r>
                  <a:rPr lang="en-US" altLang="zh-CN" sz="2000" b="1" dirty="0"/>
                  <a:t>'</a:t>
                </a:r>
                <a:endParaRPr lang="en-US" altLang="zh-CN" sz="2000" b="1" dirty="0"/>
              </a:p>
            </p:txBody>
          </p:sp>
        </p:grpSp>
        <p:sp>
          <p:nvSpPr>
            <p:cNvPr id="170048" name="矩形: 圆角 1"/>
            <p:cNvSpPr/>
            <p:nvPr/>
          </p:nvSpPr>
          <p:spPr>
            <a:xfrm>
              <a:off x="4009406" y="1903806"/>
              <a:ext cx="1548000" cy="360000"/>
            </a:xfrm>
            <a:prstGeom prst="roundRect">
              <a:avLst>
                <a:gd name="adj" fmla="val 16667"/>
              </a:avLst>
            </a:prstGeom>
            <a:solidFill>
              <a:srgbClr val="069E0A">
                <a:alpha val="39999"/>
              </a:srgbClr>
            </a:solidFill>
            <a:ln w="12700">
              <a:noFill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2000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0049" name="矩形 48"/>
            <p:cNvSpPr/>
            <p:nvPr/>
          </p:nvSpPr>
          <p:spPr>
            <a:xfrm>
              <a:off x="3930326" y="2338404"/>
              <a:ext cx="1804359" cy="398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rgbClr val="003300"/>
                  </a:solidFill>
                  <a:latin typeface="Viner Hand ITC" panose="03070502030502020203" pitchFamily="66" charset="0"/>
                </a:rPr>
                <a:t>×  ×   ×</a:t>
              </a:r>
              <a:endParaRPr lang="zh-CN" altLang="en-US" sz="2000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0050" name="矩形 49"/>
            <p:cNvSpPr/>
            <p:nvPr/>
          </p:nvSpPr>
          <p:spPr>
            <a:xfrm>
              <a:off x="3920249" y="1922041"/>
              <a:ext cx="1532114" cy="398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rgbClr val="003300"/>
                  </a:solidFill>
                  <a:latin typeface="Viner Hand ITC" panose="03070502030502020203" pitchFamily="66" charset="0"/>
                </a:rPr>
                <a:t>×  ×   ×</a:t>
              </a:r>
              <a:endParaRPr lang="zh-CN" altLang="en-US" sz="2000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69989" name="组合 111"/>
          <p:cNvGrpSpPr/>
          <p:nvPr/>
        </p:nvGrpSpPr>
        <p:grpSpPr>
          <a:xfrm>
            <a:off x="3394075" y="2820988"/>
            <a:ext cx="2263775" cy="2039937"/>
            <a:chOff x="3393386" y="2821201"/>
            <a:chExt cx="2264034" cy="2039673"/>
          </a:xfrm>
        </p:grpSpPr>
        <p:grpSp>
          <p:nvGrpSpPr>
            <p:cNvPr id="170030" name="组合 92"/>
            <p:cNvGrpSpPr/>
            <p:nvPr/>
          </p:nvGrpSpPr>
          <p:grpSpPr>
            <a:xfrm>
              <a:off x="3393386" y="2821201"/>
              <a:ext cx="2264034" cy="2039673"/>
              <a:chOff x="1230264" y="4083381"/>
              <a:chExt cx="2263775" cy="2040494"/>
            </a:xfrm>
          </p:grpSpPr>
          <p:grpSp>
            <p:nvGrpSpPr>
              <p:cNvPr id="170033" name="Group 1098"/>
              <p:cNvGrpSpPr/>
              <p:nvPr/>
            </p:nvGrpSpPr>
            <p:grpSpPr>
              <a:xfrm>
                <a:off x="1230264" y="4083381"/>
                <a:ext cx="2263775" cy="1590675"/>
                <a:chOff x="989" y="753"/>
                <a:chExt cx="1426" cy="1002"/>
              </a:xfrm>
            </p:grpSpPr>
            <p:sp>
              <p:nvSpPr>
                <p:cNvPr id="170035" name="Rectangle 1029"/>
                <p:cNvSpPr/>
                <p:nvPr/>
              </p:nvSpPr>
              <p:spPr>
                <a:xfrm>
                  <a:off x="1327" y="1173"/>
                  <a:ext cx="1088" cy="567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50000"/>
                    </a:spcBef>
                  </a:pPr>
                  <a:endParaRPr lang="zh-CN" altLang="en-US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36" name="Line 1030"/>
                <p:cNvSpPr/>
                <p:nvPr/>
              </p:nvSpPr>
              <p:spPr>
                <a:xfrm flipH="1" flipV="1">
                  <a:off x="1150" y="972"/>
                  <a:ext cx="192" cy="201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37" name="Line 1031"/>
                <p:cNvSpPr/>
                <p:nvPr/>
              </p:nvSpPr>
              <p:spPr>
                <a:xfrm>
                  <a:off x="1341" y="1452"/>
                  <a:ext cx="1066" cy="0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38" name="Line 1032"/>
                <p:cNvSpPr/>
                <p:nvPr/>
              </p:nvSpPr>
              <p:spPr>
                <a:xfrm>
                  <a:off x="1605" y="1164"/>
                  <a:ext cx="0" cy="567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39" name="Text Box 1033"/>
                <p:cNvSpPr txBox="1"/>
                <p:nvPr/>
              </p:nvSpPr>
              <p:spPr>
                <a:xfrm>
                  <a:off x="1323" y="944"/>
                  <a:ext cx="1077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defTabSz="914400" eaLnBrk="1" hangingPunct="1">
                    <a:lnSpc>
                      <a:spcPct val="100000"/>
                    </a:lnSpc>
                    <a:spcBef>
                      <a:spcPct val="0"/>
                    </a:spcBef>
                    <a:tabLst>
                      <a:tab pos="758825" algn="l"/>
                    </a:tabLst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00   01   11  10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40" name="Text Box 1034"/>
                <p:cNvSpPr txBox="1"/>
                <p:nvPr/>
              </p:nvSpPr>
              <p:spPr>
                <a:xfrm>
                  <a:off x="1116" y="1205"/>
                  <a:ext cx="184" cy="5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defTabSz="914400" eaLnBrk="1" hangingPunct="1">
                    <a:spcBef>
                      <a:spcPct val="0"/>
                    </a:spcBef>
                    <a:tabLst>
                      <a:tab pos="758825" algn="l"/>
                    </a:tabLst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01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41" name="Text Box 1035"/>
                <p:cNvSpPr txBox="1"/>
                <p:nvPr/>
              </p:nvSpPr>
              <p:spPr>
                <a:xfrm>
                  <a:off x="1100" y="753"/>
                  <a:ext cx="385" cy="38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q</a:t>
                  </a:r>
                  <a:r>
                    <a:rPr lang="en-US" altLang="zh-CN" sz="2000" b="1" baseline="-25000" dirty="0">
                      <a:solidFill>
                        <a:srgbClr val="003300"/>
                      </a:solidFill>
                    </a:rPr>
                    <a:t>2</a:t>
                  </a: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q</a:t>
                  </a:r>
                  <a:r>
                    <a:rPr lang="en-US" altLang="zh-CN" sz="2000" b="1" baseline="-25000" dirty="0">
                      <a:solidFill>
                        <a:srgbClr val="003300"/>
                      </a:solidFill>
                    </a:rPr>
                    <a:t>1</a:t>
                  </a: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42" name="Text Box 1036"/>
                <p:cNvSpPr txBox="1"/>
                <p:nvPr/>
              </p:nvSpPr>
              <p:spPr>
                <a:xfrm>
                  <a:off x="989" y="956"/>
                  <a:ext cx="224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w</a:t>
                  </a: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43" name="Text Box 1037"/>
                <p:cNvSpPr txBox="1"/>
                <p:nvPr/>
              </p:nvSpPr>
              <p:spPr>
                <a:xfrm>
                  <a:off x="1377" y="1193"/>
                  <a:ext cx="254" cy="5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      1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44" name="Line 1038"/>
                <p:cNvSpPr/>
                <p:nvPr/>
              </p:nvSpPr>
              <p:spPr>
                <a:xfrm>
                  <a:off x="1883" y="1174"/>
                  <a:ext cx="0" cy="567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45" name="Line 1039"/>
                <p:cNvSpPr/>
                <p:nvPr/>
              </p:nvSpPr>
              <p:spPr>
                <a:xfrm>
                  <a:off x="2152" y="1165"/>
                  <a:ext cx="0" cy="590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46" name="Text Box 1040"/>
                <p:cNvSpPr txBox="1"/>
                <p:nvPr/>
              </p:nvSpPr>
              <p:spPr>
                <a:xfrm>
                  <a:off x="1899" y="1204"/>
                  <a:ext cx="303" cy="50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3300"/>
                      </a:solidFill>
                      <a:latin typeface="Viner Hand ITC" panose="03070502030502020203" pitchFamily="66" charset="0"/>
                    </a:rPr>
                    <a:t>×</a:t>
                  </a: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   </a:t>
                  </a:r>
                  <a:r>
                    <a:rPr lang="en-US" altLang="zh-CN" sz="2000" b="1" dirty="0">
                      <a:solidFill>
                        <a:srgbClr val="003300"/>
                      </a:solidFill>
                      <a:latin typeface="Viner Hand ITC" panose="03070502030502020203" pitchFamily="66" charset="0"/>
                    </a:rPr>
                    <a:t>×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</p:grpSp>
          <p:sp>
            <p:nvSpPr>
              <p:cNvPr id="170034" name="Rectangle 5"/>
              <p:cNvSpPr/>
              <p:nvPr/>
            </p:nvSpPr>
            <p:spPr>
              <a:xfrm>
                <a:off x="1657299" y="5692075"/>
                <a:ext cx="1544633" cy="431800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  <a:ln w="1905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669925" algn="r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en-US" altLang="zh-CN" sz="2000" b="1" i="1" dirty="0"/>
                  <a:t>J</a:t>
                </a:r>
                <a:r>
                  <a:rPr lang="en-US" altLang="zh-CN" sz="2000" b="1" baseline="-25000" dirty="0"/>
                  <a:t>1</a:t>
                </a:r>
                <a:r>
                  <a:rPr lang="en-US" altLang="zh-CN" sz="2000" b="1" i="1" dirty="0"/>
                  <a:t>= wq</a:t>
                </a:r>
                <a:r>
                  <a:rPr lang="en-US" altLang="zh-CN" sz="2000" b="1" dirty="0"/>
                  <a:t>'</a:t>
                </a:r>
                <a:r>
                  <a:rPr lang="en-US" altLang="zh-CN" sz="2000" b="1" baseline="-25000" dirty="0"/>
                  <a:t>2</a:t>
                </a:r>
                <a:endParaRPr lang="en-US" altLang="zh-CN" sz="2000" b="1" dirty="0"/>
              </a:p>
            </p:txBody>
          </p:sp>
        </p:grpSp>
        <p:sp>
          <p:nvSpPr>
            <p:cNvPr id="170031" name="矩形: 圆角 1"/>
            <p:cNvSpPr/>
            <p:nvPr/>
          </p:nvSpPr>
          <p:spPr>
            <a:xfrm>
              <a:off x="4010792" y="3967191"/>
              <a:ext cx="756000" cy="360000"/>
            </a:xfrm>
            <a:prstGeom prst="roundRect">
              <a:avLst>
                <a:gd name="adj" fmla="val 16667"/>
              </a:avLst>
            </a:prstGeom>
            <a:solidFill>
              <a:srgbClr val="069E0A">
                <a:alpha val="39999"/>
              </a:srgbClr>
            </a:solidFill>
            <a:ln w="12700">
              <a:noFill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2000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0032" name="Text Box 1040"/>
            <p:cNvSpPr txBox="1"/>
            <p:nvPr/>
          </p:nvSpPr>
          <p:spPr>
            <a:xfrm>
              <a:off x="4407067" y="3513868"/>
              <a:ext cx="481067" cy="79566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rgbClr val="003300"/>
                  </a:solidFill>
                  <a:latin typeface="Viner Hand ITC" panose="03070502030502020203" pitchFamily="66" charset="0"/>
                </a:rPr>
                <a:t>×</a:t>
              </a:r>
              <a:r>
                <a:rPr lang="en-US" altLang="zh-CN" sz="2000" b="1" dirty="0">
                  <a:solidFill>
                    <a:srgbClr val="003300"/>
                  </a:solidFill>
                </a:rPr>
                <a:t>   </a:t>
              </a:r>
              <a:r>
                <a:rPr lang="en-US" altLang="zh-CN" sz="2000" b="1" dirty="0">
                  <a:solidFill>
                    <a:srgbClr val="003300"/>
                  </a:solidFill>
                  <a:latin typeface="Viner Hand ITC" panose="03070502030502020203" pitchFamily="66" charset="0"/>
                </a:rPr>
                <a:t>×</a:t>
              </a:r>
              <a:endParaRPr lang="en-US" altLang="zh-CN" sz="2000" b="1" dirty="0">
                <a:solidFill>
                  <a:srgbClr val="003300"/>
                </a:solidFill>
              </a:endParaRPr>
            </a:p>
          </p:txBody>
        </p:sp>
      </p:grpSp>
      <p:grpSp>
        <p:nvGrpSpPr>
          <p:cNvPr id="169990" name="组合 110"/>
          <p:cNvGrpSpPr/>
          <p:nvPr/>
        </p:nvGrpSpPr>
        <p:grpSpPr>
          <a:xfrm>
            <a:off x="6242050" y="2798763"/>
            <a:ext cx="2439988" cy="2057400"/>
            <a:chOff x="6241688" y="2798162"/>
            <a:chExt cx="2439951" cy="2057806"/>
          </a:xfrm>
        </p:grpSpPr>
        <p:grpSp>
          <p:nvGrpSpPr>
            <p:cNvPr id="170014" name="组合 92"/>
            <p:cNvGrpSpPr/>
            <p:nvPr/>
          </p:nvGrpSpPr>
          <p:grpSpPr>
            <a:xfrm>
              <a:off x="6241688" y="2798162"/>
              <a:ext cx="2265623" cy="2057806"/>
              <a:chOff x="1250902" y="4075444"/>
              <a:chExt cx="2265363" cy="2058636"/>
            </a:xfrm>
          </p:grpSpPr>
          <p:grpSp>
            <p:nvGrpSpPr>
              <p:cNvPr id="170018" name="Group 1098"/>
              <p:cNvGrpSpPr/>
              <p:nvPr/>
            </p:nvGrpSpPr>
            <p:grpSpPr>
              <a:xfrm>
                <a:off x="1250902" y="4075444"/>
                <a:ext cx="2265363" cy="1577975"/>
                <a:chOff x="1002" y="748"/>
                <a:chExt cx="1427" cy="994"/>
              </a:xfrm>
            </p:grpSpPr>
            <p:sp>
              <p:nvSpPr>
                <p:cNvPr id="170020" name="Rectangle 1029"/>
                <p:cNvSpPr/>
                <p:nvPr/>
              </p:nvSpPr>
              <p:spPr>
                <a:xfrm>
                  <a:off x="1327" y="1173"/>
                  <a:ext cx="1088" cy="567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50000"/>
                    </a:spcBef>
                  </a:pPr>
                  <a:endParaRPr lang="zh-CN" altLang="en-US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21" name="Line 1030"/>
                <p:cNvSpPr/>
                <p:nvPr/>
              </p:nvSpPr>
              <p:spPr>
                <a:xfrm flipH="1" flipV="1">
                  <a:off x="1150" y="972"/>
                  <a:ext cx="192" cy="201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22" name="Line 1031"/>
                <p:cNvSpPr/>
                <p:nvPr/>
              </p:nvSpPr>
              <p:spPr>
                <a:xfrm>
                  <a:off x="1341" y="1461"/>
                  <a:ext cx="1088" cy="0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23" name="Line 1032"/>
                <p:cNvSpPr/>
                <p:nvPr/>
              </p:nvSpPr>
              <p:spPr>
                <a:xfrm>
                  <a:off x="1590" y="1164"/>
                  <a:ext cx="0" cy="567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24" name="Text Box 1033"/>
                <p:cNvSpPr txBox="1"/>
                <p:nvPr/>
              </p:nvSpPr>
              <p:spPr>
                <a:xfrm>
                  <a:off x="1335" y="939"/>
                  <a:ext cx="1080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defTabSz="914400" eaLnBrk="1" hangingPunct="1">
                    <a:lnSpc>
                      <a:spcPct val="100000"/>
                    </a:lnSpc>
                    <a:spcBef>
                      <a:spcPct val="0"/>
                    </a:spcBef>
                    <a:tabLst>
                      <a:tab pos="758825" algn="l"/>
                    </a:tabLst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00   01   11  10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25" name="Text Box 1034"/>
                <p:cNvSpPr txBox="1"/>
                <p:nvPr/>
              </p:nvSpPr>
              <p:spPr>
                <a:xfrm>
                  <a:off x="1116" y="1205"/>
                  <a:ext cx="184" cy="5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defTabSz="914400" eaLnBrk="1" hangingPunct="1">
                    <a:spcBef>
                      <a:spcPct val="0"/>
                    </a:spcBef>
                    <a:tabLst>
                      <a:tab pos="758825" algn="l"/>
                    </a:tabLst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01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26" name="Text Box 1035"/>
                <p:cNvSpPr txBox="1"/>
                <p:nvPr/>
              </p:nvSpPr>
              <p:spPr>
                <a:xfrm>
                  <a:off x="1100" y="748"/>
                  <a:ext cx="385" cy="38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q</a:t>
                  </a:r>
                  <a:r>
                    <a:rPr lang="en-US" altLang="zh-CN" sz="2000" b="1" baseline="-25000" dirty="0">
                      <a:solidFill>
                        <a:srgbClr val="003300"/>
                      </a:solidFill>
                    </a:rPr>
                    <a:t>2</a:t>
                  </a: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q</a:t>
                  </a:r>
                  <a:r>
                    <a:rPr lang="en-US" altLang="zh-CN" sz="2000" b="1" baseline="-25000" dirty="0">
                      <a:solidFill>
                        <a:srgbClr val="003300"/>
                      </a:solidFill>
                    </a:rPr>
                    <a:t>1</a:t>
                  </a: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27" name="Text Box 1036"/>
                <p:cNvSpPr txBox="1"/>
                <p:nvPr/>
              </p:nvSpPr>
              <p:spPr>
                <a:xfrm>
                  <a:off x="1002" y="962"/>
                  <a:ext cx="224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w</a:t>
                  </a: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28" name="Line 1038"/>
                <p:cNvSpPr/>
                <p:nvPr/>
              </p:nvSpPr>
              <p:spPr>
                <a:xfrm>
                  <a:off x="1871" y="1174"/>
                  <a:ext cx="0" cy="567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29" name="Line 1039"/>
                <p:cNvSpPr/>
                <p:nvPr/>
              </p:nvSpPr>
              <p:spPr>
                <a:xfrm>
                  <a:off x="2143" y="1165"/>
                  <a:ext cx="0" cy="567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70019" name="Rectangle 5"/>
              <p:cNvSpPr/>
              <p:nvPr/>
            </p:nvSpPr>
            <p:spPr>
              <a:xfrm>
                <a:off x="1261543" y="5702280"/>
                <a:ext cx="1854201" cy="431800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  <a:ln w="1905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669925" algn="ctr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en-US" altLang="zh-CN" sz="2000" b="1" i="1" dirty="0"/>
                  <a:t>K</a:t>
                </a:r>
                <a:r>
                  <a:rPr lang="en-US" altLang="zh-CN" sz="2000" b="1" baseline="-25000" dirty="0"/>
                  <a:t>1</a:t>
                </a:r>
                <a:r>
                  <a:rPr lang="en-US" altLang="zh-CN" sz="2000" b="1" i="1" dirty="0"/>
                  <a:t>=</a:t>
                </a:r>
                <a:r>
                  <a:rPr lang="en-US" altLang="zh-CN" sz="2000" b="1" dirty="0"/>
                  <a:t>1</a:t>
                </a:r>
                <a:endParaRPr lang="en-US" altLang="zh-CN" sz="2000" b="1" dirty="0"/>
              </a:p>
            </p:txBody>
          </p:sp>
        </p:grpSp>
        <p:sp>
          <p:nvSpPr>
            <p:cNvPr id="170015" name="矩形: 圆角 1"/>
            <p:cNvSpPr/>
            <p:nvPr/>
          </p:nvSpPr>
          <p:spPr>
            <a:xfrm>
              <a:off x="6828290" y="3536571"/>
              <a:ext cx="1620000" cy="792000"/>
            </a:xfrm>
            <a:prstGeom prst="roundRect">
              <a:avLst>
                <a:gd name="adj" fmla="val 16667"/>
              </a:avLst>
            </a:prstGeom>
            <a:solidFill>
              <a:srgbClr val="069E0A">
                <a:alpha val="39999"/>
              </a:srgbClr>
            </a:solidFill>
            <a:ln w="12700">
              <a:noFill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2000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0016" name="矩形 82"/>
            <p:cNvSpPr/>
            <p:nvPr/>
          </p:nvSpPr>
          <p:spPr>
            <a:xfrm>
              <a:off x="6642420" y="3995558"/>
              <a:ext cx="2039219" cy="3989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rgbClr val="003300"/>
                  </a:solidFill>
                  <a:latin typeface="Viner Hand ITC" panose="03070502030502020203" pitchFamily="66" charset="0"/>
                </a:rPr>
                <a:t>×    </a:t>
              </a:r>
              <a:r>
                <a:rPr lang="en-US" altLang="zh-CN" sz="2000" b="1" dirty="0">
                  <a:solidFill>
                    <a:srgbClr val="003300"/>
                  </a:solidFill>
                </a:rPr>
                <a:t>1 </a:t>
              </a:r>
              <a:r>
                <a:rPr lang="en-US" altLang="zh-CN" sz="2000" b="1" dirty="0">
                  <a:solidFill>
                    <a:srgbClr val="003300"/>
                  </a:solidFill>
                  <a:latin typeface="Viner Hand ITC" panose="03070502030502020203" pitchFamily="66" charset="0"/>
                </a:rPr>
                <a:t>   ×   ×</a:t>
              </a:r>
              <a:endParaRPr lang="zh-CN" altLang="en-US" sz="2000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0017" name="矩形 83"/>
            <p:cNvSpPr/>
            <p:nvPr/>
          </p:nvSpPr>
          <p:spPr>
            <a:xfrm>
              <a:off x="6676078" y="3556619"/>
              <a:ext cx="1889977" cy="3989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rgbClr val="003300"/>
                  </a:solidFill>
                  <a:latin typeface="Viner Hand ITC" panose="03070502030502020203" pitchFamily="66" charset="0"/>
                </a:rPr>
                <a:t>×    </a:t>
              </a:r>
              <a:r>
                <a:rPr lang="en-US" altLang="zh-CN" sz="2000" b="1" dirty="0">
                  <a:solidFill>
                    <a:srgbClr val="003300"/>
                  </a:solidFill>
                </a:rPr>
                <a:t>1</a:t>
              </a:r>
              <a:r>
                <a:rPr lang="en-US" altLang="zh-CN" sz="2000" b="1" dirty="0">
                  <a:solidFill>
                    <a:srgbClr val="003300"/>
                  </a:solidFill>
                  <a:latin typeface="Viner Hand ITC" panose="03070502030502020203" pitchFamily="66" charset="0"/>
                </a:rPr>
                <a:t>    ×    </a:t>
              </a:r>
              <a:r>
                <a:rPr lang="en-US" altLang="zh-CN" sz="2000" b="1" dirty="0">
                  <a:solidFill>
                    <a:srgbClr val="003300"/>
                  </a:solidFill>
                </a:rPr>
                <a:t>1</a:t>
              </a:r>
              <a:endParaRPr lang="zh-CN" altLang="en-US" sz="2000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85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同步时序电路举例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grpSp>
        <p:nvGrpSpPr>
          <p:cNvPr id="169992" name="组合 106"/>
          <p:cNvGrpSpPr/>
          <p:nvPr/>
        </p:nvGrpSpPr>
        <p:grpSpPr>
          <a:xfrm>
            <a:off x="512763" y="1733550"/>
            <a:ext cx="2312987" cy="2011363"/>
            <a:chOff x="6155377" y="1107231"/>
            <a:chExt cx="2312648" cy="2011735"/>
          </a:xfrm>
        </p:grpSpPr>
        <p:grpSp>
          <p:nvGrpSpPr>
            <p:cNvPr id="169996" name="组合 92"/>
            <p:cNvGrpSpPr/>
            <p:nvPr/>
          </p:nvGrpSpPr>
          <p:grpSpPr>
            <a:xfrm>
              <a:off x="6155377" y="1107231"/>
              <a:ext cx="2312648" cy="2011735"/>
              <a:chOff x="1210232" y="4057981"/>
              <a:chExt cx="2312382" cy="2012546"/>
            </a:xfrm>
          </p:grpSpPr>
          <p:grpSp>
            <p:nvGrpSpPr>
              <p:cNvPr id="170001" name="Group 1098"/>
              <p:cNvGrpSpPr/>
              <p:nvPr/>
            </p:nvGrpSpPr>
            <p:grpSpPr>
              <a:xfrm>
                <a:off x="1260426" y="4057981"/>
                <a:ext cx="2262188" cy="1595438"/>
                <a:chOff x="1008" y="737"/>
                <a:chExt cx="1425" cy="1005"/>
              </a:xfrm>
            </p:grpSpPr>
            <p:sp>
              <p:nvSpPr>
                <p:cNvPr id="170003" name="Rectangle 1029"/>
                <p:cNvSpPr/>
                <p:nvPr/>
              </p:nvSpPr>
              <p:spPr>
                <a:xfrm>
                  <a:off x="1327" y="1173"/>
                  <a:ext cx="1088" cy="567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50000"/>
                    </a:spcBef>
                  </a:pPr>
                  <a:endParaRPr lang="zh-CN" altLang="en-US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04" name="Line 1030"/>
                <p:cNvSpPr/>
                <p:nvPr/>
              </p:nvSpPr>
              <p:spPr>
                <a:xfrm flipH="1" flipV="1">
                  <a:off x="1150" y="972"/>
                  <a:ext cx="192" cy="201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05" name="Line 1031"/>
                <p:cNvSpPr/>
                <p:nvPr/>
              </p:nvSpPr>
              <p:spPr>
                <a:xfrm>
                  <a:off x="1341" y="1466"/>
                  <a:ext cx="1066" cy="0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06" name="Line 1032"/>
                <p:cNvSpPr/>
                <p:nvPr/>
              </p:nvSpPr>
              <p:spPr>
                <a:xfrm>
                  <a:off x="1591" y="1164"/>
                  <a:ext cx="0" cy="567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07" name="Text Box 1033"/>
                <p:cNvSpPr txBox="1"/>
                <p:nvPr/>
              </p:nvSpPr>
              <p:spPr>
                <a:xfrm>
                  <a:off x="1353" y="944"/>
                  <a:ext cx="1080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defTabSz="914400" eaLnBrk="1" hangingPunct="1">
                    <a:lnSpc>
                      <a:spcPct val="100000"/>
                    </a:lnSpc>
                    <a:spcBef>
                      <a:spcPct val="0"/>
                    </a:spcBef>
                    <a:tabLst>
                      <a:tab pos="758825" algn="l"/>
                    </a:tabLst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00   01   11  10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08" name="Text Box 1034"/>
                <p:cNvSpPr txBox="1"/>
                <p:nvPr/>
              </p:nvSpPr>
              <p:spPr>
                <a:xfrm>
                  <a:off x="1116" y="1205"/>
                  <a:ext cx="184" cy="5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defTabSz="914400" eaLnBrk="1" hangingPunct="1">
                    <a:spcBef>
                      <a:spcPct val="0"/>
                    </a:spcBef>
                    <a:tabLst>
                      <a:tab pos="758825" algn="l"/>
                    </a:tabLst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01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09" name="Text Box 1035"/>
                <p:cNvSpPr txBox="1"/>
                <p:nvPr/>
              </p:nvSpPr>
              <p:spPr>
                <a:xfrm>
                  <a:off x="1100" y="737"/>
                  <a:ext cx="385" cy="38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q</a:t>
                  </a:r>
                  <a:r>
                    <a:rPr lang="en-US" altLang="zh-CN" sz="2000" b="1" baseline="-25000" dirty="0">
                      <a:solidFill>
                        <a:srgbClr val="003300"/>
                      </a:solidFill>
                    </a:rPr>
                    <a:t>2</a:t>
                  </a: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q</a:t>
                  </a:r>
                  <a:r>
                    <a:rPr lang="en-US" altLang="zh-CN" sz="2000" b="1" baseline="-25000" dirty="0">
                      <a:solidFill>
                        <a:srgbClr val="003300"/>
                      </a:solidFill>
                    </a:rPr>
                    <a:t>1</a:t>
                  </a: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10" name="Text Box 1036"/>
                <p:cNvSpPr txBox="1"/>
                <p:nvPr/>
              </p:nvSpPr>
              <p:spPr>
                <a:xfrm>
                  <a:off x="1008" y="980"/>
                  <a:ext cx="224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w</a:t>
                  </a: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70011" name="Line 1038"/>
                <p:cNvSpPr/>
                <p:nvPr/>
              </p:nvSpPr>
              <p:spPr>
                <a:xfrm>
                  <a:off x="1880" y="1174"/>
                  <a:ext cx="0" cy="567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12" name="Line 1039"/>
                <p:cNvSpPr/>
                <p:nvPr/>
              </p:nvSpPr>
              <p:spPr>
                <a:xfrm>
                  <a:off x="2154" y="1165"/>
                  <a:ext cx="0" cy="567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70013" name="Text Box 1040"/>
                <p:cNvSpPr txBox="1"/>
                <p:nvPr/>
              </p:nvSpPr>
              <p:spPr>
                <a:xfrm>
                  <a:off x="2126" y="1197"/>
                  <a:ext cx="303" cy="2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1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</p:grpSp>
          <p:sp>
            <p:nvSpPr>
              <p:cNvPr id="170002" name="Rectangle 5"/>
              <p:cNvSpPr/>
              <p:nvPr/>
            </p:nvSpPr>
            <p:spPr>
              <a:xfrm>
                <a:off x="1210232" y="5638727"/>
                <a:ext cx="1854201" cy="431800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  <a:ln w="1905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669925" algn="r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en-US" altLang="zh-CN" sz="2000" b="1" i="1" dirty="0"/>
                  <a:t>z = q</a:t>
                </a:r>
                <a:r>
                  <a:rPr lang="en-US" altLang="zh-CN" sz="2000" b="1" baseline="-25000" dirty="0"/>
                  <a:t>2</a:t>
                </a:r>
                <a:endParaRPr lang="en-US" altLang="zh-CN" sz="2000" b="1" baseline="-25000" dirty="0"/>
              </a:p>
            </p:txBody>
          </p:sp>
        </p:grpSp>
        <p:sp>
          <p:nvSpPr>
            <p:cNvPr id="169997" name="Text Box 1040"/>
            <p:cNvSpPr txBox="1"/>
            <p:nvPr/>
          </p:nvSpPr>
          <p:spPr>
            <a:xfrm>
              <a:off x="7982321" y="2291725"/>
              <a:ext cx="480943" cy="4287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algn="ctr" eaLnBrk="1" hangingPunct="1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rgbClr val="003300"/>
                  </a:solidFill>
                </a:rPr>
                <a:t>1</a:t>
              </a:r>
              <a:endParaRPr lang="en-US" altLang="zh-CN" sz="2000" b="1" dirty="0">
                <a:solidFill>
                  <a:srgbClr val="003300"/>
                </a:solidFill>
              </a:endParaRPr>
            </a:p>
          </p:txBody>
        </p:sp>
        <p:sp>
          <p:nvSpPr>
            <p:cNvPr id="169998" name="矩形 100"/>
            <p:cNvSpPr/>
            <p:nvPr/>
          </p:nvSpPr>
          <p:spPr>
            <a:xfrm>
              <a:off x="7587185" y="1861544"/>
              <a:ext cx="481068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rgbClr val="003300"/>
                  </a:solidFill>
                  <a:latin typeface="Viner Hand ITC" panose="03070502030502020203" pitchFamily="66" charset="0"/>
                </a:rPr>
                <a:t>×</a:t>
              </a:r>
              <a:endParaRPr lang="zh-CN" altLang="en-US" sz="2000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9999" name="矩形 102"/>
            <p:cNvSpPr/>
            <p:nvPr/>
          </p:nvSpPr>
          <p:spPr>
            <a:xfrm>
              <a:off x="7597345" y="2311116"/>
              <a:ext cx="427090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rgbClr val="003300"/>
                  </a:solidFill>
                  <a:latin typeface="Viner Hand ITC" panose="03070502030502020203" pitchFamily="66" charset="0"/>
                </a:rPr>
                <a:t>×</a:t>
              </a:r>
              <a:endParaRPr lang="zh-CN" altLang="en-US" sz="2000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0000" name="矩形: 圆角 1"/>
            <p:cNvSpPr/>
            <p:nvPr/>
          </p:nvSpPr>
          <p:spPr>
            <a:xfrm>
              <a:off x="7621622" y="1872721"/>
              <a:ext cx="756000" cy="756000"/>
            </a:xfrm>
            <a:prstGeom prst="roundRect">
              <a:avLst>
                <a:gd name="adj" fmla="val 16667"/>
              </a:avLst>
            </a:prstGeom>
            <a:solidFill>
              <a:srgbClr val="069E0A">
                <a:alpha val="39999"/>
              </a:srgbClr>
            </a:solidFill>
            <a:ln w="12700">
              <a:noFill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2000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69993" name="TextBox 1"/>
          <p:cNvSpPr txBox="1"/>
          <p:nvPr/>
        </p:nvSpPr>
        <p:spPr>
          <a:xfrm>
            <a:off x="660400" y="4905375"/>
            <a:ext cx="6638925" cy="15100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en-US" altLang="zh-CN" sz="2300" b="1" i="1" dirty="0">
                <a:solidFill>
                  <a:srgbClr val="000000"/>
                </a:solidFill>
              </a:rPr>
              <a:t>JK </a:t>
            </a:r>
            <a:r>
              <a:rPr lang="zh-CN" altLang="en-US" sz="2300" b="1" dirty="0">
                <a:solidFill>
                  <a:srgbClr val="000000"/>
                </a:solidFill>
              </a:rPr>
              <a:t>触发器特性方程：</a:t>
            </a:r>
            <a:r>
              <a:rPr lang="en-US" altLang="zh-CN" sz="2300" b="1" i="1" dirty="0">
                <a:solidFill>
                  <a:srgbClr val="000000"/>
                </a:solidFill>
              </a:rPr>
              <a:t>Q</a:t>
            </a:r>
            <a:r>
              <a:rPr lang="en-US" altLang="zh-CN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=</a:t>
            </a:r>
            <a:r>
              <a:rPr lang="en-US" altLang="zh-CN" sz="2300" b="1" i="1" dirty="0">
                <a:solidFill>
                  <a:srgbClr val="000000"/>
                </a:solidFill>
              </a:rPr>
              <a:t>J</a:t>
            </a:r>
            <a:r>
              <a:rPr lang="en-US" altLang="zh-CN" sz="2300" b="1" dirty="0">
                <a:solidFill>
                  <a:srgbClr val="000000"/>
                </a:solidFill>
              </a:rPr>
              <a:t>∙</a:t>
            </a:r>
            <a:r>
              <a:rPr lang="en-US" altLang="zh-CN" sz="2300" b="1" i="1" dirty="0">
                <a:solidFill>
                  <a:srgbClr val="000000"/>
                </a:solidFill>
              </a:rPr>
              <a:t>q'+K'</a:t>
            </a:r>
            <a:r>
              <a:rPr lang="en-US" altLang="zh-CN" sz="2300" b="1" dirty="0">
                <a:solidFill>
                  <a:srgbClr val="000000"/>
                </a:solidFill>
              </a:rPr>
              <a:t>∙</a:t>
            </a:r>
            <a:r>
              <a:rPr lang="en-US" altLang="zh-CN" sz="2300" b="1" i="1" dirty="0">
                <a:solidFill>
                  <a:srgbClr val="000000"/>
                </a:solidFill>
              </a:rPr>
              <a:t>q</a:t>
            </a:r>
            <a:endParaRPr lang="en-US" altLang="zh-CN" sz="2300" b="1" dirty="0">
              <a:solidFill>
                <a:srgbClr val="000000"/>
              </a:solidFill>
            </a:endParaRPr>
          </a:p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</a:rPr>
              <a:t>2 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= </a:t>
            </a:r>
            <a:r>
              <a:rPr lang="en-US" altLang="zh-CN" b="1" i="1" dirty="0">
                <a:solidFill>
                  <a:srgbClr val="000000"/>
                </a:solidFill>
              </a:rPr>
              <a:t>w</a:t>
            </a:r>
            <a:r>
              <a:rPr lang="en-US" altLang="zh-CN" b="1" dirty="0">
                <a:solidFill>
                  <a:srgbClr val="000000"/>
                </a:solidFill>
              </a:rPr>
              <a:t>∙</a:t>
            </a: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</a:rPr>
              <a:t>2</a:t>
            </a:r>
            <a:r>
              <a:rPr lang="en-US" altLang="zh-CN" b="1" i="1" dirty="0">
                <a:solidFill>
                  <a:srgbClr val="000000"/>
                </a:solidFill>
              </a:rPr>
              <a:t>+ w</a:t>
            </a:r>
            <a:r>
              <a:rPr lang="en-US" altLang="zh-CN" b="1" dirty="0">
                <a:solidFill>
                  <a:srgbClr val="000000"/>
                </a:solidFill>
              </a:rPr>
              <a:t>∙</a:t>
            </a: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</a:rPr>
              <a:t>1</a:t>
            </a:r>
            <a:r>
              <a:rPr lang="en-US" altLang="zh-CN" b="1" dirty="0">
                <a:solidFill>
                  <a:srgbClr val="000000"/>
                </a:solidFill>
              </a:rPr>
              <a:t> = </a:t>
            </a:r>
            <a:r>
              <a:rPr lang="en-US" altLang="zh-CN" b="1" i="1" dirty="0">
                <a:solidFill>
                  <a:srgbClr val="000000"/>
                </a:solidFill>
              </a:rPr>
              <a:t>w</a:t>
            </a:r>
            <a:r>
              <a:rPr lang="en-US" altLang="zh-CN" b="1" dirty="0">
                <a:solidFill>
                  <a:srgbClr val="000000"/>
                </a:solidFill>
              </a:rPr>
              <a:t>∙</a:t>
            </a: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</a:rPr>
              <a:t>2</a:t>
            </a:r>
            <a:r>
              <a:rPr lang="en-US" altLang="zh-CN" b="1" i="1" dirty="0">
                <a:solidFill>
                  <a:srgbClr val="000000"/>
                </a:solidFill>
              </a:rPr>
              <a:t>+ wq</a:t>
            </a:r>
            <a:r>
              <a:rPr lang="en-US" altLang="zh-CN" b="1" baseline="-25000" dirty="0">
                <a:solidFill>
                  <a:srgbClr val="000000"/>
                </a:solidFill>
              </a:rPr>
              <a:t>1</a:t>
            </a:r>
            <a:r>
              <a:rPr lang="en-US" altLang="zh-CN" b="1" dirty="0">
                <a:solidFill>
                  <a:srgbClr val="000000"/>
                </a:solidFill>
              </a:rPr>
              <a:t>∙</a:t>
            </a:r>
            <a:r>
              <a:rPr lang="en-US" altLang="zh-CN" b="1" i="1" dirty="0">
                <a:solidFill>
                  <a:srgbClr val="000000"/>
                </a:solidFill>
              </a:rPr>
              <a:t>q'</a:t>
            </a:r>
            <a:r>
              <a:rPr lang="en-US" altLang="zh-CN" b="1" baseline="-25000" dirty="0">
                <a:solidFill>
                  <a:srgbClr val="000000"/>
                </a:solidFill>
              </a:rPr>
              <a:t>2 </a:t>
            </a:r>
            <a:r>
              <a:rPr lang="en-US" altLang="zh-CN" b="1" dirty="0">
                <a:solidFill>
                  <a:srgbClr val="000000"/>
                </a:solidFill>
              </a:rPr>
              <a:t>=&gt;</a:t>
            </a:r>
            <a:r>
              <a:rPr lang="en-US" altLang="zh-CN" b="1" i="1" dirty="0">
                <a:solidFill>
                  <a:srgbClr val="000000"/>
                </a:solidFill>
              </a:rPr>
              <a:t>J</a:t>
            </a:r>
            <a:r>
              <a:rPr lang="en-US" altLang="zh-CN" b="1" baseline="-25000" dirty="0">
                <a:solidFill>
                  <a:srgbClr val="000000"/>
                </a:solidFill>
              </a:rPr>
              <a:t>2</a:t>
            </a:r>
            <a:r>
              <a:rPr lang="en-US" altLang="zh-CN" b="1" dirty="0">
                <a:solidFill>
                  <a:srgbClr val="000000"/>
                </a:solidFill>
              </a:rPr>
              <a:t>=</a:t>
            </a:r>
            <a:r>
              <a:rPr lang="en-US" altLang="zh-CN" b="1" i="1" dirty="0">
                <a:solidFill>
                  <a:srgbClr val="000000"/>
                </a:solidFill>
              </a:rPr>
              <a:t>wq</a:t>
            </a:r>
            <a:r>
              <a:rPr lang="en-US" altLang="zh-CN" b="1" baseline="-25000" dirty="0">
                <a:solidFill>
                  <a:srgbClr val="000000"/>
                </a:solidFill>
              </a:rPr>
              <a:t>1</a:t>
            </a:r>
            <a:r>
              <a:rPr lang="en-US" altLang="zh-CN" b="1" dirty="0">
                <a:solidFill>
                  <a:srgbClr val="000000"/>
                </a:solidFill>
              </a:rPr>
              <a:t> ,</a:t>
            </a:r>
            <a:r>
              <a:rPr lang="en-US" altLang="zh-CN" b="1" i="1" dirty="0">
                <a:solidFill>
                  <a:srgbClr val="000000"/>
                </a:solidFill>
              </a:rPr>
              <a:t> K</a:t>
            </a:r>
            <a:r>
              <a:rPr lang="en-US" altLang="zh-CN" b="1" baseline="-25000" dirty="0">
                <a:solidFill>
                  <a:srgbClr val="000000"/>
                </a:solidFill>
              </a:rPr>
              <a:t>2</a:t>
            </a:r>
            <a:r>
              <a:rPr lang="en-US" altLang="zh-CN" b="1" dirty="0">
                <a:solidFill>
                  <a:srgbClr val="000000"/>
                </a:solidFill>
              </a:rPr>
              <a:t>=</a:t>
            </a:r>
            <a:r>
              <a:rPr lang="en-US" altLang="zh-CN" b="1" i="1" dirty="0">
                <a:solidFill>
                  <a:srgbClr val="000000"/>
                </a:solidFill>
              </a:rPr>
              <a:t>w'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</a:rPr>
              <a:t>1 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= </a:t>
            </a:r>
            <a:r>
              <a:rPr lang="en-US" altLang="zh-CN" b="1" i="1" dirty="0">
                <a:solidFill>
                  <a:srgbClr val="000000"/>
                </a:solidFill>
              </a:rPr>
              <a:t>wq'</a:t>
            </a:r>
            <a:r>
              <a:rPr lang="en-US" altLang="zh-CN" b="1" baseline="-25000" dirty="0">
                <a:solidFill>
                  <a:srgbClr val="000000"/>
                </a:solidFill>
              </a:rPr>
              <a:t>2</a:t>
            </a:r>
            <a:r>
              <a:rPr lang="en-US" altLang="zh-CN" b="1" i="1" dirty="0">
                <a:solidFill>
                  <a:srgbClr val="000000"/>
                </a:solidFill>
              </a:rPr>
              <a:t>q'</a:t>
            </a:r>
            <a:r>
              <a:rPr lang="en-US" altLang="zh-CN" b="1" baseline="-25000" dirty="0">
                <a:solidFill>
                  <a:srgbClr val="000000"/>
                </a:solidFill>
              </a:rPr>
              <a:t>1</a:t>
            </a:r>
            <a:r>
              <a:rPr lang="en-US" altLang="zh-CN" b="1" dirty="0">
                <a:solidFill>
                  <a:srgbClr val="000000"/>
                </a:solidFill>
              </a:rPr>
              <a:t> = </a:t>
            </a:r>
            <a:r>
              <a:rPr lang="en-US" altLang="zh-CN" b="1" i="1" dirty="0">
                <a:solidFill>
                  <a:srgbClr val="000000"/>
                </a:solidFill>
              </a:rPr>
              <a:t>wq'</a:t>
            </a:r>
            <a:r>
              <a:rPr lang="en-US" altLang="zh-CN" b="1" baseline="-25000" dirty="0">
                <a:solidFill>
                  <a:srgbClr val="000000"/>
                </a:solidFill>
              </a:rPr>
              <a:t>2</a:t>
            </a:r>
            <a:r>
              <a:rPr lang="en-US" altLang="zh-CN" b="1" dirty="0">
                <a:solidFill>
                  <a:srgbClr val="000000"/>
                </a:solidFill>
              </a:rPr>
              <a:t>∙ </a:t>
            </a:r>
            <a:r>
              <a:rPr lang="en-US" altLang="zh-CN" b="1" i="1" dirty="0">
                <a:solidFill>
                  <a:srgbClr val="000000"/>
                </a:solidFill>
              </a:rPr>
              <a:t>q'</a:t>
            </a:r>
            <a:r>
              <a:rPr lang="en-US" altLang="zh-CN" b="1" baseline="-25000" dirty="0">
                <a:solidFill>
                  <a:srgbClr val="000000"/>
                </a:solidFill>
              </a:rPr>
              <a:t>1</a:t>
            </a:r>
            <a:r>
              <a:rPr lang="en-US" altLang="zh-CN" b="1" i="1" dirty="0">
                <a:solidFill>
                  <a:srgbClr val="000000"/>
                </a:solidFill>
              </a:rPr>
              <a:t> + </a:t>
            </a:r>
            <a:r>
              <a:rPr lang="en-US" altLang="zh-CN" b="1" dirty="0">
                <a:solidFill>
                  <a:srgbClr val="000000"/>
                </a:solidFill>
              </a:rPr>
              <a:t>0 ∙ </a:t>
            </a: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</a:rPr>
              <a:t>1   </a:t>
            </a:r>
            <a:r>
              <a:rPr lang="en-US" altLang="zh-CN" b="1" dirty="0">
                <a:solidFill>
                  <a:srgbClr val="000000"/>
                </a:solidFill>
              </a:rPr>
              <a:t>=&gt;</a:t>
            </a:r>
            <a:r>
              <a:rPr lang="en-US" altLang="zh-CN" b="1" i="1" dirty="0">
                <a:solidFill>
                  <a:srgbClr val="000000"/>
                </a:solidFill>
              </a:rPr>
              <a:t>J</a:t>
            </a:r>
            <a:r>
              <a:rPr lang="en-US" altLang="zh-CN" b="1" baseline="-25000" dirty="0">
                <a:solidFill>
                  <a:srgbClr val="000000"/>
                </a:solidFill>
              </a:rPr>
              <a:t>1</a:t>
            </a:r>
            <a:r>
              <a:rPr lang="en-US" altLang="zh-CN" b="1" dirty="0">
                <a:solidFill>
                  <a:srgbClr val="000000"/>
                </a:solidFill>
              </a:rPr>
              <a:t>=</a:t>
            </a:r>
            <a:r>
              <a:rPr lang="en-US" altLang="zh-CN" b="1" i="1" dirty="0">
                <a:solidFill>
                  <a:srgbClr val="000000"/>
                </a:solidFill>
              </a:rPr>
              <a:t>wq'</a:t>
            </a:r>
            <a:r>
              <a:rPr lang="en-US" altLang="zh-CN" b="1" baseline="-25000" dirty="0">
                <a:solidFill>
                  <a:srgbClr val="000000"/>
                </a:solidFill>
              </a:rPr>
              <a:t>2</a:t>
            </a:r>
            <a:r>
              <a:rPr lang="en-US" altLang="zh-CN" b="1" dirty="0">
                <a:solidFill>
                  <a:srgbClr val="000000"/>
                </a:solidFill>
              </a:rPr>
              <a:t> ,</a:t>
            </a:r>
            <a:r>
              <a:rPr lang="en-US" altLang="zh-CN" b="1" i="1" dirty="0">
                <a:solidFill>
                  <a:srgbClr val="000000"/>
                </a:solidFill>
              </a:rPr>
              <a:t> K</a:t>
            </a:r>
            <a:r>
              <a:rPr lang="en-US" altLang="zh-CN" b="1" baseline="-25000" dirty="0">
                <a:solidFill>
                  <a:srgbClr val="000000"/>
                </a:solidFill>
              </a:rPr>
              <a:t>1</a:t>
            </a:r>
            <a:r>
              <a:rPr lang="en-US" altLang="zh-CN" b="1" dirty="0">
                <a:solidFill>
                  <a:srgbClr val="000000"/>
                </a:solidFill>
              </a:rPr>
              <a:t>=1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169994" name="Rectangle 32"/>
          <p:cNvSpPr/>
          <p:nvPr/>
        </p:nvSpPr>
        <p:spPr>
          <a:xfrm>
            <a:off x="658813" y="3738563"/>
            <a:ext cx="2682875" cy="1154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触发器的激励方程也可以对状态方程进行香农展开得到</a:t>
            </a:r>
            <a:endParaRPr lang="en-US" altLang="zh-CN" sz="2300" b="1" dirty="0">
              <a:solidFill>
                <a:srgbClr val="000000"/>
              </a:solidFill>
              <a:latin typeface="宋体" panose="02010600030101010101" pitchFamily="2" charset="-122"/>
              <a:ea typeface="Times New Roman" panose="02020603050405020304" pitchFamily="18" charset="0"/>
            </a:endParaRPr>
          </a:p>
        </p:txBody>
      </p:sp>
      <p:sp>
        <p:nvSpPr>
          <p:cNvPr id="169995" name="Rectangle 32"/>
          <p:cNvSpPr/>
          <p:nvPr/>
        </p:nvSpPr>
        <p:spPr>
          <a:xfrm>
            <a:off x="609600" y="1268413"/>
            <a:ext cx="2187575" cy="4460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卡诺图化简：</a:t>
            </a:r>
            <a:endParaRPr lang="en-US" altLang="zh-CN" sz="2300" b="1" dirty="0">
              <a:solidFill>
                <a:srgbClr val="000000"/>
              </a:solidFill>
              <a:latin typeface="宋体" panose="02010600030101010101" pitchFamily="2" charset="-122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1010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171011" name="TextBox 1"/>
          <p:cNvSpPr txBox="1"/>
          <p:nvPr/>
        </p:nvSpPr>
        <p:spPr>
          <a:xfrm>
            <a:off x="823913" y="2006600"/>
            <a:ext cx="7654925" cy="1000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zh-CN" altLang="en-US" b="1" dirty="0">
                <a:solidFill>
                  <a:srgbClr val="000000"/>
                </a:solidFill>
              </a:rPr>
              <a:t>驱动方程：</a:t>
            </a:r>
            <a:r>
              <a:rPr lang="en-US" altLang="zh-CN" b="1" i="1" dirty="0">
                <a:solidFill>
                  <a:srgbClr val="000000"/>
                </a:solidFill>
              </a:rPr>
              <a:t>J</a:t>
            </a:r>
            <a:r>
              <a:rPr lang="en-US" altLang="zh-CN" b="1" baseline="-25000" dirty="0">
                <a:solidFill>
                  <a:srgbClr val="000000"/>
                </a:solidFill>
              </a:rPr>
              <a:t>2</a:t>
            </a:r>
            <a:r>
              <a:rPr lang="en-US" altLang="zh-CN" b="1" dirty="0">
                <a:solidFill>
                  <a:srgbClr val="000000"/>
                </a:solidFill>
              </a:rPr>
              <a:t>=</a:t>
            </a:r>
            <a:r>
              <a:rPr lang="en-US" altLang="zh-CN" b="1" i="1" dirty="0">
                <a:solidFill>
                  <a:srgbClr val="000000"/>
                </a:solidFill>
              </a:rPr>
              <a:t>wq</a:t>
            </a:r>
            <a:r>
              <a:rPr lang="en-US" altLang="zh-CN" b="1" baseline="-25000" dirty="0">
                <a:solidFill>
                  <a:srgbClr val="000000"/>
                </a:solidFill>
              </a:rPr>
              <a:t>1</a:t>
            </a:r>
            <a:r>
              <a:rPr lang="en-US" altLang="zh-CN" b="1" dirty="0">
                <a:solidFill>
                  <a:srgbClr val="000000"/>
                </a:solidFill>
              </a:rPr>
              <a:t>,</a:t>
            </a:r>
            <a:r>
              <a:rPr lang="en-US" altLang="zh-CN" b="1" i="1" dirty="0">
                <a:solidFill>
                  <a:srgbClr val="000000"/>
                </a:solidFill>
              </a:rPr>
              <a:t> K</a:t>
            </a:r>
            <a:r>
              <a:rPr lang="en-US" altLang="zh-CN" b="1" baseline="-25000" dirty="0">
                <a:solidFill>
                  <a:srgbClr val="000000"/>
                </a:solidFill>
              </a:rPr>
              <a:t>2</a:t>
            </a:r>
            <a:r>
              <a:rPr lang="en-US" altLang="zh-CN" b="1" dirty="0">
                <a:solidFill>
                  <a:srgbClr val="000000"/>
                </a:solidFill>
              </a:rPr>
              <a:t>=</a:t>
            </a:r>
            <a:r>
              <a:rPr lang="en-US" altLang="zh-CN" b="1" i="1" dirty="0">
                <a:solidFill>
                  <a:srgbClr val="000000"/>
                </a:solidFill>
              </a:rPr>
              <a:t>w'</a:t>
            </a:r>
            <a:r>
              <a:rPr lang="en-US" altLang="zh-CN" b="1" dirty="0">
                <a:solidFill>
                  <a:srgbClr val="000000"/>
                </a:solidFill>
              </a:rPr>
              <a:t> </a:t>
            </a:r>
            <a:r>
              <a:rPr lang="zh-CN" altLang="en-US" b="1" dirty="0">
                <a:solidFill>
                  <a:srgbClr val="000000"/>
                </a:solidFill>
              </a:rPr>
              <a:t>；</a:t>
            </a:r>
            <a:r>
              <a:rPr lang="en-US" altLang="zh-CN" b="1" i="1" dirty="0">
                <a:solidFill>
                  <a:srgbClr val="000000"/>
                </a:solidFill>
              </a:rPr>
              <a:t>J</a:t>
            </a:r>
            <a:r>
              <a:rPr lang="en-US" altLang="zh-CN" b="1" baseline="-25000" dirty="0">
                <a:solidFill>
                  <a:srgbClr val="000000"/>
                </a:solidFill>
              </a:rPr>
              <a:t>1</a:t>
            </a:r>
            <a:r>
              <a:rPr lang="en-US" altLang="zh-CN" b="1" dirty="0">
                <a:solidFill>
                  <a:srgbClr val="000000"/>
                </a:solidFill>
              </a:rPr>
              <a:t>=</a:t>
            </a:r>
            <a:r>
              <a:rPr lang="en-US" altLang="zh-CN" b="1" i="1" dirty="0">
                <a:solidFill>
                  <a:srgbClr val="000000"/>
                </a:solidFill>
              </a:rPr>
              <a:t>wq'</a:t>
            </a:r>
            <a:r>
              <a:rPr lang="en-US" altLang="zh-CN" b="1" baseline="-25000" dirty="0">
                <a:solidFill>
                  <a:srgbClr val="000000"/>
                </a:solidFill>
              </a:rPr>
              <a:t>2</a:t>
            </a:r>
            <a:r>
              <a:rPr lang="en-US" altLang="zh-CN" b="1" dirty="0">
                <a:solidFill>
                  <a:srgbClr val="000000"/>
                </a:solidFill>
              </a:rPr>
              <a:t> ,</a:t>
            </a:r>
            <a:r>
              <a:rPr lang="en-US" altLang="zh-CN" b="1" i="1" dirty="0">
                <a:solidFill>
                  <a:srgbClr val="000000"/>
                </a:solidFill>
              </a:rPr>
              <a:t> K</a:t>
            </a:r>
            <a:r>
              <a:rPr lang="en-US" altLang="zh-CN" b="1" baseline="-25000" dirty="0">
                <a:solidFill>
                  <a:srgbClr val="000000"/>
                </a:solidFill>
              </a:rPr>
              <a:t>1</a:t>
            </a:r>
            <a:r>
              <a:rPr lang="en-US" altLang="zh-CN" b="1" dirty="0">
                <a:solidFill>
                  <a:srgbClr val="000000"/>
                </a:solidFill>
              </a:rPr>
              <a:t>=1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zh-CN" altLang="en-US" b="1" dirty="0">
                <a:solidFill>
                  <a:srgbClr val="000000"/>
                </a:solidFill>
              </a:rPr>
              <a:t>输出方程：</a:t>
            </a:r>
            <a:r>
              <a:rPr lang="en-US" altLang="zh-CN" b="1" i="1" dirty="0">
                <a:solidFill>
                  <a:srgbClr val="000000"/>
                </a:solidFill>
              </a:rPr>
              <a:t>z </a:t>
            </a:r>
            <a:r>
              <a:rPr lang="en-US" altLang="zh-CN" b="1" dirty="0">
                <a:solidFill>
                  <a:srgbClr val="000000"/>
                </a:solidFill>
              </a:rPr>
              <a:t>= </a:t>
            </a: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</a:rPr>
              <a:t>2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pic>
        <p:nvPicPr>
          <p:cNvPr id="171012" name="图片 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475" y="3157538"/>
            <a:ext cx="6019800" cy="2447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6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同步时序电路举例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71014" name="Rectangle 2"/>
          <p:cNvSpPr/>
          <p:nvPr/>
        </p:nvSpPr>
        <p:spPr>
          <a:xfrm>
            <a:off x="2492375" y="5845175"/>
            <a:ext cx="4318000" cy="425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000000"/>
                </a:solidFill>
              </a:rPr>
              <a:t>JK</a:t>
            </a:r>
            <a:r>
              <a:rPr lang="zh-CN" altLang="en-US" sz="2000" b="1" dirty="0">
                <a:solidFill>
                  <a:srgbClr val="000000"/>
                </a:solidFill>
              </a:rPr>
              <a:t>触发器实现“</a:t>
            </a:r>
            <a:r>
              <a:rPr lang="en-US" altLang="zh-CN" sz="2000" b="1" dirty="0">
                <a:solidFill>
                  <a:srgbClr val="000000"/>
                </a:solidFill>
              </a:rPr>
              <a:t>11</a:t>
            </a:r>
            <a:r>
              <a:rPr lang="zh-CN" altLang="en-US" sz="2000" b="1" dirty="0">
                <a:solidFill>
                  <a:srgbClr val="000000"/>
                </a:solidFill>
              </a:rPr>
              <a:t>”序列检测器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171015" name="TextBox 1"/>
          <p:cNvSpPr txBox="1"/>
          <p:nvPr/>
        </p:nvSpPr>
        <p:spPr>
          <a:xfrm>
            <a:off x="498475" y="1252538"/>
            <a:ext cx="8305800" cy="4873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zh-CN" altLang="en-US" sz="2300" b="1" dirty="0">
                <a:solidFill>
                  <a:srgbClr val="C00000"/>
                </a:solidFill>
                <a:latin typeface="宋体" panose="02010600030101010101" pitchFamily="2" charset="-122"/>
              </a:rPr>
              <a:t>根据驱动方程和输出方程，画出电路</a:t>
            </a:r>
            <a:endParaRPr lang="zh-CN" altLang="en-US" sz="23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2034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25603" name="Rectangle 8"/>
          <p:cNvSpPr>
            <a:spLocks noChangeArrowheads="1"/>
          </p:cNvSpPr>
          <p:nvPr/>
        </p:nvSpPr>
        <p:spPr bwMode="auto">
          <a:xfrm>
            <a:off x="647700" y="1690688"/>
            <a:ext cx="5184775" cy="4762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lnSpc>
                <a:spcPct val="130000"/>
              </a:lnSpc>
              <a:spcBef>
                <a:spcPct val="2000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module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simple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(</a:t>
            </a:r>
            <a:r>
              <a:rPr kumimoji="1" lang="en-CA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clk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 </a:t>
            </a:r>
            <a:r>
              <a:rPr kumimoji="1" lang="en-CA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rst_n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 w,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);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input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clk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 </a:t>
            </a:r>
            <a:r>
              <a:rPr kumimoji="1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rst_n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 w;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output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z;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reg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[2:1] q, Q;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parameter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[2:1] A=2’b00,B=2’b01,C=2’b10;   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always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@ (</a:t>
            </a:r>
            <a:r>
              <a:rPr kumimoji="1" lang="en-CA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w,q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)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 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case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(q)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      A: 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if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(w)  Q = B;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           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else </a:t>
            </a:r>
            <a:r>
              <a:rPr kumimoji="1" lang="en-CA" altLang="zh-CN" sz="2000" b="0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Q = A;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      B: 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if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(w)  Q = C;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           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else</a:t>
            </a:r>
            <a:r>
              <a:rPr kumimoji="1" lang="en-CA" altLang="zh-CN" sz="2000" b="0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Q = A;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      C: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if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(w)  Q = C;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           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else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CA" altLang="zh-CN" sz="2000" b="0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Q = A;</a:t>
            </a:r>
            <a:endParaRPr kumimoji="1" lang="en-CA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      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default: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CA" altLang="zh-CN" sz="2000" b="0" i="0" u="none" strike="noStrike" kern="1200" cap="none" spc="2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Q=2’bxx;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 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endcase</a:t>
            </a:r>
            <a:endParaRPr kumimoji="1" lang="en-CA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172036" name="Rectangle 8"/>
          <p:cNvSpPr/>
          <p:nvPr/>
        </p:nvSpPr>
        <p:spPr>
          <a:xfrm>
            <a:off x="3975100" y="4141788"/>
            <a:ext cx="4597400" cy="23114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defTabSz="914400">
              <a:lnSpc>
                <a:spcPct val="100000"/>
              </a:lnSpc>
              <a:spcBef>
                <a:spcPts val="120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US" altLang="zh-CN" sz="2000" b="1" dirty="0">
                <a:solidFill>
                  <a:srgbClr val="000000"/>
                </a:solidFill>
                <a:ea typeface="MS Mincho" panose="02020609040205080304" pitchFamily="49" charset="-128"/>
              </a:rPr>
              <a:t>	</a:t>
            </a:r>
            <a:r>
              <a:rPr lang="en-CA" altLang="zh-CN" sz="2000" b="1" dirty="0">
                <a:ea typeface="MS Mincho" panose="02020609040205080304" pitchFamily="49" charset="-128"/>
              </a:rPr>
              <a:t>always </a:t>
            </a:r>
            <a:r>
              <a:rPr lang="en-US" altLang="zh-CN" sz="2000" dirty="0">
                <a:solidFill>
                  <a:srgbClr val="000000"/>
                </a:solidFill>
                <a:ea typeface="MS Mincho" panose="02020609040205080304" pitchFamily="49" charset="-128"/>
              </a:rPr>
              <a:t>@ (posedge clk, negedge rst_n)</a:t>
            </a:r>
            <a:endParaRPr lang="en-US" altLang="zh-CN" sz="2000" dirty="0">
              <a:solidFill>
                <a:srgbClr val="000000"/>
              </a:solidFill>
              <a:ea typeface="MS Mincho" panose="02020609040205080304" pitchFamily="49" charset="-128"/>
            </a:endParaRPr>
          </a:p>
          <a:p>
            <a:pPr marL="0" lvl="0" indent="0" defTabSz="914400">
              <a:lnSpc>
                <a:spcPct val="100000"/>
              </a:lnSpc>
              <a:spcBef>
                <a:spcPts val="120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US" altLang="zh-CN" sz="2000" dirty="0">
                <a:solidFill>
                  <a:srgbClr val="000000"/>
                </a:solidFill>
                <a:ea typeface="MS Mincho" panose="02020609040205080304" pitchFamily="49" charset="-128"/>
              </a:rPr>
              <a:t>          </a:t>
            </a:r>
            <a:r>
              <a:rPr lang="en-CA" altLang="zh-CN" sz="2000" b="1" dirty="0">
                <a:ea typeface="MS Mincho" panose="02020609040205080304" pitchFamily="49" charset="-128"/>
              </a:rPr>
              <a:t>if</a:t>
            </a:r>
            <a:r>
              <a:rPr lang="en-US" altLang="zh-CN" sz="2000" dirty="0">
                <a:solidFill>
                  <a:srgbClr val="000000"/>
                </a:solidFill>
                <a:ea typeface="MS Mincho" panose="02020609040205080304" pitchFamily="49" charset="-128"/>
              </a:rPr>
              <a:t>(</a:t>
            </a:r>
            <a:r>
              <a:rPr lang="en-US" altLang="en-CA" sz="2000" dirty="0">
                <a:solidFill>
                  <a:srgbClr val="000000"/>
                </a:solidFill>
                <a:ea typeface="MS Mincho" panose="02020609040205080304" pitchFamily="49" charset="-128"/>
              </a:rPr>
              <a:t>!</a:t>
            </a:r>
            <a:r>
              <a:rPr lang="en-US" altLang="zh-CN" sz="2000" dirty="0">
                <a:solidFill>
                  <a:srgbClr val="000000"/>
                </a:solidFill>
                <a:ea typeface="MS Mincho" panose="02020609040205080304" pitchFamily="49" charset="-128"/>
              </a:rPr>
              <a:t>rst_n)   q &lt;= A;</a:t>
            </a:r>
            <a:endParaRPr lang="en-US" altLang="zh-CN" sz="2000" dirty="0">
              <a:solidFill>
                <a:srgbClr val="000000"/>
              </a:solidFill>
              <a:ea typeface="MS Mincho" panose="02020609040205080304" pitchFamily="49" charset="-128"/>
            </a:endParaRPr>
          </a:p>
          <a:p>
            <a:pPr marL="0" lvl="0" indent="0" defTabSz="914400">
              <a:lnSpc>
                <a:spcPct val="100000"/>
              </a:lnSpc>
              <a:spcBef>
                <a:spcPts val="120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US" altLang="zh-CN" sz="2000" dirty="0">
                <a:solidFill>
                  <a:srgbClr val="000000"/>
                </a:solidFill>
                <a:ea typeface="MS Mincho" panose="02020609040205080304" pitchFamily="49" charset="-128"/>
              </a:rPr>
              <a:t>          </a:t>
            </a:r>
            <a:r>
              <a:rPr lang="en-CA" altLang="zh-CN" sz="2000" b="1" dirty="0">
                <a:ea typeface="MS Mincho" panose="02020609040205080304" pitchFamily="49" charset="-128"/>
              </a:rPr>
              <a:t>else</a:t>
            </a:r>
            <a:r>
              <a:rPr lang="en-US" altLang="zh-CN" sz="2000" dirty="0">
                <a:solidFill>
                  <a:srgbClr val="000000"/>
                </a:solidFill>
                <a:ea typeface="MS Mincho" panose="02020609040205080304" pitchFamily="49" charset="-128"/>
              </a:rPr>
              <a:t>  q &lt;= Q;</a:t>
            </a:r>
            <a:endParaRPr lang="en-US" altLang="zh-CN" sz="2000" dirty="0">
              <a:solidFill>
                <a:srgbClr val="000000"/>
              </a:solidFill>
              <a:ea typeface="MS Mincho" panose="02020609040205080304" pitchFamily="49" charset="-128"/>
            </a:endParaRPr>
          </a:p>
          <a:p>
            <a:pPr marL="0" lvl="0" indent="0" defTabSz="914400">
              <a:lnSpc>
                <a:spcPct val="100000"/>
              </a:lnSpc>
              <a:spcBef>
                <a:spcPts val="120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CA" altLang="zh-CN" sz="2000" b="1" dirty="0">
                <a:ea typeface="MS Mincho" panose="02020609040205080304" pitchFamily="49" charset="-128"/>
              </a:rPr>
              <a:t>assign</a:t>
            </a:r>
            <a:r>
              <a:rPr lang="en-US" altLang="zh-CN" sz="2000" dirty="0">
                <a:solidFill>
                  <a:srgbClr val="000000"/>
                </a:solidFill>
                <a:ea typeface="MS Mincho" panose="02020609040205080304" pitchFamily="49" charset="-128"/>
              </a:rPr>
              <a:t> z=(q==C);</a:t>
            </a:r>
            <a:endParaRPr lang="en-CA" altLang="zh-CN" sz="2000" b="1" dirty="0">
              <a:ea typeface="MS Mincho" panose="02020609040205080304" pitchFamily="49" charset="-128"/>
            </a:endParaRPr>
          </a:p>
          <a:p>
            <a:pPr marL="0" lvl="0" indent="0" defTabSz="914400">
              <a:lnSpc>
                <a:spcPct val="100000"/>
              </a:lnSpc>
              <a:spcBef>
                <a:spcPts val="120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US" altLang="zh-CN" sz="2000" b="1" dirty="0">
                <a:solidFill>
                  <a:srgbClr val="C00000"/>
                </a:solidFill>
                <a:ea typeface="MS Mincho" panose="02020609040205080304" pitchFamily="49" charset="-128"/>
              </a:rPr>
              <a:t>endmodule</a:t>
            </a:r>
            <a:endParaRPr lang="en-US" altLang="zh-CN" sz="1800" dirty="0">
              <a:solidFill>
                <a:srgbClr val="C00000"/>
              </a:solidFill>
              <a:ea typeface="MS Mincho" panose="02020609040205080304" pitchFamily="49" charset="-128"/>
            </a:endParaRPr>
          </a:p>
          <a:p>
            <a:pPr marL="0" lvl="0" indent="0" defTabSz="914400">
              <a:lnSpc>
                <a:spcPct val="100000"/>
              </a:lnSpc>
              <a:spcBef>
                <a:spcPct val="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US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		</a:t>
            </a:r>
            <a:endParaRPr lang="en-US" altLang="zh-CN" sz="1800" b="1" dirty="0">
              <a:solidFill>
                <a:srgbClr val="000000"/>
              </a:solidFill>
              <a:ea typeface="MS Mincho" panose="02020609040205080304" pitchFamily="49" charset="-128"/>
            </a:endParaRP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同步时序电路举例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graphicFrame>
        <p:nvGraphicFramePr>
          <p:cNvPr id="8" name="表格 54"/>
          <p:cNvGraphicFramePr>
            <a:graphicFrameLocks noGrp="1"/>
          </p:cNvGraphicFramePr>
          <p:nvPr/>
        </p:nvGraphicFramePr>
        <p:xfrm>
          <a:off x="5691188" y="2435225"/>
          <a:ext cx="2889250" cy="170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014"/>
                <a:gridCol w="1383820"/>
                <a:gridCol w="651415"/>
              </a:tblGrid>
              <a:tr h="365809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en-US" altLang="zh-CN" sz="1800" b="0" i="0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1800" b="0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0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800" b="0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0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0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08" marR="91408" marT="45738" marB="4573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>
                          <a:solidFill>
                            <a:srgbClr val="000000"/>
                          </a:solidFill>
                        </a:rPr>
                        <a:t>次态 </a:t>
                      </a:r>
                      <a:r>
                        <a:rPr lang="en-US" altLang="zh-CN" sz="1800" b="0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0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800" b="0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0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0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08" marR="91408" marT="45738" marB="4573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rgbClr val="000000"/>
                          </a:solidFill>
                        </a:rPr>
                        <a:t>输出</a:t>
                      </a:r>
                      <a:endParaRPr lang="en-US" altLang="zh-CN" sz="1800" b="0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1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1800" b="0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8" marR="91408" marT="45738" marB="4573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756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1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  </a:t>
                      </a:r>
                      <a:r>
                        <a:rPr lang="en-US" altLang="zh-CN" sz="1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1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1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8" marR="91408" marT="45738" marB="4573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</a:tr>
              <a:tr h="9584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00(</a:t>
                      </a:r>
                      <a:r>
                        <a:rPr lang="en-US" altLang="zh-CN" sz="1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1800" b="0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01(</a:t>
                      </a:r>
                      <a:r>
                        <a:rPr lang="en-US" altLang="zh-CN" sz="1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1800" b="0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10(</a:t>
                      </a:r>
                      <a:r>
                        <a:rPr lang="en-US" altLang="zh-CN" sz="1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1800" b="0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8" marR="91408" marT="45738" marB="4573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00        01</a:t>
                      </a:r>
                      <a:endParaRPr lang="en-US" altLang="zh-CN" sz="1800" b="0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00        10</a:t>
                      </a:r>
                      <a:endParaRPr lang="en-US" altLang="zh-CN" sz="1800" b="0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00        10</a:t>
                      </a:r>
                      <a:endParaRPr lang="zh-CN" altLang="en-US" sz="180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91408" marR="91408" marT="45738" marB="4573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8" marR="91408" marT="45738" marB="4573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2054" name="Rectangle 2"/>
          <p:cNvSpPr/>
          <p:nvPr/>
        </p:nvSpPr>
        <p:spPr>
          <a:xfrm>
            <a:off x="508000" y="1265238"/>
            <a:ext cx="4267200" cy="425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</a:rPr>
              <a:t>Moore</a:t>
            </a:r>
            <a:r>
              <a:rPr lang="zh-CN" altLang="en-US" b="1" dirty="0">
                <a:solidFill>
                  <a:srgbClr val="000000"/>
                </a:solidFill>
              </a:rPr>
              <a:t>型</a:t>
            </a:r>
            <a:r>
              <a:rPr lang="en-US" altLang="zh-CN" b="1" dirty="0">
                <a:solidFill>
                  <a:srgbClr val="000000"/>
                </a:solidFill>
              </a:rPr>
              <a:t>FSM</a:t>
            </a:r>
            <a:r>
              <a:rPr lang="zh-CN" altLang="en-US" b="1" dirty="0">
                <a:solidFill>
                  <a:srgbClr val="000000"/>
                </a:solidFill>
              </a:rPr>
              <a:t>的</a:t>
            </a:r>
            <a:r>
              <a:rPr lang="en-US" altLang="zh-CN" b="1" dirty="0">
                <a:solidFill>
                  <a:srgbClr val="000000"/>
                </a:solidFill>
              </a:rPr>
              <a:t>Verilog</a:t>
            </a:r>
            <a:r>
              <a:rPr lang="zh-CN" altLang="en-US" b="1" dirty="0">
                <a:solidFill>
                  <a:srgbClr val="000000"/>
                </a:solidFill>
              </a:rPr>
              <a:t>代码</a:t>
            </a:r>
            <a:endParaRPr lang="en-US" altLang="zh-CN" b="1" dirty="0">
              <a:solidFill>
                <a:srgbClr val="000000"/>
              </a:solidFill>
            </a:endParaRPr>
          </a:p>
        </p:txBody>
      </p:sp>
      <p:pic>
        <p:nvPicPr>
          <p:cNvPr id="172055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9925" y="1071563"/>
            <a:ext cx="4095750" cy="13589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72056" name="Rectangle 2"/>
          <p:cNvSpPr/>
          <p:nvPr/>
        </p:nvSpPr>
        <p:spPr>
          <a:xfrm>
            <a:off x="6289675" y="5702300"/>
            <a:ext cx="2282825" cy="738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dirty="0">
                <a:solidFill>
                  <a:srgbClr val="000000"/>
                </a:solidFill>
              </a:rPr>
              <a:t>图</a:t>
            </a:r>
            <a:r>
              <a:rPr lang="en-US" altLang="zh-CN" sz="2000" dirty="0">
                <a:solidFill>
                  <a:srgbClr val="000000"/>
                </a:solidFill>
              </a:rPr>
              <a:t>6.29 </a:t>
            </a:r>
            <a:r>
              <a:rPr lang="zh-CN" altLang="en-US" sz="2000" dirty="0">
                <a:solidFill>
                  <a:srgbClr val="000000"/>
                </a:solidFill>
              </a:rPr>
              <a:t>多段式描述</a:t>
            </a:r>
            <a:r>
              <a:rPr lang="en-US" altLang="zh-CN" sz="2000" dirty="0">
                <a:solidFill>
                  <a:srgbClr val="000000"/>
                </a:solidFill>
              </a:rPr>
              <a:t>Moore</a:t>
            </a:r>
            <a:r>
              <a:rPr lang="zh-CN" altLang="en-US" sz="2000" dirty="0">
                <a:solidFill>
                  <a:srgbClr val="000000"/>
                </a:solidFill>
              </a:rPr>
              <a:t>型</a:t>
            </a:r>
            <a:r>
              <a:rPr lang="en-US" altLang="zh-CN" sz="2000" dirty="0">
                <a:solidFill>
                  <a:srgbClr val="000000"/>
                </a:solidFill>
              </a:rPr>
              <a:t>FSM</a:t>
            </a:r>
            <a:endParaRPr lang="en-US" altLang="zh-CN" sz="2000" dirty="0">
              <a:solidFill>
                <a:srgbClr val="000000"/>
              </a:solidFill>
            </a:endParaRPr>
          </a:p>
        </p:txBody>
      </p:sp>
      <p:sp>
        <p:nvSpPr>
          <p:cNvPr id="172057" name="矩形 1"/>
          <p:cNvSpPr/>
          <p:nvPr/>
        </p:nvSpPr>
        <p:spPr>
          <a:xfrm>
            <a:off x="4786313" y="1127125"/>
            <a:ext cx="2422525" cy="1793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3058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56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同步时序电路举例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73060" name="TextBox 1"/>
          <p:cNvSpPr txBox="1"/>
          <p:nvPr/>
        </p:nvSpPr>
        <p:spPr>
          <a:xfrm>
            <a:off x="498475" y="1252538"/>
            <a:ext cx="8401050" cy="48625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spcAft>
                <a:spcPts val="600"/>
              </a:spcAft>
              <a:buClr>
                <a:srgbClr val="007A77"/>
              </a:buClr>
              <a:buNone/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对上述电路进行优化：</a:t>
            </a:r>
            <a:r>
              <a:rPr lang="zh-CN" altLang="en-US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状态分配问题</a:t>
            </a:r>
            <a:endParaRPr lang="zh-CN" altLang="en-US" b="1" u="sng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har char="•"/>
            </a:pP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通常情况下，状态编码的方案不一样，所得到的输出函数和驱动函数也不同，设计出来的电路复杂度也不同。</a:t>
            </a:r>
            <a:endParaRPr lang="en-US" altLang="zh-CN" sz="23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har char="•"/>
            </a:pP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状态分配的任务：</a:t>
            </a:r>
            <a:endParaRPr lang="en-US" altLang="zh-CN" sz="23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1085850" lvl="1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3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确定编码长度；</a:t>
            </a:r>
            <a:endParaRPr lang="en-US" altLang="zh-CN" sz="23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85850" lvl="1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300" dirty="0">
                <a:latin typeface="宋体" panose="02010600030101010101" pitchFamily="2" charset="-122"/>
                <a:ea typeface="宋体" panose="02010600030101010101" pitchFamily="2" charset="-122"/>
              </a:rPr>
              <a:t>寻找一种最佳的或者接近最佳的状态分配方案。</a:t>
            </a:r>
            <a:endParaRPr lang="en-US" altLang="zh-CN" sz="2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har char="•"/>
            </a:pPr>
            <a:r>
              <a:rPr lang="zh-CN" altLang="en-US" sz="2300" b="1" dirty="0">
                <a:solidFill>
                  <a:srgbClr val="FF0000"/>
                </a:solidFill>
                <a:latin typeface="宋体" panose="02010600030101010101" pitchFamily="2" charset="-122"/>
              </a:rPr>
              <a:t>编码长度</a:t>
            </a: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根据状态数</a:t>
            </a:r>
            <a:r>
              <a:rPr lang="en-US" altLang="zh-CN" b="1" dirty="0">
                <a:solidFill>
                  <a:srgbClr val="000000"/>
                </a:solidFill>
              </a:rPr>
              <a:t>M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确定状态变量（即触发器）个数</a:t>
            </a:r>
            <a:r>
              <a:rPr lang="en-US" altLang="zh-CN" b="1" dirty="0">
                <a:solidFill>
                  <a:srgbClr val="000000"/>
                </a:solidFill>
              </a:rPr>
              <a:t>n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1085850" lvl="1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3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最小化</a:t>
            </a:r>
            <a:r>
              <a:rPr lang="en-US" altLang="zh-CN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3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原则：满足</a:t>
            </a:r>
            <a:r>
              <a:rPr lang="en-US" altLang="zh-CN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3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n-1</a:t>
            </a:r>
            <a:r>
              <a:rPr lang="en-US" altLang="zh-CN" sz="23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lang="en-US" altLang="zh-CN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3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lang="en-US" altLang="zh-CN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3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en-US" altLang="zh-CN" sz="2300" baseline="30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085850" lvl="1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最大化</a:t>
            </a:r>
            <a:r>
              <a:rPr lang="en-US" altLang="zh-CN" sz="2300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原则：</a:t>
            </a:r>
            <a:r>
              <a:rPr lang="en-US" altLang="zh-CN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= M</a:t>
            </a:r>
            <a:endParaRPr lang="en-US" altLang="zh-CN" sz="23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085850" lvl="1" indent="-3429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3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如何方案最佳？</a:t>
            </a:r>
            <a:endParaRPr lang="en-US" altLang="zh-CN" sz="23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82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graphicFrame>
        <p:nvGraphicFramePr>
          <p:cNvPr id="54" name="表格 54"/>
          <p:cNvGraphicFramePr>
            <a:graphicFrameLocks noGrp="1"/>
          </p:cNvGraphicFramePr>
          <p:nvPr/>
        </p:nvGraphicFramePr>
        <p:xfrm>
          <a:off x="742950" y="4017963"/>
          <a:ext cx="3128963" cy="1768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323"/>
                <a:gridCol w="1587443"/>
                <a:gridCol w="767197"/>
              </a:tblGrid>
              <a:tr h="365891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zh-CN" alt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endParaRPr lang="zh-CN" alt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endParaRPr lang="en-US" altLang="zh-CN" sz="18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38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100620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    B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    C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    C</a:t>
                      </a:r>
                      <a:endParaRPr lang="zh-CN" altLang="en-US" sz="200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6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同步时序电路举例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74100" name="Rectangle 2"/>
          <p:cNvSpPr/>
          <p:nvPr/>
        </p:nvSpPr>
        <p:spPr>
          <a:xfrm>
            <a:off x="1284288" y="5862638"/>
            <a:ext cx="2027237" cy="425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图</a:t>
            </a:r>
            <a:r>
              <a:rPr lang="en-US" altLang="zh-CN" sz="2000" b="1" dirty="0">
                <a:solidFill>
                  <a:srgbClr val="000000"/>
                </a:solidFill>
              </a:rPr>
              <a:t>6.4 </a:t>
            </a:r>
            <a:r>
              <a:rPr lang="zh-CN" altLang="en-US" sz="2000" b="1" dirty="0">
                <a:solidFill>
                  <a:srgbClr val="000000"/>
                </a:solidFill>
              </a:rPr>
              <a:t>状态表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58" name="箭头: 虚尾 57"/>
          <p:cNvSpPr/>
          <p:nvPr/>
        </p:nvSpPr>
        <p:spPr bwMode="auto">
          <a:xfrm>
            <a:off x="4070350" y="4665663"/>
            <a:ext cx="788988" cy="473075"/>
          </a:xfrm>
          <a:prstGeom prst="stripedRightArrow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" name="表格 54"/>
          <p:cNvGraphicFramePr>
            <a:graphicFrameLocks noGrp="1"/>
          </p:cNvGraphicFramePr>
          <p:nvPr/>
        </p:nvGraphicFramePr>
        <p:xfrm>
          <a:off x="5132388" y="3743325"/>
          <a:ext cx="3432175" cy="2073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594"/>
                <a:gridCol w="1757355"/>
                <a:gridCol w="721226"/>
              </a:tblGrid>
              <a:tr h="365949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i="0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0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0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1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14" marR="91414" marT="45743" marB="4574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 </a:t>
                      </a: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14" marR="91414" marT="45743" marB="4574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endParaRPr lang="en-US" altLang="zh-CN" sz="18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43" marB="4574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445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43" marB="4574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13108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00(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01(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11(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43" marB="4574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00         01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00         11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00         11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××      ××</a:t>
                      </a:r>
                      <a:endParaRPr lang="zh-CN" altLang="en-US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43" marB="4574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43" marB="4574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4118" name="Rectangle 2"/>
          <p:cNvSpPr/>
          <p:nvPr/>
        </p:nvSpPr>
        <p:spPr>
          <a:xfrm>
            <a:off x="5467350" y="5862638"/>
            <a:ext cx="2743200" cy="425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图</a:t>
            </a:r>
            <a:r>
              <a:rPr lang="en-US" altLang="zh-CN" sz="2000" b="1" dirty="0">
                <a:solidFill>
                  <a:srgbClr val="000000"/>
                </a:solidFill>
              </a:rPr>
              <a:t>6.5 </a:t>
            </a:r>
            <a:r>
              <a:rPr lang="zh-CN" altLang="en-US" sz="2000" b="1" dirty="0">
                <a:solidFill>
                  <a:srgbClr val="000000"/>
                </a:solidFill>
              </a:rPr>
              <a:t>状态分配表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174119" name="TextBox 1"/>
          <p:cNvSpPr txBox="1"/>
          <p:nvPr/>
        </p:nvSpPr>
        <p:spPr>
          <a:xfrm>
            <a:off x="498475" y="1274763"/>
            <a:ext cx="8477250" cy="2235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spcAft>
                <a:spcPts val="600"/>
              </a:spcAft>
              <a:buClr>
                <a:srgbClr val="007A77"/>
              </a:buClr>
            </a:pPr>
            <a:r>
              <a:rPr lang="zh-CN" altLang="en-US" b="1" dirty="0">
                <a:latin typeface="宋体" panose="02010600030101010101" pitchFamily="2" charset="-122"/>
              </a:rPr>
              <a:t>最小化原则下的状态分配原则：（优先考虑第一条）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har char="•"/>
            </a:pPr>
            <a:r>
              <a:rPr lang="zh-CN" altLang="en-US" sz="2200" b="1" dirty="0">
                <a:solidFill>
                  <a:srgbClr val="000000"/>
                </a:solidFill>
              </a:rPr>
              <a:t> 相同输入下，具有相同次态的现态，尽可能分配相邻的编码；</a:t>
            </a:r>
            <a:endParaRPr lang="en-US" altLang="zh-CN" sz="2200" b="1" dirty="0">
              <a:solidFill>
                <a:srgbClr val="000000"/>
              </a:solidFill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har char="•"/>
            </a:pPr>
            <a:r>
              <a:rPr lang="zh-CN" altLang="en-US" sz="2200" b="1" dirty="0">
                <a:solidFill>
                  <a:srgbClr val="000000"/>
                </a:solidFill>
              </a:rPr>
              <a:t> 相邻输入下，同一个现态的次态，尽可能分配相邻的编码；</a:t>
            </a:r>
            <a:endParaRPr lang="en-US" altLang="zh-CN" sz="2200" b="1" dirty="0">
              <a:solidFill>
                <a:srgbClr val="000000"/>
              </a:solidFill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har char="•"/>
            </a:pPr>
            <a:r>
              <a:rPr lang="zh-CN" altLang="en-US" sz="2200" b="1" dirty="0">
                <a:solidFill>
                  <a:srgbClr val="000000"/>
                </a:solidFill>
              </a:rPr>
              <a:t> 输出完全相同的现态，尽可能分配相邻的编码；</a:t>
            </a:r>
            <a:endParaRPr lang="en-US" altLang="zh-CN" sz="2200" b="1" dirty="0">
              <a:solidFill>
                <a:srgbClr val="000000"/>
              </a:solidFill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har char="•"/>
            </a:pPr>
            <a:r>
              <a:rPr lang="zh-CN" altLang="en-US" sz="2200" b="1" dirty="0">
                <a:solidFill>
                  <a:srgbClr val="000000"/>
                </a:solidFill>
              </a:rPr>
              <a:t> 最小化状态表中出现次数最多的状态，分配逻辑</a:t>
            </a:r>
            <a:r>
              <a:rPr lang="en-US" altLang="zh-CN" sz="2200" b="1" dirty="0">
                <a:solidFill>
                  <a:srgbClr val="000000"/>
                </a:solidFill>
              </a:rPr>
              <a:t>0</a:t>
            </a:r>
            <a:r>
              <a:rPr lang="zh-CN" altLang="en-US" sz="2200" b="1" dirty="0">
                <a:solidFill>
                  <a:srgbClr val="000000"/>
                </a:solidFill>
              </a:rPr>
              <a:t>。</a:t>
            </a:r>
            <a:endParaRPr lang="zh-CN" altLang="en-US" sz="2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5106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56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同步时序电路举例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graphicFrame>
        <p:nvGraphicFramePr>
          <p:cNvPr id="15" name="表格 54"/>
          <p:cNvGraphicFramePr>
            <a:graphicFrameLocks noGrp="1"/>
          </p:cNvGraphicFramePr>
          <p:nvPr/>
        </p:nvGraphicFramePr>
        <p:xfrm>
          <a:off x="4381500" y="1198563"/>
          <a:ext cx="390048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006"/>
                <a:gridCol w="558754"/>
                <a:gridCol w="772097"/>
                <a:gridCol w="721301"/>
                <a:gridCol w="690824"/>
                <a:gridCol w="670505"/>
              </a:tblGrid>
              <a:tr h="365765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b="1" i="0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</a:endParaRPr>
                    </a:p>
                  </a:txBody>
                  <a:tcPr marL="91407" marR="91407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91414" marR="91414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i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输入</a:t>
                      </a:r>
                      <a:endParaRPr lang="zh-CN" altLang="en-US" sz="1800" b="1" i="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07" marR="91407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endParaRPr lang="zh-CN" altLang="en-US" sz="1800" b="1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07" marR="91407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endParaRPr lang="en-US" altLang="zh-CN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07" marR="91407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kern="12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L="91407" marR="91407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i="0" kern="1200" baseline="-25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07" marR="91407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zh-CN" altLang="en-US" sz="1800" b="1" baseline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7" marR="91407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7" marR="91407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7" marR="91407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1800" b="1" i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7" marR="91407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7" marR="91407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7" marR="91407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0         1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0         1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0         1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7" marR="91407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7" marR="91407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7" marR="91407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7" marR="91407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" name="表格 54"/>
          <p:cNvGraphicFramePr>
            <a:graphicFrameLocks noGrp="1"/>
          </p:cNvGraphicFramePr>
          <p:nvPr/>
        </p:nvGraphicFramePr>
        <p:xfrm>
          <a:off x="846138" y="2184400"/>
          <a:ext cx="3432175" cy="1768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594"/>
                <a:gridCol w="1757355"/>
                <a:gridCol w="721226"/>
              </a:tblGrid>
              <a:tr h="365891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i="0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0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0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1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14" marR="91414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 </a:t>
                      </a: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14" marR="91414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endParaRPr lang="en-US" altLang="zh-CN" sz="18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38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100620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00(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01(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11(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00         01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00         11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00         11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5152" name="TextBox 1"/>
          <p:cNvSpPr txBox="1"/>
          <p:nvPr/>
        </p:nvSpPr>
        <p:spPr>
          <a:xfrm>
            <a:off x="542925" y="1200150"/>
            <a:ext cx="3724275" cy="768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0"/>
              </a:spcBef>
              <a:buChar char="•"/>
            </a:pPr>
            <a:r>
              <a:rPr lang="zh-CN" altLang="en-US" sz="2200" b="1" dirty="0">
                <a:solidFill>
                  <a:srgbClr val="000000"/>
                </a:solidFill>
              </a:rPr>
              <a:t>由转换表画出状态转换驱动表，得到次态方程</a:t>
            </a:r>
            <a:endParaRPr lang="en-US" altLang="zh-CN" sz="22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pic>
        <p:nvPicPr>
          <p:cNvPr id="175153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925" y="4437063"/>
            <a:ext cx="8274050" cy="1670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Bar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6130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56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同步时序电路举例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58" name="箭头: 虚尾 57"/>
          <p:cNvSpPr/>
          <p:nvPr/>
        </p:nvSpPr>
        <p:spPr bwMode="auto">
          <a:xfrm>
            <a:off x="2870200" y="2305050"/>
            <a:ext cx="788988" cy="473075"/>
          </a:xfrm>
          <a:prstGeom prst="stripedRightArrow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76133" name="组合 2"/>
          <p:cNvGrpSpPr/>
          <p:nvPr/>
        </p:nvGrpSpPr>
        <p:grpSpPr>
          <a:xfrm>
            <a:off x="1114425" y="1839913"/>
            <a:ext cx="1754188" cy="1425575"/>
            <a:chOff x="5700750" y="2377545"/>
            <a:chExt cx="1753623" cy="1426801"/>
          </a:xfrm>
        </p:grpSpPr>
        <p:sp>
          <p:nvSpPr>
            <p:cNvPr id="176139" name="TextBox 1"/>
            <p:cNvSpPr txBox="1"/>
            <p:nvPr/>
          </p:nvSpPr>
          <p:spPr>
            <a:xfrm>
              <a:off x="5967364" y="2377545"/>
              <a:ext cx="1487009" cy="142680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spcBef>
                  <a:spcPct val="0"/>
                </a:spcBef>
                <a:buClr>
                  <a:srgbClr val="007A77"/>
                </a:buClr>
              </a:pPr>
              <a:r>
                <a:rPr lang="en-US" altLang="zh-CN" sz="2300" b="1" i="1" dirty="0">
                  <a:solidFill>
                    <a:srgbClr val="000000"/>
                  </a:solidFill>
                </a:rPr>
                <a:t>Q</a:t>
              </a:r>
              <a:r>
                <a:rPr lang="en-US" altLang="zh-CN" sz="2300" b="1" baseline="-25000" dirty="0">
                  <a:solidFill>
                    <a:srgbClr val="000000"/>
                  </a:solidFill>
                </a:rPr>
                <a:t>2 </a:t>
              </a:r>
              <a:r>
                <a:rPr lang="en-US" altLang="zh-CN" sz="2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= </a:t>
              </a:r>
              <a:r>
                <a:rPr lang="en-US" altLang="zh-CN" sz="2300" b="1" i="1" dirty="0">
                  <a:solidFill>
                    <a:srgbClr val="000000"/>
                  </a:solidFill>
                </a:rPr>
                <a:t>wq</a:t>
              </a:r>
              <a:r>
                <a:rPr lang="en-US" altLang="zh-CN" sz="2300" b="1" baseline="-25000" dirty="0">
                  <a:solidFill>
                    <a:srgbClr val="000000"/>
                  </a:solidFill>
                </a:rPr>
                <a:t>1</a:t>
              </a:r>
              <a:endParaRPr lang="en-US" altLang="zh-CN" sz="2300" b="1" dirty="0">
                <a:solidFill>
                  <a:srgbClr val="000000"/>
                </a:solidFill>
              </a:endParaRPr>
            </a:p>
            <a:p>
              <a:pPr marL="0" lvl="0" indent="0">
                <a:spcBef>
                  <a:spcPct val="0"/>
                </a:spcBef>
                <a:buClr>
                  <a:srgbClr val="007A77"/>
                </a:buClr>
              </a:pPr>
              <a:r>
                <a:rPr lang="en-US" altLang="zh-CN" sz="2300" b="1" i="1" dirty="0">
                  <a:solidFill>
                    <a:srgbClr val="000000"/>
                  </a:solidFill>
                </a:rPr>
                <a:t>Q</a:t>
              </a:r>
              <a:r>
                <a:rPr lang="en-US" altLang="zh-CN" sz="2300" b="1" baseline="-25000" dirty="0">
                  <a:solidFill>
                    <a:srgbClr val="000000"/>
                  </a:solidFill>
                </a:rPr>
                <a:t>1 </a:t>
              </a:r>
              <a:r>
                <a:rPr lang="en-US" altLang="zh-CN" sz="2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= </a:t>
              </a:r>
              <a:r>
                <a:rPr lang="en-US" altLang="zh-CN" sz="2300" b="1" i="1" dirty="0">
                  <a:solidFill>
                    <a:srgbClr val="000000"/>
                  </a:solidFill>
                </a:rPr>
                <a:t>w</a:t>
              </a:r>
              <a:endParaRPr lang="en-US" altLang="zh-CN" sz="2300" b="1" baseline="-25000" dirty="0">
                <a:solidFill>
                  <a:srgbClr val="000000"/>
                </a:solidFill>
              </a:endParaRPr>
            </a:p>
            <a:p>
              <a:pPr marL="0" lvl="0" indent="0">
                <a:spcBef>
                  <a:spcPct val="0"/>
                </a:spcBef>
                <a:buClr>
                  <a:srgbClr val="007A77"/>
                </a:buClr>
              </a:pPr>
              <a:r>
                <a:rPr lang="en-US" altLang="zh-CN" sz="2300" b="1" i="1" dirty="0">
                  <a:solidFill>
                    <a:srgbClr val="000000"/>
                  </a:solidFill>
                </a:rPr>
                <a:t> z </a:t>
              </a:r>
              <a:r>
                <a:rPr lang="en-US" altLang="zh-CN" sz="2300" b="1" dirty="0">
                  <a:solidFill>
                    <a:srgbClr val="000000"/>
                  </a:solidFill>
                </a:rPr>
                <a:t>= </a:t>
              </a:r>
              <a:r>
                <a:rPr lang="en-US" altLang="zh-CN" sz="2300" b="1" i="1" dirty="0">
                  <a:solidFill>
                    <a:srgbClr val="000000"/>
                  </a:solidFill>
                </a:rPr>
                <a:t>q</a:t>
              </a:r>
              <a:r>
                <a:rPr lang="en-US" altLang="zh-CN" sz="2300" b="1" baseline="-25000" dirty="0">
                  <a:solidFill>
                    <a:srgbClr val="000000"/>
                  </a:solidFill>
                </a:rPr>
                <a:t>2</a:t>
              </a:r>
              <a:endParaRPr lang="en-US" altLang="zh-CN" sz="2300" b="1" baseline="-25000" dirty="0">
                <a:solidFill>
                  <a:srgbClr val="000000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176140" name="左大括号 1"/>
            <p:cNvSpPr/>
            <p:nvPr/>
          </p:nvSpPr>
          <p:spPr>
            <a:xfrm>
              <a:off x="5700750" y="2588025"/>
              <a:ext cx="266370" cy="1120140"/>
            </a:xfrm>
            <a:prstGeom prst="leftBrace">
              <a:avLst>
                <a:gd name="adj1" fmla="val 8157"/>
                <a:gd name="adj2" fmla="val 50338"/>
              </a:avLst>
            </a:prstGeom>
            <a:noFill/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800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76134" name="TextBox 1"/>
          <p:cNvSpPr txBox="1"/>
          <p:nvPr/>
        </p:nvSpPr>
        <p:spPr>
          <a:xfrm>
            <a:off x="3986213" y="1185863"/>
            <a:ext cx="5097462" cy="503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zh-CN" altLang="en-US" sz="2300" b="1" dirty="0">
                <a:solidFill>
                  <a:srgbClr val="000000"/>
                </a:solidFill>
              </a:rPr>
              <a:t>若选用</a:t>
            </a:r>
            <a:r>
              <a:rPr lang="en-US" altLang="zh-CN" sz="2300" b="1" i="1" dirty="0">
                <a:solidFill>
                  <a:srgbClr val="000000"/>
                </a:solidFill>
              </a:rPr>
              <a:t>D</a:t>
            </a:r>
            <a:r>
              <a:rPr lang="zh-CN" altLang="en-US" sz="2300" b="1" dirty="0">
                <a:solidFill>
                  <a:srgbClr val="000000"/>
                </a:solidFill>
              </a:rPr>
              <a:t>触发器，</a:t>
            </a:r>
            <a:r>
              <a:rPr lang="en-US" altLang="zh-CN" sz="2300" b="1" i="1" dirty="0">
                <a:solidFill>
                  <a:srgbClr val="000000"/>
                </a:solidFill>
              </a:rPr>
              <a:t> D</a:t>
            </a:r>
            <a:r>
              <a:rPr lang="en-US" altLang="zh-CN" sz="2300" b="1" baseline="-25000" dirty="0">
                <a:solidFill>
                  <a:srgbClr val="000000"/>
                </a:solidFill>
              </a:rPr>
              <a:t>2</a:t>
            </a:r>
            <a:r>
              <a:rPr lang="en-US" altLang="zh-CN" sz="2300" b="1" i="1" dirty="0">
                <a:solidFill>
                  <a:srgbClr val="000000"/>
                </a:solidFill>
              </a:rPr>
              <a:t> = wq</a:t>
            </a:r>
            <a:r>
              <a:rPr lang="en-US" altLang="zh-CN" sz="2300" b="1" baseline="-25000" dirty="0">
                <a:solidFill>
                  <a:srgbClr val="000000"/>
                </a:solidFill>
              </a:rPr>
              <a:t>1 </a:t>
            </a: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300" b="1" i="1" dirty="0">
                <a:solidFill>
                  <a:srgbClr val="000000"/>
                </a:solidFill>
              </a:rPr>
              <a:t>D</a:t>
            </a:r>
            <a:r>
              <a:rPr lang="en-US" altLang="zh-CN" sz="2300" b="1" baseline="-25000" dirty="0">
                <a:solidFill>
                  <a:srgbClr val="000000"/>
                </a:solidFill>
              </a:rPr>
              <a:t>1</a:t>
            </a:r>
            <a:r>
              <a:rPr lang="en-US" altLang="zh-CN" sz="2300" b="1" i="1" dirty="0">
                <a:solidFill>
                  <a:srgbClr val="000000"/>
                </a:solidFill>
              </a:rPr>
              <a:t> = w</a:t>
            </a: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；</a:t>
            </a:r>
            <a:endParaRPr lang="zh-CN" altLang="en-US" sz="23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pic>
        <p:nvPicPr>
          <p:cNvPr id="176135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0" y="1744663"/>
            <a:ext cx="4765675" cy="1684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613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313" y="4311650"/>
            <a:ext cx="4824412" cy="1860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6137" name="TextBox 1"/>
          <p:cNvSpPr txBox="1"/>
          <p:nvPr/>
        </p:nvSpPr>
        <p:spPr>
          <a:xfrm>
            <a:off x="633413" y="3903663"/>
            <a:ext cx="4468812" cy="22685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zh-CN" altLang="en-US" sz="2300" b="1" dirty="0">
                <a:solidFill>
                  <a:srgbClr val="000000"/>
                </a:solidFill>
              </a:rPr>
              <a:t>若选用</a:t>
            </a:r>
            <a:r>
              <a:rPr lang="en-US" altLang="zh-CN" sz="2300" b="1" i="1" dirty="0">
                <a:solidFill>
                  <a:srgbClr val="000000"/>
                </a:solidFill>
              </a:rPr>
              <a:t>JK</a:t>
            </a:r>
            <a:r>
              <a:rPr lang="zh-CN" altLang="en-US" sz="2300" b="1" dirty="0">
                <a:solidFill>
                  <a:srgbClr val="000000"/>
                </a:solidFill>
              </a:rPr>
              <a:t>触发器，</a:t>
            </a:r>
            <a:r>
              <a:rPr lang="en-US" altLang="zh-CN" sz="2300" b="1" i="1" dirty="0">
                <a:solidFill>
                  <a:srgbClr val="000000"/>
                </a:solidFill>
              </a:rPr>
              <a:t> Q</a:t>
            </a:r>
            <a:r>
              <a:rPr lang="en-US" altLang="zh-CN" sz="2300" b="1" baseline="-25000" dirty="0">
                <a:solidFill>
                  <a:srgbClr val="000000"/>
                </a:solidFill>
              </a:rPr>
              <a:t> </a:t>
            </a:r>
            <a:r>
              <a:rPr lang="en-US" altLang="zh-CN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=</a:t>
            </a:r>
            <a:r>
              <a:rPr lang="en-US" altLang="zh-CN" sz="2300" b="1" i="1" dirty="0">
                <a:solidFill>
                  <a:srgbClr val="000000"/>
                </a:solidFill>
              </a:rPr>
              <a:t>J</a:t>
            </a:r>
            <a:r>
              <a:rPr lang="en-US" altLang="zh-CN" sz="2300" b="1" dirty="0">
                <a:solidFill>
                  <a:srgbClr val="000000"/>
                </a:solidFill>
              </a:rPr>
              <a:t>∙</a:t>
            </a:r>
            <a:r>
              <a:rPr lang="en-US" altLang="zh-CN" sz="2300" b="1" i="1" dirty="0">
                <a:solidFill>
                  <a:srgbClr val="000000"/>
                </a:solidFill>
              </a:rPr>
              <a:t>q'+K'</a:t>
            </a:r>
            <a:r>
              <a:rPr lang="en-US" altLang="zh-CN" sz="2300" b="1" dirty="0">
                <a:solidFill>
                  <a:srgbClr val="000000"/>
                </a:solidFill>
              </a:rPr>
              <a:t>∙</a:t>
            </a:r>
            <a:r>
              <a:rPr lang="en-US" altLang="zh-CN" sz="2300" b="1" i="1" dirty="0">
                <a:solidFill>
                  <a:srgbClr val="000000"/>
                </a:solidFill>
              </a:rPr>
              <a:t>q</a:t>
            </a: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；</a:t>
            </a:r>
            <a:endParaRPr lang="en-US" altLang="zh-CN" sz="23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en-US" altLang="zh-CN" sz="2200" b="1" i="1" dirty="0">
                <a:solidFill>
                  <a:srgbClr val="0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2 </a:t>
            </a:r>
            <a:r>
              <a:rPr lang="en-US" altLang="zh-CN" sz="2200" b="1" dirty="0">
                <a:solidFill>
                  <a:srgbClr val="000000"/>
                </a:solidFill>
                <a:latin typeface="宋体" panose="02010600030101010101" pitchFamily="2" charset="-122"/>
              </a:rPr>
              <a:t>=</a:t>
            </a:r>
            <a:r>
              <a:rPr lang="en-US" altLang="zh-CN" sz="2200" b="1" i="1" dirty="0">
                <a:solidFill>
                  <a:srgbClr val="000000"/>
                </a:solidFill>
              </a:rPr>
              <a:t>w</a:t>
            </a:r>
            <a:r>
              <a:rPr lang="en-US" altLang="zh-CN" sz="2200" b="1" dirty="0">
                <a:solidFill>
                  <a:srgbClr val="000000"/>
                </a:solidFill>
              </a:rPr>
              <a:t>∙</a:t>
            </a:r>
            <a:r>
              <a:rPr lang="en-US" altLang="zh-CN" sz="2200" b="1" i="1" dirty="0">
                <a:solidFill>
                  <a:srgbClr val="0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1</a:t>
            </a:r>
            <a:r>
              <a:rPr lang="en-US" altLang="zh-CN" sz="2200" b="1" dirty="0">
                <a:solidFill>
                  <a:srgbClr val="000000"/>
                </a:solidFill>
              </a:rPr>
              <a:t>=</a:t>
            </a:r>
            <a:r>
              <a:rPr lang="en-US" altLang="zh-CN" sz="2200" b="1" i="1" dirty="0">
                <a:solidFill>
                  <a:srgbClr val="000000"/>
                </a:solidFill>
              </a:rPr>
              <a:t>wq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1</a:t>
            </a:r>
            <a:r>
              <a:rPr lang="en-US" altLang="zh-CN" sz="2200" b="1" dirty="0">
                <a:solidFill>
                  <a:srgbClr val="000000"/>
                </a:solidFill>
              </a:rPr>
              <a:t>∙</a:t>
            </a:r>
            <a:r>
              <a:rPr lang="en-US" altLang="zh-CN" sz="2200" b="1" i="1" dirty="0">
                <a:solidFill>
                  <a:srgbClr val="000000"/>
                </a:solidFill>
              </a:rPr>
              <a:t>q'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2</a:t>
            </a:r>
            <a:r>
              <a:rPr lang="en-US" altLang="zh-CN" sz="2200" b="1" i="1" dirty="0">
                <a:solidFill>
                  <a:srgbClr val="000000"/>
                </a:solidFill>
              </a:rPr>
              <a:t>+ wq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1</a:t>
            </a:r>
            <a:r>
              <a:rPr lang="en-US" altLang="zh-CN" sz="2200" b="1" dirty="0">
                <a:solidFill>
                  <a:srgbClr val="000000"/>
                </a:solidFill>
              </a:rPr>
              <a:t>∙</a:t>
            </a:r>
            <a:r>
              <a:rPr lang="en-US" altLang="zh-CN" sz="2200" b="1" i="1" dirty="0">
                <a:solidFill>
                  <a:srgbClr val="0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2</a:t>
            </a:r>
            <a:endParaRPr lang="en-US" altLang="zh-CN" sz="2200" b="1" baseline="-25000" dirty="0">
              <a:solidFill>
                <a:srgbClr val="000000"/>
              </a:solidFill>
            </a:endParaRPr>
          </a:p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en-US" altLang="zh-CN" sz="2200" b="1" dirty="0">
                <a:solidFill>
                  <a:srgbClr val="000000"/>
                </a:solidFill>
              </a:rPr>
              <a:t>     =&gt;</a:t>
            </a:r>
            <a:r>
              <a:rPr lang="en-US" altLang="zh-CN" sz="2200" b="1" i="1" dirty="0">
                <a:solidFill>
                  <a:srgbClr val="000000"/>
                </a:solidFill>
              </a:rPr>
              <a:t>J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2</a:t>
            </a:r>
            <a:r>
              <a:rPr lang="en-US" altLang="zh-CN" sz="2200" b="1" dirty="0">
                <a:solidFill>
                  <a:srgbClr val="000000"/>
                </a:solidFill>
              </a:rPr>
              <a:t>=</a:t>
            </a:r>
            <a:r>
              <a:rPr lang="en-US" altLang="zh-CN" sz="2200" b="1" i="1" dirty="0">
                <a:solidFill>
                  <a:srgbClr val="000000"/>
                </a:solidFill>
              </a:rPr>
              <a:t>wq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1</a:t>
            </a:r>
            <a:r>
              <a:rPr lang="en-US" altLang="zh-CN" sz="2200" b="1" dirty="0">
                <a:solidFill>
                  <a:srgbClr val="000000"/>
                </a:solidFill>
              </a:rPr>
              <a:t>,</a:t>
            </a:r>
            <a:r>
              <a:rPr lang="en-US" altLang="zh-CN" sz="2200" b="1" i="1" dirty="0">
                <a:solidFill>
                  <a:srgbClr val="000000"/>
                </a:solidFill>
              </a:rPr>
              <a:t>K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2</a:t>
            </a:r>
            <a:r>
              <a:rPr lang="en-US" altLang="zh-CN" sz="2200" b="1" dirty="0">
                <a:solidFill>
                  <a:srgbClr val="000000"/>
                </a:solidFill>
              </a:rPr>
              <a:t>=(</a:t>
            </a:r>
            <a:r>
              <a:rPr lang="en-US" altLang="zh-CN" sz="2200" b="1" i="1" dirty="0">
                <a:solidFill>
                  <a:srgbClr val="000000"/>
                </a:solidFill>
              </a:rPr>
              <a:t>wq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1</a:t>
            </a:r>
            <a:r>
              <a:rPr lang="en-US" altLang="zh-CN" sz="2200" b="1" dirty="0">
                <a:solidFill>
                  <a:srgbClr val="000000"/>
                </a:solidFill>
              </a:rPr>
              <a:t>)</a:t>
            </a:r>
            <a:r>
              <a:rPr lang="en-US" altLang="zh-CN" sz="2200" b="1" i="1" dirty="0">
                <a:solidFill>
                  <a:srgbClr val="000000"/>
                </a:solidFill>
              </a:rPr>
              <a:t>'</a:t>
            </a:r>
            <a:endParaRPr lang="en-US" altLang="zh-CN" sz="2200" b="1" dirty="0">
              <a:solidFill>
                <a:srgbClr val="000000"/>
              </a:solidFill>
            </a:endParaRPr>
          </a:p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en-US" altLang="zh-CN" sz="2200" b="1" i="1" dirty="0">
                <a:solidFill>
                  <a:srgbClr val="0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1 </a:t>
            </a:r>
            <a:r>
              <a:rPr lang="en-US" altLang="zh-CN" sz="2200" b="1" dirty="0">
                <a:solidFill>
                  <a:srgbClr val="000000"/>
                </a:solidFill>
                <a:latin typeface="宋体" panose="02010600030101010101" pitchFamily="2" charset="-122"/>
              </a:rPr>
              <a:t>=</a:t>
            </a:r>
            <a:r>
              <a:rPr lang="en-US" altLang="zh-CN" sz="2200" b="1" i="1" dirty="0">
                <a:solidFill>
                  <a:srgbClr val="000000"/>
                </a:solidFill>
              </a:rPr>
              <a:t>w</a:t>
            </a:r>
            <a:r>
              <a:rPr lang="en-US" altLang="zh-CN" sz="2200" b="1" dirty="0">
                <a:solidFill>
                  <a:srgbClr val="000000"/>
                </a:solidFill>
              </a:rPr>
              <a:t>= </a:t>
            </a:r>
            <a:r>
              <a:rPr lang="en-US" altLang="zh-CN" sz="2200" b="1" i="1" dirty="0">
                <a:solidFill>
                  <a:srgbClr val="000000"/>
                </a:solidFill>
              </a:rPr>
              <a:t>w</a:t>
            </a:r>
            <a:r>
              <a:rPr lang="en-US" altLang="zh-CN" sz="2200" b="1" dirty="0">
                <a:solidFill>
                  <a:srgbClr val="000000"/>
                </a:solidFill>
              </a:rPr>
              <a:t>∙</a:t>
            </a:r>
            <a:r>
              <a:rPr lang="en-US" altLang="zh-CN" sz="2200" b="1" i="1" dirty="0">
                <a:solidFill>
                  <a:srgbClr val="000000"/>
                </a:solidFill>
              </a:rPr>
              <a:t>q'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1</a:t>
            </a:r>
            <a:r>
              <a:rPr lang="en-US" altLang="zh-CN" sz="2200" b="1" i="1" dirty="0">
                <a:solidFill>
                  <a:srgbClr val="000000"/>
                </a:solidFill>
              </a:rPr>
              <a:t>+w</a:t>
            </a:r>
            <a:r>
              <a:rPr lang="en-US" altLang="zh-CN" sz="2200" b="1" dirty="0">
                <a:solidFill>
                  <a:srgbClr val="000000"/>
                </a:solidFill>
              </a:rPr>
              <a:t>∙</a:t>
            </a:r>
            <a:r>
              <a:rPr lang="en-US" altLang="zh-CN" sz="2200" b="1" i="1" dirty="0">
                <a:solidFill>
                  <a:srgbClr val="0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1 </a:t>
            </a:r>
            <a:endParaRPr lang="en-US" altLang="zh-CN" sz="2200" b="1" baseline="-25000" dirty="0">
              <a:solidFill>
                <a:srgbClr val="000000"/>
              </a:solidFill>
            </a:endParaRPr>
          </a:p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en-US" altLang="zh-CN" sz="2200" b="1" dirty="0">
                <a:solidFill>
                  <a:srgbClr val="000000"/>
                </a:solidFill>
              </a:rPr>
              <a:t>     =&gt;</a:t>
            </a:r>
            <a:r>
              <a:rPr lang="en-US" altLang="zh-CN" sz="2200" b="1" i="1" dirty="0">
                <a:solidFill>
                  <a:srgbClr val="000000"/>
                </a:solidFill>
              </a:rPr>
              <a:t>J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1</a:t>
            </a:r>
            <a:r>
              <a:rPr lang="en-US" altLang="zh-CN" sz="2200" b="1" dirty="0">
                <a:solidFill>
                  <a:srgbClr val="000000"/>
                </a:solidFill>
              </a:rPr>
              <a:t>=</a:t>
            </a:r>
            <a:r>
              <a:rPr lang="en-US" altLang="zh-CN" sz="2200" b="1" i="1" dirty="0">
                <a:solidFill>
                  <a:srgbClr val="000000"/>
                </a:solidFill>
              </a:rPr>
              <a:t>w</a:t>
            </a:r>
            <a:r>
              <a:rPr lang="en-US" altLang="zh-CN" sz="2200" b="1" dirty="0">
                <a:solidFill>
                  <a:srgbClr val="000000"/>
                </a:solidFill>
              </a:rPr>
              <a:t>,</a:t>
            </a:r>
            <a:r>
              <a:rPr lang="en-US" altLang="zh-CN" sz="2200" b="1" i="1" dirty="0">
                <a:solidFill>
                  <a:srgbClr val="000000"/>
                </a:solidFill>
              </a:rPr>
              <a:t>K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1</a:t>
            </a:r>
            <a:r>
              <a:rPr lang="en-US" altLang="zh-CN" sz="2200" b="1" dirty="0">
                <a:solidFill>
                  <a:srgbClr val="000000"/>
                </a:solidFill>
              </a:rPr>
              <a:t>=</a:t>
            </a:r>
            <a:r>
              <a:rPr lang="en-US" altLang="zh-CN" sz="2200" b="1" i="1" dirty="0">
                <a:solidFill>
                  <a:srgbClr val="000000"/>
                </a:solidFill>
              </a:rPr>
              <a:t>w'</a:t>
            </a:r>
            <a:endParaRPr lang="zh-CN" altLang="en-US" sz="22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176138" name="Rectangle 32"/>
          <p:cNvSpPr/>
          <p:nvPr/>
        </p:nvSpPr>
        <p:spPr>
          <a:xfrm>
            <a:off x="493713" y="1211263"/>
            <a:ext cx="3713162" cy="4460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由次态方程确定激励方程：</a:t>
            </a:r>
            <a:endParaRPr lang="en-US" altLang="zh-CN" sz="2300" b="1" dirty="0">
              <a:solidFill>
                <a:srgbClr val="000000"/>
              </a:solidFill>
              <a:latin typeface="宋体" panose="02010600030101010101" pitchFamily="2" charset="-122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7154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graphicFrame>
        <p:nvGraphicFramePr>
          <p:cNvPr id="54" name="表格 54"/>
          <p:cNvGraphicFramePr>
            <a:graphicFrameLocks noGrp="1"/>
          </p:cNvGraphicFramePr>
          <p:nvPr/>
        </p:nvGraphicFramePr>
        <p:xfrm>
          <a:off x="742950" y="4017963"/>
          <a:ext cx="3128963" cy="1768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323"/>
                <a:gridCol w="1587443"/>
                <a:gridCol w="767197"/>
              </a:tblGrid>
              <a:tr h="365891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zh-CN" alt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endParaRPr lang="zh-CN" alt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endParaRPr lang="en-US" altLang="zh-CN" sz="18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38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100620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    B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    C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    C</a:t>
                      </a:r>
                      <a:endParaRPr lang="zh-CN" altLang="en-US" sz="200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6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同步时序电路举例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77172" name="Rectangle 2"/>
          <p:cNvSpPr/>
          <p:nvPr/>
        </p:nvSpPr>
        <p:spPr>
          <a:xfrm>
            <a:off x="1284288" y="5862638"/>
            <a:ext cx="2027237" cy="425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图</a:t>
            </a:r>
            <a:r>
              <a:rPr lang="en-US" altLang="zh-CN" sz="2000" b="1" dirty="0">
                <a:solidFill>
                  <a:srgbClr val="000000"/>
                </a:solidFill>
              </a:rPr>
              <a:t>6.4 </a:t>
            </a:r>
            <a:r>
              <a:rPr lang="zh-CN" altLang="en-US" sz="2000" b="1" dirty="0">
                <a:solidFill>
                  <a:srgbClr val="000000"/>
                </a:solidFill>
              </a:rPr>
              <a:t>状态表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58" name="箭头: 虚尾 57"/>
          <p:cNvSpPr/>
          <p:nvPr/>
        </p:nvSpPr>
        <p:spPr bwMode="auto">
          <a:xfrm>
            <a:off x="4070350" y="4665663"/>
            <a:ext cx="788988" cy="473075"/>
          </a:xfrm>
          <a:prstGeom prst="stripedRightArrow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7174" name="TextBox 1"/>
          <p:cNvSpPr txBox="1"/>
          <p:nvPr/>
        </p:nvSpPr>
        <p:spPr>
          <a:xfrm>
            <a:off x="498475" y="1252538"/>
            <a:ext cx="8305800" cy="19637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spcAft>
                <a:spcPts val="600"/>
              </a:spcAft>
              <a:buClr>
                <a:srgbClr val="007A77"/>
              </a:buClr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最大化原则下的状态分配问题：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zh-CN" altLang="en-US" sz="2300" b="1" u="sng" dirty="0">
                <a:latin typeface="宋体" panose="02010600030101010101" pitchFamily="2" charset="-122"/>
              </a:rPr>
              <a:t>独热码编码</a:t>
            </a: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300" b="1" dirty="0">
                <a:solidFill>
                  <a:srgbClr val="000000"/>
                </a:solidFill>
              </a:rPr>
              <a:t>最大</a:t>
            </a:r>
            <a:r>
              <a:rPr lang="en-US" altLang="zh-CN" sz="2300" b="1" dirty="0">
                <a:solidFill>
                  <a:srgbClr val="000000"/>
                </a:solidFill>
              </a:rPr>
              <a:t>n</a:t>
            </a:r>
            <a:r>
              <a:rPr lang="zh-CN" altLang="en-US" sz="2300" b="1" dirty="0">
                <a:solidFill>
                  <a:srgbClr val="000000"/>
                </a:solidFill>
              </a:rPr>
              <a:t>原则</a:t>
            </a: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，每个状态只有一个状态变量为</a:t>
            </a:r>
            <a:r>
              <a:rPr lang="en-US" altLang="zh-CN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，其余为</a:t>
            </a:r>
            <a:r>
              <a:rPr lang="en-US" altLang="zh-CN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。三个状态</a:t>
            </a:r>
            <a:r>
              <a:rPr lang="en-US" altLang="zh-CN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ABC</a:t>
            </a: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，分别取值为</a:t>
            </a:r>
            <a:r>
              <a:rPr lang="en-US" altLang="zh-CN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001</a:t>
            </a: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010</a:t>
            </a: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100.</a:t>
            </a: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其余</a:t>
            </a:r>
            <a:r>
              <a:rPr lang="en-US" altLang="zh-CN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种状态为无关项。</a:t>
            </a:r>
            <a:endParaRPr lang="zh-CN" altLang="en-US" sz="23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9" name="表格 54"/>
          <p:cNvGraphicFramePr>
            <a:graphicFrameLocks noGrp="1"/>
          </p:cNvGraphicFramePr>
          <p:nvPr/>
        </p:nvGraphicFramePr>
        <p:xfrm>
          <a:off x="5000625" y="3743325"/>
          <a:ext cx="3671888" cy="2073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196"/>
                <a:gridCol w="1995994"/>
                <a:gridCol w="655698"/>
              </a:tblGrid>
              <a:tr h="365949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i="0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0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0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0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1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14" marR="91414" marT="45743" marB="4574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 </a:t>
                      </a: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14" marR="91414" marT="45743" marB="4574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endParaRPr lang="en-US" altLang="zh-CN" sz="18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43" marB="4574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445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43" marB="4574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13108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001(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010(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100(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×××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43" marB="4574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0 0 1     0 1 0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0 0 1     1 0 0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0 0 1     1 0 0         </a:t>
                      </a:r>
                      <a:r>
                        <a:rPr lang="en-US" altLang="zh-CN" sz="18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×××    ×××</a:t>
                      </a:r>
                      <a:endParaRPr lang="zh-CN" altLang="en-US" sz="18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43" marB="4574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marT="45743" marB="4574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7191" name="Rectangle 2"/>
          <p:cNvSpPr/>
          <p:nvPr/>
        </p:nvSpPr>
        <p:spPr>
          <a:xfrm>
            <a:off x="5291138" y="5894388"/>
            <a:ext cx="3097212" cy="425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图</a:t>
            </a:r>
            <a:r>
              <a:rPr lang="en-US" altLang="zh-CN" sz="2000" b="1" dirty="0">
                <a:solidFill>
                  <a:srgbClr val="000000"/>
                </a:solidFill>
              </a:rPr>
              <a:t>6.20 </a:t>
            </a:r>
            <a:r>
              <a:rPr lang="zh-CN" altLang="en-US" sz="2000" b="1" dirty="0">
                <a:solidFill>
                  <a:srgbClr val="000000"/>
                </a:solidFill>
              </a:rPr>
              <a:t>独热码状态分配表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8178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56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同步时序电路举例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graphicFrame>
        <p:nvGraphicFramePr>
          <p:cNvPr id="10" name="表格 54"/>
          <p:cNvGraphicFramePr>
            <a:graphicFrameLocks noGrp="1"/>
          </p:cNvGraphicFramePr>
          <p:nvPr/>
        </p:nvGraphicFramePr>
        <p:xfrm>
          <a:off x="3808413" y="1222375"/>
          <a:ext cx="459898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160"/>
                <a:gridCol w="434720"/>
                <a:gridCol w="507925"/>
                <a:gridCol w="741570"/>
                <a:gridCol w="589193"/>
                <a:gridCol w="538400"/>
                <a:gridCol w="538400"/>
                <a:gridCol w="680619"/>
              </a:tblGrid>
              <a:tr h="365765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800" b="1" i="0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en-US" altLang="zh-CN" sz="1800" b="1" i="0" dirty="0">
                        <a:solidFill>
                          <a:srgbClr val="000000"/>
                        </a:solidFill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91414" marR="91414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i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输入</a:t>
                      </a:r>
                      <a:endParaRPr lang="zh-CN" altLang="en-US" sz="1800" b="1" i="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endParaRPr lang="zh-CN" altLang="en-US" sz="1800" b="1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endParaRPr lang="en-US" altLang="zh-CN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kern="12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800" b="1" i="0" kern="1200" baseline="-25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kern="12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zh-CN" altLang="en-US" sz="1800" b="1" baseline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1800" b="1" i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0         1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0         1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0         1</a:t>
                      </a:r>
                      <a:endParaRPr lang="en-US" altLang="zh-CN" sz="18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 dirty="0">
                          <a:solidFill>
                            <a:srgbClr val="0074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74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74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74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74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74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74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74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74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0074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0074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0074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i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i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99009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0" marR="91400" marT="45724" marB="4572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8214" name="组合 2"/>
          <p:cNvGrpSpPr/>
          <p:nvPr/>
        </p:nvGrpSpPr>
        <p:grpSpPr>
          <a:xfrm>
            <a:off x="788988" y="4003675"/>
            <a:ext cx="2354262" cy="2598738"/>
            <a:chOff x="107880" y="3513909"/>
            <a:chExt cx="2353847" cy="2599476"/>
          </a:xfrm>
        </p:grpSpPr>
        <p:sp>
          <p:nvSpPr>
            <p:cNvPr id="178325" name="矩形: 圆角 40"/>
            <p:cNvSpPr/>
            <p:nvPr/>
          </p:nvSpPr>
          <p:spPr>
            <a:xfrm>
              <a:off x="816169" y="4552560"/>
              <a:ext cx="1530431" cy="306792"/>
            </a:xfrm>
            <a:prstGeom prst="roundRect">
              <a:avLst>
                <a:gd name="adj" fmla="val 16667"/>
              </a:avLst>
            </a:prstGeom>
            <a:solidFill>
              <a:srgbClr val="069E0A">
                <a:alpha val="39999"/>
              </a:srgbClr>
            </a:solidFill>
            <a:ln w="12700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800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8326" name="组合 125"/>
            <p:cNvGrpSpPr/>
            <p:nvPr/>
          </p:nvGrpSpPr>
          <p:grpSpPr>
            <a:xfrm>
              <a:off x="107880" y="3513909"/>
              <a:ext cx="2353847" cy="2211939"/>
              <a:chOff x="5308530" y="1480702"/>
              <a:chExt cx="2353847" cy="2211939"/>
            </a:xfrm>
          </p:grpSpPr>
          <p:grpSp>
            <p:nvGrpSpPr>
              <p:cNvPr id="178328" name="组合 2"/>
              <p:cNvGrpSpPr/>
              <p:nvPr/>
            </p:nvGrpSpPr>
            <p:grpSpPr>
              <a:xfrm>
                <a:off x="5308530" y="1480702"/>
                <a:ext cx="2353847" cy="2211939"/>
                <a:chOff x="4681304" y="4036948"/>
                <a:chExt cx="1933176" cy="1774427"/>
              </a:xfrm>
            </p:grpSpPr>
            <p:grpSp>
              <p:nvGrpSpPr>
                <p:cNvPr id="178338" name="Group 85"/>
                <p:cNvGrpSpPr/>
                <p:nvPr/>
              </p:nvGrpSpPr>
              <p:grpSpPr>
                <a:xfrm>
                  <a:off x="4681304" y="4036948"/>
                  <a:ext cx="1933176" cy="1774427"/>
                  <a:chOff x="1820" y="393"/>
                  <a:chExt cx="2033" cy="1780"/>
                </a:xfrm>
              </p:grpSpPr>
              <p:sp>
                <p:nvSpPr>
                  <p:cNvPr id="178340" name="Rectangle 51"/>
                  <p:cNvSpPr/>
                  <p:nvPr/>
                </p:nvSpPr>
                <p:spPr>
                  <a:xfrm>
                    <a:off x="3423" y="1841"/>
                    <a:ext cx="382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rgbClr val="003300"/>
                        </a:solidFill>
                      </a:rPr>
                      <a:t>×</a:t>
                    </a:r>
                    <a:endParaRPr lang="en-US" altLang="zh-CN" sz="2000" b="1" dirty="0">
                      <a:solidFill>
                        <a:srgbClr val="003300"/>
                      </a:solidFill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341" name="Line 52"/>
                  <p:cNvSpPr/>
                  <p:nvPr/>
                </p:nvSpPr>
                <p:spPr>
                  <a:xfrm>
                    <a:off x="2414" y="1192"/>
                    <a:ext cx="1368" cy="0"/>
                  </a:xfrm>
                  <a:prstGeom prst="line">
                    <a:avLst/>
                  </a:prstGeom>
                  <a:ln w="28575" cap="flat" cmpd="sng">
                    <a:solidFill>
                      <a:srgbClr val="0000CC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78342" name="Text Box 53"/>
                  <p:cNvSpPr txBox="1"/>
                  <p:nvPr/>
                </p:nvSpPr>
                <p:spPr>
                  <a:xfrm>
                    <a:off x="2374" y="619"/>
                    <a:ext cx="1474" cy="29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defTabSz="914400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tabLst>
                        <a:tab pos="758825" algn="l"/>
                      </a:tabLst>
                    </a:pPr>
                    <a:r>
                      <a:rPr lang="en-US" altLang="zh-CN" sz="1600" b="1" dirty="0">
                        <a:solidFill>
                          <a:srgbClr val="003300"/>
                        </a:solidFill>
                      </a:rPr>
                      <a:t> </a:t>
                    </a:r>
                    <a:r>
                      <a:rPr lang="en-US" altLang="zh-CN" sz="1800" b="1" dirty="0">
                        <a:solidFill>
                          <a:srgbClr val="003300"/>
                        </a:solidFill>
                      </a:rPr>
                      <a:t>00   01   11   10</a:t>
                    </a:r>
                    <a:endParaRPr lang="en-US" altLang="zh-CN" sz="1800" b="1" dirty="0">
                      <a:solidFill>
                        <a:srgbClr val="003300"/>
                      </a:solidFill>
                    </a:endParaRPr>
                  </a:p>
                </p:txBody>
              </p:sp>
              <p:sp>
                <p:nvSpPr>
                  <p:cNvPr id="178343" name="Text Box 54"/>
                  <p:cNvSpPr txBox="1"/>
                  <p:nvPr/>
                </p:nvSpPr>
                <p:spPr>
                  <a:xfrm>
                    <a:off x="2096" y="863"/>
                    <a:ext cx="536" cy="1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defTabSz="914400" eaLnBrk="1" hangingPunct="1">
                      <a:lnSpc>
                        <a:spcPct val="140000"/>
                      </a:lnSpc>
                      <a:spcBef>
                        <a:spcPct val="0"/>
                      </a:spcBef>
                      <a:tabLst>
                        <a:tab pos="758825" algn="l"/>
                      </a:tabLst>
                    </a:pPr>
                    <a:r>
                      <a:rPr lang="en-US" altLang="zh-CN" sz="1800" b="1" dirty="0">
                        <a:solidFill>
                          <a:srgbClr val="003300"/>
                        </a:solidFill>
                      </a:rPr>
                      <a:t>00</a:t>
                    </a:r>
                    <a:endParaRPr lang="en-US" altLang="zh-CN" sz="1800" b="1" dirty="0">
                      <a:solidFill>
                        <a:srgbClr val="003300"/>
                      </a:solidFill>
                    </a:endParaRPr>
                  </a:p>
                  <a:p>
                    <a:pPr marL="0" lvl="0" indent="0" defTabSz="914400" eaLnBrk="1" hangingPunct="1">
                      <a:lnSpc>
                        <a:spcPct val="140000"/>
                      </a:lnSpc>
                      <a:spcBef>
                        <a:spcPct val="0"/>
                      </a:spcBef>
                      <a:tabLst>
                        <a:tab pos="758825" algn="l"/>
                      </a:tabLst>
                    </a:pPr>
                    <a:r>
                      <a:rPr lang="en-US" altLang="zh-CN" sz="1800" b="1" dirty="0">
                        <a:solidFill>
                          <a:srgbClr val="003300"/>
                        </a:solidFill>
                      </a:rPr>
                      <a:t>01</a:t>
                    </a:r>
                    <a:endParaRPr lang="en-US" altLang="zh-CN" sz="1800" b="1" dirty="0">
                      <a:solidFill>
                        <a:srgbClr val="003300"/>
                      </a:solidFill>
                    </a:endParaRPr>
                  </a:p>
                  <a:p>
                    <a:pPr marL="0" lvl="0" indent="0" defTabSz="914400" eaLnBrk="1" hangingPunct="1">
                      <a:lnSpc>
                        <a:spcPct val="140000"/>
                      </a:lnSpc>
                      <a:spcBef>
                        <a:spcPct val="0"/>
                      </a:spcBef>
                      <a:tabLst>
                        <a:tab pos="758825" algn="l"/>
                      </a:tabLst>
                    </a:pPr>
                    <a:r>
                      <a:rPr lang="en-US" altLang="zh-CN" sz="1800" b="1" dirty="0">
                        <a:solidFill>
                          <a:srgbClr val="003300"/>
                        </a:solidFill>
                      </a:rPr>
                      <a:t>11</a:t>
                    </a:r>
                    <a:endParaRPr lang="en-US" altLang="zh-CN" sz="1800" b="1" dirty="0">
                      <a:solidFill>
                        <a:srgbClr val="003300"/>
                      </a:solidFill>
                    </a:endParaRPr>
                  </a:p>
                  <a:p>
                    <a:pPr marL="0" lvl="0" indent="0" defTabSz="914400" eaLnBrk="1" hangingPunct="1">
                      <a:lnSpc>
                        <a:spcPct val="140000"/>
                      </a:lnSpc>
                      <a:spcBef>
                        <a:spcPct val="0"/>
                      </a:spcBef>
                      <a:tabLst>
                        <a:tab pos="758825" algn="l"/>
                      </a:tabLst>
                    </a:pPr>
                    <a:r>
                      <a:rPr lang="en-US" altLang="zh-CN" sz="1800" b="1" dirty="0">
                        <a:solidFill>
                          <a:srgbClr val="003300"/>
                        </a:solidFill>
                      </a:rPr>
                      <a:t>10</a:t>
                    </a:r>
                    <a:endParaRPr lang="en-US" altLang="zh-CN" sz="1800" b="1" dirty="0">
                      <a:solidFill>
                        <a:srgbClr val="003300"/>
                      </a:solidFill>
                    </a:endParaRPr>
                  </a:p>
                </p:txBody>
              </p:sp>
              <p:sp>
                <p:nvSpPr>
                  <p:cNvPr id="178344" name="Text Box 55"/>
                  <p:cNvSpPr txBox="1"/>
                  <p:nvPr/>
                </p:nvSpPr>
                <p:spPr>
                  <a:xfrm>
                    <a:off x="2075" y="393"/>
                    <a:ext cx="528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i="1" dirty="0">
                        <a:solidFill>
                          <a:srgbClr val="003300"/>
                        </a:solidFill>
                      </a:rPr>
                      <a:t>q</a:t>
                    </a:r>
                    <a:r>
                      <a:rPr lang="en-US" altLang="zh-CN" sz="2000" b="1" baseline="-25000" dirty="0">
                        <a:solidFill>
                          <a:srgbClr val="003300"/>
                        </a:solidFill>
                      </a:rPr>
                      <a:t>3</a:t>
                    </a:r>
                    <a:r>
                      <a:rPr lang="en-US" altLang="zh-CN" sz="2000" b="1" i="1" dirty="0">
                        <a:solidFill>
                          <a:srgbClr val="003300"/>
                        </a:solidFill>
                      </a:rPr>
                      <a:t>q</a:t>
                    </a:r>
                    <a:r>
                      <a:rPr lang="en-US" altLang="zh-CN" sz="2000" b="1" baseline="-25000" dirty="0">
                        <a:solidFill>
                          <a:srgbClr val="003300"/>
                        </a:solidFill>
                      </a:rPr>
                      <a:t>2</a:t>
                    </a:r>
                    <a:endParaRPr lang="en-US" altLang="zh-CN" sz="2000" b="1" baseline="-25000" dirty="0">
                      <a:solidFill>
                        <a:srgbClr val="003300"/>
                      </a:solidFill>
                    </a:endParaRPr>
                  </a:p>
                </p:txBody>
              </p:sp>
              <p:sp>
                <p:nvSpPr>
                  <p:cNvPr id="178345" name="Text Box 56"/>
                  <p:cNvSpPr txBox="1"/>
                  <p:nvPr/>
                </p:nvSpPr>
                <p:spPr>
                  <a:xfrm>
                    <a:off x="1820" y="643"/>
                    <a:ext cx="492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i="1" dirty="0">
                        <a:solidFill>
                          <a:srgbClr val="003300"/>
                        </a:solidFill>
                      </a:rPr>
                      <a:t>q</a:t>
                    </a:r>
                    <a:r>
                      <a:rPr lang="en-US" altLang="zh-CN" sz="2000" b="1" baseline="-25000" dirty="0">
                        <a:solidFill>
                          <a:srgbClr val="003300"/>
                        </a:solidFill>
                      </a:rPr>
                      <a:t>1</a:t>
                    </a:r>
                    <a:r>
                      <a:rPr lang="en-US" altLang="zh-CN" sz="2000" b="1" i="1" dirty="0">
                        <a:solidFill>
                          <a:srgbClr val="003300"/>
                        </a:solidFill>
                      </a:rPr>
                      <a:t>w</a:t>
                    </a:r>
                    <a:endParaRPr lang="en-US" altLang="zh-CN" sz="2000" b="1" baseline="-25000" dirty="0">
                      <a:solidFill>
                        <a:srgbClr val="003300"/>
                      </a:solidFill>
                    </a:endParaRPr>
                  </a:p>
                </p:txBody>
              </p:sp>
              <p:grpSp>
                <p:nvGrpSpPr>
                  <p:cNvPr id="178346" name="Group 58"/>
                  <p:cNvGrpSpPr/>
                  <p:nvPr/>
                </p:nvGrpSpPr>
                <p:grpSpPr>
                  <a:xfrm>
                    <a:off x="2408" y="870"/>
                    <a:ext cx="1369" cy="1303"/>
                    <a:chOff x="520" y="702"/>
                    <a:chExt cx="949" cy="1083"/>
                  </a:xfrm>
                </p:grpSpPr>
                <p:sp>
                  <p:nvSpPr>
                    <p:cNvPr id="178355" name="Rectangle 59"/>
                    <p:cNvSpPr/>
                    <p:nvPr/>
                  </p:nvSpPr>
                  <p:spPr>
                    <a:xfrm>
                      <a:off x="520" y="702"/>
                      <a:ext cx="949" cy="1083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rgbClr val="0000CC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</a:pPr>
                      <a:endParaRPr lang="zh-CN" altLang="en-US" sz="2000" b="1" dirty="0">
                        <a:solidFill>
                          <a:srgbClr val="003300"/>
                        </a:solidFill>
                      </a:endParaRPr>
                    </a:p>
                  </p:txBody>
                </p:sp>
                <p:grpSp>
                  <p:nvGrpSpPr>
                    <p:cNvPr id="178356" name="Group 60"/>
                    <p:cNvGrpSpPr/>
                    <p:nvPr/>
                  </p:nvGrpSpPr>
                  <p:grpSpPr>
                    <a:xfrm>
                      <a:off x="761" y="710"/>
                      <a:ext cx="478" cy="1064"/>
                      <a:chOff x="761" y="710"/>
                      <a:chExt cx="478" cy="1042"/>
                    </a:xfrm>
                  </p:grpSpPr>
                  <p:sp>
                    <p:nvSpPr>
                      <p:cNvPr id="178357" name="Line 61"/>
                      <p:cNvSpPr/>
                      <p:nvPr/>
                    </p:nvSpPr>
                    <p:spPr>
                      <a:xfrm>
                        <a:off x="761" y="710"/>
                        <a:ext cx="0" cy="1037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rgbClr val="0000CC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178358" name="Line 62"/>
                      <p:cNvSpPr/>
                      <p:nvPr/>
                    </p:nvSpPr>
                    <p:spPr>
                      <a:xfrm>
                        <a:off x="994" y="711"/>
                        <a:ext cx="0" cy="1041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rgbClr val="0000CC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178359" name="Line 63"/>
                      <p:cNvSpPr/>
                      <p:nvPr/>
                    </p:nvSpPr>
                    <p:spPr>
                      <a:xfrm>
                        <a:off x="1239" y="710"/>
                        <a:ext cx="0" cy="1041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rgbClr val="0000CC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</p:grpSp>
              <p:sp>
                <p:nvSpPr>
                  <p:cNvPr id="178347" name="Line 64"/>
                  <p:cNvSpPr/>
                  <p:nvPr/>
                </p:nvSpPr>
                <p:spPr>
                  <a:xfrm>
                    <a:off x="2401" y="1528"/>
                    <a:ext cx="1368" cy="0"/>
                  </a:xfrm>
                  <a:prstGeom prst="line">
                    <a:avLst/>
                  </a:prstGeom>
                  <a:ln w="28575" cap="flat" cmpd="sng">
                    <a:solidFill>
                      <a:srgbClr val="0000CC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78348" name="Line 65"/>
                  <p:cNvSpPr/>
                  <p:nvPr/>
                </p:nvSpPr>
                <p:spPr>
                  <a:xfrm>
                    <a:off x="2409" y="1859"/>
                    <a:ext cx="1368" cy="0"/>
                  </a:xfrm>
                  <a:prstGeom prst="line">
                    <a:avLst/>
                  </a:prstGeom>
                  <a:ln w="28575" cap="flat" cmpd="sng">
                    <a:solidFill>
                      <a:srgbClr val="0000CC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78349" name="Rectangle 67"/>
                  <p:cNvSpPr/>
                  <p:nvPr/>
                </p:nvSpPr>
                <p:spPr>
                  <a:xfrm>
                    <a:off x="3075" y="888"/>
                    <a:ext cx="382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rgbClr val="003300"/>
                        </a:solidFill>
                      </a:rPr>
                      <a:t>×</a:t>
                    </a:r>
                    <a:endParaRPr lang="en-US" altLang="zh-CN" sz="2000" b="1" dirty="0">
                      <a:solidFill>
                        <a:srgbClr val="003300"/>
                      </a:solidFill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350" name="Text Box 70"/>
                  <p:cNvSpPr txBox="1"/>
                  <p:nvPr/>
                </p:nvSpPr>
                <p:spPr>
                  <a:xfrm>
                    <a:off x="3082" y="1508"/>
                    <a:ext cx="279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rgbClr val="003300"/>
                        </a:solidFill>
                      </a:rPr>
                      <a:t>×</a:t>
                    </a:r>
                    <a:endParaRPr lang="en-US" altLang="zh-CN" sz="2000" b="1" dirty="0">
                      <a:solidFill>
                        <a:srgbClr val="003300"/>
                      </a:solidFill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351" name="Rectangle 73"/>
                  <p:cNvSpPr/>
                  <p:nvPr/>
                </p:nvSpPr>
                <p:spPr>
                  <a:xfrm>
                    <a:off x="3072" y="1177"/>
                    <a:ext cx="382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rgbClr val="003300"/>
                        </a:solidFill>
                      </a:rPr>
                      <a:t>×</a:t>
                    </a:r>
                    <a:endParaRPr lang="en-US" altLang="zh-CN" sz="2000" b="1" dirty="0">
                      <a:solidFill>
                        <a:srgbClr val="003300"/>
                      </a:solidFill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352" name="Text Box 76"/>
                  <p:cNvSpPr txBox="1"/>
                  <p:nvPr/>
                </p:nvSpPr>
                <p:spPr>
                  <a:xfrm>
                    <a:off x="3487" y="851"/>
                    <a:ext cx="366" cy="34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2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/>
                      <a:t>0</a:t>
                    </a:r>
                    <a:endParaRPr lang="en-US" altLang="zh-CN" sz="2000" b="1" dirty="0"/>
                  </a:p>
                </p:txBody>
              </p:sp>
              <p:sp>
                <p:nvSpPr>
                  <p:cNvPr id="178353" name="Line 79"/>
                  <p:cNvSpPr/>
                  <p:nvPr/>
                </p:nvSpPr>
                <p:spPr>
                  <a:xfrm>
                    <a:off x="2010" y="587"/>
                    <a:ext cx="396" cy="297"/>
                  </a:xfrm>
                  <a:prstGeom prst="line">
                    <a:avLst/>
                  </a:prstGeom>
                  <a:ln w="28575" cap="flat" cmpd="sng">
                    <a:solidFill>
                      <a:srgbClr val="0000CC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78354" name="Text Box 80"/>
                  <p:cNvSpPr txBox="1"/>
                  <p:nvPr/>
                </p:nvSpPr>
                <p:spPr>
                  <a:xfrm>
                    <a:off x="2404" y="890"/>
                    <a:ext cx="263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rgbClr val="003300"/>
                        </a:solidFill>
                      </a:rPr>
                      <a:t>×</a:t>
                    </a:r>
                    <a:endParaRPr lang="en-US" altLang="zh-CN" sz="2000" b="1" dirty="0">
                      <a:solidFill>
                        <a:srgbClr val="003300"/>
                      </a:solidFill>
                      <a:ea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78339" name="Rectangle 51"/>
                <p:cNvSpPr/>
                <p:nvPr/>
              </p:nvSpPr>
              <p:spPr>
                <a:xfrm>
                  <a:off x="6208460" y="5152607"/>
                  <a:ext cx="363624" cy="32097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×</a:t>
                  </a:r>
                  <a:endParaRPr lang="en-US" altLang="zh-CN" sz="2000" b="1" dirty="0">
                    <a:solidFill>
                      <a:srgbClr val="003300"/>
                    </a:solidFill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78329" name="Text Box 80"/>
              <p:cNvSpPr txBox="1"/>
              <p:nvPr/>
            </p:nvSpPr>
            <p:spPr>
              <a:xfrm>
                <a:off x="6438950" y="2063877"/>
                <a:ext cx="288925" cy="4302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</a:t>
                </a:r>
                <a:endParaRPr lang="en-US" altLang="zh-CN" sz="2000" b="1" dirty="0">
                  <a:ea typeface="Times New Roman" panose="02020603050405020304" pitchFamily="18" charset="0"/>
                </a:endParaRPr>
              </a:p>
            </p:txBody>
          </p:sp>
          <p:sp>
            <p:nvSpPr>
              <p:cNvPr id="178330" name="Text Box 80"/>
              <p:cNvSpPr txBox="1"/>
              <p:nvPr/>
            </p:nvSpPr>
            <p:spPr>
              <a:xfrm>
                <a:off x="5980063" y="2472141"/>
                <a:ext cx="289454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rgbClr val="003300"/>
                    </a:solidFill>
                  </a:rPr>
                  <a:t>×</a:t>
                </a:r>
                <a:endParaRPr lang="en-US" altLang="zh-CN" sz="2000" b="1" dirty="0">
                  <a:solidFill>
                    <a:srgbClr val="003300"/>
                  </a:solidFill>
                  <a:ea typeface="Times New Roman" panose="02020603050405020304" pitchFamily="18" charset="0"/>
                </a:endParaRPr>
              </a:p>
            </p:txBody>
          </p:sp>
          <p:sp>
            <p:nvSpPr>
              <p:cNvPr id="178331" name="Text Box 80"/>
              <p:cNvSpPr txBox="1"/>
              <p:nvPr/>
            </p:nvSpPr>
            <p:spPr>
              <a:xfrm>
                <a:off x="7244364" y="2429729"/>
                <a:ext cx="289454" cy="4461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1</a:t>
                </a:r>
                <a:endParaRPr lang="en-US" altLang="zh-CN" sz="2000" b="1" dirty="0">
                  <a:ea typeface="Times New Roman" panose="02020603050405020304" pitchFamily="18" charset="0"/>
                </a:endParaRPr>
              </a:p>
            </p:txBody>
          </p:sp>
          <p:sp>
            <p:nvSpPr>
              <p:cNvPr id="178332" name="Rectangle 51"/>
              <p:cNvSpPr/>
              <p:nvPr/>
            </p:nvSpPr>
            <p:spPr>
              <a:xfrm>
                <a:off x="6443416" y="2449540"/>
                <a:ext cx="312762" cy="4002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1</a:t>
                </a:r>
                <a:endParaRPr lang="en-US" altLang="zh-CN" sz="2000" b="1" dirty="0">
                  <a:ea typeface="Times New Roman" panose="02020603050405020304" pitchFamily="18" charset="0"/>
                </a:endParaRPr>
              </a:p>
            </p:txBody>
          </p:sp>
          <p:sp>
            <p:nvSpPr>
              <p:cNvPr id="178333" name="Rectangle 51"/>
              <p:cNvSpPr/>
              <p:nvPr/>
            </p:nvSpPr>
            <p:spPr>
              <a:xfrm>
                <a:off x="6038530" y="2864014"/>
                <a:ext cx="312762" cy="4002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</a:t>
                </a:r>
                <a:endParaRPr lang="en-US" altLang="zh-CN" sz="2000" b="1" dirty="0">
                  <a:ea typeface="Times New Roman" panose="02020603050405020304" pitchFamily="18" charset="0"/>
                </a:endParaRPr>
              </a:p>
            </p:txBody>
          </p:sp>
          <p:sp>
            <p:nvSpPr>
              <p:cNvPr id="178334" name="Rectangle 51"/>
              <p:cNvSpPr/>
              <p:nvPr/>
            </p:nvSpPr>
            <p:spPr>
              <a:xfrm>
                <a:off x="6364960" y="2867548"/>
                <a:ext cx="442750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rgbClr val="003300"/>
                    </a:solidFill>
                  </a:rPr>
                  <a:t>×</a:t>
                </a:r>
                <a:endParaRPr lang="en-US" altLang="zh-CN" sz="2000" b="1" dirty="0">
                  <a:solidFill>
                    <a:srgbClr val="003300"/>
                  </a:solidFill>
                  <a:ea typeface="Times New Roman" panose="02020603050405020304" pitchFamily="18" charset="0"/>
                </a:endParaRPr>
              </a:p>
            </p:txBody>
          </p:sp>
          <p:sp>
            <p:nvSpPr>
              <p:cNvPr id="178335" name="Rectangle 51"/>
              <p:cNvSpPr/>
              <p:nvPr/>
            </p:nvSpPr>
            <p:spPr>
              <a:xfrm>
                <a:off x="6034570" y="3275900"/>
                <a:ext cx="312762" cy="4002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</a:t>
                </a:r>
                <a:endParaRPr lang="en-US" altLang="zh-CN" sz="2000" b="1" dirty="0">
                  <a:ea typeface="Times New Roman" panose="02020603050405020304" pitchFamily="18" charset="0"/>
                </a:endParaRPr>
              </a:p>
            </p:txBody>
          </p:sp>
          <p:sp>
            <p:nvSpPr>
              <p:cNvPr id="178336" name="Rectangle 51"/>
              <p:cNvSpPr/>
              <p:nvPr/>
            </p:nvSpPr>
            <p:spPr>
              <a:xfrm>
                <a:off x="6359171" y="3269108"/>
                <a:ext cx="442750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rgbClr val="003300"/>
                    </a:solidFill>
                  </a:rPr>
                  <a:t>×</a:t>
                </a:r>
                <a:endParaRPr lang="en-US" altLang="zh-CN" sz="2000" b="1" dirty="0">
                  <a:solidFill>
                    <a:srgbClr val="003300"/>
                  </a:solidFill>
                  <a:ea typeface="Times New Roman" panose="02020603050405020304" pitchFamily="18" charset="0"/>
                </a:endParaRPr>
              </a:p>
            </p:txBody>
          </p:sp>
          <p:sp>
            <p:nvSpPr>
              <p:cNvPr id="178337" name="Rectangle 51"/>
              <p:cNvSpPr/>
              <p:nvPr/>
            </p:nvSpPr>
            <p:spPr>
              <a:xfrm>
                <a:off x="6769467" y="3289146"/>
                <a:ext cx="442750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rgbClr val="003300"/>
                    </a:solidFill>
                  </a:rPr>
                  <a:t>×</a:t>
                </a:r>
                <a:endParaRPr lang="en-US" altLang="zh-CN" sz="2000" b="1" dirty="0">
                  <a:solidFill>
                    <a:srgbClr val="003300"/>
                  </a:solidFill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178327" name="Rectangle 5"/>
            <p:cNvSpPr/>
            <p:nvPr/>
          </p:nvSpPr>
          <p:spPr>
            <a:xfrm>
              <a:off x="666618" y="5681759"/>
              <a:ext cx="1529809" cy="431626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1905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669925" algn="r"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rgbClr val="003300"/>
                  </a:solidFill>
                </a:rPr>
                <a:t>Q</a:t>
              </a:r>
              <a:r>
                <a:rPr lang="en-US" altLang="zh-CN" sz="2000" b="1" baseline="-25000" dirty="0">
                  <a:solidFill>
                    <a:srgbClr val="003300"/>
                  </a:solidFill>
                </a:rPr>
                <a:t>3</a:t>
              </a:r>
              <a:r>
                <a:rPr lang="en-US" altLang="zh-CN" sz="2000" b="1" i="1" dirty="0">
                  <a:solidFill>
                    <a:srgbClr val="003300"/>
                  </a:solidFill>
                </a:rPr>
                <a:t>= wq'</a:t>
              </a:r>
              <a:r>
                <a:rPr lang="en-US" altLang="zh-CN" sz="2000" b="1" baseline="-25000" dirty="0">
                  <a:solidFill>
                    <a:srgbClr val="003300"/>
                  </a:solidFill>
                </a:rPr>
                <a:t>1</a:t>
              </a:r>
              <a:endParaRPr lang="en-US" altLang="zh-CN" sz="2000" b="1" dirty="0">
                <a:solidFill>
                  <a:srgbClr val="0000CC"/>
                </a:solidFill>
              </a:endParaRPr>
            </a:p>
          </p:txBody>
        </p:sp>
      </p:grpSp>
      <p:grpSp>
        <p:nvGrpSpPr>
          <p:cNvPr id="178215" name="组合 151"/>
          <p:cNvGrpSpPr/>
          <p:nvPr/>
        </p:nvGrpSpPr>
        <p:grpSpPr>
          <a:xfrm>
            <a:off x="3228975" y="4002088"/>
            <a:ext cx="2354263" cy="2600325"/>
            <a:chOff x="107880" y="3513909"/>
            <a:chExt cx="2353847" cy="2599476"/>
          </a:xfrm>
        </p:grpSpPr>
        <p:sp>
          <p:nvSpPr>
            <p:cNvPr id="178290" name="矩形: 圆角 40"/>
            <p:cNvSpPr/>
            <p:nvPr/>
          </p:nvSpPr>
          <p:spPr>
            <a:xfrm>
              <a:off x="816169" y="4953430"/>
              <a:ext cx="1530431" cy="306792"/>
            </a:xfrm>
            <a:prstGeom prst="roundRect">
              <a:avLst>
                <a:gd name="adj" fmla="val 16667"/>
              </a:avLst>
            </a:prstGeom>
            <a:solidFill>
              <a:srgbClr val="FF0000">
                <a:alpha val="39999"/>
              </a:srgbClr>
            </a:solidFill>
            <a:ln w="12700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800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8291" name="组合 125"/>
            <p:cNvGrpSpPr/>
            <p:nvPr/>
          </p:nvGrpSpPr>
          <p:grpSpPr>
            <a:xfrm>
              <a:off x="107880" y="3513909"/>
              <a:ext cx="2353847" cy="2211939"/>
              <a:chOff x="5308530" y="1480702"/>
              <a:chExt cx="2353847" cy="2211939"/>
            </a:xfrm>
          </p:grpSpPr>
          <p:grpSp>
            <p:nvGrpSpPr>
              <p:cNvPr id="178293" name="组合 2"/>
              <p:cNvGrpSpPr/>
              <p:nvPr/>
            </p:nvGrpSpPr>
            <p:grpSpPr>
              <a:xfrm>
                <a:off x="5308530" y="1480702"/>
                <a:ext cx="2353847" cy="2211939"/>
                <a:chOff x="4681304" y="4036948"/>
                <a:chExt cx="1933176" cy="1774427"/>
              </a:xfrm>
            </p:grpSpPr>
            <p:grpSp>
              <p:nvGrpSpPr>
                <p:cNvPr id="178303" name="Group 85"/>
                <p:cNvGrpSpPr/>
                <p:nvPr/>
              </p:nvGrpSpPr>
              <p:grpSpPr>
                <a:xfrm>
                  <a:off x="4681304" y="4036948"/>
                  <a:ext cx="1933176" cy="1774427"/>
                  <a:chOff x="1820" y="393"/>
                  <a:chExt cx="2033" cy="1780"/>
                </a:xfrm>
              </p:grpSpPr>
              <p:sp>
                <p:nvSpPr>
                  <p:cNvPr id="178305" name="Rectangle 51"/>
                  <p:cNvSpPr/>
                  <p:nvPr/>
                </p:nvSpPr>
                <p:spPr>
                  <a:xfrm>
                    <a:off x="3423" y="1841"/>
                    <a:ext cx="382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rgbClr val="003300"/>
                        </a:solidFill>
                      </a:rPr>
                      <a:t>×</a:t>
                    </a:r>
                    <a:endParaRPr lang="en-US" altLang="zh-CN" sz="2000" b="1" dirty="0">
                      <a:solidFill>
                        <a:srgbClr val="003300"/>
                      </a:solidFill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306" name="Line 52"/>
                  <p:cNvSpPr/>
                  <p:nvPr/>
                </p:nvSpPr>
                <p:spPr>
                  <a:xfrm>
                    <a:off x="2414" y="1192"/>
                    <a:ext cx="1368" cy="0"/>
                  </a:xfrm>
                  <a:prstGeom prst="line">
                    <a:avLst/>
                  </a:prstGeom>
                  <a:ln w="28575" cap="flat" cmpd="sng">
                    <a:solidFill>
                      <a:srgbClr val="0000CC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78307" name="Text Box 53"/>
                  <p:cNvSpPr txBox="1"/>
                  <p:nvPr/>
                </p:nvSpPr>
                <p:spPr>
                  <a:xfrm>
                    <a:off x="2374" y="619"/>
                    <a:ext cx="1474" cy="29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defTabSz="914400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tabLst>
                        <a:tab pos="758825" algn="l"/>
                      </a:tabLst>
                    </a:pPr>
                    <a:r>
                      <a:rPr lang="en-US" altLang="zh-CN" sz="1600" b="1" dirty="0">
                        <a:solidFill>
                          <a:srgbClr val="003300"/>
                        </a:solidFill>
                      </a:rPr>
                      <a:t> </a:t>
                    </a:r>
                    <a:r>
                      <a:rPr lang="en-US" altLang="zh-CN" sz="1800" b="1" dirty="0">
                        <a:solidFill>
                          <a:srgbClr val="003300"/>
                        </a:solidFill>
                      </a:rPr>
                      <a:t>00   01   11   10</a:t>
                    </a:r>
                    <a:endParaRPr lang="en-US" altLang="zh-CN" sz="1800" b="1" dirty="0">
                      <a:solidFill>
                        <a:srgbClr val="003300"/>
                      </a:solidFill>
                    </a:endParaRPr>
                  </a:p>
                </p:txBody>
              </p:sp>
              <p:sp>
                <p:nvSpPr>
                  <p:cNvPr id="178308" name="Text Box 54"/>
                  <p:cNvSpPr txBox="1"/>
                  <p:nvPr/>
                </p:nvSpPr>
                <p:spPr>
                  <a:xfrm>
                    <a:off x="2096" y="863"/>
                    <a:ext cx="536" cy="1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defTabSz="914400" eaLnBrk="1" hangingPunct="1">
                      <a:lnSpc>
                        <a:spcPct val="140000"/>
                      </a:lnSpc>
                      <a:spcBef>
                        <a:spcPct val="0"/>
                      </a:spcBef>
                      <a:tabLst>
                        <a:tab pos="758825" algn="l"/>
                      </a:tabLst>
                    </a:pPr>
                    <a:r>
                      <a:rPr lang="en-US" altLang="zh-CN" sz="1800" b="1" dirty="0">
                        <a:solidFill>
                          <a:srgbClr val="003300"/>
                        </a:solidFill>
                      </a:rPr>
                      <a:t>00</a:t>
                    </a:r>
                    <a:endParaRPr lang="en-US" altLang="zh-CN" sz="1800" b="1" dirty="0">
                      <a:solidFill>
                        <a:srgbClr val="003300"/>
                      </a:solidFill>
                    </a:endParaRPr>
                  </a:p>
                  <a:p>
                    <a:pPr marL="0" lvl="0" indent="0" defTabSz="914400" eaLnBrk="1" hangingPunct="1">
                      <a:lnSpc>
                        <a:spcPct val="140000"/>
                      </a:lnSpc>
                      <a:spcBef>
                        <a:spcPct val="0"/>
                      </a:spcBef>
                      <a:tabLst>
                        <a:tab pos="758825" algn="l"/>
                      </a:tabLst>
                    </a:pPr>
                    <a:r>
                      <a:rPr lang="en-US" altLang="zh-CN" sz="1800" b="1" dirty="0">
                        <a:solidFill>
                          <a:srgbClr val="003300"/>
                        </a:solidFill>
                      </a:rPr>
                      <a:t>01</a:t>
                    </a:r>
                    <a:endParaRPr lang="en-US" altLang="zh-CN" sz="1800" b="1" dirty="0">
                      <a:solidFill>
                        <a:srgbClr val="003300"/>
                      </a:solidFill>
                    </a:endParaRPr>
                  </a:p>
                  <a:p>
                    <a:pPr marL="0" lvl="0" indent="0" defTabSz="914400" eaLnBrk="1" hangingPunct="1">
                      <a:lnSpc>
                        <a:spcPct val="140000"/>
                      </a:lnSpc>
                      <a:spcBef>
                        <a:spcPct val="0"/>
                      </a:spcBef>
                      <a:tabLst>
                        <a:tab pos="758825" algn="l"/>
                      </a:tabLst>
                    </a:pPr>
                    <a:r>
                      <a:rPr lang="en-US" altLang="zh-CN" sz="1800" b="1" dirty="0">
                        <a:solidFill>
                          <a:srgbClr val="003300"/>
                        </a:solidFill>
                      </a:rPr>
                      <a:t>11</a:t>
                    </a:r>
                    <a:endParaRPr lang="en-US" altLang="zh-CN" sz="1800" b="1" dirty="0">
                      <a:solidFill>
                        <a:srgbClr val="003300"/>
                      </a:solidFill>
                    </a:endParaRPr>
                  </a:p>
                  <a:p>
                    <a:pPr marL="0" lvl="0" indent="0" defTabSz="914400" eaLnBrk="1" hangingPunct="1">
                      <a:lnSpc>
                        <a:spcPct val="140000"/>
                      </a:lnSpc>
                      <a:spcBef>
                        <a:spcPct val="0"/>
                      </a:spcBef>
                      <a:tabLst>
                        <a:tab pos="758825" algn="l"/>
                      </a:tabLst>
                    </a:pPr>
                    <a:r>
                      <a:rPr lang="en-US" altLang="zh-CN" sz="1800" b="1" dirty="0">
                        <a:solidFill>
                          <a:srgbClr val="003300"/>
                        </a:solidFill>
                      </a:rPr>
                      <a:t>10</a:t>
                    </a:r>
                    <a:endParaRPr lang="en-US" altLang="zh-CN" sz="1800" b="1" dirty="0">
                      <a:solidFill>
                        <a:srgbClr val="003300"/>
                      </a:solidFill>
                    </a:endParaRPr>
                  </a:p>
                </p:txBody>
              </p:sp>
              <p:sp>
                <p:nvSpPr>
                  <p:cNvPr id="178309" name="Text Box 55"/>
                  <p:cNvSpPr txBox="1"/>
                  <p:nvPr/>
                </p:nvSpPr>
                <p:spPr>
                  <a:xfrm>
                    <a:off x="2075" y="393"/>
                    <a:ext cx="528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i="1" dirty="0">
                        <a:solidFill>
                          <a:srgbClr val="003300"/>
                        </a:solidFill>
                      </a:rPr>
                      <a:t>q</a:t>
                    </a:r>
                    <a:r>
                      <a:rPr lang="en-US" altLang="zh-CN" sz="2000" b="1" baseline="-25000" dirty="0">
                        <a:solidFill>
                          <a:srgbClr val="003300"/>
                        </a:solidFill>
                      </a:rPr>
                      <a:t>3</a:t>
                    </a:r>
                    <a:r>
                      <a:rPr lang="en-US" altLang="zh-CN" sz="2000" b="1" i="1" dirty="0">
                        <a:solidFill>
                          <a:srgbClr val="003300"/>
                        </a:solidFill>
                      </a:rPr>
                      <a:t>q</a:t>
                    </a:r>
                    <a:r>
                      <a:rPr lang="en-US" altLang="zh-CN" sz="2000" b="1" baseline="-25000" dirty="0">
                        <a:solidFill>
                          <a:srgbClr val="003300"/>
                        </a:solidFill>
                      </a:rPr>
                      <a:t>2</a:t>
                    </a:r>
                    <a:endParaRPr lang="en-US" altLang="zh-CN" sz="2000" b="1" baseline="-25000" dirty="0">
                      <a:solidFill>
                        <a:srgbClr val="003300"/>
                      </a:solidFill>
                    </a:endParaRPr>
                  </a:p>
                </p:txBody>
              </p:sp>
              <p:sp>
                <p:nvSpPr>
                  <p:cNvPr id="178310" name="Text Box 56"/>
                  <p:cNvSpPr txBox="1"/>
                  <p:nvPr/>
                </p:nvSpPr>
                <p:spPr>
                  <a:xfrm>
                    <a:off x="1820" y="643"/>
                    <a:ext cx="492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i="1" dirty="0">
                        <a:solidFill>
                          <a:srgbClr val="003300"/>
                        </a:solidFill>
                      </a:rPr>
                      <a:t>q</a:t>
                    </a:r>
                    <a:r>
                      <a:rPr lang="en-US" altLang="zh-CN" sz="2000" b="1" baseline="-25000" dirty="0">
                        <a:solidFill>
                          <a:srgbClr val="003300"/>
                        </a:solidFill>
                      </a:rPr>
                      <a:t>1</a:t>
                    </a:r>
                    <a:r>
                      <a:rPr lang="en-US" altLang="zh-CN" sz="2000" b="1" i="1" dirty="0">
                        <a:solidFill>
                          <a:srgbClr val="003300"/>
                        </a:solidFill>
                      </a:rPr>
                      <a:t>w</a:t>
                    </a:r>
                    <a:endParaRPr lang="en-US" altLang="zh-CN" sz="2000" b="1" baseline="-25000" dirty="0">
                      <a:solidFill>
                        <a:srgbClr val="003300"/>
                      </a:solidFill>
                    </a:endParaRPr>
                  </a:p>
                </p:txBody>
              </p:sp>
              <p:grpSp>
                <p:nvGrpSpPr>
                  <p:cNvPr id="178311" name="Group 58"/>
                  <p:cNvGrpSpPr/>
                  <p:nvPr/>
                </p:nvGrpSpPr>
                <p:grpSpPr>
                  <a:xfrm>
                    <a:off x="2408" y="870"/>
                    <a:ext cx="1369" cy="1303"/>
                    <a:chOff x="520" y="702"/>
                    <a:chExt cx="949" cy="1083"/>
                  </a:xfrm>
                </p:grpSpPr>
                <p:sp>
                  <p:nvSpPr>
                    <p:cNvPr id="178320" name="Rectangle 59"/>
                    <p:cNvSpPr/>
                    <p:nvPr/>
                  </p:nvSpPr>
                  <p:spPr>
                    <a:xfrm>
                      <a:off x="520" y="702"/>
                      <a:ext cx="949" cy="1083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rgbClr val="0000CC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</a:pPr>
                      <a:endParaRPr lang="zh-CN" altLang="en-US" sz="2000" b="1" dirty="0">
                        <a:solidFill>
                          <a:srgbClr val="003300"/>
                        </a:solidFill>
                      </a:endParaRPr>
                    </a:p>
                  </p:txBody>
                </p:sp>
                <p:grpSp>
                  <p:nvGrpSpPr>
                    <p:cNvPr id="178321" name="Group 60"/>
                    <p:cNvGrpSpPr/>
                    <p:nvPr/>
                  </p:nvGrpSpPr>
                  <p:grpSpPr>
                    <a:xfrm>
                      <a:off x="761" y="710"/>
                      <a:ext cx="478" cy="1064"/>
                      <a:chOff x="761" y="710"/>
                      <a:chExt cx="478" cy="1042"/>
                    </a:xfrm>
                  </p:grpSpPr>
                  <p:sp>
                    <p:nvSpPr>
                      <p:cNvPr id="178322" name="Line 61"/>
                      <p:cNvSpPr/>
                      <p:nvPr/>
                    </p:nvSpPr>
                    <p:spPr>
                      <a:xfrm>
                        <a:off x="761" y="710"/>
                        <a:ext cx="0" cy="1037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rgbClr val="0000CC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178323" name="Line 62"/>
                      <p:cNvSpPr/>
                      <p:nvPr/>
                    </p:nvSpPr>
                    <p:spPr>
                      <a:xfrm>
                        <a:off x="994" y="711"/>
                        <a:ext cx="0" cy="1041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rgbClr val="0000CC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178324" name="Line 63"/>
                      <p:cNvSpPr/>
                      <p:nvPr/>
                    </p:nvSpPr>
                    <p:spPr>
                      <a:xfrm>
                        <a:off x="1239" y="710"/>
                        <a:ext cx="0" cy="1041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rgbClr val="0000CC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</p:grpSp>
              <p:sp>
                <p:nvSpPr>
                  <p:cNvPr id="178312" name="Line 64"/>
                  <p:cNvSpPr/>
                  <p:nvPr/>
                </p:nvSpPr>
                <p:spPr>
                  <a:xfrm>
                    <a:off x="2401" y="1528"/>
                    <a:ext cx="1368" cy="0"/>
                  </a:xfrm>
                  <a:prstGeom prst="line">
                    <a:avLst/>
                  </a:prstGeom>
                  <a:ln w="28575" cap="flat" cmpd="sng">
                    <a:solidFill>
                      <a:srgbClr val="0000CC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78313" name="Line 65"/>
                  <p:cNvSpPr/>
                  <p:nvPr/>
                </p:nvSpPr>
                <p:spPr>
                  <a:xfrm>
                    <a:off x="2409" y="1859"/>
                    <a:ext cx="1368" cy="0"/>
                  </a:xfrm>
                  <a:prstGeom prst="line">
                    <a:avLst/>
                  </a:prstGeom>
                  <a:ln w="28575" cap="flat" cmpd="sng">
                    <a:solidFill>
                      <a:srgbClr val="0000CC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78314" name="Rectangle 67"/>
                  <p:cNvSpPr/>
                  <p:nvPr/>
                </p:nvSpPr>
                <p:spPr>
                  <a:xfrm>
                    <a:off x="3075" y="888"/>
                    <a:ext cx="382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rgbClr val="003300"/>
                        </a:solidFill>
                      </a:rPr>
                      <a:t>×</a:t>
                    </a:r>
                    <a:endParaRPr lang="en-US" altLang="zh-CN" sz="2000" b="1" dirty="0">
                      <a:solidFill>
                        <a:srgbClr val="003300"/>
                      </a:solidFill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315" name="Text Box 70"/>
                  <p:cNvSpPr txBox="1"/>
                  <p:nvPr/>
                </p:nvSpPr>
                <p:spPr>
                  <a:xfrm>
                    <a:off x="3082" y="1508"/>
                    <a:ext cx="279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rgbClr val="003300"/>
                        </a:solidFill>
                      </a:rPr>
                      <a:t>×</a:t>
                    </a:r>
                    <a:endParaRPr lang="en-US" altLang="zh-CN" sz="2000" b="1" dirty="0">
                      <a:solidFill>
                        <a:srgbClr val="003300"/>
                      </a:solidFill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316" name="Rectangle 73"/>
                  <p:cNvSpPr/>
                  <p:nvPr/>
                </p:nvSpPr>
                <p:spPr>
                  <a:xfrm>
                    <a:off x="3072" y="1177"/>
                    <a:ext cx="382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rgbClr val="003300"/>
                        </a:solidFill>
                      </a:rPr>
                      <a:t>×</a:t>
                    </a:r>
                    <a:endParaRPr lang="en-US" altLang="zh-CN" sz="2000" b="1" dirty="0">
                      <a:solidFill>
                        <a:srgbClr val="003300"/>
                      </a:solidFill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317" name="Text Box 76"/>
                  <p:cNvSpPr txBox="1"/>
                  <p:nvPr/>
                </p:nvSpPr>
                <p:spPr>
                  <a:xfrm>
                    <a:off x="3487" y="851"/>
                    <a:ext cx="366" cy="34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2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/>
                      <a:t>0</a:t>
                    </a:r>
                    <a:endParaRPr lang="en-US" altLang="zh-CN" sz="2000" b="1" dirty="0"/>
                  </a:p>
                </p:txBody>
              </p:sp>
              <p:sp>
                <p:nvSpPr>
                  <p:cNvPr id="178318" name="Line 79"/>
                  <p:cNvSpPr/>
                  <p:nvPr/>
                </p:nvSpPr>
                <p:spPr>
                  <a:xfrm>
                    <a:off x="2010" y="587"/>
                    <a:ext cx="396" cy="297"/>
                  </a:xfrm>
                  <a:prstGeom prst="line">
                    <a:avLst/>
                  </a:prstGeom>
                  <a:ln w="28575" cap="flat" cmpd="sng">
                    <a:solidFill>
                      <a:srgbClr val="0000CC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78319" name="Text Box 80"/>
                  <p:cNvSpPr txBox="1"/>
                  <p:nvPr/>
                </p:nvSpPr>
                <p:spPr>
                  <a:xfrm>
                    <a:off x="2404" y="890"/>
                    <a:ext cx="263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rgbClr val="003300"/>
                        </a:solidFill>
                      </a:rPr>
                      <a:t>×</a:t>
                    </a:r>
                    <a:endParaRPr lang="en-US" altLang="zh-CN" sz="2000" b="1" dirty="0">
                      <a:solidFill>
                        <a:srgbClr val="003300"/>
                      </a:solidFill>
                      <a:ea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78304" name="Rectangle 51"/>
                <p:cNvSpPr/>
                <p:nvPr/>
              </p:nvSpPr>
              <p:spPr>
                <a:xfrm>
                  <a:off x="6208460" y="5152607"/>
                  <a:ext cx="363624" cy="32097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×</a:t>
                  </a:r>
                  <a:endParaRPr lang="en-US" altLang="zh-CN" sz="2000" b="1" dirty="0">
                    <a:solidFill>
                      <a:srgbClr val="003300"/>
                    </a:solidFill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78294" name="Text Box 80"/>
              <p:cNvSpPr txBox="1"/>
              <p:nvPr/>
            </p:nvSpPr>
            <p:spPr>
              <a:xfrm>
                <a:off x="6438950" y="2063877"/>
                <a:ext cx="288925" cy="4302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</a:t>
                </a:r>
                <a:endParaRPr lang="en-US" altLang="zh-CN" sz="2000" b="1" dirty="0">
                  <a:ea typeface="Times New Roman" panose="02020603050405020304" pitchFamily="18" charset="0"/>
                </a:endParaRPr>
              </a:p>
            </p:txBody>
          </p:sp>
          <p:sp>
            <p:nvSpPr>
              <p:cNvPr id="178295" name="Text Box 80"/>
              <p:cNvSpPr txBox="1"/>
              <p:nvPr/>
            </p:nvSpPr>
            <p:spPr>
              <a:xfrm>
                <a:off x="5980063" y="2472141"/>
                <a:ext cx="289454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rgbClr val="003300"/>
                    </a:solidFill>
                  </a:rPr>
                  <a:t>×</a:t>
                </a:r>
                <a:endParaRPr lang="en-US" altLang="zh-CN" sz="2000" b="1" dirty="0">
                  <a:solidFill>
                    <a:srgbClr val="003300"/>
                  </a:solidFill>
                  <a:ea typeface="Times New Roman" panose="02020603050405020304" pitchFamily="18" charset="0"/>
                </a:endParaRPr>
              </a:p>
            </p:txBody>
          </p:sp>
          <p:sp>
            <p:nvSpPr>
              <p:cNvPr id="178296" name="Text Box 80"/>
              <p:cNvSpPr txBox="1"/>
              <p:nvPr/>
            </p:nvSpPr>
            <p:spPr>
              <a:xfrm>
                <a:off x="7244364" y="2429729"/>
                <a:ext cx="289454" cy="4461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</a:t>
                </a:r>
                <a:endParaRPr lang="en-US" altLang="zh-CN" sz="2000" b="1" dirty="0">
                  <a:ea typeface="Times New Roman" panose="02020603050405020304" pitchFamily="18" charset="0"/>
                </a:endParaRPr>
              </a:p>
            </p:txBody>
          </p:sp>
          <p:sp>
            <p:nvSpPr>
              <p:cNvPr id="178297" name="Rectangle 51"/>
              <p:cNvSpPr/>
              <p:nvPr/>
            </p:nvSpPr>
            <p:spPr>
              <a:xfrm>
                <a:off x="6443416" y="2449540"/>
                <a:ext cx="312762" cy="4002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</a:t>
                </a:r>
                <a:endParaRPr lang="en-US" altLang="zh-CN" sz="2000" b="1" dirty="0">
                  <a:ea typeface="Times New Roman" panose="02020603050405020304" pitchFamily="18" charset="0"/>
                </a:endParaRPr>
              </a:p>
            </p:txBody>
          </p:sp>
          <p:sp>
            <p:nvSpPr>
              <p:cNvPr id="178298" name="Rectangle 51"/>
              <p:cNvSpPr/>
              <p:nvPr/>
            </p:nvSpPr>
            <p:spPr>
              <a:xfrm>
                <a:off x="6038530" y="2864014"/>
                <a:ext cx="312762" cy="4002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1</a:t>
                </a:r>
                <a:endParaRPr lang="en-US" altLang="zh-CN" sz="2000" b="1" dirty="0">
                  <a:ea typeface="Times New Roman" panose="02020603050405020304" pitchFamily="18" charset="0"/>
                </a:endParaRPr>
              </a:p>
            </p:txBody>
          </p:sp>
          <p:sp>
            <p:nvSpPr>
              <p:cNvPr id="178299" name="Rectangle 51"/>
              <p:cNvSpPr/>
              <p:nvPr/>
            </p:nvSpPr>
            <p:spPr>
              <a:xfrm>
                <a:off x="6364960" y="2867548"/>
                <a:ext cx="442750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rgbClr val="003300"/>
                    </a:solidFill>
                  </a:rPr>
                  <a:t>×</a:t>
                </a:r>
                <a:endParaRPr lang="en-US" altLang="zh-CN" sz="2000" b="1" dirty="0">
                  <a:solidFill>
                    <a:srgbClr val="003300"/>
                  </a:solidFill>
                  <a:ea typeface="Times New Roman" panose="02020603050405020304" pitchFamily="18" charset="0"/>
                </a:endParaRPr>
              </a:p>
            </p:txBody>
          </p:sp>
          <p:sp>
            <p:nvSpPr>
              <p:cNvPr id="178300" name="Rectangle 51"/>
              <p:cNvSpPr/>
              <p:nvPr/>
            </p:nvSpPr>
            <p:spPr>
              <a:xfrm>
                <a:off x="6034570" y="3275900"/>
                <a:ext cx="312762" cy="4002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</a:t>
                </a:r>
                <a:endParaRPr lang="en-US" altLang="zh-CN" sz="2000" b="1" dirty="0">
                  <a:ea typeface="Times New Roman" panose="02020603050405020304" pitchFamily="18" charset="0"/>
                </a:endParaRPr>
              </a:p>
            </p:txBody>
          </p:sp>
          <p:sp>
            <p:nvSpPr>
              <p:cNvPr id="178301" name="Rectangle 51"/>
              <p:cNvSpPr/>
              <p:nvPr/>
            </p:nvSpPr>
            <p:spPr>
              <a:xfrm>
                <a:off x="6359171" y="3269108"/>
                <a:ext cx="442750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rgbClr val="003300"/>
                    </a:solidFill>
                  </a:rPr>
                  <a:t>×</a:t>
                </a:r>
                <a:endParaRPr lang="en-US" altLang="zh-CN" sz="2000" b="1" dirty="0">
                  <a:solidFill>
                    <a:srgbClr val="003300"/>
                  </a:solidFill>
                  <a:ea typeface="Times New Roman" panose="02020603050405020304" pitchFamily="18" charset="0"/>
                </a:endParaRPr>
              </a:p>
            </p:txBody>
          </p:sp>
          <p:sp>
            <p:nvSpPr>
              <p:cNvPr id="178302" name="Rectangle 51"/>
              <p:cNvSpPr/>
              <p:nvPr/>
            </p:nvSpPr>
            <p:spPr>
              <a:xfrm>
                <a:off x="6769467" y="3289146"/>
                <a:ext cx="442750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rgbClr val="003300"/>
                    </a:solidFill>
                  </a:rPr>
                  <a:t>×</a:t>
                </a:r>
                <a:endParaRPr lang="en-US" altLang="zh-CN" sz="2000" b="1" dirty="0">
                  <a:solidFill>
                    <a:srgbClr val="003300"/>
                  </a:solidFill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178292" name="Rectangle 5"/>
            <p:cNvSpPr/>
            <p:nvPr/>
          </p:nvSpPr>
          <p:spPr>
            <a:xfrm>
              <a:off x="666618" y="5681759"/>
              <a:ext cx="1529809" cy="431626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1905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669925" algn="r"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rgbClr val="003300"/>
                  </a:solidFill>
                </a:rPr>
                <a:t>Q</a:t>
              </a:r>
              <a:r>
                <a:rPr lang="en-US" altLang="zh-CN" sz="2000" b="1" baseline="-25000" dirty="0">
                  <a:solidFill>
                    <a:srgbClr val="003300"/>
                  </a:solidFill>
                </a:rPr>
                <a:t>2</a:t>
              </a:r>
              <a:r>
                <a:rPr lang="en-US" altLang="zh-CN" sz="2000" b="1" i="1" dirty="0">
                  <a:solidFill>
                    <a:srgbClr val="003300"/>
                  </a:solidFill>
                </a:rPr>
                <a:t>= wq</a:t>
              </a:r>
              <a:r>
                <a:rPr lang="en-US" altLang="zh-CN" sz="2000" b="1" baseline="-25000" dirty="0">
                  <a:solidFill>
                    <a:srgbClr val="003300"/>
                  </a:solidFill>
                </a:rPr>
                <a:t>1</a:t>
              </a:r>
              <a:endParaRPr lang="en-US" altLang="zh-CN" sz="2000" b="1" dirty="0">
                <a:solidFill>
                  <a:srgbClr val="0000CC"/>
                </a:solidFill>
              </a:endParaRPr>
            </a:p>
          </p:txBody>
        </p:sp>
      </p:grpSp>
      <p:grpSp>
        <p:nvGrpSpPr>
          <p:cNvPr id="178216" name="组合 3"/>
          <p:cNvGrpSpPr/>
          <p:nvPr/>
        </p:nvGrpSpPr>
        <p:grpSpPr>
          <a:xfrm>
            <a:off x="5718175" y="4013200"/>
            <a:ext cx="2354263" cy="2581275"/>
            <a:chOff x="5219885" y="3890827"/>
            <a:chExt cx="2353847" cy="2581720"/>
          </a:xfrm>
        </p:grpSpPr>
        <p:grpSp>
          <p:nvGrpSpPr>
            <p:cNvPr id="178253" name="组合 187"/>
            <p:cNvGrpSpPr/>
            <p:nvPr/>
          </p:nvGrpSpPr>
          <p:grpSpPr>
            <a:xfrm>
              <a:off x="5219885" y="3890827"/>
              <a:ext cx="2353847" cy="2581720"/>
              <a:chOff x="107880" y="3513909"/>
              <a:chExt cx="2353847" cy="2581720"/>
            </a:xfrm>
          </p:grpSpPr>
          <p:grpSp>
            <p:nvGrpSpPr>
              <p:cNvPr id="178256" name="组合 125"/>
              <p:cNvGrpSpPr/>
              <p:nvPr/>
            </p:nvGrpSpPr>
            <p:grpSpPr>
              <a:xfrm>
                <a:off x="107880" y="3513909"/>
                <a:ext cx="2353847" cy="2211939"/>
                <a:chOff x="5308530" y="1480702"/>
                <a:chExt cx="2353847" cy="2211939"/>
              </a:xfrm>
            </p:grpSpPr>
            <p:grpSp>
              <p:nvGrpSpPr>
                <p:cNvPr id="178258" name="组合 2"/>
                <p:cNvGrpSpPr/>
                <p:nvPr/>
              </p:nvGrpSpPr>
              <p:grpSpPr>
                <a:xfrm>
                  <a:off x="5308530" y="1480702"/>
                  <a:ext cx="2353847" cy="2211939"/>
                  <a:chOff x="4681304" y="4036948"/>
                  <a:chExt cx="1933176" cy="1774427"/>
                </a:xfrm>
              </p:grpSpPr>
              <p:grpSp>
                <p:nvGrpSpPr>
                  <p:cNvPr id="178268" name="Group 85"/>
                  <p:cNvGrpSpPr/>
                  <p:nvPr/>
                </p:nvGrpSpPr>
                <p:grpSpPr>
                  <a:xfrm>
                    <a:off x="4681304" y="4036948"/>
                    <a:ext cx="1933176" cy="1774427"/>
                    <a:chOff x="1820" y="393"/>
                    <a:chExt cx="2033" cy="1780"/>
                  </a:xfrm>
                </p:grpSpPr>
                <p:sp>
                  <p:nvSpPr>
                    <p:cNvPr id="178270" name="Rectangle 51"/>
                    <p:cNvSpPr/>
                    <p:nvPr/>
                  </p:nvSpPr>
                  <p:spPr>
                    <a:xfrm>
                      <a:off x="3423" y="1841"/>
                      <a:ext cx="382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>
                          <a:solidFill>
                            <a:srgbClr val="003300"/>
                          </a:solidFill>
                        </a:rPr>
                        <a:t>×</a:t>
                      </a:r>
                      <a:endParaRPr lang="en-US" altLang="zh-CN" sz="2000" b="1" dirty="0">
                        <a:solidFill>
                          <a:srgbClr val="003300"/>
                        </a:solidFill>
                        <a:ea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78271" name="Line 52"/>
                    <p:cNvSpPr/>
                    <p:nvPr/>
                  </p:nvSpPr>
                  <p:spPr>
                    <a:xfrm>
                      <a:off x="2414" y="1192"/>
                      <a:ext cx="1368" cy="0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CC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78272" name="Text Box 53"/>
                    <p:cNvSpPr txBox="1"/>
                    <p:nvPr/>
                  </p:nvSpPr>
                  <p:spPr>
                    <a:xfrm>
                      <a:off x="2374" y="619"/>
                      <a:ext cx="1474" cy="29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600" b="1" dirty="0">
                          <a:solidFill>
                            <a:srgbClr val="003300"/>
                          </a:solidFill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00   01   11   10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</p:txBody>
                </p:sp>
                <p:sp>
                  <p:nvSpPr>
                    <p:cNvPr id="178273" name="Text Box 54"/>
                    <p:cNvSpPr txBox="1"/>
                    <p:nvPr/>
                  </p:nvSpPr>
                  <p:spPr>
                    <a:xfrm>
                      <a:off x="2096" y="863"/>
                      <a:ext cx="536" cy="128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00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  <a:p>
                      <a:pPr marL="0" lvl="0" indent="0" defTabSz="914400" ea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01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  <a:p>
                      <a:pPr marL="0" lvl="0" indent="0" defTabSz="914400" ea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11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  <a:p>
                      <a:pPr marL="0" lvl="0" indent="0" defTabSz="914400" ea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10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</p:txBody>
                </p:sp>
                <p:sp>
                  <p:nvSpPr>
                    <p:cNvPr id="178274" name="Text Box 55"/>
                    <p:cNvSpPr txBox="1"/>
                    <p:nvPr/>
                  </p:nvSpPr>
                  <p:spPr>
                    <a:xfrm>
                      <a:off x="2075" y="393"/>
                      <a:ext cx="528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i="1" dirty="0">
                          <a:solidFill>
                            <a:srgbClr val="003300"/>
                          </a:solidFill>
                        </a:rPr>
                        <a:t>q</a:t>
                      </a:r>
                      <a:r>
                        <a:rPr lang="en-US" altLang="zh-CN" sz="2000" b="1" baseline="-25000" dirty="0">
                          <a:solidFill>
                            <a:srgbClr val="003300"/>
                          </a:solidFill>
                        </a:rPr>
                        <a:t>3</a:t>
                      </a:r>
                      <a:r>
                        <a:rPr lang="en-US" altLang="zh-CN" sz="2000" b="1" i="1" dirty="0">
                          <a:solidFill>
                            <a:srgbClr val="003300"/>
                          </a:solidFill>
                        </a:rPr>
                        <a:t>q</a:t>
                      </a:r>
                      <a:r>
                        <a:rPr lang="en-US" altLang="zh-CN" sz="2000" b="1" baseline="-25000" dirty="0">
                          <a:solidFill>
                            <a:srgbClr val="003300"/>
                          </a:solidFill>
                        </a:rPr>
                        <a:t>2</a:t>
                      </a:r>
                      <a:endParaRPr lang="en-US" altLang="zh-CN" sz="2000" b="1" baseline="-25000" dirty="0">
                        <a:solidFill>
                          <a:srgbClr val="003300"/>
                        </a:solidFill>
                      </a:endParaRPr>
                    </a:p>
                  </p:txBody>
                </p:sp>
                <p:sp>
                  <p:nvSpPr>
                    <p:cNvPr id="178275" name="Text Box 56"/>
                    <p:cNvSpPr txBox="1"/>
                    <p:nvPr/>
                  </p:nvSpPr>
                  <p:spPr>
                    <a:xfrm>
                      <a:off x="1820" y="643"/>
                      <a:ext cx="492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i="1" dirty="0">
                          <a:solidFill>
                            <a:srgbClr val="003300"/>
                          </a:solidFill>
                        </a:rPr>
                        <a:t>q</a:t>
                      </a:r>
                      <a:r>
                        <a:rPr lang="en-US" altLang="zh-CN" sz="2000" b="1" baseline="-25000" dirty="0">
                          <a:solidFill>
                            <a:srgbClr val="003300"/>
                          </a:solidFill>
                        </a:rPr>
                        <a:t>1</a:t>
                      </a:r>
                      <a:r>
                        <a:rPr lang="en-US" altLang="zh-CN" sz="2000" b="1" i="1" dirty="0">
                          <a:solidFill>
                            <a:srgbClr val="003300"/>
                          </a:solidFill>
                        </a:rPr>
                        <a:t>w</a:t>
                      </a:r>
                      <a:endParaRPr lang="en-US" altLang="zh-CN" sz="2000" b="1" baseline="-25000" dirty="0">
                        <a:solidFill>
                          <a:srgbClr val="003300"/>
                        </a:solidFill>
                      </a:endParaRPr>
                    </a:p>
                  </p:txBody>
                </p:sp>
                <p:grpSp>
                  <p:nvGrpSpPr>
                    <p:cNvPr id="178276" name="Group 58"/>
                    <p:cNvGrpSpPr/>
                    <p:nvPr/>
                  </p:nvGrpSpPr>
                  <p:grpSpPr>
                    <a:xfrm>
                      <a:off x="2408" y="870"/>
                      <a:ext cx="1369" cy="1303"/>
                      <a:chOff x="520" y="702"/>
                      <a:chExt cx="949" cy="1083"/>
                    </a:xfrm>
                  </p:grpSpPr>
                  <p:sp>
                    <p:nvSpPr>
                      <p:cNvPr id="178285" name="Rectangle 59"/>
                      <p:cNvSpPr/>
                      <p:nvPr/>
                    </p:nvSpPr>
                    <p:spPr>
                      <a:xfrm>
                        <a:off x="520" y="702"/>
                        <a:ext cx="949" cy="1083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rgbClr val="00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CC"/>
                          </a:buClr>
                          <a:buSzPct val="80000"/>
                          <a:buFont typeface="Wingdings" panose="05000000000000000000" pitchFamily="2" charset="2"/>
                          <a:buChar char="o"/>
                          <a:defRPr sz="3000" b="1">
                            <a:solidFill>
                              <a:srgbClr val="0000FF"/>
                            </a:solidFill>
                            <a:latin typeface="Arial Narrow" panose="020B0606020202030204" pitchFamily="34" charset="0"/>
                            <a:ea typeface="楷体_GB2312" charset="-122"/>
                            <a:cs typeface="楷体_GB2312" charset="-122"/>
                          </a:defRPr>
                        </a:lvl2pPr>
                        <a:lvl3pPr marL="1143000" indent="-22860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CC"/>
                          </a:buClr>
                          <a:buSzPct val="80000"/>
                          <a:buFont typeface="Wingdings" panose="05000000000000000000" pitchFamily="2" charset="2"/>
                          <a:buChar char="n"/>
                          <a:defRPr sz="3000" b="1">
                            <a:solidFill>
                              <a:srgbClr val="0000FF"/>
                            </a:solidFill>
                            <a:latin typeface="Arial Narrow" panose="020B0606020202030204" pitchFamily="34" charset="0"/>
                            <a:ea typeface="楷体_GB2312" charset="-122"/>
                            <a:cs typeface="楷体_GB2312" charset="-122"/>
                          </a:defRPr>
                        </a:lvl3pPr>
                        <a:lvl4pPr marL="1600200" indent="-22860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CC"/>
                          </a:buClr>
                          <a:buSzPct val="80000"/>
                          <a:buFont typeface="Wingdings" panose="05000000000000000000" pitchFamily="2" charset="2"/>
                          <a:buChar char="o"/>
                          <a:defRPr sz="2800" b="1">
                            <a:solidFill>
                              <a:srgbClr val="0000FF"/>
                            </a:solidFill>
                            <a:latin typeface="Arial Narrow" panose="020B0606020202030204" pitchFamily="34" charset="0"/>
                            <a:ea typeface="楷体_GB2312" charset="-122"/>
                            <a:cs typeface="楷体_GB2312" charset="-122"/>
                          </a:defRPr>
                        </a:lvl4pPr>
                        <a:lvl5pPr marL="2057400" indent="-22860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CC"/>
                          </a:buClr>
                          <a:buSzPct val="80000"/>
                          <a:buFont typeface="Wingdings" panose="05000000000000000000" pitchFamily="2" charset="2"/>
                          <a:buChar char="o"/>
                          <a:defRPr sz="2800" b="1">
                            <a:solidFill>
                              <a:srgbClr val="0000FF"/>
                            </a:solidFill>
                            <a:latin typeface="Arial Narrow" panose="020B0606020202030204" pitchFamily="34" charset="0"/>
                            <a:ea typeface="楷体_GB2312" charset="-122"/>
                            <a:cs typeface="楷体_GB2312" charset="-122"/>
                          </a:defRPr>
                        </a:lvl5pPr>
                      </a:lstStyle>
                      <a:p>
                        <a:pPr marL="0" lvl="0" indent="0" eaLnBrk="1" hangingPunct="1">
                          <a:lnSpc>
                            <a:spcPct val="120000"/>
                          </a:lnSpc>
                          <a:spcBef>
                            <a:spcPct val="50000"/>
                          </a:spcBef>
                        </a:pPr>
                        <a:endParaRPr lang="zh-CN" altLang="en-US" sz="2000" b="1" dirty="0">
                          <a:solidFill>
                            <a:srgbClr val="003300"/>
                          </a:solidFill>
                        </a:endParaRPr>
                      </a:p>
                    </p:txBody>
                  </p:sp>
                  <p:grpSp>
                    <p:nvGrpSpPr>
                      <p:cNvPr id="178286" name="Group 60"/>
                      <p:cNvGrpSpPr/>
                      <p:nvPr/>
                    </p:nvGrpSpPr>
                    <p:grpSpPr>
                      <a:xfrm>
                        <a:off x="761" y="710"/>
                        <a:ext cx="478" cy="1064"/>
                        <a:chOff x="761" y="710"/>
                        <a:chExt cx="478" cy="1042"/>
                      </a:xfrm>
                    </p:grpSpPr>
                    <p:sp>
                      <p:nvSpPr>
                        <p:cNvPr id="178287" name="Line 61"/>
                        <p:cNvSpPr/>
                        <p:nvPr/>
                      </p:nvSpPr>
                      <p:spPr>
                        <a:xfrm>
                          <a:off x="761" y="710"/>
                          <a:ext cx="0" cy="1037"/>
                        </a:xfrm>
                        <a:prstGeom prst="line">
                          <a:avLst/>
                        </a:prstGeom>
                        <a:ln w="28575" cap="flat" cmpd="sng">
                          <a:solidFill>
                            <a:srgbClr val="0000CC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178288" name="Line 62"/>
                        <p:cNvSpPr/>
                        <p:nvPr/>
                      </p:nvSpPr>
                      <p:spPr>
                        <a:xfrm>
                          <a:off x="994" y="711"/>
                          <a:ext cx="0" cy="1041"/>
                        </a:xfrm>
                        <a:prstGeom prst="line">
                          <a:avLst/>
                        </a:prstGeom>
                        <a:ln w="28575" cap="flat" cmpd="sng">
                          <a:solidFill>
                            <a:srgbClr val="0000CC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178289" name="Line 63"/>
                        <p:cNvSpPr/>
                        <p:nvPr/>
                      </p:nvSpPr>
                      <p:spPr>
                        <a:xfrm>
                          <a:off x="1239" y="710"/>
                          <a:ext cx="0" cy="1041"/>
                        </a:xfrm>
                        <a:prstGeom prst="line">
                          <a:avLst/>
                        </a:prstGeom>
                        <a:ln w="28575" cap="flat" cmpd="sng">
                          <a:solidFill>
                            <a:srgbClr val="0000CC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</p:grpSp>
                </p:grpSp>
                <p:sp>
                  <p:nvSpPr>
                    <p:cNvPr id="178277" name="Line 64"/>
                    <p:cNvSpPr/>
                    <p:nvPr/>
                  </p:nvSpPr>
                  <p:spPr>
                    <a:xfrm>
                      <a:off x="2401" y="1528"/>
                      <a:ext cx="1368" cy="0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CC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78278" name="Line 65"/>
                    <p:cNvSpPr/>
                    <p:nvPr/>
                  </p:nvSpPr>
                  <p:spPr>
                    <a:xfrm>
                      <a:off x="2409" y="1859"/>
                      <a:ext cx="1368" cy="0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CC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78279" name="Rectangle 67"/>
                    <p:cNvSpPr/>
                    <p:nvPr/>
                  </p:nvSpPr>
                  <p:spPr>
                    <a:xfrm>
                      <a:off x="3075" y="888"/>
                      <a:ext cx="382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>
                          <a:solidFill>
                            <a:srgbClr val="003300"/>
                          </a:solidFill>
                        </a:rPr>
                        <a:t>×</a:t>
                      </a:r>
                      <a:endParaRPr lang="en-US" altLang="zh-CN" sz="2000" b="1" dirty="0">
                        <a:solidFill>
                          <a:srgbClr val="003300"/>
                        </a:solidFill>
                        <a:ea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78280" name="Text Box 70"/>
                    <p:cNvSpPr txBox="1"/>
                    <p:nvPr/>
                  </p:nvSpPr>
                  <p:spPr>
                    <a:xfrm>
                      <a:off x="3082" y="1508"/>
                      <a:ext cx="279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>
                          <a:solidFill>
                            <a:srgbClr val="003300"/>
                          </a:solidFill>
                        </a:rPr>
                        <a:t>×</a:t>
                      </a:r>
                      <a:endParaRPr lang="en-US" altLang="zh-CN" sz="2000" b="1" dirty="0">
                        <a:solidFill>
                          <a:srgbClr val="003300"/>
                        </a:solidFill>
                        <a:ea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78281" name="Rectangle 73"/>
                    <p:cNvSpPr/>
                    <p:nvPr/>
                  </p:nvSpPr>
                  <p:spPr>
                    <a:xfrm>
                      <a:off x="3072" y="1177"/>
                      <a:ext cx="382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>
                          <a:solidFill>
                            <a:srgbClr val="003300"/>
                          </a:solidFill>
                        </a:rPr>
                        <a:t>×</a:t>
                      </a:r>
                      <a:endParaRPr lang="en-US" altLang="zh-CN" sz="2000" b="1" dirty="0">
                        <a:solidFill>
                          <a:srgbClr val="003300"/>
                        </a:solidFill>
                        <a:ea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78282" name="Text Box 76"/>
                    <p:cNvSpPr txBox="1"/>
                    <p:nvPr/>
                  </p:nvSpPr>
                  <p:spPr>
                    <a:xfrm>
                      <a:off x="3487" y="851"/>
                      <a:ext cx="366" cy="3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/>
                        <a:t>1</a:t>
                      </a:r>
                      <a:endParaRPr lang="en-US" altLang="zh-CN" sz="2000" b="1" dirty="0"/>
                    </a:p>
                  </p:txBody>
                </p:sp>
                <p:sp>
                  <p:nvSpPr>
                    <p:cNvPr id="178283" name="Line 79"/>
                    <p:cNvSpPr/>
                    <p:nvPr/>
                  </p:nvSpPr>
                  <p:spPr>
                    <a:xfrm>
                      <a:off x="2010" y="587"/>
                      <a:ext cx="396" cy="297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CC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78284" name="Text Box 80"/>
                    <p:cNvSpPr txBox="1"/>
                    <p:nvPr/>
                  </p:nvSpPr>
                  <p:spPr>
                    <a:xfrm>
                      <a:off x="2404" y="890"/>
                      <a:ext cx="263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>
                          <a:solidFill>
                            <a:srgbClr val="003300"/>
                          </a:solidFill>
                        </a:rPr>
                        <a:t>×</a:t>
                      </a:r>
                      <a:endParaRPr lang="en-US" altLang="zh-CN" sz="2000" b="1" dirty="0">
                        <a:solidFill>
                          <a:srgbClr val="003300"/>
                        </a:solidFill>
                        <a:ea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78269" name="Rectangle 51"/>
                  <p:cNvSpPr/>
                  <p:nvPr/>
                </p:nvSpPr>
                <p:spPr>
                  <a:xfrm>
                    <a:off x="6208460" y="5152607"/>
                    <a:ext cx="363624" cy="32097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rgbClr val="003300"/>
                        </a:solidFill>
                      </a:rPr>
                      <a:t>×</a:t>
                    </a:r>
                    <a:endParaRPr lang="en-US" altLang="zh-CN" sz="2000" b="1" dirty="0">
                      <a:solidFill>
                        <a:srgbClr val="003300"/>
                      </a:solidFill>
                      <a:ea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78259" name="Text Box 80"/>
                <p:cNvSpPr txBox="1"/>
                <p:nvPr/>
              </p:nvSpPr>
              <p:spPr>
                <a:xfrm>
                  <a:off x="6438950" y="2063877"/>
                  <a:ext cx="288925" cy="43021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1</a:t>
                  </a:r>
                  <a:endParaRPr lang="en-US" altLang="zh-CN" sz="2000" b="1" dirty="0"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78260" name="Text Box 80"/>
                <p:cNvSpPr txBox="1"/>
                <p:nvPr/>
              </p:nvSpPr>
              <p:spPr>
                <a:xfrm>
                  <a:off x="5980063" y="2472141"/>
                  <a:ext cx="289454" cy="4001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×</a:t>
                  </a:r>
                  <a:endParaRPr lang="en-US" altLang="zh-CN" sz="2000" b="1" dirty="0">
                    <a:solidFill>
                      <a:srgbClr val="003300"/>
                    </a:solidFill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78261" name="Text Box 80"/>
                <p:cNvSpPr txBox="1"/>
                <p:nvPr/>
              </p:nvSpPr>
              <p:spPr>
                <a:xfrm>
                  <a:off x="7244364" y="2429729"/>
                  <a:ext cx="289454" cy="44611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0</a:t>
                  </a:r>
                  <a:endParaRPr lang="en-US" altLang="zh-CN" sz="2000" b="1" dirty="0"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78262" name="Rectangle 51"/>
                <p:cNvSpPr/>
                <p:nvPr/>
              </p:nvSpPr>
              <p:spPr>
                <a:xfrm>
                  <a:off x="6443416" y="2449540"/>
                  <a:ext cx="312762" cy="40024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0</a:t>
                  </a:r>
                  <a:endParaRPr lang="en-US" altLang="zh-CN" sz="2000" b="1" dirty="0"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78263" name="Rectangle 51"/>
                <p:cNvSpPr/>
                <p:nvPr/>
              </p:nvSpPr>
              <p:spPr>
                <a:xfrm>
                  <a:off x="6038530" y="2864014"/>
                  <a:ext cx="312762" cy="40024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0</a:t>
                  </a:r>
                  <a:endParaRPr lang="en-US" altLang="zh-CN" sz="2000" b="1" dirty="0"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78264" name="Rectangle 51"/>
                <p:cNvSpPr/>
                <p:nvPr/>
              </p:nvSpPr>
              <p:spPr>
                <a:xfrm>
                  <a:off x="6364960" y="2867548"/>
                  <a:ext cx="442750" cy="4001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×</a:t>
                  </a:r>
                  <a:endParaRPr lang="en-US" altLang="zh-CN" sz="2000" b="1" dirty="0">
                    <a:solidFill>
                      <a:srgbClr val="003300"/>
                    </a:solidFill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78265" name="Rectangle 51"/>
                <p:cNvSpPr/>
                <p:nvPr/>
              </p:nvSpPr>
              <p:spPr>
                <a:xfrm>
                  <a:off x="6034570" y="3275900"/>
                  <a:ext cx="312762" cy="40024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1</a:t>
                  </a:r>
                  <a:endParaRPr lang="en-US" altLang="zh-CN" sz="2000" b="1" dirty="0"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78266" name="Rectangle 51"/>
                <p:cNvSpPr/>
                <p:nvPr/>
              </p:nvSpPr>
              <p:spPr>
                <a:xfrm>
                  <a:off x="6359171" y="3269108"/>
                  <a:ext cx="442750" cy="4001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×</a:t>
                  </a:r>
                  <a:endParaRPr lang="en-US" altLang="zh-CN" sz="2000" b="1" dirty="0">
                    <a:solidFill>
                      <a:srgbClr val="003300"/>
                    </a:solidFill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78267" name="Rectangle 51"/>
                <p:cNvSpPr/>
                <p:nvPr/>
              </p:nvSpPr>
              <p:spPr>
                <a:xfrm>
                  <a:off x="6769467" y="3289146"/>
                  <a:ext cx="442750" cy="4001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×</a:t>
                  </a:r>
                  <a:endParaRPr lang="en-US" altLang="zh-CN" sz="2000" b="1" dirty="0">
                    <a:solidFill>
                      <a:srgbClr val="003300"/>
                    </a:solidFill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78257" name="Rectangle 5"/>
              <p:cNvSpPr/>
              <p:nvPr/>
            </p:nvSpPr>
            <p:spPr>
              <a:xfrm>
                <a:off x="693253" y="5664003"/>
                <a:ext cx="1322960" cy="43162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669925" algn="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i="1" dirty="0">
                    <a:solidFill>
                      <a:srgbClr val="003300"/>
                    </a:solidFill>
                  </a:rPr>
                  <a:t>Q</a:t>
                </a:r>
                <a:r>
                  <a:rPr lang="en-US" altLang="zh-CN" sz="2000" b="1" baseline="-25000" dirty="0">
                    <a:solidFill>
                      <a:srgbClr val="003300"/>
                    </a:solidFill>
                  </a:rPr>
                  <a:t>1</a:t>
                </a:r>
                <a:r>
                  <a:rPr lang="en-US" altLang="zh-CN" sz="2000" b="1" i="1" dirty="0">
                    <a:solidFill>
                      <a:srgbClr val="003300"/>
                    </a:solidFill>
                  </a:rPr>
                  <a:t>= w'</a:t>
                </a:r>
                <a:endParaRPr lang="en-US" altLang="zh-CN" sz="2000" b="1" dirty="0">
                  <a:solidFill>
                    <a:srgbClr val="0000CC"/>
                  </a:solidFill>
                </a:endParaRPr>
              </a:p>
            </p:txBody>
          </p:sp>
        </p:grpSp>
        <p:sp>
          <p:nvSpPr>
            <p:cNvPr id="178254" name="AutoShape 47"/>
            <p:cNvSpPr/>
            <p:nvPr/>
          </p:nvSpPr>
          <p:spPr>
            <a:xfrm rot="-5400000" flipV="1">
              <a:off x="6524607" y="3949738"/>
              <a:ext cx="323391" cy="1456788"/>
            </a:xfrm>
            <a:prstGeom prst="leftBracket">
              <a:avLst>
                <a:gd name="adj" fmla="val 28947"/>
              </a:avLst>
            </a:prstGeom>
            <a:solidFill>
              <a:srgbClr val="FFC000">
                <a:alpha val="39999"/>
              </a:srgbClr>
            </a:solidFill>
            <a:ln w="22225" cap="flat" cmpd="sng">
              <a:solidFill>
                <a:srgbClr val="00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</a:pPr>
              <a:endParaRPr lang="zh-CN" altLang="en-US" sz="2000" b="1" dirty="0">
                <a:solidFill>
                  <a:srgbClr val="003300"/>
                </a:solidFill>
              </a:endParaRPr>
            </a:p>
          </p:txBody>
        </p:sp>
        <p:sp>
          <p:nvSpPr>
            <p:cNvPr id="178255" name="AutoShape 47"/>
            <p:cNvSpPr/>
            <p:nvPr/>
          </p:nvSpPr>
          <p:spPr>
            <a:xfrm rot="-5400000" flipH="1" flipV="1">
              <a:off x="6550096" y="5169236"/>
              <a:ext cx="302620" cy="1486978"/>
            </a:xfrm>
            <a:prstGeom prst="leftBracket">
              <a:avLst>
                <a:gd name="adj" fmla="val 28958"/>
              </a:avLst>
            </a:prstGeom>
            <a:solidFill>
              <a:srgbClr val="FFC000">
                <a:alpha val="39999"/>
              </a:srgbClr>
            </a:solidFill>
            <a:ln w="22225" cap="flat" cmpd="sng">
              <a:solidFill>
                <a:srgbClr val="00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</a:pPr>
              <a:endParaRPr lang="zh-CN" altLang="en-US" sz="2000" b="1" dirty="0">
                <a:solidFill>
                  <a:srgbClr val="003300"/>
                </a:solidFill>
              </a:endParaRPr>
            </a:p>
          </p:txBody>
        </p:sp>
      </p:grpSp>
      <p:grpSp>
        <p:nvGrpSpPr>
          <p:cNvPr id="178217" name="组合 225"/>
          <p:cNvGrpSpPr/>
          <p:nvPr/>
        </p:nvGrpSpPr>
        <p:grpSpPr>
          <a:xfrm>
            <a:off x="844550" y="1222375"/>
            <a:ext cx="2354263" cy="2598738"/>
            <a:chOff x="107880" y="3513909"/>
            <a:chExt cx="2353847" cy="2599476"/>
          </a:xfrm>
        </p:grpSpPr>
        <p:sp>
          <p:nvSpPr>
            <p:cNvPr id="178218" name="矩形: 圆角 40"/>
            <p:cNvSpPr/>
            <p:nvPr/>
          </p:nvSpPr>
          <p:spPr>
            <a:xfrm>
              <a:off x="1633515" y="4153443"/>
              <a:ext cx="666115" cy="1509669"/>
            </a:xfrm>
            <a:prstGeom prst="roundRect">
              <a:avLst>
                <a:gd name="adj" fmla="val 16667"/>
              </a:avLst>
            </a:prstGeom>
            <a:solidFill>
              <a:srgbClr val="990099">
                <a:alpha val="39999"/>
              </a:srgbClr>
            </a:solidFill>
            <a:ln w="12700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800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8219" name="组合 125"/>
            <p:cNvGrpSpPr/>
            <p:nvPr/>
          </p:nvGrpSpPr>
          <p:grpSpPr>
            <a:xfrm>
              <a:off x="107880" y="3513909"/>
              <a:ext cx="2353847" cy="2211939"/>
              <a:chOff x="5308530" y="1480702"/>
              <a:chExt cx="2353847" cy="2211939"/>
            </a:xfrm>
          </p:grpSpPr>
          <p:grpSp>
            <p:nvGrpSpPr>
              <p:cNvPr id="178221" name="组合 2"/>
              <p:cNvGrpSpPr/>
              <p:nvPr/>
            </p:nvGrpSpPr>
            <p:grpSpPr>
              <a:xfrm>
                <a:off x="5308530" y="1480702"/>
                <a:ext cx="2353847" cy="2211939"/>
                <a:chOff x="4681304" y="4036948"/>
                <a:chExt cx="1933176" cy="1774427"/>
              </a:xfrm>
            </p:grpSpPr>
            <p:grpSp>
              <p:nvGrpSpPr>
                <p:cNvPr id="178231" name="Group 85"/>
                <p:cNvGrpSpPr/>
                <p:nvPr/>
              </p:nvGrpSpPr>
              <p:grpSpPr>
                <a:xfrm>
                  <a:off x="4681304" y="4036948"/>
                  <a:ext cx="1933176" cy="1774427"/>
                  <a:chOff x="1820" y="393"/>
                  <a:chExt cx="2033" cy="1780"/>
                </a:xfrm>
              </p:grpSpPr>
              <p:sp>
                <p:nvSpPr>
                  <p:cNvPr id="178233" name="Rectangle 51"/>
                  <p:cNvSpPr/>
                  <p:nvPr/>
                </p:nvSpPr>
                <p:spPr>
                  <a:xfrm>
                    <a:off x="3423" y="1841"/>
                    <a:ext cx="382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rgbClr val="003300"/>
                        </a:solidFill>
                      </a:rPr>
                      <a:t>×</a:t>
                    </a:r>
                    <a:endParaRPr lang="en-US" altLang="zh-CN" sz="2000" b="1" dirty="0">
                      <a:solidFill>
                        <a:srgbClr val="003300"/>
                      </a:solidFill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234" name="Line 52"/>
                  <p:cNvSpPr/>
                  <p:nvPr/>
                </p:nvSpPr>
                <p:spPr>
                  <a:xfrm>
                    <a:off x="2414" y="1192"/>
                    <a:ext cx="1368" cy="0"/>
                  </a:xfrm>
                  <a:prstGeom prst="line">
                    <a:avLst/>
                  </a:prstGeom>
                  <a:ln w="28575" cap="flat" cmpd="sng">
                    <a:solidFill>
                      <a:srgbClr val="0000CC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78235" name="Text Box 53"/>
                  <p:cNvSpPr txBox="1"/>
                  <p:nvPr/>
                </p:nvSpPr>
                <p:spPr>
                  <a:xfrm>
                    <a:off x="2374" y="619"/>
                    <a:ext cx="1474" cy="29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defTabSz="914400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tabLst>
                        <a:tab pos="758825" algn="l"/>
                      </a:tabLst>
                    </a:pPr>
                    <a:r>
                      <a:rPr lang="en-US" altLang="zh-CN" sz="1600" b="1" dirty="0">
                        <a:solidFill>
                          <a:srgbClr val="003300"/>
                        </a:solidFill>
                      </a:rPr>
                      <a:t> </a:t>
                    </a:r>
                    <a:r>
                      <a:rPr lang="en-US" altLang="zh-CN" sz="1800" b="1" dirty="0">
                        <a:solidFill>
                          <a:srgbClr val="003300"/>
                        </a:solidFill>
                      </a:rPr>
                      <a:t>00   01   11   10</a:t>
                    </a:r>
                    <a:endParaRPr lang="en-US" altLang="zh-CN" sz="1800" b="1" dirty="0">
                      <a:solidFill>
                        <a:srgbClr val="003300"/>
                      </a:solidFill>
                    </a:endParaRPr>
                  </a:p>
                </p:txBody>
              </p:sp>
              <p:sp>
                <p:nvSpPr>
                  <p:cNvPr id="178236" name="Text Box 54"/>
                  <p:cNvSpPr txBox="1"/>
                  <p:nvPr/>
                </p:nvSpPr>
                <p:spPr>
                  <a:xfrm>
                    <a:off x="2096" y="863"/>
                    <a:ext cx="536" cy="1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defTabSz="914400" eaLnBrk="1" hangingPunct="1">
                      <a:lnSpc>
                        <a:spcPct val="140000"/>
                      </a:lnSpc>
                      <a:spcBef>
                        <a:spcPct val="0"/>
                      </a:spcBef>
                      <a:tabLst>
                        <a:tab pos="758825" algn="l"/>
                      </a:tabLst>
                    </a:pPr>
                    <a:r>
                      <a:rPr lang="en-US" altLang="zh-CN" sz="1800" b="1" dirty="0">
                        <a:solidFill>
                          <a:srgbClr val="003300"/>
                        </a:solidFill>
                      </a:rPr>
                      <a:t>00</a:t>
                    </a:r>
                    <a:endParaRPr lang="en-US" altLang="zh-CN" sz="1800" b="1" dirty="0">
                      <a:solidFill>
                        <a:srgbClr val="003300"/>
                      </a:solidFill>
                    </a:endParaRPr>
                  </a:p>
                  <a:p>
                    <a:pPr marL="0" lvl="0" indent="0" defTabSz="914400" eaLnBrk="1" hangingPunct="1">
                      <a:lnSpc>
                        <a:spcPct val="140000"/>
                      </a:lnSpc>
                      <a:spcBef>
                        <a:spcPct val="0"/>
                      </a:spcBef>
                      <a:tabLst>
                        <a:tab pos="758825" algn="l"/>
                      </a:tabLst>
                    </a:pPr>
                    <a:r>
                      <a:rPr lang="en-US" altLang="zh-CN" sz="1800" b="1" dirty="0">
                        <a:solidFill>
                          <a:srgbClr val="003300"/>
                        </a:solidFill>
                      </a:rPr>
                      <a:t>01</a:t>
                    </a:r>
                    <a:endParaRPr lang="en-US" altLang="zh-CN" sz="1800" b="1" dirty="0">
                      <a:solidFill>
                        <a:srgbClr val="003300"/>
                      </a:solidFill>
                    </a:endParaRPr>
                  </a:p>
                  <a:p>
                    <a:pPr marL="0" lvl="0" indent="0" defTabSz="914400" eaLnBrk="1" hangingPunct="1">
                      <a:lnSpc>
                        <a:spcPct val="140000"/>
                      </a:lnSpc>
                      <a:spcBef>
                        <a:spcPct val="0"/>
                      </a:spcBef>
                      <a:tabLst>
                        <a:tab pos="758825" algn="l"/>
                      </a:tabLst>
                    </a:pPr>
                    <a:r>
                      <a:rPr lang="en-US" altLang="zh-CN" sz="1800" b="1" dirty="0">
                        <a:solidFill>
                          <a:srgbClr val="003300"/>
                        </a:solidFill>
                      </a:rPr>
                      <a:t>11</a:t>
                    </a:r>
                    <a:endParaRPr lang="en-US" altLang="zh-CN" sz="1800" b="1" dirty="0">
                      <a:solidFill>
                        <a:srgbClr val="003300"/>
                      </a:solidFill>
                    </a:endParaRPr>
                  </a:p>
                  <a:p>
                    <a:pPr marL="0" lvl="0" indent="0" defTabSz="914400" eaLnBrk="1" hangingPunct="1">
                      <a:lnSpc>
                        <a:spcPct val="140000"/>
                      </a:lnSpc>
                      <a:spcBef>
                        <a:spcPct val="0"/>
                      </a:spcBef>
                      <a:tabLst>
                        <a:tab pos="758825" algn="l"/>
                      </a:tabLst>
                    </a:pPr>
                    <a:r>
                      <a:rPr lang="en-US" altLang="zh-CN" sz="1800" b="1" dirty="0">
                        <a:solidFill>
                          <a:srgbClr val="003300"/>
                        </a:solidFill>
                      </a:rPr>
                      <a:t>10</a:t>
                    </a:r>
                    <a:endParaRPr lang="en-US" altLang="zh-CN" sz="1800" b="1" dirty="0">
                      <a:solidFill>
                        <a:srgbClr val="003300"/>
                      </a:solidFill>
                    </a:endParaRPr>
                  </a:p>
                </p:txBody>
              </p:sp>
              <p:sp>
                <p:nvSpPr>
                  <p:cNvPr id="178237" name="Text Box 55"/>
                  <p:cNvSpPr txBox="1"/>
                  <p:nvPr/>
                </p:nvSpPr>
                <p:spPr>
                  <a:xfrm>
                    <a:off x="2075" y="393"/>
                    <a:ext cx="528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i="1" dirty="0">
                        <a:solidFill>
                          <a:srgbClr val="003300"/>
                        </a:solidFill>
                      </a:rPr>
                      <a:t>q</a:t>
                    </a:r>
                    <a:r>
                      <a:rPr lang="en-US" altLang="zh-CN" sz="2000" b="1" baseline="-25000" dirty="0">
                        <a:solidFill>
                          <a:srgbClr val="003300"/>
                        </a:solidFill>
                      </a:rPr>
                      <a:t>3</a:t>
                    </a:r>
                    <a:r>
                      <a:rPr lang="en-US" altLang="zh-CN" sz="2000" b="1" i="1" dirty="0">
                        <a:solidFill>
                          <a:srgbClr val="003300"/>
                        </a:solidFill>
                      </a:rPr>
                      <a:t>q</a:t>
                    </a:r>
                    <a:r>
                      <a:rPr lang="en-US" altLang="zh-CN" sz="2000" b="1" baseline="-25000" dirty="0">
                        <a:solidFill>
                          <a:srgbClr val="003300"/>
                        </a:solidFill>
                      </a:rPr>
                      <a:t>2</a:t>
                    </a:r>
                    <a:endParaRPr lang="en-US" altLang="zh-CN" sz="2000" b="1" baseline="-25000" dirty="0">
                      <a:solidFill>
                        <a:srgbClr val="003300"/>
                      </a:solidFill>
                    </a:endParaRPr>
                  </a:p>
                </p:txBody>
              </p:sp>
              <p:sp>
                <p:nvSpPr>
                  <p:cNvPr id="178238" name="Text Box 56"/>
                  <p:cNvSpPr txBox="1"/>
                  <p:nvPr/>
                </p:nvSpPr>
                <p:spPr>
                  <a:xfrm>
                    <a:off x="1820" y="643"/>
                    <a:ext cx="492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i="1" dirty="0">
                        <a:solidFill>
                          <a:srgbClr val="003300"/>
                        </a:solidFill>
                      </a:rPr>
                      <a:t>q</a:t>
                    </a:r>
                    <a:r>
                      <a:rPr lang="en-US" altLang="zh-CN" sz="2000" b="1" baseline="-25000" dirty="0">
                        <a:solidFill>
                          <a:srgbClr val="003300"/>
                        </a:solidFill>
                      </a:rPr>
                      <a:t>1</a:t>
                    </a:r>
                    <a:r>
                      <a:rPr lang="en-US" altLang="zh-CN" sz="2000" b="1" i="1" dirty="0">
                        <a:solidFill>
                          <a:srgbClr val="003300"/>
                        </a:solidFill>
                      </a:rPr>
                      <a:t>w</a:t>
                    </a:r>
                    <a:endParaRPr lang="en-US" altLang="zh-CN" sz="2000" b="1" baseline="-25000" dirty="0">
                      <a:solidFill>
                        <a:srgbClr val="003300"/>
                      </a:solidFill>
                    </a:endParaRPr>
                  </a:p>
                </p:txBody>
              </p:sp>
              <p:grpSp>
                <p:nvGrpSpPr>
                  <p:cNvPr id="178239" name="Group 58"/>
                  <p:cNvGrpSpPr/>
                  <p:nvPr/>
                </p:nvGrpSpPr>
                <p:grpSpPr>
                  <a:xfrm>
                    <a:off x="2408" y="870"/>
                    <a:ext cx="1369" cy="1303"/>
                    <a:chOff x="520" y="702"/>
                    <a:chExt cx="949" cy="1083"/>
                  </a:xfrm>
                </p:grpSpPr>
                <p:sp>
                  <p:nvSpPr>
                    <p:cNvPr id="178248" name="Rectangle 59"/>
                    <p:cNvSpPr/>
                    <p:nvPr/>
                  </p:nvSpPr>
                  <p:spPr>
                    <a:xfrm>
                      <a:off x="520" y="702"/>
                      <a:ext cx="949" cy="1083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rgbClr val="0000CC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</a:pPr>
                      <a:endParaRPr lang="zh-CN" altLang="en-US" sz="2000" b="1" dirty="0">
                        <a:solidFill>
                          <a:srgbClr val="003300"/>
                        </a:solidFill>
                      </a:endParaRPr>
                    </a:p>
                  </p:txBody>
                </p:sp>
                <p:grpSp>
                  <p:nvGrpSpPr>
                    <p:cNvPr id="178249" name="Group 60"/>
                    <p:cNvGrpSpPr/>
                    <p:nvPr/>
                  </p:nvGrpSpPr>
                  <p:grpSpPr>
                    <a:xfrm>
                      <a:off x="761" y="710"/>
                      <a:ext cx="478" cy="1064"/>
                      <a:chOff x="761" y="710"/>
                      <a:chExt cx="478" cy="1042"/>
                    </a:xfrm>
                  </p:grpSpPr>
                  <p:sp>
                    <p:nvSpPr>
                      <p:cNvPr id="178250" name="Line 61"/>
                      <p:cNvSpPr/>
                      <p:nvPr/>
                    </p:nvSpPr>
                    <p:spPr>
                      <a:xfrm>
                        <a:off x="761" y="710"/>
                        <a:ext cx="0" cy="1037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rgbClr val="0000CC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178251" name="Line 62"/>
                      <p:cNvSpPr/>
                      <p:nvPr/>
                    </p:nvSpPr>
                    <p:spPr>
                      <a:xfrm>
                        <a:off x="994" y="711"/>
                        <a:ext cx="0" cy="1041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rgbClr val="0000CC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178252" name="Line 63"/>
                      <p:cNvSpPr/>
                      <p:nvPr/>
                    </p:nvSpPr>
                    <p:spPr>
                      <a:xfrm>
                        <a:off x="1239" y="710"/>
                        <a:ext cx="0" cy="1041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rgbClr val="0000CC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</p:grpSp>
              <p:sp>
                <p:nvSpPr>
                  <p:cNvPr id="178240" name="Line 64"/>
                  <p:cNvSpPr/>
                  <p:nvPr/>
                </p:nvSpPr>
                <p:spPr>
                  <a:xfrm>
                    <a:off x="2401" y="1528"/>
                    <a:ext cx="1368" cy="0"/>
                  </a:xfrm>
                  <a:prstGeom prst="line">
                    <a:avLst/>
                  </a:prstGeom>
                  <a:ln w="28575" cap="flat" cmpd="sng">
                    <a:solidFill>
                      <a:srgbClr val="0000CC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78241" name="Line 65"/>
                  <p:cNvSpPr/>
                  <p:nvPr/>
                </p:nvSpPr>
                <p:spPr>
                  <a:xfrm>
                    <a:off x="2409" y="1859"/>
                    <a:ext cx="1368" cy="0"/>
                  </a:xfrm>
                  <a:prstGeom prst="line">
                    <a:avLst/>
                  </a:prstGeom>
                  <a:ln w="28575" cap="flat" cmpd="sng">
                    <a:solidFill>
                      <a:srgbClr val="0000CC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78242" name="Rectangle 67"/>
                  <p:cNvSpPr/>
                  <p:nvPr/>
                </p:nvSpPr>
                <p:spPr>
                  <a:xfrm>
                    <a:off x="3075" y="888"/>
                    <a:ext cx="382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rgbClr val="003300"/>
                        </a:solidFill>
                      </a:rPr>
                      <a:t>×</a:t>
                    </a:r>
                    <a:endParaRPr lang="en-US" altLang="zh-CN" sz="2000" b="1" dirty="0">
                      <a:solidFill>
                        <a:srgbClr val="003300"/>
                      </a:solidFill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243" name="Text Box 70"/>
                  <p:cNvSpPr txBox="1"/>
                  <p:nvPr/>
                </p:nvSpPr>
                <p:spPr>
                  <a:xfrm>
                    <a:off x="3082" y="1508"/>
                    <a:ext cx="279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rgbClr val="003300"/>
                        </a:solidFill>
                      </a:rPr>
                      <a:t>×</a:t>
                    </a:r>
                    <a:endParaRPr lang="en-US" altLang="zh-CN" sz="2000" b="1" dirty="0">
                      <a:solidFill>
                        <a:srgbClr val="003300"/>
                      </a:solidFill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244" name="Rectangle 73"/>
                  <p:cNvSpPr/>
                  <p:nvPr/>
                </p:nvSpPr>
                <p:spPr>
                  <a:xfrm>
                    <a:off x="3072" y="1177"/>
                    <a:ext cx="382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rgbClr val="003300"/>
                        </a:solidFill>
                      </a:rPr>
                      <a:t>×</a:t>
                    </a:r>
                    <a:endParaRPr lang="en-US" altLang="zh-CN" sz="2000" b="1" dirty="0">
                      <a:solidFill>
                        <a:srgbClr val="003300"/>
                      </a:solidFill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245" name="Text Box 76"/>
                  <p:cNvSpPr txBox="1"/>
                  <p:nvPr/>
                </p:nvSpPr>
                <p:spPr>
                  <a:xfrm>
                    <a:off x="3487" y="851"/>
                    <a:ext cx="366" cy="34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2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/>
                      <a:t>1</a:t>
                    </a:r>
                    <a:endParaRPr lang="en-US" altLang="zh-CN" sz="2000" b="1" dirty="0"/>
                  </a:p>
                </p:txBody>
              </p:sp>
              <p:sp>
                <p:nvSpPr>
                  <p:cNvPr id="178246" name="Line 79"/>
                  <p:cNvSpPr/>
                  <p:nvPr/>
                </p:nvSpPr>
                <p:spPr>
                  <a:xfrm>
                    <a:off x="2010" y="587"/>
                    <a:ext cx="396" cy="297"/>
                  </a:xfrm>
                  <a:prstGeom prst="line">
                    <a:avLst/>
                  </a:prstGeom>
                  <a:ln w="28575" cap="flat" cmpd="sng">
                    <a:solidFill>
                      <a:srgbClr val="0000CC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78247" name="Text Box 80"/>
                  <p:cNvSpPr txBox="1"/>
                  <p:nvPr/>
                </p:nvSpPr>
                <p:spPr>
                  <a:xfrm>
                    <a:off x="2404" y="890"/>
                    <a:ext cx="263" cy="3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rgbClr val="003300"/>
                        </a:solidFill>
                      </a:rPr>
                      <a:t>×</a:t>
                    </a:r>
                    <a:endParaRPr lang="en-US" altLang="zh-CN" sz="2000" b="1" dirty="0">
                      <a:solidFill>
                        <a:srgbClr val="003300"/>
                      </a:solidFill>
                      <a:ea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78232" name="Rectangle 51"/>
                <p:cNvSpPr/>
                <p:nvPr/>
              </p:nvSpPr>
              <p:spPr>
                <a:xfrm>
                  <a:off x="6208460" y="5152607"/>
                  <a:ext cx="363624" cy="32097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×</a:t>
                  </a:r>
                  <a:endParaRPr lang="en-US" altLang="zh-CN" sz="2000" b="1" dirty="0">
                    <a:solidFill>
                      <a:srgbClr val="003300"/>
                    </a:solidFill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78222" name="Text Box 80"/>
              <p:cNvSpPr txBox="1"/>
              <p:nvPr/>
            </p:nvSpPr>
            <p:spPr>
              <a:xfrm>
                <a:off x="6438950" y="2063877"/>
                <a:ext cx="288925" cy="4302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</a:t>
                </a:r>
                <a:endParaRPr lang="en-US" altLang="zh-CN" sz="2000" b="1" dirty="0">
                  <a:ea typeface="Times New Roman" panose="02020603050405020304" pitchFamily="18" charset="0"/>
                </a:endParaRPr>
              </a:p>
            </p:txBody>
          </p:sp>
          <p:sp>
            <p:nvSpPr>
              <p:cNvPr id="178223" name="Text Box 80"/>
              <p:cNvSpPr txBox="1"/>
              <p:nvPr/>
            </p:nvSpPr>
            <p:spPr>
              <a:xfrm>
                <a:off x="5980063" y="2472141"/>
                <a:ext cx="289454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rgbClr val="003300"/>
                    </a:solidFill>
                  </a:rPr>
                  <a:t>×</a:t>
                </a:r>
                <a:endParaRPr lang="en-US" altLang="zh-CN" sz="2000" b="1" dirty="0">
                  <a:solidFill>
                    <a:srgbClr val="003300"/>
                  </a:solidFill>
                  <a:ea typeface="Times New Roman" panose="02020603050405020304" pitchFamily="18" charset="0"/>
                </a:endParaRPr>
              </a:p>
            </p:txBody>
          </p:sp>
          <p:sp>
            <p:nvSpPr>
              <p:cNvPr id="178224" name="Text Box 80"/>
              <p:cNvSpPr txBox="1"/>
              <p:nvPr/>
            </p:nvSpPr>
            <p:spPr>
              <a:xfrm>
                <a:off x="7244364" y="2429729"/>
                <a:ext cx="289454" cy="4461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1</a:t>
                </a:r>
                <a:endParaRPr lang="en-US" altLang="zh-CN" sz="2000" b="1" dirty="0">
                  <a:ea typeface="Times New Roman" panose="02020603050405020304" pitchFamily="18" charset="0"/>
                </a:endParaRPr>
              </a:p>
            </p:txBody>
          </p:sp>
          <p:sp>
            <p:nvSpPr>
              <p:cNvPr id="178225" name="Rectangle 51"/>
              <p:cNvSpPr/>
              <p:nvPr/>
            </p:nvSpPr>
            <p:spPr>
              <a:xfrm>
                <a:off x="6443416" y="2449540"/>
                <a:ext cx="312762" cy="4002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</a:t>
                </a:r>
                <a:endParaRPr lang="en-US" altLang="zh-CN" sz="2000" b="1" dirty="0">
                  <a:ea typeface="Times New Roman" panose="02020603050405020304" pitchFamily="18" charset="0"/>
                </a:endParaRPr>
              </a:p>
            </p:txBody>
          </p:sp>
          <p:sp>
            <p:nvSpPr>
              <p:cNvPr id="178226" name="Rectangle 51"/>
              <p:cNvSpPr/>
              <p:nvPr/>
            </p:nvSpPr>
            <p:spPr>
              <a:xfrm>
                <a:off x="6038530" y="2864014"/>
                <a:ext cx="312762" cy="4002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</a:t>
                </a:r>
                <a:endParaRPr lang="en-US" altLang="zh-CN" sz="2000" b="1" dirty="0">
                  <a:ea typeface="Times New Roman" panose="02020603050405020304" pitchFamily="18" charset="0"/>
                </a:endParaRPr>
              </a:p>
            </p:txBody>
          </p:sp>
          <p:sp>
            <p:nvSpPr>
              <p:cNvPr id="178227" name="Rectangle 51"/>
              <p:cNvSpPr/>
              <p:nvPr/>
            </p:nvSpPr>
            <p:spPr>
              <a:xfrm>
                <a:off x="6364960" y="2867548"/>
                <a:ext cx="442750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rgbClr val="003300"/>
                    </a:solidFill>
                  </a:rPr>
                  <a:t>×</a:t>
                </a:r>
                <a:endParaRPr lang="en-US" altLang="zh-CN" sz="2000" b="1" dirty="0">
                  <a:solidFill>
                    <a:srgbClr val="003300"/>
                  </a:solidFill>
                  <a:ea typeface="Times New Roman" panose="02020603050405020304" pitchFamily="18" charset="0"/>
                </a:endParaRPr>
              </a:p>
            </p:txBody>
          </p:sp>
          <p:sp>
            <p:nvSpPr>
              <p:cNvPr id="178228" name="Rectangle 51"/>
              <p:cNvSpPr/>
              <p:nvPr/>
            </p:nvSpPr>
            <p:spPr>
              <a:xfrm>
                <a:off x="6034570" y="3275900"/>
                <a:ext cx="312762" cy="4002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</a:t>
                </a:r>
                <a:endParaRPr lang="en-US" altLang="zh-CN" sz="2000" b="1" dirty="0">
                  <a:ea typeface="Times New Roman" panose="02020603050405020304" pitchFamily="18" charset="0"/>
                </a:endParaRPr>
              </a:p>
            </p:txBody>
          </p:sp>
          <p:sp>
            <p:nvSpPr>
              <p:cNvPr id="178229" name="Rectangle 51"/>
              <p:cNvSpPr/>
              <p:nvPr/>
            </p:nvSpPr>
            <p:spPr>
              <a:xfrm>
                <a:off x="6359171" y="3269108"/>
                <a:ext cx="442750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rgbClr val="003300"/>
                    </a:solidFill>
                  </a:rPr>
                  <a:t>×</a:t>
                </a:r>
                <a:endParaRPr lang="en-US" altLang="zh-CN" sz="2000" b="1" dirty="0">
                  <a:solidFill>
                    <a:srgbClr val="003300"/>
                  </a:solidFill>
                  <a:ea typeface="Times New Roman" panose="02020603050405020304" pitchFamily="18" charset="0"/>
                </a:endParaRPr>
              </a:p>
            </p:txBody>
          </p:sp>
          <p:sp>
            <p:nvSpPr>
              <p:cNvPr id="178230" name="Rectangle 51"/>
              <p:cNvSpPr/>
              <p:nvPr/>
            </p:nvSpPr>
            <p:spPr>
              <a:xfrm>
                <a:off x="6769467" y="3289146"/>
                <a:ext cx="442750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rgbClr val="003300"/>
                    </a:solidFill>
                  </a:rPr>
                  <a:t>×</a:t>
                </a:r>
                <a:endParaRPr lang="en-US" altLang="zh-CN" sz="2000" b="1" dirty="0">
                  <a:solidFill>
                    <a:srgbClr val="003300"/>
                  </a:solidFill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178220" name="Rectangle 5"/>
            <p:cNvSpPr/>
            <p:nvPr/>
          </p:nvSpPr>
          <p:spPr>
            <a:xfrm>
              <a:off x="666618" y="5681759"/>
              <a:ext cx="1333139" cy="431626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1905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669925" algn="r"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rgbClr val="003300"/>
                  </a:solidFill>
                </a:rPr>
                <a:t>z= q</a:t>
              </a:r>
              <a:r>
                <a:rPr lang="en-US" altLang="zh-CN" sz="2000" b="1" baseline="-25000" dirty="0">
                  <a:solidFill>
                    <a:srgbClr val="003300"/>
                  </a:solidFill>
                </a:rPr>
                <a:t>3</a:t>
              </a:r>
              <a:endParaRPr lang="en-US" altLang="zh-CN" sz="2000" b="1" dirty="0">
                <a:solidFill>
                  <a:srgbClr val="0000CC"/>
                </a:solidFill>
              </a:endParaRPr>
            </a:p>
          </p:txBody>
        </p:sp>
      </p:grpSp>
    </p:spTree>
  </p:cSld>
  <p:clrMapOvr>
    <a:masterClrMapping/>
  </p:clrMapOvr>
  <p:transition spd="slow">
    <p:randomBar dir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9202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5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同步时序电路举例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79204" name="TextBox 1"/>
          <p:cNvSpPr txBox="1"/>
          <p:nvPr/>
        </p:nvSpPr>
        <p:spPr>
          <a:xfrm>
            <a:off x="498475" y="1252538"/>
            <a:ext cx="8305800" cy="504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spcAft>
                <a:spcPts val="600"/>
              </a:spcAft>
              <a:buClr>
                <a:srgbClr val="007A77"/>
              </a:buClr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对上述电路进行优化：状态分配问题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8" name="表格 18"/>
          <p:cNvGraphicFramePr>
            <a:graphicFrameLocks noGrp="1"/>
          </p:cNvGraphicFramePr>
          <p:nvPr/>
        </p:nvGraphicFramePr>
        <p:xfrm>
          <a:off x="800100" y="2312988"/>
          <a:ext cx="7543800" cy="3560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283"/>
                <a:gridCol w="2714812"/>
                <a:gridCol w="1846268"/>
                <a:gridCol w="1614437"/>
              </a:tblGrid>
              <a:tr h="7612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en-US" altLang="zh-CN" sz="2200" b="1" u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6684" marB="466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000" b="1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独热码：</a:t>
                      </a:r>
                      <a:endParaRPr kumimoji="1" lang="en-US" altLang="zh-CN" sz="2000" b="1" u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</a:t>
                      </a:r>
                      <a:r>
                        <a:rPr kumimoji="1" lang="zh-CN" altLang="en-US" sz="2000" b="1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</a:t>
                      </a:r>
                      <a:r>
                        <a:rPr kumimoji="1" lang="zh-CN" altLang="en-US" sz="2000" b="1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kumimoji="1" lang="en-US" altLang="zh-CN" sz="2000" b="1" u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6684" marB="466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u="none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ABC: </a:t>
                      </a:r>
                      <a:endParaRPr kumimoji="1" lang="en-US" altLang="zh-CN" sz="2000" b="1" u="none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u="none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00, 01, 10</a:t>
                      </a:r>
                      <a:endParaRPr kumimoji="1" lang="zh-CN" altLang="en-US" sz="2000" b="1" u="none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6" marR="91426" marT="46684" marB="466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u="none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ABC: </a:t>
                      </a:r>
                      <a:endParaRPr kumimoji="1" lang="en-US" altLang="zh-CN" sz="2000" b="1" u="none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u="none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00, 01, 11</a:t>
                      </a:r>
                      <a:endParaRPr lang="zh-CN" altLang="en-US" sz="2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6684" marB="466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3367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次态方程和输出方程</a:t>
                      </a:r>
                      <a:endParaRPr kumimoji="0" lang="en-US" altLang="zh-CN" sz="22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6684" marB="466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wq'</a:t>
                      </a:r>
                      <a:r>
                        <a:rPr kumimoji="0"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wq</a:t>
                      </a:r>
                      <a:r>
                        <a:rPr kumimoji="0"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000" b="1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（被综合掉）</a:t>
                      </a:r>
                      <a:endParaRPr kumimoji="0" lang="en-US" altLang="zh-CN" sz="2000" b="1" baseline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w’,    z = q</a:t>
                      </a:r>
                      <a:r>
                        <a:rPr kumimoji="0"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6684" marB="466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kumimoji="1"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kumimoji="1"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kumimoji="1"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+q</a:t>
                      </a:r>
                      <a:r>
                        <a:rPr kumimoji="1"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endParaRPr kumimoji="1"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kumimoji="1"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kumimoji="1"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wq'</a:t>
                      </a:r>
                      <a:r>
                        <a:rPr kumimoji="1"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q'</a:t>
                      </a:r>
                      <a:r>
                        <a:rPr kumimoji="1"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endParaRPr kumimoji="1"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 </a:t>
                      </a:r>
                      <a:r>
                        <a:rPr kumimoji="1"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kumimoji="1"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6684" marB="466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600"/>
                        </a:spcBef>
                        <a:buClr>
                          <a:schemeClr val="tx1"/>
                        </a:buClr>
                        <a:defRPr/>
                      </a:pP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kumimoji="1"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kumimoji="1"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wq</a:t>
                      </a:r>
                      <a:r>
                        <a:rPr kumimoji="1"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600"/>
                        </a:spcBef>
                        <a:buClr>
                          <a:schemeClr val="tx1"/>
                        </a:buClr>
                        <a:defRPr/>
                      </a:pP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kumimoji="1"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kumimoji="1"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kumimoji="1" lang="en-US" altLang="zh-CN" sz="2000" b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600"/>
                        </a:spcBef>
                        <a:buClr>
                          <a:schemeClr val="tx1"/>
                        </a:buClr>
                        <a:defRPr/>
                      </a:pPr>
                      <a:r>
                        <a:rPr kumimoji="1"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z </a:t>
                      </a:r>
                      <a:r>
                        <a:rPr kumimoji="1"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kumimoji="1"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2000" b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6684" marB="466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462751">
                <a:tc>
                  <a:txBody>
                    <a:bodyPr/>
                    <a:lstStyle/>
                    <a:p>
                      <a:r>
                        <a:rPr kumimoji="0" lang="zh-CN" altLang="en-US" sz="22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特点</a:t>
                      </a:r>
                      <a:endParaRPr kumimoji="0" lang="zh-CN" altLang="en-US" sz="2200" b="1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6" marR="91426" marT="46684" marB="466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zh-CN" altLang="en-US" sz="22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触发器数目增多；</a:t>
                      </a:r>
                      <a:endParaRPr kumimoji="0" lang="en-US" altLang="zh-CN" sz="2200" b="1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kumimoji="0" lang="zh-CN" altLang="en-US" sz="22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对于复杂电路，独热码的输出表达式更简单，电路速度更快；</a:t>
                      </a:r>
                      <a:endParaRPr kumimoji="0" lang="zh-CN" altLang="en-US" sz="2200" b="1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6" marR="91426" marT="46684" marB="466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0" lang="zh-CN" altLang="en-US" sz="22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触发器数目较少，不同的编码（状态分配）对应的复杂度不同。对于复杂电路，门电路的延时较大。</a:t>
                      </a:r>
                      <a:endParaRPr kumimoji="0" lang="zh-CN" altLang="en-US" sz="2200" b="1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6" marR="91426" marT="46684" marB="466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79224" name="Rectangle 2"/>
          <p:cNvSpPr/>
          <p:nvPr/>
        </p:nvSpPr>
        <p:spPr>
          <a:xfrm>
            <a:off x="2657475" y="1852613"/>
            <a:ext cx="4116388" cy="425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本例中不同的状态分配方法比较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tags/tag1.xml><?xml version="1.0" encoding="utf-8"?>
<p:tagLst xmlns:p="http://schemas.openxmlformats.org/presentationml/2006/main">
  <p:tag name="COMMONDATA" val="eyJoZGlkIjoiMDY2YWZjNGE0ZmUyODRmMWRiYmE3Y2RlNTQwZWQxNzYifQ=="/>
  <p:tag name="KSO_WPP_MARK_KEY" val="b24e4afa-3819-4db2-97f8-1c2df6176777"/>
</p:tagLst>
</file>

<file path=ppt/theme/theme1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5368</Words>
  <Application>WPS 演示</Application>
  <PresentationFormat>全屏显示(4:3)</PresentationFormat>
  <Paragraphs>1324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1" baseType="lpstr">
      <vt:lpstr>Arial</vt:lpstr>
      <vt:lpstr>宋体</vt:lpstr>
      <vt:lpstr>Wingdings</vt:lpstr>
      <vt:lpstr>Times New Roman</vt:lpstr>
      <vt:lpstr>楷体_GB2312</vt:lpstr>
      <vt:lpstr>新宋体</vt:lpstr>
      <vt:lpstr>Arial Narrow</vt:lpstr>
      <vt:lpstr>楷体</vt:lpstr>
      <vt:lpstr>Agency FB</vt:lpstr>
      <vt:lpstr>Britannic Bold</vt:lpstr>
      <vt:lpstr>微软雅黑</vt:lpstr>
      <vt:lpstr>Arial Unicode MS</vt:lpstr>
      <vt:lpstr>Viner Hand ITC</vt:lpstr>
      <vt:lpstr>Times-Roman</vt:lpstr>
      <vt:lpstr>MS Mincho</vt:lpstr>
      <vt:lpstr>诗情画意</vt:lpstr>
      <vt:lpstr>PowerPoint 演示文稿</vt:lpstr>
      <vt:lpstr>PowerPoint 演示文稿</vt:lpstr>
      <vt:lpstr>PowerPoint 演示文稿</vt:lpstr>
      <vt:lpstr>6.1 时序电路介绍</vt:lpstr>
      <vt:lpstr>6.1 时序电路介绍</vt:lpstr>
      <vt:lpstr>6.2 时序电路分类</vt:lpstr>
      <vt:lpstr>PowerPoint 演示文稿</vt:lpstr>
      <vt:lpstr>6.3 同步时序电路举例</vt:lpstr>
      <vt:lpstr>6.3 同步时序电路举例</vt:lpstr>
      <vt:lpstr>6.3 同步时序电路举例</vt:lpstr>
      <vt:lpstr>6.3 同步时序电路举例</vt:lpstr>
      <vt:lpstr>6.3 同步时序电路举例</vt:lpstr>
      <vt:lpstr>6.3 同步时序电路举例</vt:lpstr>
      <vt:lpstr>PowerPoint 演示文稿</vt:lpstr>
      <vt:lpstr>6.3 同步时序电路举例</vt:lpstr>
      <vt:lpstr>6.3 同步时序电路举例</vt:lpstr>
      <vt:lpstr>6.3 同步时序电路举例</vt:lpstr>
      <vt:lpstr>6.3 同步时序电路举例</vt:lpstr>
      <vt:lpstr>6.3 同步时序电路举例</vt:lpstr>
      <vt:lpstr>6.3 同步时序电路举例</vt:lpstr>
      <vt:lpstr>6.3 同步时序电路举例</vt:lpstr>
      <vt:lpstr>6.3 同步时序电路举例</vt:lpstr>
      <vt:lpstr>6.3 同步时序电路举例</vt:lpstr>
      <vt:lpstr>6.3 同步时序电路举例</vt:lpstr>
      <vt:lpstr>6.3 同步时序电路举例</vt:lpstr>
    </vt:vector>
  </TitlesOfParts>
  <Company>hd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韩建栋</dc:creator>
  <cp:lastModifiedBy>建栋</cp:lastModifiedBy>
  <cp:revision>1538</cp:revision>
  <cp:lastPrinted>2019-10-21T03:11:00Z</cp:lastPrinted>
  <dcterms:created xsi:type="dcterms:W3CDTF">1999-09-18T02:11:00Z</dcterms:created>
  <dcterms:modified xsi:type="dcterms:W3CDTF">2022-10-20T23:50:44Z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r8>1</vt:r8>
  </property>
  <property fmtid="{D5CDD505-2E9C-101B-9397-08002B2CF9AE}" pid="3" name="GraphicType">
    <vt:r8>1</vt:r8>
  </property>
  <property fmtid="{D5CDD505-2E9C-101B-9397-08002B2CF9AE}" pid="4" name="Compression">
    <vt:r8>100</vt:r8>
  </property>
  <property fmtid="{D5CDD505-2E9C-101B-9397-08002B2CF9AE}" pid="5" name="ScreenSize">
    <vt:r8>2</vt:r8>
  </property>
  <property fmtid="{D5CDD505-2E9C-101B-9397-08002B2CF9AE}" pid="6" name="ScreenUsage">
    <vt:r8>3</vt:r8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r8>15132390</vt:r8>
  </property>
  <property fmtid="{D5CDD505-2E9C-101B-9397-08002B2CF9AE}" pid="14" name="TextColor">
    <vt:r8>0</vt:r8>
  </property>
  <property fmtid="{D5CDD505-2E9C-101B-9397-08002B2CF9AE}" pid="15" name="LinkColor">
    <vt:r8>16711782</vt:r8>
  </property>
  <property fmtid="{D5CDD505-2E9C-101B-9397-08002B2CF9AE}" pid="16" name="VisitedColor">
    <vt:r8>10040268</vt:r8>
  </property>
  <property fmtid="{D5CDD505-2E9C-101B-9397-08002B2CF9AE}" pid="17" name="TransparentButton">
    <vt:r8>0</vt:r8>
  </property>
  <property fmtid="{D5CDD505-2E9C-101B-9397-08002B2CF9AE}" pid="18" name="ButtonType">
    <vt:r8>1</vt:r8>
  </property>
  <property fmtid="{D5CDD505-2E9C-101B-9397-08002B2CF9AE}" pid="19" name="ShowNotes">
    <vt:bool>false</vt:bool>
  </property>
  <property fmtid="{D5CDD505-2E9C-101B-9397-08002B2CF9AE}" pid="20" name="NavBtnPos">
    <vt:r8>1</vt:r8>
  </property>
  <property fmtid="{D5CDD505-2E9C-101B-9397-08002B2CF9AE}" pid="21" name="OutputDir">
    <vt:lpwstr>D:\教案\数字逻辑</vt:lpwstr>
  </property>
  <property fmtid="{D5CDD505-2E9C-101B-9397-08002B2CF9AE}" pid="22" name="KSOProductBuildVer">
    <vt:lpwstr>2052-11.1.0.12598</vt:lpwstr>
  </property>
  <property fmtid="{D5CDD505-2E9C-101B-9397-08002B2CF9AE}" pid="23" name="ICV">
    <vt:lpwstr>23F7A5A99F44451CB80F8205F03818DA</vt:lpwstr>
  </property>
</Properties>
</file>