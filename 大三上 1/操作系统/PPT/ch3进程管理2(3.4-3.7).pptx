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729" r:id="rId2"/>
  </p:sldMasterIdLst>
  <p:notesMasterIdLst>
    <p:notesMasterId r:id="rId192"/>
  </p:notesMasterIdLst>
  <p:sldIdLst>
    <p:sldId id="713" r:id="rId3"/>
    <p:sldId id="2067" r:id="rId4"/>
    <p:sldId id="576" r:id="rId5"/>
    <p:sldId id="613" r:id="rId6"/>
    <p:sldId id="614" r:id="rId7"/>
    <p:sldId id="616" r:id="rId8"/>
    <p:sldId id="575" r:id="rId9"/>
    <p:sldId id="617" r:id="rId10"/>
    <p:sldId id="618" r:id="rId11"/>
    <p:sldId id="619" r:id="rId12"/>
    <p:sldId id="2061" r:id="rId13"/>
    <p:sldId id="298" r:id="rId14"/>
    <p:sldId id="304" r:id="rId15"/>
    <p:sldId id="306" r:id="rId16"/>
    <p:sldId id="313" r:id="rId17"/>
    <p:sldId id="2057" r:id="rId18"/>
    <p:sldId id="302" r:id="rId19"/>
    <p:sldId id="519" r:id="rId20"/>
    <p:sldId id="307" r:id="rId21"/>
    <p:sldId id="620" r:id="rId22"/>
    <p:sldId id="455" r:id="rId23"/>
    <p:sldId id="314" r:id="rId24"/>
    <p:sldId id="642" r:id="rId25"/>
    <p:sldId id="2066" r:id="rId26"/>
    <p:sldId id="643" r:id="rId27"/>
    <p:sldId id="2068" r:id="rId28"/>
    <p:sldId id="315" r:id="rId29"/>
    <p:sldId id="2062" r:id="rId30"/>
    <p:sldId id="622" r:id="rId31"/>
    <p:sldId id="623" r:id="rId32"/>
    <p:sldId id="624" r:id="rId33"/>
    <p:sldId id="625" r:id="rId34"/>
    <p:sldId id="626" r:id="rId35"/>
    <p:sldId id="627" r:id="rId36"/>
    <p:sldId id="2063" r:id="rId37"/>
    <p:sldId id="482" r:id="rId38"/>
    <p:sldId id="628" r:id="rId39"/>
    <p:sldId id="483" r:id="rId40"/>
    <p:sldId id="484" r:id="rId41"/>
    <p:sldId id="485" r:id="rId42"/>
    <p:sldId id="487" r:id="rId43"/>
    <p:sldId id="488" r:id="rId44"/>
    <p:sldId id="489" r:id="rId45"/>
    <p:sldId id="490" r:id="rId46"/>
    <p:sldId id="491" r:id="rId47"/>
    <p:sldId id="492" r:id="rId48"/>
    <p:sldId id="493" r:id="rId49"/>
    <p:sldId id="494" r:id="rId50"/>
    <p:sldId id="496" r:id="rId51"/>
    <p:sldId id="486" r:id="rId52"/>
    <p:sldId id="495" r:id="rId53"/>
    <p:sldId id="497" r:id="rId54"/>
    <p:sldId id="498" r:id="rId55"/>
    <p:sldId id="499" r:id="rId56"/>
    <p:sldId id="2058" r:id="rId57"/>
    <p:sldId id="2069" r:id="rId58"/>
    <p:sldId id="630" r:id="rId59"/>
    <p:sldId id="631" r:id="rId60"/>
    <p:sldId id="632" r:id="rId61"/>
    <p:sldId id="510" r:id="rId62"/>
    <p:sldId id="2071" r:id="rId63"/>
    <p:sldId id="511" r:id="rId64"/>
    <p:sldId id="714" r:id="rId65"/>
    <p:sldId id="513" r:id="rId66"/>
    <p:sldId id="514" r:id="rId67"/>
    <p:sldId id="516" r:id="rId68"/>
    <p:sldId id="518" r:id="rId69"/>
    <p:sldId id="2072" r:id="rId70"/>
    <p:sldId id="2064" r:id="rId71"/>
    <p:sldId id="523" r:id="rId72"/>
    <p:sldId id="525" r:id="rId73"/>
    <p:sldId id="526" r:id="rId74"/>
    <p:sldId id="527" r:id="rId75"/>
    <p:sldId id="528" r:id="rId76"/>
    <p:sldId id="529" r:id="rId77"/>
    <p:sldId id="530" r:id="rId78"/>
    <p:sldId id="531" r:id="rId79"/>
    <p:sldId id="532" r:id="rId80"/>
    <p:sldId id="2073" r:id="rId81"/>
    <p:sldId id="521" r:id="rId82"/>
    <p:sldId id="633" r:id="rId83"/>
    <p:sldId id="634" r:id="rId84"/>
    <p:sldId id="636" r:id="rId85"/>
    <p:sldId id="637" r:id="rId86"/>
    <p:sldId id="638" r:id="rId87"/>
    <p:sldId id="639" r:id="rId88"/>
    <p:sldId id="644" r:id="rId89"/>
    <p:sldId id="2075" r:id="rId90"/>
    <p:sldId id="546" r:id="rId91"/>
    <p:sldId id="547" r:id="rId92"/>
    <p:sldId id="548" r:id="rId93"/>
    <p:sldId id="2074" r:id="rId94"/>
    <p:sldId id="2065" r:id="rId95"/>
    <p:sldId id="718" r:id="rId96"/>
    <p:sldId id="715" r:id="rId97"/>
    <p:sldId id="640" r:id="rId98"/>
    <p:sldId id="550" r:id="rId99"/>
    <p:sldId id="551" r:id="rId100"/>
    <p:sldId id="552" r:id="rId101"/>
    <p:sldId id="553" r:id="rId102"/>
    <p:sldId id="554" r:id="rId103"/>
    <p:sldId id="555" r:id="rId104"/>
    <p:sldId id="556" r:id="rId105"/>
    <p:sldId id="1602" r:id="rId106"/>
    <p:sldId id="1603" r:id="rId107"/>
    <p:sldId id="557" r:id="rId108"/>
    <p:sldId id="659" r:id="rId109"/>
    <p:sldId id="558" r:id="rId110"/>
    <p:sldId id="1598" r:id="rId111"/>
    <p:sldId id="2076" r:id="rId112"/>
    <p:sldId id="561" r:id="rId113"/>
    <p:sldId id="660" r:id="rId114"/>
    <p:sldId id="564" r:id="rId115"/>
    <p:sldId id="569" r:id="rId116"/>
    <p:sldId id="661" r:id="rId117"/>
    <p:sldId id="570" r:id="rId118"/>
    <p:sldId id="716" r:id="rId119"/>
    <p:sldId id="577" r:id="rId120"/>
    <p:sldId id="578" r:id="rId121"/>
    <p:sldId id="579" r:id="rId122"/>
    <p:sldId id="580" r:id="rId123"/>
    <p:sldId id="911" r:id="rId124"/>
    <p:sldId id="912" r:id="rId125"/>
    <p:sldId id="581" r:id="rId126"/>
    <p:sldId id="2077" r:id="rId127"/>
    <p:sldId id="2078" r:id="rId128"/>
    <p:sldId id="582" r:id="rId129"/>
    <p:sldId id="2079" r:id="rId130"/>
    <p:sldId id="583" r:id="rId131"/>
    <p:sldId id="584" r:id="rId132"/>
    <p:sldId id="2080" r:id="rId133"/>
    <p:sldId id="585" r:id="rId134"/>
    <p:sldId id="588" r:id="rId135"/>
    <p:sldId id="666" r:id="rId136"/>
    <p:sldId id="668" r:id="rId137"/>
    <p:sldId id="667" r:id="rId138"/>
    <p:sldId id="592" r:id="rId139"/>
    <p:sldId id="593" r:id="rId140"/>
    <p:sldId id="595" r:id="rId141"/>
    <p:sldId id="670" r:id="rId142"/>
    <p:sldId id="596" r:id="rId143"/>
    <p:sldId id="597" r:id="rId144"/>
    <p:sldId id="598" r:id="rId145"/>
    <p:sldId id="599" r:id="rId146"/>
    <p:sldId id="600" r:id="rId147"/>
    <p:sldId id="934" r:id="rId148"/>
    <p:sldId id="601" r:id="rId149"/>
    <p:sldId id="602" r:id="rId150"/>
    <p:sldId id="603" r:id="rId151"/>
    <p:sldId id="604" r:id="rId152"/>
    <p:sldId id="669" r:id="rId153"/>
    <p:sldId id="607" r:id="rId154"/>
    <p:sldId id="918" r:id="rId155"/>
    <p:sldId id="919" r:id="rId156"/>
    <p:sldId id="945" r:id="rId157"/>
    <p:sldId id="672" r:id="rId158"/>
    <p:sldId id="2059" r:id="rId159"/>
    <p:sldId id="673" r:id="rId160"/>
    <p:sldId id="2060" r:id="rId161"/>
    <p:sldId id="610" r:id="rId162"/>
    <p:sldId id="674" r:id="rId163"/>
    <p:sldId id="675" r:id="rId164"/>
    <p:sldId id="717" r:id="rId165"/>
    <p:sldId id="676" r:id="rId166"/>
    <p:sldId id="677" r:id="rId167"/>
    <p:sldId id="679" r:id="rId168"/>
    <p:sldId id="678" r:id="rId169"/>
    <p:sldId id="680" r:id="rId170"/>
    <p:sldId id="681" r:id="rId171"/>
    <p:sldId id="683" r:id="rId172"/>
    <p:sldId id="684" r:id="rId173"/>
    <p:sldId id="707" r:id="rId174"/>
    <p:sldId id="708" r:id="rId175"/>
    <p:sldId id="709" r:id="rId176"/>
    <p:sldId id="710" r:id="rId177"/>
    <p:sldId id="711" r:id="rId178"/>
    <p:sldId id="712" r:id="rId179"/>
    <p:sldId id="685" r:id="rId180"/>
    <p:sldId id="686" r:id="rId181"/>
    <p:sldId id="687" r:id="rId182"/>
    <p:sldId id="688" r:id="rId183"/>
    <p:sldId id="694" r:id="rId184"/>
    <p:sldId id="695" r:id="rId185"/>
    <p:sldId id="696" r:id="rId186"/>
    <p:sldId id="697" r:id="rId187"/>
    <p:sldId id="698" r:id="rId188"/>
    <p:sldId id="2082" r:id="rId189"/>
    <p:sldId id="2083" r:id="rId190"/>
    <p:sldId id="2081" r:id="rId19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霞" initials="张" lastIdx="1" clrIdx="0">
    <p:extLst>
      <p:ext uri="{19B8F6BF-5375-455C-9EA6-DF929625EA0E}">
        <p15:presenceInfo xmlns:p15="http://schemas.microsoft.com/office/powerpoint/2012/main" userId="6370df993bf2133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87" autoAdjust="0"/>
    <p:restoredTop sz="92886" autoAdjust="0"/>
  </p:normalViewPr>
  <p:slideViewPr>
    <p:cSldViewPr>
      <p:cViewPr varScale="1">
        <p:scale>
          <a:sx n="78" d="100"/>
          <a:sy n="78" d="100"/>
        </p:scale>
        <p:origin x="86" y="53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 r:id="rId94" collapse="1"/>
      <p:sld r:id="rId95" collapse="1"/>
      <p:sld r:id="rId96" collapse="1"/>
      <p:sld r:id="rId97" collapse="1"/>
      <p:sld r:id="rId98" collapse="1"/>
      <p:sld r:id="rId99" collapse="1"/>
      <p:sld r:id="rId100" collapse="1"/>
      <p:sld r:id="rId101" collapse="1"/>
      <p:sld r:id="rId102" collapse="1"/>
      <p:sld r:id="rId103" collapse="1"/>
      <p:sld r:id="rId104"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notesMaster" Target="notesMasters/notesMaster1.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commentAuthors" Target="commentAuthors.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viewProps" Target="viewProps.xml"/><Relationship Id="rId190" Type="http://schemas.openxmlformats.org/officeDocument/2006/relationships/slide" Target="slides/slide188.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theme" Target="theme/theme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tableStyles" Target="tableStyles.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s>
</file>

<file path=ppt/_rels/viewProps.xml.rels><?xml version="1.0" encoding="UTF-8" standalone="yes"?>
<Relationships xmlns="http://schemas.openxmlformats.org/package/2006/relationships"><Relationship Id="rId26" Type="http://schemas.openxmlformats.org/officeDocument/2006/relationships/slide" Target="slides/slide62.xml"/><Relationship Id="rId21" Type="http://schemas.openxmlformats.org/officeDocument/2006/relationships/slide" Target="slides/slide49.xml"/><Relationship Id="rId42" Type="http://schemas.openxmlformats.org/officeDocument/2006/relationships/slide" Target="slides/slide88.xml"/><Relationship Id="rId47" Type="http://schemas.openxmlformats.org/officeDocument/2006/relationships/slide" Target="slides/slide106.xml"/><Relationship Id="rId63" Type="http://schemas.openxmlformats.org/officeDocument/2006/relationships/slide" Target="slides/slide129.xml"/><Relationship Id="rId68" Type="http://schemas.openxmlformats.org/officeDocument/2006/relationships/slide" Target="slides/slide134.xml"/><Relationship Id="rId84" Type="http://schemas.openxmlformats.org/officeDocument/2006/relationships/slide" Target="slides/slide160.xml"/><Relationship Id="rId89" Type="http://schemas.openxmlformats.org/officeDocument/2006/relationships/slide" Target="slides/slide169.xml"/><Relationship Id="rId16" Type="http://schemas.openxmlformats.org/officeDocument/2006/relationships/slide" Target="slides/slide44.xml"/><Relationship Id="rId11" Type="http://schemas.openxmlformats.org/officeDocument/2006/relationships/slide" Target="slides/slide36.xml"/><Relationship Id="rId32" Type="http://schemas.openxmlformats.org/officeDocument/2006/relationships/slide" Target="slides/slide74.xml"/><Relationship Id="rId37" Type="http://schemas.openxmlformats.org/officeDocument/2006/relationships/slide" Target="slides/slide83.xml"/><Relationship Id="rId53" Type="http://schemas.openxmlformats.org/officeDocument/2006/relationships/slide" Target="slides/slide114.xml"/><Relationship Id="rId58" Type="http://schemas.openxmlformats.org/officeDocument/2006/relationships/slide" Target="slides/slide121.xml"/><Relationship Id="rId74" Type="http://schemas.openxmlformats.org/officeDocument/2006/relationships/slide" Target="slides/slide140.xml"/><Relationship Id="rId79" Type="http://schemas.openxmlformats.org/officeDocument/2006/relationships/slide" Target="slides/slide152.xml"/><Relationship Id="rId102" Type="http://schemas.openxmlformats.org/officeDocument/2006/relationships/slide" Target="slides/slide184.xml"/><Relationship Id="rId5" Type="http://schemas.openxmlformats.org/officeDocument/2006/relationships/slide" Target="slides/slide17.xml"/><Relationship Id="rId90" Type="http://schemas.openxmlformats.org/officeDocument/2006/relationships/slide" Target="slides/slide172.xml"/><Relationship Id="rId95" Type="http://schemas.openxmlformats.org/officeDocument/2006/relationships/slide" Target="slides/slide177.xml"/><Relationship Id="rId22" Type="http://schemas.openxmlformats.org/officeDocument/2006/relationships/slide" Target="slides/slide52.xml"/><Relationship Id="rId27" Type="http://schemas.openxmlformats.org/officeDocument/2006/relationships/slide" Target="slides/slide64.xml"/><Relationship Id="rId43" Type="http://schemas.openxmlformats.org/officeDocument/2006/relationships/slide" Target="slides/slide97.xml"/><Relationship Id="rId48" Type="http://schemas.openxmlformats.org/officeDocument/2006/relationships/slide" Target="slides/slide107.xml"/><Relationship Id="rId64" Type="http://schemas.openxmlformats.org/officeDocument/2006/relationships/slide" Target="slides/slide130.xml"/><Relationship Id="rId69" Type="http://schemas.openxmlformats.org/officeDocument/2006/relationships/slide" Target="slides/slide135.xml"/><Relationship Id="rId80" Type="http://schemas.openxmlformats.org/officeDocument/2006/relationships/slide" Target="slides/slide156.xml"/><Relationship Id="rId85" Type="http://schemas.openxmlformats.org/officeDocument/2006/relationships/slide" Target="slides/slide161.xml"/><Relationship Id="rId12" Type="http://schemas.openxmlformats.org/officeDocument/2006/relationships/slide" Target="slides/slide37.xml"/><Relationship Id="rId17" Type="http://schemas.openxmlformats.org/officeDocument/2006/relationships/slide" Target="slides/slide45.xml"/><Relationship Id="rId25" Type="http://schemas.openxmlformats.org/officeDocument/2006/relationships/slide" Target="slides/slide61.xml"/><Relationship Id="rId33" Type="http://schemas.openxmlformats.org/officeDocument/2006/relationships/slide" Target="slides/slide78.xml"/><Relationship Id="rId38" Type="http://schemas.openxmlformats.org/officeDocument/2006/relationships/slide" Target="slides/slide84.xml"/><Relationship Id="rId46" Type="http://schemas.openxmlformats.org/officeDocument/2006/relationships/slide" Target="slides/slide103.xml"/><Relationship Id="rId59" Type="http://schemas.openxmlformats.org/officeDocument/2006/relationships/slide" Target="slides/slide124.xml"/><Relationship Id="rId67" Type="http://schemas.openxmlformats.org/officeDocument/2006/relationships/slide" Target="slides/slide133.xml"/><Relationship Id="rId103" Type="http://schemas.openxmlformats.org/officeDocument/2006/relationships/slide" Target="slides/slide185.xml"/><Relationship Id="rId20" Type="http://schemas.openxmlformats.org/officeDocument/2006/relationships/slide" Target="slides/slide48.xml"/><Relationship Id="rId41" Type="http://schemas.openxmlformats.org/officeDocument/2006/relationships/slide" Target="slides/slide87.xml"/><Relationship Id="rId54" Type="http://schemas.openxmlformats.org/officeDocument/2006/relationships/slide" Target="slides/slide115.xml"/><Relationship Id="rId62" Type="http://schemas.openxmlformats.org/officeDocument/2006/relationships/slide" Target="slides/slide127.xml"/><Relationship Id="rId70" Type="http://schemas.openxmlformats.org/officeDocument/2006/relationships/slide" Target="slides/slide136.xml"/><Relationship Id="rId75" Type="http://schemas.openxmlformats.org/officeDocument/2006/relationships/slide" Target="slides/slide141.xml"/><Relationship Id="rId83" Type="http://schemas.openxmlformats.org/officeDocument/2006/relationships/slide" Target="slides/slide159.xml"/><Relationship Id="rId88" Type="http://schemas.openxmlformats.org/officeDocument/2006/relationships/slide" Target="slides/slide168.xml"/><Relationship Id="rId91" Type="http://schemas.openxmlformats.org/officeDocument/2006/relationships/slide" Target="slides/slide173.xml"/><Relationship Id="rId96" Type="http://schemas.openxmlformats.org/officeDocument/2006/relationships/slide" Target="slides/slide178.xml"/><Relationship Id="rId1" Type="http://schemas.openxmlformats.org/officeDocument/2006/relationships/slide" Target="slides/slide13.xml"/><Relationship Id="rId6" Type="http://schemas.openxmlformats.org/officeDocument/2006/relationships/slide" Target="slides/slide29.xml"/><Relationship Id="rId15" Type="http://schemas.openxmlformats.org/officeDocument/2006/relationships/slide" Target="slides/slide42.xml"/><Relationship Id="rId23" Type="http://schemas.openxmlformats.org/officeDocument/2006/relationships/slide" Target="slides/slide54.xml"/><Relationship Id="rId28" Type="http://schemas.openxmlformats.org/officeDocument/2006/relationships/slide" Target="slides/slide65.xml"/><Relationship Id="rId36" Type="http://schemas.openxmlformats.org/officeDocument/2006/relationships/slide" Target="slides/slide82.xml"/><Relationship Id="rId49" Type="http://schemas.openxmlformats.org/officeDocument/2006/relationships/slide" Target="slides/slide108.xml"/><Relationship Id="rId57" Type="http://schemas.openxmlformats.org/officeDocument/2006/relationships/slide" Target="slides/slide120.xml"/><Relationship Id="rId10" Type="http://schemas.openxmlformats.org/officeDocument/2006/relationships/slide" Target="slides/slide34.xml"/><Relationship Id="rId31" Type="http://schemas.openxmlformats.org/officeDocument/2006/relationships/slide" Target="slides/slide73.xml"/><Relationship Id="rId44" Type="http://schemas.openxmlformats.org/officeDocument/2006/relationships/slide" Target="slides/slide98.xml"/><Relationship Id="rId52" Type="http://schemas.openxmlformats.org/officeDocument/2006/relationships/slide" Target="slides/slide113.xml"/><Relationship Id="rId60" Type="http://schemas.openxmlformats.org/officeDocument/2006/relationships/slide" Target="slides/slide125.xml"/><Relationship Id="rId65" Type="http://schemas.openxmlformats.org/officeDocument/2006/relationships/slide" Target="slides/slide131.xml"/><Relationship Id="rId73" Type="http://schemas.openxmlformats.org/officeDocument/2006/relationships/slide" Target="slides/slide139.xml"/><Relationship Id="rId78" Type="http://schemas.openxmlformats.org/officeDocument/2006/relationships/slide" Target="slides/slide151.xml"/><Relationship Id="rId81" Type="http://schemas.openxmlformats.org/officeDocument/2006/relationships/slide" Target="slides/slide157.xml"/><Relationship Id="rId86" Type="http://schemas.openxmlformats.org/officeDocument/2006/relationships/slide" Target="slides/slide162.xml"/><Relationship Id="rId94" Type="http://schemas.openxmlformats.org/officeDocument/2006/relationships/slide" Target="slides/slide176.xml"/><Relationship Id="rId99" Type="http://schemas.openxmlformats.org/officeDocument/2006/relationships/slide" Target="slides/slide181.xml"/><Relationship Id="rId101" Type="http://schemas.openxmlformats.org/officeDocument/2006/relationships/slide" Target="slides/slide183.xml"/><Relationship Id="rId4" Type="http://schemas.openxmlformats.org/officeDocument/2006/relationships/slide" Target="slides/slide16.xml"/><Relationship Id="rId9" Type="http://schemas.openxmlformats.org/officeDocument/2006/relationships/slide" Target="slides/slide33.xml"/><Relationship Id="rId13" Type="http://schemas.openxmlformats.org/officeDocument/2006/relationships/slide" Target="slides/slide40.xml"/><Relationship Id="rId18" Type="http://schemas.openxmlformats.org/officeDocument/2006/relationships/slide" Target="slides/slide46.xml"/><Relationship Id="rId39" Type="http://schemas.openxmlformats.org/officeDocument/2006/relationships/slide" Target="slides/slide85.xml"/><Relationship Id="rId34" Type="http://schemas.openxmlformats.org/officeDocument/2006/relationships/slide" Target="slides/slide79.xml"/><Relationship Id="rId50" Type="http://schemas.openxmlformats.org/officeDocument/2006/relationships/slide" Target="slides/slide111.xml"/><Relationship Id="rId55" Type="http://schemas.openxmlformats.org/officeDocument/2006/relationships/slide" Target="slides/slide116.xml"/><Relationship Id="rId76" Type="http://schemas.openxmlformats.org/officeDocument/2006/relationships/slide" Target="slides/slide143.xml"/><Relationship Id="rId97" Type="http://schemas.openxmlformats.org/officeDocument/2006/relationships/slide" Target="slides/slide179.xml"/><Relationship Id="rId104" Type="http://schemas.openxmlformats.org/officeDocument/2006/relationships/slide" Target="slides/slide186.xml"/><Relationship Id="rId7" Type="http://schemas.openxmlformats.org/officeDocument/2006/relationships/slide" Target="slides/slide30.xml"/><Relationship Id="rId71" Type="http://schemas.openxmlformats.org/officeDocument/2006/relationships/slide" Target="slides/slide137.xml"/><Relationship Id="rId92" Type="http://schemas.openxmlformats.org/officeDocument/2006/relationships/slide" Target="slides/slide174.xml"/><Relationship Id="rId2" Type="http://schemas.openxmlformats.org/officeDocument/2006/relationships/slide" Target="slides/slide14.xml"/><Relationship Id="rId29" Type="http://schemas.openxmlformats.org/officeDocument/2006/relationships/slide" Target="slides/slide67.xml"/><Relationship Id="rId24" Type="http://schemas.openxmlformats.org/officeDocument/2006/relationships/slide" Target="slides/slide60.xml"/><Relationship Id="rId40" Type="http://schemas.openxmlformats.org/officeDocument/2006/relationships/slide" Target="slides/slide86.xml"/><Relationship Id="rId45" Type="http://schemas.openxmlformats.org/officeDocument/2006/relationships/slide" Target="slides/slide102.xml"/><Relationship Id="rId66" Type="http://schemas.openxmlformats.org/officeDocument/2006/relationships/slide" Target="slides/slide132.xml"/><Relationship Id="rId87" Type="http://schemas.openxmlformats.org/officeDocument/2006/relationships/slide" Target="slides/slide165.xml"/><Relationship Id="rId61" Type="http://schemas.openxmlformats.org/officeDocument/2006/relationships/slide" Target="slides/slide126.xml"/><Relationship Id="rId82" Type="http://schemas.openxmlformats.org/officeDocument/2006/relationships/slide" Target="slides/slide158.xml"/><Relationship Id="rId19" Type="http://schemas.openxmlformats.org/officeDocument/2006/relationships/slide" Target="slides/slide47.xml"/><Relationship Id="rId14" Type="http://schemas.openxmlformats.org/officeDocument/2006/relationships/slide" Target="slides/slide41.xml"/><Relationship Id="rId30" Type="http://schemas.openxmlformats.org/officeDocument/2006/relationships/slide" Target="slides/slide72.xml"/><Relationship Id="rId35" Type="http://schemas.openxmlformats.org/officeDocument/2006/relationships/slide" Target="slides/slide81.xml"/><Relationship Id="rId56" Type="http://schemas.openxmlformats.org/officeDocument/2006/relationships/slide" Target="slides/slide119.xml"/><Relationship Id="rId77" Type="http://schemas.openxmlformats.org/officeDocument/2006/relationships/slide" Target="slides/slide145.xml"/><Relationship Id="rId100" Type="http://schemas.openxmlformats.org/officeDocument/2006/relationships/slide" Target="slides/slide182.xml"/><Relationship Id="rId8" Type="http://schemas.openxmlformats.org/officeDocument/2006/relationships/slide" Target="slides/slide31.xml"/><Relationship Id="rId51" Type="http://schemas.openxmlformats.org/officeDocument/2006/relationships/slide" Target="slides/slide112.xml"/><Relationship Id="rId72" Type="http://schemas.openxmlformats.org/officeDocument/2006/relationships/slide" Target="slides/slide138.xml"/><Relationship Id="rId93" Type="http://schemas.openxmlformats.org/officeDocument/2006/relationships/slide" Target="slides/slide175.xml"/><Relationship Id="rId98" Type="http://schemas.openxmlformats.org/officeDocument/2006/relationships/slide" Target="slides/slide180.xml"/><Relationship Id="rId3" Type="http://schemas.openxmlformats.org/officeDocument/2006/relationships/slide" Target="slides/slide1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0-14T15:29:55.123" idx="1">
    <p:pos x="5760" y="54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677106AD-7453-4771-A816-8BE5C17FC35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406531" name="Rectangle 3">
            <a:extLst>
              <a:ext uri="{FF2B5EF4-FFF2-40B4-BE49-F238E27FC236}">
                <a16:creationId xmlns:a16="http://schemas.microsoft.com/office/drawing/2014/main" id="{E7C03935-372C-4A50-8BAA-885278AA144C}"/>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a:extLst>
              <a:ext uri="{FF2B5EF4-FFF2-40B4-BE49-F238E27FC236}">
                <a16:creationId xmlns:a16="http://schemas.microsoft.com/office/drawing/2014/main" id="{24271A53-E31A-453B-A961-F04D3CAA457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6533" name="Rectangle 5">
            <a:extLst>
              <a:ext uri="{FF2B5EF4-FFF2-40B4-BE49-F238E27FC236}">
                <a16:creationId xmlns:a16="http://schemas.microsoft.com/office/drawing/2014/main" id="{D9D15A8A-C2CB-45E4-8B82-EA4CE22FD59E}"/>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06534" name="Rectangle 6">
            <a:extLst>
              <a:ext uri="{FF2B5EF4-FFF2-40B4-BE49-F238E27FC236}">
                <a16:creationId xmlns:a16="http://schemas.microsoft.com/office/drawing/2014/main" id="{BB4FA1E0-259C-4913-8A77-9953B06B99F6}"/>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406535" name="Rectangle 7">
            <a:extLst>
              <a:ext uri="{FF2B5EF4-FFF2-40B4-BE49-F238E27FC236}">
                <a16:creationId xmlns:a16="http://schemas.microsoft.com/office/drawing/2014/main" id="{02419D09-CE84-4B29-A355-AFEC121835F1}"/>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E275CA9-1F21-4738-93C2-80A45966581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E275CA9-1F21-4738-93C2-80A45966581F}" type="slidenum">
              <a:rPr lang="en-US" altLang="zh-CN" smtClean="0"/>
              <a:pPr>
                <a:defRPr/>
              </a:pPr>
              <a:t>14</a:t>
            </a:fld>
            <a:endParaRPr lang="en-US" altLang="zh-CN"/>
          </a:p>
        </p:txBody>
      </p:sp>
    </p:spTree>
    <p:extLst>
      <p:ext uri="{BB962C8B-B14F-4D97-AF65-F5344CB8AC3E}">
        <p14:creationId xmlns:p14="http://schemas.microsoft.com/office/powerpoint/2010/main" val="3411945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FDD49FB6-DA60-484E-AE3C-E51F8DCFEDED}"/>
              </a:ext>
            </a:extLst>
          </p:cNvPr>
          <p:cNvSpPr>
            <a:spLocks noGrp="1" noRot="1" noChangeAspect="1" noChangeArrowheads="1" noTextEdit="1"/>
          </p:cNvSpPr>
          <p:nvPr>
            <p:ph type="sldImg"/>
          </p:nvPr>
        </p:nvSpPr>
        <p:spPr>
          <a:ln/>
        </p:spPr>
      </p:sp>
      <p:sp>
        <p:nvSpPr>
          <p:cNvPr id="41987" name="备注占位符 2">
            <a:extLst>
              <a:ext uri="{FF2B5EF4-FFF2-40B4-BE49-F238E27FC236}">
                <a16:creationId xmlns:a16="http://schemas.microsoft.com/office/drawing/2014/main" id="{5E3B9300-6FB4-4460-8D94-F2E0F76CBA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8" name="灯片编号占位符 3">
            <a:extLst>
              <a:ext uri="{FF2B5EF4-FFF2-40B4-BE49-F238E27FC236}">
                <a16:creationId xmlns:a16="http://schemas.microsoft.com/office/drawing/2014/main" id="{54593BD8-0B3A-4F4A-B458-B37759BA12D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2898F9D-5685-47A9-AD8A-F35F592BCE17}" type="slidenum">
              <a:rPr lang="en-US" altLang="zh-CN" smtClean="0"/>
              <a:pPr/>
              <a:t>42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0595573E-49FA-4CEB-BFE0-5D97016EBD7D}"/>
              </a:ext>
            </a:extLst>
          </p:cNvPr>
          <p:cNvSpPr>
            <a:spLocks noGrp="1" noRot="1" noChangeAspect="1" noChangeArrowheads="1" noTextEdit="1"/>
          </p:cNvSpPr>
          <p:nvPr>
            <p:ph type="sldImg"/>
          </p:nvPr>
        </p:nvSpPr>
        <p:spPr>
          <a:ln/>
        </p:spPr>
      </p:sp>
      <p:sp>
        <p:nvSpPr>
          <p:cNvPr id="47107" name="备注占位符 2">
            <a:extLst>
              <a:ext uri="{FF2B5EF4-FFF2-40B4-BE49-F238E27FC236}">
                <a16:creationId xmlns:a16="http://schemas.microsoft.com/office/drawing/2014/main" id="{8009A732-7543-44B4-85AB-9AAA848AAF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灯片编号占位符 3">
            <a:extLst>
              <a:ext uri="{FF2B5EF4-FFF2-40B4-BE49-F238E27FC236}">
                <a16:creationId xmlns:a16="http://schemas.microsoft.com/office/drawing/2014/main" id="{8EBF86E2-B803-460A-A3DA-F04383DD6E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5EFF681-38AD-407C-A6CF-5E7F8522CD06}" type="slidenum">
              <a:rPr lang="en-US" altLang="zh-CN" smtClean="0"/>
              <a:pPr/>
              <a:t>46</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1496EE9E-45B3-4764-9636-6C6F7B4F34E3}"/>
              </a:ext>
            </a:extLst>
          </p:cNvPr>
          <p:cNvSpPr>
            <a:spLocks noGrp="1" noRot="1" noChangeAspect="1" noChangeArrowheads="1" noTextEdit="1"/>
          </p:cNvSpPr>
          <p:nvPr>
            <p:ph type="sldImg"/>
          </p:nvPr>
        </p:nvSpPr>
        <p:spPr>
          <a:ln/>
        </p:spPr>
      </p:sp>
      <p:sp>
        <p:nvSpPr>
          <p:cNvPr id="38915" name="备注占位符 2">
            <a:extLst>
              <a:ext uri="{FF2B5EF4-FFF2-40B4-BE49-F238E27FC236}">
                <a16:creationId xmlns:a16="http://schemas.microsoft.com/office/drawing/2014/main" id="{D75A9994-643E-4AC0-8D69-EB8B2D043AD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灯片编号占位符 3">
            <a:extLst>
              <a:ext uri="{FF2B5EF4-FFF2-40B4-BE49-F238E27FC236}">
                <a16:creationId xmlns:a16="http://schemas.microsoft.com/office/drawing/2014/main" id="{F3792995-C752-4A39-BD8C-D6961F7AC7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6EC0218-73D8-45F1-8A61-75B9F9372052}" type="slidenum">
              <a:rPr lang="en-US" altLang="zh-CN" smtClean="0"/>
              <a:pPr/>
              <a:t>50</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5E275CA9-1F21-4738-93C2-80A45966581F}" type="slidenum">
              <a:rPr lang="en-US" altLang="zh-CN" smtClean="0"/>
              <a:pPr>
                <a:defRPr/>
              </a:pPr>
              <a:t>59</a:t>
            </a:fld>
            <a:endParaRPr lang="en-US" altLang="zh-CN"/>
          </a:p>
        </p:txBody>
      </p:sp>
    </p:spTree>
    <p:extLst>
      <p:ext uri="{BB962C8B-B14F-4D97-AF65-F5344CB8AC3E}">
        <p14:creationId xmlns:p14="http://schemas.microsoft.com/office/powerpoint/2010/main" val="3428849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BB4DD60C-C0B4-4381-AF4D-2268EDA8C214}"/>
              </a:ext>
            </a:extLst>
          </p:cNvPr>
          <p:cNvSpPr>
            <a:spLocks noGrp="1" noRot="1" noChangeAspect="1" noChangeArrowheads="1" noTextEdit="1"/>
          </p:cNvSpPr>
          <p:nvPr>
            <p:ph type="sldImg"/>
          </p:nvPr>
        </p:nvSpPr>
        <p:spPr>
          <a:ln/>
        </p:spPr>
      </p:sp>
      <p:sp>
        <p:nvSpPr>
          <p:cNvPr id="63491" name="备注占位符 2">
            <a:extLst>
              <a:ext uri="{FF2B5EF4-FFF2-40B4-BE49-F238E27FC236}">
                <a16:creationId xmlns:a16="http://schemas.microsoft.com/office/drawing/2014/main" id="{98FE7F96-FD72-4ED1-9958-2C95CCE84D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3492" name="灯片编号占位符 3">
            <a:extLst>
              <a:ext uri="{FF2B5EF4-FFF2-40B4-BE49-F238E27FC236}">
                <a16:creationId xmlns:a16="http://schemas.microsoft.com/office/drawing/2014/main" id="{C997E6C5-E7F0-4F0C-9937-FFD484C9EB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B96B733-4A82-4787-85C3-387C5CF6A803}" type="slidenum">
              <a:rPr lang="en-US" altLang="zh-CN" smtClean="0"/>
              <a:pPr/>
              <a:t>62</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69D572C-768E-46EA-B8BF-04E7E71FCCE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EE5C738-23E5-45A5-B599-EBCC201EC0E9}" type="slidenum">
              <a:rPr lang="en-US" altLang="zh-CN" smtClean="0"/>
              <a:pPr/>
              <a:t>65</a:t>
            </a:fld>
            <a:endParaRPr lang="en-US" altLang="zh-CN"/>
          </a:p>
        </p:txBody>
      </p:sp>
      <p:sp>
        <p:nvSpPr>
          <p:cNvPr id="67587" name="Rectangle 2">
            <a:extLst>
              <a:ext uri="{FF2B5EF4-FFF2-40B4-BE49-F238E27FC236}">
                <a16:creationId xmlns:a16="http://schemas.microsoft.com/office/drawing/2014/main" id="{56715D88-1537-4A78-9BDD-4C45D7A884A0}"/>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1414B950-E10E-4B96-A5B3-D69DB0FA41D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FB3DB414-5BD1-4330-9371-055796549FA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73D2F7-64DB-4346-97D6-AB60CE1DBBC7}" type="slidenum">
              <a:rPr lang="en-US" altLang="zh-CN" smtClean="0"/>
              <a:pPr/>
              <a:t>70</a:t>
            </a:fld>
            <a:endParaRPr lang="en-US" altLang="zh-CN"/>
          </a:p>
        </p:txBody>
      </p:sp>
      <p:sp>
        <p:nvSpPr>
          <p:cNvPr id="75779" name="Rectangle 2">
            <a:extLst>
              <a:ext uri="{FF2B5EF4-FFF2-40B4-BE49-F238E27FC236}">
                <a16:creationId xmlns:a16="http://schemas.microsoft.com/office/drawing/2014/main" id="{83C55DE6-A310-4E6E-AB5D-778B8E8DDB0D}"/>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09783260-B82C-4DBD-94D8-6754747729A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和上节书上的同步例子作比较。相同和不同之处</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314C1672-63C5-44FC-A44A-D16D69F01BA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38E684A-1450-4036-824A-933827829E7B}" type="slidenum">
              <a:rPr lang="en-US" altLang="zh-CN" smtClean="0"/>
              <a:pPr/>
              <a:t>73</a:t>
            </a:fld>
            <a:endParaRPr lang="en-US" altLang="zh-CN"/>
          </a:p>
        </p:txBody>
      </p:sp>
      <p:sp>
        <p:nvSpPr>
          <p:cNvPr id="81923" name="Rectangle 2">
            <a:extLst>
              <a:ext uri="{FF2B5EF4-FFF2-40B4-BE49-F238E27FC236}">
                <a16:creationId xmlns:a16="http://schemas.microsoft.com/office/drawing/2014/main" id="{559926D0-5649-450B-8EBF-C023D75E2F84}"/>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7A856595-99D3-4A91-A017-8238C5E8456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64C8724-1BD8-438B-B3ED-8AFB097F4FB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06548BB-1256-4307-8A72-BB5365831878}" type="slidenum">
              <a:rPr lang="en-US" altLang="zh-CN" smtClean="0"/>
              <a:pPr/>
              <a:t>74</a:t>
            </a:fld>
            <a:endParaRPr lang="en-US" altLang="zh-CN"/>
          </a:p>
        </p:txBody>
      </p:sp>
      <p:sp>
        <p:nvSpPr>
          <p:cNvPr id="83971" name="Rectangle 2">
            <a:extLst>
              <a:ext uri="{FF2B5EF4-FFF2-40B4-BE49-F238E27FC236}">
                <a16:creationId xmlns:a16="http://schemas.microsoft.com/office/drawing/2014/main" id="{139A4F5A-A4AB-4A42-9375-F830F231FCBD}"/>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842C77F9-59EA-4A49-B863-5292460F932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E25CF28B-9D29-45C3-821A-185D7DA467C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F82193B-DF51-4D98-85B2-E3EBD864E5CD}" type="slidenum">
              <a:rPr lang="en-US" altLang="zh-CN" smtClean="0"/>
              <a:pPr/>
              <a:t>75</a:t>
            </a:fld>
            <a:endParaRPr lang="en-US" altLang="zh-CN"/>
          </a:p>
        </p:txBody>
      </p:sp>
      <p:sp>
        <p:nvSpPr>
          <p:cNvPr id="86019" name="Rectangle 2">
            <a:extLst>
              <a:ext uri="{FF2B5EF4-FFF2-40B4-BE49-F238E27FC236}">
                <a16:creationId xmlns:a16="http://schemas.microsoft.com/office/drawing/2014/main" id="{6E38965A-53AB-446F-99C9-2EEC00C07EDB}"/>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2992E825-CD68-4F54-8E58-80320A4085A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死锁</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30EB0929-0C62-47FC-A0FD-19CCD6B2D2D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521188-ED01-4B7A-A20F-30EF17EC42FA}" type="slidenum">
              <a:rPr lang="en-US" altLang="zh-CN" smtClean="0"/>
              <a:pPr/>
              <a:t>76</a:t>
            </a:fld>
            <a:endParaRPr lang="en-US" altLang="zh-CN"/>
          </a:p>
        </p:txBody>
      </p:sp>
      <p:sp>
        <p:nvSpPr>
          <p:cNvPr id="88067" name="Rectangle 2">
            <a:extLst>
              <a:ext uri="{FF2B5EF4-FFF2-40B4-BE49-F238E27FC236}">
                <a16:creationId xmlns:a16="http://schemas.microsoft.com/office/drawing/2014/main" id="{5B089290-2AEB-47D3-9132-01D3961C9458}"/>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64A32CF5-3D22-4832-8A53-37A7B33A2BD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死锁</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C3E54F47-2EAA-4BD5-B2D3-37D1ACB0E875}"/>
              </a:ext>
            </a:extLst>
          </p:cNvPr>
          <p:cNvSpPr>
            <a:spLocks noGrp="1" noRot="1" noChangeAspect="1" noChangeArrowheads="1" noTextEdit="1"/>
          </p:cNvSpPr>
          <p:nvPr>
            <p:ph type="sldImg"/>
          </p:nvPr>
        </p:nvSpPr>
        <p:spPr>
          <a:ln/>
        </p:spPr>
      </p:sp>
      <p:sp>
        <p:nvSpPr>
          <p:cNvPr id="107523" name="备注占位符 2">
            <a:extLst>
              <a:ext uri="{FF2B5EF4-FFF2-40B4-BE49-F238E27FC236}">
                <a16:creationId xmlns:a16="http://schemas.microsoft.com/office/drawing/2014/main" id="{1ECF1ECF-CC64-4A3A-9E1E-FE48CCED50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7524" name="灯片编号占位符 3">
            <a:extLst>
              <a:ext uri="{FF2B5EF4-FFF2-40B4-BE49-F238E27FC236}">
                <a16:creationId xmlns:a16="http://schemas.microsoft.com/office/drawing/2014/main" id="{A6F1B98E-25B1-42CC-85B8-3643602001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BDA31FD-1BB8-4DD9-9FA7-F179CAE0F5EA}" type="slidenum">
              <a:rPr lang="en-US" altLang="zh-CN" smtClean="0"/>
              <a:pPr/>
              <a:t>99</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E7A123F1-6E4B-46B7-AF24-FDC0AD2326A9}"/>
              </a:ext>
            </a:extLst>
          </p:cNvPr>
          <p:cNvGrpSpPr>
            <a:grpSpLocks/>
          </p:cNvGrpSpPr>
          <p:nvPr/>
        </p:nvGrpSpPr>
        <p:grpSpPr bwMode="auto">
          <a:xfrm>
            <a:off x="0" y="3902075"/>
            <a:ext cx="3400425" cy="2949575"/>
            <a:chOff x="0" y="2458"/>
            <a:chExt cx="2142" cy="1858"/>
          </a:xfrm>
        </p:grpSpPr>
        <p:sp>
          <p:nvSpPr>
            <p:cNvPr id="5" name="Freeform 3">
              <a:extLst>
                <a:ext uri="{FF2B5EF4-FFF2-40B4-BE49-F238E27FC236}">
                  <a16:creationId xmlns:a16="http://schemas.microsoft.com/office/drawing/2014/main" id="{83A4EA5C-B4B3-4DDD-9EBC-F60404EB3E91}"/>
                </a:ext>
              </a:extLst>
            </p:cNvPr>
            <p:cNvSpPr>
              <a:spLocks/>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zh-CN" altLang="en-US"/>
            </a:p>
          </p:txBody>
        </p:sp>
        <p:sp>
          <p:nvSpPr>
            <p:cNvPr id="6" name="Freeform 4">
              <a:extLst>
                <a:ext uri="{FF2B5EF4-FFF2-40B4-BE49-F238E27FC236}">
                  <a16:creationId xmlns:a16="http://schemas.microsoft.com/office/drawing/2014/main" id="{BFCF8998-5F4B-41B3-809E-9706360FA0AC}"/>
                </a:ext>
              </a:extLst>
            </p:cNvPr>
            <p:cNvSpPr>
              <a:spLocks/>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p:spPr>
          <p:txBody>
            <a:bodyPr/>
            <a:lstStyle/>
            <a:p>
              <a:pPr eaLnBrk="1" hangingPunct="1">
                <a:defRPr/>
              </a:pPr>
              <a:endParaRPr lang="zh-CN" altLang="en-US"/>
            </a:p>
          </p:txBody>
        </p:sp>
        <p:sp>
          <p:nvSpPr>
            <p:cNvPr id="7" name="Freeform 5">
              <a:extLst>
                <a:ext uri="{FF2B5EF4-FFF2-40B4-BE49-F238E27FC236}">
                  <a16:creationId xmlns:a16="http://schemas.microsoft.com/office/drawing/2014/main" id="{1853271F-F18C-4434-AD39-E93E6A40AA34}"/>
                </a:ext>
              </a:extLst>
            </p:cNvPr>
            <p:cNvSpPr>
              <a:spLocks/>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zh-CN" altLang="en-US"/>
            </a:p>
          </p:txBody>
        </p:sp>
        <p:sp>
          <p:nvSpPr>
            <p:cNvPr id="8" name="Freeform 6">
              <a:extLst>
                <a:ext uri="{FF2B5EF4-FFF2-40B4-BE49-F238E27FC236}">
                  <a16:creationId xmlns:a16="http://schemas.microsoft.com/office/drawing/2014/main" id="{0B9BEE8F-BD53-4638-81D3-C84082A33589}"/>
                </a:ext>
              </a:extLst>
            </p:cNvPr>
            <p:cNvSpPr>
              <a:spLocks/>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zh-CN" altLang="en-US"/>
            </a:p>
          </p:txBody>
        </p:sp>
        <p:sp>
          <p:nvSpPr>
            <p:cNvPr id="9" name="Oval 7">
              <a:extLst>
                <a:ext uri="{FF2B5EF4-FFF2-40B4-BE49-F238E27FC236}">
                  <a16:creationId xmlns:a16="http://schemas.microsoft.com/office/drawing/2014/main" id="{DC52CDE8-9230-4311-8F2F-0AA682F90C3C}"/>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 name="Oval 8">
              <a:extLst>
                <a:ext uri="{FF2B5EF4-FFF2-40B4-BE49-F238E27FC236}">
                  <a16:creationId xmlns:a16="http://schemas.microsoft.com/office/drawing/2014/main" id="{3F597961-F590-4A7B-AD30-8C5A87CBECA1}"/>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1" name="Oval 9">
              <a:extLst>
                <a:ext uri="{FF2B5EF4-FFF2-40B4-BE49-F238E27FC236}">
                  <a16:creationId xmlns:a16="http://schemas.microsoft.com/office/drawing/2014/main" id="{5A799105-D723-4371-91D9-65F7ABAB47E4}"/>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grpSp>
      <p:sp>
        <p:nvSpPr>
          <p:cNvPr id="51210" name="Rectangle 10"/>
          <p:cNvSpPr>
            <a:spLocks noGrp="1" noChangeArrowheads="1"/>
          </p:cNvSpPr>
          <p:nvPr>
            <p:ph type="ctrTitle" sz="quarter"/>
          </p:nvPr>
        </p:nvSpPr>
        <p:spPr>
          <a:xfrm>
            <a:off x="685800" y="1873250"/>
            <a:ext cx="7772400" cy="1555750"/>
          </a:xfrm>
        </p:spPr>
        <p:txBody>
          <a:bodyPr/>
          <a:lstStyle>
            <a:lvl1pPr>
              <a:defRPr sz="4800"/>
            </a:lvl1pPr>
          </a:lstStyle>
          <a:p>
            <a:pPr lvl="0"/>
            <a:r>
              <a:rPr lang="zh-CN" altLang="en-US" noProof="0"/>
              <a:t>单击此处编辑母版标题样式</a:t>
            </a:r>
          </a:p>
        </p:txBody>
      </p:sp>
      <p:sp>
        <p:nvSpPr>
          <p:cNvPr id="51211"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2" name="Rectangle 12">
            <a:extLst>
              <a:ext uri="{FF2B5EF4-FFF2-40B4-BE49-F238E27FC236}">
                <a16:creationId xmlns:a16="http://schemas.microsoft.com/office/drawing/2014/main" id="{D409239C-F493-4191-B28A-49F2A0325EF1}"/>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13" name="Rectangle 13">
            <a:extLst>
              <a:ext uri="{FF2B5EF4-FFF2-40B4-BE49-F238E27FC236}">
                <a16:creationId xmlns:a16="http://schemas.microsoft.com/office/drawing/2014/main" id="{669E728C-A0E1-43C6-990B-2DC52D6F69BF}"/>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14" name="Rectangle 14">
            <a:extLst>
              <a:ext uri="{FF2B5EF4-FFF2-40B4-BE49-F238E27FC236}">
                <a16:creationId xmlns:a16="http://schemas.microsoft.com/office/drawing/2014/main" id="{BCDD8618-4C8E-48C9-930F-F141DBBDFE56}"/>
              </a:ext>
            </a:extLst>
          </p:cNvPr>
          <p:cNvSpPr>
            <a:spLocks noGrp="1" noChangeArrowheads="1"/>
          </p:cNvSpPr>
          <p:nvPr>
            <p:ph type="sldNum" sz="quarter" idx="12"/>
          </p:nvPr>
        </p:nvSpPr>
        <p:spPr/>
        <p:txBody>
          <a:bodyPr/>
          <a:lstStyle>
            <a:lvl1pPr>
              <a:defRPr/>
            </a:lvl1pPr>
          </a:lstStyle>
          <a:p>
            <a:pPr>
              <a:defRPr/>
            </a:pPr>
            <a:fld id="{24DAF683-6053-4D8E-A895-03A8EFB50077}" type="slidenum">
              <a:rPr lang="en-US" altLang="zh-CN"/>
              <a:pPr>
                <a:defRPr/>
              </a:pPr>
              <a:t>‹#›</a:t>
            </a:fld>
            <a:endParaRPr lang="en-US" altLang="zh-CN"/>
          </a:p>
        </p:txBody>
      </p:sp>
    </p:spTree>
    <p:extLst>
      <p:ext uri="{BB962C8B-B14F-4D97-AF65-F5344CB8AC3E}">
        <p14:creationId xmlns:p14="http://schemas.microsoft.com/office/powerpoint/2010/main" val="423467216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12">
            <a:extLst>
              <a:ext uri="{FF2B5EF4-FFF2-40B4-BE49-F238E27FC236}">
                <a16:creationId xmlns:a16="http://schemas.microsoft.com/office/drawing/2014/main" id="{5E8E337E-12C7-4CB6-B5DD-F868935F72E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698A8422-084B-4031-BC08-FEC4B4B43AE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4">
            <a:extLst>
              <a:ext uri="{FF2B5EF4-FFF2-40B4-BE49-F238E27FC236}">
                <a16:creationId xmlns:a16="http://schemas.microsoft.com/office/drawing/2014/main" id="{93554841-47CD-4E01-B283-69E1FA26A273}"/>
              </a:ext>
            </a:extLst>
          </p:cNvPr>
          <p:cNvSpPr>
            <a:spLocks noGrp="1" noChangeArrowheads="1"/>
          </p:cNvSpPr>
          <p:nvPr>
            <p:ph type="sldNum" sz="quarter" idx="12"/>
          </p:nvPr>
        </p:nvSpPr>
        <p:spPr>
          <a:ln/>
        </p:spPr>
        <p:txBody>
          <a:bodyPr/>
          <a:lstStyle>
            <a:lvl1pPr>
              <a:defRPr/>
            </a:lvl1pPr>
          </a:lstStyle>
          <a:p>
            <a:pPr>
              <a:defRPr/>
            </a:pPr>
            <a:fld id="{2F98B74E-345E-4DB6-ACA8-39FE274ED439}" type="slidenum">
              <a:rPr lang="en-US" altLang="zh-CN"/>
              <a:pPr>
                <a:defRPr/>
              </a:pPr>
              <a:t>‹#›</a:t>
            </a:fld>
            <a:endParaRPr lang="en-US" altLang="zh-CN"/>
          </a:p>
        </p:txBody>
      </p:sp>
    </p:spTree>
    <p:extLst>
      <p:ext uri="{BB962C8B-B14F-4D97-AF65-F5344CB8AC3E}">
        <p14:creationId xmlns:p14="http://schemas.microsoft.com/office/powerpoint/2010/main" val="46374552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12">
            <a:extLst>
              <a:ext uri="{FF2B5EF4-FFF2-40B4-BE49-F238E27FC236}">
                <a16:creationId xmlns:a16="http://schemas.microsoft.com/office/drawing/2014/main" id="{1CE07BC1-5AAE-403A-9970-BDB7226EFE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1BE9F742-95DF-4E9F-9F05-DB1B5EE6DEE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4">
            <a:extLst>
              <a:ext uri="{FF2B5EF4-FFF2-40B4-BE49-F238E27FC236}">
                <a16:creationId xmlns:a16="http://schemas.microsoft.com/office/drawing/2014/main" id="{44258AC7-5C95-4C8E-8647-34F1B2EA75D7}"/>
              </a:ext>
            </a:extLst>
          </p:cNvPr>
          <p:cNvSpPr>
            <a:spLocks noGrp="1" noChangeArrowheads="1"/>
          </p:cNvSpPr>
          <p:nvPr>
            <p:ph type="sldNum" sz="quarter" idx="12"/>
          </p:nvPr>
        </p:nvSpPr>
        <p:spPr>
          <a:ln/>
        </p:spPr>
        <p:txBody>
          <a:bodyPr/>
          <a:lstStyle>
            <a:lvl1pPr>
              <a:defRPr/>
            </a:lvl1pPr>
          </a:lstStyle>
          <a:p>
            <a:pPr>
              <a:defRPr/>
            </a:pPr>
            <a:fld id="{ED735C24-062C-441A-921C-8E2699BB23A2}" type="slidenum">
              <a:rPr lang="en-US" altLang="zh-CN"/>
              <a:pPr>
                <a:defRPr/>
              </a:pPr>
              <a:t>‹#›</a:t>
            </a:fld>
            <a:endParaRPr lang="en-US" altLang="zh-CN"/>
          </a:p>
        </p:txBody>
      </p:sp>
    </p:spTree>
    <p:extLst>
      <p:ext uri="{BB962C8B-B14F-4D97-AF65-F5344CB8AC3E}">
        <p14:creationId xmlns:p14="http://schemas.microsoft.com/office/powerpoint/2010/main" val="198270461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12">
            <a:extLst>
              <a:ext uri="{FF2B5EF4-FFF2-40B4-BE49-F238E27FC236}">
                <a16:creationId xmlns:a16="http://schemas.microsoft.com/office/drawing/2014/main" id="{5253A246-7F58-4D9B-8149-9DB6F526ABA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7DBCAB78-E1C2-4B55-81FA-91BA616DA82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4">
            <a:extLst>
              <a:ext uri="{FF2B5EF4-FFF2-40B4-BE49-F238E27FC236}">
                <a16:creationId xmlns:a16="http://schemas.microsoft.com/office/drawing/2014/main" id="{C3620980-987C-44D8-B9C8-2E846E26AAA4}"/>
              </a:ext>
            </a:extLst>
          </p:cNvPr>
          <p:cNvSpPr>
            <a:spLocks noGrp="1" noChangeArrowheads="1"/>
          </p:cNvSpPr>
          <p:nvPr>
            <p:ph type="sldNum" sz="quarter" idx="12"/>
          </p:nvPr>
        </p:nvSpPr>
        <p:spPr>
          <a:ln/>
        </p:spPr>
        <p:txBody>
          <a:bodyPr/>
          <a:lstStyle>
            <a:lvl1pPr>
              <a:defRPr/>
            </a:lvl1pPr>
          </a:lstStyle>
          <a:p>
            <a:pPr>
              <a:defRPr/>
            </a:pPr>
            <a:fld id="{4F4CC645-53A3-4FD0-AC0D-782B73790D7B}" type="slidenum">
              <a:rPr lang="en-US" altLang="zh-CN"/>
              <a:pPr>
                <a:defRPr/>
              </a:pPr>
              <a:t>‹#›</a:t>
            </a:fld>
            <a:endParaRPr lang="en-US" altLang="zh-CN"/>
          </a:p>
        </p:txBody>
      </p:sp>
    </p:spTree>
    <p:extLst>
      <p:ext uri="{BB962C8B-B14F-4D97-AF65-F5344CB8AC3E}">
        <p14:creationId xmlns:p14="http://schemas.microsoft.com/office/powerpoint/2010/main" val="279778362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12">
            <a:extLst>
              <a:ext uri="{FF2B5EF4-FFF2-40B4-BE49-F238E27FC236}">
                <a16:creationId xmlns:a16="http://schemas.microsoft.com/office/drawing/2014/main" id="{E1F7CB7D-B2B2-457C-A6CF-5A59FB5094F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3">
            <a:extLst>
              <a:ext uri="{FF2B5EF4-FFF2-40B4-BE49-F238E27FC236}">
                <a16:creationId xmlns:a16="http://schemas.microsoft.com/office/drawing/2014/main" id="{8BE39847-4C05-4E36-BFD5-A1138278E4A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4">
            <a:extLst>
              <a:ext uri="{FF2B5EF4-FFF2-40B4-BE49-F238E27FC236}">
                <a16:creationId xmlns:a16="http://schemas.microsoft.com/office/drawing/2014/main" id="{A1272525-FB0C-4C24-AA8B-88B148C060B9}"/>
              </a:ext>
            </a:extLst>
          </p:cNvPr>
          <p:cNvSpPr>
            <a:spLocks noGrp="1" noChangeArrowheads="1"/>
          </p:cNvSpPr>
          <p:nvPr>
            <p:ph type="sldNum" sz="quarter" idx="12"/>
          </p:nvPr>
        </p:nvSpPr>
        <p:spPr>
          <a:ln/>
        </p:spPr>
        <p:txBody>
          <a:bodyPr/>
          <a:lstStyle>
            <a:lvl1pPr>
              <a:defRPr/>
            </a:lvl1pPr>
          </a:lstStyle>
          <a:p>
            <a:pPr>
              <a:defRPr/>
            </a:pPr>
            <a:fld id="{DBC99A11-67AD-41F0-A84C-EB1417ECD11D}" type="slidenum">
              <a:rPr lang="en-US" altLang="zh-CN"/>
              <a:pPr>
                <a:defRPr/>
              </a:pPr>
              <a:t>‹#›</a:t>
            </a:fld>
            <a:endParaRPr lang="en-US" altLang="zh-CN"/>
          </a:p>
        </p:txBody>
      </p:sp>
    </p:spTree>
    <p:extLst>
      <p:ext uri="{BB962C8B-B14F-4D97-AF65-F5344CB8AC3E}">
        <p14:creationId xmlns:p14="http://schemas.microsoft.com/office/powerpoint/2010/main" val="23857303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2">
            <a:extLst>
              <a:ext uri="{FF2B5EF4-FFF2-40B4-BE49-F238E27FC236}">
                <a16:creationId xmlns:a16="http://schemas.microsoft.com/office/drawing/2014/main" id="{F373F186-7138-4465-A651-5C6FE02392E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8438E5C5-4255-4FA3-9330-A3AF130CA9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4">
            <a:extLst>
              <a:ext uri="{FF2B5EF4-FFF2-40B4-BE49-F238E27FC236}">
                <a16:creationId xmlns:a16="http://schemas.microsoft.com/office/drawing/2014/main" id="{0D9972BA-0DC5-4334-92DA-4BC09D8B6572}"/>
              </a:ext>
            </a:extLst>
          </p:cNvPr>
          <p:cNvSpPr>
            <a:spLocks noGrp="1" noChangeArrowheads="1"/>
          </p:cNvSpPr>
          <p:nvPr>
            <p:ph type="sldNum" sz="quarter" idx="12"/>
          </p:nvPr>
        </p:nvSpPr>
        <p:spPr>
          <a:ln/>
        </p:spPr>
        <p:txBody>
          <a:bodyPr/>
          <a:lstStyle>
            <a:lvl1pPr>
              <a:defRPr/>
            </a:lvl1pPr>
          </a:lstStyle>
          <a:p>
            <a:pPr>
              <a:defRPr/>
            </a:pPr>
            <a:fld id="{6FB50892-DD42-4747-90AF-772AB2BA53F1}" type="slidenum">
              <a:rPr lang="en-US" altLang="zh-CN"/>
              <a:pPr>
                <a:defRPr/>
              </a:pPr>
              <a:t>‹#›</a:t>
            </a:fld>
            <a:endParaRPr lang="en-US" altLang="zh-CN"/>
          </a:p>
        </p:txBody>
      </p:sp>
    </p:spTree>
    <p:extLst>
      <p:ext uri="{BB962C8B-B14F-4D97-AF65-F5344CB8AC3E}">
        <p14:creationId xmlns:p14="http://schemas.microsoft.com/office/powerpoint/2010/main" val="215371739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1C52E09F-00BA-4B59-BED4-DC150BE2AC9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3">
            <a:extLst>
              <a:ext uri="{FF2B5EF4-FFF2-40B4-BE49-F238E27FC236}">
                <a16:creationId xmlns:a16="http://schemas.microsoft.com/office/drawing/2014/main" id="{B712F831-C5AC-48ED-B7E2-C4641A5C223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4">
            <a:extLst>
              <a:ext uri="{FF2B5EF4-FFF2-40B4-BE49-F238E27FC236}">
                <a16:creationId xmlns:a16="http://schemas.microsoft.com/office/drawing/2014/main" id="{DBDFDC9B-FA6A-48F1-AAC6-8A94084BDDA2}"/>
              </a:ext>
            </a:extLst>
          </p:cNvPr>
          <p:cNvSpPr>
            <a:spLocks noGrp="1" noChangeArrowheads="1"/>
          </p:cNvSpPr>
          <p:nvPr>
            <p:ph type="sldNum" sz="quarter" idx="12"/>
          </p:nvPr>
        </p:nvSpPr>
        <p:spPr>
          <a:ln/>
        </p:spPr>
        <p:txBody>
          <a:bodyPr/>
          <a:lstStyle>
            <a:lvl1pPr>
              <a:defRPr/>
            </a:lvl1pPr>
          </a:lstStyle>
          <a:p>
            <a:pPr>
              <a:defRPr/>
            </a:pPr>
            <a:fld id="{676CA631-6488-4F9C-9290-2D90F03B51E2}" type="slidenum">
              <a:rPr lang="en-US" altLang="zh-CN"/>
              <a:pPr>
                <a:defRPr/>
              </a:pPr>
              <a:t>‹#›</a:t>
            </a:fld>
            <a:endParaRPr lang="en-US" altLang="zh-CN"/>
          </a:p>
        </p:txBody>
      </p:sp>
    </p:spTree>
    <p:extLst>
      <p:ext uri="{BB962C8B-B14F-4D97-AF65-F5344CB8AC3E}">
        <p14:creationId xmlns:p14="http://schemas.microsoft.com/office/powerpoint/2010/main" val="182028298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2">
            <a:extLst>
              <a:ext uri="{FF2B5EF4-FFF2-40B4-BE49-F238E27FC236}">
                <a16:creationId xmlns:a16="http://schemas.microsoft.com/office/drawing/2014/main" id="{E3F939B1-CE44-468D-81C9-07A60082F62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D4345BF-0AA2-4F0D-9179-A9C87529333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4">
            <a:extLst>
              <a:ext uri="{FF2B5EF4-FFF2-40B4-BE49-F238E27FC236}">
                <a16:creationId xmlns:a16="http://schemas.microsoft.com/office/drawing/2014/main" id="{7E8CA75B-8ACE-4833-B28F-67BCA37C5EEA}"/>
              </a:ext>
            </a:extLst>
          </p:cNvPr>
          <p:cNvSpPr>
            <a:spLocks noGrp="1" noChangeArrowheads="1"/>
          </p:cNvSpPr>
          <p:nvPr>
            <p:ph type="sldNum" sz="quarter" idx="12"/>
          </p:nvPr>
        </p:nvSpPr>
        <p:spPr>
          <a:ln/>
        </p:spPr>
        <p:txBody>
          <a:bodyPr/>
          <a:lstStyle>
            <a:lvl1pPr>
              <a:defRPr/>
            </a:lvl1pPr>
          </a:lstStyle>
          <a:p>
            <a:pPr>
              <a:defRPr/>
            </a:pPr>
            <a:fld id="{E278AFE0-7B81-4C2A-AE94-7BC7D46EC738}" type="slidenum">
              <a:rPr lang="en-US" altLang="zh-CN"/>
              <a:pPr>
                <a:defRPr/>
              </a:pPr>
              <a:t>‹#›</a:t>
            </a:fld>
            <a:endParaRPr lang="en-US" altLang="zh-CN"/>
          </a:p>
        </p:txBody>
      </p:sp>
    </p:spTree>
    <p:extLst>
      <p:ext uri="{BB962C8B-B14F-4D97-AF65-F5344CB8AC3E}">
        <p14:creationId xmlns:p14="http://schemas.microsoft.com/office/powerpoint/2010/main" val="308585209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2">
            <a:extLst>
              <a:ext uri="{FF2B5EF4-FFF2-40B4-BE49-F238E27FC236}">
                <a16:creationId xmlns:a16="http://schemas.microsoft.com/office/drawing/2014/main" id="{237FC8B1-A0F3-451A-9AD0-7D4DAD3753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95A8AA7-D7F5-4C6E-8D22-B6A0854C726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4">
            <a:extLst>
              <a:ext uri="{FF2B5EF4-FFF2-40B4-BE49-F238E27FC236}">
                <a16:creationId xmlns:a16="http://schemas.microsoft.com/office/drawing/2014/main" id="{9EE7C4F4-2651-48C6-99E0-C390B4F646E5}"/>
              </a:ext>
            </a:extLst>
          </p:cNvPr>
          <p:cNvSpPr>
            <a:spLocks noGrp="1" noChangeArrowheads="1"/>
          </p:cNvSpPr>
          <p:nvPr>
            <p:ph type="sldNum" sz="quarter" idx="12"/>
          </p:nvPr>
        </p:nvSpPr>
        <p:spPr>
          <a:ln/>
        </p:spPr>
        <p:txBody>
          <a:bodyPr/>
          <a:lstStyle>
            <a:lvl1pPr>
              <a:defRPr/>
            </a:lvl1pPr>
          </a:lstStyle>
          <a:p>
            <a:pPr>
              <a:defRPr/>
            </a:pPr>
            <a:fld id="{90E6F6C5-40C6-4F7C-BE77-757FD3296912}" type="slidenum">
              <a:rPr lang="en-US" altLang="zh-CN"/>
              <a:pPr>
                <a:defRPr/>
              </a:pPr>
              <a:t>‹#›</a:t>
            </a:fld>
            <a:endParaRPr lang="en-US" altLang="zh-CN"/>
          </a:p>
        </p:txBody>
      </p:sp>
    </p:spTree>
    <p:extLst>
      <p:ext uri="{BB962C8B-B14F-4D97-AF65-F5344CB8AC3E}">
        <p14:creationId xmlns:p14="http://schemas.microsoft.com/office/powerpoint/2010/main" val="416292473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12">
            <a:extLst>
              <a:ext uri="{FF2B5EF4-FFF2-40B4-BE49-F238E27FC236}">
                <a16:creationId xmlns:a16="http://schemas.microsoft.com/office/drawing/2014/main" id="{60FE26D2-9179-4955-88E4-9F2549C82A8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EF125EBA-6E6D-483D-BAF7-485BF37AAD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4">
            <a:extLst>
              <a:ext uri="{FF2B5EF4-FFF2-40B4-BE49-F238E27FC236}">
                <a16:creationId xmlns:a16="http://schemas.microsoft.com/office/drawing/2014/main" id="{D2AC9D88-7BEC-45A3-AFB3-8D51747A6548}"/>
              </a:ext>
            </a:extLst>
          </p:cNvPr>
          <p:cNvSpPr>
            <a:spLocks noGrp="1" noChangeArrowheads="1"/>
          </p:cNvSpPr>
          <p:nvPr>
            <p:ph type="sldNum" sz="quarter" idx="12"/>
          </p:nvPr>
        </p:nvSpPr>
        <p:spPr>
          <a:ln/>
        </p:spPr>
        <p:txBody>
          <a:bodyPr/>
          <a:lstStyle>
            <a:lvl1pPr>
              <a:defRPr/>
            </a:lvl1pPr>
          </a:lstStyle>
          <a:p>
            <a:pPr>
              <a:defRPr/>
            </a:pPr>
            <a:fld id="{5C3BC5E6-EE6C-4ECB-9EEC-2D535B70FCC9}" type="slidenum">
              <a:rPr lang="en-US" altLang="zh-CN"/>
              <a:pPr>
                <a:defRPr/>
              </a:pPr>
              <a:t>‹#›</a:t>
            </a:fld>
            <a:endParaRPr lang="en-US" altLang="zh-CN"/>
          </a:p>
        </p:txBody>
      </p:sp>
    </p:spTree>
    <p:extLst>
      <p:ext uri="{BB962C8B-B14F-4D97-AF65-F5344CB8AC3E}">
        <p14:creationId xmlns:p14="http://schemas.microsoft.com/office/powerpoint/2010/main" val="33505423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12">
            <a:extLst>
              <a:ext uri="{FF2B5EF4-FFF2-40B4-BE49-F238E27FC236}">
                <a16:creationId xmlns:a16="http://schemas.microsoft.com/office/drawing/2014/main" id="{7B7E8FBC-EAA5-4B99-901D-6F98CEAD6AE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26239507-8BFF-4D68-A2D2-A883CAA716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4">
            <a:extLst>
              <a:ext uri="{FF2B5EF4-FFF2-40B4-BE49-F238E27FC236}">
                <a16:creationId xmlns:a16="http://schemas.microsoft.com/office/drawing/2014/main" id="{F188E0B6-430D-4228-A576-773B5A5A95C1}"/>
              </a:ext>
            </a:extLst>
          </p:cNvPr>
          <p:cNvSpPr>
            <a:spLocks noGrp="1" noChangeArrowheads="1"/>
          </p:cNvSpPr>
          <p:nvPr>
            <p:ph type="sldNum" sz="quarter" idx="12"/>
          </p:nvPr>
        </p:nvSpPr>
        <p:spPr>
          <a:ln/>
        </p:spPr>
        <p:txBody>
          <a:bodyPr/>
          <a:lstStyle>
            <a:lvl1pPr>
              <a:defRPr/>
            </a:lvl1pPr>
          </a:lstStyle>
          <a:p>
            <a:pPr>
              <a:defRPr/>
            </a:pPr>
            <a:fld id="{B1FBCF55-70FF-49D1-BC97-57DA1C7FB9C3}" type="slidenum">
              <a:rPr lang="en-US" altLang="zh-CN"/>
              <a:pPr>
                <a:defRPr/>
              </a:pPr>
              <a:t>‹#›</a:t>
            </a:fld>
            <a:endParaRPr lang="en-US" altLang="zh-CN"/>
          </a:p>
        </p:txBody>
      </p:sp>
    </p:spTree>
    <p:extLst>
      <p:ext uri="{BB962C8B-B14F-4D97-AF65-F5344CB8AC3E}">
        <p14:creationId xmlns:p14="http://schemas.microsoft.com/office/powerpoint/2010/main" val="401110111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0335679"/>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23级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677844"/>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idx="1"/>
          </p:nvPr>
        </p:nvSpPr>
        <p:spPr>
          <a:xfrm>
            <a:off x="1142976" y="1333485"/>
            <a:ext cx="5572164" cy="57150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r>
              <a:rPr lang="zh-CN" altLang="en-US"/>
              <a:t>单击此处编辑母版文本样式</a:t>
            </a:r>
          </a:p>
        </p:txBody>
      </p:sp>
      <p:pic>
        <p:nvPicPr>
          <p:cNvPr id="7" name="图片 6" descr="小点1.png"/>
          <p:cNvPicPr>
            <a:picLocks noChangeAspect="1"/>
          </p:cNvPicPr>
          <p:nvPr userDrawn="1"/>
        </p:nvPicPr>
        <p:blipFill>
          <a:blip r:embed="rId2" cstate="print"/>
          <a:stretch>
            <a:fillRect/>
          </a:stretch>
        </p:blipFill>
        <p:spPr>
          <a:xfrm>
            <a:off x="1262422" y="2000241"/>
            <a:ext cx="151066" cy="198663"/>
          </a:xfrm>
          <a:prstGeom prst="rect">
            <a:avLst/>
          </a:prstGeom>
          <a:effectLst/>
        </p:spPr>
      </p:pic>
      <p:pic>
        <p:nvPicPr>
          <p:cNvPr id="8" name="图片 7" descr="小点1.png"/>
          <p:cNvPicPr>
            <a:picLocks noChangeAspect="1"/>
          </p:cNvPicPr>
          <p:nvPr userDrawn="1"/>
        </p:nvPicPr>
        <p:blipFill>
          <a:blip r:embed="rId2" cstate="print"/>
          <a:stretch>
            <a:fillRect/>
          </a:stretch>
        </p:blipFill>
        <p:spPr>
          <a:xfrm>
            <a:off x="1491976" y="2456174"/>
            <a:ext cx="151066" cy="198663"/>
          </a:xfrm>
          <a:prstGeom prst="rect">
            <a:avLst/>
          </a:prstGeom>
          <a:effectLst/>
        </p:spPr>
      </p:pic>
      <p:sp>
        <p:nvSpPr>
          <p:cNvPr id="9" name="TextBox 8"/>
          <p:cNvSpPr txBox="1"/>
          <p:nvPr userDrawn="1"/>
        </p:nvSpPr>
        <p:spPr>
          <a:xfrm>
            <a:off x="844893" y="1333485"/>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10" name="内容占位符 2"/>
          <p:cNvSpPr>
            <a:spLocks noGrp="1"/>
          </p:cNvSpPr>
          <p:nvPr>
            <p:ph idx="10"/>
          </p:nvPr>
        </p:nvSpPr>
        <p:spPr>
          <a:xfrm>
            <a:off x="1394986" y="1809739"/>
            <a:ext cx="5320154" cy="57150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r>
              <a:rPr lang="zh-CN" altLang="en-US"/>
              <a:t>单击此处编辑母版文本样式</a:t>
            </a:r>
          </a:p>
        </p:txBody>
      </p:sp>
      <p:sp>
        <p:nvSpPr>
          <p:cNvPr id="11" name="内容占位符 2"/>
          <p:cNvSpPr>
            <a:spLocks noGrp="1"/>
          </p:cNvSpPr>
          <p:nvPr>
            <p:ph idx="11"/>
          </p:nvPr>
        </p:nvSpPr>
        <p:spPr>
          <a:xfrm>
            <a:off x="1676380" y="2285992"/>
            <a:ext cx="5038760" cy="571504"/>
          </a:xfrm>
          <a:prstGeom prst="rect">
            <a:avLst/>
          </a:prstGeom>
        </p:spPr>
        <p:txBody>
          <a:bodyPr/>
          <a:lstStyle>
            <a:lvl1pPr marL="269875" indent="-269875">
              <a:buNone/>
              <a:defRPr sz="18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r>
              <a:rPr lang="zh-CN" altLang="en-US"/>
              <a:t>单击此处编辑母版文本样式</a:t>
            </a:r>
          </a:p>
        </p:txBody>
      </p:sp>
    </p:spTree>
    <p:extLst>
      <p:ext uri="{BB962C8B-B14F-4D97-AF65-F5344CB8AC3E}">
        <p14:creationId xmlns:p14="http://schemas.microsoft.com/office/powerpoint/2010/main" val="1133333712"/>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571472" y="5143512"/>
            <a:ext cx="720000" cy="960000"/>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userDrawn="1"/>
        </p:nvSpPr>
        <p:spPr>
          <a:xfrm>
            <a:off x="928662" y="2190741"/>
            <a:ext cx="720000" cy="960000"/>
          </a:xfrm>
          <a:prstGeom prst="rect">
            <a:avLst/>
          </a:prstGeom>
          <a:gradFill>
            <a:gsLst>
              <a:gs pos="100000">
                <a:srgbClr val="11576A"/>
              </a:gs>
              <a:gs pos="0">
                <a:srgbClr val="0EB1C8"/>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矩形 4"/>
          <p:cNvSpPr/>
          <p:nvPr userDrawn="1"/>
        </p:nvSpPr>
        <p:spPr>
          <a:xfrm>
            <a:off x="1000100" y="1047733"/>
            <a:ext cx="720000" cy="960000"/>
          </a:xfrm>
          <a:prstGeom prst="rect">
            <a:avLst/>
          </a:prstGeom>
          <a:gradFill>
            <a:gsLst>
              <a:gs pos="100000">
                <a:srgbClr val="005072"/>
              </a:gs>
              <a:gs pos="0">
                <a:srgbClr val="0093DD"/>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矩形 5"/>
          <p:cNvSpPr/>
          <p:nvPr userDrawn="1"/>
        </p:nvSpPr>
        <p:spPr>
          <a:xfrm>
            <a:off x="7500958" y="2469000"/>
            <a:ext cx="720000" cy="960000"/>
          </a:xfrm>
          <a:prstGeom prst="rect">
            <a:avLst/>
          </a:prstGeom>
          <a:gradFill>
            <a:gsLst>
              <a:gs pos="100000">
                <a:srgbClr val="FDD000"/>
              </a:gs>
              <a:gs pos="0">
                <a:srgbClr val="FFF9B1"/>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矩形 6"/>
          <p:cNvSpPr/>
          <p:nvPr userDrawn="1"/>
        </p:nvSpPr>
        <p:spPr>
          <a:xfrm>
            <a:off x="928662" y="3619501"/>
            <a:ext cx="720000" cy="960000"/>
          </a:xfrm>
          <a:prstGeom prst="rect">
            <a:avLst/>
          </a:prstGeom>
          <a:gradFill>
            <a:gsLst>
              <a:gs pos="100000">
                <a:srgbClr val="33FFFF"/>
              </a:gs>
              <a:gs pos="0">
                <a:srgbClr val="99FFFF"/>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矩形 7"/>
          <p:cNvSpPr/>
          <p:nvPr userDrawn="1"/>
        </p:nvSpPr>
        <p:spPr>
          <a:xfrm>
            <a:off x="2428860" y="1047733"/>
            <a:ext cx="720000" cy="960000"/>
          </a:xfrm>
          <a:prstGeom prst="rect">
            <a:avLst/>
          </a:prstGeom>
          <a:gradFill>
            <a:gsLst>
              <a:gs pos="100000">
                <a:srgbClr val="339900"/>
              </a:gs>
              <a:gs pos="0">
                <a:srgbClr val="CCFF99"/>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矩形 8"/>
          <p:cNvSpPr/>
          <p:nvPr userDrawn="1"/>
        </p:nvSpPr>
        <p:spPr>
          <a:xfrm>
            <a:off x="7500958" y="1047733"/>
            <a:ext cx="720000" cy="960000"/>
          </a:xfrm>
          <a:prstGeom prst="rect">
            <a:avLst/>
          </a:prstGeom>
          <a:gradFill>
            <a:gsLst>
              <a:gs pos="100000">
                <a:srgbClr val="FF9900"/>
              </a:gs>
              <a:gs pos="0">
                <a:srgbClr val="FFCC66"/>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p:cNvSpPr/>
          <p:nvPr userDrawn="1"/>
        </p:nvSpPr>
        <p:spPr>
          <a:xfrm>
            <a:off x="6357950" y="1047733"/>
            <a:ext cx="720000" cy="960000"/>
          </a:xfrm>
          <a:prstGeom prst="rect">
            <a:avLst/>
          </a:prstGeom>
          <a:gradFill>
            <a:gsLst>
              <a:gs pos="100000">
                <a:srgbClr val="330033"/>
              </a:gs>
              <a:gs pos="0">
                <a:srgbClr val="CC66FF"/>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矩形 10"/>
          <p:cNvSpPr/>
          <p:nvPr userDrawn="1"/>
        </p:nvSpPr>
        <p:spPr>
          <a:xfrm>
            <a:off x="4572000" y="3810003"/>
            <a:ext cx="720000" cy="960000"/>
          </a:xfrm>
          <a:prstGeom prst="rect">
            <a:avLst/>
          </a:prstGeom>
          <a:gradFill>
            <a:gsLst>
              <a:gs pos="100000">
                <a:srgbClr val="666666"/>
              </a:gs>
              <a:gs pos="0">
                <a:srgbClr val="CCCCCC"/>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12"/>
          <p:cNvSpPr/>
          <p:nvPr userDrawn="1"/>
        </p:nvSpPr>
        <p:spPr>
          <a:xfrm>
            <a:off x="6000760" y="3810003"/>
            <a:ext cx="720000" cy="960000"/>
          </a:xfrm>
          <a:prstGeom prst="rect">
            <a:avLst/>
          </a:prstGeom>
          <a:gradFill>
            <a:gsLst>
              <a:gs pos="100000">
                <a:srgbClr val="666666"/>
              </a:gs>
              <a:gs pos="0">
                <a:srgbClr val="CCCCCC"/>
              </a:gs>
            </a:gsLst>
            <a:lin ang="5400000" scaled="0"/>
          </a:gra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31722348"/>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1"/>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1"/>
            <a:ext cx="2133600" cy="366183"/>
          </a:xfrm>
          <a:prstGeom prst="rect">
            <a:avLst/>
          </a:prstGeom>
        </p:spPr>
        <p:txBody>
          <a:bodyPr/>
          <a:lstStyle>
            <a:lvl1pPr fontAlgn="auto">
              <a:spcBef>
                <a:spcPts val="0"/>
              </a:spcBef>
              <a:spcAft>
                <a:spcPts val="0"/>
              </a:spcAft>
              <a:defRPr>
                <a:latin typeface="+mn-lt"/>
                <a:ea typeface="+mn-ea"/>
              </a:defRPr>
            </a:lvl1pPr>
          </a:lstStyle>
          <a:p>
            <a:pPr>
              <a:defRPr/>
            </a:pPr>
            <a:fld id="{41DCB41D-39A2-40DE-BFB0-A73B8E9A6724}" type="datetimeFigureOut">
              <a:rPr lang="zh-CN" altLang="en-US"/>
              <a:t>2025/10/12</a:t>
            </a:fld>
            <a:endParaRPr lang="zh-CN" altLang="en-US"/>
          </a:p>
        </p:txBody>
      </p:sp>
      <p:sp>
        <p:nvSpPr>
          <p:cNvPr id="5" name="页脚占位符 4"/>
          <p:cNvSpPr>
            <a:spLocks noGrp="1"/>
          </p:cNvSpPr>
          <p:nvPr>
            <p:ph type="ftr" sz="quarter" idx="11"/>
          </p:nvPr>
        </p:nvSpPr>
        <p:spPr>
          <a:xfrm>
            <a:off x="3124200" y="6356351"/>
            <a:ext cx="2895600" cy="366183"/>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6356351"/>
            <a:ext cx="2133600" cy="366183"/>
          </a:xfrm>
          <a:prstGeom prst="rect">
            <a:avLst/>
          </a:prstGeom>
        </p:spPr>
        <p:txBody>
          <a:bodyPr/>
          <a:lstStyle>
            <a:lvl1pPr fontAlgn="auto">
              <a:spcBef>
                <a:spcPts val="0"/>
              </a:spcBef>
              <a:spcAft>
                <a:spcPts val="0"/>
              </a:spcAft>
              <a:defRPr>
                <a:latin typeface="+mn-lt"/>
                <a:ea typeface="+mn-ea"/>
              </a:defRPr>
            </a:lvl1pPr>
          </a:lstStyle>
          <a:p>
            <a:pPr>
              <a:defRPr/>
            </a:pPr>
            <a:fld id="{C1152445-1FD3-4E2A-A853-371A9F702701}" type="slidenum">
              <a:rPr lang="zh-CN" altLang="en-US"/>
              <a:t>‹#›</a:t>
            </a:fld>
            <a:endParaRPr lang="zh-CN" altLang="en-US"/>
          </a:p>
        </p:txBody>
      </p:sp>
    </p:spTree>
    <p:extLst>
      <p:ext uri="{BB962C8B-B14F-4D97-AF65-F5344CB8AC3E}">
        <p14:creationId xmlns:p14="http://schemas.microsoft.com/office/powerpoint/2010/main" val="1915665418"/>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3609D7DA-AFA7-4DFB-8A05-DFCDDB3047BB}"/>
              </a:ext>
            </a:extLst>
          </p:cNvPr>
          <p:cNvGrpSpPr>
            <a:grpSpLocks/>
          </p:cNvGrpSpPr>
          <p:nvPr/>
        </p:nvGrpSpPr>
        <p:grpSpPr bwMode="auto">
          <a:xfrm>
            <a:off x="0" y="3902075"/>
            <a:ext cx="3400425" cy="2949575"/>
            <a:chOff x="0" y="2458"/>
            <a:chExt cx="2142" cy="1858"/>
          </a:xfrm>
        </p:grpSpPr>
        <p:sp>
          <p:nvSpPr>
            <p:cNvPr id="50179" name="Freeform 3">
              <a:extLst>
                <a:ext uri="{FF2B5EF4-FFF2-40B4-BE49-F238E27FC236}">
                  <a16:creationId xmlns:a16="http://schemas.microsoft.com/office/drawing/2014/main" id="{0AFD550C-C398-4B19-9A60-E747007C19D3}"/>
                </a:ext>
              </a:extLst>
            </p:cNvPr>
            <p:cNvSpPr>
              <a:spLocks/>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zh-CN" altLang="en-US"/>
            </a:p>
          </p:txBody>
        </p:sp>
        <p:sp>
          <p:nvSpPr>
            <p:cNvPr id="50180" name="Freeform 4">
              <a:extLst>
                <a:ext uri="{FF2B5EF4-FFF2-40B4-BE49-F238E27FC236}">
                  <a16:creationId xmlns:a16="http://schemas.microsoft.com/office/drawing/2014/main" id="{9C6E6994-5804-4F7E-843A-428273C19E58}"/>
                </a:ext>
              </a:extLst>
            </p:cNvPr>
            <p:cNvSpPr>
              <a:spLocks/>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p:spPr>
          <p:txBody>
            <a:bodyPr/>
            <a:lstStyle/>
            <a:p>
              <a:pPr eaLnBrk="1" hangingPunct="1">
                <a:defRPr/>
              </a:pPr>
              <a:endParaRPr lang="zh-CN" altLang="en-US"/>
            </a:p>
          </p:txBody>
        </p:sp>
        <p:sp>
          <p:nvSpPr>
            <p:cNvPr id="50181" name="Freeform 5">
              <a:extLst>
                <a:ext uri="{FF2B5EF4-FFF2-40B4-BE49-F238E27FC236}">
                  <a16:creationId xmlns:a16="http://schemas.microsoft.com/office/drawing/2014/main" id="{96CE83AA-4A64-4568-A61F-35407C38F5D5}"/>
                </a:ext>
              </a:extLst>
            </p:cNvPr>
            <p:cNvSpPr>
              <a:spLocks/>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zh-CN" altLang="en-US"/>
            </a:p>
          </p:txBody>
        </p:sp>
        <p:sp>
          <p:nvSpPr>
            <p:cNvPr id="50182" name="Freeform 6">
              <a:extLst>
                <a:ext uri="{FF2B5EF4-FFF2-40B4-BE49-F238E27FC236}">
                  <a16:creationId xmlns:a16="http://schemas.microsoft.com/office/drawing/2014/main" id="{B70BE1CA-447E-4FA7-B3B5-975D6D6F118E}"/>
                </a:ext>
              </a:extLst>
            </p:cNvPr>
            <p:cNvSpPr>
              <a:spLocks/>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p:spPr>
          <p:txBody>
            <a:bodyPr/>
            <a:lstStyle/>
            <a:p>
              <a:pPr eaLnBrk="1" hangingPunct="1">
                <a:defRPr/>
              </a:pPr>
              <a:endParaRPr lang="zh-CN" altLang="en-US"/>
            </a:p>
          </p:txBody>
        </p:sp>
        <p:sp>
          <p:nvSpPr>
            <p:cNvPr id="1036" name="Oval 7">
              <a:extLst>
                <a:ext uri="{FF2B5EF4-FFF2-40B4-BE49-F238E27FC236}">
                  <a16:creationId xmlns:a16="http://schemas.microsoft.com/office/drawing/2014/main" id="{22CB2FA8-7D1D-4551-8F77-B59298FEAED8}"/>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7" name="Oval 8">
              <a:extLst>
                <a:ext uri="{FF2B5EF4-FFF2-40B4-BE49-F238E27FC236}">
                  <a16:creationId xmlns:a16="http://schemas.microsoft.com/office/drawing/2014/main" id="{4A370660-C600-49D2-9C68-B586D933F257}"/>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8" name="Oval 9">
              <a:extLst>
                <a:ext uri="{FF2B5EF4-FFF2-40B4-BE49-F238E27FC236}">
                  <a16:creationId xmlns:a16="http://schemas.microsoft.com/office/drawing/2014/main" id="{597E1B61-DAF5-4F8E-B9E0-14E595D501C9}"/>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grpSp>
      <p:sp>
        <p:nvSpPr>
          <p:cNvPr id="50186" name="Rectangle 10">
            <a:extLst>
              <a:ext uri="{FF2B5EF4-FFF2-40B4-BE49-F238E27FC236}">
                <a16:creationId xmlns:a16="http://schemas.microsoft.com/office/drawing/2014/main" id="{E019C21C-594D-4470-90D9-C778579186E4}"/>
              </a:ext>
            </a:extLst>
          </p:cNvPr>
          <p:cNvSpPr>
            <a:spLocks noGrp="1" noChangeArrowheads="1"/>
          </p:cNvSpPr>
          <p:nvPr>
            <p:ph type="title"/>
          </p:nvPr>
        </p:nvSpPr>
        <p:spPr bwMode="auto">
          <a:xfrm>
            <a:off x="457200" y="277813"/>
            <a:ext cx="8229600" cy="1139825"/>
          </a:xfrm>
          <a:prstGeom prst="rect">
            <a:avLst/>
          </a:prstGeom>
          <a:noFill/>
          <a:ln>
            <a:noFill/>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50187" name="Rectangle 11">
            <a:extLst>
              <a:ext uri="{FF2B5EF4-FFF2-40B4-BE49-F238E27FC236}">
                <a16:creationId xmlns:a16="http://schemas.microsoft.com/office/drawing/2014/main" id="{A636741F-F30E-45F1-A070-5A66896C5E3C}"/>
              </a:ext>
            </a:extLst>
          </p:cNvPr>
          <p:cNvSpPr>
            <a:spLocks noGrp="1" noChangeArrowheads="1"/>
          </p:cNvSpPr>
          <p:nvPr>
            <p:ph type="body" idx="1"/>
          </p:nvPr>
        </p:nvSpPr>
        <p:spPr bwMode="auto">
          <a:xfrm>
            <a:off x="457200" y="1600200"/>
            <a:ext cx="8229600" cy="4530725"/>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0188" name="Rectangle 12">
            <a:extLst>
              <a:ext uri="{FF2B5EF4-FFF2-40B4-BE49-F238E27FC236}">
                <a16:creationId xmlns:a16="http://schemas.microsoft.com/office/drawing/2014/main" id="{BC0265A7-57AA-4F95-8AE6-229E4075A107}"/>
              </a:ext>
            </a:extLst>
          </p:cNvPr>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10199"/>
                  </a:outerShdw>
                </a:effectLst>
              </a:defRPr>
            </a:lvl1pPr>
          </a:lstStyle>
          <a:p>
            <a:pPr>
              <a:defRPr/>
            </a:pPr>
            <a:endParaRPr lang="en-US" altLang="zh-CN"/>
          </a:p>
        </p:txBody>
      </p:sp>
      <p:sp>
        <p:nvSpPr>
          <p:cNvPr id="50189" name="Rectangle 13">
            <a:extLst>
              <a:ext uri="{FF2B5EF4-FFF2-40B4-BE49-F238E27FC236}">
                <a16:creationId xmlns:a16="http://schemas.microsoft.com/office/drawing/2014/main" id="{A30CA662-2CEB-4FED-AEA9-DBADBEB0F3CA}"/>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10199"/>
                  </a:outerShdw>
                </a:effectLst>
              </a:defRPr>
            </a:lvl1pPr>
          </a:lstStyle>
          <a:p>
            <a:pPr>
              <a:defRPr/>
            </a:pPr>
            <a:endParaRPr lang="en-US" altLang="zh-CN"/>
          </a:p>
        </p:txBody>
      </p:sp>
      <p:sp>
        <p:nvSpPr>
          <p:cNvPr id="50190" name="Rectangle 14">
            <a:extLst>
              <a:ext uri="{FF2B5EF4-FFF2-40B4-BE49-F238E27FC236}">
                <a16:creationId xmlns:a16="http://schemas.microsoft.com/office/drawing/2014/main" id="{5AD5BE90-492A-49DF-831B-08B248995EF7}"/>
              </a:ext>
            </a:extLst>
          </p:cNvPr>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10199"/>
                  </a:outerShdw>
                </a:effectLst>
              </a:defRPr>
            </a:lvl1pPr>
          </a:lstStyle>
          <a:p>
            <a:pPr>
              <a:defRPr/>
            </a:pPr>
            <a:fld id="{03501904-CC73-4838-9F00-9CC6C5063968}" type="slidenum">
              <a:rPr lang="en-US" altLang="zh-CN"/>
              <a:pPr>
                <a:defRPr/>
              </a:pPr>
              <a:t>‹#›</a:t>
            </a:fld>
            <a:endParaRPr lang="en-US" altLang="zh-CN"/>
          </a:p>
        </p:txBody>
      </p:sp>
    </p:spTree>
  </p:cSld>
  <p:clrMap bg1="dk2" tx1="lt1" bg2="dk1" tx2="lt2" accent1="accent1" accent2="accent2" accent3="accent3" accent4="accent4" accent5="accent5" accent6="accent6" hlink="hlink" folHlink="folHlink"/>
  <p:sldLayoutIdLst>
    <p:sldLayoutId id="2147483728"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ransition/>
  <p:txStyles>
    <p:titleStyle>
      <a:lvl1pPr algn="ctr" rtl="0" eaLnBrk="0" fontAlgn="base" hangingPunct="0">
        <a:spcBef>
          <a:spcPct val="0"/>
        </a:spcBef>
        <a:spcAft>
          <a:spcPct val="0"/>
        </a:spcAft>
        <a:defRPr sz="4400" kern="12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l"/>
        <a:defRPr sz="3200" kern="1200">
          <a:solidFill>
            <a:schemeClr val="tx1"/>
          </a:solidFill>
          <a:effectLst>
            <a:outerShdw blurRad="38100" dist="38100" dir="2700000" algn="tl">
              <a:srgbClr val="010199"/>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l"/>
        <a:defRPr sz="2800" kern="1200">
          <a:solidFill>
            <a:schemeClr val="tx1"/>
          </a:solidFill>
          <a:effectLst>
            <a:outerShdw blurRad="38100" dist="38100" dir="2700000" algn="tl">
              <a:srgbClr val="010199"/>
            </a:outerShdw>
          </a:effectLst>
          <a:latin typeface="+mn-lt"/>
          <a:ea typeface="+mn-ea"/>
          <a:cs typeface="+mn-cs"/>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sz="2400" kern="1200">
          <a:solidFill>
            <a:schemeClr val="tx1"/>
          </a:solidFill>
          <a:effectLst>
            <a:outerShdw blurRad="38100" dist="38100" dir="2700000" algn="tl">
              <a:srgbClr val="010199"/>
            </a:outerShdw>
          </a:effectLst>
          <a:latin typeface="+mn-lt"/>
          <a:ea typeface="+mn-ea"/>
          <a:cs typeface="+mn-cs"/>
        </a:defRPr>
      </a:lvl3pPr>
      <a:lvl4pPr marL="1600200" indent="-228600" algn="l" rtl="0" eaLnBrk="0" fontAlgn="base" hangingPunct="0">
        <a:spcBef>
          <a:spcPct val="20000"/>
        </a:spcBef>
        <a:spcAft>
          <a:spcPct val="0"/>
        </a:spcAft>
        <a:buClr>
          <a:schemeClr val="folHlink"/>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4pPr>
      <a:lvl5pPr marL="2057400" indent="-228600" algn="l" rtl="0" eaLnBrk="0" fontAlgn="base" hangingPunct="0">
        <a:spcBef>
          <a:spcPct val="20000"/>
        </a:spcBef>
        <a:spcAft>
          <a:spcPct val="0"/>
        </a:spcAft>
        <a:buClr>
          <a:schemeClr val="tx1"/>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背景1.jpg"/>
          <p:cNvPicPr>
            <a:picLocks noChangeAspect="1"/>
          </p:cNvPicPr>
          <p:nvPr userDrawn="1"/>
        </p:nvPicPr>
        <p:blipFill>
          <a:blip r:embed="rId6" cstate="print"/>
          <a:stretch>
            <a:fillRect/>
          </a:stretch>
        </p:blipFill>
        <p:spPr>
          <a:xfrm>
            <a:off x="244" y="0"/>
            <a:ext cx="9143756" cy="6855912"/>
          </a:xfrm>
          <a:prstGeom prst="rect">
            <a:avLst/>
          </a:prstGeom>
        </p:spPr>
      </p:pic>
    </p:spTree>
    <p:extLst>
      <p:ext uri="{BB962C8B-B14F-4D97-AF65-F5344CB8AC3E}">
        <p14:creationId xmlns:p14="http://schemas.microsoft.com/office/powerpoint/2010/main" val="4051848834"/>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Lst>
  <p:transition>
    <p:wipe dir="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6">
            <a:extLst>
              <a:ext uri="{FF2B5EF4-FFF2-40B4-BE49-F238E27FC236}">
                <a16:creationId xmlns:a16="http://schemas.microsoft.com/office/drawing/2014/main" id="{3CB9CB1A-4DA1-4E83-A30E-A76D91C19B80}"/>
              </a:ext>
            </a:extLst>
          </p:cNvPr>
          <p:cNvSpPr>
            <a:spLocks noGrp="1"/>
          </p:cNvSpPr>
          <p:nvPr>
            <p:ph type="sldNum" sz="quarter" idx="12"/>
          </p:nvPr>
        </p:nvSpPr>
        <p:spPr/>
        <p:txBody>
          <a:bodyPr/>
          <a:lstStyle/>
          <a:p>
            <a:pPr>
              <a:defRPr/>
            </a:pPr>
            <a:fld id="{940A6A42-42E9-4B44-A639-E1EA88FEE501}" type="slidenum">
              <a:rPr lang="en-US" altLang="zh-CN"/>
              <a:pPr>
                <a:defRPr/>
              </a:pPr>
              <a:t>1</a:t>
            </a:fld>
            <a:endParaRPr lang="en-US" altLang="zh-CN"/>
          </a:p>
        </p:txBody>
      </p:sp>
      <p:sp>
        <p:nvSpPr>
          <p:cNvPr id="4099" name="Rectangle 2">
            <a:extLst>
              <a:ext uri="{FF2B5EF4-FFF2-40B4-BE49-F238E27FC236}">
                <a16:creationId xmlns:a16="http://schemas.microsoft.com/office/drawing/2014/main" id="{FA4EAB2D-EFCC-4AA8-AB75-05459F11AEF9}"/>
              </a:ext>
            </a:extLst>
          </p:cNvPr>
          <p:cNvSpPr>
            <a:spLocks noGrp="1" noChangeArrowheads="1"/>
          </p:cNvSpPr>
          <p:nvPr>
            <p:ph type="title"/>
          </p:nvPr>
        </p:nvSpPr>
        <p:spPr>
          <a:xfrm>
            <a:off x="468313" y="260350"/>
            <a:ext cx="8229600" cy="1296988"/>
          </a:xfr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lnSpc>
                <a:spcPct val="70000"/>
              </a:lnSpc>
            </a:pPr>
            <a:r>
              <a:rPr kumimoji="1" lang="zh-CN" altLang="en-US" b="1">
                <a:solidFill>
                  <a:schemeClr val="tx1"/>
                </a:solidFill>
                <a:effectLst/>
              </a:rPr>
              <a:t>第三章  进程管理</a:t>
            </a:r>
          </a:p>
        </p:txBody>
      </p:sp>
      <p:sp>
        <p:nvSpPr>
          <p:cNvPr id="4100" name="Rectangle 5">
            <a:extLst>
              <a:ext uri="{FF2B5EF4-FFF2-40B4-BE49-F238E27FC236}">
                <a16:creationId xmlns:a16="http://schemas.microsoft.com/office/drawing/2014/main" id="{7A339258-1736-4ED4-AEC4-3D63CEB70401}"/>
              </a:ext>
            </a:extLst>
          </p:cNvPr>
          <p:cNvSpPr>
            <a:spLocks noGrp="1" noChangeArrowheads="1"/>
          </p:cNvSpPr>
          <p:nvPr>
            <p:ph type="body" sz="half" idx="1"/>
          </p:nvPr>
        </p:nvSpPr>
        <p:spPr>
          <a:xfrm>
            <a:off x="1835150" y="1628775"/>
            <a:ext cx="5807075" cy="4679950"/>
          </a:xfrm>
        </p:spPr>
        <p:txBody>
          <a:bodyPr/>
          <a:lstStyle/>
          <a:p>
            <a:pPr eaLnBrk="1" hangingPunct="1"/>
            <a:r>
              <a:rPr lang="en-US" altLang="zh-CN" sz="3600" b="1">
                <a:solidFill>
                  <a:srgbClr val="FFFF00"/>
                </a:solidFill>
                <a:effectLst/>
                <a:ea typeface="黑体" panose="02010609060101010101" pitchFamily="49" charset="-122"/>
              </a:rPr>
              <a:t>3.1</a:t>
            </a:r>
            <a:r>
              <a:rPr lang="zh-CN" altLang="en-US" sz="3600" b="1">
                <a:solidFill>
                  <a:srgbClr val="FFFF00"/>
                </a:solidFill>
                <a:effectLst/>
                <a:ea typeface="黑体" panose="02010609060101010101" pitchFamily="49" charset="-122"/>
              </a:rPr>
              <a:t>进程的概念</a:t>
            </a:r>
          </a:p>
          <a:p>
            <a:pPr eaLnBrk="1" hangingPunct="1"/>
            <a:r>
              <a:rPr lang="en-US" altLang="zh-CN" sz="3600" b="1">
                <a:solidFill>
                  <a:srgbClr val="FFFF00"/>
                </a:solidFill>
                <a:effectLst/>
                <a:ea typeface="黑体" panose="02010609060101010101" pitchFamily="49" charset="-122"/>
              </a:rPr>
              <a:t>3.2</a:t>
            </a:r>
            <a:r>
              <a:rPr lang="zh-CN" altLang="en-US" sz="3600" b="1">
                <a:solidFill>
                  <a:srgbClr val="FFFF00"/>
                </a:solidFill>
                <a:effectLst/>
                <a:ea typeface="黑体" panose="02010609060101010101" pitchFamily="49" charset="-122"/>
              </a:rPr>
              <a:t>进程状态及其转换</a:t>
            </a:r>
          </a:p>
          <a:p>
            <a:pPr eaLnBrk="1" hangingPunct="1"/>
            <a:r>
              <a:rPr lang="en-US" altLang="zh-CN" sz="3600" b="1">
                <a:solidFill>
                  <a:srgbClr val="FFFF00"/>
                </a:solidFill>
                <a:effectLst/>
                <a:ea typeface="黑体" panose="02010609060101010101" pitchFamily="49" charset="-122"/>
              </a:rPr>
              <a:t>3.3</a:t>
            </a:r>
            <a:r>
              <a:rPr lang="zh-CN" altLang="en-US" sz="3600" b="1">
                <a:solidFill>
                  <a:srgbClr val="FFFF00"/>
                </a:solidFill>
                <a:effectLst/>
                <a:ea typeface="黑体" panose="02010609060101010101" pitchFamily="49" charset="-122"/>
              </a:rPr>
              <a:t>进程控制</a:t>
            </a:r>
          </a:p>
          <a:p>
            <a:pPr eaLnBrk="1" hangingPunct="1"/>
            <a:r>
              <a:rPr lang="en-US" altLang="zh-CN" sz="3600" b="1">
                <a:solidFill>
                  <a:srgbClr val="FFFF00"/>
                </a:solidFill>
                <a:effectLst/>
                <a:ea typeface="黑体" panose="02010609060101010101" pitchFamily="49" charset="-122"/>
              </a:rPr>
              <a:t>3.4</a:t>
            </a:r>
            <a:r>
              <a:rPr lang="zh-CN" altLang="en-US" sz="3600" b="1">
                <a:solidFill>
                  <a:srgbClr val="FFFF00"/>
                </a:solidFill>
                <a:effectLst/>
                <a:ea typeface="黑体" panose="02010609060101010101" pitchFamily="49" charset="-122"/>
              </a:rPr>
              <a:t>进程的同步与互斥</a:t>
            </a:r>
          </a:p>
          <a:p>
            <a:pPr eaLnBrk="1" hangingPunct="1"/>
            <a:r>
              <a:rPr lang="en-US" altLang="zh-CN" sz="3600" b="1">
                <a:solidFill>
                  <a:srgbClr val="FFFF00"/>
                </a:solidFill>
                <a:effectLst/>
                <a:ea typeface="黑体" panose="02010609060101010101" pitchFamily="49" charset="-122"/>
              </a:rPr>
              <a:t>3.5</a:t>
            </a:r>
            <a:r>
              <a:rPr lang="zh-CN" altLang="en-US" sz="3600" b="1">
                <a:solidFill>
                  <a:srgbClr val="FFFF00"/>
                </a:solidFill>
                <a:effectLst/>
                <a:ea typeface="黑体" panose="02010609060101010101" pitchFamily="49" charset="-122"/>
              </a:rPr>
              <a:t>进程通信</a:t>
            </a:r>
          </a:p>
          <a:p>
            <a:pPr eaLnBrk="1" hangingPunct="1"/>
            <a:r>
              <a:rPr lang="en-US" altLang="zh-CN" sz="3600" b="1">
                <a:solidFill>
                  <a:srgbClr val="FFFF00"/>
                </a:solidFill>
                <a:effectLst/>
                <a:ea typeface="黑体" panose="02010609060101010101" pitchFamily="49" charset="-122"/>
              </a:rPr>
              <a:t>3.6</a:t>
            </a:r>
            <a:r>
              <a:rPr lang="zh-CN" altLang="en-US" sz="3600" b="1">
                <a:solidFill>
                  <a:srgbClr val="FFFF00"/>
                </a:solidFill>
                <a:effectLst/>
                <a:ea typeface="黑体" panose="02010609060101010101" pitchFamily="49" charset="-122"/>
              </a:rPr>
              <a:t>死锁</a:t>
            </a:r>
          </a:p>
          <a:p>
            <a:pPr eaLnBrk="1" hangingPunct="1"/>
            <a:r>
              <a:rPr lang="en-US" altLang="zh-CN" sz="3600" b="1">
                <a:solidFill>
                  <a:srgbClr val="FFFF00"/>
                </a:solidFill>
                <a:effectLst/>
                <a:ea typeface="黑体" panose="02010609060101010101" pitchFamily="49" charset="-122"/>
              </a:rPr>
              <a:t>3.7</a:t>
            </a:r>
            <a:r>
              <a:rPr lang="zh-CN" altLang="en-US" sz="3600" b="1">
                <a:solidFill>
                  <a:srgbClr val="FFFF00"/>
                </a:solidFill>
                <a:effectLst/>
                <a:ea typeface="黑体" panose="02010609060101010101" pitchFamily="49" charset="-122"/>
              </a:rPr>
              <a:t>线程</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53321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282" name="Rectangle 2">
            <a:extLst>
              <a:ext uri="{FF2B5EF4-FFF2-40B4-BE49-F238E27FC236}">
                <a16:creationId xmlns:a16="http://schemas.microsoft.com/office/drawing/2014/main" id="{B8A796FA-AE60-4A65-8039-C54EC9083983}"/>
              </a:ext>
            </a:extLst>
          </p:cNvPr>
          <p:cNvSpPr>
            <a:spLocks noGrp="1" noChangeArrowheads="1"/>
          </p:cNvSpPr>
          <p:nvPr>
            <p:ph type="body" idx="1"/>
          </p:nvPr>
        </p:nvSpPr>
        <p:spPr>
          <a:xfrm>
            <a:off x="539750" y="3284983"/>
            <a:ext cx="7992690" cy="3266629"/>
          </a:xfrm>
        </p:spPr>
        <p:txBody>
          <a:bodyPr/>
          <a:lstStyle/>
          <a:p>
            <a:pPr eaLnBrk="1" hangingPunct="1"/>
            <a:r>
              <a:rPr lang="zh-CN" altLang="en-US" b="1" dirty="0">
                <a:solidFill>
                  <a:srgbClr val="FFFF00"/>
                </a:solidFill>
                <a:effectLst/>
                <a:latin typeface="黑体" panose="02010609060101010101" pitchFamily="49" charset="-122"/>
                <a:ea typeface="黑体" panose="02010609060101010101" pitchFamily="49" charset="-122"/>
              </a:rPr>
              <a:t>并发执行的多个进程，不采取措施，可能导致结果的不可再现性。</a:t>
            </a:r>
          </a:p>
          <a:p>
            <a:pPr eaLnBrk="1" hangingPunct="1"/>
            <a:r>
              <a:rPr lang="zh-CN" altLang="en-US" b="1" dirty="0">
                <a:solidFill>
                  <a:srgbClr val="FFFF00"/>
                </a:solidFill>
                <a:effectLst/>
                <a:latin typeface="黑体" panose="02010609060101010101" pitchFamily="49" charset="-122"/>
                <a:ea typeface="黑体" panose="02010609060101010101" pitchFamily="49" charset="-122"/>
              </a:rPr>
              <a:t>为此，现代操作系统都在内核中设有进程的互斥同步机制，以控制并发执行的诸进程能有效的共享资源和相互合作，使并发程序的执行仍具有可再现性。</a:t>
            </a:r>
          </a:p>
        </p:txBody>
      </p:sp>
      <p:sp>
        <p:nvSpPr>
          <p:cNvPr id="5123" name="Rectangle 4">
            <a:extLst>
              <a:ext uri="{FF2B5EF4-FFF2-40B4-BE49-F238E27FC236}">
                <a16:creationId xmlns:a16="http://schemas.microsoft.com/office/drawing/2014/main" id="{419096A1-EFE1-40A3-A077-B4D94D8D56AC}"/>
              </a:ext>
            </a:extLst>
          </p:cNvPr>
          <p:cNvSpPr>
            <a:spLocks noGrp="1" noChangeArrowheads="1"/>
          </p:cNvSpPr>
          <p:nvPr>
            <p:ph type="title"/>
          </p:nvPr>
        </p:nvSpPr>
        <p:spPr>
          <a:xfrm>
            <a:off x="179388" y="333375"/>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dirty="0">
                <a:solidFill>
                  <a:schemeClr val="tx1"/>
                </a:solidFill>
                <a:effectLst/>
                <a:latin typeface="Times New Roman" panose="02020603050405020304" pitchFamily="18" charset="0"/>
                <a:cs typeface="Times New Roman" panose="02020603050405020304" pitchFamily="18" charset="0"/>
              </a:rPr>
              <a:t>3.4  </a:t>
            </a:r>
            <a:r>
              <a:rPr lang="zh-CN" altLang="en-US" b="1" dirty="0">
                <a:solidFill>
                  <a:schemeClr val="tx1"/>
                </a:solidFill>
                <a:effectLst/>
                <a:latin typeface="Times New Roman" panose="02020603050405020304" pitchFamily="18" charset="0"/>
              </a:rPr>
              <a:t>进程的同步与互斥</a:t>
            </a:r>
            <a:r>
              <a:rPr lang="zh-CN" altLang="en-US" b="1" dirty="0">
                <a:solidFill>
                  <a:schemeClr val="tx1"/>
                </a:solidFill>
                <a:effectLst/>
              </a:rPr>
              <a:t> </a:t>
            </a:r>
          </a:p>
        </p:txBody>
      </p:sp>
      <p:pic>
        <p:nvPicPr>
          <p:cNvPr id="2" name="图片 5">
            <a:extLst>
              <a:ext uri="{FF2B5EF4-FFF2-40B4-BE49-F238E27FC236}">
                <a16:creationId xmlns:a16="http://schemas.microsoft.com/office/drawing/2014/main" id="{EDDEF32D-E975-67F6-16C6-280325755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96752"/>
            <a:ext cx="8229600" cy="194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81282">
                                            <p:txEl>
                                              <p:pRg st="0" end="0"/>
                                            </p:txEl>
                                          </p:spTgt>
                                        </p:tgtEl>
                                        <p:attrNameLst>
                                          <p:attrName>style.visibility</p:attrName>
                                        </p:attrNameLst>
                                      </p:cBhvr>
                                      <p:to>
                                        <p:strVal val="visible"/>
                                      </p:to>
                                    </p:set>
                                    <p:animEffect transition="in" filter="box(out)">
                                      <p:cBhvr>
                                        <p:cTn id="7" dur="500"/>
                                        <p:tgtEl>
                                          <p:spTgt spid="48128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81282">
                                            <p:txEl>
                                              <p:pRg st="1" end="1"/>
                                            </p:txEl>
                                          </p:spTgt>
                                        </p:tgtEl>
                                        <p:attrNameLst>
                                          <p:attrName>style.visibility</p:attrName>
                                        </p:attrNameLst>
                                      </p:cBhvr>
                                      <p:to>
                                        <p:strVal val="visible"/>
                                      </p:to>
                                    </p:set>
                                    <p:animEffect transition="in" filter="box(out)">
                                      <p:cBhvr>
                                        <p:cTn id="12" dur="500"/>
                                        <p:tgtEl>
                                          <p:spTgt spid="481282">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2"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454DA3B8-3EF9-4C4B-BA91-3ADCA3FFD348}"/>
              </a:ext>
            </a:extLst>
          </p:cNvPr>
          <p:cNvSpPr>
            <a:spLocks noGrp="1" noChangeArrowheads="1"/>
          </p:cNvSpPr>
          <p:nvPr>
            <p:ph type="body" idx="1"/>
          </p:nvPr>
        </p:nvSpPr>
        <p:spPr>
          <a:xfrm>
            <a:off x="1331913" y="1773238"/>
            <a:ext cx="6335712" cy="4895850"/>
          </a:xfrm>
        </p:spPr>
        <p:txBody>
          <a:bodyPr/>
          <a:lstStyle/>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3.4.1 </a:t>
            </a:r>
            <a:r>
              <a:rPr lang="zh-CN" altLang="en-US" sz="3600" b="1" dirty="0">
                <a:solidFill>
                  <a:srgbClr val="FFFF00"/>
                </a:solidFill>
                <a:effectLst/>
                <a:latin typeface="黑体" panose="02010609060101010101" pitchFamily="49" charset="-122"/>
                <a:ea typeface="黑体" panose="02010609060101010101" pitchFamily="49" charset="-122"/>
              </a:rPr>
              <a:t>进程间的制约关系</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3.4.2 </a:t>
            </a:r>
            <a:r>
              <a:rPr lang="zh-CN" altLang="en-US" sz="3600" b="1" dirty="0">
                <a:solidFill>
                  <a:srgbClr val="FFFF00"/>
                </a:solidFill>
                <a:effectLst/>
                <a:latin typeface="黑体" panose="02010609060101010101" pitchFamily="49" charset="-122"/>
                <a:ea typeface="黑体" panose="02010609060101010101" pitchFamily="49" charset="-122"/>
              </a:rPr>
              <a:t>进程互斥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3.4.3 </a:t>
            </a:r>
            <a:r>
              <a:rPr lang="zh-CN" altLang="en-US" sz="3600" b="1" dirty="0">
                <a:solidFill>
                  <a:srgbClr val="FFFF00"/>
                </a:solidFill>
                <a:effectLst/>
                <a:latin typeface="黑体" panose="02010609060101010101" pitchFamily="49" charset="-122"/>
                <a:ea typeface="黑体" panose="02010609060101010101" pitchFamily="49" charset="-122"/>
              </a:rPr>
              <a:t>进程同步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3.4.4 </a:t>
            </a:r>
            <a:r>
              <a:rPr lang="zh-CN" altLang="en-US" sz="3600" b="1" dirty="0">
                <a:solidFill>
                  <a:srgbClr val="FFFF00"/>
                </a:solidFill>
                <a:effectLst/>
                <a:latin typeface="黑体" panose="02010609060101010101" pitchFamily="49" charset="-122"/>
                <a:ea typeface="黑体" panose="02010609060101010101" pitchFamily="49" charset="-122"/>
              </a:rPr>
              <a:t>信号量机制</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3.4.5 </a:t>
            </a:r>
            <a:r>
              <a:rPr lang="zh-CN" altLang="en-US" sz="3600" b="1" dirty="0">
                <a:solidFill>
                  <a:srgbClr val="FFFF00"/>
                </a:solidFill>
                <a:effectLst/>
                <a:latin typeface="黑体" panose="02010609060101010101" pitchFamily="49" charset="-122"/>
                <a:ea typeface="黑体" panose="02010609060101010101" pitchFamily="49" charset="-122"/>
              </a:rPr>
              <a:t>经典同步互斥问题</a:t>
            </a:r>
          </a:p>
        </p:txBody>
      </p:sp>
      <p:sp>
        <p:nvSpPr>
          <p:cNvPr id="6147" name="Rectangle 3">
            <a:extLst>
              <a:ext uri="{FF2B5EF4-FFF2-40B4-BE49-F238E27FC236}">
                <a16:creationId xmlns:a16="http://schemas.microsoft.com/office/drawing/2014/main" id="{F56EA621-430E-44A3-A8F5-E79B5AE76CF6}"/>
              </a:ext>
            </a:extLst>
          </p:cNvPr>
          <p:cNvSpPr>
            <a:spLocks noGrp="1" noChangeArrowheads="1"/>
          </p:cNvSpPr>
          <p:nvPr>
            <p:ph type="title"/>
          </p:nvPr>
        </p:nvSpPr>
        <p:spPr>
          <a:xfrm>
            <a:off x="179388" y="333375"/>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3.4  </a:t>
            </a:r>
            <a:r>
              <a:rPr lang="zh-CN" altLang="en-US" b="1">
                <a:solidFill>
                  <a:schemeClr val="tx1"/>
                </a:solidFill>
                <a:effectLst/>
                <a:latin typeface="Times New Roman" panose="02020603050405020304" pitchFamily="18" charset="0"/>
              </a:rPr>
              <a:t>进程的同步与互斥</a:t>
            </a:r>
            <a:r>
              <a:rPr lang="zh-CN" altLang="en-US" b="1">
                <a:solidFill>
                  <a:schemeClr val="tx1"/>
                </a:solidFill>
                <a:effectLst/>
              </a:rPr>
              <a:t> </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9170">
                                            <p:txEl>
                                              <p:pRg st="0" end="0"/>
                                            </p:txEl>
                                          </p:spTgt>
                                        </p:tgtEl>
                                        <p:attrNameLst>
                                          <p:attrName>style.visibility</p:attrName>
                                        </p:attrNameLst>
                                      </p:cBhvr>
                                      <p:to>
                                        <p:strVal val="visible"/>
                                      </p:to>
                                    </p:set>
                                    <p:animEffect transition="in" filter="box(out)">
                                      <p:cBhvr>
                                        <p:cTn id="7" dur="500"/>
                                        <p:tgtEl>
                                          <p:spTgt spid="51917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9170">
                                            <p:txEl>
                                              <p:pRg st="1" end="1"/>
                                            </p:txEl>
                                          </p:spTgt>
                                        </p:tgtEl>
                                        <p:attrNameLst>
                                          <p:attrName>style.visibility</p:attrName>
                                        </p:attrNameLst>
                                      </p:cBhvr>
                                      <p:to>
                                        <p:strVal val="visible"/>
                                      </p:to>
                                    </p:set>
                                    <p:animEffect transition="in" filter="box(out)">
                                      <p:cBhvr>
                                        <p:cTn id="12" dur="500"/>
                                        <p:tgtEl>
                                          <p:spTgt spid="519170">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9170">
                                            <p:txEl>
                                              <p:pRg st="2" end="2"/>
                                            </p:txEl>
                                          </p:spTgt>
                                        </p:tgtEl>
                                        <p:attrNameLst>
                                          <p:attrName>style.visibility</p:attrName>
                                        </p:attrNameLst>
                                      </p:cBhvr>
                                      <p:to>
                                        <p:strVal val="visible"/>
                                      </p:to>
                                    </p:set>
                                    <p:animEffect transition="in" filter="box(out)">
                                      <p:cBhvr>
                                        <p:cTn id="17" dur="500"/>
                                        <p:tgtEl>
                                          <p:spTgt spid="519170">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19170">
                                            <p:txEl>
                                              <p:pRg st="3" end="3"/>
                                            </p:txEl>
                                          </p:spTgt>
                                        </p:tgtEl>
                                        <p:attrNameLst>
                                          <p:attrName>style.visibility</p:attrName>
                                        </p:attrNameLst>
                                      </p:cBhvr>
                                      <p:to>
                                        <p:strVal val="visible"/>
                                      </p:to>
                                    </p:set>
                                    <p:animEffect transition="in" filter="box(out)">
                                      <p:cBhvr>
                                        <p:cTn id="22" dur="500"/>
                                        <p:tgtEl>
                                          <p:spTgt spid="519170">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19170">
                                            <p:txEl>
                                              <p:pRg st="4" end="4"/>
                                            </p:txEl>
                                          </p:spTgt>
                                        </p:tgtEl>
                                        <p:attrNameLst>
                                          <p:attrName>style.visibility</p:attrName>
                                        </p:attrNameLst>
                                      </p:cBhvr>
                                      <p:to>
                                        <p:strVal val="visible"/>
                                      </p:to>
                                    </p:set>
                                    <p:animEffect transition="in" filter="box(out)">
                                      <p:cBhvr>
                                        <p:cTn id="27" dur="500"/>
                                        <p:tgtEl>
                                          <p:spTgt spid="519170">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B9EBDA9-8D07-4532-B241-F5F08C0342C4}"/>
              </a:ext>
            </a:extLst>
          </p:cNvPr>
          <p:cNvSpPr>
            <a:spLocks noGrp="1" noChangeArrowheads="1"/>
          </p:cNvSpPr>
          <p:nvPr>
            <p:ph type="body" idx="1"/>
          </p:nvPr>
        </p:nvSpPr>
        <p:spPr>
          <a:xfrm>
            <a:off x="684213" y="1916832"/>
            <a:ext cx="7777162" cy="4458568"/>
          </a:xfrm>
        </p:spPr>
        <p:txBody>
          <a:bodyPr/>
          <a:lstStyle/>
          <a:p>
            <a:pPr algn="just"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系统中存在的这些进程之间存在两种关系：</a:t>
            </a:r>
          </a:p>
          <a:p>
            <a:pPr algn="just" eaLnBrk="1" hangingPunct="1"/>
            <a:r>
              <a:rPr lang="zh-CN" altLang="en-US" b="1" dirty="0">
                <a:solidFill>
                  <a:srgbClr val="FFFF00"/>
                </a:solidFill>
                <a:effectLst/>
                <a:latin typeface="黑体" panose="02010609060101010101" pitchFamily="49" charset="-122"/>
                <a:ea typeface="黑体" panose="02010609060101010101" pitchFamily="49" charset="-122"/>
              </a:rPr>
              <a:t>资源共享关系（间接制约）：例如共享</a:t>
            </a:r>
            <a:r>
              <a:rPr lang="en-US" altLang="zh-CN" b="1" dirty="0">
                <a:solidFill>
                  <a:srgbClr val="FFFF00"/>
                </a:solidFill>
                <a:effectLst/>
                <a:latin typeface="黑体" panose="02010609060101010101" pitchFamily="49" charset="-122"/>
                <a:ea typeface="黑体" panose="02010609060101010101" pitchFamily="49" charset="-122"/>
              </a:rPr>
              <a:t>I/O</a:t>
            </a:r>
            <a:r>
              <a:rPr lang="zh-CN" altLang="en-US" b="1" dirty="0">
                <a:solidFill>
                  <a:srgbClr val="FFFF00"/>
                </a:solidFill>
                <a:effectLst/>
                <a:latin typeface="黑体" panose="02010609060101010101" pitchFamily="49" charset="-122"/>
                <a:ea typeface="黑体" panose="02010609060101010101" pitchFamily="49" charset="-122"/>
              </a:rPr>
              <a:t>设备、共享数据内存等</a:t>
            </a:r>
            <a:endParaRPr lang="zh-CN" altLang="en-US" b="1" dirty="0">
              <a:solidFill>
                <a:srgbClr val="FFFF00"/>
              </a:solidFill>
              <a:effectLst/>
              <a:latin typeface="黑体" panose="02010609060101010101" pitchFamily="49" charset="-122"/>
              <a:ea typeface="黑体" panose="02010609060101010101" pitchFamily="49" charset="-122"/>
              <a:cs typeface="Times New Roman" panose="02020603050405020304" pitchFamily="18" charset="0"/>
            </a:endParaRPr>
          </a:p>
          <a:p>
            <a:pPr eaLnBrk="1" hangingPunct="1"/>
            <a:r>
              <a:rPr lang="zh-CN" altLang="en-US" b="1" dirty="0">
                <a:solidFill>
                  <a:srgbClr val="FFFF00"/>
                </a:solidFill>
                <a:effectLst/>
                <a:latin typeface="黑体" panose="02010609060101010101" pitchFamily="49" charset="-122"/>
                <a:ea typeface="黑体" panose="02010609060101010101" pitchFamily="49" charset="-122"/>
              </a:rPr>
              <a:t>相互合作关系（直接制约）：例如在输入进程、计算进程和打印进程三者之间 </a:t>
            </a:r>
          </a:p>
        </p:txBody>
      </p:sp>
      <p:sp>
        <p:nvSpPr>
          <p:cNvPr id="7171" name="Rectangle 3">
            <a:extLst>
              <a:ext uri="{FF2B5EF4-FFF2-40B4-BE49-F238E27FC236}">
                <a16:creationId xmlns:a16="http://schemas.microsoft.com/office/drawing/2014/main" id="{FF3039BF-7AF9-46A9-B70A-4D5553E62086}"/>
              </a:ext>
            </a:extLst>
          </p:cNvPr>
          <p:cNvSpPr>
            <a:spLocks noGrp="1" noChangeArrowheads="1"/>
          </p:cNvSpPr>
          <p:nvPr>
            <p:ph type="title"/>
          </p:nvPr>
        </p:nvSpPr>
        <p:spPr>
          <a:xfrm>
            <a:off x="179388" y="333375"/>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3.4.1   </a:t>
            </a:r>
            <a:r>
              <a:rPr lang="zh-CN" altLang="en-US" b="1">
                <a:solidFill>
                  <a:schemeClr val="tx1"/>
                </a:solidFill>
                <a:effectLst/>
                <a:latin typeface="Times New Roman" panose="02020603050405020304" pitchFamily="18" charset="0"/>
              </a:rPr>
              <a:t>进程间的制约关系</a:t>
            </a:r>
            <a:r>
              <a:rPr lang="zh-CN" altLang="en-US" b="1">
                <a:solidFill>
                  <a:schemeClr val="tx1"/>
                </a:solidFill>
                <a:effectLst/>
              </a:rPr>
              <a:t> </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2A0CE47-DFDD-45BC-8774-5A119EDD6620}"/>
              </a:ext>
            </a:extLst>
          </p:cNvPr>
          <p:cNvSpPr>
            <a:spLocks noGrp="1" noChangeArrowheads="1"/>
          </p:cNvSpPr>
          <p:nvPr>
            <p:ph type="body" idx="1"/>
          </p:nvPr>
        </p:nvSpPr>
        <p:spPr>
          <a:xfrm>
            <a:off x="395288" y="404664"/>
            <a:ext cx="8424862" cy="6453336"/>
          </a:xfrm>
        </p:spPr>
        <p:txBody>
          <a:bodyPr/>
          <a:lstStyle/>
          <a:p>
            <a:pPr eaLnBrk="1" hangingPunct="1"/>
            <a:r>
              <a:rPr lang="en-US" altLang="zh-CN" sz="2800" b="1" dirty="0">
                <a:solidFill>
                  <a:srgbClr val="FFFF00"/>
                </a:solidFill>
                <a:effectLst/>
                <a:latin typeface="黑体" panose="02010609060101010101" pitchFamily="49" charset="-122"/>
                <a:ea typeface="黑体" panose="02010609060101010101" pitchFamily="49" charset="-122"/>
              </a:rPr>
              <a:t>1</a:t>
            </a:r>
            <a:r>
              <a:rPr lang="zh-CN" altLang="en-US" sz="2800" b="1" dirty="0">
                <a:solidFill>
                  <a:srgbClr val="FFFF00"/>
                </a:solidFill>
                <a:effectLst/>
                <a:latin typeface="黑体" panose="02010609060101010101" pitchFamily="49" charset="-122"/>
                <a:ea typeface="黑体" panose="02010609060101010101" pitchFamily="49" charset="-122"/>
              </a:rPr>
              <a:t>．间接制约关系</a:t>
            </a:r>
          </a:p>
          <a:p>
            <a:pPr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多个进程之间彼此无关，它们并不知道其他进程的存在，但这些进程既然是同处于一个系统中，也就必然存在着资源共享的关系。</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Char char="ü"/>
            </a:pP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例如，在仅有一台打印机的系统中，有两个进程</a:t>
            </a:r>
            <a:r>
              <a:rPr lang="en-US" altLang="zh-CN" sz="2800" b="1" dirty="0">
                <a:solidFill>
                  <a:srgbClr val="FFFF00"/>
                </a:solidFill>
                <a:effectLst/>
                <a:latin typeface="黑体" panose="02010609060101010101" pitchFamily="49" charset="-122"/>
                <a:ea typeface="黑体" panose="02010609060101010101" pitchFamily="49" charset="-122"/>
              </a:rPr>
              <a:t>A</a:t>
            </a:r>
            <a:r>
              <a:rPr lang="zh-CN" altLang="en-US" sz="2800" b="1" dirty="0">
                <a:solidFill>
                  <a:srgbClr val="FFFF00"/>
                </a:solidFill>
                <a:effectLst/>
                <a:latin typeface="黑体" panose="02010609060101010101" pitchFamily="49" charset="-122"/>
                <a:ea typeface="黑体" panose="02010609060101010101" pitchFamily="49" charset="-122"/>
              </a:rPr>
              <a:t>和</a:t>
            </a:r>
            <a:r>
              <a:rPr lang="en-US" altLang="zh-CN" sz="2800" b="1" dirty="0">
                <a:solidFill>
                  <a:srgbClr val="FFFF00"/>
                </a:solidFill>
                <a:effectLst/>
                <a:latin typeface="黑体" panose="02010609060101010101" pitchFamily="49" charset="-122"/>
                <a:ea typeface="黑体" panose="02010609060101010101" pitchFamily="49" charset="-122"/>
              </a:rPr>
              <a:t>B</a:t>
            </a:r>
            <a:r>
              <a:rPr lang="zh-CN" altLang="en-US" sz="2800" b="1" dirty="0">
                <a:solidFill>
                  <a:srgbClr val="FFFF00"/>
                </a:solidFill>
                <a:effectLst/>
                <a:latin typeface="黑体" panose="02010609060101010101" pitchFamily="49" charset="-122"/>
                <a:ea typeface="黑体" panose="02010609060101010101" pitchFamily="49" charset="-122"/>
              </a:rPr>
              <a:t>，如果在</a:t>
            </a:r>
            <a:r>
              <a:rPr lang="en-US" altLang="zh-CN" sz="2800" b="1" dirty="0">
                <a:solidFill>
                  <a:srgbClr val="FFFF00"/>
                </a:solidFill>
                <a:effectLst/>
                <a:latin typeface="黑体" panose="02010609060101010101" pitchFamily="49" charset="-122"/>
                <a:ea typeface="黑体" panose="02010609060101010101" pitchFamily="49" charset="-122"/>
              </a:rPr>
              <a:t>A</a:t>
            </a:r>
            <a:r>
              <a:rPr lang="zh-CN" altLang="en-US" sz="2800" b="1" dirty="0">
                <a:solidFill>
                  <a:srgbClr val="FFFF00"/>
                </a:solidFill>
                <a:effectLst/>
                <a:latin typeface="黑体" panose="02010609060101010101" pitchFamily="49" charset="-122"/>
                <a:ea typeface="黑体" panose="02010609060101010101" pitchFamily="49" charset="-122"/>
              </a:rPr>
              <a:t>进程提出打印请求时，系统已将打印机分配给进程</a:t>
            </a:r>
            <a:r>
              <a:rPr lang="en-US" altLang="zh-CN" sz="2800" b="1" dirty="0">
                <a:solidFill>
                  <a:srgbClr val="FFFF00"/>
                </a:solidFill>
                <a:effectLst/>
                <a:latin typeface="黑体" panose="02010609060101010101" pitchFamily="49" charset="-122"/>
                <a:ea typeface="黑体" panose="02010609060101010101" pitchFamily="49" charset="-122"/>
              </a:rPr>
              <a:t>B</a:t>
            </a:r>
            <a:r>
              <a:rPr lang="zh-CN" altLang="en-US" sz="2800" b="1" dirty="0">
                <a:solidFill>
                  <a:srgbClr val="FFFF00"/>
                </a:solidFill>
                <a:effectLst/>
                <a:latin typeface="黑体" panose="02010609060101010101" pitchFamily="49" charset="-122"/>
                <a:ea typeface="黑体" panose="02010609060101010101" pitchFamily="49" charset="-122"/>
              </a:rPr>
              <a:t>，则系统让</a:t>
            </a:r>
            <a:r>
              <a:rPr lang="en-US" altLang="zh-CN" sz="2800" b="1" dirty="0">
                <a:solidFill>
                  <a:srgbClr val="FFFF00"/>
                </a:solidFill>
                <a:effectLst/>
                <a:latin typeface="黑体" panose="02010609060101010101" pitchFamily="49" charset="-122"/>
                <a:ea typeface="黑体" panose="02010609060101010101" pitchFamily="49" charset="-122"/>
              </a:rPr>
              <a:t>A</a:t>
            </a:r>
            <a:r>
              <a:rPr lang="zh-CN" altLang="en-US" sz="2800" b="1" dirty="0">
                <a:solidFill>
                  <a:srgbClr val="FFFF00"/>
                </a:solidFill>
                <a:effectLst/>
                <a:latin typeface="黑体" panose="02010609060101010101" pitchFamily="49" charset="-122"/>
                <a:ea typeface="黑体" panose="02010609060101010101" pitchFamily="49" charset="-122"/>
              </a:rPr>
              <a:t>进程等待，直至</a:t>
            </a:r>
            <a:r>
              <a:rPr lang="en-US" altLang="zh-CN" sz="2800" b="1" dirty="0">
                <a:solidFill>
                  <a:srgbClr val="FFFF00"/>
                </a:solidFill>
                <a:effectLst/>
                <a:latin typeface="黑体" panose="02010609060101010101" pitchFamily="49" charset="-122"/>
                <a:ea typeface="黑体" panose="02010609060101010101" pitchFamily="49" charset="-122"/>
              </a:rPr>
              <a:t>B</a:t>
            </a:r>
            <a:r>
              <a:rPr lang="zh-CN" altLang="en-US" sz="2800" b="1" dirty="0">
                <a:solidFill>
                  <a:srgbClr val="FFFF00"/>
                </a:solidFill>
                <a:effectLst/>
                <a:latin typeface="黑体" panose="02010609060101010101" pitchFamily="49" charset="-122"/>
                <a:ea typeface="黑体" panose="02010609060101010101" pitchFamily="49" charset="-122"/>
              </a:rPr>
              <a:t>将打印机用完并释放后，系统才将打印机分配给进程</a:t>
            </a:r>
            <a:r>
              <a:rPr lang="en-US" altLang="zh-CN" sz="2800" b="1" dirty="0">
                <a:solidFill>
                  <a:srgbClr val="FFFF00"/>
                </a:solidFill>
                <a:effectLst/>
                <a:latin typeface="黑体" panose="02010609060101010101" pitchFamily="49" charset="-122"/>
                <a:ea typeface="黑体" panose="02010609060101010101" pitchFamily="49" charset="-122"/>
              </a:rPr>
              <a:t>A</a:t>
            </a:r>
            <a:r>
              <a:rPr lang="zh-CN" altLang="en-US" sz="2800" b="1" dirty="0">
                <a:solidFill>
                  <a:srgbClr val="FFFF00"/>
                </a:solidFill>
                <a:effectLst/>
                <a:latin typeface="黑体" panose="02010609060101010101" pitchFamily="49" charset="-122"/>
                <a:ea typeface="黑体" panose="02010609060101010101" pitchFamily="49" charset="-122"/>
              </a:rPr>
              <a:t>。如果不采取任何控制措施，则会出现打印机输出结果错误。</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3BDAD8D-CBD2-4BE6-BA2B-712D542B25BE}"/>
              </a:ext>
            </a:extLst>
          </p:cNvPr>
          <p:cNvSpPr>
            <a:spLocks noGrp="1" noChangeArrowheads="1"/>
          </p:cNvSpPr>
          <p:nvPr>
            <p:ph type="body" idx="1"/>
          </p:nvPr>
        </p:nvSpPr>
        <p:spPr>
          <a:xfrm>
            <a:off x="395536" y="764704"/>
            <a:ext cx="8065144" cy="4895850"/>
          </a:xfrm>
        </p:spPr>
        <p:txBody>
          <a:bodyPr/>
          <a:lstStyle/>
          <a:p>
            <a:pPr algn="just" eaLnBrk="1" hangingPunct="1">
              <a:buFont typeface="Wingdings" panose="05000000000000000000" pitchFamily="2" charset="2"/>
              <a:buNone/>
            </a:pP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en-US" altLang="zh-CN" sz="2800" b="1" dirty="0">
                <a:solidFill>
                  <a:srgbClr val="FFFF00"/>
                </a:solidFill>
                <a:effectLst/>
                <a:latin typeface="黑体" panose="02010609060101010101" pitchFamily="49" charset="-122"/>
                <a:ea typeface="黑体" panose="02010609060101010101" pitchFamily="49" charset="-122"/>
              </a:rPr>
              <a:t>1</a:t>
            </a:r>
            <a:r>
              <a:rPr lang="zh-CN" altLang="en-US" sz="2800" b="1" dirty="0">
                <a:solidFill>
                  <a:srgbClr val="FFFF00"/>
                </a:solidFill>
                <a:effectLst/>
                <a:latin typeface="黑体" panose="02010609060101010101" pitchFamily="49" charset="-122"/>
                <a:ea typeface="黑体" panose="02010609060101010101" pitchFamily="49" charset="-122"/>
              </a:rPr>
              <a:t>．间接制约关系</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由于各进程要求共享资源，而有些资源需要互斥使用，因此各个进程间竞争使用这些资源，进程间的这种关系称为间接制约，操作系统必须采用某种方法来保证存在间接制约关系的进程间并发执行的正确性，这就是互斥机制。</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4531329-83F4-4737-9A2C-312A6B37286B}"/>
              </a:ext>
            </a:extLst>
          </p:cNvPr>
          <p:cNvSpPr>
            <a:spLocks noGrp="1" noChangeArrowheads="1"/>
          </p:cNvSpPr>
          <p:nvPr>
            <p:ph type="body" idx="1"/>
          </p:nvPr>
        </p:nvSpPr>
        <p:spPr>
          <a:xfrm>
            <a:off x="395288" y="1125538"/>
            <a:ext cx="8424862" cy="4751387"/>
          </a:xfrm>
        </p:spPr>
        <p:txBody>
          <a:bodyPr/>
          <a:lstStyle/>
          <a:p>
            <a:pPr eaLnBrk="1" hangingPunct="1"/>
            <a:r>
              <a:rPr lang="en-US" altLang="zh-CN" sz="2800" b="1">
                <a:solidFill>
                  <a:srgbClr val="FFFF00"/>
                </a:solidFill>
                <a:effectLst/>
                <a:latin typeface="黑体" panose="02010609060101010101" pitchFamily="49" charset="-122"/>
                <a:ea typeface="黑体" panose="02010609060101010101" pitchFamily="49" charset="-122"/>
              </a:rPr>
              <a:t> 2</a:t>
            </a:r>
            <a:r>
              <a:rPr lang="zh-CN" altLang="en-US" sz="2800" b="1">
                <a:solidFill>
                  <a:srgbClr val="FFFF00"/>
                </a:solidFill>
                <a:effectLst/>
                <a:latin typeface="黑体" panose="02010609060101010101" pitchFamily="49" charset="-122"/>
                <a:ea typeface="黑体" panose="02010609060101010101" pitchFamily="49" charset="-122"/>
              </a:rPr>
              <a:t>．直接制约关系</a:t>
            </a:r>
          </a:p>
          <a:p>
            <a:pPr eaLnBrk="1" hangingPunct="1">
              <a:buFont typeface="Wingdings" panose="05000000000000000000" pitchFamily="2" charset="2"/>
              <a:buChar char="ü"/>
            </a:pPr>
            <a:r>
              <a:rPr lang="zh-CN" altLang="en-US" sz="2800" b="1">
                <a:solidFill>
                  <a:srgbClr val="FFFF00"/>
                </a:solidFill>
                <a:effectLst/>
                <a:latin typeface="黑体" panose="02010609060101010101" pitchFamily="49" charset="-122"/>
                <a:ea typeface="黑体" panose="02010609060101010101" pitchFamily="49" charset="-122"/>
              </a:rPr>
              <a:t>多个进程间知道对方的存在，表现出来的是一种相互合作的关系。</a:t>
            </a:r>
            <a:endParaRPr lang="en-US" altLang="zh-CN" sz="2800" b="1">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Char char="ü"/>
            </a:pPr>
            <a:r>
              <a:rPr lang="zh-CN" altLang="en-US" sz="2800" b="1">
                <a:solidFill>
                  <a:srgbClr val="FFFF00"/>
                </a:solidFill>
                <a:effectLst/>
                <a:latin typeface="黑体" panose="02010609060101010101" pitchFamily="49" charset="-122"/>
                <a:ea typeface="黑体" panose="02010609060101010101" pitchFamily="49" charset="-122"/>
              </a:rPr>
              <a:t>此时要保证相互合作的各个进程在执行次序上的协调，不会出现与时间有关的差错。</a:t>
            </a:r>
            <a:endParaRPr lang="en-US" altLang="zh-CN" sz="2800" b="1">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Char char="ü"/>
            </a:pPr>
            <a:r>
              <a:rPr lang="zh-CN" altLang="en-US" sz="2800" b="1">
                <a:solidFill>
                  <a:srgbClr val="FFFF00"/>
                </a:solidFill>
                <a:effectLst/>
                <a:latin typeface="黑体" panose="02010609060101010101" pitchFamily="49" charset="-122"/>
                <a:ea typeface="黑体" panose="02010609060101010101" pitchFamily="49" charset="-122"/>
              </a:rPr>
              <a:t>例如，有一计算进程</a:t>
            </a:r>
            <a:r>
              <a:rPr lang="en-US" altLang="zh-CN" sz="2800" b="1">
                <a:solidFill>
                  <a:srgbClr val="FFFF00"/>
                </a:solidFill>
                <a:effectLst/>
                <a:latin typeface="黑体" panose="02010609060101010101" pitchFamily="49" charset="-122"/>
                <a:ea typeface="黑体" panose="02010609060101010101" pitchFamily="49" charset="-122"/>
              </a:rPr>
              <a:t>A</a:t>
            </a:r>
            <a:r>
              <a:rPr lang="zh-CN" altLang="en-US" sz="2800" b="1">
                <a:solidFill>
                  <a:srgbClr val="FFFF00"/>
                </a:solidFill>
                <a:effectLst/>
                <a:latin typeface="黑体" panose="02010609060101010101" pitchFamily="49" charset="-122"/>
                <a:ea typeface="黑体" panose="02010609060101010101" pitchFamily="49" charset="-122"/>
              </a:rPr>
              <a:t>将计算结果通过单缓冲向打印进程</a:t>
            </a:r>
            <a:r>
              <a:rPr lang="en-US" altLang="zh-CN" sz="2800" b="1">
                <a:solidFill>
                  <a:srgbClr val="FFFF00"/>
                </a:solidFill>
                <a:effectLst/>
                <a:latin typeface="黑体" panose="02010609060101010101" pitchFamily="49" charset="-122"/>
                <a:ea typeface="黑体" panose="02010609060101010101" pitchFamily="49" charset="-122"/>
              </a:rPr>
              <a:t>B</a:t>
            </a:r>
            <a:r>
              <a:rPr lang="zh-CN" altLang="en-US" sz="2800" b="1">
                <a:solidFill>
                  <a:srgbClr val="FFFF00"/>
                </a:solidFill>
                <a:effectLst/>
                <a:latin typeface="黑体" panose="02010609060101010101" pitchFamily="49" charset="-122"/>
                <a:ea typeface="黑体" panose="02010609060101010101" pitchFamily="49" charset="-122"/>
              </a:rPr>
              <a:t>提供数据打印。如果不控制进程间的执行顺序则会出现错误，例如在</a:t>
            </a:r>
            <a:r>
              <a:rPr lang="en-US" altLang="zh-CN" sz="2800" b="1">
                <a:solidFill>
                  <a:srgbClr val="FFFF00"/>
                </a:solidFill>
                <a:effectLst/>
                <a:latin typeface="黑体" panose="02010609060101010101" pitchFamily="49" charset="-122"/>
                <a:ea typeface="黑体" panose="02010609060101010101" pitchFamily="49" charset="-122"/>
              </a:rPr>
              <a:t>B</a:t>
            </a:r>
            <a:r>
              <a:rPr lang="zh-CN" altLang="en-US" sz="2800" b="1">
                <a:solidFill>
                  <a:srgbClr val="FFFF00"/>
                </a:solidFill>
                <a:effectLst/>
                <a:latin typeface="黑体" panose="02010609060101010101" pitchFamily="49" charset="-122"/>
                <a:ea typeface="黑体" panose="02010609060101010101" pitchFamily="49" charset="-122"/>
              </a:rPr>
              <a:t>没有取走数据时</a:t>
            </a:r>
            <a:r>
              <a:rPr lang="en-US" altLang="zh-CN" sz="2800" b="1">
                <a:solidFill>
                  <a:srgbClr val="FFFF00"/>
                </a:solidFill>
                <a:effectLst/>
                <a:latin typeface="黑体" panose="02010609060101010101" pitchFamily="49" charset="-122"/>
                <a:ea typeface="黑体" panose="02010609060101010101" pitchFamily="49" charset="-122"/>
              </a:rPr>
              <a:t>A</a:t>
            </a:r>
            <a:r>
              <a:rPr lang="zh-CN" altLang="en-US" sz="2800" b="1">
                <a:solidFill>
                  <a:srgbClr val="FFFF00"/>
                </a:solidFill>
                <a:effectLst/>
                <a:latin typeface="黑体" panose="02010609060101010101" pitchFamily="49" charset="-122"/>
                <a:ea typeface="黑体" panose="02010609060101010101" pitchFamily="49" charset="-122"/>
              </a:rPr>
              <a:t>向缓冲区中放数据，就会造成数据丢失。</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4D1EE1D-F289-4040-8664-FDDEFE4D13EC}"/>
              </a:ext>
            </a:extLst>
          </p:cNvPr>
          <p:cNvSpPr>
            <a:spLocks noGrp="1" noChangeArrowheads="1"/>
          </p:cNvSpPr>
          <p:nvPr>
            <p:ph type="body" idx="1"/>
          </p:nvPr>
        </p:nvSpPr>
        <p:spPr>
          <a:xfrm>
            <a:off x="395288" y="836613"/>
            <a:ext cx="7993062" cy="4968875"/>
          </a:xfrm>
        </p:spPr>
        <p:txBody>
          <a:bodyPr/>
          <a:lstStyle/>
          <a:p>
            <a:pPr algn="just" eaLnBrk="1" hangingPunct="1">
              <a:buFont typeface="Wingdings" panose="05000000000000000000" pitchFamily="2" charset="2"/>
              <a:buNone/>
            </a:pP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en-US" altLang="zh-CN" sz="2800" b="1" dirty="0">
                <a:solidFill>
                  <a:srgbClr val="FFFF00"/>
                </a:solidFill>
                <a:effectLst/>
                <a:latin typeface="黑体" panose="02010609060101010101" pitchFamily="49" charset="-122"/>
                <a:ea typeface="黑体" panose="02010609060101010101" pitchFamily="49" charset="-122"/>
              </a:rPr>
              <a:t> 2</a:t>
            </a:r>
            <a:r>
              <a:rPr lang="zh-CN" altLang="en-US" sz="2800" b="1" dirty="0">
                <a:solidFill>
                  <a:srgbClr val="FFFF00"/>
                </a:solidFill>
                <a:effectLst/>
                <a:latin typeface="黑体" panose="02010609060101010101" pitchFamily="49" charset="-122"/>
                <a:ea typeface="黑体" panose="02010609060101010101" pitchFamily="49" charset="-122"/>
              </a:rPr>
              <a:t>．直接制约关系</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系统中多个进程中发生的事件存在某种时序关系，各自的执行结果互为对方的执行条件，需要相互合作，共同完成一项任务。进程间的这种关系称为直接制约，操作系统也应该采用某种方法保证存在直接制约关系的进程间并发执行的正确性，这就是同步机制。</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0605237-8963-4736-B08D-73E2C4E69C46}"/>
              </a:ext>
            </a:extLst>
          </p:cNvPr>
          <p:cNvSpPr>
            <a:spLocks noGrp="1" noChangeArrowheads="1"/>
          </p:cNvSpPr>
          <p:nvPr>
            <p:ph type="body" idx="1"/>
          </p:nvPr>
        </p:nvSpPr>
        <p:spPr>
          <a:xfrm>
            <a:off x="539750" y="1916113"/>
            <a:ext cx="8158163" cy="3457575"/>
          </a:xfrm>
        </p:spPr>
        <p:txBody>
          <a:bodyPr/>
          <a:lstStyle/>
          <a:p>
            <a:pPr algn="just" eaLnBrk="1" hangingPunct="1">
              <a:lnSpc>
                <a:spcPts val="4000"/>
              </a:lnSpc>
              <a:buFont typeface="Wingdings" panose="05000000000000000000" pitchFamily="2" charset="2"/>
              <a:buNone/>
            </a:pPr>
            <a:endParaRPr lang="en-US" altLang="zh-CN" b="1">
              <a:solidFill>
                <a:srgbClr val="FFFF00"/>
              </a:solidFill>
              <a:effectLst/>
              <a:latin typeface="黑体" panose="02010609060101010101" pitchFamily="49" charset="-122"/>
              <a:ea typeface="黑体" panose="02010609060101010101" pitchFamily="49" charset="-122"/>
            </a:endParaRPr>
          </a:p>
          <a:p>
            <a:pPr eaLnBrk="1" hangingPunct="1">
              <a:lnSpc>
                <a:spcPts val="4000"/>
              </a:lnSpc>
            </a:pPr>
            <a:r>
              <a:rPr lang="zh-CN" altLang="en-US" b="1">
                <a:solidFill>
                  <a:srgbClr val="FFFF00"/>
                </a:solidFill>
                <a:effectLst/>
                <a:latin typeface="黑体" panose="02010609060101010101" pitchFamily="49" charset="-122"/>
                <a:ea typeface="黑体" panose="02010609060101010101" pitchFamily="49" charset="-122"/>
              </a:rPr>
              <a:t>虽然互斥与同步在概念上有差别。但从某种意义上讲，互斥也是一种同步，因为它也是进程之间如何使用共享资源的一种协调。</a:t>
            </a:r>
          </a:p>
        </p:txBody>
      </p:sp>
      <p:sp>
        <p:nvSpPr>
          <p:cNvPr id="12291" name="Rectangle 4">
            <a:extLst>
              <a:ext uri="{FF2B5EF4-FFF2-40B4-BE49-F238E27FC236}">
                <a16:creationId xmlns:a16="http://schemas.microsoft.com/office/drawing/2014/main" id="{F6686B56-1EB1-4C11-B290-B5DA3C093669}"/>
              </a:ext>
            </a:extLst>
          </p:cNvPr>
          <p:cNvSpPr>
            <a:spLocks noGrp="1" noChangeArrowheads="1"/>
          </p:cNvSpPr>
          <p:nvPr>
            <p:ph type="title"/>
          </p:nvPr>
        </p:nvSpPr>
        <p:spPr>
          <a:xfrm>
            <a:off x="323850" y="476250"/>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3.4.1   </a:t>
            </a:r>
            <a:r>
              <a:rPr lang="zh-CN" altLang="en-US" b="1">
                <a:solidFill>
                  <a:schemeClr val="tx1"/>
                </a:solidFill>
                <a:effectLst/>
                <a:latin typeface="Times New Roman" panose="02020603050405020304" pitchFamily="18" charset="0"/>
              </a:rPr>
              <a:t>进程间的制约关系</a:t>
            </a:r>
            <a:r>
              <a:rPr lang="zh-CN" altLang="en-US" b="1">
                <a:solidFill>
                  <a:schemeClr val="tx1"/>
                </a:solidFill>
                <a:effectLst/>
              </a:rPr>
              <a:t>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454DA3B8-3EF9-4C4B-BA91-3ADCA3FFD348}"/>
              </a:ext>
            </a:extLst>
          </p:cNvPr>
          <p:cNvSpPr>
            <a:spLocks noGrp="1" noChangeArrowheads="1"/>
          </p:cNvSpPr>
          <p:nvPr>
            <p:ph type="body" idx="1"/>
          </p:nvPr>
        </p:nvSpPr>
        <p:spPr>
          <a:xfrm>
            <a:off x="1331913" y="1773238"/>
            <a:ext cx="6335712" cy="4895850"/>
          </a:xfrm>
        </p:spPr>
        <p:txBody>
          <a:bodyPr/>
          <a:lstStyle/>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3.4.1 </a:t>
            </a:r>
            <a:r>
              <a:rPr lang="zh-CN" altLang="en-US" sz="3600" b="1" dirty="0">
                <a:solidFill>
                  <a:srgbClr val="FFFF00"/>
                </a:solidFill>
                <a:effectLst/>
                <a:latin typeface="黑体" panose="02010609060101010101" pitchFamily="49" charset="-122"/>
                <a:ea typeface="黑体" panose="02010609060101010101" pitchFamily="49" charset="-122"/>
              </a:rPr>
              <a:t>进程间的制约关系</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3.4.2 </a:t>
            </a:r>
            <a:r>
              <a:rPr lang="zh-CN" altLang="en-US" sz="3600" b="1" dirty="0">
                <a:solidFill>
                  <a:srgbClr val="FFFF00"/>
                </a:solidFill>
                <a:effectLst/>
                <a:latin typeface="黑体" panose="02010609060101010101" pitchFamily="49" charset="-122"/>
                <a:ea typeface="黑体" panose="02010609060101010101" pitchFamily="49" charset="-122"/>
              </a:rPr>
              <a:t>进程互斥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3.4.3 </a:t>
            </a:r>
            <a:r>
              <a:rPr lang="zh-CN" altLang="en-US" sz="3600" b="1" dirty="0">
                <a:solidFill>
                  <a:srgbClr val="FFFF00"/>
                </a:solidFill>
                <a:effectLst/>
                <a:latin typeface="黑体" panose="02010609060101010101" pitchFamily="49" charset="-122"/>
                <a:ea typeface="黑体" panose="02010609060101010101" pitchFamily="49" charset="-122"/>
              </a:rPr>
              <a:t>进程同步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3.4.4 </a:t>
            </a:r>
            <a:r>
              <a:rPr lang="zh-CN" altLang="en-US" sz="3600" b="1" dirty="0">
                <a:solidFill>
                  <a:srgbClr val="FFFF00"/>
                </a:solidFill>
                <a:effectLst/>
                <a:latin typeface="黑体" panose="02010609060101010101" pitchFamily="49" charset="-122"/>
                <a:ea typeface="黑体" panose="02010609060101010101" pitchFamily="49" charset="-122"/>
              </a:rPr>
              <a:t>信号量机制</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3.4.5 </a:t>
            </a:r>
            <a:r>
              <a:rPr lang="zh-CN" altLang="en-US" sz="3600" b="1" dirty="0">
                <a:solidFill>
                  <a:srgbClr val="FFFF00"/>
                </a:solidFill>
                <a:effectLst/>
                <a:latin typeface="黑体" panose="02010609060101010101" pitchFamily="49" charset="-122"/>
                <a:ea typeface="黑体" panose="02010609060101010101" pitchFamily="49" charset="-122"/>
              </a:rPr>
              <a:t>经典同步互斥问题</a:t>
            </a:r>
          </a:p>
        </p:txBody>
      </p:sp>
      <p:sp>
        <p:nvSpPr>
          <p:cNvPr id="6147" name="Rectangle 3">
            <a:extLst>
              <a:ext uri="{FF2B5EF4-FFF2-40B4-BE49-F238E27FC236}">
                <a16:creationId xmlns:a16="http://schemas.microsoft.com/office/drawing/2014/main" id="{F56EA621-430E-44A3-A8F5-E79B5AE76CF6}"/>
              </a:ext>
            </a:extLst>
          </p:cNvPr>
          <p:cNvSpPr>
            <a:spLocks noGrp="1" noChangeArrowheads="1"/>
          </p:cNvSpPr>
          <p:nvPr>
            <p:ph type="title"/>
          </p:nvPr>
        </p:nvSpPr>
        <p:spPr>
          <a:xfrm>
            <a:off x="179388" y="333375"/>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3.4  </a:t>
            </a:r>
            <a:r>
              <a:rPr lang="zh-CN" altLang="en-US" b="1">
                <a:solidFill>
                  <a:schemeClr val="tx1"/>
                </a:solidFill>
                <a:effectLst/>
                <a:latin typeface="Times New Roman" panose="02020603050405020304" pitchFamily="18" charset="0"/>
              </a:rPr>
              <a:t>进程的同步与互斥</a:t>
            </a:r>
            <a:r>
              <a:rPr lang="zh-CN" altLang="en-US" b="1">
                <a:solidFill>
                  <a:schemeClr val="tx1"/>
                </a:solidFill>
                <a:effectLst/>
              </a:rPr>
              <a:t> </a:t>
            </a:r>
          </a:p>
        </p:txBody>
      </p:sp>
    </p:spTree>
    <p:extLst>
      <p:ext uri="{BB962C8B-B14F-4D97-AF65-F5344CB8AC3E}">
        <p14:creationId xmlns:p14="http://schemas.microsoft.com/office/powerpoint/2010/main" val="2311711319"/>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9170">
                                            <p:txEl>
                                              <p:pRg st="0" end="0"/>
                                            </p:txEl>
                                          </p:spTgt>
                                        </p:tgtEl>
                                        <p:attrNameLst>
                                          <p:attrName>style.visibility</p:attrName>
                                        </p:attrNameLst>
                                      </p:cBhvr>
                                      <p:to>
                                        <p:strVal val="visible"/>
                                      </p:to>
                                    </p:set>
                                    <p:animEffect transition="in" filter="box(out)">
                                      <p:cBhvr>
                                        <p:cTn id="7" dur="500"/>
                                        <p:tgtEl>
                                          <p:spTgt spid="51917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9170">
                                            <p:txEl>
                                              <p:pRg st="1" end="1"/>
                                            </p:txEl>
                                          </p:spTgt>
                                        </p:tgtEl>
                                        <p:attrNameLst>
                                          <p:attrName>style.visibility</p:attrName>
                                        </p:attrNameLst>
                                      </p:cBhvr>
                                      <p:to>
                                        <p:strVal val="visible"/>
                                      </p:to>
                                    </p:set>
                                    <p:animEffect transition="in" filter="box(out)">
                                      <p:cBhvr>
                                        <p:cTn id="12" dur="500"/>
                                        <p:tgtEl>
                                          <p:spTgt spid="519170">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9170">
                                            <p:txEl>
                                              <p:pRg st="2" end="2"/>
                                            </p:txEl>
                                          </p:spTgt>
                                        </p:tgtEl>
                                        <p:attrNameLst>
                                          <p:attrName>style.visibility</p:attrName>
                                        </p:attrNameLst>
                                      </p:cBhvr>
                                      <p:to>
                                        <p:strVal val="visible"/>
                                      </p:to>
                                    </p:set>
                                    <p:animEffect transition="in" filter="box(out)">
                                      <p:cBhvr>
                                        <p:cTn id="17" dur="500"/>
                                        <p:tgtEl>
                                          <p:spTgt spid="519170">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19170">
                                            <p:txEl>
                                              <p:pRg st="3" end="3"/>
                                            </p:txEl>
                                          </p:spTgt>
                                        </p:tgtEl>
                                        <p:attrNameLst>
                                          <p:attrName>style.visibility</p:attrName>
                                        </p:attrNameLst>
                                      </p:cBhvr>
                                      <p:to>
                                        <p:strVal val="visible"/>
                                      </p:to>
                                    </p:set>
                                    <p:animEffect transition="in" filter="box(out)">
                                      <p:cBhvr>
                                        <p:cTn id="22" dur="500"/>
                                        <p:tgtEl>
                                          <p:spTgt spid="519170">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19170">
                                            <p:txEl>
                                              <p:pRg st="4" end="4"/>
                                            </p:txEl>
                                          </p:spTgt>
                                        </p:tgtEl>
                                        <p:attrNameLst>
                                          <p:attrName>style.visibility</p:attrName>
                                        </p:attrNameLst>
                                      </p:cBhvr>
                                      <p:to>
                                        <p:strVal val="visible"/>
                                      </p:to>
                                    </p:set>
                                    <p:animEffect transition="in" filter="box(out)">
                                      <p:cBhvr>
                                        <p:cTn id="27" dur="500"/>
                                        <p:tgtEl>
                                          <p:spTgt spid="519170">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0"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B53BA73-81DA-4A85-B222-A63338794AD4}"/>
              </a:ext>
            </a:extLst>
          </p:cNvPr>
          <p:cNvSpPr>
            <a:spLocks noGrp="1" noChangeArrowheads="1"/>
          </p:cNvSpPr>
          <p:nvPr>
            <p:ph type="title"/>
          </p:nvPr>
        </p:nvSpPr>
        <p:spPr>
          <a:xfrm>
            <a:off x="0" y="620713"/>
            <a:ext cx="8229600" cy="922337"/>
          </a:xfrm>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3.4.2  </a:t>
            </a:r>
            <a:r>
              <a:rPr lang="zh-CN" altLang="en-US" b="1">
                <a:solidFill>
                  <a:schemeClr val="tx1"/>
                </a:solidFill>
                <a:effectLst/>
                <a:latin typeface="Times New Roman" panose="02020603050405020304" pitchFamily="18" charset="0"/>
              </a:rPr>
              <a:t>进程互斥</a:t>
            </a:r>
            <a:r>
              <a:rPr lang="zh-CN" altLang="en-US" b="1">
                <a:solidFill>
                  <a:schemeClr val="tx1"/>
                </a:solidFill>
                <a:effectLst/>
              </a:rPr>
              <a:t> </a:t>
            </a:r>
          </a:p>
        </p:txBody>
      </p:sp>
      <p:sp>
        <p:nvSpPr>
          <p:cNvPr id="102403" name="Rectangle 3">
            <a:extLst>
              <a:ext uri="{FF2B5EF4-FFF2-40B4-BE49-F238E27FC236}">
                <a16:creationId xmlns:a16="http://schemas.microsoft.com/office/drawing/2014/main" id="{E3D6E833-CC66-432D-88C9-B81157F60293}"/>
              </a:ext>
            </a:extLst>
          </p:cNvPr>
          <p:cNvSpPr>
            <a:spLocks noGrp="1" noChangeArrowheads="1"/>
          </p:cNvSpPr>
          <p:nvPr>
            <p:ph type="body" idx="1"/>
          </p:nvPr>
        </p:nvSpPr>
        <p:spPr>
          <a:xfrm>
            <a:off x="1258888" y="1700213"/>
            <a:ext cx="6983412" cy="4530725"/>
          </a:xfrm>
        </p:spPr>
        <p:txBody>
          <a:bodyPr/>
          <a:lstStyle/>
          <a:p>
            <a:pPr algn="just" eaLnBrk="1" hangingPunct="1">
              <a:buFont typeface="Wingdings" panose="05000000000000000000" pitchFamily="2" charset="2"/>
              <a:buNone/>
              <a:defRPr/>
            </a:pPr>
            <a:endParaRPr lang="en-US" altLang="zh-CN" sz="3600" b="1" dirty="0">
              <a:solidFill>
                <a:srgbClr val="FF9966"/>
              </a:solidFill>
              <a:effectLst>
                <a:outerShdw blurRad="38100" dist="38100" dir="2700000" algn="tl">
                  <a:srgbClr val="FFFFFF"/>
                </a:outerShdw>
              </a:effectLst>
              <a:latin typeface="楷体_GB2312" pitchFamily="49" charset="-122"/>
              <a:ea typeface="楷体_GB2312" pitchFamily="49" charset="-122"/>
            </a:endParaRPr>
          </a:p>
          <a:p>
            <a:pPr algn="just" eaLnBrk="1" hangingPunct="1">
              <a:defRPr/>
            </a:pPr>
            <a:r>
              <a:rPr lang="en-US" altLang="zh-CN" sz="3600" b="1" dirty="0">
                <a:latin typeface="楷体_GB2312" pitchFamily="49" charset="-122"/>
                <a:ea typeface="楷体_GB2312" pitchFamily="49" charset="-122"/>
              </a:rPr>
              <a:t>1 </a:t>
            </a:r>
            <a:r>
              <a:rPr lang="zh-CN" altLang="en-US" sz="3600" b="1" dirty="0">
                <a:latin typeface="楷体_GB2312" pitchFamily="49" charset="-122"/>
                <a:ea typeface="楷体_GB2312" pitchFamily="49" charset="-122"/>
              </a:rPr>
              <a:t>临界资源与临界区</a:t>
            </a:r>
          </a:p>
          <a:p>
            <a:pPr algn="just" eaLnBrk="1" hangingPunct="1">
              <a:defRPr/>
            </a:pPr>
            <a:r>
              <a:rPr lang="en-US" altLang="zh-CN" sz="3600" b="1" dirty="0">
                <a:latin typeface="楷体_GB2312" pitchFamily="49" charset="-122"/>
                <a:ea typeface="楷体_GB2312" pitchFamily="49" charset="-122"/>
              </a:rPr>
              <a:t>2 </a:t>
            </a:r>
            <a:r>
              <a:rPr lang="zh-CN" altLang="en-US" sz="3600" b="1" dirty="0">
                <a:latin typeface="楷体_GB2312" pitchFamily="49" charset="-122"/>
                <a:ea typeface="楷体_GB2312" pitchFamily="49" charset="-122"/>
              </a:rPr>
              <a:t>互斥</a:t>
            </a:r>
          </a:p>
          <a:p>
            <a:pPr algn="just" eaLnBrk="1" hangingPunct="1">
              <a:defRPr/>
            </a:pPr>
            <a:r>
              <a:rPr lang="en-US" altLang="zh-CN" sz="3600" b="1" dirty="0">
                <a:latin typeface="楷体_GB2312" pitchFamily="49" charset="-122"/>
                <a:ea typeface="楷体_GB2312" pitchFamily="49" charset="-122"/>
              </a:rPr>
              <a:t>3 </a:t>
            </a:r>
            <a:r>
              <a:rPr lang="zh-CN" altLang="en-US" sz="3600" b="1" dirty="0">
                <a:latin typeface="楷体_GB2312" pitchFamily="49" charset="-122"/>
                <a:ea typeface="楷体_GB2312" pitchFamily="49" charset="-122"/>
              </a:rPr>
              <a:t>互斥的软件实现</a:t>
            </a:r>
          </a:p>
          <a:p>
            <a:pPr algn="just" eaLnBrk="1" hangingPunct="1">
              <a:defRPr/>
            </a:pPr>
            <a:r>
              <a:rPr lang="en-US" altLang="zh-CN" sz="3600" b="1" dirty="0">
                <a:latin typeface="楷体_GB2312" pitchFamily="49" charset="-122"/>
                <a:ea typeface="楷体_GB2312" pitchFamily="49" charset="-122"/>
              </a:rPr>
              <a:t>4 </a:t>
            </a:r>
            <a:r>
              <a:rPr lang="zh-CN" altLang="en-US" sz="3600" b="1" dirty="0">
                <a:latin typeface="楷体_GB2312" pitchFamily="49" charset="-122"/>
                <a:ea typeface="楷体_GB2312" pitchFamily="49" charset="-122"/>
              </a:rPr>
              <a:t>互斥的硬件实现</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1F7106B9-7CBE-4099-A943-26E813B2199C}"/>
              </a:ext>
            </a:extLst>
          </p:cNvPr>
          <p:cNvSpPr>
            <a:spLocks noGrp="1" noChangeArrowheads="1"/>
          </p:cNvSpPr>
          <p:nvPr>
            <p:ph type="body" idx="1"/>
          </p:nvPr>
        </p:nvSpPr>
        <p:spPr>
          <a:xfrm>
            <a:off x="539428" y="1052736"/>
            <a:ext cx="8065144" cy="5688930"/>
          </a:xfrm>
        </p:spPr>
        <p:txBody>
          <a:bodyPr/>
          <a:lstStyle/>
          <a:p>
            <a:pPr marL="609600" indent="-609600" algn="just"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1.</a:t>
            </a:r>
            <a:r>
              <a:rPr lang="zh-CN" altLang="en-US" sz="2800" b="1" dirty="0">
                <a:solidFill>
                  <a:srgbClr val="FFFF00"/>
                </a:solidFill>
                <a:effectLst/>
                <a:latin typeface="黑体" panose="02010609060101010101" pitchFamily="49" charset="-122"/>
                <a:ea typeface="黑体" panose="02010609060101010101" pitchFamily="49" charset="-122"/>
              </a:rPr>
              <a:t>临界资源（</a:t>
            </a:r>
            <a:r>
              <a:rPr lang="en-US" altLang="zh-CN" sz="2800" b="1" dirty="0">
                <a:solidFill>
                  <a:srgbClr val="FFFF00"/>
                </a:solidFill>
                <a:effectLst/>
                <a:latin typeface="黑体" panose="02010609060101010101" pitchFamily="49" charset="-122"/>
                <a:ea typeface="黑体" panose="02010609060101010101" pitchFamily="49" charset="-122"/>
              </a:rPr>
              <a:t>Critical Resource</a:t>
            </a:r>
            <a:r>
              <a:rPr lang="zh-CN" altLang="en-US" sz="2800" b="1" dirty="0">
                <a:solidFill>
                  <a:srgbClr val="FFFF00"/>
                </a:solidFill>
                <a:effectLst/>
                <a:latin typeface="黑体" panose="02010609060101010101" pitchFamily="49" charset="-122"/>
                <a:ea typeface="黑体" panose="02010609060101010101" pitchFamily="49" charset="-122"/>
              </a:rPr>
              <a:t>） </a:t>
            </a:r>
          </a:p>
          <a:p>
            <a:pPr marL="609600" indent="-609600" algn="just" eaLnBrk="1" hangingPunct="1">
              <a:buFont typeface="Wingdings" panose="05000000000000000000" pitchFamily="2" charset="2"/>
              <a:buChar char="Ø"/>
            </a:pPr>
            <a:r>
              <a:rPr lang="zh-CN" altLang="en-US" sz="2800" b="1" dirty="0">
                <a:solidFill>
                  <a:srgbClr val="FFFF00"/>
                </a:solidFill>
                <a:effectLst/>
                <a:latin typeface="黑体" panose="02010609060101010101" pitchFamily="49" charset="-122"/>
                <a:ea typeface="黑体" panose="02010609060101010101" pitchFamily="49" charset="-122"/>
              </a:rPr>
              <a:t>系统中某些资源一次只允许一个进程使用，称这样的资源为临界资源或互斥资源或共享变量</a:t>
            </a:r>
          </a:p>
          <a:p>
            <a:pPr marL="609600" indent="-609600" algn="just" eaLnBrk="1" hangingPunct="1">
              <a:buFont typeface="Wingdings" panose="05000000000000000000" pitchFamily="2" charset="2"/>
              <a:buChar char="Ø"/>
            </a:pPr>
            <a:r>
              <a:rPr lang="zh-CN" altLang="en-US" sz="2800" b="1" dirty="0">
                <a:solidFill>
                  <a:srgbClr val="FFFF00"/>
                </a:solidFill>
                <a:effectLst/>
                <a:latin typeface="黑体" panose="02010609060101010101" pitchFamily="49" charset="-122"/>
                <a:ea typeface="黑体" panose="02010609060101010101" pitchFamily="49" charset="-122"/>
              </a:rPr>
              <a:t>如：进程ＡＢ共享一台打印机，若让它们交替使用则得到的结果肯定不是我们希望的。</a:t>
            </a:r>
          </a:p>
          <a:p>
            <a:pPr marL="609600" indent="-609600" algn="just" eaLnBrk="1" hangingPunct="1">
              <a:buFont typeface="Wingdings" panose="05000000000000000000" pitchFamily="2" charset="2"/>
              <a:buChar char="Ø"/>
            </a:pPr>
            <a:r>
              <a:rPr lang="zh-CN" altLang="en-US" sz="2800" b="1" dirty="0">
                <a:solidFill>
                  <a:srgbClr val="FFFF00"/>
                </a:solidFill>
                <a:effectLst/>
                <a:latin typeface="黑体" panose="02010609060101010101" pitchFamily="49" charset="-122"/>
                <a:ea typeface="黑体" panose="02010609060101010101" pitchFamily="49" charset="-122"/>
              </a:rPr>
              <a:t>临界资源可能是硬件，也可能是软件：变量，数据，表格，队列等。</a:t>
            </a:r>
          </a:p>
          <a:p>
            <a:pPr marL="609600" indent="-609600" algn="just" eaLnBrk="1" hangingPunct="1">
              <a:buFont typeface="Wingdings" panose="05000000000000000000" pitchFamily="2" charset="2"/>
              <a:buChar char="Ø"/>
            </a:pPr>
            <a:r>
              <a:rPr lang="zh-CN" altLang="en-US" sz="2800" b="1" dirty="0">
                <a:solidFill>
                  <a:srgbClr val="FFFF00"/>
                </a:solidFill>
                <a:effectLst/>
                <a:latin typeface="黑体" panose="02010609060101010101" pitchFamily="49" charset="-122"/>
                <a:ea typeface="黑体" panose="02010609060101010101" pitchFamily="49" charset="-122"/>
              </a:rPr>
              <a:t>并发进程对临界资源的访问必须作某种限制，否则就可能出与时间有关的错误。</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a:extLst>
              <a:ext uri="{FF2B5EF4-FFF2-40B4-BE49-F238E27FC236}">
                <a16:creationId xmlns:a16="http://schemas.microsoft.com/office/drawing/2014/main" id="{B01A4700-DE04-4C78-957C-51056871B114}"/>
              </a:ext>
            </a:extLst>
          </p:cNvPr>
          <p:cNvSpPr>
            <a:spLocks noGrp="1" noChangeArrowheads="1"/>
          </p:cNvSpPr>
          <p:nvPr>
            <p:ph type="body" idx="1"/>
          </p:nvPr>
        </p:nvSpPr>
        <p:spPr>
          <a:xfrm>
            <a:off x="395536" y="764704"/>
            <a:ext cx="8136904" cy="5905500"/>
          </a:xfrm>
        </p:spPr>
        <p:txBody>
          <a:bodyPr/>
          <a:lstStyle/>
          <a:p>
            <a:pPr marL="609600" indent="-609600" algn="just"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临界区（</a:t>
            </a:r>
            <a:r>
              <a:rPr lang="en-US" altLang="zh-CN" sz="2800" b="1" dirty="0">
                <a:solidFill>
                  <a:srgbClr val="FFFF00"/>
                </a:solidFill>
                <a:effectLst/>
                <a:latin typeface="黑体" panose="02010609060101010101" pitchFamily="49" charset="-122"/>
                <a:ea typeface="黑体" panose="02010609060101010101" pitchFamily="49" charset="-122"/>
              </a:rPr>
              <a:t>Critical Section</a:t>
            </a:r>
            <a:r>
              <a:rPr lang="zh-CN" altLang="en-US" sz="2800" b="1" dirty="0">
                <a:solidFill>
                  <a:srgbClr val="FFFF00"/>
                </a:solidFill>
                <a:effectLst/>
                <a:latin typeface="黑体" panose="02010609060101010101" pitchFamily="49" charset="-122"/>
                <a:ea typeface="黑体" panose="02010609060101010101" pitchFamily="49" charset="-122"/>
              </a:rPr>
              <a:t>） </a:t>
            </a:r>
          </a:p>
          <a:p>
            <a:pPr marL="609600" indent="-609600"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在并发的进程中各自访问临界资源的那段代码</a:t>
            </a:r>
          </a:p>
          <a:p>
            <a:pPr marL="609600" indent="-609600"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不允许多个并发进程交叉执行的一段程序</a:t>
            </a:r>
          </a:p>
          <a:p>
            <a:pPr marL="609600" indent="-609600"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注意：临界区是对某一临界资源而言的，对于不同临界资源的临界区，它们之间不存在互斥</a:t>
            </a:r>
          </a:p>
          <a:p>
            <a:pPr marL="609600" indent="-609600"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如有程序段</a:t>
            </a:r>
            <a:r>
              <a:rPr lang="en-US" altLang="zh-CN" sz="2800" b="1" dirty="0">
                <a:solidFill>
                  <a:srgbClr val="FFFF00"/>
                </a:solidFill>
                <a:effectLst/>
                <a:latin typeface="黑体" panose="02010609060101010101" pitchFamily="49" charset="-122"/>
                <a:ea typeface="黑体" panose="02010609060101010101" pitchFamily="49" charset="-122"/>
              </a:rPr>
              <a:t>A</a:t>
            </a:r>
            <a:r>
              <a:rPr lang="zh-CN" altLang="en-US" sz="2800" b="1" dirty="0">
                <a:solidFill>
                  <a:srgbClr val="FFFF00"/>
                </a:solidFill>
                <a:effectLst/>
                <a:latin typeface="黑体" panose="02010609060101010101" pitchFamily="49" charset="-122"/>
                <a:ea typeface="黑体" panose="02010609060101010101" pitchFamily="49" charset="-122"/>
              </a:rPr>
              <a:t>、</a:t>
            </a:r>
            <a:r>
              <a:rPr lang="en-US" altLang="zh-CN" sz="2800" b="1" dirty="0">
                <a:solidFill>
                  <a:srgbClr val="FFFF00"/>
                </a:solidFill>
                <a:effectLst/>
                <a:latin typeface="黑体" panose="02010609060101010101" pitchFamily="49" charset="-122"/>
                <a:ea typeface="黑体" panose="02010609060101010101" pitchFamily="49" charset="-122"/>
              </a:rPr>
              <a:t>B</a:t>
            </a:r>
            <a:r>
              <a:rPr lang="zh-CN" altLang="en-US" sz="2800" b="1" dirty="0">
                <a:solidFill>
                  <a:srgbClr val="FFFF00"/>
                </a:solidFill>
                <a:effectLst/>
                <a:latin typeface="黑体" panose="02010609060101010101" pitchFamily="49" charset="-122"/>
                <a:ea typeface="黑体" panose="02010609060101010101" pitchFamily="49" charset="-122"/>
              </a:rPr>
              <a:t>是关于变量</a:t>
            </a:r>
            <a:r>
              <a:rPr lang="en-US" altLang="zh-CN" sz="2800" b="1" dirty="0">
                <a:solidFill>
                  <a:srgbClr val="FFFF00"/>
                </a:solidFill>
                <a:effectLst/>
                <a:latin typeface="黑体" panose="02010609060101010101" pitchFamily="49" charset="-122"/>
                <a:ea typeface="黑体" panose="02010609060101010101" pitchFamily="49" charset="-122"/>
              </a:rPr>
              <a:t>X</a:t>
            </a:r>
            <a:r>
              <a:rPr lang="zh-CN" altLang="en-US" sz="2800" b="1" dirty="0">
                <a:solidFill>
                  <a:srgbClr val="FFFF00"/>
                </a:solidFill>
                <a:effectLst/>
                <a:latin typeface="黑体" panose="02010609060101010101" pitchFamily="49" charset="-122"/>
                <a:ea typeface="黑体" panose="02010609060101010101" pitchFamily="49" charset="-122"/>
              </a:rPr>
              <a:t>的临界区，而</a:t>
            </a:r>
            <a:r>
              <a:rPr lang="en-US" altLang="zh-CN" sz="2800" b="1" dirty="0">
                <a:solidFill>
                  <a:srgbClr val="FFFF00"/>
                </a:solidFill>
                <a:effectLst/>
                <a:latin typeface="黑体" panose="02010609060101010101" pitchFamily="49" charset="-122"/>
                <a:ea typeface="黑体" panose="02010609060101010101" pitchFamily="49" charset="-122"/>
              </a:rPr>
              <a:t>C</a:t>
            </a:r>
            <a:r>
              <a:rPr lang="zh-CN" altLang="en-US" sz="2800" b="1" dirty="0">
                <a:solidFill>
                  <a:srgbClr val="FFFF00"/>
                </a:solidFill>
                <a:effectLst/>
                <a:latin typeface="黑体" panose="02010609060101010101" pitchFamily="49" charset="-122"/>
                <a:ea typeface="黑体" panose="02010609060101010101" pitchFamily="49" charset="-122"/>
              </a:rPr>
              <a:t>、</a:t>
            </a:r>
            <a:r>
              <a:rPr lang="en-US" altLang="zh-CN" sz="2800" b="1" dirty="0">
                <a:solidFill>
                  <a:srgbClr val="FFFF00"/>
                </a:solidFill>
                <a:effectLst/>
                <a:latin typeface="黑体" panose="02010609060101010101" pitchFamily="49" charset="-122"/>
                <a:ea typeface="黑体" panose="02010609060101010101" pitchFamily="49" charset="-122"/>
              </a:rPr>
              <a:t>D</a:t>
            </a:r>
            <a:r>
              <a:rPr lang="zh-CN" altLang="en-US" sz="2800" b="1" dirty="0">
                <a:solidFill>
                  <a:srgbClr val="FFFF00"/>
                </a:solidFill>
                <a:effectLst/>
                <a:latin typeface="黑体" panose="02010609060101010101" pitchFamily="49" charset="-122"/>
                <a:ea typeface="黑体" panose="02010609060101010101" pitchFamily="49" charset="-122"/>
              </a:rPr>
              <a:t>是关于变量</a:t>
            </a:r>
            <a:r>
              <a:rPr lang="en-US" altLang="zh-CN" sz="2800" b="1" dirty="0">
                <a:solidFill>
                  <a:srgbClr val="FFFF00"/>
                </a:solidFill>
                <a:effectLst/>
                <a:latin typeface="黑体" panose="02010609060101010101" pitchFamily="49" charset="-122"/>
                <a:ea typeface="黑体" panose="02010609060101010101" pitchFamily="49" charset="-122"/>
              </a:rPr>
              <a:t>Y</a:t>
            </a:r>
            <a:r>
              <a:rPr lang="zh-CN" altLang="en-US" sz="2800" b="1" dirty="0">
                <a:solidFill>
                  <a:srgbClr val="FFFF00"/>
                </a:solidFill>
                <a:effectLst/>
                <a:latin typeface="黑体" panose="02010609060101010101" pitchFamily="49" charset="-122"/>
                <a:ea typeface="黑体" panose="02010609060101010101" pitchFamily="49" charset="-122"/>
              </a:rPr>
              <a:t>的临界区，那么，</a:t>
            </a:r>
            <a:r>
              <a:rPr lang="en-US" altLang="zh-CN" sz="2800" b="1" dirty="0">
                <a:solidFill>
                  <a:srgbClr val="FFFF00"/>
                </a:solidFill>
                <a:effectLst/>
                <a:latin typeface="黑体" panose="02010609060101010101" pitchFamily="49" charset="-122"/>
                <a:ea typeface="黑体" panose="02010609060101010101" pitchFamily="49" charset="-122"/>
              </a:rPr>
              <a:t>A</a:t>
            </a:r>
            <a:r>
              <a:rPr lang="zh-CN" altLang="en-US" sz="2800" b="1" dirty="0">
                <a:solidFill>
                  <a:srgbClr val="FFFF00"/>
                </a:solidFill>
                <a:effectLst/>
                <a:latin typeface="黑体" panose="02010609060101010101" pitchFamily="49" charset="-122"/>
                <a:ea typeface="黑体" panose="02010609060101010101" pitchFamily="49" charset="-122"/>
              </a:rPr>
              <a:t>、</a:t>
            </a:r>
            <a:r>
              <a:rPr lang="en-US" altLang="zh-CN" sz="2800" b="1" dirty="0">
                <a:solidFill>
                  <a:srgbClr val="FFFF00"/>
                </a:solidFill>
                <a:effectLst/>
                <a:latin typeface="黑体" panose="02010609060101010101" pitchFamily="49" charset="-122"/>
                <a:ea typeface="黑体" panose="02010609060101010101" pitchFamily="49" charset="-122"/>
              </a:rPr>
              <a:t>B</a:t>
            </a:r>
            <a:r>
              <a:rPr lang="zh-CN" altLang="en-US" sz="2800" b="1" dirty="0">
                <a:solidFill>
                  <a:srgbClr val="FFFF00"/>
                </a:solidFill>
                <a:effectLst/>
                <a:latin typeface="黑体" panose="02010609060101010101" pitchFamily="49" charset="-122"/>
                <a:ea typeface="黑体" panose="02010609060101010101" pitchFamily="49" charset="-122"/>
              </a:rPr>
              <a:t>之间需要互斥执行，</a:t>
            </a:r>
            <a:r>
              <a:rPr lang="en-US" altLang="zh-CN" sz="2800" b="1" dirty="0">
                <a:solidFill>
                  <a:srgbClr val="FFFF00"/>
                </a:solidFill>
                <a:effectLst/>
                <a:latin typeface="黑体" panose="02010609060101010101" pitchFamily="49" charset="-122"/>
                <a:ea typeface="黑体" panose="02010609060101010101" pitchFamily="49" charset="-122"/>
              </a:rPr>
              <a:t>C</a:t>
            </a:r>
            <a:r>
              <a:rPr lang="zh-CN" altLang="en-US" sz="2800" b="1" dirty="0">
                <a:solidFill>
                  <a:srgbClr val="FFFF00"/>
                </a:solidFill>
                <a:effectLst/>
                <a:latin typeface="黑体" panose="02010609060101010101" pitchFamily="49" charset="-122"/>
                <a:ea typeface="黑体" panose="02010609060101010101" pitchFamily="49" charset="-122"/>
              </a:rPr>
              <a:t>、</a:t>
            </a:r>
            <a:r>
              <a:rPr lang="en-US" altLang="zh-CN" sz="2800" b="1" dirty="0">
                <a:solidFill>
                  <a:srgbClr val="FFFF00"/>
                </a:solidFill>
                <a:effectLst/>
                <a:latin typeface="黑体" panose="02010609060101010101" pitchFamily="49" charset="-122"/>
                <a:ea typeface="黑体" panose="02010609060101010101" pitchFamily="49" charset="-122"/>
              </a:rPr>
              <a:t>D</a:t>
            </a:r>
            <a:r>
              <a:rPr lang="zh-CN" altLang="en-US" sz="2800" b="1" dirty="0">
                <a:solidFill>
                  <a:srgbClr val="FFFF00"/>
                </a:solidFill>
                <a:effectLst/>
                <a:latin typeface="黑体" panose="02010609060101010101" pitchFamily="49" charset="-122"/>
                <a:ea typeface="黑体" panose="02010609060101010101" pitchFamily="49" charset="-122"/>
              </a:rPr>
              <a:t>之间也要互斥执行，而</a:t>
            </a:r>
            <a:r>
              <a:rPr lang="en-US" altLang="zh-CN" sz="2800" b="1" dirty="0">
                <a:solidFill>
                  <a:srgbClr val="FFFF00"/>
                </a:solidFill>
                <a:effectLst/>
                <a:latin typeface="黑体" panose="02010609060101010101" pitchFamily="49" charset="-122"/>
                <a:ea typeface="黑体" panose="02010609060101010101" pitchFamily="49" charset="-122"/>
              </a:rPr>
              <a:t>A</a:t>
            </a:r>
            <a:r>
              <a:rPr lang="zh-CN" altLang="en-US" sz="2800" b="1" dirty="0">
                <a:solidFill>
                  <a:srgbClr val="FFFF00"/>
                </a:solidFill>
                <a:effectLst/>
                <a:latin typeface="黑体" panose="02010609060101010101" pitchFamily="49" charset="-122"/>
                <a:ea typeface="黑体" panose="02010609060101010101" pitchFamily="49" charset="-122"/>
              </a:rPr>
              <a:t>与</a:t>
            </a:r>
            <a:r>
              <a:rPr lang="en-US" altLang="zh-CN" sz="2800" b="1" dirty="0">
                <a:solidFill>
                  <a:srgbClr val="FFFF00"/>
                </a:solidFill>
                <a:effectLst/>
                <a:latin typeface="黑体" panose="02010609060101010101" pitchFamily="49" charset="-122"/>
                <a:ea typeface="黑体" panose="02010609060101010101" pitchFamily="49" charset="-122"/>
              </a:rPr>
              <a:t>C</a:t>
            </a:r>
            <a:r>
              <a:rPr lang="zh-CN" altLang="en-US" sz="2800" b="1" dirty="0">
                <a:solidFill>
                  <a:srgbClr val="FFFF00"/>
                </a:solidFill>
                <a:effectLst/>
                <a:latin typeface="黑体" panose="02010609060101010101" pitchFamily="49" charset="-122"/>
                <a:ea typeface="黑体" panose="02010609060101010101" pitchFamily="49" charset="-122"/>
              </a:rPr>
              <a:t>、</a:t>
            </a:r>
            <a:r>
              <a:rPr lang="en-US" altLang="zh-CN" sz="2800" b="1" dirty="0">
                <a:solidFill>
                  <a:srgbClr val="FFFF00"/>
                </a:solidFill>
                <a:effectLst/>
                <a:latin typeface="黑体" panose="02010609060101010101" pitchFamily="49" charset="-122"/>
                <a:ea typeface="黑体" panose="02010609060101010101" pitchFamily="49" charset="-122"/>
              </a:rPr>
              <a:t>B</a:t>
            </a:r>
            <a:r>
              <a:rPr lang="zh-CN" altLang="en-US" sz="2800" b="1" dirty="0">
                <a:solidFill>
                  <a:srgbClr val="FFFF00"/>
                </a:solidFill>
                <a:effectLst/>
                <a:latin typeface="黑体" panose="02010609060101010101" pitchFamily="49" charset="-122"/>
                <a:ea typeface="黑体" panose="02010609060101010101" pitchFamily="49" charset="-122"/>
              </a:rPr>
              <a:t>与</a:t>
            </a:r>
            <a:r>
              <a:rPr lang="en-US" altLang="zh-CN" sz="2800" b="1" dirty="0">
                <a:solidFill>
                  <a:srgbClr val="FFFF00"/>
                </a:solidFill>
                <a:effectLst/>
                <a:latin typeface="黑体" panose="02010609060101010101" pitchFamily="49" charset="-122"/>
                <a:ea typeface="黑体" panose="02010609060101010101" pitchFamily="49" charset="-122"/>
              </a:rPr>
              <a:t>D</a:t>
            </a:r>
            <a:r>
              <a:rPr lang="zh-CN" altLang="en-US" sz="2800" b="1" dirty="0">
                <a:solidFill>
                  <a:srgbClr val="FFFF00"/>
                </a:solidFill>
                <a:effectLst/>
                <a:latin typeface="黑体" panose="02010609060101010101" pitchFamily="49" charset="-122"/>
                <a:ea typeface="黑体" panose="02010609060101010101" pitchFamily="49" charset="-122"/>
              </a:rPr>
              <a:t>之间不用互斥执行</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2C07F1DB-948C-458C-8CEE-3EA940609243}"/>
              </a:ext>
            </a:extLst>
          </p:cNvPr>
          <p:cNvSpPr>
            <a:spLocks noGrp="1" noChangeArrowheads="1"/>
          </p:cNvSpPr>
          <p:nvPr>
            <p:ph type="body" idx="1"/>
          </p:nvPr>
        </p:nvSpPr>
        <p:spPr>
          <a:xfrm>
            <a:off x="323528" y="1124744"/>
            <a:ext cx="8209036" cy="5373216"/>
          </a:xfrm>
        </p:spPr>
        <p:txBody>
          <a:bodyPr/>
          <a:lstStyle/>
          <a:p>
            <a:pPr marL="609600" indent="-609600" algn="just" eaLnBrk="1" hangingPunct="1">
              <a:lnSpc>
                <a:spcPts val="4100"/>
              </a:lnSpc>
              <a:buFont typeface="Wingdings" panose="05000000000000000000" pitchFamily="2" charset="2"/>
              <a:buChar char="ü"/>
            </a:pPr>
            <a:r>
              <a:rPr lang="zh-CN" altLang="zh-CN" sz="2800" b="1" dirty="0">
                <a:solidFill>
                  <a:srgbClr val="FFFF00"/>
                </a:solidFill>
                <a:effectLst/>
                <a:latin typeface="黑体" panose="02010609060101010101" pitchFamily="49" charset="-122"/>
                <a:ea typeface="黑体" panose="02010609060101010101" pitchFamily="49" charset="-122"/>
              </a:rPr>
              <a:t>显然，若能保证各个进程</a:t>
            </a:r>
            <a:r>
              <a:rPr lang="zh-CN" altLang="zh-CN" sz="2800" b="1" dirty="0">
                <a:solidFill>
                  <a:srgbClr val="FF0000"/>
                </a:solidFill>
                <a:effectLst/>
                <a:latin typeface="黑体" panose="02010609060101010101" pitchFamily="49" charset="-122"/>
                <a:ea typeface="黑体" panose="02010609060101010101" pitchFamily="49" charset="-122"/>
              </a:rPr>
              <a:t>互斥地进入自己的临界区</a:t>
            </a:r>
            <a:r>
              <a:rPr lang="zh-CN" altLang="zh-CN" sz="2800" b="1" dirty="0">
                <a:solidFill>
                  <a:srgbClr val="FFFF00"/>
                </a:solidFill>
                <a:effectLst/>
                <a:latin typeface="黑体" panose="02010609060101010101" pitchFamily="49" charset="-122"/>
                <a:ea typeface="黑体" panose="02010609060101010101" pitchFamily="49" charset="-122"/>
              </a:rPr>
              <a:t>，便可实现它们对临界资源的互斥访问。</a:t>
            </a:r>
            <a:endParaRPr lang="en-US" altLang="zh-CN" sz="2800" b="1" dirty="0">
              <a:solidFill>
                <a:srgbClr val="FFFF00"/>
              </a:solidFill>
              <a:effectLst/>
              <a:latin typeface="黑体" panose="02010609060101010101" pitchFamily="49" charset="-122"/>
              <a:ea typeface="黑体" panose="02010609060101010101" pitchFamily="49" charset="-122"/>
            </a:endParaRPr>
          </a:p>
          <a:p>
            <a:pPr marL="609600" indent="-609600" algn="just" eaLnBrk="1" hangingPunct="1">
              <a:lnSpc>
                <a:spcPts val="4100"/>
              </a:lnSpc>
              <a:buFont typeface="Wingdings" panose="05000000000000000000" pitchFamily="2" charset="2"/>
              <a:buChar char="ü"/>
            </a:pPr>
            <a:r>
              <a:rPr lang="zh-CN" altLang="zh-CN" sz="2800" b="1" dirty="0">
                <a:solidFill>
                  <a:srgbClr val="FFFF00"/>
                </a:solidFill>
                <a:effectLst/>
                <a:latin typeface="黑体" panose="02010609060101010101" pitchFamily="49" charset="-122"/>
                <a:ea typeface="黑体" panose="02010609060101010101" pitchFamily="49" charset="-122"/>
              </a:rPr>
              <a:t>为此，每个进程在进入临界区之前应先对欲访问的临界资源进行检查，看它是否正被访问。如果此刻临界资源未被访问，该进程便可进入临界区，对该资源进行访问，并设置它正被访问的标志；如果此刻该临界资源正被某进程访问，则进程不能进入临界区。</a:t>
            </a:r>
            <a:endParaRPr lang="en-US" altLang="zh-CN" sz="2800" b="1" dirty="0">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2C07F1DB-948C-458C-8CEE-3EA940609243}"/>
              </a:ext>
            </a:extLst>
          </p:cNvPr>
          <p:cNvSpPr>
            <a:spLocks noGrp="1" noChangeArrowheads="1"/>
          </p:cNvSpPr>
          <p:nvPr>
            <p:ph type="body" idx="1"/>
          </p:nvPr>
        </p:nvSpPr>
        <p:spPr>
          <a:xfrm>
            <a:off x="611560" y="764704"/>
            <a:ext cx="7668914" cy="5904656"/>
          </a:xfrm>
        </p:spPr>
        <p:txBody>
          <a:bodyPr/>
          <a:lstStyle/>
          <a:p>
            <a:pPr marL="609600" indent="-609600" algn="just" eaLnBrk="1" hangingPunct="1">
              <a:lnSpc>
                <a:spcPts val="4000"/>
              </a:lnSpc>
              <a:buFont typeface="Wingdings" panose="05000000000000000000" pitchFamily="2" charset="2"/>
              <a:buChar char="ü"/>
            </a:pPr>
            <a:r>
              <a:rPr lang="zh-CN" altLang="zh-CN" sz="2800" b="1" dirty="0">
                <a:solidFill>
                  <a:srgbClr val="FFFF00"/>
                </a:solidFill>
                <a:effectLst/>
                <a:latin typeface="黑体" panose="02010609060101010101" pitchFamily="49" charset="-122"/>
                <a:ea typeface="黑体" panose="02010609060101010101" pitchFamily="49" charset="-122"/>
              </a:rPr>
              <a:t>因此，必须在临界区前面增加一段用于进行上述检查的代码，把这段代码称为</a:t>
            </a:r>
            <a:r>
              <a:rPr lang="zh-CN" altLang="zh-CN" sz="2800" b="1" dirty="0">
                <a:solidFill>
                  <a:srgbClr val="FF0000"/>
                </a:solidFill>
                <a:effectLst/>
                <a:latin typeface="黑体" panose="02010609060101010101" pitchFamily="49" charset="-122"/>
                <a:ea typeface="黑体" panose="02010609060101010101" pitchFamily="49" charset="-122"/>
              </a:rPr>
              <a:t>进入区</a:t>
            </a:r>
            <a:r>
              <a:rPr lang="zh-CN" altLang="zh-CN" sz="2800" b="1" dirty="0">
                <a:solidFill>
                  <a:srgbClr val="FFFF00"/>
                </a:solidFill>
                <a:effectLst/>
                <a:latin typeface="黑体" panose="02010609060101010101" pitchFamily="49" charset="-122"/>
                <a:ea typeface="黑体" panose="02010609060101010101" pitchFamily="49" charset="-122"/>
              </a:rPr>
              <a:t>(entry section)。相应地，在临界区后面也要加上一段称为</a:t>
            </a:r>
            <a:r>
              <a:rPr lang="zh-CN" altLang="zh-CN" sz="2800" b="1" dirty="0">
                <a:solidFill>
                  <a:srgbClr val="FF0000"/>
                </a:solidFill>
                <a:effectLst/>
                <a:latin typeface="黑体" panose="02010609060101010101" pitchFamily="49" charset="-122"/>
                <a:ea typeface="黑体" panose="02010609060101010101" pitchFamily="49" charset="-122"/>
              </a:rPr>
              <a:t>退出区</a:t>
            </a:r>
            <a:r>
              <a:rPr lang="zh-CN" altLang="zh-CN" sz="2800" b="1" dirty="0">
                <a:solidFill>
                  <a:srgbClr val="FFFF00"/>
                </a:solidFill>
                <a:effectLst/>
                <a:latin typeface="黑体" panose="02010609060101010101" pitchFamily="49" charset="-122"/>
                <a:ea typeface="黑体" panose="02010609060101010101" pitchFamily="49" charset="-122"/>
              </a:rPr>
              <a:t>(exit section)的代码，用于将临界区正被访问的标志恢复为未被访问标志。</a:t>
            </a:r>
            <a:endParaRPr lang="en-US" altLang="zh-CN" sz="2800" b="1" dirty="0">
              <a:solidFill>
                <a:srgbClr val="FFFF00"/>
              </a:solidFill>
              <a:effectLst/>
              <a:latin typeface="黑体" panose="02010609060101010101" pitchFamily="49" charset="-122"/>
              <a:ea typeface="黑体" panose="02010609060101010101" pitchFamily="49" charset="-122"/>
            </a:endParaRPr>
          </a:p>
          <a:p>
            <a:pPr marL="609600" indent="-609600" algn="just" eaLnBrk="1" hangingPunct="1">
              <a:lnSpc>
                <a:spcPts val="3200"/>
              </a:lnSpc>
              <a:buFont typeface="Wingdings" panose="05000000000000000000" pitchFamily="2" charset="2"/>
              <a:buChar char="ü"/>
            </a:pPr>
            <a:r>
              <a:rPr lang="en-US" altLang="zh-CN" sz="2800" b="1" dirty="0">
                <a:solidFill>
                  <a:srgbClr val="FFFF00"/>
                </a:solidFill>
                <a:effectLst/>
                <a:latin typeface="黑体" panose="02010609060101010101" pitchFamily="49" charset="-122"/>
                <a:ea typeface="黑体" panose="02010609060101010101" pitchFamily="49" charset="-122"/>
              </a:rPr>
              <a:t>entry section</a:t>
            </a:r>
          </a:p>
          <a:p>
            <a:pPr marL="0" indent="0" algn="just" eaLnBrk="1" hangingPunct="1">
              <a:lnSpc>
                <a:spcPts val="3200"/>
              </a:lnSpc>
              <a:buNone/>
            </a:pPr>
            <a:r>
              <a:rPr lang="en-US" altLang="zh-CN" sz="2800" b="1" dirty="0">
                <a:solidFill>
                  <a:srgbClr val="FFFF00"/>
                </a:solidFill>
                <a:effectLst/>
                <a:latin typeface="黑体" panose="02010609060101010101" pitchFamily="49" charset="-122"/>
                <a:ea typeface="黑体" panose="02010609060101010101" pitchFamily="49" charset="-122"/>
              </a:rPr>
              <a:t>       critical section</a:t>
            </a:r>
          </a:p>
          <a:p>
            <a:pPr marL="0" indent="0" algn="just" eaLnBrk="1" hangingPunct="1">
              <a:lnSpc>
                <a:spcPts val="3200"/>
              </a:lnSpc>
              <a:buNone/>
            </a:pPr>
            <a:r>
              <a:rPr lang="en-US" altLang="zh-CN" sz="2800" b="1" dirty="0">
                <a:solidFill>
                  <a:srgbClr val="FFFF00"/>
                </a:solidFill>
                <a:effectLst/>
                <a:latin typeface="黑体" panose="02010609060101010101" pitchFamily="49" charset="-122"/>
                <a:ea typeface="黑体" panose="02010609060101010101" pitchFamily="49" charset="-122"/>
              </a:rPr>
              <a:t>    exit section</a:t>
            </a:r>
          </a:p>
          <a:p>
            <a:pPr marL="0" indent="0" algn="just" eaLnBrk="1" hangingPunct="1">
              <a:lnSpc>
                <a:spcPts val="3200"/>
              </a:lnSpc>
              <a:buNone/>
            </a:pPr>
            <a:r>
              <a:rPr lang="en-US" altLang="zh-CN" sz="2800" b="1" dirty="0">
                <a:solidFill>
                  <a:srgbClr val="FFFF00"/>
                </a:solidFill>
                <a:effectLst/>
                <a:latin typeface="黑体" panose="02010609060101010101" pitchFamily="49" charset="-122"/>
                <a:ea typeface="黑体" panose="02010609060101010101" pitchFamily="49" charset="-122"/>
              </a:rPr>
              <a:t>    remainder section</a:t>
            </a:r>
          </a:p>
          <a:p>
            <a:pPr marL="609600" indent="-609600" algn="just" eaLnBrk="1" hangingPunct="1">
              <a:lnSpc>
                <a:spcPts val="3200"/>
              </a:lnSpc>
              <a:buFont typeface="Wingdings" panose="05000000000000000000" pitchFamily="2" charset="2"/>
              <a:buChar char="ü"/>
            </a:pPr>
            <a:endParaRPr lang="zh-CN" altLang="en-US" sz="2800" b="1" dirty="0">
              <a:solidFill>
                <a:srgbClr val="FFFF00"/>
              </a:solidFill>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63384676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D4ED4769-D899-4ABB-9A26-46FE81247527}"/>
              </a:ext>
            </a:extLst>
          </p:cNvPr>
          <p:cNvSpPr>
            <a:spLocks noGrp="1" noChangeArrowheads="1"/>
          </p:cNvSpPr>
          <p:nvPr>
            <p:ph type="body" idx="1"/>
          </p:nvPr>
        </p:nvSpPr>
        <p:spPr>
          <a:xfrm>
            <a:off x="539750" y="981075"/>
            <a:ext cx="7777163" cy="5138738"/>
          </a:xfrm>
        </p:spPr>
        <p:txBody>
          <a:bodyPr/>
          <a:lstStyle/>
          <a:p>
            <a:pPr marL="609600" indent="-609600" algn="just" eaLnBrk="1" hangingPunct="1">
              <a:buFont typeface="Wingdings" panose="05000000000000000000" pitchFamily="2" charset="2"/>
              <a:buNone/>
            </a:pPr>
            <a:r>
              <a:rPr lang="en-US" altLang="zh-CN" b="1" dirty="0">
                <a:solidFill>
                  <a:srgbClr val="FFFF00"/>
                </a:solidFill>
                <a:effectLst/>
                <a:latin typeface="黑体" panose="02010609060101010101" pitchFamily="49" charset="-122"/>
                <a:ea typeface="黑体" panose="02010609060101010101" pitchFamily="49" charset="-122"/>
              </a:rPr>
              <a:t>2.</a:t>
            </a:r>
            <a:r>
              <a:rPr lang="zh-CN" altLang="en-US" b="1" dirty="0">
                <a:solidFill>
                  <a:srgbClr val="FFFF00"/>
                </a:solidFill>
                <a:effectLst/>
                <a:latin typeface="黑体" panose="02010609060101010101" pitchFamily="49" charset="-122"/>
                <a:ea typeface="黑体" panose="02010609060101010101" pitchFamily="49" charset="-122"/>
              </a:rPr>
              <a:t>互斥</a:t>
            </a:r>
          </a:p>
          <a:p>
            <a:pPr marL="609600" indent="-609600" eaLnBrk="1" hangingPunct="1">
              <a:buFont typeface="Wingdings" panose="05000000000000000000" pitchFamily="2" charset="2"/>
              <a:buChar char="Ø"/>
            </a:pPr>
            <a:r>
              <a:rPr lang="zh-CN" altLang="en-US" b="1" dirty="0">
                <a:solidFill>
                  <a:srgbClr val="FFFF00"/>
                </a:solidFill>
                <a:effectLst/>
                <a:latin typeface="黑体" panose="02010609060101010101" pitchFamily="49" charset="-122"/>
                <a:ea typeface="黑体" panose="02010609060101010101" pitchFamily="49" charset="-122"/>
              </a:rPr>
              <a:t>定义：一组并发进程中的多个程序段，因共享某一公有资源而导致它们必须以一个不允许交叉执行的单位执行</a:t>
            </a:r>
          </a:p>
          <a:p>
            <a:pPr marL="609600" indent="-609600" eaLnBrk="1" hangingPunct="1">
              <a:buFont typeface="Wingdings" panose="05000000000000000000" pitchFamily="2" charset="2"/>
              <a:buChar char="Ø"/>
            </a:pPr>
            <a:r>
              <a:rPr lang="zh-CN" altLang="en-US" b="1" dirty="0">
                <a:solidFill>
                  <a:srgbClr val="FFFF00"/>
                </a:solidFill>
                <a:effectLst/>
                <a:latin typeface="黑体" panose="02010609060101010101" pitchFamily="49" charset="-122"/>
                <a:ea typeface="黑体" panose="02010609060101010101" pitchFamily="49" charset="-122"/>
              </a:rPr>
              <a:t>不允许两个以上的共享该资源的并发进程同时进入临界区称为互斥</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84DADA8-993F-4A25-9357-0735EE486994}"/>
              </a:ext>
            </a:extLst>
          </p:cNvPr>
          <p:cNvSpPr>
            <a:spLocks noGrp="1" noChangeArrowheads="1"/>
          </p:cNvSpPr>
          <p:nvPr>
            <p:ph type="body" idx="1"/>
          </p:nvPr>
        </p:nvSpPr>
        <p:spPr>
          <a:xfrm>
            <a:off x="1908175" y="908050"/>
            <a:ext cx="6769100" cy="5184775"/>
          </a:xfrm>
          <a:noFill/>
          <a:extLst>
            <a:ext uri="{909E8E84-426E-40DD-AFC4-6F175D3DCCD1}">
              <a14:hiddenFill xmlns:a14="http://schemas.microsoft.com/office/drawing/2010/main">
                <a:solidFill>
                  <a:schemeClr val="accent1"/>
                </a:solidFill>
              </a14:hiddenFill>
            </a:ext>
          </a:extLst>
        </p:spPr>
        <p:txBody>
          <a:bodyPr/>
          <a:lstStyle/>
          <a:p>
            <a:pPr algn="just" eaLnBrk="1" hangingPunct="1">
              <a:buFont typeface="Wingdings" panose="05000000000000000000" pitchFamily="2" charset="2"/>
              <a:buNone/>
            </a:pPr>
            <a:r>
              <a:rPr lang="zh-CN" altLang="en-US" sz="3600" b="1" dirty="0">
                <a:solidFill>
                  <a:srgbClr val="FFFF00"/>
                </a:solidFill>
                <a:effectLst/>
                <a:latin typeface="黑体" panose="02010609060101010101" pitchFamily="49" charset="-122"/>
                <a:ea typeface="黑体" panose="02010609060101010101" pitchFamily="49" charset="-122"/>
              </a:rPr>
              <a:t>互斥的原则：</a:t>
            </a:r>
          </a:p>
          <a:p>
            <a:pPr eaLnBrk="1" hangingPunct="1">
              <a:buFont typeface="Wingdings" panose="05000000000000000000" pitchFamily="2" charset="2"/>
              <a:buChar char="Ø"/>
            </a:pPr>
            <a:r>
              <a:rPr lang="zh-CN" altLang="en-US" sz="3600" b="1" dirty="0">
                <a:solidFill>
                  <a:srgbClr val="FFFF00"/>
                </a:solidFill>
                <a:effectLst/>
                <a:latin typeface="黑体" panose="02010609060101010101" pitchFamily="49" charset="-122"/>
                <a:ea typeface="黑体" panose="02010609060101010101" pitchFamily="49" charset="-122"/>
              </a:rPr>
              <a:t>有空让进</a:t>
            </a:r>
          </a:p>
          <a:p>
            <a:pPr eaLnBrk="1" hangingPunct="1">
              <a:buFont typeface="Wingdings" panose="05000000000000000000" pitchFamily="2" charset="2"/>
              <a:buChar char="Ø"/>
            </a:pPr>
            <a:r>
              <a:rPr lang="zh-CN" altLang="en-US" sz="3600" b="1" dirty="0">
                <a:solidFill>
                  <a:srgbClr val="FFFF00"/>
                </a:solidFill>
                <a:effectLst/>
                <a:latin typeface="黑体" panose="02010609060101010101" pitchFamily="49" charset="-122"/>
                <a:ea typeface="黑体" panose="02010609060101010101" pitchFamily="49" charset="-122"/>
              </a:rPr>
              <a:t>忙则等待</a:t>
            </a:r>
          </a:p>
          <a:p>
            <a:pPr eaLnBrk="1" hangingPunct="1">
              <a:buFont typeface="Wingdings" panose="05000000000000000000" pitchFamily="2" charset="2"/>
              <a:buChar char="Ø"/>
            </a:pPr>
            <a:r>
              <a:rPr lang="zh-CN" altLang="en-US" sz="3600" b="1" dirty="0">
                <a:solidFill>
                  <a:srgbClr val="FFFF00"/>
                </a:solidFill>
                <a:effectLst/>
                <a:latin typeface="黑体" panose="02010609060101010101" pitchFamily="49" charset="-122"/>
                <a:ea typeface="黑体" panose="02010609060101010101" pitchFamily="49" charset="-122"/>
              </a:rPr>
              <a:t>让权等待</a:t>
            </a:r>
          </a:p>
          <a:p>
            <a:pPr eaLnBrk="1" hangingPunct="1">
              <a:buFont typeface="Wingdings" panose="05000000000000000000" pitchFamily="2" charset="2"/>
              <a:buChar char="Ø"/>
            </a:pPr>
            <a:r>
              <a:rPr lang="zh-CN" altLang="en-US" sz="3600" b="1" dirty="0">
                <a:solidFill>
                  <a:srgbClr val="FFFF00"/>
                </a:solidFill>
                <a:effectLst/>
                <a:latin typeface="黑体" panose="02010609060101010101" pitchFamily="49" charset="-122"/>
                <a:ea typeface="黑体" panose="02010609060101010101" pitchFamily="49" charset="-122"/>
              </a:rPr>
              <a:t>有限等待</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F6D46DA-5461-4E85-A2C5-A3188916AFF4}"/>
              </a:ext>
            </a:extLst>
          </p:cNvPr>
          <p:cNvSpPr>
            <a:spLocks noGrp="1" noChangeArrowheads="1"/>
          </p:cNvSpPr>
          <p:nvPr>
            <p:ph type="body" idx="1"/>
          </p:nvPr>
        </p:nvSpPr>
        <p:spPr>
          <a:xfrm>
            <a:off x="287338" y="333375"/>
            <a:ext cx="8569325" cy="6264275"/>
          </a:xfrm>
          <a:noFill/>
          <a:extLst>
            <a:ext uri="{909E8E84-426E-40DD-AFC4-6F175D3DCCD1}">
              <a14:hiddenFill xmlns:a14="http://schemas.microsoft.com/office/drawing/2010/main">
                <a:solidFill>
                  <a:schemeClr val="accent1"/>
                </a:solidFill>
              </a14:hiddenFill>
            </a:ext>
          </a:extLst>
        </p:spPr>
        <p:txBody>
          <a:bodyPr/>
          <a:lstStyle/>
          <a:p>
            <a:pPr algn="just"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互斥的原则：</a:t>
            </a:r>
          </a:p>
          <a:p>
            <a:pPr eaLnBrk="1" hangingPunct="1">
              <a:buFont typeface="Wingdings" panose="05000000000000000000" pitchFamily="2" charset="2"/>
              <a:buChar char="Ø"/>
            </a:pPr>
            <a:r>
              <a:rPr lang="zh-CN" altLang="en-US" sz="2800" b="1" dirty="0">
                <a:solidFill>
                  <a:srgbClr val="FFFF00"/>
                </a:solidFill>
                <a:effectLst/>
                <a:latin typeface="黑体" panose="02010609060101010101" pitchFamily="49" charset="-122"/>
                <a:ea typeface="黑体" panose="02010609060101010101" pitchFamily="49" charset="-122"/>
              </a:rPr>
              <a:t>有空让进：当临界资源空闲时，可以允许一个请求进入临界区的进程进入</a:t>
            </a:r>
          </a:p>
          <a:p>
            <a:pPr eaLnBrk="1" hangingPunct="1">
              <a:buFont typeface="Wingdings" panose="05000000000000000000" pitchFamily="2" charset="2"/>
              <a:buChar char="Ø"/>
            </a:pPr>
            <a:r>
              <a:rPr lang="zh-CN" altLang="en-US" sz="2800" b="1" dirty="0">
                <a:solidFill>
                  <a:srgbClr val="FFFF00"/>
                </a:solidFill>
                <a:effectLst/>
                <a:latin typeface="黑体" panose="02010609060101010101" pitchFamily="49" charset="-122"/>
                <a:ea typeface="黑体" panose="02010609060101010101" pitchFamily="49" charset="-122"/>
              </a:rPr>
              <a:t>忙则等待：有进程在访问临界资源时，其他进程必须等待，不能进入临界区</a:t>
            </a:r>
          </a:p>
          <a:p>
            <a:pPr eaLnBrk="1" hangingPunct="1">
              <a:buFont typeface="Wingdings" panose="05000000000000000000" pitchFamily="2" charset="2"/>
              <a:buChar char="Ø"/>
            </a:pPr>
            <a:r>
              <a:rPr lang="zh-CN" altLang="en-US" sz="2800" b="1" dirty="0">
                <a:solidFill>
                  <a:srgbClr val="FFFF00"/>
                </a:solidFill>
                <a:effectLst/>
                <a:latin typeface="黑体" panose="02010609060101010101" pitchFamily="49" charset="-122"/>
                <a:ea typeface="黑体" panose="02010609060101010101" pitchFamily="49" charset="-122"/>
              </a:rPr>
              <a:t>让权等待：当进程不能进入临界区时，应立即释放处理机，以免进程陷入“忙等”状态。</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Char char="p"/>
            </a:pPr>
            <a:r>
              <a:rPr lang="zh-CN" altLang="en-US" sz="2800" b="1" dirty="0">
                <a:solidFill>
                  <a:srgbClr val="FFFF00"/>
                </a:solidFill>
                <a:effectLst/>
                <a:latin typeface="黑体" panose="02010609060101010101" pitchFamily="49" charset="-122"/>
                <a:ea typeface="黑体" panose="02010609060101010101" pitchFamily="49" charset="-122"/>
              </a:rPr>
              <a:t>保证平等、独立的竞争和使用公有资源的权力，且保证任一时刻至多只有一个进程在临界区</a:t>
            </a:r>
          </a:p>
          <a:p>
            <a:pPr eaLnBrk="1" hangingPunct="1">
              <a:buFont typeface="Wingdings" panose="05000000000000000000" pitchFamily="2" charset="2"/>
              <a:buChar char="Ø"/>
            </a:pPr>
            <a:r>
              <a:rPr lang="zh-CN" altLang="en-US" sz="2800" b="1" dirty="0">
                <a:solidFill>
                  <a:srgbClr val="FFFF00"/>
                </a:solidFill>
                <a:effectLst/>
                <a:latin typeface="黑体" panose="02010609060101010101" pitchFamily="49" charset="-122"/>
                <a:ea typeface="黑体" panose="02010609060101010101" pitchFamily="49" charset="-122"/>
              </a:rPr>
              <a:t>有限等待：任何进入临界区的要求应在有限的时间内得到满足</a:t>
            </a:r>
          </a:p>
          <a:p>
            <a:pPr eaLnBrk="1" hangingPunct="1">
              <a:buFont typeface="Wingdings" panose="05000000000000000000" pitchFamily="2" charset="2"/>
              <a:buChar char="p"/>
            </a:pPr>
            <a:r>
              <a:rPr lang="zh-CN" altLang="en-US" sz="2800" b="1" dirty="0">
                <a:solidFill>
                  <a:srgbClr val="FFFF00"/>
                </a:solidFill>
                <a:effectLst/>
                <a:latin typeface="黑体" panose="02010609060101010101" pitchFamily="49" charset="-122"/>
                <a:ea typeface="黑体" panose="02010609060101010101" pitchFamily="49" charset="-122"/>
              </a:rPr>
              <a:t>保证并发进程不发生饥饿或死锁</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16DEC9D8-5279-4FA2-8866-AAD9AF1E22FF}"/>
              </a:ext>
            </a:extLst>
          </p:cNvPr>
          <p:cNvSpPr>
            <a:spLocks noGrp="1" noChangeArrowheads="1"/>
          </p:cNvSpPr>
          <p:nvPr>
            <p:ph type="body" idx="1"/>
          </p:nvPr>
        </p:nvSpPr>
        <p:spPr>
          <a:xfrm>
            <a:off x="539750" y="1052513"/>
            <a:ext cx="8229600" cy="5106987"/>
          </a:xfrm>
        </p:spPr>
        <p:txBody>
          <a:bodyPr/>
          <a:lstStyle/>
          <a:p>
            <a:pPr eaLnBrk="1" hangingPunct="1"/>
            <a:r>
              <a:rPr lang="en-US" altLang="zh-CN" b="1" dirty="0">
                <a:solidFill>
                  <a:srgbClr val="FFFF00"/>
                </a:solidFill>
                <a:effectLst/>
                <a:ea typeface="黑体" panose="02010609060101010101" pitchFamily="49" charset="-122"/>
              </a:rPr>
              <a:t>3.</a:t>
            </a:r>
            <a:r>
              <a:rPr lang="zh-CN" altLang="en-US" b="1" dirty="0">
                <a:solidFill>
                  <a:srgbClr val="FFFF00"/>
                </a:solidFill>
                <a:effectLst/>
                <a:ea typeface="黑体" panose="02010609060101010101" pitchFamily="49" charset="-122"/>
              </a:rPr>
              <a:t>互斥的软件实现</a:t>
            </a:r>
          </a:p>
          <a:p>
            <a:pPr eaLnBrk="1" hangingPunct="1"/>
            <a:r>
              <a:rPr lang="zh-CN" altLang="en-US" b="1" dirty="0">
                <a:solidFill>
                  <a:srgbClr val="FFFF00"/>
                </a:solidFill>
                <a:effectLst/>
                <a:ea typeface="黑体" panose="02010609060101010101" pitchFamily="49" charset="-122"/>
              </a:rPr>
              <a:t>软件实现的方法有多种算法。</a:t>
            </a:r>
            <a:endParaRPr lang="en-US" altLang="zh-CN" b="1" dirty="0">
              <a:solidFill>
                <a:srgbClr val="FFFF00"/>
              </a:solidFill>
              <a:effectLst/>
              <a:ea typeface="黑体" panose="02010609060101010101" pitchFamily="49" charset="-122"/>
            </a:endParaRPr>
          </a:p>
          <a:p>
            <a:pPr eaLnBrk="1" hangingPunct="1"/>
            <a:r>
              <a:rPr lang="zh-CN" altLang="en-US" b="1" dirty="0">
                <a:solidFill>
                  <a:srgbClr val="FFFF00"/>
                </a:solidFill>
                <a:effectLst/>
                <a:ea typeface="黑体" panose="02010609060101010101" pitchFamily="49" charset="-122"/>
              </a:rPr>
              <a:t>基本原理是：在进入区设置和检查一些标志来标明是否有进程在临界区使用临界资源</a:t>
            </a:r>
            <a:endParaRPr lang="en-US" altLang="zh-CN" b="1" dirty="0">
              <a:solidFill>
                <a:srgbClr val="FFFF00"/>
              </a:solidFill>
              <a:effectLst/>
              <a:ea typeface="黑体" panose="02010609060101010101" pitchFamily="49" charset="-122"/>
            </a:endParaRPr>
          </a:p>
          <a:p>
            <a:pPr eaLnBrk="1" hangingPunct="1"/>
            <a:r>
              <a:rPr lang="zh-CN" altLang="en-US" b="1" dirty="0">
                <a:solidFill>
                  <a:srgbClr val="FFFF00"/>
                </a:solidFill>
                <a:effectLst/>
                <a:ea typeface="黑体" panose="02010609060101010101" pitchFamily="49" charset="-122"/>
              </a:rPr>
              <a:t>如果已有进程在临界区，则在进入区通过循环检查进行等待</a:t>
            </a:r>
            <a:endParaRPr lang="en-US" altLang="zh-CN" b="1" dirty="0">
              <a:solidFill>
                <a:srgbClr val="FFFF00"/>
              </a:solidFill>
              <a:effectLst/>
              <a:ea typeface="黑体" panose="02010609060101010101" pitchFamily="49" charset="-122"/>
            </a:endParaRPr>
          </a:p>
          <a:p>
            <a:pPr eaLnBrk="1" hangingPunct="1"/>
            <a:r>
              <a:rPr lang="zh-CN" altLang="en-US" b="1" dirty="0">
                <a:solidFill>
                  <a:srgbClr val="FFFF00"/>
                </a:solidFill>
                <a:effectLst/>
                <a:ea typeface="黑体" panose="02010609060101010101" pitchFamily="49" charset="-122"/>
              </a:rPr>
              <a:t>进程离开临界区后则在退出区修改标志。</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58BAD4AE-8231-48FD-B5F2-A2015A3436DC}"/>
              </a:ext>
            </a:extLst>
          </p:cNvPr>
          <p:cNvSpPr>
            <a:spLocks noGrp="1" noChangeArrowheads="1"/>
          </p:cNvSpPr>
          <p:nvPr>
            <p:ph type="body" idx="1"/>
          </p:nvPr>
        </p:nvSpPr>
        <p:spPr>
          <a:xfrm>
            <a:off x="539750" y="1557338"/>
            <a:ext cx="7921625" cy="4502150"/>
          </a:xfrm>
        </p:spPr>
        <p:txBody>
          <a:bodyPr/>
          <a:lstStyle/>
          <a:p>
            <a:pPr eaLnBrk="1" hangingPunct="1"/>
            <a:r>
              <a:rPr lang="zh-CN" altLang="en-US" sz="3600" b="1">
                <a:solidFill>
                  <a:srgbClr val="FFFF00"/>
                </a:solidFill>
                <a:effectLst/>
                <a:latin typeface="黑体" panose="02010609060101010101" pitchFamily="49" charset="-122"/>
                <a:ea typeface="黑体" panose="02010609060101010101" pitchFamily="49" charset="-122"/>
              </a:rPr>
              <a:t>加锁是一种最简单的实现进程互斥的方法，它使用一个锁变量</a:t>
            </a:r>
            <a:r>
              <a:rPr lang="en-US" altLang="zh-CN" sz="3600" b="1">
                <a:solidFill>
                  <a:srgbClr val="FFFF00"/>
                </a:solidFill>
                <a:effectLst/>
                <a:latin typeface="黑体" panose="02010609060101010101" pitchFamily="49" charset="-122"/>
                <a:ea typeface="黑体" panose="02010609060101010101" pitchFamily="49" charset="-122"/>
              </a:rPr>
              <a:t>W</a:t>
            </a:r>
            <a:r>
              <a:rPr lang="zh-CN" altLang="en-US" sz="3600" b="1">
                <a:solidFill>
                  <a:srgbClr val="FFFF00"/>
                </a:solidFill>
                <a:effectLst/>
                <a:latin typeface="黑体" panose="02010609060101010101" pitchFamily="49" charset="-122"/>
                <a:ea typeface="黑体" panose="02010609060101010101" pitchFamily="49" charset="-122"/>
              </a:rPr>
              <a:t>来表示某种临界资源的状态</a:t>
            </a:r>
          </a:p>
          <a:p>
            <a:pPr eaLnBrk="1" hangingPunct="1"/>
            <a:r>
              <a:rPr lang="en-US" altLang="zh-CN" sz="3600" b="1">
                <a:solidFill>
                  <a:srgbClr val="FFFF00"/>
                </a:solidFill>
                <a:effectLst/>
                <a:latin typeface="黑体" panose="02010609060101010101" pitchFamily="49" charset="-122"/>
                <a:ea typeface="黑体" panose="02010609060101010101" pitchFamily="49" charset="-122"/>
              </a:rPr>
              <a:t>W=1</a:t>
            </a:r>
            <a:r>
              <a:rPr lang="zh-CN" altLang="en-US" sz="3600" b="1">
                <a:solidFill>
                  <a:srgbClr val="FFFF00"/>
                </a:solidFill>
                <a:effectLst/>
                <a:latin typeface="黑体" panose="02010609060101010101" pitchFamily="49" charset="-122"/>
                <a:ea typeface="黑体" panose="02010609060101010101" pitchFamily="49" charset="-122"/>
              </a:rPr>
              <a:t>表示资源空闲可用；</a:t>
            </a:r>
            <a:r>
              <a:rPr lang="en-US" altLang="zh-CN" sz="3600" b="1">
                <a:solidFill>
                  <a:srgbClr val="FFFF00"/>
                </a:solidFill>
                <a:effectLst/>
                <a:latin typeface="黑体" panose="02010609060101010101" pitchFamily="49" charset="-122"/>
                <a:ea typeface="黑体" panose="02010609060101010101" pitchFamily="49" charset="-122"/>
              </a:rPr>
              <a:t>W=0</a:t>
            </a:r>
            <a:r>
              <a:rPr lang="zh-CN" altLang="en-US" sz="3600" b="1">
                <a:solidFill>
                  <a:srgbClr val="FFFF00"/>
                </a:solidFill>
                <a:effectLst/>
                <a:latin typeface="黑体" panose="02010609060101010101" pitchFamily="49" charset="-122"/>
                <a:ea typeface="黑体" panose="02010609060101010101" pitchFamily="49" charset="-122"/>
              </a:rPr>
              <a:t>表示资源正被使用 </a:t>
            </a:r>
          </a:p>
          <a:p>
            <a:pPr eaLnBrk="1" hangingPunct="1"/>
            <a:endParaRPr lang="en-US" altLang="zh-CN" sz="3600" b="1">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DB4DD758-2DC3-4FF7-9459-F90EA6BEC019}"/>
              </a:ext>
            </a:extLst>
          </p:cNvPr>
          <p:cNvSpPr>
            <a:spLocks noGrp="1" noChangeArrowheads="1"/>
          </p:cNvSpPr>
          <p:nvPr>
            <p:ph type="body" idx="1"/>
          </p:nvPr>
        </p:nvSpPr>
        <p:spPr>
          <a:xfrm>
            <a:off x="827088" y="836613"/>
            <a:ext cx="7416800" cy="5538787"/>
          </a:xfrm>
        </p:spPr>
        <p:txBody>
          <a:bodyPr/>
          <a:lstStyle/>
          <a:p>
            <a:pPr algn="just" eaLnBrk="1" hangingPunct="1">
              <a:lnSpc>
                <a:spcPct val="90000"/>
              </a:lnSpc>
            </a:pPr>
            <a:r>
              <a:rPr lang="zh-CN" altLang="en-US" sz="3600" b="1" dirty="0">
                <a:solidFill>
                  <a:srgbClr val="FFFF00"/>
                </a:solidFill>
                <a:effectLst/>
                <a:latin typeface="黑体" panose="02010609060101010101" pitchFamily="49" charset="-122"/>
                <a:ea typeface="黑体" panose="02010609060101010101" pitchFamily="49" charset="-122"/>
              </a:rPr>
              <a:t>对临界资源加锁以实现互斥</a:t>
            </a:r>
          </a:p>
          <a:p>
            <a:pPr algn="just" eaLnBrk="1" hangingPunct="1">
              <a:lnSpc>
                <a:spcPct val="90000"/>
              </a:lnSpc>
              <a:buFont typeface="Wingdings" panose="05000000000000000000" pitchFamily="2" charset="2"/>
              <a:buNone/>
            </a:pPr>
            <a:r>
              <a:rPr lang="zh-CN" altLang="en-US" sz="3600" b="1" dirty="0">
                <a:solidFill>
                  <a:srgbClr val="FFFF00"/>
                </a:solidFill>
                <a:effectLst/>
                <a:latin typeface="黑体" panose="02010609060101010101" pitchFamily="49" charset="-122"/>
                <a:ea typeface="黑体" panose="02010609060101010101" pitchFamily="49" charset="-122"/>
              </a:rPr>
              <a:t>  </a:t>
            </a:r>
            <a:r>
              <a:rPr lang="en-US" altLang="zh-CN" sz="3600" b="1" dirty="0">
                <a:solidFill>
                  <a:srgbClr val="FFFF00"/>
                </a:solidFill>
                <a:effectLst/>
                <a:latin typeface="黑体" panose="02010609060101010101" pitchFamily="49" charset="-122"/>
                <a:ea typeface="黑体" panose="02010609060101010101" pitchFamily="49" charset="-122"/>
              </a:rPr>
              <a:t>lock</a:t>
            </a:r>
            <a:r>
              <a:rPr lang="zh-CN" altLang="en-US" sz="3600" b="1" dirty="0">
                <a:solidFill>
                  <a:srgbClr val="FFFF00"/>
                </a:solidFill>
                <a:effectLst/>
                <a:latin typeface="黑体" panose="02010609060101010101" pitchFamily="49" charset="-122"/>
                <a:ea typeface="黑体" panose="02010609060101010101" pitchFamily="49" charset="-122"/>
              </a:rPr>
              <a:t>（</a:t>
            </a:r>
            <a:r>
              <a:rPr lang="en-US" altLang="zh-CN" sz="3600" b="1" dirty="0">
                <a:solidFill>
                  <a:srgbClr val="FFFF00"/>
                </a:solidFill>
                <a:effectLst/>
                <a:latin typeface="黑体" panose="02010609060101010101" pitchFamily="49" charset="-122"/>
                <a:ea typeface="黑体" panose="02010609060101010101" pitchFamily="49" charset="-122"/>
              </a:rPr>
              <a:t>w</a:t>
            </a:r>
            <a:r>
              <a:rPr lang="zh-CN" altLang="en-US" sz="3600" b="1" dirty="0">
                <a:solidFill>
                  <a:srgbClr val="FFFF00"/>
                </a:solidFill>
                <a:effectLst/>
                <a:latin typeface="黑体" panose="02010609060101010101" pitchFamily="49" charset="-122"/>
                <a:ea typeface="黑体" panose="02010609060101010101" pitchFamily="49" charset="-122"/>
              </a:rPr>
              <a:t>）</a:t>
            </a:r>
            <a:r>
              <a:rPr lang="en-US" altLang="zh-CN" sz="3600" b="1" dirty="0">
                <a:solidFill>
                  <a:srgbClr val="FFFF00"/>
                </a:solidFill>
                <a:effectLst/>
                <a:latin typeface="黑体" panose="02010609060101010101" pitchFamily="49" charset="-122"/>
                <a:ea typeface="黑体" panose="02010609060101010101" pitchFamily="49" charset="-122"/>
              </a:rPr>
              <a:t>= begin local v</a:t>
            </a:r>
          </a:p>
          <a:p>
            <a:pPr algn="just" eaLnBrk="1" hangingPunct="1">
              <a:lnSpc>
                <a:spcPct val="90000"/>
              </a:lnSpc>
              <a:buFont typeface="Wingdings" panose="05000000000000000000" pitchFamily="2" charset="2"/>
              <a:buNone/>
            </a:pPr>
            <a:r>
              <a:rPr lang="en-US" altLang="zh-CN" sz="3600" b="1" dirty="0">
                <a:solidFill>
                  <a:srgbClr val="FFFF00"/>
                </a:solidFill>
                <a:effectLst/>
                <a:latin typeface="黑体" panose="02010609060101010101" pitchFamily="49" charset="-122"/>
                <a:ea typeface="黑体" panose="02010609060101010101" pitchFamily="49" charset="-122"/>
              </a:rPr>
              <a:t>         repeat</a:t>
            </a:r>
          </a:p>
          <a:p>
            <a:pPr algn="just" eaLnBrk="1" hangingPunct="1">
              <a:lnSpc>
                <a:spcPct val="90000"/>
              </a:lnSpc>
              <a:buFont typeface="Wingdings" panose="05000000000000000000" pitchFamily="2" charset="2"/>
              <a:buNone/>
            </a:pPr>
            <a:r>
              <a:rPr lang="en-US" altLang="zh-CN" sz="3600" b="1" dirty="0">
                <a:solidFill>
                  <a:srgbClr val="FFFF00"/>
                </a:solidFill>
                <a:effectLst/>
                <a:latin typeface="黑体" panose="02010609060101010101" pitchFamily="49" charset="-122"/>
                <a:ea typeface="黑体" panose="02010609060101010101" pitchFamily="49" charset="-122"/>
              </a:rPr>
              <a:t>            v &lt;- w</a:t>
            </a:r>
          </a:p>
          <a:p>
            <a:pPr algn="just" eaLnBrk="1" hangingPunct="1">
              <a:lnSpc>
                <a:spcPct val="90000"/>
              </a:lnSpc>
              <a:buFont typeface="Wingdings" panose="05000000000000000000" pitchFamily="2" charset="2"/>
              <a:buNone/>
            </a:pPr>
            <a:r>
              <a:rPr lang="en-US" altLang="zh-CN" sz="3600" b="1" dirty="0">
                <a:solidFill>
                  <a:srgbClr val="FFFF00"/>
                </a:solidFill>
                <a:effectLst/>
                <a:latin typeface="黑体" panose="02010609060101010101" pitchFamily="49" charset="-122"/>
                <a:ea typeface="黑体" panose="02010609060101010101" pitchFamily="49" charset="-122"/>
              </a:rPr>
              <a:t>         until v=1</a:t>
            </a:r>
          </a:p>
          <a:p>
            <a:pPr algn="just" eaLnBrk="1" hangingPunct="1">
              <a:lnSpc>
                <a:spcPct val="90000"/>
              </a:lnSpc>
              <a:buFont typeface="Wingdings" panose="05000000000000000000" pitchFamily="2" charset="2"/>
              <a:buNone/>
            </a:pPr>
            <a:r>
              <a:rPr lang="en-US" altLang="zh-CN" sz="3600" b="1" dirty="0">
                <a:solidFill>
                  <a:srgbClr val="FFFF00"/>
                </a:solidFill>
                <a:effectLst/>
                <a:latin typeface="黑体" panose="02010609060101010101" pitchFamily="49" charset="-122"/>
                <a:ea typeface="黑体" panose="02010609060101010101" pitchFamily="49" charset="-122"/>
              </a:rPr>
              <a:t>         w &lt;- 0</a:t>
            </a:r>
          </a:p>
          <a:p>
            <a:pPr algn="just" eaLnBrk="1" hangingPunct="1">
              <a:lnSpc>
                <a:spcPct val="90000"/>
              </a:lnSpc>
              <a:buFont typeface="Wingdings" panose="05000000000000000000" pitchFamily="2" charset="2"/>
              <a:buNone/>
            </a:pPr>
            <a:r>
              <a:rPr lang="en-US" altLang="zh-CN" sz="3600" b="1" dirty="0">
                <a:solidFill>
                  <a:srgbClr val="FFFF00"/>
                </a:solidFill>
                <a:effectLst/>
                <a:latin typeface="黑体" panose="02010609060101010101" pitchFamily="49" charset="-122"/>
                <a:ea typeface="黑体" panose="02010609060101010101" pitchFamily="49" charset="-122"/>
              </a:rPr>
              <a:t>   end</a:t>
            </a:r>
          </a:p>
          <a:p>
            <a:pPr algn="just" eaLnBrk="1" hangingPunct="1">
              <a:lnSpc>
                <a:spcPct val="90000"/>
              </a:lnSpc>
              <a:buFont typeface="Wingdings" panose="05000000000000000000" pitchFamily="2" charset="2"/>
              <a:buNone/>
            </a:pPr>
            <a:endParaRPr lang="en-US" altLang="zh-CN" sz="3600" b="1" dirty="0">
              <a:solidFill>
                <a:srgbClr val="FFFF00"/>
              </a:solidFill>
              <a:effectLst/>
              <a:latin typeface="黑体" panose="02010609060101010101" pitchFamily="49" charset="-122"/>
              <a:ea typeface="黑体" panose="02010609060101010101" pitchFamily="49" charset="-122"/>
            </a:endParaRPr>
          </a:p>
          <a:p>
            <a:pPr algn="just" eaLnBrk="1" hangingPunct="1">
              <a:lnSpc>
                <a:spcPct val="90000"/>
              </a:lnSpc>
              <a:buFont typeface="Wingdings" panose="05000000000000000000" pitchFamily="2" charset="2"/>
              <a:buNone/>
            </a:pPr>
            <a:r>
              <a:rPr lang="zh-CN" altLang="en-US" sz="3600" b="1" dirty="0">
                <a:solidFill>
                  <a:srgbClr val="FFFF00"/>
                </a:solidFill>
                <a:effectLst/>
                <a:latin typeface="黑体" panose="02010609060101010101" pitchFamily="49" charset="-122"/>
                <a:ea typeface="黑体" panose="02010609060101010101" pitchFamily="49" charset="-122"/>
              </a:rPr>
              <a:t>使用完以后</a:t>
            </a:r>
            <a:r>
              <a:rPr lang="en-US" altLang="zh-CN" sz="3600" b="1" dirty="0">
                <a:solidFill>
                  <a:srgbClr val="FFFF00"/>
                </a:solidFill>
                <a:effectLst/>
                <a:latin typeface="黑体" panose="02010609060101010101" pitchFamily="49" charset="-122"/>
                <a:ea typeface="黑体" panose="02010609060101010101" pitchFamily="49" charset="-122"/>
              </a:rPr>
              <a:t>unlock</a:t>
            </a:r>
            <a:r>
              <a:rPr lang="zh-CN" altLang="en-US" sz="3600" b="1" dirty="0">
                <a:solidFill>
                  <a:srgbClr val="FFFF00"/>
                </a:solidFill>
                <a:effectLst/>
                <a:latin typeface="黑体" panose="02010609060101010101" pitchFamily="49" charset="-122"/>
                <a:ea typeface="黑体" panose="02010609060101010101" pitchFamily="49" charset="-122"/>
              </a:rPr>
              <a:t>（</a:t>
            </a:r>
            <a:r>
              <a:rPr lang="en-US" altLang="zh-CN" sz="3600" b="1" dirty="0">
                <a:solidFill>
                  <a:srgbClr val="FFFF00"/>
                </a:solidFill>
                <a:effectLst/>
                <a:latin typeface="黑体" panose="02010609060101010101" pitchFamily="49" charset="-122"/>
                <a:ea typeface="黑体" panose="02010609060101010101" pitchFamily="49" charset="-122"/>
              </a:rPr>
              <a:t>w</a:t>
            </a:r>
            <a:r>
              <a:rPr lang="zh-CN" altLang="en-US" sz="3600" b="1" dirty="0">
                <a:solidFill>
                  <a:srgbClr val="FFFF00"/>
                </a:solidFill>
                <a:effectLst/>
                <a:latin typeface="黑体" panose="02010609060101010101" pitchFamily="49" charset="-122"/>
                <a:ea typeface="黑体" panose="02010609060101010101" pitchFamily="49" charset="-122"/>
              </a:rPr>
              <a:t>）将</a:t>
            </a:r>
            <a:r>
              <a:rPr lang="en-US" altLang="zh-CN" sz="3600" b="1" dirty="0">
                <a:solidFill>
                  <a:srgbClr val="FFFF00"/>
                </a:solidFill>
                <a:effectLst/>
                <a:latin typeface="黑体" panose="02010609060101010101" pitchFamily="49" charset="-122"/>
                <a:ea typeface="黑体" panose="02010609060101010101" pitchFamily="49" charset="-122"/>
              </a:rPr>
              <a:t>w</a:t>
            </a:r>
            <a:r>
              <a:rPr lang="zh-CN" altLang="en-US" sz="3600" b="1" dirty="0">
                <a:solidFill>
                  <a:srgbClr val="FFFF00"/>
                </a:solidFill>
                <a:effectLst/>
                <a:latin typeface="黑体" panose="02010609060101010101" pitchFamily="49" charset="-122"/>
                <a:ea typeface="黑体" panose="02010609060101010101" pitchFamily="49" charset="-122"/>
              </a:rPr>
              <a:t>赋值为</a:t>
            </a:r>
            <a:r>
              <a:rPr lang="en-US" altLang="zh-CN" sz="3600" b="1" dirty="0">
                <a:solidFill>
                  <a:srgbClr val="FFFF00"/>
                </a:solidFill>
                <a:effectLst/>
                <a:latin typeface="黑体" panose="02010609060101010101" pitchFamily="49" charset="-122"/>
                <a:ea typeface="黑体" panose="02010609060101010101" pitchFamily="49" charset="-122"/>
              </a:rPr>
              <a:t>1</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053C54A1-5042-42CD-BBF7-3139129FC362}"/>
              </a:ext>
            </a:extLst>
          </p:cNvPr>
          <p:cNvSpPr>
            <a:spLocks noGrp="1" noChangeArrowheads="1"/>
          </p:cNvSpPr>
          <p:nvPr>
            <p:ph type="body" idx="1"/>
          </p:nvPr>
        </p:nvSpPr>
        <p:spPr>
          <a:xfrm>
            <a:off x="611560" y="908794"/>
            <a:ext cx="8229600" cy="5040412"/>
          </a:xfrm>
        </p:spPr>
        <p:txBody>
          <a:bodyPr/>
          <a:lstStyle/>
          <a:p>
            <a:pPr eaLnBrk="1" hangingPunct="1">
              <a:lnSpc>
                <a:spcPts val="4000"/>
              </a:lnSpc>
            </a:pPr>
            <a:r>
              <a:rPr lang="zh-CN" altLang="en-US" b="1" dirty="0">
                <a:solidFill>
                  <a:srgbClr val="FFFF00"/>
                </a:solidFill>
                <a:effectLst/>
                <a:ea typeface="黑体" panose="02010609060101010101" pitchFamily="49" charset="-122"/>
              </a:rPr>
              <a:t>这种实现方式是不能保证并发进程互斥执行所需要的准则</a:t>
            </a:r>
            <a:r>
              <a:rPr lang="en-US" altLang="zh-CN" b="1" dirty="0">
                <a:solidFill>
                  <a:srgbClr val="FFFF00"/>
                </a:solidFill>
                <a:effectLst/>
                <a:ea typeface="黑体" panose="02010609060101010101" pitchFamily="49" charset="-122"/>
              </a:rPr>
              <a:t>2</a:t>
            </a:r>
            <a:r>
              <a:rPr lang="zh-CN" altLang="en-US" b="1" dirty="0">
                <a:solidFill>
                  <a:srgbClr val="FFFF00"/>
                </a:solidFill>
                <a:effectLst/>
                <a:ea typeface="黑体" panose="02010609060101010101" pitchFamily="49" charset="-122"/>
              </a:rPr>
              <a:t>（忙则等待）。因为当有几个进程并发调用</a:t>
            </a:r>
            <a:r>
              <a:rPr lang="en-US" altLang="zh-CN" b="1" dirty="0">
                <a:solidFill>
                  <a:srgbClr val="FFFF00"/>
                </a:solidFill>
                <a:effectLst/>
                <a:ea typeface="黑体" panose="02010609060101010101" pitchFamily="49" charset="-122"/>
              </a:rPr>
              <a:t>lock</a:t>
            </a:r>
            <a:r>
              <a:rPr lang="zh-CN" altLang="en-US" b="1" dirty="0">
                <a:solidFill>
                  <a:srgbClr val="FFFF00"/>
                </a:solidFill>
                <a:effectLst/>
                <a:ea typeface="黑体" panose="02010609060101010101" pitchFamily="49" charset="-122"/>
              </a:rPr>
              <a:t>（</a:t>
            </a:r>
            <a:r>
              <a:rPr lang="en-US" altLang="zh-CN" b="1" dirty="0">
                <a:solidFill>
                  <a:srgbClr val="FFFF00"/>
                </a:solidFill>
                <a:effectLst/>
                <a:ea typeface="黑体" panose="02010609060101010101" pitchFamily="49" charset="-122"/>
              </a:rPr>
              <a:t>w</a:t>
            </a:r>
            <a:r>
              <a:rPr lang="zh-CN" altLang="en-US" b="1" dirty="0">
                <a:solidFill>
                  <a:srgbClr val="FFFF00"/>
                </a:solidFill>
                <a:effectLst/>
                <a:ea typeface="黑体" panose="02010609060101010101" pitchFamily="49" charset="-122"/>
              </a:rPr>
              <a:t>）时，在</a:t>
            </a:r>
            <a:r>
              <a:rPr lang="en-US" altLang="zh-CN" b="1" dirty="0">
                <a:solidFill>
                  <a:srgbClr val="FFFF00"/>
                </a:solidFill>
                <a:effectLst/>
                <a:ea typeface="黑体" panose="02010609060101010101" pitchFamily="49" charset="-122"/>
              </a:rPr>
              <a:t>w←0</a:t>
            </a:r>
            <a:r>
              <a:rPr lang="zh-CN" altLang="en-US" b="1" dirty="0">
                <a:solidFill>
                  <a:srgbClr val="FFFF00"/>
                </a:solidFill>
                <a:effectLst/>
                <a:ea typeface="黑体" panose="02010609060101010101" pitchFamily="49" charset="-122"/>
              </a:rPr>
              <a:t>语句执行之前，可能已有两个以上的多个进程由于</a:t>
            </a:r>
            <a:r>
              <a:rPr lang="en-US" altLang="zh-CN" b="1" dirty="0">
                <a:solidFill>
                  <a:srgbClr val="FFFF00"/>
                </a:solidFill>
                <a:effectLst/>
                <a:ea typeface="黑体" panose="02010609060101010101" pitchFamily="49" charset="-122"/>
              </a:rPr>
              <a:t>v=1</a:t>
            </a:r>
            <a:r>
              <a:rPr lang="zh-CN" altLang="en-US" b="1" dirty="0">
                <a:solidFill>
                  <a:srgbClr val="FFFF00"/>
                </a:solidFill>
                <a:effectLst/>
                <a:ea typeface="黑体" panose="02010609060101010101" pitchFamily="49" charset="-122"/>
              </a:rPr>
              <a:t>而进入临界区。</a:t>
            </a:r>
            <a:endParaRPr lang="en-US" altLang="zh-CN" b="1" dirty="0">
              <a:solidFill>
                <a:srgbClr val="FFFF00"/>
              </a:solidFill>
              <a:effectLst/>
              <a:ea typeface="黑体" panose="02010609060101010101" pitchFamily="49" charset="-122"/>
            </a:endParaRPr>
          </a:p>
          <a:p>
            <a:pPr eaLnBrk="1" hangingPunct="1">
              <a:lnSpc>
                <a:spcPts val="4000"/>
              </a:lnSpc>
            </a:pPr>
            <a:r>
              <a:rPr lang="zh-CN" altLang="en-US" b="1" dirty="0">
                <a:solidFill>
                  <a:srgbClr val="FFFF00"/>
                </a:solidFill>
                <a:effectLst/>
                <a:ea typeface="黑体" panose="02010609060101010101" pitchFamily="49" charset="-122"/>
              </a:rPr>
              <a:t>设置成原子操作</a:t>
            </a:r>
            <a:endParaRPr lang="en-US" altLang="zh-CN" b="1" dirty="0">
              <a:solidFill>
                <a:srgbClr val="FFFF00"/>
              </a:solidFill>
              <a:effectLst/>
              <a:ea typeface="黑体" panose="02010609060101010101" pitchFamily="49" charset="-122"/>
            </a:endParaRPr>
          </a:p>
          <a:p>
            <a:pPr eaLnBrk="1" hangingPunct="1">
              <a:lnSpc>
                <a:spcPts val="4000"/>
              </a:lnSpc>
            </a:pPr>
            <a:r>
              <a:rPr lang="zh-CN" altLang="en-US" b="1" dirty="0">
                <a:solidFill>
                  <a:srgbClr val="FFFF00"/>
                </a:solidFill>
                <a:effectLst/>
                <a:ea typeface="黑体" panose="02010609060101010101" pitchFamily="49" charset="-122"/>
              </a:rPr>
              <a:t>循环测试忙等待，不能让权等待，浪费</a:t>
            </a:r>
            <a:r>
              <a:rPr lang="en-US" altLang="zh-CN" b="1" dirty="0">
                <a:solidFill>
                  <a:srgbClr val="FFFF00"/>
                </a:solidFill>
                <a:effectLst/>
                <a:ea typeface="黑体" panose="02010609060101010101" pitchFamily="49" charset="-122"/>
              </a:rPr>
              <a:t>CPU</a:t>
            </a:r>
            <a:r>
              <a:rPr lang="zh-CN" altLang="en-US" b="1" dirty="0">
                <a:solidFill>
                  <a:srgbClr val="FFFF00"/>
                </a:solidFill>
                <a:effectLst/>
                <a:ea typeface="黑体" panose="02010609060101010101" pitchFamily="49" charset="-122"/>
              </a:rPr>
              <a:t>周期</a:t>
            </a:r>
            <a:endParaRPr lang="en-US" altLang="zh-CN" b="1" dirty="0">
              <a:solidFill>
                <a:srgbClr val="FFFF00"/>
              </a:solidFill>
              <a:effectLst/>
              <a:ea typeface="黑体" panose="02010609060101010101" pitchFamily="49" charset="-122"/>
            </a:endParaRPr>
          </a:p>
          <a:p>
            <a:pPr eaLnBrk="1" hangingPunct="1">
              <a:lnSpc>
                <a:spcPts val="4000"/>
              </a:lnSpc>
            </a:pPr>
            <a:r>
              <a:rPr lang="zh-CN" altLang="en-US" b="1" dirty="0">
                <a:solidFill>
                  <a:srgbClr val="FFFF00"/>
                </a:solidFill>
                <a:effectLst/>
                <a:ea typeface="黑体" panose="02010609060101010101" pitchFamily="49" charset="-122"/>
              </a:rPr>
              <a:t>可能会出现饥饿</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A2FB3-261D-1932-F699-BBF15DABED25}"/>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0B3BD546-E7F4-8EDD-F7C1-03D01D48EBBC}"/>
              </a:ext>
            </a:extLst>
          </p:cNvPr>
          <p:cNvSpPr>
            <a:spLocks noGrp="1" noChangeArrowheads="1"/>
          </p:cNvSpPr>
          <p:nvPr>
            <p:ph type="body" idx="1"/>
          </p:nvPr>
        </p:nvSpPr>
        <p:spPr>
          <a:xfrm>
            <a:off x="539750" y="1412776"/>
            <a:ext cx="8229600" cy="4608512"/>
          </a:xfrm>
        </p:spPr>
        <p:txBody>
          <a:bodyPr/>
          <a:lstStyle/>
          <a:p>
            <a:pPr eaLnBrk="1" hangingPunct="1">
              <a:lnSpc>
                <a:spcPts val="4000"/>
              </a:lnSpc>
            </a:pPr>
            <a:r>
              <a:rPr lang="en-US" altLang="zh-CN" b="1" dirty="0">
                <a:solidFill>
                  <a:srgbClr val="FFFF00"/>
                </a:solidFill>
                <a:effectLst/>
                <a:ea typeface="黑体" panose="02010609060101010101" pitchFamily="49" charset="-122"/>
              </a:rPr>
              <a:t>Dekkers</a:t>
            </a:r>
            <a:r>
              <a:rPr lang="zh-CN" altLang="en-US" b="1" dirty="0">
                <a:solidFill>
                  <a:srgbClr val="FFFF00"/>
                </a:solidFill>
                <a:effectLst/>
                <a:ea typeface="黑体" panose="02010609060101010101" pitchFamily="49" charset="-122"/>
              </a:rPr>
              <a:t>算法（单一变量，双变量）</a:t>
            </a:r>
            <a:endParaRPr lang="en-US" altLang="zh-CN" b="1" dirty="0">
              <a:solidFill>
                <a:srgbClr val="FFFF00"/>
              </a:solidFill>
              <a:effectLst/>
              <a:ea typeface="黑体" panose="02010609060101010101" pitchFamily="49" charset="-122"/>
            </a:endParaRPr>
          </a:p>
          <a:p>
            <a:pPr eaLnBrk="1" hangingPunct="1">
              <a:lnSpc>
                <a:spcPts val="4000"/>
              </a:lnSpc>
            </a:pPr>
            <a:r>
              <a:rPr lang="en-US" altLang="zh-CN" b="1" dirty="0">
                <a:solidFill>
                  <a:srgbClr val="FFFF00"/>
                </a:solidFill>
                <a:effectLst/>
                <a:ea typeface="黑体" panose="02010609060101010101" pitchFamily="49" charset="-122"/>
              </a:rPr>
              <a:t>Peterson</a:t>
            </a:r>
            <a:r>
              <a:rPr lang="zh-CN" altLang="en-US" b="1" dirty="0">
                <a:solidFill>
                  <a:srgbClr val="FFFF00"/>
                </a:solidFill>
                <a:effectLst/>
                <a:ea typeface="黑体" panose="02010609060101010101" pitchFamily="49" charset="-122"/>
              </a:rPr>
              <a:t>算法（</a:t>
            </a:r>
            <a:r>
              <a:rPr lang="en-US" altLang="zh-CN" b="1" dirty="0">
                <a:solidFill>
                  <a:srgbClr val="FFFF00"/>
                </a:solidFill>
                <a:effectLst/>
                <a:ea typeface="黑体" panose="02010609060101010101" pitchFamily="49" charset="-122"/>
              </a:rPr>
              <a:t>1981</a:t>
            </a:r>
            <a:r>
              <a:rPr lang="zh-CN" altLang="en-US" b="1" dirty="0">
                <a:solidFill>
                  <a:srgbClr val="FFFF00"/>
                </a:solidFill>
                <a:effectLst/>
                <a:ea typeface="黑体" panose="02010609060101010101" pitchFamily="49" charset="-122"/>
              </a:rPr>
              <a:t>）</a:t>
            </a:r>
            <a:endParaRPr lang="en-US" altLang="zh-CN" b="1" dirty="0">
              <a:solidFill>
                <a:srgbClr val="FFFF00"/>
              </a:solidFill>
              <a:effectLst/>
              <a:ea typeface="黑体" panose="02010609060101010101" pitchFamily="49" charset="-122"/>
            </a:endParaRPr>
          </a:p>
          <a:p>
            <a:pPr eaLnBrk="1" hangingPunct="1">
              <a:lnSpc>
                <a:spcPts val="4000"/>
              </a:lnSpc>
            </a:pPr>
            <a:r>
              <a:rPr lang="zh-CN" altLang="en-US" b="1" dirty="0">
                <a:solidFill>
                  <a:srgbClr val="FFFF00"/>
                </a:solidFill>
                <a:effectLst/>
                <a:ea typeface="黑体" panose="02010609060101010101" pitchFamily="49" charset="-122"/>
              </a:rPr>
              <a:t>多进程同步</a:t>
            </a:r>
            <a:r>
              <a:rPr lang="en-US" altLang="zh-CN" b="1" dirty="0">
                <a:solidFill>
                  <a:srgbClr val="FFFF00"/>
                </a:solidFill>
                <a:effectLst/>
                <a:ea typeface="黑体" panose="02010609060101010101" pitchFamily="49" charset="-122"/>
              </a:rPr>
              <a:t>Filter</a:t>
            </a:r>
            <a:r>
              <a:rPr lang="zh-CN" altLang="en-US" b="1" dirty="0">
                <a:solidFill>
                  <a:srgbClr val="FFFF00"/>
                </a:solidFill>
                <a:effectLst/>
                <a:ea typeface="黑体" panose="02010609060101010101" pitchFamily="49" charset="-122"/>
              </a:rPr>
              <a:t>算法（</a:t>
            </a:r>
            <a:r>
              <a:rPr lang="en-US" altLang="zh-CN" b="1" dirty="0">
                <a:solidFill>
                  <a:srgbClr val="FFFF00"/>
                </a:solidFill>
                <a:effectLst/>
                <a:ea typeface="黑体" panose="02010609060101010101" pitchFamily="49" charset="-122"/>
              </a:rPr>
              <a:t>1979</a:t>
            </a:r>
            <a:r>
              <a:rPr lang="zh-CN" altLang="en-US" b="1" dirty="0">
                <a:solidFill>
                  <a:srgbClr val="FFFF00"/>
                </a:solidFill>
                <a:effectLst/>
                <a:ea typeface="黑体" panose="02010609060101010101" pitchFamily="49" charset="-122"/>
              </a:rPr>
              <a:t>）</a:t>
            </a:r>
            <a:endParaRPr lang="en-US" altLang="zh-CN" b="1" dirty="0">
              <a:solidFill>
                <a:srgbClr val="FFFF00"/>
              </a:solidFill>
              <a:effectLst/>
              <a:ea typeface="黑体" panose="02010609060101010101" pitchFamily="49" charset="-122"/>
            </a:endParaRPr>
          </a:p>
          <a:p>
            <a:pPr eaLnBrk="1" hangingPunct="1">
              <a:lnSpc>
                <a:spcPts val="4000"/>
              </a:lnSpc>
            </a:pPr>
            <a:r>
              <a:rPr lang="zh-CN" altLang="en-US" b="1" dirty="0">
                <a:solidFill>
                  <a:srgbClr val="FFFF00"/>
                </a:solidFill>
                <a:effectLst/>
                <a:ea typeface="黑体" panose="02010609060101010101" pitchFamily="49" charset="-122"/>
              </a:rPr>
              <a:t>通过分析上述方法，能更好地理解并发处理地复杂性</a:t>
            </a:r>
            <a:endParaRPr lang="en-US" altLang="zh-CN" b="1" dirty="0">
              <a:solidFill>
                <a:srgbClr val="FFFF00"/>
              </a:solidFill>
              <a:effectLst/>
              <a:ea typeface="黑体" panose="02010609060101010101" pitchFamily="49" charset="-122"/>
            </a:endParaRPr>
          </a:p>
          <a:p>
            <a:pPr eaLnBrk="1" hangingPunct="1">
              <a:lnSpc>
                <a:spcPts val="4000"/>
              </a:lnSpc>
            </a:pPr>
            <a:r>
              <a:rPr lang="zh-CN" altLang="en-US" b="1" dirty="0">
                <a:solidFill>
                  <a:srgbClr val="FFFF00"/>
                </a:solidFill>
                <a:effectLst/>
                <a:ea typeface="黑体" panose="02010609060101010101" pitchFamily="49" charset="-122"/>
              </a:rPr>
              <a:t>算法复杂，难以验证，不直观，存在忙等，效率不高等</a:t>
            </a:r>
            <a:endParaRPr lang="en-US" altLang="zh-CN" b="1" dirty="0">
              <a:solidFill>
                <a:srgbClr val="FFFF00"/>
              </a:solidFill>
              <a:effectLst/>
              <a:ea typeface="黑体" panose="02010609060101010101" pitchFamily="49" charset="-122"/>
            </a:endParaRPr>
          </a:p>
          <a:p>
            <a:pPr eaLnBrk="1" hangingPunct="1">
              <a:lnSpc>
                <a:spcPts val="4000"/>
              </a:lnSpc>
            </a:pPr>
            <a:endParaRPr lang="zh-CN" altLang="en-US" b="1" dirty="0">
              <a:solidFill>
                <a:srgbClr val="FFFF00"/>
              </a:solidFill>
              <a:effectLst/>
              <a:ea typeface="黑体" panose="02010609060101010101" pitchFamily="49" charset="-122"/>
            </a:endParaRPr>
          </a:p>
        </p:txBody>
      </p:sp>
    </p:spTree>
    <p:extLst>
      <p:ext uri="{BB962C8B-B14F-4D97-AF65-F5344CB8AC3E}">
        <p14:creationId xmlns:p14="http://schemas.microsoft.com/office/powerpoint/2010/main" val="172720012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85B2572-484A-497C-8CB3-9E7F0C760F49}"/>
              </a:ext>
            </a:extLst>
          </p:cNvPr>
          <p:cNvSpPr>
            <a:spLocks noGrp="1" noChangeArrowheads="1"/>
          </p:cNvSpPr>
          <p:nvPr>
            <p:ph type="body" idx="1"/>
          </p:nvPr>
        </p:nvSpPr>
        <p:spPr>
          <a:xfrm>
            <a:off x="539750" y="1052737"/>
            <a:ext cx="8229600" cy="5106764"/>
          </a:xfrm>
        </p:spPr>
        <p:txBody>
          <a:bodyPr/>
          <a:lstStyle/>
          <a:p>
            <a:pPr eaLnBrk="1" hangingPunct="1"/>
            <a:r>
              <a:rPr lang="en-US" altLang="zh-CN" b="1" dirty="0">
                <a:solidFill>
                  <a:srgbClr val="FFFF00"/>
                </a:solidFill>
                <a:effectLst/>
                <a:ea typeface="黑体" panose="02010609060101010101" pitchFamily="49" charset="-122"/>
              </a:rPr>
              <a:t>4. </a:t>
            </a:r>
            <a:r>
              <a:rPr lang="zh-CN" altLang="en-US" b="1" dirty="0">
                <a:solidFill>
                  <a:srgbClr val="FFFF00"/>
                </a:solidFill>
                <a:effectLst/>
                <a:ea typeface="黑体" panose="02010609060101010101" pitchFamily="49" charset="-122"/>
              </a:rPr>
              <a:t>互斥的硬件实现</a:t>
            </a:r>
            <a:endParaRPr lang="en-US" altLang="zh-CN" sz="3200" b="1" dirty="0">
              <a:solidFill>
                <a:srgbClr val="FFFF00"/>
              </a:solidFill>
              <a:effectLst/>
              <a:ea typeface="黑体" panose="02010609060101010101" pitchFamily="49" charset="-122"/>
            </a:endParaRPr>
          </a:p>
          <a:p>
            <a:pPr lvl="1" eaLnBrk="1" hangingPunct="1"/>
            <a:r>
              <a:rPr lang="zh-CN" altLang="en-US" sz="3200" b="1" dirty="0">
                <a:solidFill>
                  <a:srgbClr val="FFFF00"/>
                </a:solidFill>
                <a:effectLst/>
                <a:ea typeface="黑体" panose="02010609060101010101" pitchFamily="49" charset="-122"/>
              </a:rPr>
              <a:t>禁用中断</a:t>
            </a:r>
            <a:endParaRPr lang="en-US" altLang="zh-CN" sz="3200" b="1" dirty="0">
              <a:solidFill>
                <a:srgbClr val="FFFF00"/>
              </a:solidFill>
              <a:effectLst/>
              <a:ea typeface="黑体" panose="02010609060101010101" pitchFamily="49" charset="-122"/>
            </a:endParaRPr>
          </a:p>
          <a:p>
            <a:pPr marL="457200" lvl="1" indent="0" eaLnBrk="1" hangingPunct="1">
              <a:buNone/>
            </a:pPr>
            <a:endParaRPr lang="zh-CN" altLang="en-US" sz="3200" b="1" dirty="0">
              <a:solidFill>
                <a:srgbClr val="FFFF00"/>
              </a:solidFill>
              <a:effectLst/>
              <a:ea typeface="黑体" panose="02010609060101010101" pitchFamily="49"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09621-F30B-2116-E4EE-23902AC03BC3}"/>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8C8B8705-6391-BFEA-97EB-0A980EEA0A48}"/>
              </a:ext>
            </a:extLst>
          </p:cNvPr>
          <p:cNvSpPr>
            <a:spLocks noGrp="1" noChangeArrowheads="1"/>
          </p:cNvSpPr>
          <p:nvPr>
            <p:ph type="body" idx="1"/>
          </p:nvPr>
        </p:nvSpPr>
        <p:spPr>
          <a:xfrm>
            <a:off x="457200" y="692696"/>
            <a:ext cx="8229600" cy="5760640"/>
          </a:xfrm>
        </p:spPr>
        <p:txBody>
          <a:bodyPr/>
          <a:lstStyle/>
          <a:p>
            <a:pPr eaLnBrk="1" hangingPunct="1"/>
            <a:r>
              <a:rPr lang="en-US" altLang="zh-CN" b="1" dirty="0">
                <a:solidFill>
                  <a:srgbClr val="FFFF00"/>
                </a:solidFill>
                <a:effectLst/>
                <a:ea typeface="黑体" panose="02010609060101010101" pitchFamily="49" charset="-122"/>
              </a:rPr>
              <a:t>4. </a:t>
            </a:r>
            <a:r>
              <a:rPr lang="zh-CN" altLang="en-US" b="1" dirty="0">
                <a:solidFill>
                  <a:srgbClr val="FFFF00"/>
                </a:solidFill>
                <a:effectLst/>
                <a:ea typeface="黑体" panose="02010609060101010101" pitchFamily="49" charset="-122"/>
              </a:rPr>
              <a:t>互斥的硬件实现</a:t>
            </a:r>
            <a:endParaRPr lang="en-US" altLang="zh-CN" sz="3200" b="1" dirty="0">
              <a:solidFill>
                <a:srgbClr val="FFFF00"/>
              </a:solidFill>
              <a:effectLst/>
              <a:ea typeface="黑体" panose="02010609060101010101" pitchFamily="49" charset="-122"/>
            </a:endParaRPr>
          </a:p>
          <a:p>
            <a:pPr lvl="1" eaLnBrk="1" hangingPunct="1"/>
            <a:r>
              <a:rPr lang="zh-CN" altLang="en-US" sz="3200" b="1" dirty="0">
                <a:solidFill>
                  <a:srgbClr val="FFFF00"/>
                </a:solidFill>
                <a:effectLst/>
                <a:ea typeface="黑体" panose="02010609060101010101" pitchFamily="49" charset="-122"/>
              </a:rPr>
              <a:t>在硬件中设置了测试与设置指令（原子操作）</a:t>
            </a:r>
            <a:r>
              <a:rPr lang="en-US" altLang="zh-CN" sz="3200" b="1" dirty="0" err="1">
                <a:solidFill>
                  <a:srgbClr val="FFFF00"/>
                </a:solidFill>
                <a:effectLst/>
                <a:ea typeface="黑体" panose="02010609060101010101" pitchFamily="49" charset="-122"/>
              </a:rPr>
              <a:t>TestAndSet</a:t>
            </a:r>
            <a:r>
              <a:rPr lang="zh-CN" altLang="en-US" sz="3200" b="1" dirty="0">
                <a:solidFill>
                  <a:srgbClr val="FFFF00"/>
                </a:solidFill>
                <a:effectLst/>
                <a:ea typeface="黑体" panose="02010609060101010101" pitchFamily="49" charset="-122"/>
              </a:rPr>
              <a:t>实现互斥 </a:t>
            </a:r>
            <a:endParaRPr lang="en-US" altLang="zh-CN" sz="3200" b="1" dirty="0">
              <a:solidFill>
                <a:srgbClr val="FFFF00"/>
              </a:solidFill>
              <a:effectLst/>
              <a:ea typeface="黑体" panose="02010609060101010101" pitchFamily="49" charset="-122"/>
            </a:endParaRPr>
          </a:p>
          <a:p>
            <a:pPr lvl="1" eaLnBrk="1" hangingPunct="1"/>
            <a:r>
              <a:rPr lang="en-US" altLang="zh-CN" sz="3200" b="1" dirty="0">
                <a:solidFill>
                  <a:srgbClr val="FFFF00"/>
                </a:solidFill>
                <a:effectLst/>
                <a:ea typeface="黑体" panose="02010609060101010101" pitchFamily="49" charset="-122"/>
              </a:rPr>
              <a:t>while </a:t>
            </a:r>
            <a:r>
              <a:rPr lang="en-US" altLang="zh-CN" sz="3200" b="1" dirty="0" err="1">
                <a:solidFill>
                  <a:srgbClr val="FFFF00"/>
                </a:solidFill>
                <a:effectLst/>
                <a:ea typeface="黑体" panose="02010609060101010101" pitchFamily="49" charset="-122"/>
              </a:rPr>
              <a:t>TestAndSet</a:t>
            </a:r>
            <a:r>
              <a:rPr lang="en-US" altLang="zh-CN" sz="3200" b="1" dirty="0">
                <a:solidFill>
                  <a:srgbClr val="FFFF00"/>
                </a:solidFill>
                <a:effectLst/>
                <a:ea typeface="黑体" panose="02010609060101010101" pitchFamily="49" charset="-122"/>
              </a:rPr>
              <a:t>(&amp;lock)</a:t>
            </a:r>
          </a:p>
          <a:p>
            <a:pPr marL="457200" lvl="1" indent="0" eaLnBrk="1" hangingPunct="1">
              <a:buNone/>
            </a:pPr>
            <a:r>
              <a:rPr lang="zh-CN" altLang="en-US" sz="3200" b="1" dirty="0">
                <a:solidFill>
                  <a:srgbClr val="FFFF00"/>
                </a:solidFill>
                <a:effectLst/>
                <a:ea typeface="黑体" panose="02010609060101010101" pitchFamily="49" charset="-122"/>
              </a:rPr>
              <a:t> 进程的临界区代码</a:t>
            </a:r>
            <a:endParaRPr lang="en-US" altLang="zh-CN" sz="3200" b="1" dirty="0">
              <a:solidFill>
                <a:srgbClr val="FFFF00"/>
              </a:solidFill>
              <a:effectLst/>
              <a:ea typeface="黑体" panose="02010609060101010101" pitchFamily="49" charset="-122"/>
            </a:endParaRPr>
          </a:p>
          <a:p>
            <a:pPr marL="457200" lvl="1" indent="0" eaLnBrk="1" hangingPunct="1">
              <a:buNone/>
            </a:pPr>
            <a:r>
              <a:rPr lang="en-US" altLang="zh-CN" sz="3200" b="1" dirty="0">
                <a:solidFill>
                  <a:srgbClr val="FFFF00"/>
                </a:solidFill>
                <a:effectLst/>
                <a:ea typeface="黑体" panose="02010609060101010101" pitchFamily="49" charset="-122"/>
              </a:rPr>
              <a:t> lock=true</a:t>
            </a:r>
          </a:p>
          <a:p>
            <a:pPr marL="457200" lvl="1" indent="0" eaLnBrk="1" hangingPunct="1">
              <a:buNone/>
            </a:pPr>
            <a:r>
              <a:rPr lang="zh-CN" altLang="en-US" sz="3200" b="1" dirty="0">
                <a:solidFill>
                  <a:srgbClr val="FFFF00"/>
                </a:solidFill>
                <a:effectLst/>
                <a:ea typeface="黑体" panose="02010609060101010101" pitchFamily="49" charset="-122"/>
              </a:rPr>
              <a:t> 进程的其他代码</a:t>
            </a:r>
            <a:endParaRPr lang="en-US" altLang="zh-CN" sz="3200" b="1" dirty="0">
              <a:solidFill>
                <a:srgbClr val="FFFF00"/>
              </a:solidFill>
              <a:effectLst/>
              <a:ea typeface="黑体" panose="02010609060101010101" pitchFamily="49" charset="-122"/>
            </a:endParaRPr>
          </a:p>
          <a:p>
            <a:pPr marL="457200" lvl="1" indent="0" eaLnBrk="1" hangingPunct="1">
              <a:buNone/>
            </a:pPr>
            <a:endParaRPr lang="en-US" altLang="zh-CN" sz="3200" b="1" dirty="0">
              <a:solidFill>
                <a:srgbClr val="FFFF00"/>
              </a:solidFill>
              <a:effectLst/>
              <a:ea typeface="黑体" panose="02010609060101010101" pitchFamily="49" charset="-122"/>
            </a:endParaRPr>
          </a:p>
          <a:p>
            <a:pPr lvl="1" eaLnBrk="1" hangingPunct="1"/>
            <a:r>
              <a:rPr lang="zh-CN" altLang="en-US" sz="3200" b="1" dirty="0">
                <a:solidFill>
                  <a:srgbClr val="FFFF00"/>
                </a:solidFill>
                <a:effectLst/>
                <a:ea typeface="黑体" panose="02010609060101010101" pitchFamily="49" charset="-122"/>
              </a:rPr>
              <a:t>循环测试，不能让权等待</a:t>
            </a:r>
            <a:endParaRPr lang="en-US" altLang="zh-CN" sz="3200" b="1" dirty="0">
              <a:solidFill>
                <a:srgbClr val="FFFF00"/>
              </a:solidFill>
              <a:effectLst/>
              <a:ea typeface="黑体" panose="02010609060101010101" pitchFamily="49" charset="-122"/>
            </a:endParaRPr>
          </a:p>
          <a:p>
            <a:pPr lvl="1" eaLnBrk="1" hangingPunct="1"/>
            <a:r>
              <a:rPr lang="zh-CN" altLang="en-US" sz="3200" b="1" dirty="0">
                <a:solidFill>
                  <a:srgbClr val="FFFF00"/>
                </a:solidFill>
                <a:effectLst/>
                <a:ea typeface="黑体" panose="02010609060101010101" pitchFamily="49" charset="-122"/>
              </a:rPr>
              <a:t>可能会出现饥饿现象</a:t>
            </a:r>
            <a:endParaRPr lang="en-US" altLang="zh-CN" sz="3200" b="1" dirty="0">
              <a:solidFill>
                <a:srgbClr val="FFFF00"/>
              </a:solidFill>
              <a:effectLst/>
              <a:ea typeface="黑体" panose="02010609060101010101" pitchFamily="49" charset="-122"/>
            </a:endParaRPr>
          </a:p>
          <a:p>
            <a:pPr marL="457200" lvl="1" indent="0" eaLnBrk="1" hangingPunct="1">
              <a:buNone/>
            </a:pPr>
            <a:endParaRPr lang="zh-CN" altLang="en-US" sz="3200" b="1" dirty="0">
              <a:solidFill>
                <a:srgbClr val="FFFF00"/>
              </a:solidFill>
              <a:effectLst/>
              <a:ea typeface="黑体" panose="02010609060101010101" pitchFamily="49" charset="-122"/>
            </a:endParaRPr>
          </a:p>
        </p:txBody>
      </p:sp>
    </p:spTree>
    <p:extLst>
      <p:ext uri="{BB962C8B-B14F-4D97-AF65-F5344CB8AC3E}">
        <p14:creationId xmlns:p14="http://schemas.microsoft.com/office/powerpoint/2010/main" val="217603732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76444F21-EF76-4777-B1CB-5C92936B6DB4}"/>
              </a:ext>
            </a:extLst>
          </p:cNvPr>
          <p:cNvSpPr>
            <a:spLocks noGrp="1" noChangeArrowheads="1"/>
          </p:cNvSpPr>
          <p:nvPr>
            <p:ph type="body" idx="1"/>
          </p:nvPr>
        </p:nvSpPr>
        <p:spPr>
          <a:xfrm>
            <a:off x="468313" y="620713"/>
            <a:ext cx="8208962" cy="5754687"/>
          </a:xfrm>
        </p:spPr>
        <p:txBody>
          <a:bodyPr/>
          <a:lstStyle/>
          <a:p>
            <a:pPr algn="just" eaLnBrk="1" hangingPunct="1">
              <a:lnSpc>
                <a:spcPts val="4200"/>
              </a:lnSpc>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缺点：存在一些影响系统可靠性和执行效率的问题</a:t>
            </a:r>
          </a:p>
          <a:p>
            <a:pPr algn="just" eaLnBrk="1" hangingPunct="1">
              <a:lnSpc>
                <a:spcPts val="4200"/>
              </a:lnSpc>
            </a:pPr>
            <a:r>
              <a:rPr lang="zh-CN" altLang="en-US" b="1" dirty="0">
                <a:solidFill>
                  <a:srgbClr val="FFFF00"/>
                </a:solidFill>
                <a:effectLst/>
                <a:latin typeface="黑体" panose="02010609060101010101" pitchFamily="49" charset="-122"/>
                <a:ea typeface="黑体" panose="02010609060101010101" pitchFamily="49" charset="-122"/>
              </a:rPr>
              <a:t>循环测试消耗较多</a:t>
            </a:r>
            <a:r>
              <a:rPr lang="en-US" altLang="zh-CN" b="1" dirty="0">
                <a:solidFill>
                  <a:srgbClr val="FFFF00"/>
                </a:solidFill>
                <a:effectLst/>
                <a:latin typeface="黑体" panose="02010609060101010101" pitchFamily="49" charset="-122"/>
                <a:ea typeface="黑体" panose="02010609060101010101" pitchFamily="49" charset="-122"/>
              </a:rPr>
              <a:t>CPU</a:t>
            </a:r>
            <a:r>
              <a:rPr lang="zh-CN" altLang="en-US" b="1" dirty="0">
                <a:solidFill>
                  <a:srgbClr val="FFFF00"/>
                </a:solidFill>
                <a:effectLst/>
                <a:latin typeface="黑体" panose="02010609060101010101" pitchFamily="49" charset="-122"/>
                <a:ea typeface="黑体" panose="02010609060101010101" pitchFamily="49" charset="-122"/>
              </a:rPr>
              <a:t>周期（让权等待）</a:t>
            </a:r>
          </a:p>
          <a:p>
            <a:pPr algn="just" eaLnBrk="1" hangingPunct="1">
              <a:lnSpc>
                <a:spcPts val="4200"/>
              </a:lnSpc>
            </a:pPr>
            <a:r>
              <a:rPr lang="zh-CN" altLang="en-US" b="1" dirty="0">
                <a:solidFill>
                  <a:srgbClr val="FFFF00"/>
                </a:solidFill>
                <a:effectLst/>
                <a:latin typeface="黑体" panose="02010609060101010101" pitchFamily="49" charset="-122"/>
                <a:ea typeface="黑体" panose="02010609060101010101" pitchFamily="49" charset="-122"/>
              </a:rPr>
              <a:t>某些情况下出现不公平现象，某进程永久饥饿状态（有限等待）。原因：每个进程是否能进入临界区是依靠自己的测试判断，这样没有获得执行机会的进程就无法判断</a:t>
            </a:r>
            <a:endParaRPr lang="en-US" altLang="zh-CN" b="1" dirty="0">
              <a:solidFill>
                <a:srgbClr val="FFFF00"/>
              </a:solidFill>
              <a:effectLst/>
              <a:latin typeface="黑体" panose="02010609060101010101" pitchFamily="49" charset="-122"/>
              <a:ea typeface="黑体" panose="02010609060101010101" pitchFamily="49" charset="-122"/>
            </a:endParaRPr>
          </a:p>
          <a:p>
            <a:pPr algn="just" eaLnBrk="1" hangingPunct="1">
              <a:lnSpc>
                <a:spcPts val="4200"/>
              </a:lnSpc>
            </a:pPr>
            <a:r>
              <a:rPr lang="zh-CN" altLang="en-US" b="1" dirty="0">
                <a:solidFill>
                  <a:srgbClr val="FFFF00"/>
                </a:solidFill>
                <a:effectLst/>
                <a:ea typeface="黑体" panose="02010609060101010101" pitchFamily="49" charset="-122"/>
              </a:rPr>
              <a:t>算法复杂，难以验证，不直观</a:t>
            </a:r>
            <a:endParaRPr lang="en-US" altLang="zh-CN" b="1" dirty="0">
              <a:solidFill>
                <a:srgbClr val="FFFF00"/>
              </a:solidFill>
              <a:effectLst/>
              <a:ea typeface="黑体" panose="02010609060101010101" pitchFamily="49" charset="-122"/>
            </a:endParaRPr>
          </a:p>
          <a:p>
            <a:pPr algn="just" eaLnBrk="1" hangingPunct="1">
              <a:lnSpc>
                <a:spcPts val="4200"/>
              </a:lnSpc>
            </a:pPr>
            <a:r>
              <a:rPr lang="zh-CN" altLang="en-US" b="1" dirty="0">
                <a:solidFill>
                  <a:srgbClr val="FFFF00"/>
                </a:solidFill>
                <a:effectLst/>
                <a:latin typeface="黑体" panose="02010609060101010101" pitchFamily="49" charset="-122"/>
                <a:ea typeface="黑体" panose="02010609060101010101" pitchFamily="49" charset="-122"/>
              </a:rPr>
              <a:t>解决方法：设置管理员也就是操作系统中的信号量</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454DA3B8-3EF9-4C4B-BA91-3ADCA3FFD348}"/>
              </a:ext>
            </a:extLst>
          </p:cNvPr>
          <p:cNvSpPr>
            <a:spLocks noGrp="1" noChangeArrowheads="1"/>
          </p:cNvSpPr>
          <p:nvPr>
            <p:ph type="body" idx="1"/>
          </p:nvPr>
        </p:nvSpPr>
        <p:spPr>
          <a:xfrm>
            <a:off x="1331913" y="1773238"/>
            <a:ext cx="6335712" cy="4895850"/>
          </a:xfrm>
        </p:spPr>
        <p:txBody>
          <a:bodyPr/>
          <a:lstStyle/>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3.4.1 </a:t>
            </a:r>
            <a:r>
              <a:rPr lang="zh-CN" altLang="en-US" sz="3600" b="1" dirty="0">
                <a:solidFill>
                  <a:srgbClr val="FFFF00"/>
                </a:solidFill>
                <a:effectLst/>
                <a:latin typeface="黑体" panose="02010609060101010101" pitchFamily="49" charset="-122"/>
                <a:ea typeface="黑体" panose="02010609060101010101" pitchFamily="49" charset="-122"/>
              </a:rPr>
              <a:t>进程间的制约关系</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3.4.2 </a:t>
            </a:r>
            <a:r>
              <a:rPr lang="zh-CN" altLang="en-US" sz="3600" b="1" dirty="0">
                <a:solidFill>
                  <a:srgbClr val="FFFF00"/>
                </a:solidFill>
                <a:effectLst/>
                <a:latin typeface="黑体" panose="02010609060101010101" pitchFamily="49" charset="-122"/>
                <a:ea typeface="黑体" panose="02010609060101010101" pitchFamily="49" charset="-122"/>
              </a:rPr>
              <a:t>进程互斥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3.4.3 </a:t>
            </a:r>
            <a:r>
              <a:rPr lang="zh-CN" altLang="en-US" sz="3600" b="1" dirty="0">
                <a:solidFill>
                  <a:srgbClr val="FFFF00"/>
                </a:solidFill>
                <a:effectLst/>
                <a:latin typeface="黑体" panose="02010609060101010101" pitchFamily="49" charset="-122"/>
                <a:ea typeface="黑体" panose="02010609060101010101" pitchFamily="49" charset="-122"/>
              </a:rPr>
              <a:t>进程同步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3.4.4 </a:t>
            </a:r>
            <a:r>
              <a:rPr lang="zh-CN" altLang="en-US" sz="3600" b="1" dirty="0">
                <a:solidFill>
                  <a:srgbClr val="FFFF00"/>
                </a:solidFill>
                <a:effectLst/>
                <a:latin typeface="黑体" panose="02010609060101010101" pitchFamily="49" charset="-122"/>
                <a:ea typeface="黑体" panose="02010609060101010101" pitchFamily="49" charset="-122"/>
              </a:rPr>
              <a:t>信号量机制</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3.4.5 </a:t>
            </a:r>
            <a:r>
              <a:rPr lang="zh-CN" altLang="en-US" sz="3600" b="1" dirty="0">
                <a:solidFill>
                  <a:srgbClr val="FFFF00"/>
                </a:solidFill>
                <a:effectLst/>
                <a:latin typeface="黑体" panose="02010609060101010101" pitchFamily="49" charset="-122"/>
                <a:ea typeface="黑体" panose="02010609060101010101" pitchFamily="49" charset="-122"/>
              </a:rPr>
              <a:t>经典同步互斥问题</a:t>
            </a:r>
          </a:p>
        </p:txBody>
      </p:sp>
      <p:sp>
        <p:nvSpPr>
          <p:cNvPr id="6147" name="Rectangle 3">
            <a:extLst>
              <a:ext uri="{FF2B5EF4-FFF2-40B4-BE49-F238E27FC236}">
                <a16:creationId xmlns:a16="http://schemas.microsoft.com/office/drawing/2014/main" id="{F56EA621-430E-44A3-A8F5-E79B5AE76CF6}"/>
              </a:ext>
            </a:extLst>
          </p:cNvPr>
          <p:cNvSpPr>
            <a:spLocks noGrp="1" noChangeArrowheads="1"/>
          </p:cNvSpPr>
          <p:nvPr>
            <p:ph type="title"/>
          </p:nvPr>
        </p:nvSpPr>
        <p:spPr>
          <a:xfrm>
            <a:off x="179388" y="333375"/>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3.4  </a:t>
            </a:r>
            <a:r>
              <a:rPr lang="zh-CN" altLang="en-US" b="1">
                <a:solidFill>
                  <a:schemeClr val="tx1"/>
                </a:solidFill>
                <a:effectLst/>
                <a:latin typeface="Times New Roman" panose="02020603050405020304" pitchFamily="18" charset="0"/>
              </a:rPr>
              <a:t>进程的同步与互斥</a:t>
            </a:r>
            <a:r>
              <a:rPr lang="zh-CN" altLang="en-US" b="1">
                <a:solidFill>
                  <a:schemeClr val="tx1"/>
                </a:solidFill>
                <a:effectLst/>
              </a:rPr>
              <a:t> </a:t>
            </a:r>
          </a:p>
        </p:txBody>
      </p:sp>
    </p:spTree>
    <p:extLst>
      <p:ext uri="{BB962C8B-B14F-4D97-AF65-F5344CB8AC3E}">
        <p14:creationId xmlns:p14="http://schemas.microsoft.com/office/powerpoint/2010/main" val="4188032081"/>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9170">
                                            <p:txEl>
                                              <p:pRg st="0" end="0"/>
                                            </p:txEl>
                                          </p:spTgt>
                                        </p:tgtEl>
                                        <p:attrNameLst>
                                          <p:attrName>style.visibility</p:attrName>
                                        </p:attrNameLst>
                                      </p:cBhvr>
                                      <p:to>
                                        <p:strVal val="visible"/>
                                      </p:to>
                                    </p:set>
                                    <p:animEffect transition="in" filter="box(out)">
                                      <p:cBhvr>
                                        <p:cTn id="7" dur="500"/>
                                        <p:tgtEl>
                                          <p:spTgt spid="51917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9170">
                                            <p:txEl>
                                              <p:pRg st="1" end="1"/>
                                            </p:txEl>
                                          </p:spTgt>
                                        </p:tgtEl>
                                        <p:attrNameLst>
                                          <p:attrName>style.visibility</p:attrName>
                                        </p:attrNameLst>
                                      </p:cBhvr>
                                      <p:to>
                                        <p:strVal val="visible"/>
                                      </p:to>
                                    </p:set>
                                    <p:animEffect transition="in" filter="box(out)">
                                      <p:cBhvr>
                                        <p:cTn id="12" dur="500"/>
                                        <p:tgtEl>
                                          <p:spTgt spid="519170">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9170">
                                            <p:txEl>
                                              <p:pRg st="2" end="2"/>
                                            </p:txEl>
                                          </p:spTgt>
                                        </p:tgtEl>
                                        <p:attrNameLst>
                                          <p:attrName>style.visibility</p:attrName>
                                        </p:attrNameLst>
                                      </p:cBhvr>
                                      <p:to>
                                        <p:strVal val="visible"/>
                                      </p:to>
                                    </p:set>
                                    <p:animEffect transition="in" filter="box(out)">
                                      <p:cBhvr>
                                        <p:cTn id="17" dur="500"/>
                                        <p:tgtEl>
                                          <p:spTgt spid="519170">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19170">
                                            <p:txEl>
                                              <p:pRg st="3" end="3"/>
                                            </p:txEl>
                                          </p:spTgt>
                                        </p:tgtEl>
                                        <p:attrNameLst>
                                          <p:attrName>style.visibility</p:attrName>
                                        </p:attrNameLst>
                                      </p:cBhvr>
                                      <p:to>
                                        <p:strVal val="visible"/>
                                      </p:to>
                                    </p:set>
                                    <p:animEffect transition="in" filter="box(out)">
                                      <p:cBhvr>
                                        <p:cTn id="22" dur="500"/>
                                        <p:tgtEl>
                                          <p:spTgt spid="519170">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19170">
                                            <p:txEl>
                                              <p:pRg st="4" end="4"/>
                                            </p:txEl>
                                          </p:spTgt>
                                        </p:tgtEl>
                                        <p:attrNameLst>
                                          <p:attrName>style.visibility</p:attrName>
                                        </p:attrNameLst>
                                      </p:cBhvr>
                                      <p:to>
                                        <p:strVal val="visible"/>
                                      </p:to>
                                    </p:set>
                                    <p:animEffect transition="in" filter="box(out)">
                                      <p:cBhvr>
                                        <p:cTn id="27" dur="500"/>
                                        <p:tgtEl>
                                          <p:spTgt spid="519170">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0"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469C2EC-AD60-4A2C-9965-FE9438F52711}"/>
              </a:ext>
            </a:extLst>
          </p:cNvPr>
          <p:cNvSpPr>
            <a:spLocks noGrp="1" noChangeArrowheads="1"/>
          </p:cNvSpPr>
          <p:nvPr>
            <p:ph type="body" idx="1"/>
          </p:nvPr>
        </p:nvSpPr>
        <p:spPr>
          <a:xfrm>
            <a:off x="684213" y="1989138"/>
            <a:ext cx="8229600" cy="3024187"/>
          </a:xfrm>
        </p:spPr>
        <p:txBody>
          <a:bodyPr/>
          <a:lstStyle/>
          <a:p>
            <a:pPr eaLnBrk="1" hangingPunct="1">
              <a:buFont typeface="Wingdings" panose="05000000000000000000" pitchFamily="2" charset="2"/>
              <a:buNone/>
            </a:pPr>
            <a:endParaRPr lang="en-US" altLang="zh-CN" sz="4000" b="1">
              <a:solidFill>
                <a:srgbClr val="FFFF00"/>
              </a:solidFill>
              <a:effectLst/>
              <a:latin typeface="黑体" panose="02010609060101010101" pitchFamily="49" charset="-122"/>
              <a:ea typeface="黑体" panose="02010609060101010101" pitchFamily="49" charset="-122"/>
            </a:endParaRPr>
          </a:p>
          <a:p>
            <a:pPr eaLnBrk="1" hangingPunct="1"/>
            <a:r>
              <a:rPr lang="zh-CN" altLang="en-US" sz="4000" b="1">
                <a:solidFill>
                  <a:srgbClr val="FFFF00"/>
                </a:solidFill>
                <a:effectLst/>
                <a:latin typeface="黑体" panose="02010609060101010101" pitchFamily="49" charset="-122"/>
                <a:ea typeface="黑体" panose="02010609060101010101" pitchFamily="49" charset="-122"/>
              </a:rPr>
              <a:t>相互合作的进程之间存在同步</a:t>
            </a:r>
          </a:p>
          <a:p>
            <a:pPr eaLnBrk="1" hangingPunct="1"/>
            <a:r>
              <a:rPr lang="zh-CN" altLang="en-US" sz="4000" b="1">
                <a:solidFill>
                  <a:srgbClr val="FFFF00"/>
                </a:solidFill>
                <a:effectLst/>
                <a:latin typeface="黑体" panose="02010609060101010101" pitchFamily="49" charset="-122"/>
                <a:ea typeface="黑体" panose="02010609060101010101" pitchFamily="49" charset="-122"/>
              </a:rPr>
              <a:t>属于直接制约</a:t>
            </a:r>
          </a:p>
          <a:p>
            <a:pPr eaLnBrk="1" hangingPunct="1">
              <a:buFont typeface="Wingdings" panose="05000000000000000000" pitchFamily="2" charset="2"/>
              <a:buNone/>
            </a:pPr>
            <a:endParaRPr lang="en-US" altLang="zh-CN" sz="4000" b="1">
              <a:solidFill>
                <a:srgbClr val="FFFF00"/>
              </a:solidFill>
              <a:effectLst/>
              <a:latin typeface="黑体" panose="02010609060101010101" pitchFamily="49" charset="-122"/>
              <a:ea typeface="黑体" panose="02010609060101010101" pitchFamily="49" charset="-122"/>
            </a:endParaRPr>
          </a:p>
        </p:txBody>
      </p:sp>
      <p:sp>
        <p:nvSpPr>
          <p:cNvPr id="531459" name="Rectangle 3">
            <a:extLst>
              <a:ext uri="{FF2B5EF4-FFF2-40B4-BE49-F238E27FC236}">
                <a16:creationId xmlns:a16="http://schemas.microsoft.com/office/drawing/2014/main" id="{5AB803AD-AFBF-4AE3-9F74-CCF02EBD0300}"/>
              </a:ext>
            </a:extLst>
          </p:cNvPr>
          <p:cNvSpPr>
            <a:spLocks noGrp="1" noChangeArrowheads="1"/>
          </p:cNvSpPr>
          <p:nvPr>
            <p:ph type="title"/>
          </p:nvPr>
        </p:nvSpPr>
        <p:spPr>
          <a:xfrm>
            <a:off x="250825" y="765175"/>
            <a:ext cx="8480425" cy="803275"/>
          </a:xfrm>
        </p:spPr>
        <p:txBody>
          <a:bodyPr anchor="b" anchorCtr="0"/>
          <a:lstStyle/>
          <a:p>
            <a:pPr eaLnBrk="1" hangingPunct="1">
              <a:defRPr/>
            </a:pPr>
            <a:r>
              <a:rPr lang="en-US" altLang="zh-CN" sz="4800" b="1">
                <a:solidFill>
                  <a:schemeClr val="tx1"/>
                </a:solidFill>
                <a:effectLst>
                  <a:outerShdw blurRad="38100" dist="38100" dir="2700000" algn="tl">
                    <a:srgbClr val="010199"/>
                  </a:outerShdw>
                </a:effectLst>
                <a:latin typeface="楷体_GB2312" pitchFamily="49" charset="-122"/>
                <a:ea typeface="楷体_GB2312" pitchFamily="49" charset="-122"/>
              </a:rPr>
              <a:t>3.4.3 </a:t>
            </a:r>
            <a:r>
              <a:rPr lang="zh-CN" altLang="en-US" sz="4800" b="1">
                <a:solidFill>
                  <a:schemeClr val="tx1"/>
                </a:solidFill>
                <a:effectLst>
                  <a:outerShdw blurRad="38100" dist="38100" dir="2700000" algn="tl">
                    <a:srgbClr val="010199"/>
                  </a:outerShdw>
                </a:effectLst>
                <a:latin typeface="楷体_GB2312" pitchFamily="49" charset="-122"/>
                <a:ea typeface="楷体_GB2312" pitchFamily="49" charset="-122"/>
              </a:rPr>
              <a:t>进程同步</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a:extLst>
              <a:ext uri="{FF2B5EF4-FFF2-40B4-BE49-F238E27FC236}">
                <a16:creationId xmlns:a16="http://schemas.microsoft.com/office/drawing/2014/main" id="{AB45B18B-6FC0-4BC4-BD8F-7B1AE58BBDFC}"/>
              </a:ext>
            </a:extLst>
          </p:cNvPr>
          <p:cNvSpPr>
            <a:spLocks noGrp="1" noChangeArrowheads="1"/>
          </p:cNvSpPr>
          <p:nvPr>
            <p:ph type="title"/>
          </p:nvPr>
        </p:nvSpPr>
        <p:spPr>
          <a:xfrm>
            <a:off x="323528" y="548680"/>
            <a:ext cx="5265738" cy="1139825"/>
          </a:xfrm>
        </p:spPr>
        <p:txBody>
          <a:bodyPr/>
          <a:lstStyle/>
          <a:p>
            <a:pPr eaLnBrk="1" hangingPunct="1">
              <a:defRPr/>
            </a:pPr>
            <a:r>
              <a:rPr lang="zh-CN" altLang="en-US" sz="3600" b="1" dirty="0">
                <a:solidFill>
                  <a:schemeClr val="tx1"/>
                </a:solidFill>
                <a:effectLst>
                  <a:outerShdw blurRad="38100" dist="38100" dir="2700000" algn="tl">
                    <a:srgbClr val="010199"/>
                  </a:outerShdw>
                </a:effectLst>
                <a:latin typeface="Times New Roman" panose="02020603050405020304" pitchFamily="18" charset="0"/>
              </a:rPr>
              <a:t>共享缓冲区的进程的同步</a:t>
            </a:r>
            <a:r>
              <a:rPr lang="zh-CN" altLang="en-US" sz="3600" b="1" dirty="0">
                <a:solidFill>
                  <a:schemeClr val="tx1"/>
                </a:solidFill>
                <a:effectLst>
                  <a:outerShdw blurRad="38100" dist="38100" dir="2700000" algn="tl">
                    <a:srgbClr val="010199"/>
                  </a:outerShdw>
                </a:effectLst>
              </a:rPr>
              <a:t> </a:t>
            </a:r>
          </a:p>
        </p:txBody>
      </p:sp>
      <p:sp>
        <p:nvSpPr>
          <p:cNvPr id="27651" name="Rectangle 3">
            <a:extLst>
              <a:ext uri="{FF2B5EF4-FFF2-40B4-BE49-F238E27FC236}">
                <a16:creationId xmlns:a16="http://schemas.microsoft.com/office/drawing/2014/main" id="{E6241430-58F6-4D38-9CBD-4B144A3B0618}"/>
              </a:ext>
            </a:extLst>
          </p:cNvPr>
          <p:cNvSpPr>
            <a:spLocks noGrp="1" noChangeArrowheads="1"/>
          </p:cNvSpPr>
          <p:nvPr>
            <p:ph type="body" idx="1"/>
          </p:nvPr>
        </p:nvSpPr>
        <p:spPr>
          <a:xfrm>
            <a:off x="457200" y="2132856"/>
            <a:ext cx="8229600" cy="4536232"/>
          </a:xfrm>
        </p:spPr>
        <p:txBody>
          <a:bodyPr/>
          <a:lstStyle/>
          <a:p>
            <a:pPr eaLnBrk="1" hangingPunct="1"/>
            <a:r>
              <a:rPr lang="zh-CN" altLang="en-US" b="1" dirty="0">
                <a:solidFill>
                  <a:srgbClr val="FFFF00"/>
                </a:solidFill>
                <a:effectLst/>
                <a:latin typeface="黑体" panose="02010609060101010101" pitchFamily="49" charset="-122"/>
                <a:ea typeface="黑体" panose="02010609060101010101" pitchFamily="49" charset="-122"/>
              </a:rPr>
              <a:t>设某计算进程Ｃ和打印进程Ｐ共用一个缓冲区</a:t>
            </a:r>
            <a:r>
              <a:rPr lang="en-US" altLang="zh-CN" b="1" dirty="0" err="1">
                <a:solidFill>
                  <a:srgbClr val="FFFF00"/>
                </a:solidFill>
                <a:effectLst/>
                <a:latin typeface="黑体" panose="02010609060101010101" pitchFamily="49" charset="-122"/>
                <a:ea typeface="黑体" panose="02010609060101010101" pitchFamily="49" charset="-122"/>
              </a:rPr>
              <a:t>Buf</a:t>
            </a:r>
            <a:r>
              <a:rPr lang="zh-CN" altLang="en-US" b="1" dirty="0">
                <a:solidFill>
                  <a:srgbClr val="FFFF00"/>
                </a:solidFill>
                <a:effectLst/>
                <a:latin typeface="黑体" panose="02010609060101010101" pitchFamily="49" charset="-122"/>
                <a:ea typeface="黑体" panose="02010609060101010101" pitchFamily="49" charset="-122"/>
              </a:rPr>
              <a:t>，Ｃ进程负责不断地计算数据并送入缓冲区</a:t>
            </a:r>
            <a:r>
              <a:rPr lang="en-US" altLang="zh-CN" b="1" dirty="0" err="1">
                <a:solidFill>
                  <a:srgbClr val="FFFF00"/>
                </a:solidFill>
                <a:effectLst/>
                <a:latin typeface="黑体" panose="02010609060101010101" pitchFamily="49" charset="-122"/>
                <a:ea typeface="黑体" panose="02010609060101010101" pitchFamily="49" charset="-122"/>
              </a:rPr>
              <a:t>Buf</a:t>
            </a:r>
            <a:r>
              <a:rPr lang="zh-CN" altLang="en-US" b="1" dirty="0">
                <a:solidFill>
                  <a:srgbClr val="FFFF00"/>
                </a:solidFill>
                <a:effectLst/>
                <a:latin typeface="黑体" panose="02010609060101010101" pitchFamily="49" charset="-122"/>
                <a:ea typeface="黑体" panose="02010609060101010101" pitchFamily="49" charset="-122"/>
              </a:rPr>
              <a:t>中，Ｐ进程负责不断地从缓冲区</a:t>
            </a:r>
            <a:r>
              <a:rPr lang="en-US" altLang="zh-CN" b="1" dirty="0" err="1">
                <a:solidFill>
                  <a:srgbClr val="FFFF00"/>
                </a:solidFill>
                <a:effectLst/>
                <a:latin typeface="黑体" panose="02010609060101010101" pitchFamily="49" charset="-122"/>
                <a:ea typeface="黑体" panose="02010609060101010101" pitchFamily="49" charset="-122"/>
              </a:rPr>
              <a:t>Buf</a:t>
            </a:r>
            <a:r>
              <a:rPr lang="zh-CN" altLang="en-US" b="1" dirty="0">
                <a:solidFill>
                  <a:srgbClr val="FFFF00"/>
                </a:solidFill>
                <a:effectLst/>
                <a:latin typeface="黑体" panose="02010609060101010101" pitchFamily="49" charset="-122"/>
                <a:ea typeface="黑体" panose="02010609060101010101" pitchFamily="49" charset="-122"/>
              </a:rPr>
              <a:t>中取出数据去打印。</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a:extLst>
              <a:ext uri="{FF2B5EF4-FFF2-40B4-BE49-F238E27FC236}">
                <a16:creationId xmlns:a16="http://schemas.microsoft.com/office/drawing/2014/main" id="{84F2785E-9132-4538-BA80-1E989EF427B1}"/>
              </a:ext>
            </a:extLst>
          </p:cNvPr>
          <p:cNvSpPr>
            <a:spLocks noGrp="1" noChangeArrowheads="1"/>
          </p:cNvSpPr>
          <p:nvPr>
            <p:ph type="title"/>
          </p:nvPr>
        </p:nvSpPr>
        <p:spPr>
          <a:xfrm>
            <a:off x="468313" y="188913"/>
            <a:ext cx="8229600" cy="950912"/>
          </a:xfrm>
        </p:spPr>
        <p:txBody>
          <a:bodyPr/>
          <a:lstStyle/>
          <a:p>
            <a:pPr eaLnBrk="1" hangingPunct="1">
              <a:defRPr/>
            </a:pPr>
            <a:r>
              <a:rPr lang="zh-CN" altLang="en-US"/>
              <a:t>分析</a:t>
            </a:r>
          </a:p>
        </p:txBody>
      </p:sp>
      <p:sp>
        <p:nvSpPr>
          <p:cNvPr id="28675" name="Rectangle 3">
            <a:extLst>
              <a:ext uri="{FF2B5EF4-FFF2-40B4-BE49-F238E27FC236}">
                <a16:creationId xmlns:a16="http://schemas.microsoft.com/office/drawing/2014/main" id="{348A370D-E9F3-40C7-92CA-740C8CD1D955}"/>
              </a:ext>
            </a:extLst>
          </p:cNvPr>
          <p:cNvSpPr>
            <a:spLocks noGrp="1" noChangeArrowheads="1"/>
          </p:cNvSpPr>
          <p:nvPr>
            <p:ph type="body" idx="1"/>
          </p:nvPr>
        </p:nvSpPr>
        <p:spPr>
          <a:xfrm>
            <a:off x="468313" y="1125538"/>
            <a:ext cx="8229600" cy="5256212"/>
          </a:xfrm>
        </p:spPr>
        <p:txBody>
          <a:bodyPr/>
          <a:lstStyle/>
          <a:p>
            <a:pPr eaLnBrk="1" hangingPunct="1">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通过分析可知，Ｃ、Ｐ进程必须遵守以下同步规则： </a:t>
            </a:r>
          </a:p>
          <a:p>
            <a:pPr algn="just" eaLnBrk="1" hangingPunct="1"/>
            <a:r>
              <a:rPr lang="zh-CN" altLang="en-US" b="1">
                <a:solidFill>
                  <a:srgbClr val="FFFF00"/>
                </a:solidFill>
                <a:effectLst/>
                <a:latin typeface="黑体" panose="02010609060101010101" pitchFamily="49" charset="-122"/>
                <a:ea typeface="黑体" panose="02010609060101010101" pitchFamily="49" charset="-122"/>
              </a:rPr>
              <a:t>当Ｃ进程把计算结果送入缓冲区时，</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进程才能从缓冲区中取出结果去打印</a:t>
            </a:r>
            <a:r>
              <a:rPr lang="en-US" altLang="zh-CN" b="1">
                <a:solidFill>
                  <a:srgbClr val="FFFF00"/>
                </a:solidFill>
                <a:effectLst/>
                <a:latin typeface="黑体" panose="02010609060101010101" pitchFamily="49" charset="-122"/>
                <a:ea typeface="黑体" panose="02010609060101010101" pitchFamily="49" charset="-122"/>
              </a:rPr>
              <a:t>;</a:t>
            </a:r>
          </a:p>
          <a:p>
            <a:pPr algn="just" eaLnBrk="1" hangingPunct="1"/>
            <a:r>
              <a:rPr lang="zh-CN" altLang="en-US" b="1">
                <a:solidFill>
                  <a:srgbClr val="FFFF00"/>
                </a:solidFill>
                <a:effectLst/>
                <a:latin typeface="黑体" panose="02010609060101010101" pitchFamily="49" charset="-122"/>
                <a:ea typeface="黑体" panose="02010609060101010101" pitchFamily="49" charset="-122"/>
              </a:rPr>
              <a:t>当</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进程把缓冲区中的数据取出打印后，Ｃ进程才能把下一个计算结果送入缓冲区</a:t>
            </a:r>
          </a:p>
          <a:p>
            <a:pPr algn="just" eaLnBrk="1" hangingPunct="1"/>
            <a:r>
              <a:rPr lang="en-US" altLang="zh-CN" b="1">
                <a:solidFill>
                  <a:srgbClr val="FFFF00"/>
                </a:solidFill>
                <a:effectLst/>
                <a:latin typeface="黑体" panose="02010609060101010101" pitchFamily="49" charset="-122"/>
                <a:ea typeface="黑体" panose="02010609060101010101" pitchFamily="49" charset="-122"/>
              </a:rPr>
              <a:t>C</a:t>
            </a:r>
            <a:r>
              <a:rPr lang="zh-CN" altLang="en-US" b="1">
                <a:solidFill>
                  <a:srgbClr val="FFFF00"/>
                </a:solidFill>
                <a:effectLst/>
                <a:latin typeface="黑体" panose="02010609060101010101" pitchFamily="49" charset="-122"/>
                <a:ea typeface="黑体" panose="02010609060101010101" pitchFamily="49" charset="-122"/>
              </a:rPr>
              <a:t>的输出结果是</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的执行条件，</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的执行结果也是</a:t>
            </a:r>
            <a:r>
              <a:rPr lang="en-US" altLang="zh-CN" b="1">
                <a:solidFill>
                  <a:srgbClr val="FFFF00"/>
                </a:solidFill>
                <a:effectLst/>
                <a:latin typeface="黑体" panose="02010609060101010101" pitchFamily="49" charset="-122"/>
                <a:ea typeface="黑体" panose="02010609060101010101" pitchFamily="49" charset="-122"/>
              </a:rPr>
              <a:t>C</a:t>
            </a:r>
            <a:r>
              <a:rPr lang="zh-CN" altLang="en-US" b="1">
                <a:solidFill>
                  <a:srgbClr val="FFFF00"/>
                </a:solidFill>
                <a:effectLst/>
                <a:latin typeface="黑体" panose="02010609060101010101" pitchFamily="49" charset="-122"/>
                <a:ea typeface="黑体" panose="02010609060101010101" pitchFamily="49" charset="-122"/>
              </a:rPr>
              <a:t>的执行条件</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CFF3192-A335-41B8-94D2-BEB230E4029F}"/>
              </a:ext>
            </a:extLst>
          </p:cNvPr>
          <p:cNvSpPr>
            <a:spLocks noGrp="1" noChangeArrowheads="1"/>
          </p:cNvSpPr>
          <p:nvPr>
            <p:ph type="body" idx="1"/>
          </p:nvPr>
        </p:nvSpPr>
        <p:spPr>
          <a:xfrm>
            <a:off x="323850" y="765175"/>
            <a:ext cx="8569325" cy="4967288"/>
          </a:xfrm>
        </p:spPr>
        <p:txBody>
          <a:bodyPr/>
          <a:lstStyle/>
          <a:p>
            <a:pPr eaLnBrk="1" hangingPunct="1">
              <a:lnSpc>
                <a:spcPct val="115000"/>
              </a:lnSpc>
              <a:buFont typeface="Wingdings" panose="05000000000000000000" pitchFamily="2" charset="2"/>
              <a:buNone/>
            </a:pPr>
            <a:r>
              <a:rPr lang="zh-CN" altLang="en-US" b="1">
                <a:solidFill>
                  <a:srgbClr val="FF0000"/>
                </a:solidFill>
                <a:effectLst/>
                <a:latin typeface="隶书" panose="02010509060101010101" pitchFamily="49" charset="-122"/>
                <a:ea typeface="黑体" panose="02010609060101010101" pitchFamily="49" charset="-122"/>
              </a:rPr>
              <a:t>进程同步</a:t>
            </a:r>
            <a:r>
              <a:rPr lang="zh-CN" altLang="en-US" b="1">
                <a:solidFill>
                  <a:srgbClr val="FFFF00"/>
                </a:solidFill>
                <a:effectLst/>
                <a:latin typeface="隶书" panose="02010509060101010101" pitchFamily="49" charset="-122"/>
                <a:ea typeface="黑体" panose="02010609060101010101" pitchFamily="49" charset="-122"/>
              </a:rPr>
              <a:t>：</a:t>
            </a:r>
            <a:r>
              <a:rPr lang="zh-CN" altLang="en-US" b="1">
                <a:solidFill>
                  <a:srgbClr val="FFFF00"/>
                </a:solidFill>
                <a:effectLst/>
                <a:latin typeface="Times New Roman" panose="02020603050405020304" pitchFamily="18" charset="0"/>
                <a:ea typeface="黑体" panose="02010609060101010101" pitchFamily="49" charset="-122"/>
              </a:rPr>
              <a:t>指的是两个或多个进程为了合作完成同一个任务，在执行速度或某些个确定的时序点上必须相互协调，即一个进程的执行依赖于另一个进程</a:t>
            </a:r>
            <a:r>
              <a:rPr lang="en-US" altLang="zh-CN" b="1">
                <a:solidFill>
                  <a:srgbClr val="FFFF00"/>
                </a:solidFill>
                <a:effectLst/>
                <a:ea typeface="黑体" panose="02010609060101010101" pitchFamily="49" charset="-122"/>
              </a:rPr>
              <a:t>——</a:t>
            </a:r>
            <a:r>
              <a:rPr lang="zh-CN" altLang="en-US" b="1">
                <a:solidFill>
                  <a:srgbClr val="FFFF00"/>
                </a:solidFill>
                <a:effectLst/>
                <a:latin typeface="Times New Roman" panose="02020603050405020304" pitchFamily="18" charset="0"/>
                <a:ea typeface="黑体" panose="02010609060101010101" pitchFamily="49" charset="-122"/>
              </a:rPr>
              <a:t>其合作伙伴的消息，当一个进程到达了某一确定点而没有得到合作伙伴发来的</a:t>
            </a:r>
            <a:r>
              <a:rPr lang="zh-CN" altLang="en-US" b="1">
                <a:solidFill>
                  <a:srgbClr val="FFFF00"/>
                </a:solidFill>
                <a:effectLst/>
                <a:ea typeface="黑体" panose="02010609060101010101" pitchFamily="49" charset="-122"/>
              </a:rPr>
              <a:t>“</a:t>
            </a:r>
            <a:r>
              <a:rPr lang="zh-CN" altLang="en-US" b="1">
                <a:solidFill>
                  <a:srgbClr val="FFFF00"/>
                </a:solidFill>
                <a:effectLst/>
                <a:latin typeface="Times New Roman" panose="02020603050405020304" pitchFamily="18" charset="0"/>
                <a:ea typeface="黑体" panose="02010609060101010101" pitchFamily="49" charset="-122"/>
              </a:rPr>
              <a:t>已完成某些操作</a:t>
            </a:r>
            <a:r>
              <a:rPr lang="zh-CN" altLang="en-US" b="1">
                <a:solidFill>
                  <a:srgbClr val="FFFF00"/>
                </a:solidFill>
                <a:effectLst/>
                <a:ea typeface="黑体" panose="02010609060101010101" pitchFamily="49" charset="-122"/>
              </a:rPr>
              <a:t>”</a:t>
            </a:r>
            <a:r>
              <a:rPr lang="zh-CN" altLang="en-US" b="1">
                <a:solidFill>
                  <a:srgbClr val="FFFF00"/>
                </a:solidFill>
                <a:effectLst/>
                <a:latin typeface="Times New Roman" panose="02020603050405020304" pitchFamily="18" charset="0"/>
                <a:ea typeface="黑体" panose="02010609060101010101" pitchFamily="49" charset="-122"/>
              </a:rPr>
              <a:t>的消息时必须等待，直到该消息到达被唤醒后，才能继续向前推进。</a:t>
            </a:r>
            <a:endParaRPr lang="zh-CN" altLang="en-US" b="1">
              <a:solidFill>
                <a:srgbClr val="FFFF00"/>
              </a:solidFill>
              <a:effectLst/>
              <a:ea typeface="黑体" panose="02010609060101010101" pitchFamily="49" charset="-122"/>
            </a:endParaRPr>
          </a:p>
        </p:txBody>
      </p:sp>
    </p:spTree>
  </p:cSld>
  <p:clrMapOvr>
    <a:masterClrMapping/>
  </p:clrMapOvr>
  <p:transition spd="slow">
    <p:checke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7F424C7-6200-4F2F-85A4-8543E484E22A}"/>
              </a:ext>
            </a:extLst>
          </p:cNvPr>
          <p:cNvSpPr>
            <a:spLocks noGrp="1" noChangeArrowheads="1"/>
          </p:cNvSpPr>
          <p:nvPr>
            <p:ph type="body" idx="1"/>
          </p:nvPr>
        </p:nvSpPr>
        <p:spPr>
          <a:xfrm>
            <a:off x="755650" y="1341438"/>
            <a:ext cx="7920806" cy="4824412"/>
          </a:xfrm>
        </p:spPr>
        <p:txBody>
          <a:bodyPr/>
          <a:lstStyle/>
          <a:p>
            <a:pPr eaLnBrk="1" hangingPunct="1">
              <a:buFont typeface="Wingdings" panose="05000000000000000000" pitchFamily="2" charset="2"/>
              <a:buNone/>
            </a:pPr>
            <a:r>
              <a:rPr lang="zh-CN" altLang="en-US" sz="4000" b="1" dirty="0">
                <a:solidFill>
                  <a:srgbClr val="FFFF00"/>
                </a:solidFill>
                <a:effectLst/>
                <a:latin typeface="黑体" panose="02010609060101010101" pitchFamily="49" charset="-122"/>
                <a:ea typeface="黑体" panose="02010609060101010101" pitchFamily="49" charset="-122"/>
              </a:rPr>
              <a:t>一种最为简单和直观的解决方法是：</a:t>
            </a:r>
          </a:p>
          <a:p>
            <a:pPr eaLnBrk="1" hangingPunct="1">
              <a:buFont typeface="Wingdings" panose="05000000000000000000" pitchFamily="2" charset="2"/>
              <a:buNone/>
            </a:pPr>
            <a:r>
              <a:rPr lang="zh-CN" altLang="en-US" sz="4000" b="1" dirty="0">
                <a:solidFill>
                  <a:srgbClr val="FFFF00"/>
                </a:solidFill>
                <a:effectLst/>
                <a:latin typeface="黑体" panose="02010609060101010101" pitchFamily="49" charset="-122"/>
                <a:ea typeface="黑体" panose="02010609060101010101" pitchFamily="49" charset="-122"/>
              </a:rPr>
              <a:t>进程间相互给对方发送执行条件已经具备的信号</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FD86E5D-4E49-4536-8ABB-D493591EEE38}"/>
              </a:ext>
            </a:extLst>
          </p:cNvPr>
          <p:cNvSpPr>
            <a:spLocks noGrp="1" noChangeArrowheads="1"/>
          </p:cNvSpPr>
          <p:nvPr>
            <p:ph type="body" idx="1"/>
          </p:nvPr>
        </p:nvSpPr>
        <p:spPr>
          <a:xfrm>
            <a:off x="342106" y="548680"/>
            <a:ext cx="8459787" cy="1584176"/>
          </a:xfrm>
        </p:spPr>
        <p:txBody>
          <a:bodyPr/>
          <a:lstStyle/>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对一个消息赋予唯一的消息名，则可用过程</a:t>
            </a:r>
            <a:r>
              <a:rPr lang="en-US" altLang="zh-CN" sz="2800" b="1" dirty="0">
                <a:solidFill>
                  <a:srgbClr val="FFFF00"/>
                </a:solidFill>
                <a:effectLst/>
                <a:latin typeface="黑体" panose="02010609060101010101" pitchFamily="49" charset="-122"/>
                <a:ea typeface="黑体" panose="02010609060101010101" pitchFamily="49" charset="-122"/>
              </a:rPr>
              <a:t>wait</a:t>
            </a:r>
            <a:r>
              <a:rPr lang="zh-CN" altLang="en-US" sz="2800" b="1" dirty="0">
                <a:solidFill>
                  <a:srgbClr val="FFFF00"/>
                </a:solidFill>
                <a:effectLst/>
                <a:latin typeface="黑体" panose="02010609060101010101" pitchFamily="49" charset="-122"/>
                <a:ea typeface="黑体" panose="02010609060101010101" pitchFamily="49" charset="-122"/>
              </a:rPr>
              <a:t>（消息名）表示进程等待合作进程发来的消息；用</a:t>
            </a:r>
            <a:r>
              <a:rPr lang="en-US" altLang="zh-CN" sz="2800" b="1" dirty="0">
                <a:solidFill>
                  <a:srgbClr val="FFFF00"/>
                </a:solidFill>
                <a:effectLst/>
                <a:latin typeface="黑体" panose="02010609060101010101" pitchFamily="49" charset="-122"/>
                <a:ea typeface="黑体" panose="02010609060101010101" pitchFamily="49" charset="-122"/>
              </a:rPr>
              <a:t>signal </a:t>
            </a:r>
            <a:r>
              <a:rPr lang="zh-CN" altLang="en-US" sz="2800" b="1" dirty="0">
                <a:solidFill>
                  <a:srgbClr val="FFFF00"/>
                </a:solidFill>
                <a:effectLst/>
                <a:latin typeface="黑体" panose="02010609060101010101" pitchFamily="49" charset="-122"/>
                <a:ea typeface="黑体" panose="02010609060101010101" pitchFamily="49" charset="-122"/>
              </a:rPr>
              <a:t>（消息名）表示合作进程发送消息</a:t>
            </a:r>
          </a:p>
        </p:txBody>
      </p:sp>
      <p:pic>
        <p:nvPicPr>
          <p:cNvPr id="3" name="图片 2">
            <a:extLst>
              <a:ext uri="{FF2B5EF4-FFF2-40B4-BE49-F238E27FC236}">
                <a16:creationId xmlns:a16="http://schemas.microsoft.com/office/drawing/2014/main" id="{0D8F0AEE-9CDC-164E-B2A0-29DF602F5A98}"/>
              </a:ext>
            </a:extLst>
          </p:cNvPr>
          <p:cNvPicPr>
            <a:picLocks noChangeAspect="1"/>
          </p:cNvPicPr>
          <p:nvPr/>
        </p:nvPicPr>
        <p:blipFill rotWithShape="1">
          <a:blip r:embed="rId2"/>
          <a:srcRect t="44707" r="11690"/>
          <a:stretch/>
        </p:blipFill>
        <p:spPr>
          <a:xfrm>
            <a:off x="941222" y="2119658"/>
            <a:ext cx="6079050" cy="2461470"/>
          </a:xfrm>
          <a:prstGeom prst="rect">
            <a:avLst/>
          </a:prstGeom>
        </p:spPr>
      </p:pic>
      <p:pic>
        <p:nvPicPr>
          <p:cNvPr id="5" name="图片 4">
            <a:extLst>
              <a:ext uri="{FF2B5EF4-FFF2-40B4-BE49-F238E27FC236}">
                <a16:creationId xmlns:a16="http://schemas.microsoft.com/office/drawing/2014/main" id="{3C906B46-B440-AC0E-CCC0-B81FB6262A88}"/>
              </a:ext>
            </a:extLst>
          </p:cNvPr>
          <p:cNvPicPr>
            <a:picLocks noChangeAspect="1"/>
          </p:cNvPicPr>
          <p:nvPr/>
        </p:nvPicPr>
        <p:blipFill rotWithShape="1">
          <a:blip r:embed="rId3"/>
          <a:srcRect l="3609" r="-810"/>
          <a:stretch/>
        </p:blipFill>
        <p:spPr>
          <a:xfrm>
            <a:off x="941222" y="4451607"/>
            <a:ext cx="4998930" cy="1857713"/>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454DA3B8-3EF9-4C4B-BA91-3ADCA3FFD348}"/>
              </a:ext>
            </a:extLst>
          </p:cNvPr>
          <p:cNvSpPr>
            <a:spLocks noGrp="1" noChangeArrowheads="1"/>
          </p:cNvSpPr>
          <p:nvPr>
            <p:ph type="body" idx="1"/>
          </p:nvPr>
        </p:nvSpPr>
        <p:spPr>
          <a:xfrm>
            <a:off x="1331913" y="1773238"/>
            <a:ext cx="6335712" cy="4895850"/>
          </a:xfrm>
        </p:spPr>
        <p:txBody>
          <a:bodyPr/>
          <a:lstStyle/>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3.4.1 </a:t>
            </a:r>
            <a:r>
              <a:rPr lang="zh-CN" altLang="en-US" sz="3600" b="1" dirty="0">
                <a:solidFill>
                  <a:srgbClr val="FFFF00"/>
                </a:solidFill>
                <a:effectLst/>
                <a:latin typeface="黑体" panose="02010609060101010101" pitchFamily="49" charset="-122"/>
                <a:ea typeface="黑体" panose="02010609060101010101" pitchFamily="49" charset="-122"/>
              </a:rPr>
              <a:t>进程间的制约关系</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3.4.2 </a:t>
            </a:r>
            <a:r>
              <a:rPr lang="zh-CN" altLang="en-US" sz="3600" b="1" dirty="0">
                <a:solidFill>
                  <a:srgbClr val="FFFF00"/>
                </a:solidFill>
                <a:effectLst/>
                <a:latin typeface="黑体" panose="02010609060101010101" pitchFamily="49" charset="-122"/>
                <a:ea typeface="黑体" panose="02010609060101010101" pitchFamily="49" charset="-122"/>
              </a:rPr>
              <a:t>进程互斥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3.4.3 </a:t>
            </a:r>
            <a:r>
              <a:rPr lang="zh-CN" altLang="en-US" sz="3600" b="1" dirty="0">
                <a:solidFill>
                  <a:srgbClr val="FFFF00"/>
                </a:solidFill>
                <a:effectLst/>
                <a:latin typeface="黑体" panose="02010609060101010101" pitchFamily="49" charset="-122"/>
                <a:ea typeface="黑体" panose="02010609060101010101" pitchFamily="49" charset="-122"/>
              </a:rPr>
              <a:t>进程同步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3.4.4 </a:t>
            </a:r>
            <a:r>
              <a:rPr lang="zh-CN" altLang="en-US" sz="3600" b="1" dirty="0">
                <a:solidFill>
                  <a:srgbClr val="FFFF00"/>
                </a:solidFill>
                <a:effectLst/>
                <a:latin typeface="黑体" panose="02010609060101010101" pitchFamily="49" charset="-122"/>
                <a:ea typeface="黑体" panose="02010609060101010101" pitchFamily="49" charset="-122"/>
              </a:rPr>
              <a:t>信号量机制</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3.4.5 </a:t>
            </a:r>
            <a:r>
              <a:rPr lang="zh-CN" altLang="en-US" sz="3600" b="1" dirty="0">
                <a:solidFill>
                  <a:srgbClr val="FFFF00"/>
                </a:solidFill>
                <a:effectLst/>
                <a:latin typeface="黑体" panose="02010609060101010101" pitchFamily="49" charset="-122"/>
                <a:ea typeface="黑体" panose="02010609060101010101" pitchFamily="49" charset="-122"/>
              </a:rPr>
              <a:t>经典同步互斥问题</a:t>
            </a:r>
          </a:p>
        </p:txBody>
      </p:sp>
      <p:sp>
        <p:nvSpPr>
          <p:cNvPr id="6147" name="Rectangle 3">
            <a:extLst>
              <a:ext uri="{FF2B5EF4-FFF2-40B4-BE49-F238E27FC236}">
                <a16:creationId xmlns:a16="http://schemas.microsoft.com/office/drawing/2014/main" id="{F56EA621-430E-44A3-A8F5-E79B5AE76CF6}"/>
              </a:ext>
            </a:extLst>
          </p:cNvPr>
          <p:cNvSpPr>
            <a:spLocks noGrp="1" noChangeArrowheads="1"/>
          </p:cNvSpPr>
          <p:nvPr>
            <p:ph type="title"/>
          </p:nvPr>
        </p:nvSpPr>
        <p:spPr>
          <a:xfrm>
            <a:off x="179388" y="333375"/>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3.4  </a:t>
            </a:r>
            <a:r>
              <a:rPr lang="zh-CN" altLang="en-US" b="1">
                <a:solidFill>
                  <a:schemeClr val="tx1"/>
                </a:solidFill>
                <a:effectLst/>
                <a:latin typeface="Times New Roman" panose="02020603050405020304" pitchFamily="18" charset="0"/>
              </a:rPr>
              <a:t>进程的同步与互斥</a:t>
            </a:r>
            <a:r>
              <a:rPr lang="zh-CN" altLang="en-US" b="1">
                <a:solidFill>
                  <a:schemeClr val="tx1"/>
                </a:solidFill>
                <a:effectLst/>
              </a:rPr>
              <a:t> </a:t>
            </a:r>
          </a:p>
        </p:txBody>
      </p:sp>
    </p:spTree>
    <p:extLst>
      <p:ext uri="{BB962C8B-B14F-4D97-AF65-F5344CB8AC3E}">
        <p14:creationId xmlns:p14="http://schemas.microsoft.com/office/powerpoint/2010/main" val="414617088"/>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9170">
                                            <p:txEl>
                                              <p:pRg st="0" end="0"/>
                                            </p:txEl>
                                          </p:spTgt>
                                        </p:tgtEl>
                                        <p:attrNameLst>
                                          <p:attrName>style.visibility</p:attrName>
                                        </p:attrNameLst>
                                      </p:cBhvr>
                                      <p:to>
                                        <p:strVal val="visible"/>
                                      </p:to>
                                    </p:set>
                                    <p:animEffect transition="in" filter="box(out)">
                                      <p:cBhvr>
                                        <p:cTn id="7" dur="500"/>
                                        <p:tgtEl>
                                          <p:spTgt spid="51917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9170">
                                            <p:txEl>
                                              <p:pRg st="1" end="1"/>
                                            </p:txEl>
                                          </p:spTgt>
                                        </p:tgtEl>
                                        <p:attrNameLst>
                                          <p:attrName>style.visibility</p:attrName>
                                        </p:attrNameLst>
                                      </p:cBhvr>
                                      <p:to>
                                        <p:strVal val="visible"/>
                                      </p:to>
                                    </p:set>
                                    <p:animEffect transition="in" filter="box(out)">
                                      <p:cBhvr>
                                        <p:cTn id="12" dur="500"/>
                                        <p:tgtEl>
                                          <p:spTgt spid="519170">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9170">
                                            <p:txEl>
                                              <p:pRg st="2" end="2"/>
                                            </p:txEl>
                                          </p:spTgt>
                                        </p:tgtEl>
                                        <p:attrNameLst>
                                          <p:attrName>style.visibility</p:attrName>
                                        </p:attrNameLst>
                                      </p:cBhvr>
                                      <p:to>
                                        <p:strVal val="visible"/>
                                      </p:to>
                                    </p:set>
                                    <p:animEffect transition="in" filter="box(out)">
                                      <p:cBhvr>
                                        <p:cTn id="17" dur="500"/>
                                        <p:tgtEl>
                                          <p:spTgt spid="519170">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19170">
                                            <p:txEl>
                                              <p:pRg st="3" end="3"/>
                                            </p:txEl>
                                          </p:spTgt>
                                        </p:tgtEl>
                                        <p:attrNameLst>
                                          <p:attrName>style.visibility</p:attrName>
                                        </p:attrNameLst>
                                      </p:cBhvr>
                                      <p:to>
                                        <p:strVal val="visible"/>
                                      </p:to>
                                    </p:set>
                                    <p:animEffect transition="in" filter="box(out)">
                                      <p:cBhvr>
                                        <p:cTn id="22" dur="500"/>
                                        <p:tgtEl>
                                          <p:spTgt spid="519170">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19170">
                                            <p:txEl>
                                              <p:pRg st="4" end="4"/>
                                            </p:txEl>
                                          </p:spTgt>
                                        </p:tgtEl>
                                        <p:attrNameLst>
                                          <p:attrName>style.visibility</p:attrName>
                                        </p:attrNameLst>
                                      </p:cBhvr>
                                      <p:to>
                                        <p:strVal val="visible"/>
                                      </p:to>
                                    </p:set>
                                    <p:animEffect transition="in" filter="box(out)">
                                      <p:cBhvr>
                                        <p:cTn id="27" dur="500"/>
                                        <p:tgtEl>
                                          <p:spTgt spid="519170">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0"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E4820AA-6A17-4CBC-BE07-5A63DDB16539}"/>
              </a:ext>
            </a:extLst>
          </p:cNvPr>
          <p:cNvSpPr>
            <a:spLocks noGrp="1" noChangeArrowheads="1"/>
          </p:cNvSpPr>
          <p:nvPr>
            <p:ph type="body" idx="1"/>
          </p:nvPr>
        </p:nvSpPr>
        <p:spPr>
          <a:xfrm>
            <a:off x="611188" y="2636912"/>
            <a:ext cx="8229600" cy="4032176"/>
          </a:xfrm>
        </p:spPr>
        <p:txBody>
          <a:bodyPr/>
          <a:lstStyle/>
          <a:p>
            <a:pPr eaLnBrk="1" hangingPunct="1"/>
            <a:r>
              <a:rPr lang="zh-CN" altLang="en-US" b="1" dirty="0">
                <a:solidFill>
                  <a:srgbClr val="FFFF00"/>
                </a:solidFill>
                <a:effectLst/>
                <a:latin typeface="黑体" panose="02010609060101010101" pitchFamily="49" charset="-122"/>
                <a:ea typeface="黑体" panose="02010609060101010101" pitchFamily="49" charset="-122"/>
              </a:rPr>
              <a:t>尽管用软件或硬件方法可以实现进程之间的互斥，但这种方法仍然存在一些影响系统可靠性和执行效率的问题</a:t>
            </a:r>
          </a:p>
        </p:txBody>
      </p:sp>
      <p:sp>
        <p:nvSpPr>
          <p:cNvPr id="374787" name="Rectangle 3">
            <a:extLst>
              <a:ext uri="{FF2B5EF4-FFF2-40B4-BE49-F238E27FC236}">
                <a16:creationId xmlns:a16="http://schemas.microsoft.com/office/drawing/2014/main" id="{E8326CC8-D9E3-4F72-A75B-982D426897EB}"/>
              </a:ext>
            </a:extLst>
          </p:cNvPr>
          <p:cNvSpPr>
            <a:spLocks noGrp="1" noChangeArrowheads="1"/>
          </p:cNvSpPr>
          <p:nvPr>
            <p:ph type="title"/>
          </p:nvPr>
        </p:nvSpPr>
        <p:spPr>
          <a:xfrm>
            <a:off x="539552" y="692696"/>
            <a:ext cx="7429500" cy="803275"/>
          </a:xfrm>
        </p:spPr>
        <p:txBody>
          <a:bodyPr anchor="b" anchorCtr="0"/>
          <a:lstStyle/>
          <a:p>
            <a:pPr eaLnBrk="1" hangingPunct="1">
              <a:defRPr/>
            </a:pPr>
            <a:r>
              <a:rPr lang="en-US" altLang="zh-CN" sz="4800" b="1" dirty="0">
                <a:solidFill>
                  <a:schemeClr val="tx1"/>
                </a:solidFill>
                <a:effectLst>
                  <a:outerShdw blurRad="38100" dist="38100" dir="2700000" algn="tl">
                    <a:srgbClr val="010199"/>
                  </a:outerShdw>
                </a:effectLst>
                <a:latin typeface="楷体_GB2312" pitchFamily="49" charset="-122"/>
                <a:ea typeface="楷体_GB2312" pitchFamily="49" charset="-122"/>
              </a:rPr>
              <a:t>3.4.4 </a:t>
            </a:r>
            <a:r>
              <a:rPr lang="zh-CN" altLang="en-US" sz="4800" b="1" dirty="0">
                <a:solidFill>
                  <a:schemeClr val="tx1"/>
                </a:solidFill>
                <a:effectLst>
                  <a:outerShdw blurRad="38100" dist="38100" dir="2700000" algn="tl">
                    <a:srgbClr val="010199"/>
                  </a:outerShdw>
                </a:effectLst>
                <a:latin typeface="楷体_GB2312" pitchFamily="49" charset="-122"/>
                <a:ea typeface="楷体_GB2312" pitchFamily="49" charset="-122"/>
              </a:rPr>
              <a:t>信号量机制</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709FEDC-AC81-4F4A-BC38-B6F75463FFA9}"/>
              </a:ext>
            </a:extLst>
          </p:cNvPr>
          <p:cNvSpPr>
            <a:spLocks noGrp="1" noChangeArrowheads="1"/>
          </p:cNvSpPr>
          <p:nvPr>
            <p:ph type="body" idx="1"/>
          </p:nvPr>
        </p:nvSpPr>
        <p:spPr>
          <a:xfrm>
            <a:off x="611188" y="1844675"/>
            <a:ext cx="8229600" cy="4464050"/>
          </a:xfrm>
        </p:spPr>
        <p:txBody>
          <a:bodyPr/>
          <a:lstStyle/>
          <a:p>
            <a:pPr eaLnBrk="1" hangingPunct="1"/>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信号量</a:t>
            </a:r>
          </a:p>
          <a:p>
            <a:pPr eaLnBrk="1" hangingPunct="1"/>
            <a:r>
              <a:rPr lang="zh-CN" altLang="en-US" b="1" dirty="0">
                <a:solidFill>
                  <a:srgbClr val="FFFF00"/>
                </a:solidFill>
                <a:effectLst/>
                <a:latin typeface="黑体" panose="02010609060101010101" pitchFamily="49" charset="-122"/>
                <a:ea typeface="黑体" panose="02010609060101010101" pitchFamily="49" charset="-122"/>
              </a:rPr>
              <a:t>荷兰著名科学家，后来的计算机图灵奖获得者，</a:t>
            </a:r>
            <a:r>
              <a:rPr lang="en-US" altLang="zh-CN" b="1" dirty="0" err="1">
                <a:solidFill>
                  <a:srgbClr val="FFFF00"/>
                </a:solidFill>
                <a:effectLst/>
                <a:latin typeface="黑体" panose="02010609060101010101" pitchFamily="49" charset="-122"/>
                <a:ea typeface="黑体" panose="02010609060101010101" pitchFamily="49" charset="-122"/>
              </a:rPr>
              <a:t>E.W.Dijkstra</a:t>
            </a:r>
            <a:r>
              <a:rPr lang="zh-CN" altLang="en-US" b="1" dirty="0">
                <a:solidFill>
                  <a:srgbClr val="FFFF00"/>
                </a:solidFill>
                <a:effectLst/>
                <a:latin typeface="黑体" panose="02010609060101010101" pitchFamily="49" charset="-122"/>
                <a:ea typeface="黑体" panose="02010609060101010101" pitchFamily="49" charset="-122"/>
              </a:rPr>
              <a:t>于</a:t>
            </a:r>
            <a:r>
              <a:rPr lang="en-US" altLang="zh-CN" b="1" dirty="0">
                <a:solidFill>
                  <a:srgbClr val="FFFF00"/>
                </a:solidFill>
                <a:effectLst/>
                <a:latin typeface="黑体" panose="02010609060101010101" pitchFamily="49" charset="-122"/>
                <a:ea typeface="黑体" panose="02010609060101010101" pitchFamily="49" charset="-122"/>
              </a:rPr>
              <a:t>1965</a:t>
            </a:r>
            <a:r>
              <a:rPr lang="zh-CN" altLang="en-US" b="1" dirty="0">
                <a:solidFill>
                  <a:srgbClr val="FFFF00"/>
                </a:solidFill>
                <a:effectLst/>
                <a:latin typeface="黑体" panose="02010609060101010101" pitchFamily="49" charset="-122"/>
                <a:ea typeface="黑体" panose="02010609060101010101" pitchFamily="49" charset="-122"/>
              </a:rPr>
              <a:t>年提出了用作进程同步工具的信号量（</a:t>
            </a:r>
            <a:r>
              <a:rPr lang="en-US" altLang="zh-CN" b="1" dirty="0">
                <a:solidFill>
                  <a:srgbClr val="FFFF00"/>
                </a:solidFill>
                <a:effectLst/>
                <a:latin typeface="黑体" panose="02010609060101010101" pitchFamily="49" charset="-122"/>
                <a:ea typeface="黑体" panose="02010609060101010101" pitchFamily="49" charset="-122"/>
              </a:rPr>
              <a:t>semaphore</a:t>
            </a:r>
            <a:r>
              <a:rPr lang="zh-CN" altLang="en-US" b="1" dirty="0">
                <a:solidFill>
                  <a:srgbClr val="FFFF00"/>
                </a:solidFill>
                <a:effectLst/>
                <a:latin typeface="黑体" panose="02010609060101010101" pitchFamily="49" charset="-122"/>
                <a:ea typeface="黑体" panose="02010609060101010101" pitchFamily="49" charset="-122"/>
              </a:rPr>
              <a:t>）机制，这是一种卓有成效的进程互斥同步工具，已被广泛应用于现代计算机系统中 </a:t>
            </a:r>
          </a:p>
        </p:txBody>
      </p:sp>
      <p:sp>
        <p:nvSpPr>
          <p:cNvPr id="537603" name="Rectangle 3">
            <a:extLst>
              <a:ext uri="{FF2B5EF4-FFF2-40B4-BE49-F238E27FC236}">
                <a16:creationId xmlns:a16="http://schemas.microsoft.com/office/drawing/2014/main" id="{2CA8E903-30FB-4F91-A44D-BAFB8047120C}"/>
              </a:ext>
            </a:extLst>
          </p:cNvPr>
          <p:cNvSpPr>
            <a:spLocks noGrp="1" noChangeArrowheads="1"/>
          </p:cNvSpPr>
          <p:nvPr>
            <p:ph type="title"/>
          </p:nvPr>
        </p:nvSpPr>
        <p:spPr>
          <a:xfrm>
            <a:off x="611188" y="404813"/>
            <a:ext cx="7429500" cy="803275"/>
          </a:xfrm>
        </p:spPr>
        <p:txBody>
          <a:bodyPr anchor="b" anchorCtr="0"/>
          <a:lstStyle/>
          <a:p>
            <a:pPr eaLnBrk="1" hangingPunct="1">
              <a:defRPr/>
            </a:pPr>
            <a:r>
              <a:rPr lang="en-US" altLang="zh-CN" sz="4800" b="1">
                <a:solidFill>
                  <a:schemeClr val="tx1"/>
                </a:solidFill>
                <a:effectLst>
                  <a:outerShdw blurRad="38100" dist="38100" dir="2700000" algn="tl">
                    <a:srgbClr val="010199"/>
                  </a:outerShdw>
                </a:effectLst>
                <a:latin typeface="楷体_GB2312" pitchFamily="49" charset="-122"/>
                <a:ea typeface="楷体_GB2312" pitchFamily="49" charset="-122"/>
              </a:rPr>
              <a:t>3.4.4 </a:t>
            </a:r>
            <a:r>
              <a:rPr lang="zh-CN" altLang="en-US" sz="4800" b="1">
                <a:solidFill>
                  <a:schemeClr val="tx1"/>
                </a:solidFill>
                <a:effectLst>
                  <a:outerShdw blurRad="38100" dist="38100" dir="2700000" algn="tl">
                    <a:srgbClr val="010199"/>
                  </a:outerShdw>
                </a:effectLst>
                <a:latin typeface="楷体_GB2312" pitchFamily="49" charset="-122"/>
                <a:ea typeface="楷体_GB2312" pitchFamily="49" charset="-122"/>
              </a:rPr>
              <a:t>信号量机制</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0C5CF4B-1EE5-47F6-B6FD-7F8185EB69FD}"/>
              </a:ext>
            </a:extLst>
          </p:cNvPr>
          <p:cNvSpPr>
            <a:spLocks noGrp="1" noChangeArrowheads="1"/>
          </p:cNvSpPr>
          <p:nvPr>
            <p:ph type="body" idx="1"/>
          </p:nvPr>
        </p:nvSpPr>
        <p:spPr>
          <a:xfrm>
            <a:off x="647948" y="1628800"/>
            <a:ext cx="7848103" cy="4210050"/>
          </a:xfrm>
        </p:spPr>
        <p:txBody>
          <a:bodyPr/>
          <a:lstStyle/>
          <a:p>
            <a:pPr algn="just" eaLnBrk="1" hangingPunct="1">
              <a:lnSpc>
                <a:spcPts val="4100"/>
              </a:lnSpc>
            </a:pPr>
            <a:r>
              <a:rPr lang="zh-CN" altLang="en-US" b="1" dirty="0">
                <a:solidFill>
                  <a:srgbClr val="FFFF00"/>
                </a:solidFill>
                <a:effectLst/>
                <a:latin typeface="黑体" panose="02010609060101010101" pitchFamily="49" charset="-122"/>
                <a:ea typeface="黑体" panose="02010609060101010101" pitchFamily="49" charset="-122"/>
              </a:rPr>
              <a:t>信号量和</a:t>
            </a:r>
            <a:r>
              <a:rPr lang="en-US" altLang="zh-CN" b="1" dirty="0">
                <a:solidFill>
                  <a:srgbClr val="FFFF00"/>
                </a:solidFill>
                <a:effectLst/>
                <a:latin typeface="黑体" panose="02010609060101010101" pitchFamily="49" charset="-122"/>
                <a:ea typeface="黑体" panose="02010609060101010101" pitchFamily="49" charset="-122"/>
              </a:rPr>
              <a:t>P</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V</a:t>
            </a:r>
            <a:r>
              <a:rPr lang="zh-CN" altLang="en-US" b="1" dirty="0">
                <a:solidFill>
                  <a:srgbClr val="FFFF00"/>
                </a:solidFill>
                <a:effectLst/>
                <a:latin typeface="黑体" panose="02010609060101010101" pitchFamily="49" charset="-122"/>
                <a:ea typeface="黑体" panose="02010609060101010101" pitchFamily="49" charset="-122"/>
              </a:rPr>
              <a:t>操作 ，将交通管制中多种颜色的信号灯管理交通的方法引入操作系统，让两个或多个进程通过特殊变量展开交互。</a:t>
            </a:r>
            <a:endParaRPr lang="en-US" altLang="zh-CN" b="1" dirty="0">
              <a:solidFill>
                <a:srgbClr val="FFFF00"/>
              </a:solidFill>
              <a:effectLst/>
              <a:latin typeface="黑体" panose="02010609060101010101" pitchFamily="49" charset="-122"/>
              <a:ea typeface="黑体" panose="02010609060101010101" pitchFamily="49" charset="-122"/>
            </a:endParaRPr>
          </a:p>
          <a:p>
            <a:pPr algn="just" eaLnBrk="1" hangingPunct="1">
              <a:lnSpc>
                <a:spcPts val="4100"/>
              </a:lnSpc>
            </a:pPr>
            <a:r>
              <a:rPr lang="zh-CN" altLang="en-US" b="1" dirty="0">
                <a:solidFill>
                  <a:srgbClr val="FFFF00"/>
                </a:solidFill>
                <a:effectLst/>
                <a:latin typeface="黑体" panose="02010609060101010101" pitchFamily="49" charset="-122"/>
                <a:ea typeface="黑体" panose="02010609060101010101" pitchFamily="49" charset="-122"/>
              </a:rPr>
              <a:t>铁路站台</a:t>
            </a:r>
          </a:p>
          <a:p>
            <a:pPr eaLnBrk="1" hangingPunct="1">
              <a:lnSpc>
                <a:spcPts val="4100"/>
              </a:lnSpc>
              <a:buFont typeface="Wingdings" panose="05000000000000000000" pitchFamily="2" charset="2"/>
              <a:buNone/>
            </a:pPr>
            <a:endParaRPr lang="en-US" altLang="zh-CN" b="1" dirty="0">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transition>
    <p:checke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50C2668-B46F-4453-B452-F09AFBD2D11E}"/>
              </a:ext>
            </a:extLst>
          </p:cNvPr>
          <p:cNvSpPr>
            <a:spLocks noGrp="1" noChangeArrowheads="1"/>
          </p:cNvSpPr>
          <p:nvPr>
            <p:ph type="body" idx="1"/>
          </p:nvPr>
        </p:nvSpPr>
        <p:spPr>
          <a:xfrm>
            <a:off x="468313" y="1412875"/>
            <a:ext cx="8137525" cy="5170488"/>
          </a:xfrm>
        </p:spPr>
        <p:txBody>
          <a:bodyPr/>
          <a:lstStyle/>
          <a:p>
            <a:pPr algn="just" eaLnBrk="1" hangingPunct="1"/>
            <a:r>
              <a:rPr lang="zh-CN" altLang="en-US" b="1" dirty="0">
                <a:solidFill>
                  <a:srgbClr val="FFFF00"/>
                </a:solidFill>
                <a:effectLst/>
                <a:latin typeface="宋体" panose="02010600030101010101" pitchFamily="2" charset="-122"/>
                <a:ea typeface="黑体" panose="02010609060101010101" pitchFamily="49" charset="-122"/>
              </a:rPr>
              <a:t>操作系统中，信号量表示物理资源的实体，它是整型变量。</a:t>
            </a:r>
          </a:p>
          <a:p>
            <a:pPr algn="just" eaLnBrk="1" hangingPunct="1"/>
            <a:r>
              <a:rPr lang="zh-CN" altLang="en-US" b="1" dirty="0">
                <a:solidFill>
                  <a:srgbClr val="FFFF00"/>
                </a:solidFill>
                <a:effectLst/>
                <a:latin typeface="宋体" panose="02010600030101010101" pitchFamily="2" charset="-122"/>
                <a:ea typeface="黑体" panose="02010609060101010101" pitchFamily="49" charset="-122"/>
              </a:rPr>
              <a:t>实现时，信号量是一种记录型数据结构，有两个分量：一个是信号量的值，另一个是信号量队列的队列指针。</a:t>
            </a:r>
          </a:p>
        </p:txBody>
      </p:sp>
    </p:spTree>
  </p:cSld>
  <p:clrMapOvr>
    <a:masterClrMapping/>
  </p:clrMapOvr>
  <p:transition>
    <p:checke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a:extLst>
              <a:ext uri="{FF2B5EF4-FFF2-40B4-BE49-F238E27FC236}">
                <a16:creationId xmlns:a16="http://schemas.microsoft.com/office/drawing/2014/main" id="{D80FBB88-D188-4AE8-9155-3EBFAAFEC03D}"/>
              </a:ext>
            </a:extLst>
          </p:cNvPr>
          <p:cNvSpPr>
            <a:spLocks noGrp="1" noChangeArrowheads="1"/>
          </p:cNvSpPr>
          <p:nvPr>
            <p:ph type="title"/>
          </p:nvPr>
        </p:nvSpPr>
        <p:spPr>
          <a:xfrm>
            <a:off x="611188" y="0"/>
            <a:ext cx="7085012" cy="898525"/>
          </a:xfrm>
        </p:spPr>
        <p:txBody>
          <a:bodyPr/>
          <a:lstStyle/>
          <a:p>
            <a:pPr eaLnBrk="1" hangingPunct="1">
              <a:defRPr/>
            </a:pPr>
            <a:r>
              <a:rPr lang="zh-CN" altLang="en-US" b="1">
                <a:solidFill>
                  <a:schemeClr val="tx1"/>
                </a:solidFill>
                <a:effectLst>
                  <a:outerShdw blurRad="38100" dist="38100" dir="2700000" algn="tl">
                    <a:srgbClr val="010199"/>
                  </a:outerShdw>
                </a:effectLst>
                <a:latin typeface="楷体_GB2312" pitchFamily="49" charset="-122"/>
              </a:rPr>
              <a:t>信号量：</a:t>
            </a:r>
            <a:r>
              <a:rPr lang="en-US" altLang="zh-CN" b="1">
                <a:solidFill>
                  <a:schemeClr val="tx1"/>
                </a:solidFill>
                <a:effectLst>
                  <a:outerShdw blurRad="38100" dist="38100" dir="2700000" algn="tl">
                    <a:srgbClr val="010199"/>
                  </a:outerShdw>
                </a:effectLst>
                <a:latin typeface="楷体_GB2312" pitchFamily="49" charset="-122"/>
              </a:rPr>
              <a:t>semaphore</a:t>
            </a:r>
          </a:p>
        </p:txBody>
      </p:sp>
      <p:sp>
        <p:nvSpPr>
          <p:cNvPr id="36867" name="Rectangle 3">
            <a:extLst>
              <a:ext uri="{FF2B5EF4-FFF2-40B4-BE49-F238E27FC236}">
                <a16:creationId xmlns:a16="http://schemas.microsoft.com/office/drawing/2014/main" id="{7D6B72DB-A297-49F9-9B2D-02D69CC293B7}"/>
              </a:ext>
            </a:extLst>
          </p:cNvPr>
          <p:cNvSpPr>
            <a:spLocks noGrp="1" noChangeArrowheads="1"/>
          </p:cNvSpPr>
          <p:nvPr>
            <p:ph type="body" idx="1"/>
          </p:nvPr>
        </p:nvSpPr>
        <p:spPr>
          <a:xfrm>
            <a:off x="971550" y="1196975"/>
            <a:ext cx="7615238" cy="5661025"/>
          </a:xfrm>
        </p:spPr>
        <p:txBody>
          <a:bodyPr/>
          <a:lstStyle/>
          <a:p>
            <a:pPr eaLnBrk="1" hangingPunct="1">
              <a:lnSpc>
                <a:spcPct val="90000"/>
              </a:lnSpc>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是一个数据结构</a:t>
            </a:r>
          </a:p>
          <a:p>
            <a:pPr eaLnBrk="1" hangingPunct="1">
              <a:lnSpc>
                <a:spcPct val="90000"/>
              </a:lnSpc>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定义如下： </a:t>
            </a:r>
          </a:p>
          <a:p>
            <a:pPr eaLnBrk="1" hangingPunct="1">
              <a:lnSpc>
                <a:spcPct val="90000"/>
              </a:lnSpc>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struct semaphore</a:t>
            </a:r>
          </a:p>
          <a:p>
            <a:pPr eaLnBrk="1" hangingPunct="1">
              <a:lnSpc>
                <a:spcPct val="90000"/>
              </a:lnSpc>
              <a:buFont typeface="Wingdings" panose="05000000000000000000" pitchFamily="2" charset="2"/>
              <a:buNone/>
            </a:pPr>
            <a:r>
              <a:rPr lang="en-US" altLang="zh-CN" b="1">
                <a:solidFill>
                  <a:srgbClr val="FFFF00"/>
                </a:solidFill>
                <a:effectLst/>
                <a:latin typeface="黑体" panose="02010609060101010101" pitchFamily="49" charset="-122"/>
                <a:ea typeface="黑体" panose="02010609060101010101" pitchFamily="49" charset="-122"/>
              </a:rPr>
              <a:t> {</a:t>
            </a:r>
          </a:p>
          <a:p>
            <a:pPr eaLnBrk="1" hangingPunct="1">
              <a:lnSpc>
                <a:spcPct val="90000"/>
              </a:lnSpc>
              <a:buFont typeface="Wingdings" panose="05000000000000000000" pitchFamily="2" charset="2"/>
              <a:buNone/>
            </a:pPr>
            <a:r>
              <a:rPr lang="en-US" altLang="zh-CN" b="1">
                <a:solidFill>
                  <a:srgbClr val="FFFF00"/>
                </a:solidFill>
                <a:effectLst/>
                <a:latin typeface="黑体" panose="02010609060101010101" pitchFamily="49" charset="-122"/>
                <a:ea typeface="黑体" panose="02010609060101010101" pitchFamily="49" charset="-122"/>
              </a:rPr>
              <a:t>	  int value;</a:t>
            </a:r>
          </a:p>
          <a:p>
            <a:pPr eaLnBrk="1" hangingPunct="1">
              <a:lnSpc>
                <a:spcPct val="90000"/>
              </a:lnSpc>
              <a:buFont typeface="Wingdings" panose="05000000000000000000" pitchFamily="2" charset="2"/>
              <a:buNone/>
            </a:pPr>
            <a:r>
              <a:rPr lang="en-US" altLang="zh-CN" b="1">
                <a:solidFill>
                  <a:srgbClr val="FFFF00"/>
                </a:solidFill>
                <a:effectLst/>
                <a:latin typeface="黑体" panose="02010609060101010101" pitchFamily="49" charset="-122"/>
                <a:ea typeface="黑体" panose="02010609060101010101" pitchFamily="49" charset="-122"/>
              </a:rPr>
              <a:t>	  pointer_PCB queue;</a:t>
            </a:r>
          </a:p>
          <a:p>
            <a:pPr eaLnBrk="1" hangingPunct="1">
              <a:lnSpc>
                <a:spcPct val="90000"/>
              </a:lnSpc>
              <a:buFont typeface="Wingdings" panose="05000000000000000000" pitchFamily="2" charset="2"/>
              <a:buNone/>
            </a:pPr>
            <a:r>
              <a:rPr lang="en-US" altLang="zh-CN" b="1">
                <a:solidFill>
                  <a:srgbClr val="FFFF00"/>
                </a:solidFill>
                <a:effectLst/>
                <a:latin typeface="黑体" panose="02010609060101010101" pitchFamily="49" charset="-122"/>
                <a:ea typeface="黑体" panose="02010609060101010101" pitchFamily="49" charset="-122"/>
              </a:rPr>
              <a:t>  }</a:t>
            </a:r>
          </a:p>
          <a:p>
            <a:pPr eaLnBrk="1" hangingPunct="1">
              <a:lnSpc>
                <a:spcPct val="90000"/>
              </a:lnSpc>
              <a:buFont typeface="Wingdings" panose="05000000000000000000" pitchFamily="2" charset="2"/>
              <a:buNone/>
            </a:pPr>
            <a:endParaRPr lang="en-US" altLang="zh-CN" b="1">
              <a:solidFill>
                <a:srgbClr val="FFFF00"/>
              </a:solidFill>
              <a:effectLst/>
              <a:latin typeface="黑体" panose="02010609060101010101" pitchFamily="49" charset="-122"/>
              <a:ea typeface="黑体" panose="02010609060101010101" pitchFamily="49" charset="-122"/>
            </a:endParaRPr>
          </a:p>
          <a:p>
            <a:pPr eaLnBrk="1" hangingPunct="1">
              <a:lnSpc>
                <a:spcPct val="90000"/>
              </a:lnSpc>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信号量说明：</a:t>
            </a:r>
          </a:p>
          <a:p>
            <a:pPr eaLnBrk="1" hangingPunct="1">
              <a:lnSpc>
                <a:spcPct val="90000"/>
              </a:lnSpc>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semaphore 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0FADB9B2-20FD-447F-9C54-A6CDEA9A7128}"/>
              </a:ext>
            </a:extLst>
          </p:cNvPr>
          <p:cNvSpPr>
            <a:spLocks noGrp="1" noChangeArrowheads="1"/>
          </p:cNvSpPr>
          <p:nvPr>
            <p:ph type="body" idx="1"/>
          </p:nvPr>
        </p:nvSpPr>
        <p:spPr>
          <a:xfrm>
            <a:off x="611188" y="2205038"/>
            <a:ext cx="7848600" cy="3455987"/>
          </a:xfrm>
          <a:noFill/>
          <a:extLst>
            <a:ext uri="{909E8E84-426E-40DD-AFC4-6F175D3DCCD1}">
              <a14:hiddenFill xmlns:a14="http://schemas.microsoft.com/office/drawing/2010/main">
                <a:solidFill>
                  <a:schemeClr val="accent1"/>
                </a:solidFill>
              </a14:hiddenFill>
            </a:ext>
          </a:extLst>
        </p:spPr>
        <p:txBody>
          <a:bodyPr/>
          <a:lstStyle/>
          <a:p>
            <a:pPr eaLnBrk="1" hangingPunct="1">
              <a:lnSpc>
                <a:spcPct val="80000"/>
              </a:lnSpc>
              <a:buFont typeface="Wingdings" panose="05000000000000000000" pitchFamily="2" charset="2"/>
              <a:buChar char="Ø"/>
            </a:pPr>
            <a:r>
              <a:rPr lang="zh-CN" altLang="en-US" sz="4000" b="1">
                <a:solidFill>
                  <a:srgbClr val="FFFF00"/>
                </a:solidFill>
                <a:effectLst/>
                <a:latin typeface="黑体" panose="02010609060101010101" pitchFamily="49" charset="-122"/>
                <a:ea typeface="黑体" panose="02010609060101010101" pitchFamily="49" charset="-122"/>
              </a:rPr>
              <a:t>必须置一次且只能置一次初值</a:t>
            </a:r>
          </a:p>
          <a:p>
            <a:pPr eaLnBrk="1" hangingPunct="1">
              <a:lnSpc>
                <a:spcPct val="80000"/>
              </a:lnSpc>
              <a:buFont typeface="Wingdings" panose="05000000000000000000" pitchFamily="2" charset="2"/>
              <a:buChar char="Ø"/>
            </a:pPr>
            <a:r>
              <a:rPr lang="zh-CN" altLang="en-US" sz="4000" b="1">
                <a:solidFill>
                  <a:srgbClr val="FFFF00"/>
                </a:solidFill>
                <a:effectLst/>
                <a:latin typeface="黑体" panose="02010609060101010101" pitchFamily="49" charset="-122"/>
                <a:ea typeface="黑体" panose="02010609060101010101" pitchFamily="49" charset="-122"/>
              </a:rPr>
              <a:t>初值不能为负数</a:t>
            </a:r>
          </a:p>
          <a:p>
            <a:pPr eaLnBrk="1" hangingPunct="1">
              <a:lnSpc>
                <a:spcPct val="80000"/>
              </a:lnSpc>
              <a:buFont typeface="Wingdings" panose="05000000000000000000" pitchFamily="2" charset="2"/>
              <a:buChar char="Ø"/>
            </a:pPr>
            <a:r>
              <a:rPr lang="zh-CN" altLang="en-US" sz="4000" b="1">
                <a:solidFill>
                  <a:srgbClr val="FFFF00"/>
                </a:solidFill>
                <a:effectLst/>
                <a:latin typeface="黑体" panose="02010609060101010101" pitchFamily="49" charset="-122"/>
                <a:ea typeface="黑体" panose="02010609060101010101" pitchFamily="49" charset="-122"/>
              </a:rPr>
              <a:t>必须说明该信号量所代表的意义</a:t>
            </a:r>
          </a:p>
          <a:p>
            <a:pPr eaLnBrk="1" hangingPunct="1">
              <a:lnSpc>
                <a:spcPct val="80000"/>
              </a:lnSpc>
              <a:buFont typeface="Wingdings" panose="05000000000000000000" pitchFamily="2" charset="2"/>
              <a:buChar char="Ø"/>
            </a:pPr>
            <a:r>
              <a:rPr lang="zh-CN" altLang="en-US" sz="4000" b="1">
                <a:solidFill>
                  <a:srgbClr val="FFFF00"/>
                </a:solidFill>
                <a:effectLst/>
                <a:latin typeface="黑体" panose="02010609060101010101" pitchFamily="49" charset="-122"/>
                <a:ea typeface="黑体" panose="02010609060101010101" pitchFamily="49" charset="-122"/>
              </a:rPr>
              <a:t>只能执行</a:t>
            </a:r>
            <a:r>
              <a:rPr lang="en-US" altLang="zh-CN" sz="4000" b="1">
                <a:solidFill>
                  <a:srgbClr val="FFFF00"/>
                </a:solidFill>
                <a:effectLst/>
                <a:latin typeface="黑体" panose="02010609060101010101" pitchFamily="49" charset="-122"/>
                <a:ea typeface="黑体" panose="02010609060101010101" pitchFamily="49" charset="-122"/>
              </a:rPr>
              <a:t>P</a:t>
            </a:r>
            <a:r>
              <a:rPr lang="zh-CN" altLang="en-US" sz="4000" b="1">
                <a:solidFill>
                  <a:srgbClr val="FFFF00"/>
                </a:solidFill>
                <a:effectLst/>
                <a:latin typeface="黑体" panose="02010609060101010101" pitchFamily="49" charset="-122"/>
                <a:ea typeface="黑体" panose="02010609060101010101" pitchFamily="49" charset="-122"/>
              </a:rPr>
              <a:t>、</a:t>
            </a:r>
            <a:r>
              <a:rPr lang="en-US" altLang="zh-CN" sz="4000" b="1">
                <a:solidFill>
                  <a:srgbClr val="FFFF00"/>
                </a:solidFill>
                <a:effectLst/>
                <a:latin typeface="黑体" panose="02010609060101010101" pitchFamily="49" charset="-122"/>
                <a:ea typeface="黑体" panose="02010609060101010101" pitchFamily="49" charset="-122"/>
              </a:rPr>
              <a:t>V</a:t>
            </a:r>
            <a:r>
              <a:rPr lang="zh-CN" altLang="en-US" sz="4000" b="1">
                <a:solidFill>
                  <a:srgbClr val="FFFF00"/>
                </a:solidFill>
                <a:effectLst/>
                <a:latin typeface="黑体" panose="02010609060101010101" pitchFamily="49" charset="-122"/>
                <a:ea typeface="黑体" panose="02010609060101010101" pitchFamily="49" charset="-122"/>
              </a:rPr>
              <a:t>操作</a:t>
            </a:r>
          </a:p>
        </p:txBody>
      </p:sp>
      <p:sp>
        <p:nvSpPr>
          <p:cNvPr id="379907" name="Rectangle 3">
            <a:extLst>
              <a:ext uri="{FF2B5EF4-FFF2-40B4-BE49-F238E27FC236}">
                <a16:creationId xmlns:a16="http://schemas.microsoft.com/office/drawing/2014/main" id="{94A3FEE6-E00F-41ED-9C58-C93DB8C385BC}"/>
              </a:ext>
            </a:extLst>
          </p:cNvPr>
          <p:cNvSpPr>
            <a:spLocks noGrp="1" noChangeArrowheads="1"/>
          </p:cNvSpPr>
          <p:nvPr>
            <p:ph type="title"/>
          </p:nvPr>
        </p:nvSpPr>
        <p:spPr>
          <a:xfrm>
            <a:off x="684213" y="476250"/>
            <a:ext cx="7429500" cy="946150"/>
          </a:xfrm>
        </p:spPr>
        <p:txBody>
          <a:bodyPr anchor="b" anchorCtr="0"/>
          <a:lstStyle/>
          <a:p>
            <a:pPr eaLnBrk="1" hangingPunct="1">
              <a:defRPr/>
            </a:pPr>
            <a:r>
              <a:rPr lang="zh-CN" altLang="en-US" sz="4800" b="1">
                <a:solidFill>
                  <a:schemeClr val="tx1"/>
                </a:solidFill>
                <a:effectLst>
                  <a:outerShdw blurRad="38100" dist="38100" dir="2700000" algn="tl">
                    <a:srgbClr val="010199"/>
                  </a:outerShdw>
                </a:effectLst>
                <a:latin typeface="楷体_GB2312" pitchFamily="49" charset="-122"/>
              </a:rPr>
              <a:t>信号量的使用</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8D3EEE0-4957-4C2E-806C-0696AC20A1F3}"/>
              </a:ext>
            </a:extLst>
          </p:cNvPr>
          <p:cNvSpPr>
            <a:spLocks noGrp="1" noChangeArrowheads="1"/>
          </p:cNvSpPr>
          <p:nvPr>
            <p:ph type="body" idx="1"/>
          </p:nvPr>
        </p:nvSpPr>
        <p:spPr>
          <a:xfrm>
            <a:off x="468313" y="765175"/>
            <a:ext cx="8351837" cy="5322888"/>
          </a:xfrm>
        </p:spPr>
        <p:txBody>
          <a:bodyPr/>
          <a:lstStyle/>
          <a:p>
            <a:pPr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2. P,V</a:t>
            </a:r>
            <a:r>
              <a:rPr lang="zh-CN" altLang="en-US" sz="3600" b="1">
                <a:solidFill>
                  <a:srgbClr val="FFFF00"/>
                </a:solidFill>
                <a:effectLst/>
                <a:latin typeface="黑体" panose="02010609060101010101" pitchFamily="49" charset="-122"/>
                <a:ea typeface="黑体" panose="02010609060101010101" pitchFamily="49" charset="-122"/>
              </a:rPr>
              <a:t>原语</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原语的执行必须是连续的，在执行过程中不允许被中断</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信号量</a:t>
            </a:r>
            <a:r>
              <a:rPr lang="en-US" altLang="zh-CN" sz="3600" b="1">
                <a:solidFill>
                  <a:srgbClr val="FFFF00"/>
                </a:solidFill>
                <a:effectLst/>
                <a:latin typeface="黑体" panose="02010609060101010101" pitchFamily="49" charset="-122"/>
                <a:ea typeface="黑体" panose="02010609060101010101" pitchFamily="49" charset="-122"/>
              </a:rPr>
              <a:t>sem</a:t>
            </a:r>
            <a:r>
              <a:rPr lang="zh-CN" altLang="en-US" sz="3600" b="1">
                <a:solidFill>
                  <a:srgbClr val="FFFF00"/>
                </a:solidFill>
                <a:effectLst/>
                <a:latin typeface="黑体" panose="02010609060101010101" pitchFamily="49" charset="-122"/>
                <a:ea typeface="黑体" panose="02010609060101010101" pitchFamily="49" charset="-122"/>
              </a:rPr>
              <a:t>是与临界区内的临界资源有关的信号量</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一次</a:t>
            </a:r>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原语操作使得</a:t>
            </a:r>
            <a:r>
              <a:rPr lang="en-US" altLang="zh-CN" sz="3600" b="1">
                <a:solidFill>
                  <a:srgbClr val="FFFF00"/>
                </a:solidFill>
                <a:effectLst/>
                <a:latin typeface="黑体" panose="02010609060101010101" pitchFamily="49" charset="-122"/>
                <a:ea typeface="黑体" panose="02010609060101010101" pitchFamily="49" charset="-122"/>
              </a:rPr>
              <a:t>sem.value</a:t>
            </a:r>
            <a:r>
              <a:rPr lang="zh-CN" altLang="en-US" sz="3600" b="1">
                <a:solidFill>
                  <a:srgbClr val="FFFF00"/>
                </a:solidFill>
                <a:effectLst/>
                <a:latin typeface="黑体" panose="02010609060101010101" pitchFamily="49" charset="-122"/>
                <a:ea typeface="黑体" panose="02010609060101010101" pitchFamily="49" charset="-122"/>
              </a:rPr>
              <a:t>减</a:t>
            </a:r>
            <a:r>
              <a:rPr lang="en-US" altLang="zh-CN" sz="3600" b="1">
                <a:solidFill>
                  <a:srgbClr val="FFFF00"/>
                </a:solidFill>
                <a:effectLst/>
                <a:latin typeface="黑体" panose="02010609060101010101" pitchFamily="49" charset="-122"/>
                <a:ea typeface="黑体" panose="02010609060101010101" pitchFamily="49" charset="-122"/>
              </a:rPr>
              <a:t>1</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一次</a:t>
            </a:r>
            <a:r>
              <a:rPr lang="en-US" altLang="zh-CN" sz="3600" b="1">
                <a:solidFill>
                  <a:srgbClr val="FFFF00"/>
                </a:solidFill>
                <a:effectLst/>
                <a:latin typeface="黑体" panose="02010609060101010101" pitchFamily="49" charset="-122"/>
                <a:ea typeface="黑体" panose="02010609060101010101" pitchFamily="49" charset="-122"/>
              </a:rPr>
              <a:t>V</a:t>
            </a:r>
            <a:r>
              <a:rPr lang="zh-CN" altLang="en-US" sz="3600" b="1">
                <a:solidFill>
                  <a:srgbClr val="FFFF00"/>
                </a:solidFill>
                <a:effectLst/>
                <a:latin typeface="黑体" panose="02010609060101010101" pitchFamily="49" charset="-122"/>
                <a:ea typeface="黑体" panose="02010609060101010101" pitchFamily="49" charset="-122"/>
              </a:rPr>
              <a:t>原语操作使得</a:t>
            </a:r>
            <a:r>
              <a:rPr lang="en-US" altLang="zh-CN" sz="3600" b="1">
                <a:solidFill>
                  <a:srgbClr val="FFFF00"/>
                </a:solidFill>
                <a:effectLst/>
                <a:latin typeface="黑体" panose="02010609060101010101" pitchFamily="49" charset="-122"/>
                <a:ea typeface="黑体" panose="02010609060101010101" pitchFamily="49" charset="-122"/>
              </a:rPr>
              <a:t>sem.value</a:t>
            </a:r>
            <a:r>
              <a:rPr lang="zh-CN" altLang="en-US" sz="3600" b="1">
                <a:solidFill>
                  <a:srgbClr val="FFFF00"/>
                </a:solidFill>
                <a:effectLst/>
                <a:latin typeface="黑体" panose="02010609060101010101" pitchFamily="49" charset="-122"/>
                <a:ea typeface="黑体" panose="02010609060101010101" pitchFamily="49" charset="-122"/>
              </a:rPr>
              <a:t>加</a:t>
            </a:r>
            <a:r>
              <a:rPr lang="en-US" altLang="zh-CN" sz="3600" b="1">
                <a:solidFill>
                  <a:srgbClr val="FFFF00"/>
                </a:solidFill>
                <a:effectLst/>
                <a:latin typeface="黑体" panose="02010609060101010101" pitchFamily="49" charset="-122"/>
                <a:ea typeface="黑体" panose="02010609060101010101" pitchFamily="49" charset="-122"/>
              </a:rPr>
              <a:t>1</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4787177-8EDA-4F51-969B-406F905D7804}"/>
              </a:ext>
            </a:extLst>
          </p:cNvPr>
          <p:cNvSpPr>
            <a:spLocks noGrp="1" noChangeArrowheads="1"/>
          </p:cNvSpPr>
          <p:nvPr>
            <p:ph type="body" idx="1"/>
          </p:nvPr>
        </p:nvSpPr>
        <p:spPr>
          <a:xfrm>
            <a:off x="609600" y="981075"/>
            <a:ext cx="8001000" cy="4464050"/>
          </a:xfrm>
        </p:spPr>
        <p:txBody>
          <a:bodyPr/>
          <a:lstStyle/>
          <a:p>
            <a:pPr eaLnBrk="1" hangingPunct="1">
              <a:lnSpc>
                <a:spcPct val="150000"/>
              </a:lnSpc>
              <a:buClr>
                <a:srgbClr val="66FF66"/>
              </a:buClr>
              <a:buSzPct val="115000"/>
              <a:buFont typeface="Wingdings" panose="05000000000000000000" pitchFamily="2" charset="2"/>
              <a:buChar char="Ø"/>
            </a:pPr>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代表荷兰语的</a:t>
            </a:r>
            <a:r>
              <a:rPr lang="en-US" altLang="zh-CN" sz="3600" b="1">
                <a:solidFill>
                  <a:srgbClr val="FFFF00"/>
                </a:solidFill>
                <a:effectLst/>
                <a:latin typeface="黑体" panose="02010609060101010101" pitchFamily="49" charset="-122"/>
                <a:ea typeface="黑体" panose="02010609060101010101" pitchFamily="49" charset="-122"/>
              </a:rPr>
              <a:t>Passeren/proberen</a:t>
            </a:r>
            <a:r>
              <a:rPr lang="zh-CN" altLang="en-US" sz="3600" b="1">
                <a:solidFill>
                  <a:srgbClr val="FFFF00"/>
                </a:solidFill>
                <a:effectLst/>
                <a:latin typeface="黑体" panose="02010609060101010101" pitchFamily="49" charset="-122"/>
                <a:ea typeface="黑体" panose="02010609060101010101" pitchFamily="49" charset="-122"/>
              </a:rPr>
              <a:t>，意为</a:t>
            </a:r>
            <a:r>
              <a:rPr lang="zh-CN" altLang="en-US" sz="3600" b="1">
                <a:solidFill>
                  <a:srgbClr val="FFFF00"/>
                </a:solidFill>
                <a:effectLst/>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通过</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测试或等待</a:t>
            </a:r>
            <a:r>
              <a:rPr lang="zh-CN" altLang="en-US" sz="3600" b="1">
                <a:solidFill>
                  <a:srgbClr val="FFFF00"/>
                </a:solidFill>
                <a:effectLst/>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a:t>
            </a:r>
          </a:p>
          <a:p>
            <a:pPr eaLnBrk="1" hangingPunct="1">
              <a:lnSpc>
                <a:spcPct val="150000"/>
              </a:lnSpc>
              <a:buClr>
                <a:srgbClr val="66FF66"/>
              </a:buClr>
              <a:buSzPct val="115000"/>
              <a:buFont typeface="Wingdings" panose="05000000000000000000" pitchFamily="2" charset="2"/>
              <a:buChar char="Ø"/>
            </a:pPr>
            <a:r>
              <a:rPr lang="en-US" altLang="zh-CN" sz="3600" b="1">
                <a:solidFill>
                  <a:srgbClr val="FFFF00"/>
                </a:solidFill>
                <a:effectLst/>
                <a:latin typeface="黑体" panose="02010609060101010101" pitchFamily="49" charset="-122"/>
                <a:ea typeface="黑体" panose="02010609060101010101" pitchFamily="49" charset="-122"/>
              </a:rPr>
              <a:t>V</a:t>
            </a:r>
            <a:r>
              <a:rPr lang="zh-CN" altLang="en-US" sz="3600" b="1">
                <a:solidFill>
                  <a:srgbClr val="FFFF00"/>
                </a:solidFill>
                <a:effectLst/>
                <a:latin typeface="黑体" panose="02010609060101010101" pitchFamily="49" charset="-122"/>
                <a:ea typeface="黑体" panose="02010609060101010101" pitchFamily="49" charset="-122"/>
              </a:rPr>
              <a:t>代表荷兰语的</a:t>
            </a:r>
            <a:r>
              <a:rPr lang="en-US" altLang="zh-CN" sz="3600" b="1">
                <a:solidFill>
                  <a:srgbClr val="FFFF00"/>
                </a:solidFill>
                <a:effectLst/>
                <a:latin typeface="黑体" panose="02010609060101010101" pitchFamily="49" charset="-122"/>
                <a:ea typeface="黑体" panose="02010609060101010101" pitchFamily="49" charset="-122"/>
              </a:rPr>
              <a:t>Vrijgeren/verhogen</a:t>
            </a:r>
            <a:r>
              <a:rPr lang="zh-CN" altLang="en-US" sz="3600" b="1">
                <a:solidFill>
                  <a:srgbClr val="FFFF00"/>
                </a:solidFill>
                <a:effectLst/>
                <a:latin typeface="黑体" panose="02010609060101010101" pitchFamily="49" charset="-122"/>
                <a:ea typeface="黑体" panose="02010609060101010101" pitchFamily="49" charset="-122"/>
              </a:rPr>
              <a:t>，意为</a:t>
            </a:r>
            <a:r>
              <a:rPr lang="zh-CN" altLang="en-US" sz="3600" b="1">
                <a:solidFill>
                  <a:srgbClr val="FFFF00"/>
                </a:solidFill>
                <a:effectLst/>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释放</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增加或发信号</a:t>
            </a:r>
            <a:r>
              <a:rPr lang="zh-CN" altLang="en-US" sz="3600" b="1">
                <a:solidFill>
                  <a:srgbClr val="FFFF00"/>
                </a:solidFill>
                <a:effectLst/>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 </a:t>
            </a:r>
          </a:p>
        </p:txBody>
      </p:sp>
    </p:spTree>
  </p:cSld>
  <p:clrMapOvr>
    <a:masterClrMapping/>
  </p:clrMapOvr>
  <p:transition spd="slow">
    <p:wipe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2747729-56B4-4E43-9B49-0A64B03293E7}"/>
              </a:ext>
            </a:extLst>
          </p:cNvPr>
          <p:cNvSpPr>
            <a:spLocks noGrp="1" noChangeArrowheads="1"/>
          </p:cNvSpPr>
          <p:nvPr>
            <p:ph type="body" idx="1"/>
          </p:nvPr>
        </p:nvSpPr>
        <p:spPr>
          <a:xfrm>
            <a:off x="611188" y="765175"/>
            <a:ext cx="8229600" cy="5832475"/>
          </a:xfrm>
        </p:spPr>
        <p:txBody>
          <a:bodyPr/>
          <a:lstStyle/>
          <a:p>
            <a:pPr marL="609600" indent="-609600"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原语操作</a:t>
            </a:r>
          </a:p>
          <a:p>
            <a:pPr marL="609600" indent="-609600" eaLnBrk="1" hangingPunct="1">
              <a:buFont typeface="Wingdings" panose="05000000000000000000" pitchFamily="2" charset="2"/>
              <a:buAutoNum type="arabicPeriod"/>
            </a:pPr>
            <a:r>
              <a:rPr lang="en-US" altLang="zh-CN" sz="3600" b="1">
                <a:solidFill>
                  <a:srgbClr val="FFFF00"/>
                </a:solidFill>
                <a:effectLst/>
                <a:latin typeface="黑体" panose="02010609060101010101" pitchFamily="49" charset="-122"/>
                <a:ea typeface="黑体" panose="02010609060101010101" pitchFamily="49" charset="-122"/>
              </a:rPr>
              <a:t>s.value</a:t>
            </a:r>
            <a:r>
              <a:rPr lang="zh-CN" altLang="en-US" sz="3600" b="1">
                <a:solidFill>
                  <a:srgbClr val="FFFF00"/>
                </a:solidFill>
                <a:effectLst/>
                <a:latin typeface="黑体" panose="02010609060101010101" pitchFamily="49" charset="-122"/>
                <a:ea typeface="黑体" panose="02010609060101010101" pitchFamily="49" charset="-122"/>
              </a:rPr>
              <a:t>减</a:t>
            </a:r>
            <a:r>
              <a:rPr lang="en-US" altLang="zh-CN" sz="3600" b="1">
                <a:solidFill>
                  <a:srgbClr val="FFFF00"/>
                </a:solidFill>
                <a:effectLst/>
                <a:latin typeface="黑体" panose="02010609060101010101" pitchFamily="49" charset="-122"/>
                <a:ea typeface="黑体" panose="02010609060101010101" pitchFamily="49" charset="-122"/>
              </a:rPr>
              <a:t>1</a:t>
            </a:r>
          </a:p>
          <a:p>
            <a:pPr marL="609600" indent="-609600" eaLnBrk="1" hangingPunct="1">
              <a:buFont typeface="Wingdings" panose="05000000000000000000" pitchFamily="2" charset="2"/>
              <a:buAutoNum type="arabicPeriod"/>
            </a:pPr>
            <a:r>
              <a:rPr lang="zh-CN" altLang="en-US" sz="3600" b="1">
                <a:solidFill>
                  <a:srgbClr val="FFFF00"/>
                </a:solidFill>
                <a:effectLst/>
                <a:latin typeface="黑体" panose="02010609060101010101" pitchFamily="49" charset="-122"/>
                <a:ea typeface="黑体" panose="02010609060101010101" pitchFamily="49" charset="-122"/>
              </a:rPr>
              <a:t>若</a:t>
            </a:r>
            <a:r>
              <a:rPr lang="en-US" altLang="en-US" sz="3600" b="1">
                <a:solidFill>
                  <a:srgbClr val="FFFF00"/>
                </a:solidFill>
                <a:effectLst/>
                <a:latin typeface="黑体" panose="02010609060101010101" pitchFamily="49" charset="-122"/>
                <a:ea typeface="黑体" panose="02010609060101010101" pitchFamily="49" charset="-122"/>
              </a:rPr>
              <a:t>s.value</a:t>
            </a:r>
            <a:r>
              <a:rPr lang="zh-CN" altLang="en-US" sz="3600" b="1">
                <a:solidFill>
                  <a:srgbClr val="FFFF00"/>
                </a:solidFill>
                <a:effectLst/>
                <a:latin typeface="黑体" panose="02010609060101010101" pitchFamily="49" charset="-122"/>
                <a:ea typeface="黑体" panose="02010609060101010101" pitchFamily="49" charset="-122"/>
              </a:rPr>
              <a:t>减</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后仍大于或等于零，则进程继续执行</a:t>
            </a:r>
          </a:p>
          <a:p>
            <a:pPr marL="609600" indent="-609600" eaLnBrk="1" hangingPunct="1">
              <a:buFont typeface="Wingdings" panose="05000000000000000000" pitchFamily="2" charset="2"/>
              <a:buAutoNum type="arabicPeriod"/>
            </a:pPr>
            <a:r>
              <a:rPr lang="zh-CN" altLang="en-US" sz="3600" b="1">
                <a:solidFill>
                  <a:srgbClr val="FFFF00"/>
                </a:solidFill>
                <a:effectLst/>
                <a:latin typeface="黑体" panose="02010609060101010101" pitchFamily="49" charset="-122"/>
                <a:ea typeface="黑体" panose="02010609060101010101" pitchFamily="49" charset="-122"/>
              </a:rPr>
              <a:t>若</a:t>
            </a:r>
            <a:r>
              <a:rPr lang="en-US" altLang="en-US" sz="3600" b="1">
                <a:solidFill>
                  <a:srgbClr val="FFFF00"/>
                </a:solidFill>
                <a:effectLst/>
                <a:latin typeface="黑体" panose="02010609060101010101" pitchFamily="49" charset="-122"/>
                <a:ea typeface="黑体" panose="02010609060101010101" pitchFamily="49" charset="-122"/>
              </a:rPr>
              <a:t>s.value</a:t>
            </a:r>
            <a:r>
              <a:rPr lang="zh-CN" altLang="en-US" sz="3600" b="1">
                <a:solidFill>
                  <a:srgbClr val="FFFF00"/>
                </a:solidFill>
                <a:effectLst/>
                <a:latin typeface="黑体" panose="02010609060101010101" pitchFamily="49" charset="-122"/>
                <a:ea typeface="黑体" panose="02010609060101010101" pitchFamily="49" charset="-122"/>
              </a:rPr>
              <a:t>减</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后小于零，则进程被阻塞后插入与该信号相对应的队列中，转进程调度</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ED102AE6-4CBC-4853-885A-5987BBD563EE}"/>
              </a:ext>
            </a:extLst>
          </p:cNvPr>
          <p:cNvSpPr>
            <a:spLocks noGrp="1" noChangeArrowheads="1"/>
          </p:cNvSpPr>
          <p:nvPr>
            <p:ph type="title"/>
          </p:nvPr>
        </p:nvSpPr>
        <p:spPr>
          <a:xfrm>
            <a:off x="755650" y="0"/>
            <a:ext cx="7016750" cy="744538"/>
          </a:xfrm>
        </p:spPr>
        <p:txBody>
          <a:bodyPr/>
          <a:lstStyle/>
          <a:p>
            <a:pPr eaLnBrk="1" hangingPunct="1">
              <a:defRPr/>
            </a:pPr>
            <a:r>
              <a:rPr lang="en-US" altLang="zh-CN">
                <a:latin typeface="楷体_GB2312" pitchFamily="49" charset="-122"/>
              </a:rPr>
              <a:t>P</a:t>
            </a:r>
            <a:r>
              <a:rPr lang="zh-CN" altLang="en-US">
                <a:latin typeface="楷体_GB2312" pitchFamily="49" charset="-122"/>
              </a:rPr>
              <a:t>操作</a:t>
            </a:r>
          </a:p>
        </p:txBody>
      </p:sp>
      <p:sp>
        <p:nvSpPr>
          <p:cNvPr id="45059" name="Rectangle 3">
            <a:extLst>
              <a:ext uri="{FF2B5EF4-FFF2-40B4-BE49-F238E27FC236}">
                <a16:creationId xmlns:a16="http://schemas.microsoft.com/office/drawing/2014/main" id="{BE67B47E-951E-4DB9-9BBD-CA52546673D3}"/>
              </a:ext>
            </a:extLst>
          </p:cNvPr>
          <p:cNvSpPr>
            <a:spLocks noGrp="1" noChangeArrowheads="1"/>
          </p:cNvSpPr>
          <p:nvPr>
            <p:ph type="body" idx="1"/>
          </p:nvPr>
        </p:nvSpPr>
        <p:spPr>
          <a:xfrm>
            <a:off x="23813" y="765175"/>
            <a:ext cx="9144000" cy="6092825"/>
          </a:xfrm>
        </p:spPr>
        <p:txBody>
          <a:bodyPr/>
          <a:lstStyle/>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P(S)</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a:t>
            </a:r>
            <a:r>
              <a:rPr lang="en-US" altLang="zh-CN" sz="2800" b="1" dirty="0" err="1">
                <a:solidFill>
                  <a:srgbClr val="FFFF00"/>
                </a:solidFill>
                <a:effectLst/>
                <a:latin typeface="黑体" panose="02010609060101010101" pitchFamily="49" charset="-122"/>
                <a:ea typeface="黑体" panose="02010609060101010101" pitchFamily="49" charset="-122"/>
              </a:rPr>
              <a:t>s.value</a:t>
            </a:r>
            <a:r>
              <a:rPr lang="en-US" altLang="zh-CN" sz="2800" b="1" dirty="0">
                <a:solidFill>
                  <a:srgbClr val="FFFF00"/>
                </a:solidFill>
                <a:effectLst/>
                <a:latin typeface="黑体" panose="02010609060101010101" pitchFamily="49" charset="-122"/>
                <a:ea typeface="黑体" panose="02010609060101010101" pitchFamily="49" charset="-122"/>
              </a:rPr>
              <a:t> = </a:t>
            </a:r>
            <a:r>
              <a:rPr lang="en-US" altLang="zh-CN" sz="2800" b="1" dirty="0" err="1">
                <a:solidFill>
                  <a:srgbClr val="FFFF00"/>
                </a:solidFill>
                <a:effectLst/>
                <a:latin typeface="黑体" panose="02010609060101010101" pitchFamily="49" charset="-122"/>
                <a:ea typeface="黑体" panose="02010609060101010101" pitchFamily="49" charset="-122"/>
              </a:rPr>
              <a:t>s.value</a:t>
            </a:r>
            <a:r>
              <a:rPr lang="en-US" altLang="zh-CN" sz="2800" b="1" dirty="0">
                <a:solidFill>
                  <a:srgbClr val="FFFF00"/>
                </a:solidFill>
                <a:effectLst/>
                <a:latin typeface="黑体" panose="02010609060101010101" pitchFamily="49" charset="-122"/>
                <a:ea typeface="黑体" panose="02010609060101010101" pitchFamily="49" charset="-122"/>
              </a:rPr>
              <a:t> -1 ;</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if (</a:t>
            </a:r>
            <a:r>
              <a:rPr lang="en-US" altLang="zh-CN" sz="2800" b="1" dirty="0" err="1">
                <a:solidFill>
                  <a:srgbClr val="FFFF00"/>
                </a:solidFill>
                <a:effectLst/>
                <a:latin typeface="黑体" panose="02010609060101010101" pitchFamily="49" charset="-122"/>
                <a:ea typeface="黑体" panose="02010609060101010101" pitchFamily="49" charset="-122"/>
              </a:rPr>
              <a:t>s.value</a:t>
            </a:r>
            <a:r>
              <a:rPr lang="en-US" altLang="zh-CN" sz="2800" b="1" dirty="0">
                <a:solidFill>
                  <a:srgbClr val="FFFF00"/>
                </a:solidFill>
                <a:effectLst/>
                <a:latin typeface="黑体" panose="02010609060101010101" pitchFamily="49" charset="-122"/>
                <a:ea typeface="黑体" panose="02010609060101010101" pitchFamily="49" charset="-122"/>
              </a:rPr>
              <a:t> &lt; 0)</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a:t>
            </a:r>
            <a:r>
              <a:rPr lang="zh-CN" altLang="en-US" sz="2800" b="1" dirty="0">
                <a:solidFill>
                  <a:srgbClr val="FFFF00"/>
                </a:solidFill>
                <a:effectLst/>
                <a:latin typeface="黑体" panose="02010609060101010101" pitchFamily="49" charset="-122"/>
                <a:ea typeface="黑体" panose="02010609060101010101" pitchFamily="49" charset="-122"/>
              </a:rPr>
              <a:t>保护当前进程</a:t>
            </a:r>
            <a:r>
              <a:rPr lang="en-US" altLang="zh-CN" sz="2800" b="1" dirty="0">
                <a:solidFill>
                  <a:srgbClr val="FFFF00"/>
                </a:solidFill>
                <a:effectLst/>
                <a:latin typeface="黑体" panose="02010609060101010101" pitchFamily="49" charset="-122"/>
                <a:ea typeface="黑体" panose="02010609060101010101" pitchFamily="49" charset="-122"/>
              </a:rPr>
              <a:t>CPU</a:t>
            </a:r>
            <a:r>
              <a:rPr lang="zh-CN" altLang="en-US" sz="2800" b="1" dirty="0">
                <a:solidFill>
                  <a:srgbClr val="FFFF00"/>
                </a:solidFill>
                <a:effectLst/>
                <a:latin typeface="黑体" panose="02010609060101010101" pitchFamily="49" charset="-122"/>
                <a:ea typeface="黑体" panose="02010609060101010101" pitchFamily="49" charset="-122"/>
              </a:rPr>
              <a:t>现场</a:t>
            </a:r>
          </a:p>
          <a:p>
            <a:pPr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      该进程状态置为等待状态</a:t>
            </a:r>
          </a:p>
          <a:p>
            <a:pPr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      将该进程的</a:t>
            </a:r>
            <a:r>
              <a:rPr lang="en-US" altLang="zh-CN" sz="2800" b="1" dirty="0">
                <a:solidFill>
                  <a:srgbClr val="FFFF00"/>
                </a:solidFill>
                <a:effectLst/>
                <a:latin typeface="黑体" panose="02010609060101010101" pitchFamily="49" charset="-122"/>
                <a:ea typeface="黑体" panose="02010609060101010101" pitchFamily="49" charset="-122"/>
              </a:rPr>
              <a:t>PCB</a:t>
            </a:r>
            <a:r>
              <a:rPr lang="zh-CN" altLang="en-US" sz="2800" b="1" dirty="0">
                <a:solidFill>
                  <a:srgbClr val="FFFF00"/>
                </a:solidFill>
                <a:effectLst/>
                <a:latin typeface="黑体" panose="02010609060101010101" pitchFamily="49" charset="-122"/>
                <a:ea typeface="黑体" panose="02010609060101010101" pitchFamily="49" charset="-122"/>
              </a:rPr>
              <a:t>插入相应的等待队列末尾</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a:t>
            </a:r>
            <a:r>
              <a:rPr lang="zh-CN" altLang="en-US" sz="2800" b="1" dirty="0">
                <a:solidFill>
                  <a:srgbClr val="FFFF00"/>
                </a:solidFill>
                <a:effectLst/>
                <a:latin typeface="黑体" panose="02010609060101010101" pitchFamily="49" charset="-122"/>
                <a:ea typeface="黑体" panose="02010609060101010101" pitchFamily="49" charset="-122"/>
              </a:rPr>
              <a:t>转进程调度</a:t>
            </a:r>
          </a:p>
          <a:p>
            <a:pPr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  </a:t>
            </a:r>
            <a:r>
              <a:rPr lang="en-US" altLang="zh-CN" sz="2800" b="1" dirty="0">
                <a:solidFill>
                  <a:srgbClr val="FFFF00"/>
                </a:solidFill>
                <a:effectLst/>
                <a:latin typeface="黑体" panose="02010609060101010101" pitchFamily="49" charset="-122"/>
                <a:ea typeface="黑体" panose="02010609060101010101" pitchFamily="49" charset="-122"/>
              </a:rPr>
              <a:t>}else return</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15B9071-165D-4297-B7F7-08D8A6505B2A}"/>
              </a:ext>
            </a:extLst>
          </p:cNvPr>
          <p:cNvSpPr>
            <a:spLocks noGrp="1" noChangeArrowheads="1"/>
          </p:cNvSpPr>
          <p:nvPr>
            <p:ph type="body" idx="1"/>
          </p:nvPr>
        </p:nvSpPr>
        <p:spPr>
          <a:xfrm>
            <a:off x="611188" y="620713"/>
            <a:ext cx="8229600" cy="5759450"/>
          </a:xfrm>
        </p:spPr>
        <p:txBody>
          <a:bodyPr/>
          <a:lstStyle/>
          <a:p>
            <a:pPr marL="609600" indent="-609600"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V</a:t>
            </a:r>
            <a:r>
              <a:rPr lang="zh-CN" altLang="en-US" sz="3600" b="1">
                <a:solidFill>
                  <a:srgbClr val="FFFF00"/>
                </a:solidFill>
                <a:effectLst/>
                <a:latin typeface="黑体" panose="02010609060101010101" pitchFamily="49" charset="-122"/>
                <a:ea typeface="黑体" panose="02010609060101010101" pitchFamily="49" charset="-122"/>
              </a:rPr>
              <a:t>原语操作</a:t>
            </a:r>
          </a:p>
          <a:p>
            <a:pPr marL="609600" indent="-609600" eaLnBrk="1" hangingPunct="1">
              <a:buFont typeface="Wingdings" panose="05000000000000000000" pitchFamily="2" charset="2"/>
              <a:buAutoNum type="arabicPeriod"/>
            </a:pPr>
            <a:r>
              <a:rPr lang="en-US" altLang="en-US" sz="3600" b="1">
                <a:solidFill>
                  <a:srgbClr val="FFFF00"/>
                </a:solidFill>
                <a:effectLst/>
                <a:latin typeface="黑体" panose="02010609060101010101" pitchFamily="49" charset="-122"/>
                <a:ea typeface="黑体" panose="02010609060101010101" pitchFamily="49" charset="-122"/>
              </a:rPr>
              <a:t>s.value</a:t>
            </a:r>
            <a:r>
              <a:rPr lang="zh-CN" altLang="en-US" sz="3600" b="1">
                <a:solidFill>
                  <a:srgbClr val="FFFF00"/>
                </a:solidFill>
                <a:effectLst/>
                <a:latin typeface="黑体" panose="02010609060101010101" pitchFamily="49" charset="-122"/>
                <a:ea typeface="黑体" panose="02010609060101010101" pitchFamily="49" charset="-122"/>
              </a:rPr>
              <a:t>加</a:t>
            </a:r>
            <a:r>
              <a:rPr lang="en-US" altLang="zh-CN" sz="3600" b="1">
                <a:solidFill>
                  <a:srgbClr val="FFFF00"/>
                </a:solidFill>
                <a:effectLst/>
                <a:latin typeface="黑体" panose="02010609060101010101" pitchFamily="49" charset="-122"/>
                <a:ea typeface="黑体" panose="02010609060101010101" pitchFamily="49" charset="-122"/>
              </a:rPr>
              <a:t>1</a:t>
            </a:r>
          </a:p>
          <a:p>
            <a:pPr marL="609600" indent="-609600" eaLnBrk="1" hangingPunct="1">
              <a:buFont typeface="Wingdings" panose="05000000000000000000" pitchFamily="2" charset="2"/>
              <a:buAutoNum type="arabicPeriod"/>
            </a:pPr>
            <a:r>
              <a:rPr lang="zh-CN" altLang="en-US" sz="3600" b="1">
                <a:solidFill>
                  <a:srgbClr val="FFFF00"/>
                </a:solidFill>
                <a:effectLst/>
                <a:latin typeface="黑体" panose="02010609060101010101" pitchFamily="49" charset="-122"/>
                <a:ea typeface="黑体" panose="02010609060101010101" pitchFamily="49" charset="-122"/>
              </a:rPr>
              <a:t>若</a:t>
            </a:r>
            <a:r>
              <a:rPr lang="en-US" altLang="en-US" sz="3600" b="1">
                <a:solidFill>
                  <a:srgbClr val="FFFF00"/>
                </a:solidFill>
                <a:effectLst/>
                <a:latin typeface="黑体" panose="02010609060101010101" pitchFamily="49" charset="-122"/>
                <a:ea typeface="黑体" panose="02010609060101010101" pitchFamily="49" charset="-122"/>
              </a:rPr>
              <a:t>s.value</a:t>
            </a:r>
            <a:r>
              <a:rPr lang="zh-CN" altLang="en-US" sz="3600" b="1">
                <a:solidFill>
                  <a:srgbClr val="FFFF00"/>
                </a:solidFill>
                <a:effectLst/>
                <a:latin typeface="黑体" panose="02010609060101010101" pitchFamily="49" charset="-122"/>
                <a:ea typeface="黑体" panose="02010609060101010101" pitchFamily="49" charset="-122"/>
              </a:rPr>
              <a:t>加</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后大于零，则进程继续执行</a:t>
            </a:r>
          </a:p>
          <a:p>
            <a:pPr marL="609600" indent="-609600" eaLnBrk="1" hangingPunct="1">
              <a:buFont typeface="Wingdings" panose="05000000000000000000" pitchFamily="2" charset="2"/>
              <a:buAutoNum type="arabicPeriod"/>
            </a:pPr>
            <a:r>
              <a:rPr lang="zh-CN" altLang="en-US" sz="3600" b="1">
                <a:solidFill>
                  <a:srgbClr val="FFFF00"/>
                </a:solidFill>
                <a:effectLst/>
                <a:latin typeface="黑体" panose="02010609060101010101" pitchFamily="49" charset="-122"/>
                <a:ea typeface="黑体" panose="02010609060101010101" pitchFamily="49" charset="-122"/>
              </a:rPr>
              <a:t>若</a:t>
            </a:r>
            <a:r>
              <a:rPr lang="en-US" altLang="en-US" sz="3600" b="1">
                <a:solidFill>
                  <a:srgbClr val="FFFF00"/>
                </a:solidFill>
                <a:effectLst/>
                <a:latin typeface="黑体" panose="02010609060101010101" pitchFamily="49" charset="-122"/>
                <a:ea typeface="黑体" panose="02010609060101010101" pitchFamily="49" charset="-122"/>
              </a:rPr>
              <a:t>s.value</a:t>
            </a:r>
            <a:r>
              <a:rPr lang="zh-CN" altLang="en-US" sz="3600" b="1">
                <a:solidFill>
                  <a:srgbClr val="FFFF00"/>
                </a:solidFill>
                <a:effectLst/>
                <a:latin typeface="黑体" panose="02010609060101010101" pitchFamily="49" charset="-122"/>
                <a:ea typeface="黑体" panose="02010609060101010101" pitchFamily="49" charset="-122"/>
              </a:rPr>
              <a:t>加</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后小于或等于零，则从该信号的等待队列中唤醒一个等待进程，转进程调度</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a:extLst>
              <a:ext uri="{FF2B5EF4-FFF2-40B4-BE49-F238E27FC236}">
                <a16:creationId xmlns:a16="http://schemas.microsoft.com/office/drawing/2014/main" id="{A3833804-6A85-436D-BD56-4E3734064EB8}"/>
              </a:ext>
            </a:extLst>
          </p:cNvPr>
          <p:cNvSpPr>
            <a:spLocks noGrp="1" noChangeArrowheads="1"/>
          </p:cNvSpPr>
          <p:nvPr>
            <p:ph type="title"/>
          </p:nvPr>
        </p:nvSpPr>
        <p:spPr>
          <a:xfrm>
            <a:off x="827088" y="188913"/>
            <a:ext cx="7016750" cy="514350"/>
          </a:xfrm>
        </p:spPr>
        <p:txBody>
          <a:bodyPr/>
          <a:lstStyle/>
          <a:p>
            <a:pPr eaLnBrk="1" hangingPunct="1">
              <a:defRPr/>
            </a:pPr>
            <a:r>
              <a:rPr lang="en-US" altLang="zh-CN">
                <a:latin typeface="楷体_GB2312" pitchFamily="49" charset="-122"/>
              </a:rPr>
              <a:t>V</a:t>
            </a:r>
            <a:r>
              <a:rPr lang="zh-CN" altLang="en-US">
                <a:latin typeface="楷体_GB2312" pitchFamily="49" charset="-122"/>
              </a:rPr>
              <a:t>操作</a:t>
            </a:r>
          </a:p>
        </p:txBody>
      </p:sp>
      <p:sp>
        <p:nvSpPr>
          <p:cNvPr id="48131" name="Rectangle 3">
            <a:extLst>
              <a:ext uri="{FF2B5EF4-FFF2-40B4-BE49-F238E27FC236}">
                <a16:creationId xmlns:a16="http://schemas.microsoft.com/office/drawing/2014/main" id="{95430231-6187-426F-9146-BE4399BC9A27}"/>
              </a:ext>
            </a:extLst>
          </p:cNvPr>
          <p:cNvSpPr>
            <a:spLocks noGrp="1" noChangeArrowheads="1"/>
          </p:cNvSpPr>
          <p:nvPr>
            <p:ph type="body" idx="1"/>
          </p:nvPr>
        </p:nvSpPr>
        <p:spPr>
          <a:xfrm>
            <a:off x="323850" y="692150"/>
            <a:ext cx="8534400" cy="6165850"/>
          </a:xfrm>
        </p:spPr>
        <p:txBody>
          <a:bodyPr/>
          <a:lstStyle/>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V(s)</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a:t>
            </a:r>
            <a:r>
              <a:rPr lang="en-US" altLang="zh-CN" sz="2800" b="1" dirty="0" err="1">
                <a:solidFill>
                  <a:srgbClr val="FFFF00"/>
                </a:solidFill>
                <a:effectLst/>
                <a:latin typeface="黑体" panose="02010609060101010101" pitchFamily="49" charset="-122"/>
                <a:ea typeface="黑体" panose="02010609060101010101" pitchFamily="49" charset="-122"/>
              </a:rPr>
              <a:t>s.value</a:t>
            </a:r>
            <a:r>
              <a:rPr lang="en-US" altLang="zh-CN" sz="2800" b="1" dirty="0">
                <a:solidFill>
                  <a:srgbClr val="FFFF00"/>
                </a:solidFill>
                <a:effectLst/>
                <a:latin typeface="黑体" panose="02010609060101010101" pitchFamily="49" charset="-122"/>
                <a:ea typeface="黑体" panose="02010609060101010101" pitchFamily="49" charset="-122"/>
              </a:rPr>
              <a:t> = </a:t>
            </a:r>
            <a:r>
              <a:rPr lang="en-US" altLang="zh-CN" sz="2800" b="1" dirty="0" err="1">
                <a:solidFill>
                  <a:srgbClr val="FFFF00"/>
                </a:solidFill>
                <a:effectLst/>
                <a:latin typeface="黑体" panose="02010609060101010101" pitchFamily="49" charset="-122"/>
                <a:ea typeface="黑体" panose="02010609060101010101" pitchFamily="49" charset="-122"/>
              </a:rPr>
              <a:t>s.value</a:t>
            </a:r>
            <a:r>
              <a:rPr lang="en-US" altLang="zh-CN" sz="2800" b="1" dirty="0">
                <a:solidFill>
                  <a:srgbClr val="FFFF00"/>
                </a:solidFill>
                <a:effectLst/>
                <a:latin typeface="黑体" panose="02010609060101010101" pitchFamily="49" charset="-122"/>
                <a:ea typeface="黑体" panose="02010609060101010101" pitchFamily="49" charset="-122"/>
              </a:rPr>
              <a:t> +1;</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if (</a:t>
            </a:r>
            <a:r>
              <a:rPr lang="en-US" altLang="zh-CN" sz="2800" b="1" dirty="0" err="1">
                <a:solidFill>
                  <a:srgbClr val="FFFF00"/>
                </a:solidFill>
                <a:effectLst/>
                <a:latin typeface="黑体" panose="02010609060101010101" pitchFamily="49" charset="-122"/>
                <a:ea typeface="黑体" panose="02010609060101010101" pitchFamily="49" charset="-122"/>
              </a:rPr>
              <a:t>s.value</a:t>
            </a:r>
            <a:r>
              <a:rPr lang="en-US" altLang="zh-CN" sz="2800" b="1" dirty="0">
                <a:solidFill>
                  <a:srgbClr val="FFFF00"/>
                </a:solidFill>
                <a:effectLst/>
                <a:latin typeface="黑体" panose="02010609060101010101" pitchFamily="49" charset="-122"/>
                <a:ea typeface="黑体" panose="02010609060101010101" pitchFamily="49" charset="-122"/>
              </a:rPr>
              <a:t> &lt; = 0)</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a:t>
            </a:r>
            <a:r>
              <a:rPr lang="zh-CN" altLang="en-US" sz="2800" b="1" dirty="0">
                <a:solidFill>
                  <a:srgbClr val="FFFF00"/>
                </a:solidFill>
                <a:effectLst/>
                <a:latin typeface="黑体" panose="02010609060101010101" pitchFamily="49" charset="-122"/>
                <a:ea typeface="黑体" panose="02010609060101010101" pitchFamily="49" charset="-122"/>
              </a:rPr>
              <a:t>唤醒相应等待队列中等待的一个进程</a:t>
            </a:r>
          </a:p>
          <a:p>
            <a:pPr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     改变其状态为就绪态</a:t>
            </a:r>
          </a:p>
          <a:p>
            <a:pPr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     并将其插入就绪队列</a:t>
            </a:r>
            <a:r>
              <a:rPr lang="en-US" altLang="zh-CN" sz="2800" b="1" dirty="0">
                <a:solidFill>
                  <a:srgbClr val="FFFF00"/>
                </a:solidFill>
                <a:effectLst/>
                <a:latin typeface="黑体" panose="02010609060101010101" pitchFamily="49" charset="-122"/>
                <a:ea typeface="黑体" panose="02010609060101010101" pitchFamily="49" charset="-122"/>
              </a:rPr>
              <a:t>     </a:t>
            </a:r>
            <a:endParaRPr lang="zh-CN" altLang="en-US" sz="2800" b="1" dirty="0">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     </a:t>
            </a:r>
            <a:r>
              <a:rPr lang="en-US" altLang="zh-CN" sz="2800" b="1" dirty="0">
                <a:solidFill>
                  <a:srgbClr val="FFFF00"/>
                </a:solidFill>
                <a:effectLst/>
                <a:latin typeface="黑体" panose="02010609060101010101" pitchFamily="49" charset="-122"/>
                <a:ea typeface="黑体" panose="02010609060101010101" pitchFamily="49" charset="-122"/>
              </a:rPr>
              <a:t>} else return</a:t>
            </a:r>
          </a:p>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11796A5-2FB0-4A50-83A0-110BE1893EC9}"/>
              </a:ext>
            </a:extLst>
          </p:cNvPr>
          <p:cNvSpPr>
            <a:spLocks noGrp="1" noChangeArrowheads="1"/>
          </p:cNvSpPr>
          <p:nvPr>
            <p:ph type="body" idx="1"/>
          </p:nvPr>
        </p:nvSpPr>
        <p:spPr>
          <a:xfrm>
            <a:off x="539552" y="1340768"/>
            <a:ext cx="7848872" cy="3095625"/>
          </a:xfrm>
        </p:spPr>
        <p:txBody>
          <a:bodyPr/>
          <a:lstStyle/>
          <a:p>
            <a:pPr eaLnBrk="1" hangingPunct="1">
              <a:lnSpc>
                <a:spcPts val="4600"/>
              </a:lnSpc>
              <a:buFont typeface="Wingdings" panose="05000000000000000000" pitchFamily="2" charset="2"/>
              <a:buChar char="u"/>
            </a:pPr>
            <a:r>
              <a:rPr lang="en-US" altLang="zh-CN" sz="3600" b="1" dirty="0">
                <a:solidFill>
                  <a:srgbClr val="FFFF00"/>
                </a:solidFill>
                <a:effectLst/>
                <a:latin typeface="黑体" panose="02010609060101010101" pitchFamily="49" charset="-122"/>
                <a:ea typeface="黑体" panose="02010609060101010101" pitchFamily="49" charset="-122"/>
              </a:rPr>
              <a:t> P</a:t>
            </a:r>
            <a:r>
              <a:rPr lang="zh-CN" altLang="en-US" sz="3600" b="1" dirty="0">
                <a:solidFill>
                  <a:srgbClr val="FFFF00"/>
                </a:solidFill>
                <a:effectLst/>
                <a:latin typeface="黑体" panose="02010609060101010101" pitchFamily="49" charset="-122"/>
                <a:ea typeface="黑体" panose="02010609060101010101" pitchFamily="49" charset="-122"/>
              </a:rPr>
              <a:t>，</a:t>
            </a:r>
            <a:r>
              <a:rPr lang="en-US" altLang="zh-CN" sz="3600" b="1" dirty="0">
                <a:solidFill>
                  <a:srgbClr val="FFFF00"/>
                </a:solidFill>
                <a:effectLst/>
                <a:latin typeface="黑体" panose="02010609060101010101" pitchFamily="49" charset="-122"/>
                <a:ea typeface="黑体" panose="02010609060101010101" pitchFamily="49" charset="-122"/>
              </a:rPr>
              <a:t>V</a:t>
            </a:r>
            <a:r>
              <a:rPr lang="zh-CN" altLang="en-US" sz="3600" b="1" dirty="0">
                <a:solidFill>
                  <a:srgbClr val="FFFF00"/>
                </a:solidFill>
                <a:effectLst/>
                <a:latin typeface="黑体" panose="02010609060101010101" pitchFamily="49" charset="-122"/>
                <a:ea typeface="黑体" panose="02010609060101010101" pitchFamily="49" charset="-122"/>
              </a:rPr>
              <a:t>操作用原语来实现，保证了对临界资源信号量</a:t>
            </a:r>
            <a:r>
              <a:rPr lang="en-US" altLang="zh-CN" sz="3600" b="1" dirty="0">
                <a:solidFill>
                  <a:srgbClr val="FFFF00"/>
                </a:solidFill>
                <a:effectLst/>
                <a:latin typeface="黑体" panose="02010609060101010101" pitchFamily="49" charset="-122"/>
                <a:ea typeface="黑体" panose="02010609060101010101" pitchFamily="49" charset="-122"/>
              </a:rPr>
              <a:t>S</a:t>
            </a:r>
            <a:r>
              <a:rPr lang="zh-CN" altLang="en-US" sz="3600" b="1" dirty="0">
                <a:solidFill>
                  <a:srgbClr val="FFFF00"/>
                </a:solidFill>
                <a:effectLst/>
                <a:latin typeface="黑体" panose="02010609060101010101" pitchFamily="49" charset="-122"/>
                <a:ea typeface="黑体" panose="02010609060101010101" pitchFamily="49" charset="-122"/>
              </a:rPr>
              <a:t>的互斥访问，因为在</a:t>
            </a:r>
            <a:r>
              <a:rPr lang="en-US" altLang="zh-CN" sz="3600" b="1" dirty="0">
                <a:solidFill>
                  <a:srgbClr val="FFFF00"/>
                </a:solidFill>
                <a:effectLst/>
                <a:latin typeface="黑体" panose="02010609060101010101" pitchFamily="49" charset="-122"/>
                <a:ea typeface="黑体" panose="02010609060101010101" pitchFamily="49" charset="-122"/>
              </a:rPr>
              <a:t>P,V</a:t>
            </a:r>
            <a:r>
              <a:rPr lang="zh-CN" altLang="en-US" sz="3600" b="1" dirty="0">
                <a:solidFill>
                  <a:srgbClr val="FFFF00"/>
                </a:solidFill>
                <a:effectLst/>
                <a:latin typeface="黑体" panose="02010609060101010101" pitchFamily="49" charset="-122"/>
                <a:ea typeface="黑体" panose="02010609060101010101" pitchFamily="49" charset="-122"/>
              </a:rPr>
              <a:t>操作中都要改变</a:t>
            </a:r>
            <a:r>
              <a:rPr lang="en-US" altLang="zh-CN" sz="3600" b="1" dirty="0">
                <a:solidFill>
                  <a:srgbClr val="FFFF00"/>
                </a:solidFill>
                <a:effectLst/>
                <a:latin typeface="黑体" panose="02010609060101010101" pitchFamily="49" charset="-122"/>
                <a:ea typeface="黑体" panose="02010609060101010101" pitchFamily="49" charset="-122"/>
              </a:rPr>
              <a:t>S</a:t>
            </a:r>
            <a:r>
              <a:rPr lang="zh-CN" altLang="en-US" sz="3600" b="1" dirty="0">
                <a:solidFill>
                  <a:srgbClr val="FFFF00"/>
                </a:solidFill>
                <a:effectLst/>
                <a:latin typeface="黑体" panose="02010609060101010101" pitchFamily="49" charset="-122"/>
                <a:ea typeface="黑体" panose="02010609060101010101" pitchFamily="49" charset="-122"/>
              </a:rPr>
              <a:t>值</a:t>
            </a:r>
            <a:endParaRPr lang="en-US" altLang="zh-CN" sz="3600" b="1" dirty="0">
              <a:solidFill>
                <a:srgbClr val="FFFF00"/>
              </a:solidFill>
              <a:effectLst/>
              <a:latin typeface="黑体" panose="02010609060101010101" pitchFamily="49" charset="-122"/>
              <a:ea typeface="黑体" panose="02010609060101010101" pitchFamily="49" charset="-122"/>
            </a:endParaRPr>
          </a:p>
          <a:p>
            <a:pPr eaLnBrk="1" hangingPunct="1">
              <a:lnSpc>
                <a:spcPts val="4600"/>
              </a:lnSpc>
              <a:buFont typeface="Wingdings" panose="05000000000000000000" pitchFamily="2" charset="2"/>
              <a:buChar char="u"/>
            </a:pPr>
            <a:r>
              <a:rPr lang="en-US" altLang="zh-CN" sz="3600" b="1" dirty="0">
                <a:solidFill>
                  <a:srgbClr val="FFFF00"/>
                </a:solidFill>
                <a:effectLst/>
                <a:latin typeface="黑体" panose="02010609060101010101" pitchFamily="49" charset="-122"/>
                <a:ea typeface="黑体" panose="02010609060101010101" pitchFamily="49" charset="-122"/>
              </a:rPr>
              <a:t>P</a:t>
            </a:r>
            <a:r>
              <a:rPr lang="zh-CN" altLang="en-US" sz="3600" b="1" dirty="0">
                <a:solidFill>
                  <a:srgbClr val="FFFF00"/>
                </a:solidFill>
                <a:effectLst/>
                <a:latin typeface="黑体" panose="02010609060101010101" pitchFamily="49" charset="-122"/>
                <a:ea typeface="黑体" panose="02010609060101010101" pitchFamily="49" charset="-122"/>
              </a:rPr>
              <a:t>操作也可称为 </a:t>
            </a:r>
            <a:r>
              <a:rPr lang="en-US" altLang="zh-CN" sz="3600" b="1" dirty="0">
                <a:solidFill>
                  <a:srgbClr val="FFFF00"/>
                </a:solidFill>
                <a:effectLst/>
                <a:latin typeface="黑体" panose="02010609060101010101" pitchFamily="49" charset="-122"/>
                <a:ea typeface="黑体" panose="02010609060101010101" pitchFamily="49" charset="-122"/>
              </a:rPr>
              <a:t>wait</a:t>
            </a:r>
            <a:r>
              <a:rPr lang="zh-CN" altLang="en-US" sz="3600" b="1" dirty="0">
                <a:solidFill>
                  <a:srgbClr val="FFFF00"/>
                </a:solidFill>
                <a:effectLst/>
                <a:latin typeface="黑体" panose="02010609060101010101" pitchFamily="49" charset="-122"/>
                <a:ea typeface="黑体" panose="02010609060101010101" pitchFamily="49" charset="-122"/>
              </a:rPr>
              <a:t>（）</a:t>
            </a:r>
            <a:endParaRPr lang="en-US" altLang="zh-CN" sz="3600" b="1" dirty="0">
              <a:solidFill>
                <a:srgbClr val="FFFF00"/>
              </a:solidFill>
              <a:effectLst/>
              <a:latin typeface="黑体" panose="02010609060101010101" pitchFamily="49" charset="-122"/>
              <a:ea typeface="黑体" panose="02010609060101010101" pitchFamily="49" charset="-122"/>
            </a:endParaRPr>
          </a:p>
          <a:p>
            <a:pPr eaLnBrk="1" hangingPunct="1">
              <a:lnSpc>
                <a:spcPts val="4600"/>
              </a:lnSpc>
              <a:buFont typeface="Wingdings" panose="05000000000000000000" pitchFamily="2" charset="2"/>
              <a:buChar char="u"/>
            </a:pPr>
            <a:r>
              <a:rPr lang="en-US" altLang="zh-CN" sz="3600" b="1" dirty="0">
                <a:solidFill>
                  <a:srgbClr val="FFFF00"/>
                </a:solidFill>
                <a:effectLst/>
                <a:latin typeface="黑体" panose="02010609060101010101" pitchFamily="49" charset="-122"/>
                <a:ea typeface="黑体" panose="02010609060101010101" pitchFamily="49" charset="-122"/>
              </a:rPr>
              <a:t>V</a:t>
            </a:r>
            <a:r>
              <a:rPr lang="zh-CN" altLang="en-US" sz="3600" b="1" dirty="0">
                <a:solidFill>
                  <a:srgbClr val="FFFF00"/>
                </a:solidFill>
                <a:effectLst/>
                <a:latin typeface="黑体" panose="02010609060101010101" pitchFamily="49" charset="-122"/>
                <a:ea typeface="黑体" panose="02010609060101010101" pitchFamily="49" charset="-122"/>
              </a:rPr>
              <a:t>操作也可称为</a:t>
            </a:r>
            <a:r>
              <a:rPr lang="en-US" altLang="zh-CN" sz="3600" b="1" dirty="0">
                <a:solidFill>
                  <a:srgbClr val="FFFF00"/>
                </a:solidFill>
                <a:effectLst/>
                <a:latin typeface="黑体" panose="02010609060101010101" pitchFamily="49" charset="-122"/>
                <a:ea typeface="黑体" panose="02010609060101010101" pitchFamily="49" charset="-122"/>
              </a:rPr>
              <a:t>signal</a:t>
            </a:r>
            <a:r>
              <a:rPr lang="zh-CN" altLang="en-US" sz="3600" b="1" dirty="0">
                <a:solidFill>
                  <a:srgbClr val="FFFF00"/>
                </a:solidFill>
                <a:effectLst/>
                <a:latin typeface="黑体" panose="02010609060101010101" pitchFamily="49" charset="-122"/>
                <a:ea typeface="黑体" panose="02010609060101010101" pitchFamily="49" charset="-122"/>
              </a:rPr>
              <a:t>（）</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5070E52-4DBE-4C27-8C7A-3B15F7ACCAC1}"/>
              </a:ext>
            </a:extLst>
          </p:cNvPr>
          <p:cNvSpPr>
            <a:spLocks noGrp="1" noChangeArrowheads="1"/>
          </p:cNvSpPr>
          <p:nvPr>
            <p:ph type="body" idx="1"/>
          </p:nvPr>
        </p:nvSpPr>
        <p:spPr>
          <a:xfrm>
            <a:off x="611188" y="1557338"/>
            <a:ext cx="8256587" cy="4868862"/>
          </a:xfrm>
          <a:noFill/>
          <a:extLst>
            <a:ext uri="{909E8E84-426E-40DD-AFC4-6F175D3DCCD1}">
              <a14:hiddenFill xmlns:a14="http://schemas.microsoft.com/office/drawing/2010/main">
                <a:solidFill>
                  <a:schemeClr val="accent1"/>
                </a:solidFill>
              </a14:hiddenFill>
            </a:ext>
          </a:extLst>
        </p:spPr>
        <p:txBody>
          <a:bodyPr/>
          <a:lstStyle/>
          <a:p>
            <a:pPr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信号量的物理含义：</a:t>
            </a:r>
          </a:p>
          <a:p>
            <a:pPr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	</a:t>
            </a:r>
            <a:r>
              <a:rPr lang="en-US" altLang="zh-CN" b="1" dirty="0">
                <a:solidFill>
                  <a:srgbClr val="FFFF00"/>
                </a:solidFill>
                <a:effectLst/>
                <a:latin typeface="黑体" panose="02010609060101010101" pitchFamily="49" charset="-122"/>
                <a:ea typeface="黑体" panose="02010609060101010101" pitchFamily="49" charset="-122"/>
              </a:rPr>
              <a:t>S&gt;0</a:t>
            </a:r>
            <a:r>
              <a:rPr lang="zh-CN" altLang="en-US" b="1" dirty="0">
                <a:solidFill>
                  <a:srgbClr val="FFFF00"/>
                </a:solidFill>
                <a:effectLst/>
                <a:latin typeface="黑体" panose="02010609060101010101" pitchFamily="49" charset="-122"/>
                <a:ea typeface="黑体" panose="02010609060101010101" pitchFamily="49" charset="-122"/>
              </a:rPr>
              <a:t>表示有</a:t>
            </a:r>
            <a:r>
              <a:rPr lang="en-US" altLang="zh-CN" b="1" dirty="0">
                <a:solidFill>
                  <a:srgbClr val="FFFF00"/>
                </a:solidFill>
                <a:effectLst/>
                <a:latin typeface="黑体" panose="02010609060101010101" pitchFamily="49" charset="-122"/>
                <a:ea typeface="黑体" panose="02010609060101010101" pitchFamily="49" charset="-122"/>
              </a:rPr>
              <a:t>S</a:t>
            </a:r>
            <a:r>
              <a:rPr lang="zh-CN" altLang="en-US" b="1" dirty="0">
                <a:solidFill>
                  <a:srgbClr val="FFFF00"/>
                </a:solidFill>
                <a:effectLst/>
                <a:latin typeface="黑体" panose="02010609060101010101" pitchFamily="49" charset="-122"/>
                <a:ea typeface="黑体" panose="02010609060101010101" pitchFamily="49" charset="-122"/>
              </a:rPr>
              <a:t>个资源可用</a:t>
            </a:r>
          </a:p>
          <a:p>
            <a:pPr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	</a:t>
            </a:r>
            <a:r>
              <a:rPr lang="en-US" altLang="zh-CN" b="1" dirty="0">
                <a:solidFill>
                  <a:srgbClr val="FFFF00"/>
                </a:solidFill>
                <a:effectLst/>
                <a:latin typeface="黑体" panose="02010609060101010101" pitchFamily="49" charset="-122"/>
                <a:ea typeface="黑体" panose="02010609060101010101" pitchFamily="49" charset="-122"/>
              </a:rPr>
              <a:t>S=0</a:t>
            </a:r>
            <a:r>
              <a:rPr lang="zh-CN" altLang="en-US" b="1" dirty="0">
                <a:solidFill>
                  <a:srgbClr val="FFFF00"/>
                </a:solidFill>
                <a:effectLst/>
                <a:latin typeface="黑体" panose="02010609060101010101" pitchFamily="49" charset="-122"/>
                <a:ea typeface="黑体" panose="02010609060101010101" pitchFamily="49" charset="-122"/>
              </a:rPr>
              <a:t>表示无资源可用</a:t>
            </a:r>
          </a:p>
          <a:p>
            <a:pPr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	</a:t>
            </a:r>
            <a:r>
              <a:rPr lang="en-US" altLang="zh-CN" b="1" dirty="0">
                <a:solidFill>
                  <a:srgbClr val="FFFF00"/>
                </a:solidFill>
                <a:effectLst/>
                <a:latin typeface="黑体" panose="02010609060101010101" pitchFamily="49" charset="-122"/>
                <a:ea typeface="黑体" panose="02010609060101010101" pitchFamily="49" charset="-122"/>
              </a:rPr>
              <a:t>S&lt;0</a:t>
            </a:r>
            <a:r>
              <a:rPr lang="zh-CN" altLang="en-US" b="1" dirty="0">
                <a:solidFill>
                  <a:srgbClr val="FFFF00"/>
                </a:solidFill>
                <a:effectLst/>
                <a:latin typeface="黑体" panose="02010609060101010101" pitchFamily="49" charset="-122"/>
                <a:ea typeface="黑体" panose="02010609060101010101" pitchFamily="49" charset="-122"/>
              </a:rPr>
              <a:t>则</a:t>
            </a:r>
            <a:r>
              <a:rPr lang="en-US" altLang="zh-CN" b="1" dirty="0">
                <a:solidFill>
                  <a:srgbClr val="FFFF00"/>
                </a:solidFill>
                <a:effectLst/>
                <a:latin typeface="黑体" panose="02010609060101010101" pitchFamily="49" charset="-122"/>
                <a:ea typeface="黑体" panose="02010609060101010101" pitchFamily="49" charset="-122"/>
              </a:rPr>
              <a:t>| S |</a:t>
            </a:r>
            <a:r>
              <a:rPr lang="zh-CN" altLang="en-US" b="1" dirty="0">
                <a:solidFill>
                  <a:srgbClr val="FFFF00"/>
                </a:solidFill>
                <a:effectLst/>
                <a:latin typeface="黑体" panose="02010609060101010101" pitchFamily="49" charset="-122"/>
                <a:ea typeface="黑体" panose="02010609060101010101" pitchFamily="49" charset="-122"/>
              </a:rPr>
              <a:t>表示</a:t>
            </a:r>
            <a:r>
              <a:rPr lang="en-US" altLang="zh-CN" b="1" dirty="0">
                <a:solidFill>
                  <a:srgbClr val="FFFF00"/>
                </a:solidFill>
                <a:effectLst/>
                <a:latin typeface="黑体" panose="02010609060101010101" pitchFamily="49" charset="-122"/>
                <a:ea typeface="黑体" panose="02010609060101010101" pitchFamily="49" charset="-122"/>
              </a:rPr>
              <a:t>S</a:t>
            </a:r>
            <a:r>
              <a:rPr lang="zh-CN" altLang="en-US" b="1" dirty="0">
                <a:solidFill>
                  <a:srgbClr val="FFFF00"/>
                </a:solidFill>
                <a:effectLst/>
                <a:latin typeface="黑体" panose="02010609060101010101" pitchFamily="49" charset="-122"/>
                <a:ea typeface="黑体" panose="02010609060101010101" pitchFamily="49" charset="-122"/>
              </a:rPr>
              <a:t>等待队列中的进程个数</a:t>
            </a:r>
          </a:p>
          <a:p>
            <a:pPr eaLnBrk="1" hangingPunct="1">
              <a:buFont typeface="Wingdings" panose="05000000000000000000" pitchFamily="2" charset="2"/>
              <a:buNone/>
            </a:pPr>
            <a:endParaRPr lang="zh-CN" altLang="en-US" b="1" dirty="0">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None/>
            </a:pPr>
            <a:r>
              <a:rPr lang="en-US" altLang="zh-CN" b="1" dirty="0">
                <a:solidFill>
                  <a:srgbClr val="FFFF00"/>
                </a:solidFill>
                <a:effectLst/>
                <a:latin typeface="黑体" panose="02010609060101010101" pitchFamily="49" charset="-122"/>
                <a:ea typeface="黑体" panose="02010609060101010101" pitchFamily="49" charset="-122"/>
              </a:rPr>
              <a:t>P(S)</a:t>
            </a:r>
            <a:r>
              <a:rPr lang="zh-CN" altLang="en-US" b="1" dirty="0">
                <a:solidFill>
                  <a:srgbClr val="FFFF00"/>
                </a:solidFill>
                <a:effectLst/>
                <a:latin typeface="黑体" panose="02010609060101010101" pitchFamily="49" charset="-122"/>
                <a:ea typeface="黑体" panose="02010609060101010101" pitchFamily="49" charset="-122"/>
              </a:rPr>
              <a:t>：表示申请一个资源（等信号） </a:t>
            </a:r>
          </a:p>
          <a:p>
            <a:pPr eaLnBrk="1" hangingPunct="1">
              <a:buFont typeface="Wingdings" panose="05000000000000000000" pitchFamily="2" charset="2"/>
              <a:buNone/>
            </a:pPr>
            <a:r>
              <a:rPr lang="en-US" altLang="zh-CN" b="1" dirty="0">
                <a:solidFill>
                  <a:srgbClr val="FFFF00"/>
                </a:solidFill>
                <a:effectLst/>
                <a:latin typeface="黑体" panose="02010609060101010101" pitchFamily="49" charset="-122"/>
                <a:ea typeface="黑体" panose="02010609060101010101" pitchFamily="49" charset="-122"/>
              </a:rPr>
              <a:t>V(S)</a:t>
            </a:r>
            <a:r>
              <a:rPr lang="zh-CN" altLang="en-US" b="1" dirty="0">
                <a:solidFill>
                  <a:srgbClr val="FFFF00"/>
                </a:solidFill>
                <a:effectLst/>
                <a:latin typeface="黑体" panose="02010609060101010101" pitchFamily="49" charset="-122"/>
                <a:ea typeface="黑体" panose="02010609060101010101" pitchFamily="49" charset="-122"/>
              </a:rPr>
              <a:t>：表示释放一个资源（发信号）</a:t>
            </a:r>
          </a:p>
          <a:p>
            <a:pPr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信号量的初值应该大于等于</a:t>
            </a:r>
            <a:r>
              <a:rPr lang="en-US" altLang="zh-CN" b="1" dirty="0">
                <a:solidFill>
                  <a:srgbClr val="FFFF00"/>
                </a:solidFill>
                <a:effectLst/>
                <a:latin typeface="黑体" panose="02010609060101010101" pitchFamily="49" charset="-122"/>
                <a:ea typeface="黑体" panose="02010609060101010101" pitchFamily="49" charset="-122"/>
              </a:rPr>
              <a:t>0</a:t>
            </a:r>
          </a:p>
        </p:txBody>
      </p:sp>
      <p:sp>
        <p:nvSpPr>
          <p:cNvPr id="389123" name="Rectangle 3">
            <a:extLst>
              <a:ext uri="{FF2B5EF4-FFF2-40B4-BE49-F238E27FC236}">
                <a16:creationId xmlns:a16="http://schemas.microsoft.com/office/drawing/2014/main" id="{86250CA2-C9BE-4215-9E7C-C37F89541623}"/>
              </a:ext>
            </a:extLst>
          </p:cNvPr>
          <p:cNvSpPr>
            <a:spLocks noGrp="1" noChangeArrowheads="1"/>
          </p:cNvSpPr>
          <p:nvPr>
            <p:ph type="title"/>
          </p:nvPr>
        </p:nvSpPr>
        <p:spPr>
          <a:xfrm>
            <a:off x="304800" y="304800"/>
            <a:ext cx="8562975" cy="887413"/>
          </a:xfrm>
        </p:spPr>
        <p:txBody>
          <a:bodyPr anchor="b" anchorCtr="0"/>
          <a:lstStyle/>
          <a:p>
            <a:pPr eaLnBrk="1" hangingPunct="1">
              <a:defRPr/>
            </a:pPr>
            <a:r>
              <a:rPr lang="zh-CN" altLang="en-US" b="1" dirty="0">
                <a:solidFill>
                  <a:schemeClr val="tx1"/>
                </a:solidFill>
                <a:effectLst>
                  <a:outerShdw blurRad="38100" dist="38100" dir="2700000" algn="tl">
                    <a:srgbClr val="010199"/>
                  </a:outerShdw>
                </a:effectLst>
              </a:rPr>
              <a:t>互斥中信号量及</a:t>
            </a:r>
            <a:r>
              <a:rPr lang="en-US" altLang="zh-CN" b="1" dirty="0">
                <a:solidFill>
                  <a:schemeClr val="tx1"/>
                </a:solidFill>
                <a:effectLst>
                  <a:outerShdw blurRad="38100" dist="38100" dir="2700000" algn="tl">
                    <a:srgbClr val="010199"/>
                  </a:outerShdw>
                </a:effectLst>
              </a:rPr>
              <a:t>P</a:t>
            </a:r>
            <a:r>
              <a:rPr lang="zh-CN" altLang="en-US" b="1" dirty="0">
                <a:solidFill>
                  <a:schemeClr val="tx1"/>
                </a:solidFill>
                <a:effectLst>
                  <a:outerShdw blurRad="38100" dist="38100" dir="2700000" algn="tl">
                    <a:srgbClr val="010199"/>
                  </a:outerShdw>
                </a:effectLst>
              </a:rPr>
              <a:t>、</a:t>
            </a:r>
            <a:r>
              <a:rPr lang="en-US" altLang="zh-CN" b="1" dirty="0">
                <a:solidFill>
                  <a:schemeClr val="tx1"/>
                </a:solidFill>
                <a:effectLst>
                  <a:outerShdw blurRad="38100" dist="38100" dir="2700000" algn="tl">
                    <a:srgbClr val="010199"/>
                  </a:outerShdw>
                </a:effectLst>
              </a:rPr>
              <a:t>V</a:t>
            </a:r>
            <a:r>
              <a:rPr lang="zh-CN" altLang="en-US" b="1" dirty="0">
                <a:solidFill>
                  <a:schemeClr val="tx1"/>
                </a:solidFill>
                <a:effectLst>
                  <a:outerShdw blurRad="38100" dist="38100" dir="2700000" algn="tl">
                    <a:srgbClr val="010199"/>
                  </a:outerShdw>
                </a:effectLst>
              </a:rPr>
              <a:t>操作</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882" name="Rectangle 2">
            <a:extLst>
              <a:ext uri="{FF2B5EF4-FFF2-40B4-BE49-F238E27FC236}">
                <a16:creationId xmlns:a16="http://schemas.microsoft.com/office/drawing/2014/main" id="{F4272896-C852-4FF5-BEC5-4809C44B36B2}"/>
              </a:ext>
            </a:extLst>
          </p:cNvPr>
          <p:cNvSpPr>
            <a:spLocks noGrp="1" noChangeArrowheads="1"/>
          </p:cNvSpPr>
          <p:nvPr>
            <p:ph type="title"/>
          </p:nvPr>
        </p:nvSpPr>
        <p:spPr>
          <a:xfrm>
            <a:off x="468313" y="333375"/>
            <a:ext cx="8382000" cy="990600"/>
          </a:xfrm>
        </p:spPr>
        <p:txBody>
          <a:bodyPr/>
          <a:lstStyle/>
          <a:p>
            <a:pPr eaLnBrk="1" hangingPunct="1">
              <a:defRPr/>
            </a:pPr>
            <a:r>
              <a:rPr lang="zh-CN" altLang="en-US" sz="4000" b="1">
                <a:solidFill>
                  <a:schemeClr val="tx1"/>
                </a:solidFill>
                <a:effectLst>
                  <a:outerShdw blurRad="38100" dist="38100" dir="2700000" algn="tl">
                    <a:srgbClr val="010199"/>
                  </a:outerShdw>
                </a:effectLst>
                <a:latin typeface="黑体" panose="02010609060101010101" pitchFamily="49" charset="-122"/>
                <a:ea typeface="黑体" panose="02010609060101010101" pitchFamily="49" charset="-122"/>
              </a:rPr>
              <a:t>信号量的整型分量的物理含义： </a:t>
            </a:r>
          </a:p>
        </p:txBody>
      </p:sp>
      <p:sp>
        <p:nvSpPr>
          <p:cNvPr id="378883" name="Rectangle 3">
            <a:extLst>
              <a:ext uri="{FF2B5EF4-FFF2-40B4-BE49-F238E27FC236}">
                <a16:creationId xmlns:a16="http://schemas.microsoft.com/office/drawing/2014/main" id="{5318DCBE-DA26-44D5-94B5-9BDF48E495DC}"/>
              </a:ext>
            </a:extLst>
          </p:cNvPr>
          <p:cNvSpPr>
            <a:spLocks noGrp="1" noChangeArrowheads="1"/>
          </p:cNvSpPr>
          <p:nvPr>
            <p:ph type="body" idx="1"/>
          </p:nvPr>
        </p:nvSpPr>
        <p:spPr>
          <a:xfrm>
            <a:off x="352425" y="1557338"/>
            <a:ext cx="8353425" cy="4437062"/>
          </a:xfrm>
        </p:spPr>
        <p:txBody>
          <a:bodyPr/>
          <a:lstStyle/>
          <a:p>
            <a:pPr eaLnBrk="1" hangingPunct="1">
              <a:lnSpc>
                <a:spcPct val="110000"/>
              </a:lnSpc>
              <a:buClr>
                <a:srgbClr val="FF3300"/>
              </a:buClr>
              <a:buSzPct val="125000"/>
              <a:buFont typeface="Wingdings" panose="05000000000000000000" pitchFamily="2" charset="2"/>
              <a:buChar char="v"/>
            </a:pPr>
            <a:r>
              <a:rPr lang="zh-CN" altLang="en-US" b="1" dirty="0">
                <a:solidFill>
                  <a:srgbClr val="FFFF00"/>
                </a:solidFill>
                <a:effectLst/>
                <a:latin typeface="黑体" panose="02010609060101010101" pitchFamily="49" charset="-122"/>
                <a:ea typeface="黑体" panose="02010609060101010101" pitchFamily="49" charset="-122"/>
              </a:rPr>
              <a:t>当</a:t>
            </a:r>
            <a:r>
              <a:rPr lang="en-US" altLang="zh-CN" b="1" dirty="0">
                <a:solidFill>
                  <a:srgbClr val="FFFF00"/>
                </a:solidFill>
                <a:effectLst/>
                <a:latin typeface="黑体" panose="02010609060101010101" pitchFamily="49" charset="-122"/>
                <a:ea typeface="黑体" panose="02010609060101010101" pitchFamily="49" charset="-122"/>
              </a:rPr>
              <a:t>S .value ≥0</a:t>
            </a:r>
            <a:r>
              <a:rPr lang="zh-CN" altLang="en-US" b="1" dirty="0">
                <a:solidFill>
                  <a:srgbClr val="FFFF00"/>
                </a:solidFill>
                <a:effectLst/>
                <a:latin typeface="黑体" panose="02010609060101010101" pitchFamily="49" charset="-122"/>
                <a:ea typeface="黑体" panose="02010609060101010101" pitchFamily="49" charset="-122"/>
              </a:rPr>
              <a:t>时，表示某类可用资源的数目，或同步信号到达。或者说表示可以执行</a:t>
            </a:r>
            <a:r>
              <a:rPr lang="en-US" altLang="zh-CN" b="1" dirty="0">
                <a:solidFill>
                  <a:srgbClr val="FFFF00"/>
                </a:solidFill>
                <a:effectLst/>
                <a:latin typeface="黑体" panose="02010609060101010101" pitchFamily="49" charset="-122"/>
                <a:ea typeface="黑体" panose="02010609060101010101" pitchFamily="49" charset="-122"/>
              </a:rPr>
              <a:t>P</a:t>
            </a:r>
            <a:r>
              <a:rPr lang="zh-CN" altLang="en-US" b="1" dirty="0">
                <a:solidFill>
                  <a:srgbClr val="FFFF00"/>
                </a:solidFill>
                <a:effectLst/>
                <a:latin typeface="黑体" panose="02010609060101010101" pitchFamily="49" charset="-122"/>
                <a:ea typeface="黑体" panose="02010609060101010101" pitchFamily="49" charset="-122"/>
              </a:rPr>
              <a:t>操作而不会被阻塞的进程的数目</a:t>
            </a:r>
          </a:p>
          <a:p>
            <a:pPr eaLnBrk="1" hangingPunct="1">
              <a:lnSpc>
                <a:spcPct val="110000"/>
              </a:lnSpc>
              <a:buClr>
                <a:srgbClr val="FF3300"/>
              </a:buClr>
              <a:buSzPct val="125000"/>
              <a:buFont typeface="Wingdings" panose="05000000000000000000" pitchFamily="2" charset="2"/>
              <a:buChar char="v"/>
            </a:pPr>
            <a:r>
              <a:rPr lang="zh-CN" altLang="en-US" b="1" dirty="0">
                <a:solidFill>
                  <a:srgbClr val="FFFF00"/>
                </a:solidFill>
                <a:effectLst/>
                <a:latin typeface="黑体" panose="02010609060101010101" pitchFamily="49" charset="-122"/>
                <a:ea typeface="黑体" panose="02010609060101010101" pitchFamily="49" charset="-122"/>
              </a:rPr>
              <a:t>当</a:t>
            </a:r>
            <a:r>
              <a:rPr lang="en-US" altLang="zh-CN" b="1" dirty="0">
                <a:solidFill>
                  <a:srgbClr val="FFFF00"/>
                </a:solidFill>
                <a:effectLst/>
                <a:latin typeface="黑体" panose="02010609060101010101" pitchFamily="49" charset="-122"/>
                <a:ea typeface="黑体" panose="02010609060101010101" pitchFamily="49" charset="-122"/>
              </a:rPr>
              <a:t>S .value </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0</a:t>
            </a:r>
            <a:r>
              <a:rPr lang="zh-CN" altLang="en-US" b="1" dirty="0">
                <a:solidFill>
                  <a:srgbClr val="FFFF00"/>
                </a:solidFill>
                <a:effectLst/>
                <a:latin typeface="黑体" panose="02010609060101010101" pitchFamily="49" charset="-122"/>
                <a:ea typeface="黑体" panose="02010609060101010101" pitchFamily="49" charset="-122"/>
              </a:rPr>
              <a:t>时，其绝对值表示信号量</a:t>
            </a:r>
            <a:r>
              <a:rPr lang="en-US" altLang="zh-CN" b="1" dirty="0">
                <a:solidFill>
                  <a:srgbClr val="FFFF00"/>
                </a:solidFill>
                <a:effectLst/>
                <a:latin typeface="黑体" panose="02010609060101010101" pitchFamily="49" charset="-122"/>
                <a:ea typeface="黑体" panose="02010609060101010101" pitchFamily="49" charset="-122"/>
              </a:rPr>
              <a:t>S</a:t>
            </a:r>
            <a:r>
              <a:rPr lang="zh-CN" altLang="en-US" b="1" dirty="0">
                <a:solidFill>
                  <a:srgbClr val="FFFF00"/>
                </a:solidFill>
                <a:effectLst/>
                <a:latin typeface="黑体" panose="02010609060101010101" pitchFamily="49" charset="-122"/>
                <a:ea typeface="黑体" panose="02010609060101010101" pitchFamily="49" charset="-122"/>
              </a:rPr>
              <a:t>的阻塞队列中的进程数，即系统中因请求该类资源而被阻塞的进程的数目，或同步信号未到达被阻塞的进程数目 </a:t>
            </a: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883">
                                            <p:txEl>
                                              <p:pRg st="0" end="0"/>
                                            </p:txEl>
                                          </p:spTgt>
                                        </p:tgtEl>
                                        <p:attrNameLst>
                                          <p:attrName>style.visibility</p:attrName>
                                        </p:attrNameLst>
                                      </p:cBhvr>
                                      <p:to>
                                        <p:strVal val="visible"/>
                                      </p:to>
                                    </p:set>
                                    <p:anim calcmode="lin" valueType="num">
                                      <p:cBhvr additive="base">
                                        <p:cTn id="7" dur="500" fill="hold"/>
                                        <p:tgtEl>
                                          <p:spTgt spid="3788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883">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78883">
                                            <p:txEl>
                                              <p:pRg st="0" end="0"/>
                                            </p:txEl>
                                          </p:spTgt>
                                        </p:tgtEl>
                                        <p:attrNameLst>
                                          <p:attrName>ppt_c</p:attrName>
                                        </p:attrNameLst>
                                      </p:cBhvr>
                                      <p:to>
                                        <a:srgbClr val="66FF66"/>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883">
                                            <p:txEl>
                                              <p:pRg st="1" end="1"/>
                                            </p:txEl>
                                          </p:spTgt>
                                        </p:tgtEl>
                                        <p:attrNameLst>
                                          <p:attrName>style.visibility</p:attrName>
                                        </p:attrNameLst>
                                      </p:cBhvr>
                                      <p:to>
                                        <p:strVal val="visible"/>
                                      </p:to>
                                    </p:set>
                                    <p:anim calcmode="lin" valueType="num">
                                      <p:cBhvr additive="base">
                                        <p:cTn id="13" dur="500" fill="hold"/>
                                        <p:tgtEl>
                                          <p:spTgt spid="3788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883">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78883">
                                            <p:txEl>
                                              <p:pRg st="1" end="1"/>
                                            </p:txEl>
                                          </p:spTgt>
                                        </p:tgtEl>
                                        <p:attrNameLst>
                                          <p:attrName>ppt_c</p:attrName>
                                        </p:attrNameLst>
                                      </p:cBhvr>
                                      <p:to>
                                        <a:srgbClr val="66FF66"/>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3"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a:extLst>
              <a:ext uri="{FF2B5EF4-FFF2-40B4-BE49-F238E27FC236}">
                <a16:creationId xmlns:a16="http://schemas.microsoft.com/office/drawing/2014/main" id="{E95AF5F8-DFD5-426D-96DB-8BEA2E7812CA}"/>
              </a:ext>
            </a:extLst>
          </p:cNvPr>
          <p:cNvSpPr>
            <a:spLocks noGrp="1" noChangeArrowheads="1"/>
          </p:cNvSpPr>
          <p:nvPr>
            <p:ph type="title"/>
          </p:nvPr>
        </p:nvSpPr>
        <p:spPr>
          <a:xfrm>
            <a:off x="467544" y="260648"/>
            <a:ext cx="8077200" cy="990600"/>
          </a:xfrm>
        </p:spPr>
        <p:txBody>
          <a:bodyPr/>
          <a:lstStyle/>
          <a:p>
            <a:pPr eaLnBrk="1" hangingPunct="1">
              <a:defRPr/>
            </a:pPr>
            <a:r>
              <a:rPr lang="en-US" altLang="zh-CN" sz="4000" b="1" dirty="0">
                <a:solidFill>
                  <a:schemeClr val="tx1"/>
                </a:solidFill>
                <a:effectLst>
                  <a:outerShdw blurRad="38100" dist="38100" dir="2700000" algn="tl">
                    <a:srgbClr val="010199"/>
                  </a:outerShdw>
                </a:effectLst>
              </a:rPr>
              <a:t>P</a:t>
            </a:r>
            <a:r>
              <a:rPr lang="zh-CN" altLang="en-US" sz="4000" b="1" dirty="0">
                <a:solidFill>
                  <a:schemeClr val="tx1"/>
                </a:solidFill>
                <a:effectLst>
                  <a:outerShdw blurRad="38100" dist="38100" dir="2700000" algn="tl">
                    <a:srgbClr val="010199"/>
                  </a:outerShdw>
                </a:effectLst>
                <a:latin typeface="宋体" panose="02010600030101010101" pitchFamily="2" charset="-122"/>
              </a:rPr>
              <a:t>、</a:t>
            </a:r>
            <a:r>
              <a:rPr lang="en-US" altLang="zh-CN" sz="4000" b="1" dirty="0">
                <a:solidFill>
                  <a:schemeClr val="tx1"/>
                </a:solidFill>
                <a:effectLst>
                  <a:outerShdw blurRad="38100" dist="38100" dir="2700000" algn="tl">
                    <a:srgbClr val="010199"/>
                  </a:outerShdw>
                </a:effectLst>
              </a:rPr>
              <a:t>V</a:t>
            </a:r>
            <a:r>
              <a:rPr lang="zh-CN" altLang="en-US" sz="4000" b="1" dirty="0">
                <a:solidFill>
                  <a:schemeClr val="tx1"/>
                </a:solidFill>
                <a:effectLst>
                  <a:outerShdw blurRad="38100" dist="38100" dir="2700000" algn="tl">
                    <a:srgbClr val="010199"/>
                  </a:outerShdw>
                </a:effectLst>
                <a:latin typeface="宋体" panose="02010600030101010101" pitchFamily="2" charset="-122"/>
              </a:rPr>
              <a:t>操作的物理含义：</a:t>
            </a:r>
            <a:r>
              <a:rPr lang="zh-CN" altLang="en-US" sz="4000" b="1" dirty="0">
                <a:solidFill>
                  <a:schemeClr val="tx1"/>
                </a:solidFill>
                <a:effectLst>
                  <a:outerShdw blurRad="38100" dist="38100" dir="2700000" algn="tl">
                    <a:srgbClr val="010199"/>
                  </a:outerShdw>
                </a:effectLst>
              </a:rPr>
              <a:t> </a:t>
            </a:r>
          </a:p>
        </p:txBody>
      </p:sp>
      <p:sp>
        <p:nvSpPr>
          <p:cNvPr id="50179" name="Rectangle 3">
            <a:extLst>
              <a:ext uri="{FF2B5EF4-FFF2-40B4-BE49-F238E27FC236}">
                <a16:creationId xmlns:a16="http://schemas.microsoft.com/office/drawing/2014/main" id="{E3087B92-98C8-4ABF-9548-061AA737478D}"/>
              </a:ext>
            </a:extLst>
          </p:cNvPr>
          <p:cNvSpPr>
            <a:spLocks noGrp="1" noChangeArrowheads="1"/>
          </p:cNvSpPr>
          <p:nvPr>
            <p:ph type="body" idx="1"/>
          </p:nvPr>
        </p:nvSpPr>
        <p:spPr>
          <a:xfrm>
            <a:off x="323851" y="1484784"/>
            <a:ext cx="8286750" cy="4968552"/>
          </a:xfrm>
        </p:spPr>
        <p:txBody>
          <a:bodyPr/>
          <a:lstStyle/>
          <a:p>
            <a:pPr eaLnBrk="1" hangingPunct="1">
              <a:lnSpc>
                <a:spcPct val="120000"/>
              </a:lnSpc>
              <a:buClr>
                <a:srgbClr val="FF3300"/>
              </a:buClr>
              <a:buSzPct val="115000"/>
              <a:buFont typeface="Wingdings" panose="05000000000000000000" pitchFamily="2" charset="2"/>
              <a:buChar char="Ø"/>
            </a:pPr>
            <a:r>
              <a:rPr lang="zh-CN" altLang="en-US" b="1" dirty="0">
                <a:solidFill>
                  <a:srgbClr val="FFFF00"/>
                </a:solidFill>
                <a:effectLst/>
                <a:latin typeface="黑体" panose="02010609060101010101" pitchFamily="49" charset="-122"/>
                <a:ea typeface="黑体" panose="02010609060101010101" pitchFamily="49" charset="-122"/>
              </a:rPr>
              <a:t>同步中</a:t>
            </a:r>
            <a:r>
              <a:rPr lang="en-US" altLang="zh-CN" b="1" dirty="0">
                <a:solidFill>
                  <a:srgbClr val="FFFF00"/>
                </a:solidFill>
                <a:effectLst/>
                <a:latin typeface="黑体" panose="02010609060101010101" pitchFamily="49" charset="-122"/>
                <a:ea typeface="黑体" panose="02010609060101010101" pitchFamily="49" charset="-122"/>
              </a:rPr>
              <a:t>P</a:t>
            </a:r>
            <a:r>
              <a:rPr lang="zh-CN" altLang="en-US" b="1" dirty="0">
                <a:solidFill>
                  <a:srgbClr val="FFFF00"/>
                </a:solidFill>
                <a:effectLst/>
                <a:latin typeface="黑体" panose="02010609060101010101" pitchFamily="49" charset="-122"/>
                <a:ea typeface="黑体" panose="02010609060101010101" pitchFamily="49" charset="-122"/>
              </a:rPr>
              <a:t>操作表示</a:t>
            </a:r>
            <a:r>
              <a:rPr lang="zh-CN" altLang="en-US" b="1" dirty="0">
                <a:solidFill>
                  <a:srgbClr val="FFFF00"/>
                </a:solidFill>
                <a:effectLst/>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等合作伙伴发可以执行的信号</a:t>
            </a:r>
            <a:r>
              <a:rPr lang="zh-CN" altLang="en-US" b="1" dirty="0">
                <a:solidFill>
                  <a:srgbClr val="FFFF00"/>
                </a:solidFill>
                <a:effectLst/>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，即测试一个要等的信号是否到达；互斥中</a:t>
            </a:r>
            <a:r>
              <a:rPr lang="en-US" altLang="zh-CN" b="1" dirty="0">
                <a:solidFill>
                  <a:srgbClr val="FFFF00"/>
                </a:solidFill>
                <a:effectLst/>
                <a:latin typeface="黑体" panose="02010609060101010101" pitchFamily="49" charset="-122"/>
                <a:ea typeface="黑体" panose="02010609060101010101" pitchFamily="49" charset="-122"/>
              </a:rPr>
              <a:t>P</a:t>
            </a:r>
            <a:r>
              <a:rPr lang="zh-CN" altLang="en-US" b="1" dirty="0">
                <a:solidFill>
                  <a:srgbClr val="FFFF00"/>
                </a:solidFill>
                <a:effectLst/>
                <a:latin typeface="黑体" panose="02010609060101010101" pitchFamily="49" charset="-122"/>
                <a:ea typeface="黑体" panose="02010609060101010101" pitchFamily="49" charset="-122"/>
              </a:rPr>
              <a:t>操作表示申请一个临界资源，也是在等“临界资源是否可用”的信号</a:t>
            </a:r>
          </a:p>
          <a:p>
            <a:pPr eaLnBrk="1" hangingPunct="1">
              <a:lnSpc>
                <a:spcPct val="120000"/>
              </a:lnSpc>
              <a:buClr>
                <a:srgbClr val="FF3300"/>
              </a:buClr>
              <a:buSzPct val="115000"/>
              <a:buFont typeface="Wingdings" panose="05000000000000000000" pitchFamily="2" charset="2"/>
              <a:buChar char="Ø"/>
            </a:pPr>
            <a:r>
              <a:rPr lang="zh-CN" altLang="en-US" b="1" dirty="0">
                <a:solidFill>
                  <a:srgbClr val="FFFF00"/>
                </a:solidFill>
                <a:effectLst/>
                <a:latin typeface="黑体" panose="02010609060101010101" pitchFamily="49" charset="-122"/>
                <a:ea typeface="黑体" panose="02010609060101010101" pitchFamily="49" charset="-122"/>
              </a:rPr>
              <a:t>同步中</a:t>
            </a:r>
            <a:r>
              <a:rPr lang="en-US" altLang="zh-CN" b="1" dirty="0">
                <a:solidFill>
                  <a:srgbClr val="FFFF00"/>
                </a:solidFill>
                <a:effectLst/>
                <a:latin typeface="黑体" panose="02010609060101010101" pitchFamily="49" charset="-122"/>
                <a:ea typeface="黑体" panose="02010609060101010101" pitchFamily="49" charset="-122"/>
              </a:rPr>
              <a:t>V</a:t>
            </a:r>
            <a:r>
              <a:rPr lang="zh-CN" altLang="en-US" b="1" dirty="0">
                <a:solidFill>
                  <a:srgbClr val="FFFF00"/>
                </a:solidFill>
                <a:effectLst/>
                <a:latin typeface="黑体" panose="02010609060101010101" pitchFamily="49" charset="-122"/>
                <a:ea typeface="黑体" panose="02010609060101010101" pitchFamily="49" charset="-122"/>
              </a:rPr>
              <a:t>操作表示</a:t>
            </a:r>
            <a:r>
              <a:rPr lang="zh-CN" altLang="en-US" b="1" dirty="0">
                <a:solidFill>
                  <a:srgbClr val="FFFF00"/>
                </a:solidFill>
                <a:effectLst/>
                <a:ea typeface="黑体" panose="02010609060101010101" pitchFamily="49" charset="-122"/>
              </a:rPr>
              <a:t>“给合作伙伴</a:t>
            </a:r>
            <a:r>
              <a:rPr lang="zh-CN" altLang="en-US" b="1" dirty="0">
                <a:solidFill>
                  <a:srgbClr val="FFFF00"/>
                </a:solidFill>
                <a:effectLst/>
                <a:latin typeface="黑体" panose="02010609060101010101" pitchFamily="49" charset="-122"/>
                <a:ea typeface="黑体" panose="02010609060101010101" pitchFamily="49" charset="-122"/>
              </a:rPr>
              <a:t>发可以执行的信号</a:t>
            </a:r>
            <a:r>
              <a:rPr lang="zh-CN" altLang="en-US" b="1" dirty="0">
                <a:solidFill>
                  <a:srgbClr val="FFFF00"/>
                </a:solidFill>
                <a:effectLst/>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。在实现互斥时表示退出临界区后释放一个临界资源，也是在发</a:t>
            </a:r>
            <a:r>
              <a:rPr lang="zh-CN" altLang="en-US" b="1" dirty="0">
                <a:solidFill>
                  <a:srgbClr val="FFFF00"/>
                </a:solidFill>
                <a:effectLst/>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临界资源可用</a:t>
            </a:r>
            <a:r>
              <a:rPr lang="zh-CN" altLang="en-US" b="1" dirty="0">
                <a:solidFill>
                  <a:srgbClr val="FFFF00"/>
                </a:solidFill>
                <a:effectLst/>
                <a:ea typeface="黑体" panose="02010609060101010101" pitchFamily="49" charset="-122"/>
              </a:rPr>
              <a:t>”的信号</a:t>
            </a:r>
            <a:r>
              <a:rPr lang="zh-CN" altLang="en-US" b="1" dirty="0">
                <a:solidFill>
                  <a:srgbClr val="FFFF00"/>
                </a:solidFill>
                <a:effectLst/>
                <a:latin typeface="黑体" panose="02010609060101010101" pitchFamily="49" charset="-122"/>
                <a:ea typeface="黑体" panose="02010609060101010101" pitchFamily="49" charset="-122"/>
              </a:rPr>
              <a:t>。</a:t>
            </a:r>
          </a:p>
        </p:txBody>
      </p:sp>
    </p:spTree>
  </p:cSld>
  <p:clrMapOvr>
    <a:masterClrMapping/>
  </p:clrMapOvr>
  <p:transition spd="slow">
    <p:pull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8558649-67B3-46B6-802A-375C03C3494B}"/>
              </a:ext>
            </a:extLst>
          </p:cNvPr>
          <p:cNvSpPr>
            <a:spLocks noGrp="1" noChangeArrowheads="1"/>
          </p:cNvSpPr>
          <p:nvPr>
            <p:ph type="body" idx="1"/>
          </p:nvPr>
        </p:nvSpPr>
        <p:spPr>
          <a:xfrm>
            <a:off x="250825" y="1196975"/>
            <a:ext cx="8562975" cy="5321300"/>
          </a:xfrm>
        </p:spPr>
        <p:txBody>
          <a:bodyPr/>
          <a:lstStyle/>
          <a:p>
            <a:pPr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 </a:t>
            </a:r>
            <a:r>
              <a:rPr lang="zh-CN" altLang="en-US" sz="3600" b="1">
                <a:solidFill>
                  <a:srgbClr val="FFFF00"/>
                </a:solidFill>
                <a:effectLst/>
                <a:latin typeface="黑体" panose="02010609060101010101" pitchFamily="49" charset="-122"/>
                <a:ea typeface="黑体" panose="02010609060101010101" pitchFamily="49" charset="-122"/>
              </a:rPr>
              <a:t>对于两个并发进程，</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个可用资源互斥信号量的值仅取</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0</a:t>
            </a:r>
            <a:r>
              <a:rPr lang="zh-CN" altLang="en-US" sz="3600" b="1">
                <a:solidFill>
                  <a:srgbClr val="FFFF00"/>
                </a:solidFill>
                <a:effectLst/>
                <a:latin typeface="黑体" panose="02010609060101010101" pitchFamily="49" charset="-122"/>
                <a:ea typeface="黑体" panose="02010609060101010101" pitchFamily="49" charset="-122"/>
              </a:rPr>
              <a:t>和</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三个值 </a:t>
            </a:r>
          </a:p>
          <a:p>
            <a:pPr algn="just" eaLnBrk="1" hangingPunct="1"/>
            <a:r>
              <a:rPr lang="zh-CN" altLang="en-US" sz="3600" b="1">
                <a:solidFill>
                  <a:srgbClr val="FFFF00"/>
                </a:solidFill>
                <a:effectLst/>
                <a:latin typeface="黑体" panose="02010609060101010101" pitchFamily="49" charset="-122"/>
                <a:ea typeface="黑体" panose="02010609060101010101" pitchFamily="49" charset="-122"/>
              </a:rPr>
              <a:t>若</a:t>
            </a:r>
            <a:r>
              <a:rPr lang="en-US" altLang="zh-CN" sz="3600" b="1">
                <a:solidFill>
                  <a:srgbClr val="FFFF00"/>
                </a:solidFill>
                <a:effectLst/>
                <a:latin typeface="黑体" panose="02010609060101010101" pitchFamily="49" charset="-122"/>
                <a:ea typeface="黑体" panose="02010609060101010101" pitchFamily="49" charset="-122"/>
              </a:rPr>
              <a:t>sem</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表示没有进程进入临界区</a:t>
            </a:r>
          </a:p>
          <a:p>
            <a:pPr algn="just" eaLnBrk="1" hangingPunct="1"/>
            <a:r>
              <a:rPr lang="zh-CN" altLang="en-US" sz="3600" b="1">
                <a:solidFill>
                  <a:srgbClr val="FFFF00"/>
                </a:solidFill>
                <a:effectLst/>
                <a:latin typeface="黑体" panose="02010609060101010101" pitchFamily="49" charset="-122"/>
                <a:ea typeface="黑体" panose="02010609060101010101" pitchFamily="49" charset="-122"/>
              </a:rPr>
              <a:t>若</a:t>
            </a:r>
            <a:r>
              <a:rPr lang="en-US" altLang="zh-CN" sz="3600" b="1">
                <a:solidFill>
                  <a:srgbClr val="FFFF00"/>
                </a:solidFill>
                <a:effectLst/>
                <a:latin typeface="黑体" panose="02010609060101010101" pitchFamily="49" charset="-122"/>
                <a:ea typeface="黑体" panose="02010609060101010101" pitchFamily="49" charset="-122"/>
              </a:rPr>
              <a:t>sem </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0</a:t>
            </a:r>
            <a:r>
              <a:rPr lang="zh-CN" altLang="en-US" sz="3600" b="1">
                <a:solidFill>
                  <a:srgbClr val="FFFF00"/>
                </a:solidFill>
                <a:effectLst/>
                <a:latin typeface="黑体" panose="02010609060101010101" pitchFamily="49" charset="-122"/>
                <a:ea typeface="黑体" panose="02010609060101010101" pitchFamily="49" charset="-122"/>
              </a:rPr>
              <a:t>表示有一个进程进入临界区</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若</a:t>
            </a:r>
            <a:r>
              <a:rPr lang="en-US" altLang="zh-CN" sz="3600" b="1">
                <a:solidFill>
                  <a:srgbClr val="FFFF00"/>
                </a:solidFill>
                <a:effectLst/>
                <a:latin typeface="黑体" panose="02010609060101010101" pitchFamily="49" charset="-122"/>
                <a:ea typeface="黑体" panose="02010609060101010101" pitchFamily="49" charset="-122"/>
              </a:rPr>
              <a:t>sem </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表示一个进程进入临界区，另一个进程等待进入。</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a:extLst>
              <a:ext uri="{FF2B5EF4-FFF2-40B4-BE49-F238E27FC236}">
                <a16:creationId xmlns:a16="http://schemas.microsoft.com/office/drawing/2014/main" id="{5DDA4725-1536-4FB3-A9C6-249DA90447F6}"/>
              </a:ext>
            </a:extLst>
          </p:cNvPr>
          <p:cNvSpPr>
            <a:spLocks noGrp="1" noChangeArrowheads="1"/>
          </p:cNvSpPr>
          <p:nvPr>
            <p:ph type="title"/>
          </p:nvPr>
        </p:nvSpPr>
        <p:spPr>
          <a:xfrm>
            <a:off x="684213" y="765175"/>
            <a:ext cx="3989387" cy="990600"/>
          </a:xfrm>
        </p:spPr>
        <p:txBody>
          <a:bodyPr/>
          <a:lstStyle/>
          <a:p>
            <a:pPr eaLnBrk="1" hangingPunct="1">
              <a:defRPr/>
            </a:pPr>
            <a:r>
              <a:rPr lang="zh-CN" altLang="en-US" sz="4700"/>
              <a:t>思考</a:t>
            </a:r>
          </a:p>
        </p:txBody>
      </p:sp>
      <p:sp>
        <p:nvSpPr>
          <p:cNvPr id="53251" name="Rectangle 3">
            <a:extLst>
              <a:ext uri="{FF2B5EF4-FFF2-40B4-BE49-F238E27FC236}">
                <a16:creationId xmlns:a16="http://schemas.microsoft.com/office/drawing/2014/main" id="{00B5C327-808A-4D64-A2EB-C2D143D2E328}"/>
              </a:ext>
            </a:extLst>
          </p:cNvPr>
          <p:cNvSpPr>
            <a:spLocks noGrp="1" noChangeArrowheads="1"/>
          </p:cNvSpPr>
          <p:nvPr>
            <p:ph type="body" idx="1"/>
          </p:nvPr>
        </p:nvSpPr>
        <p:spPr>
          <a:xfrm>
            <a:off x="611188" y="2276475"/>
            <a:ext cx="8116887" cy="2514600"/>
          </a:xfrm>
        </p:spPr>
        <p:txBody>
          <a:bodyPr/>
          <a:lstStyle/>
          <a:p>
            <a:pPr eaLnBrk="1" hangingPunct="1"/>
            <a:r>
              <a:rPr lang="zh-CN" altLang="en-US" sz="4000">
                <a:solidFill>
                  <a:srgbClr val="FFFF00"/>
                </a:solidFill>
                <a:effectLst/>
                <a:latin typeface="黑体" panose="02010609060101010101" pitchFamily="49" charset="-122"/>
                <a:ea typeface="黑体" panose="02010609060101010101" pitchFamily="49" charset="-122"/>
              </a:rPr>
              <a:t>对于</a:t>
            </a:r>
            <a:r>
              <a:rPr lang="en-US" altLang="zh-CN" sz="4000">
                <a:solidFill>
                  <a:srgbClr val="FFFF00"/>
                </a:solidFill>
                <a:effectLst/>
                <a:latin typeface="黑体" panose="02010609060101010101" pitchFamily="49" charset="-122"/>
                <a:ea typeface="黑体" panose="02010609060101010101" pitchFamily="49" charset="-122"/>
              </a:rPr>
              <a:t>N</a:t>
            </a:r>
            <a:r>
              <a:rPr lang="zh-CN" altLang="en-US" sz="4000">
                <a:solidFill>
                  <a:srgbClr val="FFFF00"/>
                </a:solidFill>
                <a:effectLst/>
                <a:latin typeface="黑体" panose="02010609060101010101" pitchFamily="49" charset="-122"/>
                <a:ea typeface="黑体" panose="02010609060101010101" pitchFamily="49" charset="-122"/>
              </a:rPr>
              <a:t>个</a:t>
            </a:r>
            <a:r>
              <a:rPr lang="zh-CN" altLang="en-US" sz="4000" b="1">
                <a:solidFill>
                  <a:srgbClr val="FFFF00"/>
                </a:solidFill>
                <a:effectLst/>
                <a:latin typeface="黑体" panose="02010609060101010101" pitchFamily="49" charset="-122"/>
                <a:ea typeface="黑体" panose="02010609060101010101" pitchFamily="49" charset="-122"/>
              </a:rPr>
              <a:t>并发进程</a:t>
            </a:r>
            <a:r>
              <a:rPr lang="zh-CN" altLang="en-US" sz="4000">
                <a:solidFill>
                  <a:srgbClr val="FFFF00"/>
                </a:solidFill>
                <a:effectLst/>
                <a:latin typeface="黑体" panose="02010609060101010101" pitchFamily="49" charset="-122"/>
                <a:ea typeface="黑体" panose="02010609060101010101" pitchFamily="49" charset="-122"/>
              </a:rPr>
              <a:t>，</a:t>
            </a:r>
            <a:r>
              <a:rPr lang="en-US" altLang="zh-CN" sz="4000">
                <a:solidFill>
                  <a:srgbClr val="FFFF00"/>
                </a:solidFill>
                <a:effectLst/>
                <a:latin typeface="黑体" panose="02010609060101010101" pitchFamily="49" charset="-122"/>
                <a:ea typeface="黑体" panose="02010609060101010101" pitchFamily="49" charset="-122"/>
              </a:rPr>
              <a:t>1</a:t>
            </a:r>
            <a:r>
              <a:rPr lang="zh-CN" altLang="en-US" sz="4000">
                <a:solidFill>
                  <a:srgbClr val="FFFF00"/>
                </a:solidFill>
                <a:effectLst/>
                <a:latin typeface="黑体" panose="02010609060101010101" pitchFamily="49" charset="-122"/>
                <a:ea typeface="黑体" panose="02010609060101010101" pitchFamily="49" charset="-122"/>
              </a:rPr>
              <a:t>个可用资源，信号量的取值范围是什么，有什么含义，</a:t>
            </a:r>
            <a:r>
              <a:rPr lang="en-US" altLang="zh-CN" sz="4000">
                <a:solidFill>
                  <a:srgbClr val="FFFF00"/>
                </a:solidFill>
                <a:effectLst/>
                <a:latin typeface="黑体" panose="02010609060101010101" pitchFamily="49" charset="-122"/>
                <a:ea typeface="黑体" panose="02010609060101010101" pitchFamily="49" charset="-122"/>
              </a:rPr>
              <a:t>m</a:t>
            </a:r>
            <a:r>
              <a:rPr lang="zh-CN" altLang="en-US" sz="4000">
                <a:solidFill>
                  <a:srgbClr val="FFFF00"/>
                </a:solidFill>
                <a:effectLst/>
                <a:latin typeface="黑体" panose="02010609060101010101" pitchFamily="49" charset="-122"/>
                <a:ea typeface="黑体" panose="02010609060101010101" pitchFamily="49" charset="-122"/>
              </a:rPr>
              <a:t>个可用资源呢？</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EAE4641-A8DB-4919-9AD1-32E77E093417}"/>
              </a:ext>
            </a:extLst>
          </p:cNvPr>
          <p:cNvSpPr>
            <a:spLocks noGrp="1" noChangeArrowheads="1"/>
          </p:cNvSpPr>
          <p:nvPr>
            <p:ph type="body" idx="1"/>
          </p:nvPr>
        </p:nvSpPr>
        <p:spPr>
          <a:xfrm>
            <a:off x="359568" y="1268760"/>
            <a:ext cx="8424863" cy="1367656"/>
          </a:xfrm>
        </p:spPr>
        <p:txBody>
          <a:bodyPr/>
          <a:lstStyle/>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把临界区置于</a:t>
            </a:r>
            <a:r>
              <a:rPr lang="en-US" altLang="zh-CN" sz="3600" b="1" dirty="0">
                <a:solidFill>
                  <a:srgbClr val="FFFF00"/>
                </a:solidFill>
                <a:effectLst/>
                <a:latin typeface="黑体" panose="02010609060101010101" pitchFamily="49" charset="-122"/>
                <a:ea typeface="黑体" panose="02010609060101010101" pitchFamily="49" charset="-122"/>
              </a:rPr>
              <a:t>P(</a:t>
            </a:r>
            <a:r>
              <a:rPr lang="en-US" altLang="zh-CN" sz="3600" b="1" dirty="0" err="1">
                <a:solidFill>
                  <a:srgbClr val="FFFF00"/>
                </a:solidFill>
                <a:effectLst/>
                <a:latin typeface="黑体" panose="02010609060101010101" pitchFamily="49" charset="-122"/>
                <a:ea typeface="黑体" panose="02010609060101010101" pitchFamily="49" charset="-122"/>
              </a:rPr>
              <a:t>sem</a:t>
            </a:r>
            <a:r>
              <a:rPr lang="en-US" altLang="zh-CN" sz="3600" b="1" dirty="0">
                <a:solidFill>
                  <a:srgbClr val="FFFF00"/>
                </a:solidFill>
                <a:effectLst/>
                <a:latin typeface="黑体" panose="02010609060101010101" pitchFamily="49" charset="-122"/>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和</a:t>
            </a:r>
            <a:r>
              <a:rPr lang="en-US" altLang="zh-CN" sz="3600" b="1" dirty="0">
                <a:solidFill>
                  <a:srgbClr val="FFFF00"/>
                </a:solidFill>
                <a:effectLst/>
                <a:latin typeface="黑体" panose="02010609060101010101" pitchFamily="49" charset="-122"/>
                <a:ea typeface="黑体" panose="02010609060101010101" pitchFamily="49" charset="-122"/>
              </a:rPr>
              <a:t>V(</a:t>
            </a:r>
            <a:r>
              <a:rPr lang="en-US" altLang="zh-CN" sz="3600" b="1" dirty="0" err="1">
                <a:solidFill>
                  <a:srgbClr val="FFFF00"/>
                </a:solidFill>
                <a:effectLst/>
                <a:latin typeface="黑体" panose="02010609060101010101" pitchFamily="49" charset="-122"/>
                <a:ea typeface="黑体" panose="02010609060101010101" pitchFamily="49" charset="-122"/>
              </a:rPr>
              <a:t>sem</a:t>
            </a:r>
            <a:r>
              <a:rPr lang="en-US" altLang="zh-CN" sz="3600" b="1" dirty="0">
                <a:solidFill>
                  <a:srgbClr val="FFFF00"/>
                </a:solidFill>
                <a:effectLst/>
                <a:latin typeface="黑体" panose="02010609060101010101" pitchFamily="49" charset="-122"/>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之间</a:t>
            </a: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保证这些进程互斥地进入各自的临界区</a:t>
            </a:r>
          </a:p>
        </p:txBody>
      </p:sp>
      <p:sp>
        <p:nvSpPr>
          <p:cNvPr id="392195" name="Rectangle 3">
            <a:extLst>
              <a:ext uri="{FF2B5EF4-FFF2-40B4-BE49-F238E27FC236}">
                <a16:creationId xmlns:a16="http://schemas.microsoft.com/office/drawing/2014/main" id="{0BE0380F-75E6-46A0-A63B-397AAF480207}"/>
              </a:ext>
            </a:extLst>
          </p:cNvPr>
          <p:cNvSpPr>
            <a:spLocks noGrp="1" noChangeArrowheads="1"/>
          </p:cNvSpPr>
          <p:nvPr>
            <p:ph type="title"/>
          </p:nvPr>
        </p:nvSpPr>
        <p:spPr>
          <a:xfrm>
            <a:off x="251520" y="211931"/>
            <a:ext cx="5240337" cy="960437"/>
          </a:xfrm>
        </p:spPr>
        <p:txBody>
          <a:bodyPr anchor="b" anchorCtr="0"/>
          <a:lstStyle/>
          <a:p>
            <a:pPr eaLnBrk="1" hangingPunct="1">
              <a:defRPr/>
            </a:pPr>
            <a:r>
              <a:rPr lang="en-US" altLang="zh-CN" sz="4000" dirty="0">
                <a:solidFill>
                  <a:schemeClr val="tx1"/>
                </a:solidFill>
                <a:effectLst>
                  <a:outerShdw blurRad="38100" dist="38100" dir="2700000" algn="tl">
                    <a:srgbClr val="010199"/>
                  </a:outerShdw>
                </a:effectLst>
                <a:latin typeface="楷体_GB2312" pitchFamily="49" charset="-122"/>
                <a:ea typeface="楷体_GB2312" pitchFamily="49" charset="-122"/>
              </a:rPr>
              <a:t>3.</a:t>
            </a:r>
            <a:r>
              <a:rPr lang="zh-CN" altLang="en-US" sz="4000" dirty="0">
                <a:solidFill>
                  <a:schemeClr val="tx1"/>
                </a:solidFill>
                <a:effectLst>
                  <a:outerShdw blurRad="38100" dist="38100" dir="2700000" algn="tl">
                    <a:srgbClr val="010199"/>
                  </a:outerShdw>
                </a:effectLst>
                <a:latin typeface="楷体_GB2312" pitchFamily="49" charset="-122"/>
                <a:ea typeface="楷体_GB2312" pitchFamily="49" charset="-122"/>
              </a:rPr>
              <a:t>信号量机制实现互斥</a:t>
            </a:r>
          </a:p>
        </p:txBody>
      </p:sp>
      <p:grpSp>
        <p:nvGrpSpPr>
          <p:cNvPr id="2" name="Group 3">
            <a:extLst>
              <a:ext uri="{FF2B5EF4-FFF2-40B4-BE49-F238E27FC236}">
                <a16:creationId xmlns:a16="http://schemas.microsoft.com/office/drawing/2014/main" id="{3EAC8973-CD47-E9F8-B238-409C5C0DC9AE}"/>
              </a:ext>
            </a:extLst>
          </p:cNvPr>
          <p:cNvGrpSpPr>
            <a:grpSpLocks/>
          </p:cNvGrpSpPr>
          <p:nvPr/>
        </p:nvGrpSpPr>
        <p:grpSpPr bwMode="auto">
          <a:xfrm>
            <a:off x="827584" y="3140968"/>
            <a:ext cx="7200800" cy="3247256"/>
            <a:chOff x="240" y="576"/>
            <a:chExt cx="5184" cy="3552"/>
          </a:xfrm>
        </p:grpSpPr>
        <p:sp>
          <p:nvSpPr>
            <p:cNvPr id="3" name="Rectangle 4">
              <a:extLst>
                <a:ext uri="{FF2B5EF4-FFF2-40B4-BE49-F238E27FC236}">
                  <a16:creationId xmlns:a16="http://schemas.microsoft.com/office/drawing/2014/main" id="{3D3521C6-83FE-1B63-C52D-815A9E8E5210}"/>
                </a:ext>
              </a:extLst>
            </p:cNvPr>
            <p:cNvSpPr>
              <a:spLocks noChangeArrowheads="1"/>
            </p:cNvSpPr>
            <p:nvPr/>
          </p:nvSpPr>
          <p:spPr bwMode="auto">
            <a:xfrm>
              <a:off x="240" y="576"/>
              <a:ext cx="5184" cy="3552"/>
            </a:xfrm>
            <a:prstGeom prst="rect">
              <a:avLst/>
            </a:prstGeom>
            <a:gradFill rotWithShape="0">
              <a:gsLst>
                <a:gs pos="0">
                  <a:srgbClr val="99FFCC"/>
                </a:gs>
                <a:gs pos="100000">
                  <a:srgbClr val="47765E"/>
                </a:gs>
              </a:gsLst>
              <a:lin ang="5400000" scaled="1"/>
            </a:gra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99FFCC"/>
              </a:extrusionClr>
              <a:contourClr>
                <a:srgbClr val="99FFCC"/>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nvGrpSpPr>
            <p:cNvPr id="4" name="Group 5">
              <a:extLst>
                <a:ext uri="{FF2B5EF4-FFF2-40B4-BE49-F238E27FC236}">
                  <a16:creationId xmlns:a16="http://schemas.microsoft.com/office/drawing/2014/main" id="{5790C467-85AB-746D-1535-35C94923FF28}"/>
                </a:ext>
              </a:extLst>
            </p:cNvPr>
            <p:cNvGrpSpPr>
              <a:grpSpLocks/>
            </p:cNvGrpSpPr>
            <p:nvPr/>
          </p:nvGrpSpPr>
          <p:grpSpPr bwMode="auto">
            <a:xfrm>
              <a:off x="720" y="1488"/>
              <a:ext cx="4266" cy="1844"/>
              <a:chOff x="768" y="912"/>
              <a:chExt cx="4536" cy="1968"/>
            </a:xfrm>
          </p:grpSpPr>
          <p:grpSp>
            <p:nvGrpSpPr>
              <p:cNvPr id="11" name="Group 6">
                <a:extLst>
                  <a:ext uri="{FF2B5EF4-FFF2-40B4-BE49-F238E27FC236}">
                    <a16:creationId xmlns:a16="http://schemas.microsoft.com/office/drawing/2014/main" id="{321CB99D-0D81-748A-D8C2-91CFD104841E}"/>
                  </a:ext>
                </a:extLst>
              </p:cNvPr>
              <p:cNvGrpSpPr>
                <a:grpSpLocks/>
              </p:cNvGrpSpPr>
              <p:nvPr/>
            </p:nvGrpSpPr>
            <p:grpSpPr bwMode="auto">
              <a:xfrm>
                <a:off x="768" y="912"/>
                <a:ext cx="1152" cy="1920"/>
                <a:chOff x="768" y="912"/>
                <a:chExt cx="1152" cy="1920"/>
              </a:xfrm>
            </p:grpSpPr>
            <p:sp>
              <p:nvSpPr>
                <p:cNvPr id="24" name="Rectangle 7">
                  <a:extLst>
                    <a:ext uri="{FF2B5EF4-FFF2-40B4-BE49-F238E27FC236}">
                      <a16:creationId xmlns:a16="http://schemas.microsoft.com/office/drawing/2014/main" id="{D6B9DDB3-8200-8A45-E372-774EF4D6DD5F}"/>
                    </a:ext>
                  </a:extLst>
                </p:cNvPr>
                <p:cNvSpPr>
                  <a:spLocks noChangeArrowheads="1"/>
                </p:cNvSpPr>
                <p:nvPr/>
              </p:nvSpPr>
              <p:spPr bwMode="auto">
                <a:xfrm>
                  <a:off x="768" y="912"/>
                  <a:ext cx="1152" cy="1920"/>
                </a:xfrm>
                <a:prstGeom prst="rect">
                  <a:avLst/>
                </a:prstGeom>
                <a:solidFill>
                  <a:srgbClr val="FFFF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00"/>
                  </a:extrusionClr>
                  <a:contourClr>
                    <a:srgbClr val="FFFF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nvGrpSpPr>
                <p:cNvPr id="25" name="Group 8">
                  <a:extLst>
                    <a:ext uri="{FF2B5EF4-FFF2-40B4-BE49-F238E27FC236}">
                      <a16:creationId xmlns:a16="http://schemas.microsoft.com/office/drawing/2014/main" id="{B7382F8F-10F8-6613-224B-9C8F4FAC5860}"/>
                    </a:ext>
                  </a:extLst>
                </p:cNvPr>
                <p:cNvGrpSpPr>
                  <a:grpSpLocks/>
                </p:cNvGrpSpPr>
                <p:nvPr/>
              </p:nvGrpSpPr>
              <p:grpSpPr bwMode="auto">
                <a:xfrm>
                  <a:off x="1056" y="1726"/>
                  <a:ext cx="573" cy="930"/>
                  <a:chOff x="1056" y="1390"/>
                  <a:chExt cx="573" cy="930"/>
                </a:xfrm>
              </p:grpSpPr>
              <p:sp>
                <p:nvSpPr>
                  <p:cNvPr id="26" name="Text Box 9">
                    <a:extLst>
                      <a:ext uri="{FF2B5EF4-FFF2-40B4-BE49-F238E27FC236}">
                        <a16:creationId xmlns:a16="http://schemas.microsoft.com/office/drawing/2014/main" id="{D34A77CE-E79B-AFDD-29E8-3A411081139C}"/>
                      </a:ext>
                    </a:extLst>
                  </p:cNvPr>
                  <p:cNvSpPr txBox="1">
                    <a:spLocks noChangeArrowheads="1"/>
                  </p:cNvSpPr>
                  <p:nvPr/>
                </p:nvSpPr>
                <p:spPr bwMode="auto">
                  <a:xfrm>
                    <a:off x="1102" y="1390"/>
                    <a:ext cx="527"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rPr>
                      <a:t>P(S)</a:t>
                    </a:r>
                    <a:endParaRPr kumimoji="1" lang="en-US" altLang="zh-CN" sz="2400">
                      <a:latin typeface="Times New Roman" panose="02020603050405020304" pitchFamily="18" charset="0"/>
                    </a:endParaRPr>
                  </a:p>
                </p:txBody>
              </p:sp>
              <p:sp>
                <p:nvSpPr>
                  <p:cNvPr id="27" name="Text Box 10">
                    <a:extLst>
                      <a:ext uri="{FF2B5EF4-FFF2-40B4-BE49-F238E27FC236}">
                        <a16:creationId xmlns:a16="http://schemas.microsoft.com/office/drawing/2014/main" id="{F6C5FBFD-27AD-61EF-5054-61E920E0D720}"/>
                      </a:ext>
                    </a:extLst>
                  </p:cNvPr>
                  <p:cNvSpPr txBox="1">
                    <a:spLocks noChangeArrowheads="1"/>
                  </p:cNvSpPr>
                  <p:nvPr/>
                </p:nvSpPr>
                <p:spPr bwMode="auto">
                  <a:xfrm>
                    <a:off x="1102" y="1977"/>
                    <a:ext cx="527"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rPr>
                      <a:t>V(S)</a:t>
                    </a:r>
                    <a:endParaRPr kumimoji="1" lang="en-US" altLang="zh-CN" sz="2400">
                      <a:latin typeface="Times New Roman" panose="02020603050405020304" pitchFamily="18" charset="0"/>
                    </a:endParaRPr>
                  </a:p>
                </p:txBody>
              </p:sp>
              <p:sp>
                <p:nvSpPr>
                  <p:cNvPr id="28" name="Rectangle 11">
                    <a:extLst>
                      <a:ext uri="{FF2B5EF4-FFF2-40B4-BE49-F238E27FC236}">
                        <a16:creationId xmlns:a16="http://schemas.microsoft.com/office/drawing/2014/main" id="{46980555-A073-31C7-80FF-9EDBA2EB055E}"/>
                      </a:ext>
                    </a:extLst>
                  </p:cNvPr>
                  <p:cNvSpPr>
                    <a:spLocks noChangeArrowheads="1"/>
                  </p:cNvSpPr>
                  <p:nvPr/>
                </p:nvSpPr>
                <p:spPr bwMode="auto">
                  <a:xfrm>
                    <a:off x="1056" y="1728"/>
                    <a:ext cx="52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grpSp>
          <p:grpSp>
            <p:nvGrpSpPr>
              <p:cNvPr id="12" name="Group 12">
                <a:extLst>
                  <a:ext uri="{FF2B5EF4-FFF2-40B4-BE49-F238E27FC236}">
                    <a16:creationId xmlns:a16="http://schemas.microsoft.com/office/drawing/2014/main" id="{1D048D2B-2CF9-6B02-5A3E-68394B4108B4}"/>
                  </a:ext>
                </a:extLst>
              </p:cNvPr>
              <p:cNvGrpSpPr>
                <a:grpSpLocks/>
              </p:cNvGrpSpPr>
              <p:nvPr/>
            </p:nvGrpSpPr>
            <p:grpSpPr bwMode="auto">
              <a:xfrm>
                <a:off x="2496" y="912"/>
                <a:ext cx="1152" cy="1920"/>
                <a:chOff x="2496" y="912"/>
                <a:chExt cx="1152" cy="1920"/>
              </a:xfrm>
            </p:grpSpPr>
            <p:sp>
              <p:nvSpPr>
                <p:cNvPr id="19" name="Rectangle 13">
                  <a:extLst>
                    <a:ext uri="{FF2B5EF4-FFF2-40B4-BE49-F238E27FC236}">
                      <a16:creationId xmlns:a16="http://schemas.microsoft.com/office/drawing/2014/main" id="{9E748845-49AF-38B1-D809-8A2AAD76B660}"/>
                    </a:ext>
                  </a:extLst>
                </p:cNvPr>
                <p:cNvSpPr>
                  <a:spLocks noChangeArrowheads="1"/>
                </p:cNvSpPr>
                <p:nvPr/>
              </p:nvSpPr>
              <p:spPr bwMode="auto">
                <a:xfrm>
                  <a:off x="2496" y="912"/>
                  <a:ext cx="1152" cy="1920"/>
                </a:xfrm>
                <a:prstGeom prst="rect">
                  <a:avLst/>
                </a:prstGeom>
                <a:solidFill>
                  <a:srgbClr val="FFFF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00"/>
                  </a:extrusionClr>
                  <a:contourClr>
                    <a:srgbClr val="FFFF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nvGrpSpPr>
                <p:cNvPr id="20" name="Group 14">
                  <a:extLst>
                    <a:ext uri="{FF2B5EF4-FFF2-40B4-BE49-F238E27FC236}">
                      <a16:creationId xmlns:a16="http://schemas.microsoft.com/office/drawing/2014/main" id="{15549E8B-6455-C5FB-C756-B1DEDDA1CA41}"/>
                    </a:ext>
                  </a:extLst>
                </p:cNvPr>
                <p:cNvGrpSpPr>
                  <a:grpSpLocks/>
                </p:cNvGrpSpPr>
                <p:nvPr/>
              </p:nvGrpSpPr>
              <p:grpSpPr bwMode="auto">
                <a:xfrm>
                  <a:off x="2735" y="1440"/>
                  <a:ext cx="626" cy="916"/>
                  <a:chOff x="1007" y="1392"/>
                  <a:chExt cx="626" cy="916"/>
                </a:xfrm>
              </p:grpSpPr>
              <p:sp>
                <p:nvSpPr>
                  <p:cNvPr id="21" name="Text Box 15">
                    <a:extLst>
                      <a:ext uri="{FF2B5EF4-FFF2-40B4-BE49-F238E27FC236}">
                        <a16:creationId xmlns:a16="http://schemas.microsoft.com/office/drawing/2014/main" id="{36DC84EC-74DB-A8A1-A504-22B9E9552C1B}"/>
                      </a:ext>
                    </a:extLst>
                  </p:cNvPr>
                  <p:cNvSpPr txBox="1">
                    <a:spLocks noChangeArrowheads="1"/>
                  </p:cNvSpPr>
                  <p:nvPr/>
                </p:nvSpPr>
                <p:spPr bwMode="auto">
                  <a:xfrm>
                    <a:off x="1104" y="1392"/>
                    <a:ext cx="529"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rPr>
                      <a:t>P(S)</a:t>
                    </a:r>
                  </a:p>
                </p:txBody>
              </p:sp>
              <p:sp>
                <p:nvSpPr>
                  <p:cNvPr id="22" name="Text Box 16">
                    <a:extLst>
                      <a:ext uri="{FF2B5EF4-FFF2-40B4-BE49-F238E27FC236}">
                        <a16:creationId xmlns:a16="http://schemas.microsoft.com/office/drawing/2014/main" id="{C30DC353-CDE8-6F0A-592A-59BCD2509337}"/>
                      </a:ext>
                    </a:extLst>
                  </p:cNvPr>
                  <p:cNvSpPr txBox="1">
                    <a:spLocks noChangeArrowheads="1"/>
                  </p:cNvSpPr>
                  <p:nvPr/>
                </p:nvSpPr>
                <p:spPr bwMode="auto">
                  <a:xfrm>
                    <a:off x="1007" y="1965"/>
                    <a:ext cx="529"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rPr>
                      <a:t>V(S)</a:t>
                    </a:r>
                    <a:endParaRPr kumimoji="1" lang="en-US" altLang="zh-CN" sz="2400">
                      <a:latin typeface="Times New Roman" panose="02020603050405020304" pitchFamily="18" charset="0"/>
                    </a:endParaRPr>
                  </a:p>
                </p:txBody>
              </p:sp>
              <p:sp>
                <p:nvSpPr>
                  <p:cNvPr id="23" name="Rectangle 17">
                    <a:extLst>
                      <a:ext uri="{FF2B5EF4-FFF2-40B4-BE49-F238E27FC236}">
                        <a16:creationId xmlns:a16="http://schemas.microsoft.com/office/drawing/2014/main" id="{9F510561-12AB-DEC5-5E2B-4113A2A38A49}"/>
                      </a:ext>
                    </a:extLst>
                  </p:cNvPr>
                  <p:cNvSpPr>
                    <a:spLocks noChangeArrowheads="1"/>
                  </p:cNvSpPr>
                  <p:nvPr/>
                </p:nvSpPr>
                <p:spPr bwMode="auto">
                  <a:xfrm>
                    <a:off x="1056" y="1728"/>
                    <a:ext cx="52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grpSp>
          <p:grpSp>
            <p:nvGrpSpPr>
              <p:cNvPr id="13" name="Group 18">
                <a:extLst>
                  <a:ext uri="{FF2B5EF4-FFF2-40B4-BE49-F238E27FC236}">
                    <a16:creationId xmlns:a16="http://schemas.microsoft.com/office/drawing/2014/main" id="{7194D4FA-3DDB-1E42-85B1-E03669F5F653}"/>
                  </a:ext>
                </a:extLst>
              </p:cNvPr>
              <p:cNvGrpSpPr>
                <a:grpSpLocks/>
              </p:cNvGrpSpPr>
              <p:nvPr/>
            </p:nvGrpSpPr>
            <p:grpSpPr bwMode="auto">
              <a:xfrm>
                <a:off x="4152" y="960"/>
                <a:ext cx="1152" cy="1920"/>
                <a:chOff x="4152" y="960"/>
                <a:chExt cx="1152" cy="1920"/>
              </a:xfrm>
            </p:grpSpPr>
            <p:sp>
              <p:nvSpPr>
                <p:cNvPr id="14" name="Rectangle 19">
                  <a:extLst>
                    <a:ext uri="{FF2B5EF4-FFF2-40B4-BE49-F238E27FC236}">
                      <a16:creationId xmlns:a16="http://schemas.microsoft.com/office/drawing/2014/main" id="{A8FA6C4B-A6CE-0403-97A2-4706DFBE8B61}"/>
                    </a:ext>
                  </a:extLst>
                </p:cNvPr>
                <p:cNvSpPr>
                  <a:spLocks noChangeArrowheads="1"/>
                </p:cNvSpPr>
                <p:nvPr/>
              </p:nvSpPr>
              <p:spPr bwMode="auto">
                <a:xfrm>
                  <a:off x="4152" y="960"/>
                  <a:ext cx="1152" cy="1920"/>
                </a:xfrm>
                <a:prstGeom prst="rect">
                  <a:avLst/>
                </a:prstGeom>
                <a:solidFill>
                  <a:srgbClr val="FFFF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00"/>
                  </a:extrusionClr>
                  <a:contourClr>
                    <a:srgbClr val="FFFF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nvGrpSpPr>
                <p:cNvPr id="15" name="Group 20">
                  <a:extLst>
                    <a:ext uri="{FF2B5EF4-FFF2-40B4-BE49-F238E27FC236}">
                      <a16:creationId xmlns:a16="http://schemas.microsoft.com/office/drawing/2014/main" id="{5BCC27E4-CF3C-DE28-55E2-8E56410C8DF6}"/>
                    </a:ext>
                  </a:extLst>
                </p:cNvPr>
                <p:cNvGrpSpPr>
                  <a:grpSpLocks/>
                </p:cNvGrpSpPr>
                <p:nvPr/>
              </p:nvGrpSpPr>
              <p:grpSpPr bwMode="auto">
                <a:xfrm>
                  <a:off x="4464" y="1055"/>
                  <a:ext cx="578" cy="953"/>
                  <a:chOff x="1056" y="1391"/>
                  <a:chExt cx="578" cy="953"/>
                </a:xfrm>
              </p:grpSpPr>
              <p:sp>
                <p:nvSpPr>
                  <p:cNvPr id="16" name="Text Box 21">
                    <a:extLst>
                      <a:ext uri="{FF2B5EF4-FFF2-40B4-BE49-F238E27FC236}">
                        <a16:creationId xmlns:a16="http://schemas.microsoft.com/office/drawing/2014/main" id="{D43D1786-A56F-7B9F-FF7B-E5688BB73C03}"/>
                      </a:ext>
                    </a:extLst>
                  </p:cNvPr>
                  <p:cNvSpPr txBox="1">
                    <a:spLocks noChangeArrowheads="1"/>
                  </p:cNvSpPr>
                  <p:nvPr/>
                </p:nvSpPr>
                <p:spPr bwMode="auto">
                  <a:xfrm>
                    <a:off x="1105" y="1391"/>
                    <a:ext cx="529"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rPr>
                      <a:t>P(S)</a:t>
                    </a:r>
                  </a:p>
                </p:txBody>
              </p:sp>
              <p:sp>
                <p:nvSpPr>
                  <p:cNvPr id="17" name="Text Box 22">
                    <a:extLst>
                      <a:ext uri="{FF2B5EF4-FFF2-40B4-BE49-F238E27FC236}">
                        <a16:creationId xmlns:a16="http://schemas.microsoft.com/office/drawing/2014/main" id="{3C7BBD34-4AC7-3B3A-2B10-63680A2F9A2A}"/>
                      </a:ext>
                    </a:extLst>
                  </p:cNvPr>
                  <p:cNvSpPr txBox="1">
                    <a:spLocks noChangeArrowheads="1"/>
                  </p:cNvSpPr>
                  <p:nvPr/>
                </p:nvSpPr>
                <p:spPr bwMode="auto">
                  <a:xfrm>
                    <a:off x="1090" y="2001"/>
                    <a:ext cx="52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rPr>
                      <a:t>V(S)</a:t>
                    </a:r>
                  </a:p>
                </p:txBody>
              </p:sp>
              <p:sp>
                <p:nvSpPr>
                  <p:cNvPr id="18" name="Rectangle 23">
                    <a:extLst>
                      <a:ext uri="{FF2B5EF4-FFF2-40B4-BE49-F238E27FC236}">
                        <a16:creationId xmlns:a16="http://schemas.microsoft.com/office/drawing/2014/main" id="{0CA7ECDD-CEBF-8943-2673-D0ADBD3201BF}"/>
                      </a:ext>
                    </a:extLst>
                  </p:cNvPr>
                  <p:cNvSpPr>
                    <a:spLocks noChangeArrowheads="1"/>
                  </p:cNvSpPr>
                  <p:nvPr/>
                </p:nvSpPr>
                <p:spPr bwMode="auto">
                  <a:xfrm>
                    <a:off x="1056" y="1728"/>
                    <a:ext cx="528"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grpSp>
        </p:grpSp>
        <p:grpSp>
          <p:nvGrpSpPr>
            <p:cNvPr id="5" name="Group 24">
              <a:extLst>
                <a:ext uri="{FF2B5EF4-FFF2-40B4-BE49-F238E27FC236}">
                  <a16:creationId xmlns:a16="http://schemas.microsoft.com/office/drawing/2014/main" id="{D3581ED0-67F7-8C3A-1B3D-387C4AB2B51D}"/>
                </a:ext>
              </a:extLst>
            </p:cNvPr>
            <p:cNvGrpSpPr>
              <a:grpSpLocks/>
            </p:cNvGrpSpPr>
            <p:nvPr/>
          </p:nvGrpSpPr>
          <p:grpSpPr bwMode="auto">
            <a:xfrm>
              <a:off x="960" y="912"/>
              <a:ext cx="3770" cy="321"/>
              <a:chOff x="994" y="803"/>
              <a:chExt cx="3770" cy="321"/>
            </a:xfrm>
          </p:grpSpPr>
          <p:sp>
            <p:nvSpPr>
              <p:cNvPr id="8" name="Text Box 25">
                <a:extLst>
                  <a:ext uri="{FF2B5EF4-FFF2-40B4-BE49-F238E27FC236}">
                    <a16:creationId xmlns:a16="http://schemas.microsoft.com/office/drawing/2014/main" id="{A9DDCCB7-DECB-1E82-6AA5-34E3B85D90BF}"/>
                  </a:ext>
                </a:extLst>
              </p:cNvPr>
              <p:cNvSpPr txBox="1">
                <a:spLocks noChangeArrowheads="1"/>
              </p:cNvSpPr>
              <p:nvPr/>
            </p:nvSpPr>
            <p:spPr bwMode="auto">
              <a:xfrm>
                <a:off x="994" y="803"/>
                <a:ext cx="566" cy="321"/>
              </a:xfrm>
              <a:prstGeom prst="rect">
                <a:avLst/>
              </a:prstGeom>
              <a:solidFill>
                <a:srgbClr val="FFFFCC"/>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en-US" altLang="zh-CN" sz="2400" b="1">
                    <a:solidFill>
                      <a:schemeClr val="accent2"/>
                    </a:solidFill>
                    <a:latin typeface="Times New Roman" panose="02020603050405020304" pitchFamily="18" charset="0"/>
                  </a:rPr>
                  <a:t>P</a:t>
                </a:r>
                <a:r>
                  <a:rPr kumimoji="1" lang="en-US" altLang="zh-CN" sz="2400" b="1" baseline="-25000">
                    <a:solidFill>
                      <a:schemeClr val="accent2"/>
                    </a:solidFill>
                    <a:latin typeface="Times New Roman" panose="02020603050405020304" pitchFamily="18" charset="0"/>
                  </a:rPr>
                  <a:t>1</a:t>
                </a:r>
                <a:endParaRPr kumimoji="1" lang="en-US" altLang="zh-CN" sz="2400" b="1">
                  <a:solidFill>
                    <a:schemeClr val="accent2"/>
                  </a:solidFill>
                  <a:latin typeface="Times New Roman" panose="02020603050405020304" pitchFamily="18" charset="0"/>
                </a:endParaRPr>
              </a:p>
            </p:txBody>
          </p:sp>
          <p:sp>
            <p:nvSpPr>
              <p:cNvPr id="9" name="Text Box 26">
                <a:extLst>
                  <a:ext uri="{FF2B5EF4-FFF2-40B4-BE49-F238E27FC236}">
                    <a16:creationId xmlns:a16="http://schemas.microsoft.com/office/drawing/2014/main" id="{DFC7A7F3-A8D3-110D-A963-64C000DE89E2}"/>
                  </a:ext>
                </a:extLst>
              </p:cNvPr>
              <p:cNvSpPr txBox="1">
                <a:spLocks noChangeArrowheads="1"/>
              </p:cNvSpPr>
              <p:nvPr/>
            </p:nvSpPr>
            <p:spPr bwMode="auto">
              <a:xfrm>
                <a:off x="2643" y="803"/>
                <a:ext cx="566" cy="321"/>
              </a:xfrm>
              <a:prstGeom prst="rect">
                <a:avLst/>
              </a:prstGeom>
              <a:solidFill>
                <a:srgbClr val="FFFFCC"/>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en-US" altLang="zh-CN" sz="2400" b="1">
                    <a:solidFill>
                      <a:schemeClr val="accent2"/>
                    </a:solidFill>
                    <a:latin typeface="Times New Roman" panose="02020603050405020304" pitchFamily="18" charset="0"/>
                  </a:rPr>
                  <a:t>P</a:t>
                </a:r>
                <a:r>
                  <a:rPr kumimoji="1" lang="en-US" altLang="zh-CN" sz="2400" b="1" baseline="-25000">
                    <a:solidFill>
                      <a:schemeClr val="accent2"/>
                    </a:solidFill>
                    <a:latin typeface="Times New Roman" panose="02020603050405020304" pitchFamily="18" charset="0"/>
                  </a:rPr>
                  <a:t>2</a:t>
                </a:r>
                <a:endParaRPr kumimoji="1" lang="en-US" altLang="zh-CN" sz="2400" b="1">
                  <a:solidFill>
                    <a:schemeClr val="accent2"/>
                  </a:solidFill>
                  <a:latin typeface="Times New Roman" panose="02020603050405020304" pitchFamily="18" charset="0"/>
                </a:endParaRPr>
              </a:p>
            </p:txBody>
          </p:sp>
          <p:sp>
            <p:nvSpPr>
              <p:cNvPr id="10" name="Text Box 27">
                <a:extLst>
                  <a:ext uri="{FF2B5EF4-FFF2-40B4-BE49-F238E27FC236}">
                    <a16:creationId xmlns:a16="http://schemas.microsoft.com/office/drawing/2014/main" id="{A142E881-717F-1D3C-98B6-9D61B1C7AC17}"/>
                  </a:ext>
                </a:extLst>
              </p:cNvPr>
              <p:cNvSpPr txBox="1">
                <a:spLocks noChangeArrowheads="1"/>
              </p:cNvSpPr>
              <p:nvPr/>
            </p:nvSpPr>
            <p:spPr bwMode="auto">
              <a:xfrm>
                <a:off x="4199" y="803"/>
                <a:ext cx="565" cy="321"/>
              </a:xfrm>
              <a:prstGeom prst="rect">
                <a:avLst/>
              </a:prstGeom>
              <a:solidFill>
                <a:srgbClr val="FFFFCC"/>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en-US" altLang="zh-CN" sz="2400" b="1">
                    <a:solidFill>
                      <a:schemeClr val="accent2"/>
                    </a:solidFill>
                    <a:latin typeface="Times New Roman" panose="02020603050405020304" pitchFamily="18" charset="0"/>
                  </a:rPr>
                  <a:t>P</a:t>
                </a:r>
                <a:r>
                  <a:rPr kumimoji="1" lang="en-US" altLang="zh-CN" sz="2400" b="1" baseline="-25000">
                    <a:solidFill>
                      <a:schemeClr val="accent2"/>
                    </a:solidFill>
                    <a:latin typeface="Times New Roman" panose="02020603050405020304" pitchFamily="18" charset="0"/>
                  </a:rPr>
                  <a:t>3</a:t>
                </a:r>
                <a:endParaRPr kumimoji="1" lang="en-US" altLang="zh-CN" sz="2400" b="1">
                  <a:solidFill>
                    <a:schemeClr val="accent2"/>
                  </a:solidFill>
                  <a:latin typeface="Times New Roman" panose="02020603050405020304" pitchFamily="18" charset="0"/>
                </a:endParaRPr>
              </a:p>
            </p:txBody>
          </p:sp>
        </p:grpSp>
        <p:sp>
          <p:nvSpPr>
            <p:cNvPr id="6" name="Text Box 28">
              <a:extLst>
                <a:ext uri="{FF2B5EF4-FFF2-40B4-BE49-F238E27FC236}">
                  <a16:creationId xmlns:a16="http://schemas.microsoft.com/office/drawing/2014/main" id="{06B8EB42-A66C-389D-AECA-CEBCA010EE67}"/>
                </a:ext>
              </a:extLst>
            </p:cNvPr>
            <p:cNvSpPr txBox="1">
              <a:spLocks noChangeArrowheads="1"/>
            </p:cNvSpPr>
            <p:nvPr/>
          </p:nvSpPr>
          <p:spPr bwMode="auto">
            <a:xfrm>
              <a:off x="288" y="3504"/>
              <a:ext cx="801" cy="321"/>
            </a:xfrm>
            <a:prstGeom prst="rect">
              <a:avLst/>
            </a:prstGeom>
            <a:solidFill>
              <a:srgbClr val="FFFFCC"/>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b="1">
                  <a:solidFill>
                    <a:schemeClr val="accent2"/>
                  </a:solidFill>
                  <a:latin typeface="Times New Roman" panose="02020603050405020304" pitchFamily="18" charset="0"/>
                  <a:ea typeface="楷体_GB2312" pitchFamily="49" charset="-122"/>
                </a:rPr>
                <a:t>临界区</a:t>
              </a:r>
              <a:endParaRPr kumimoji="1" lang="zh-CN" altLang="en-US" sz="2400">
                <a:latin typeface="Times New Roman" panose="02020603050405020304" pitchFamily="18" charset="0"/>
              </a:endParaRPr>
            </a:p>
          </p:txBody>
        </p:sp>
        <p:sp>
          <p:nvSpPr>
            <p:cNvPr id="7" name="Arc 29">
              <a:extLst>
                <a:ext uri="{FF2B5EF4-FFF2-40B4-BE49-F238E27FC236}">
                  <a16:creationId xmlns:a16="http://schemas.microsoft.com/office/drawing/2014/main" id="{0F68AA5A-DEE5-4B24-4E1E-F1379931EC68}"/>
                </a:ext>
              </a:extLst>
            </p:cNvPr>
            <p:cNvSpPr>
              <a:spLocks/>
            </p:cNvSpPr>
            <p:nvPr/>
          </p:nvSpPr>
          <p:spPr bwMode="auto">
            <a:xfrm flipH="1">
              <a:off x="523" y="2688"/>
              <a:ext cx="471" cy="768"/>
            </a:xfrm>
            <a:custGeom>
              <a:avLst/>
              <a:gdLst>
                <a:gd name="T0" fmla="*/ 0 w 21600"/>
                <a:gd name="T1" fmla="*/ 0 h 21600"/>
                <a:gd name="T2" fmla="*/ 10 w 21600"/>
                <a:gd name="T3" fmla="*/ 27 h 21600"/>
                <a:gd name="T4" fmla="*/ 0 w 21600"/>
                <a:gd name="T5" fmla="*/ 2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38100">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5266" name="Rectangle 2">
            <a:extLst>
              <a:ext uri="{FF2B5EF4-FFF2-40B4-BE49-F238E27FC236}">
                <a16:creationId xmlns:a16="http://schemas.microsoft.com/office/drawing/2014/main" id="{59C35D63-4886-4CAC-90A1-5B8A85D7B13C}"/>
              </a:ext>
            </a:extLst>
          </p:cNvPr>
          <p:cNvSpPr>
            <a:spLocks noGrp="1" noChangeArrowheads="1"/>
          </p:cNvSpPr>
          <p:nvPr>
            <p:ph type="body" idx="1"/>
          </p:nvPr>
        </p:nvSpPr>
        <p:spPr>
          <a:xfrm>
            <a:off x="250825" y="981075"/>
            <a:ext cx="8569325" cy="5616575"/>
          </a:xfrm>
        </p:spPr>
        <p:txBody>
          <a:bodyPr/>
          <a:lstStyle/>
          <a:p>
            <a:pPr eaLnBrk="1" hangingPunct="1">
              <a:lnSpc>
                <a:spcPct val="120000"/>
              </a:lnSpc>
              <a:buClr>
                <a:srgbClr val="FF3300"/>
              </a:buClr>
              <a:buSzPct val="115000"/>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信号量机制实施互斥的主要步骤是： </a:t>
            </a:r>
          </a:p>
          <a:p>
            <a:pPr eaLnBrk="1" hangingPunct="1">
              <a:lnSpc>
                <a:spcPct val="120000"/>
              </a:lnSpc>
              <a:buClr>
                <a:srgbClr val="FF3300"/>
              </a:buClr>
              <a:buSzPct val="115000"/>
              <a:buFont typeface="Wingdings" panose="05000000000000000000" pitchFamily="2" charset="2"/>
              <a:buChar char="v"/>
            </a:pP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）分析进程间的制约关系，直接制约找临界资源</a:t>
            </a:r>
          </a:p>
          <a:p>
            <a:pPr eaLnBrk="1" hangingPunct="1">
              <a:lnSpc>
                <a:spcPct val="120000"/>
              </a:lnSpc>
              <a:buClr>
                <a:srgbClr val="FF3300"/>
              </a:buClr>
              <a:buSzPct val="115000"/>
              <a:buFont typeface="Wingdings" panose="05000000000000000000" pitchFamily="2" charset="2"/>
              <a:buChar char="v"/>
            </a:pP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2</a:t>
            </a:r>
            <a:r>
              <a:rPr lang="zh-CN" altLang="en-US" b="1" dirty="0">
                <a:solidFill>
                  <a:srgbClr val="FFFF00"/>
                </a:solidFill>
                <a:effectLst/>
                <a:latin typeface="黑体" panose="02010609060101010101" pitchFamily="49" charset="-122"/>
                <a:ea typeface="黑体" panose="02010609060101010101" pitchFamily="49" charset="-122"/>
              </a:rPr>
              <a:t>）给临界资源设置信号量（包括信号量的初值，信号量的物理含义）。</a:t>
            </a:r>
          </a:p>
          <a:p>
            <a:pPr eaLnBrk="1" hangingPunct="1">
              <a:lnSpc>
                <a:spcPct val="120000"/>
              </a:lnSpc>
              <a:buClr>
                <a:srgbClr val="FF3300"/>
              </a:buClr>
              <a:buSzPct val="115000"/>
              <a:buFont typeface="Wingdings" panose="05000000000000000000" pitchFamily="2" charset="2"/>
              <a:buChar char="v"/>
            </a:pP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3</a:t>
            </a:r>
            <a:r>
              <a:rPr lang="zh-CN" altLang="en-US" b="1" dirty="0">
                <a:solidFill>
                  <a:srgbClr val="FFFF00"/>
                </a:solidFill>
                <a:effectLst/>
                <a:latin typeface="黑体" panose="02010609060101010101" pitchFamily="49" charset="-122"/>
                <a:ea typeface="黑体" panose="02010609060101010101" pitchFamily="49" charset="-122"/>
              </a:rPr>
              <a:t>）给出进程的算法描述，并把</a:t>
            </a:r>
            <a:r>
              <a:rPr lang="en-US" altLang="zh-CN" b="1" dirty="0">
                <a:solidFill>
                  <a:srgbClr val="FFFF00"/>
                </a:solidFill>
                <a:effectLst/>
                <a:latin typeface="黑体" panose="02010609060101010101" pitchFamily="49" charset="-122"/>
                <a:ea typeface="黑体" panose="02010609060101010101" pitchFamily="49" charset="-122"/>
              </a:rPr>
              <a:t>P</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V</a:t>
            </a:r>
            <a:r>
              <a:rPr lang="zh-CN" altLang="en-US" b="1" dirty="0">
                <a:solidFill>
                  <a:srgbClr val="FFFF00"/>
                </a:solidFill>
                <a:effectLst/>
                <a:latin typeface="黑体" panose="02010609060101010101" pitchFamily="49" charset="-122"/>
                <a:ea typeface="黑体" panose="02010609060101010101" pitchFamily="49" charset="-122"/>
              </a:rPr>
              <a:t>操作加到临界区的前后。 </a:t>
            </a:r>
          </a:p>
        </p:txBody>
      </p:sp>
    </p:spTree>
    <p:extLst>
      <p:ext uri="{BB962C8B-B14F-4D97-AF65-F5344CB8AC3E}">
        <p14:creationId xmlns:p14="http://schemas.microsoft.com/office/powerpoint/2010/main" val="4077120425"/>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5266">
                                            <p:txEl>
                                              <p:pRg st="0" end="0"/>
                                            </p:txEl>
                                          </p:spTgt>
                                        </p:tgtEl>
                                        <p:attrNameLst>
                                          <p:attrName>style.visibility</p:attrName>
                                        </p:attrNameLst>
                                      </p:cBhvr>
                                      <p:to>
                                        <p:strVal val="visible"/>
                                      </p:to>
                                    </p:set>
                                    <p:anim calcmode="lin" valueType="num">
                                      <p:cBhvr additive="base">
                                        <p:cTn id="7" dur="500" fill="hold"/>
                                        <p:tgtEl>
                                          <p:spTgt spid="3952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5266">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0" end="0"/>
                                            </p:txEl>
                                          </p:spTgt>
                                        </p:tgtEl>
                                        <p:attrNameLst>
                                          <p:attrName>ppt_c</p:attrName>
                                        </p:attrNameLst>
                                      </p:cBhvr>
                                      <p:to>
                                        <a:srgbClr val="66FF66"/>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5266">
                                            <p:txEl>
                                              <p:pRg st="1" end="1"/>
                                            </p:txEl>
                                          </p:spTgt>
                                        </p:tgtEl>
                                        <p:attrNameLst>
                                          <p:attrName>style.visibility</p:attrName>
                                        </p:attrNameLst>
                                      </p:cBhvr>
                                      <p:to>
                                        <p:strVal val="visible"/>
                                      </p:to>
                                    </p:set>
                                    <p:anim calcmode="lin" valueType="num">
                                      <p:cBhvr additive="base">
                                        <p:cTn id="13" dur="500" fill="hold"/>
                                        <p:tgtEl>
                                          <p:spTgt spid="3952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5266">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1" end="1"/>
                                            </p:txEl>
                                          </p:spTgt>
                                        </p:tgtEl>
                                        <p:attrNameLst>
                                          <p:attrName>ppt_c</p:attrName>
                                        </p:attrNameLst>
                                      </p:cBhvr>
                                      <p:to>
                                        <a:srgbClr val="66FF66"/>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5266">
                                            <p:txEl>
                                              <p:pRg st="2" end="2"/>
                                            </p:txEl>
                                          </p:spTgt>
                                        </p:tgtEl>
                                        <p:attrNameLst>
                                          <p:attrName>style.visibility</p:attrName>
                                        </p:attrNameLst>
                                      </p:cBhvr>
                                      <p:to>
                                        <p:strVal val="visible"/>
                                      </p:to>
                                    </p:set>
                                    <p:anim calcmode="lin" valueType="num">
                                      <p:cBhvr additive="base">
                                        <p:cTn id="19" dur="500" fill="hold"/>
                                        <p:tgtEl>
                                          <p:spTgt spid="39526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5266">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2" end="2"/>
                                            </p:txEl>
                                          </p:spTgt>
                                        </p:tgtEl>
                                        <p:attrNameLst>
                                          <p:attrName>ppt_c</p:attrName>
                                        </p:attrNameLst>
                                      </p:cBhvr>
                                      <p:to>
                                        <a:srgbClr val="66FF66"/>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95266">
                                            <p:txEl>
                                              <p:pRg st="3" end="3"/>
                                            </p:txEl>
                                          </p:spTgt>
                                        </p:tgtEl>
                                        <p:attrNameLst>
                                          <p:attrName>style.visibility</p:attrName>
                                        </p:attrNameLst>
                                      </p:cBhvr>
                                      <p:to>
                                        <p:strVal val="visible"/>
                                      </p:to>
                                    </p:set>
                                    <p:anim calcmode="lin" valueType="num">
                                      <p:cBhvr additive="base">
                                        <p:cTn id="25" dur="500" fill="hold"/>
                                        <p:tgtEl>
                                          <p:spTgt spid="39526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5266">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3" end="3"/>
                                            </p:txEl>
                                          </p:spTgt>
                                        </p:tgtEl>
                                        <p:attrNameLst>
                                          <p:attrName>ppt_c</p:attrName>
                                        </p:attrNameLst>
                                      </p:cBhvr>
                                      <p:to>
                                        <a:srgbClr val="66FF66"/>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6"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188C65A-D8B8-7329-4389-D6F8FEC8839A}"/>
            </a:ext>
          </a:extLst>
        </p:cNvPr>
        <p:cNvGrpSpPr/>
        <p:nvPr/>
      </p:nvGrpSpPr>
      <p:grpSpPr>
        <a:xfrm>
          <a:off x="0" y="0"/>
          <a:ext cx="0" cy="0"/>
          <a:chOff x="0" y="0"/>
          <a:chExt cx="0" cy="0"/>
        </a:xfrm>
      </p:grpSpPr>
      <p:sp>
        <p:nvSpPr>
          <p:cNvPr id="395266" name="Rectangle 2">
            <a:extLst>
              <a:ext uri="{FF2B5EF4-FFF2-40B4-BE49-F238E27FC236}">
                <a16:creationId xmlns:a16="http://schemas.microsoft.com/office/drawing/2014/main" id="{18BAD854-9FCF-5836-C8AA-517556F3ABF2}"/>
              </a:ext>
            </a:extLst>
          </p:cNvPr>
          <p:cNvSpPr>
            <a:spLocks noGrp="1" noChangeArrowheads="1"/>
          </p:cNvSpPr>
          <p:nvPr>
            <p:ph type="body" idx="1"/>
          </p:nvPr>
        </p:nvSpPr>
        <p:spPr>
          <a:xfrm>
            <a:off x="395536" y="1916832"/>
            <a:ext cx="8569325" cy="2375917"/>
          </a:xfrm>
        </p:spPr>
        <p:txBody>
          <a:bodyPr/>
          <a:lstStyle/>
          <a:p>
            <a:pPr eaLnBrk="1" hangingPunct="1">
              <a:lnSpc>
                <a:spcPct val="120000"/>
              </a:lnSpc>
              <a:buClr>
                <a:srgbClr val="FF3300"/>
              </a:buClr>
              <a:buSzPct val="115000"/>
              <a:buFont typeface="Wingdings" panose="05000000000000000000" pitchFamily="2" charset="2"/>
              <a:buNone/>
            </a:pPr>
            <a:r>
              <a:rPr lang="zh-CN" altLang="en-US" b="1" dirty="0">
                <a:solidFill>
                  <a:srgbClr val="FF0000"/>
                </a:solidFill>
                <a:effectLst/>
                <a:latin typeface="黑体" panose="02010609060101010101" pitchFamily="49" charset="-122"/>
                <a:ea typeface="黑体" panose="02010609060101010101" pitchFamily="49" charset="-122"/>
              </a:rPr>
              <a:t>思考</a:t>
            </a:r>
            <a:endParaRPr lang="en-US" altLang="zh-CN" b="1" dirty="0">
              <a:solidFill>
                <a:srgbClr val="FF0000"/>
              </a:solidFill>
              <a:effectLst/>
              <a:latin typeface="黑体" panose="02010609060101010101" pitchFamily="49" charset="-122"/>
              <a:ea typeface="黑体" panose="02010609060101010101" pitchFamily="49" charset="-122"/>
            </a:endParaRPr>
          </a:p>
          <a:p>
            <a:pPr eaLnBrk="1" hangingPunct="1">
              <a:lnSpc>
                <a:spcPct val="120000"/>
              </a:lnSpc>
              <a:buClr>
                <a:srgbClr val="FF3300"/>
              </a:buClr>
              <a:buSzPct val="115000"/>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信号量机制实施互斥是否实现了互斥的原则</a:t>
            </a:r>
          </a:p>
        </p:txBody>
      </p:sp>
    </p:spTree>
    <p:extLst>
      <p:ext uri="{BB962C8B-B14F-4D97-AF65-F5344CB8AC3E}">
        <p14:creationId xmlns:p14="http://schemas.microsoft.com/office/powerpoint/2010/main" val="3565362221"/>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5266">
                                            <p:txEl>
                                              <p:pRg st="0" end="0"/>
                                            </p:txEl>
                                          </p:spTgt>
                                        </p:tgtEl>
                                        <p:attrNameLst>
                                          <p:attrName>style.visibility</p:attrName>
                                        </p:attrNameLst>
                                      </p:cBhvr>
                                      <p:to>
                                        <p:strVal val="visible"/>
                                      </p:to>
                                    </p:set>
                                    <p:anim calcmode="lin" valueType="num">
                                      <p:cBhvr additive="base">
                                        <p:cTn id="7" dur="500" fill="hold"/>
                                        <p:tgtEl>
                                          <p:spTgt spid="3952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5266">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0" end="0"/>
                                            </p:txEl>
                                          </p:spTgt>
                                        </p:tgtEl>
                                        <p:attrNameLst>
                                          <p:attrName>ppt_c</p:attrName>
                                        </p:attrNameLst>
                                      </p:cBhvr>
                                      <p:to>
                                        <a:srgbClr val="66FF66"/>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5266">
                                            <p:txEl>
                                              <p:pRg st="1" end="1"/>
                                            </p:txEl>
                                          </p:spTgt>
                                        </p:tgtEl>
                                        <p:attrNameLst>
                                          <p:attrName>style.visibility</p:attrName>
                                        </p:attrNameLst>
                                      </p:cBhvr>
                                      <p:to>
                                        <p:strVal val="visible"/>
                                      </p:to>
                                    </p:set>
                                    <p:anim calcmode="lin" valueType="num">
                                      <p:cBhvr additive="base">
                                        <p:cTn id="13" dur="500" fill="hold"/>
                                        <p:tgtEl>
                                          <p:spTgt spid="3952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5266">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1" end="1"/>
                                            </p:txEl>
                                          </p:spTgt>
                                        </p:tgtEl>
                                        <p:attrNameLst>
                                          <p:attrName>ppt_c</p:attrName>
                                        </p:attrNameLst>
                                      </p:cBhvr>
                                      <p:to>
                                        <a:srgbClr val="66FF66"/>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6"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C884FE83-E08C-4E7E-B7A0-FF9B46418609}"/>
              </a:ext>
            </a:extLst>
          </p:cNvPr>
          <p:cNvSpPr>
            <a:spLocks noGrp="1" noChangeArrowheads="1"/>
          </p:cNvSpPr>
          <p:nvPr>
            <p:ph type="title"/>
          </p:nvPr>
        </p:nvSpPr>
        <p:spPr>
          <a:xfrm>
            <a:off x="755650" y="476250"/>
            <a:ext cx="7772400" cy="5043488"/>
          </a:xfrm>
        </p:spPr>
        <p:txBody>
          <a:bodyPr/>
          <a:lstStyle/>
          <a:p>
            <a:pPr eaLnBrk="1" hangingPunct="1">
              <a:lnSpc>
                <a:spcPct val="120000"/>
              </a:lnSpc>
            </a:pPr>
            <a:r>
              <a:rPr lang="zh-CN" altLang="en-US" sz="3200" b="1" dirty="0">
                <a:solidFill>
                  <a:srgbClr val="FFFF00"/>
                </a:solidFill>
                <a:effectLst/>
                <a:latin typeface="黑体" panose="02010609060101010101" pitchFamily="49" charset="-122"/>
                <a:ea typeface="黑体" panose="02010609060101010101" pitchFamily="49" charset="-122"/>
              </a:rPr>
              <a:t>例</a:t>
            </a:r>
            <a:r>
              <a:rPr lang="en-US" altLang="zh-CN" sz="3200" b="1" dirty="0">
                <a:solidFill>
                  <a:srgbClr val="FFFF00"/>
                </a:solidFill>
                <a:effectLst/>
                <a:latin typeface="黑体" panose="02010609060101010101" pitchFamily="49" charset="-122"/>
                <a:ea typeface="黑体" panose="02010609060101010101" pitchFamily="49" charset="-122"/>
              </a:rPr>
              <a:t>:</a:t>
            </a:r>
            <a:r>
              <a:rPr lang="zh-CN" altLang="en-US" sz="3200" b="1" dirty="0">
                <a:solidFill>
                  <a:srgbClr val="FFFF00"/>
                </a:solidFill>
                <a:effectLst/>
                <a:latin typeface="黑体" panose="02010609060101010101" pitchFamily="49" charset="-122"/>
                <a:ea typeface="黑体" panose="02010609060101010101" pitchFamily="49" charset="-122"/>
                <a:cs typeface="Times New Roman" panose="02020603050405020304" pitchFamily="18" charset="0"/>
              </a:rPr>
              <a:t> </a:t>
            </a:r>
            <a:r>
              <a:rPr lang="zh-CN" altLang="en-US" sz="3200" b="1" dirty="0">
                <a:solidFill>
                  <a:srgbClr val="FFFF00"/>
                </a:solidFill>
                <a:effectLst/>
                <a:latin typeface="黑体" panose="02010609060101010101" pitchFamily="49" charset="-122"/>
                <a:ea typeface="黑体" panose="02010609060101010101" pitchFamily="49" charset="-122"/>
              </a:rPr>
              <a:t>某小型超级市场，可容纳</a:t>
            </a:r>
            <a:r>
              <a:rPr lang="en-US" altLang="zh-CN" sz="3200" b="1" dirty="0">
                <a:solidFill>
                  <a:srgbClr val="FFFF00"/>
                </a:solidFill>
                <a:effectLst/>
                <a:latin typeface="黑体" panose="02010609060101010101" pitchFamily="49" charset="-122"/>
                <a:ea typeface="黑体" panose="02010609060101010101" pitchFamily="49" charset="-122"/>
              </a:rPr>
              <a:t>50</a:t>
            </a:r>
            <a:r>
              <a:rPr lang="zh-CN" altLang="en-US" sz="3200" b="1" dirty="0">
                <a:solidFill>
                  <a:srgbClr val="FFFF00"/>
                </a:solidFill>
                <a:effectLst/>
                <a:latin typeface="黑体" panose="02010609060101010101" pitchFamily="49" charset="-122"/>
                <a:ea typeface="黑体" panose="02010609060101010101" pitchFamily="49" charset="-122"/>
              </a:rPr>
              <a:t>人同时购物。入口处有篮子，每个购物者可拿一只篮子入内购物。出口处结帐，并归还篮子（出、入口禁止多人同时通过）。试用信号量机制实现购物者的同步算法。</a:t>
            </a:r>
          </a:p>
        </p:txBody>
      </p:sp>
    </p:spTree>
  </p:cSld>
  <p:clrMapOvr>
    <a:masterClrMapping/>
  </p:clrMapOvr>
  <p:transition spd="slow">
    <p:wipe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2">
            <a:extLst>
              <a:ext uri="{FF2B5EF4-FFF2-40B4-BE49-F238E27FC236}">
                <a16:creationId xmlns:a16="http://schemas.microsoft.com/office/drawing/2014/main" id="{93C0EDE3-FB4C-47E8-97BB-5162C4D1E5FF}"/>
              </a:ext>
            </a:extLst>
          </p:cNvPr>
          <p:cNvSpPr>
            <a:spLocks noGrp="1" noChangeArrowheads="1"/>
          </p:cNvSpPr>
          <p:nvPr>
            <p:ph type="title"/>
          </p:nvPr>
        </p:nvSpPr>
        <p:spPr>
          <a:xfrm>
            <a:off x="304800" y="152400"/>
            <a:ext cx="7772400" cy="990600"/>
          </a:xfrm>
        </p:spPr>
        <p:txBody>
          <a:bodyPr/>
          <a:lstStyle/>
          <a:p>
            <a:pPr eaLnBrk="1" hangingPunct="1">
              <a:defRPr/>
            </a:pPr>
            <a:r>
              <a:rPr lang="zh-CN" altLang="en-US">
                <a:latin typeface="宋体" panose="02010600030101010101" pitchFamily="2" charset="-122"/>
              </a:rPr>
              <a:t>解答</a:t>
            </a:r>
            <a:r>
              <a:rPr lang="en-US" altLang="zh-CN">
                <a:latin typeface="宋体" panose="02010600030101010101" pitchFamily="2" charset="-122"/>
                <a:cs typeface="Times New Roman" panose="02020603050405020304" pitchFamily="18" charset="0"/>
              </a:rPr>
              <a:t>:</a:t>
            </a:r>
          </a:p>
        </p:txBody>
      </p:sp>
      <p:sp>
        <p:nvSpPr>
          <p:cNvPr id="57347" name="Rectangle 3">
            <a:extLst>
              <a:ext uri="{FF2B5EF4-FFF2-40B4-BE49-F238E27FC236}">
                <a16:creationId xmlns:a16="http://schemas.microsoft.com/office/drawing/2014/main" id="{2B3724C6-F962-4DB3-AF18-5BA3D55B7311}"/>
              </a:ext>
            </a:extLst>
          </p:cNvPr>
          <p:cNvSpPr>
            <a:spLocks noGrp="1" noChangeArrowheads="1"/>
          </p:cNvSpPr>
          <p:nvPr>
            <p:ph type="body" idx="1"/>
          </p:nvPr>
        </p:nvSpPr>
        <p:spPr>
          <a:xfrm>
            <a:off x="457200" y="1371600"/>
            <a:ext cx="8218488" cy="5297488"/>
          </a:xfrm>
        </p:spPr>
        <p:txBody>
          <a:bodyPr/>
          <a:lstStyle/>
          <a:p>
            <a:pPr algn="just" eaLnBrk="1" hangingPunct="1">
              <a:lnSpc>
                <a:spcPct val="110000"/>
              </a:lnSpc>
            </a:pPr>
            <a:r>
              <a:rPr lang="en-US" altLang="zh-CN" b="1" dirty="0">
                <a:solidFill>
                  <a:srgbClr val="FFFF00"/>
                </a:solidFill>
                <a:effectLst/>
                <a:latin typeface="黑体" panose="02010609060101010101" pitchFamily="49" charset="-122"/>
                <a:ea typeface="黑体" panose="02010609060101010101" pitchFamily="49" charset="-122"/>
              </a:rPr>
              <a:t>①</a:t>
            </a:r>
            <a:r>
              <a:rPr lang="zh-CN" altLang="en-US" b="1" dirty="0">
                <a:solidFill>
                  <a:srgbClr val="FFFF00"/>
                </a:solidFill>
                <a:effectLst/>
                <a:latin typeface="黑体" panose="02010609060101010101" pitchFamily="49" charset="-122"/>
                <a:ea typeface="黑体" panose="02010609060101010101" pitchFamily="49" charset="-122"/>
              </a:rPr>
              <a:t>所用信号量设置如下：</a:t>
            </a:r>
            <a:endParaRPr lang="zh-CN" altLang="en-US" b="1" dirty="0">
              <a:solidFill>
                <a:srgbClr val="FFFF00"/>
              </a:solidFill>
              <a:effectLst/>
              <a:latin typeface="黑体" panose="02010609060101010101" pitchFamily="49" charset="-122"/>
              <a:ea typeface="黑体" panose="02010609060101010101" pitchFamily="49" charset="-122"/>
              <a:cs typeface="Times New Roman" panose="02020603050405020304" pitchFamily="18" charset="0"/>
            </a:endParaRPr>
          </a:p>
          <a:p>
            <a:pPr algn="just" eaLnBrk="1" hangingPunct="1">
              <a:lnSpc>
                <a:spcPct val="110000"/>
              </a:lnSpc>
            </a:pPr>
            <a:r>
              <a:rPr lang="en-US" altLang="zh-CN" b="1" dirty="0">
                <a:solidFill>
                  <a:srgbClr val="FFFF00"/>
                </a:solidFill>
                <a:effectLst/>
                <a:latin typeface="黑体" panose="02010609060101010101" pitchFamily="49" charset="-122"/>
                <a:ea typeface="黑体" panose="02010609060101010101" pitchFamily="49" charset="-122"/>
              </a:rPr>
              <a:t>Ⅰ</a:t>
            </a:r>
            <a:r>
              <a:rPr lang="zh-CN" altLang="en-US" b="1" dirty="0">
                <a:solidFill>
                  <a:srgbClr val="FFFF00"/>
                </a:solidFill>
                <a:effectLst/>
                <a:latin typeface="黑体" panose="02010609060101010101" pitchFamily="49" charset="-122"/>
                <a:ea typeface="黑体" panose="02010609060101010101" pitchFamily="49" charset="-122"/>
              </a:rPr>
              <a:t>）互斥信号量</a:t>
            </a:r>
            <a:r>
              <a:rPr lang="en-US" altLang="zh-CN" b="1" dirty="0">
                <a:solidFill>
                  <a:srgbClr val="FFFF00"/>
                </a:solidFill>
                <a:effectLst/>
                <a:latin typeface="黑体" panose="02010609060101010101" pitchFamily="49" charset="-122"/>
                <a:ea typeface="黑体" panose="02010609060101010101" pitchFamily="49" charset="-122"/>
              </a:rPr>
              <a:t>S</a:t>
            </a:r>
            <a:r>
              <a:rPr lang="zh-CN" altLang="en-US" b="1" dirty="0">
                <a:solidFill>
                  <a:srgbClr val="FFFF00"/>
                </a:solidFill>
                <a:effectLst/>
                <a:latin typeface="黑体" panose="02010609060101010101" pitchFamily="49" charset="-122"/>
                <a:ea typeface="黑体" panose="02010609060101010101" pitchFamily="49" charset="-122"/>
              </a:rPr>
              <a:t>，初值为</a:t>
            </a:r>
            <a:r>
              <a:rPr lang="en-US" altLang="zh-CN" b="1" dirty="0">
                <a:solidFill>
                  <a:srgbClr val="FFFF00"/>
                </a:solidFill>
                <a:effectLst/>
                <a:latin typeface="黑体" panose="02010609060101010101" pitchFamily="49" charset="-122"/>
                <a:ea typeface="黑体" panose="02010609060101010101" pitchFamily="49" charset="-122"/>
              </a:rPr>
              <a:t>50</a:t>
            </a:r>
            <a:r>
              <a:rPr lang="zh-CN" altLang="en-US" b="1" dirty="0">
                <a:solidFill>
                  <a:srgbClr val="FFFF00"/>
                </a:solidFill>
                <a:effectLst/>
                <a:latin typeface="黑体" panose="02010609060101010101" pitchFamily="49" charset="-122"/>
                <a:ea typeface="黑体" panose="02010609060101010101" pitchFamily="49" charset="-122"/>
              </a:rPr>
              <a:t>，用以保证最多可以有</a:t>
            </a:r>
            <a:r>
              <a:rPr lang="en-US" altLang="zh-CN" b="1" dirty="0">
                <a:solidFill>
                  <a:srgbClr val="FFFF00"/>
                </a:solidFill>
                <a:effectLst/>
                <a:latin typeface="黑体" panose="02010609060101010101" pitchFamily="49" charset="-122"/>
                <a:ea typeface="黑体" panose="02010609060101010101" pitchFamily="49" charset="-122"/>
              </a:rPr>
              <a:t>50</a:t>
            </a:r>
            <a:r>
              <a:rPr lang="zh-CN" altLang="en-US" b="1" dirty="0">
                <a:solidFill>
                  <a:srgbClr val="FFFF00"/>
                </a:solidFill>
                <a:effectLst/>
                <a:latin typeface="黑体" panose="02010609060101010101" pitchFamily="49" charset="-122"/>
                <a:ea typeface="黑体" panose="02010609060101010101" pitchFamily="49" charset="-122"/>
              </a:rPr>
              <a:t>个购物者同时进入超市。</a:t>
            </a:r>
          </a:p>
          <a:p>
            <a:pPr algn="just" eaLnBrk="1" hangingPunct="1">
              <a:lnSpc>
                <a:spcPct val="110000"/>
              </a:lnSpc>
            </a:pPr>
            <a:r>
              <a:rPr lang="en-US" altLang="zh-CN" b="1" dirty="0">
                <a:solidFill>
                  <a:srgbClr val="FFFF00"/>
                </a:solidFill>
                <a:effectLst/>
                <a:latin typeface="黑体" panose="02010609060101010101" pitchFamily="49" charset="-122"/>
                <a:ea typeface="黑体" panose="02010609060101010101" pitchFamily="49" charset="-122"/>
              </a:rPr>
              <a:t>Ⅱ</a:t>
            </a:r>
            <a:r>
              <a:rPr lang="zh-CN" altLang="en-US" b="1" dirty="0">
                <a:solidFill>
                  <a:srgbClr val="FFFF00"/>
                </a:solidFill>
                <a:effectLst/>
                <a:latin typeface="黑体" panose="02010609060101010101" pitchFamily="49" charset="-122"/>
                <a:ea typeface="黑体" panose="02010609060101010101" pitchFamily="49" charset="-122"/>
              </a:rPr>
              <a:t>）互斥信号量</a:t>
            </a:r>
            <a:r>
              <a:rPr lang="en-US" altLang="zh-CN" b="1" dirty="0">
                <a:solidFill>
                  <a:srgbClr val="FFFF00"/>
                </a:solidFill>
                <a:effectLst/>
                <a:latin typeface="黑体" panose="02010609060101010101" pitchFamily="49" charset="-122"/>
                <a:ea typeface="黑体" panose="02010609060101010101" pitchFamily="49" charset="-122"/>
              </a:rPr>
              <a:t>mutex1</a:t>
            </a:r>
            <a:r>
              <a:rPr lang="zh-CN" altLang="en-US" b="1" dirty="0">
                <a:solidFill>
                  <a:srgbClr val="FFFF00"/>
                </a:solidFill>
                <a:effectLst/>
                <a:latin typeface="黑体" panose="02010609060101010101" pitchFamily="49" charset="-122"/>
                <a:ea typeface="黑体" panose="02010609060101010101" pitchFamily="49" charset="-122"/>
              </a:rPr>
              <a:t>、 </a:t>
            </a:r>
            <a:r>
              <a:rPr lang="en-US" altLang="zh-CN" b="1" dirty="0">
                <a:solidFill>
                  <a:srgbClr val="FFFF00"/>
                </a:solidFill>
                <a:effectLst/>
                <a:latin typeface="黑体" panose="02010609060101010101" pitchFamily="49" charset="-122"/>
                <a:ea typeface="黑体" panose="02010609060101010101" pitchFamily="49" charset="-122"/>
              </a:rPr>
              <a:t>mutex2</a:t>
            </a:r>
            <a:r>
              <a:rPr lang="zh-CN" altLang="en-US" b="1" dirty="0">
                <a:solidFill>
                  <a:srgbClr val="FFFF00"/>
                </a:solidFill>
                <a:effectLst/>
                <a:latin typeface="黑体" panose="02010609060101010101" pitchFamily="49" charset="-122"/>
                <a:ea typeface="黑体" panose="02010609060101010101" pitchFamily="49" charset="-122"/>
              </a:rPr>
              <a:t>，初值为</a:t>
            </a: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，用以保证同时只能有一个购物者进程进入出、入口。</a:t>
            </a:r>
          </a:p>
          <a:p>
            <a:pPr eaLnBrk="1" hangingPunct="1">
              <a:lnSpc>
                <a:spcPct val="110000"/>
              </a:lnSpc>
            </a:pPr>
            <a:r>
              <a:rPr lang="zh-CN" altLang="en-US" b="1" dirty="0">
                <a:solidFill>
                  <a:srgbClr val="FFFF00"/>
                </a:solidFill>
                <a:effectLst/>
                <a:latin typeface="黑体" panose="02010609060101010101" pitchFamily="49" charset="-122"/>
                <a:ea typeface="黑体" panose="02010609060101010101" pitchFamily="49" charset="-122"/>
              </a:rPr>
              <a:t>②用信号量机制给出的每个购物者购物过程的算法描述如下：</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5B17C9D4-46A6-4B31-B6F5-22A99606956A}"/>
              </a:ext>
            </a:extLst>
          </p:cNvPr>
          <p:cNvSpPr>
            <a:spLocks noGrp="1" noChangeArrowheads="1"/>
          </p:cNvSpPr>
          <p:nvPr>
            <p:ph type="title"/>
          </p:nvPr>
        </p:nvSpPr>
        <p:spPr>
          <a:xfrm>
            <a:off x="381000" y="76200"/>
            <a:ext cx="8382000" cy="544488"/>
          </a:xfrm>
        </p:spPr>
        <p:txBody>
          <a:bodyPr/>
          <a:lstStyle/>
          <a:p>
            <a:pPr eaLnBrk="1" hangingPunct="1"/>
            <a:r>
              <a:rPr lang="zh-CN" altLang="en-US" sz="3200" b="1" dirty="0">
                <a:solidFill>
                  <a:srgbClr val="FFFF00"/>
                </a:solidFill>
                <a:effectLst/>
                <a:latin typeface="宋体" panose="02010600030101010101" pitchFamily="2" charset="-122"/>
              </a:rPr>
              <a:t>购物者</a:t>
            </a:r>
            <a:r>
              <a:rPr lang="en-US" altLang="zh-CN" sz="3200" b="1" baseline="-30000" dirty="0" err="1">
                <a:solidFill>
                  <a:srgbClr val="FFFF00"/>
                </a:solidFill>
                <a:effectLst/>
                <a:latin typeface="宋体" panose="02010600030101010101" pitchFamily="2" charset="-122"/>
                <a:cs typeface="Times New Roman" panose="02020603050405020304" pitchFamily="18" charset="0"/>
              </a:rPr>
              <a:t>i</a:t>
            </a:r>
            <a:r>
              <a:rPr lang="zh-CN" altLang="en-US" sz="3200" b="1" dirty="0">
                <a:solidFill>
                  <a:srgbClr val="FFFF00"/>
                </a:solidFill>
                <a:effectLst/>
                <a:latin typeface="宋体" panose="02010600030101010101" pitchFamily="2" charset="-122"/>
              </a:rPr>
              <a:t>进程</a:t>
            </a:r>
            <a:endParaRPr lang="zh-CN" altLang="en-US" sz="3200" b="1" dirty="0">
              <a:solidFill>
                <a:srgbClr val="FFFF00"/>
              </a:solidFill>
              <a:effectLst/>
              <a:latin typeface="宋体" panose="02010600030101010101" pitchFamily="2" charset="-122"/>
              <a:cs typeface="Times New Roman" panose="02020603050405020304" pitchFamily="18" charset="0"/>
            </a:endParaRPr>
          </a:p>
        </p:txBody>
      </p:sp>
      <p:sp>
        <p:nvSpPr>
          <p:cNvPr id="58371" name="Rectangle 3">
            <a:extLst>
              <a:ext uri="{FF2B5EF4-FFF2-40B4-BE49-F238E27FC236}">
                <a16:creationId xmlns:a16="http://schemas.microsoft.com/office/drawing/2014/main" id="{C0DBC2FE-0590-4C01-B1B0-6974699EA052}"/>
              </a:ext>
            </a:extLst>
          </p:cNvPr>
          <p:cNvSpPr>
            <a:spLocks noGrp="1" noChangeArrowheads="1"/>
          </p:cNvSpPr>
          <p:nvPr>
            <p:ph type="body" idx="1"/>
          </p:nvPr>
        </p:nvSpPr>
        <p:spPr>
          <a:xfrm>
            <a:off x="684213" y="764704"/>
            <a:ext cx="8077200" cy="5759921"/>
          </a:xfrm>
        </p:spPr>
        <p:txBody>
          <a:bodyPr/>
          <a:lstStyle/>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semaphore  s=50;</a:t>
            </a:r>
          </a:p>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semaphore mutex1=1;</a:t>
            </a:r>
          </a:p>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semaphore mutex2=1;</a:t>
            </a:r>
          </a:p>
          <a:p>
            <a:pPr algn="just" eaLnBrk="1" hangingPunct="1">
              <a:lnSpc>
                <a:spcPct val="80000"/>
              </a:lnSpc>
            </a:pPr>
            <a:r>
              <a:rPr lang="en-US" altLang="zh-CN" sz="2400" b="1" dirty="0" err="1">
                <a:solidFill>
                  <a:srgbClr val="FFFF00"/>
                </a:solidFill>
                <a:effectLst/>
                <a:latin typeface="宋体" panose="02010600030101010101" pitchFamily="2" charset="-122"/>
                <a:cs typeface="Times New Roman" panose="02020603050405020304" pitchFamily="18" charset="0"/>
              </a:rPr>
              <a:t>Shoppersi</a:t>
            </a:r>
            <a:r>
              <a:rPr lang="en-US" altLang="zh-CN" sz="2400" b="1" dirty="0">
                <a:solidFill>
                  <a:srgbClr val="FFFF00"/>
                </a:solidFill>
                <a:effectLst/>
                <a:latin typeface="宋体" panose="02010600030101010101" pitchFamily="2" charset="-122"/>
                <a:cs typeface="Times New Roman" panose="02020603050405020304" pitchFamily="18" charset="0"/>
              </a:rPr>
              <a:t>()</a:t>
            </a:r>
          </a:p>
          <a:p>
            <a:pPr marL="0" indent="0" algn="just" eaLnBrk="1" hangingPunct="1">
              <a:lnSpc>
                <a:spcPct val="80000"/>
              </a:lnSpc>
              <a:buNone/>
            </a:pPr>
            <a:r>
              <a:rPr lang="en-US" altLang="zh-CN" sz="2400" b="1" dirty="0">
                <a:solidFill>
                  <a:srgbClr val="FFFF00"/>
                </a:solidFill>
                <a:effectLst/>
                <a:latin typeface="宋体" panose="02010600030101010101" pitchFamily="2" charset="-122"/>
                <a:cs typeface="Times New Roman" panose="02020603050405020304" pitchFamily="18" charset="0"/>
              </a:rPr>
              <a:t>{ while(1){</a:t>
            </a:r>
          </a:p>
          <a:p>
            <a:pPr marL="0" indent="0" algn="just" eaLnBrk="1" hangingPunct="1">
              <a:lnSpc>
                <a:spcPct val="80000"/>
              </a:lnSpc>
              <a:buNone/>
            </a:pPr>
            <a:r>
              <a:rPr lang="en-US" altLang="zh-CN" sz="2400" b="1" dirty="0">
                <a:solidFill>
                  <a:srgbClr val="FFFF00"/>
                </a:solidFill>
                <a:effectLst/>
                <a:latin typeface="宋体" panose="02010600030101010101" pitchFamily="2" charset="-122"/>
                <a:cs typeface="Times New Roman" panose="02020603050405020304" pitchFamily="18" charset="0"/>
              </a:rPr>
              <a:t>  P</a:t>
            </a:r>
            <a:r>
              <a:rPr lang="zh-CN" altLang="en-US" sz="2400" b="1" dirty="0">
                <a:solidFill>
                  <a:srgbClr val="FFFF00"/>
                </a:solidFill>
                <a:effectLst/>
                <a:latin typeface="宋体" panose="02010600030101010101" pitchFamily="2" charset="-122"/>
              </a:rPr>
              <a:t>（</a:t>
            </a:r>
            <a:r>
              <a:rPr lang="en-US" altLang="zh-CN" sz="2400" b="1" dirty="0">
                <a:solidFill>
                  <a:srgbClr val="FFFF00"/>
                </a:solidFill>
                <a:effectLst/>
                <a:latin typeface="宋体" panose="02010600030101010101" pitchFamily="2" charset="-122"/>
                <a:cs typeface="Times New Roman" panose="02020603050405020304" pitchFamily="18" charset="0"/>
              </a:rPr>
              <a:t>s</a:t>
            </a:r>
            <a:r>
              <a:rPr lang="zh-CN" altLang="en-US" sz="2400" b="1" dirty="0">
                <a:solidFill>
                  <a:srgbClr val="FFFF00"/>
                </a:solidFill>
                <a:effectLst/>
                <a:latin typeface="宋体" panose="02010600030101010101" pitchFamily="2" charset="-122"/>
              </a:rPr>
              <a:t>）；</a:t>
            </a:r>
          </a:p>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P</a:t>
            </a:r>
            <a:r>
              <a:rPr lang="zh-CN" altLang="en-US" sz="2400" b="1" dirty="0">
                <a:solidFill>
                  <a:srgbClr val="FFFF00"/>
                </a:solidFill>
                <a:effectLst/>
                <a:latin typeface="宋体" panose="02010600030101010101" pitchFamily="2" charset="-122"/>
              </a:rPr>
              <a:t>（</a:t>
            </a:r>
            <a:r>
              <a:rPr lang="en-US" altLang="zh-CN" sz="2400" b="1" dirty="0">
                <a:solidFill>
                  <a:srgbClr val="FFFF00"/>
                </a:solidFill>
                <a:effectLst/>
                <a:latin typeface="宋体" panose="02010600030101010101" pitchFamily="2" charset="-122"/>
                <a:cs typeface="Times New Roman" panose="02020603050405020304" pitchFamily="18" charset="0"/>
              </a:rPr>
              <a:t>mutex1</a:t>
            </a:r>
            <a:r>
              <a:rPr lang="zh-CN" altLang="en-US" sz="2400" b="1" dirty="0">
                <a:solidFill>
                  <a:srgbClr val="FFFF00"/>
                </a:solidFill>
                <a:effectLst/>
                <a:latin typeface="宋体" panose="02010600030101010101" pitchFamily="2" charset="-122"/>
              </a:rPr>
              <a:t>）；</a:t>
            </a:r>
          </a:p>
          <a:p>
            <a:pPr algn="just" eaLnBrk="1" hangingPunct="1">
              <a:lnSpc>
                <a:spcPct val="80000"/>
              </a:lnSpc>
            </a:pPr>
            <a:r>
              <a:rPr lang="zh-CN" altLang="en-US" sz="2400" b="1" dirty="0">
                <a:solidFill>
                  <a:srgbClr val="FFFF00"/>
                </a:solidFill>
                <a:effectLst/>
                <a:latin typeface="宋体" panose="02010600030101010101" pitchFamily="2" charset="-122"/>
              </a:rPr>
              <a:t>从入口处进超市，并取一只篮子；</a:t>
            </a:r>
            <a:endParaRPr lang="zh-CN" altLang="en-US" sz="2400" b="1" dirty="0">
              <a:solidFill>
                <a:srgbClr val="FFFF00"/>
              </a:solidFill>
              <a:effectLst/>
              <a:latin typeface="宋体" panose="02010600030101010101" pitchFamily="2" charset="-122"/>
              <a:cs typeface="Times New Roman" panose="02020603050405020304" pitchFamily="18" charset="0"/>
            </a:endParaRPr>
          </a:p>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V</a:t>
            </a:r>
            <a:r>
              <a:rPr lang="zh-CN" altLang="en-US" sz="2400" b="1" dirty="0">
                <a:solidFill>
                  <a:srgbClr val="FFFF00"/>
                </a:solidFill>
                <a:effectLst/>
                <a:latin typeface="宋体" panose="02010600030101010101" pitchFamily="2" charset="-122"/>
              </a:rPr>
              <a:t>（</a:t>
            </a:r>
            <a:r>
              <a:rPr lang="en-US" altLang="zh-CN" sz="2400" b="1" dirty="0">
                <a:solidFill>
                  <a:srgbClr val="FFFF00"/>
                </a:solidFill>
                <a:effectLst/>
                <a:latin typeface="宋体" panose="02010600030101010101" pitchFamily="2" charset="-122"/>
                <a:cs typeface="Times New Roman" panose="02020603050405020304" pitchFamily="18" charset="0"/>
              </a:rPr>
              <a:t>mutex1</a:t>
            </a:r>
            <a:r>
              <a:rPr lang="zh-CN" altLang="en-US" sz="2400" b="1" dirty="0">
                <a:solidFill>
                  <a:srgbClr val="FFFF00"/>
                </a:solidFill>
                <a:effectLst/>
                <a:latin typeface="宋体" panose="02010600030101010101" pitchFamily="2" charset="-122"/>
              </a:rPr>
              <a:t>）；</a:t>
            </a:r>
            <a:endParaRPr lang="zh-CN" altLang="en-US" sz="2400" b="1" dirty="0">
              <a:solidFill>
                <a:srgbClr val="FFFF00"/>
              </a:solidFill>
              <a:effectLst/>
              <a:latin typeface="宋体" panose="02010600030101010101" pitchFamily="2" charset="-122"/>
              <a:cs typeface="Times New Roman" panose="02020603050405020304" pitchFamily="18" charset="0"/>
            </a:endParaRPr>
          </a:p>
          <a:p>
            <a:pPr algn="just" eaLnBrk="1" hangingPunct="1">
              <a:lnSpc>
                <a:spcPct val="110000"/>
              </a:lnSpc>
            </a:pPr>
            <a:r>
              <a:rPr lang="zh-CN" altLang="en-US" sz="2400" b="1" dirty="0">
                <a:solidFill>
                  <a:srgbClr val="FFFF00"/>
                </a:solidFill>
                <a:effectLst/>
                <a:latin typeface="宋体" panose="02010600030101010101" pitchFamily="2" charset="-122"/>
              </a:rPr>
              <a:t>进超市内选购商品；</a:t>
            </a:r>
            <a:endParaRPr lang="zh-CN" altLang="en-US" sz="2400" b="1" dirty="0">
              <a:solidFill>
                <a:srgbClr val="FFFF00"/>
              </a:solidFill>
              <a:effectLst/>
              <a:latin typeface="宋体" panose="02010600030101010101" pitchFamily="2" charset="-122"/>
              <a:cs typeface="Times New Roman" panose="02020603050405020304" pitchFamily="18" charset="0"/>
            </a:endParaRPr>
          </a:p>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P</a:t>
            </a:r>
            <a:r>
              <a:rPr lang="zh-CN" altLang="en-US" sz="2400" b="1" dirty="0">
                <a:solidFill>
                  <a:srgbClr val="FFFF00"/>
                </a:solidFill>
                <a:effectLst/>
                <a:latin typeface="宋体" panose="02010600030101010101" pitchFamily="2" charset="-122"/>
              </a:rPr>
              <a:t>（</a:t>
            </a:r>
            <a:r>
              <a:rPr lang="en-US" altLang="zh-CN" sz="2400" b="1" dirty="0">
                <a:solidFill>
                  <a:srgbClr val="FFFF00"/>
                </a:solidFill>
                <a:effectLst/>
                <a:latin typeface="宋体" panose="02010600030101010101" pitchFamily="2" charset="-122"/>
                <a:cs typeface="Times New Roman" panose="02020603050405020304" pitchFamily="18" charset="0"/>
              </a:rPr>
              <a:t>mutex2</a:t>
            </a:r>
            <a:r>
              <a:rPr lang="zh-CN" altLang="en-US" sz="2400" b="1" dirty="0">
                <a:solidFill>
                  <a:srgbClr val="FFFF00"/>
                </a:solidFill>
                <a:effectLst/>
                <a:latin typeface="宋体" panose="02010600030101010101" pitchFamily="2" charset="-122"/>
              </a:rPr>
              <a:t>）；</a:t>
            </a:r>
            <a:endParaRPr lang="zh-CN" altLang="en-US" sz="2400" b="1" dirty="0">
              <a:solidFill>
                <a:srgbClr val="FFFF00"/>
              </a:solidFill>
              <a:effectLst/>
              <a:latin typeface="宋体" panose="02010600030101010101" pitchFamily="2" charset="-122"/>
              <a:cs typeface="Times New Roman" panose="02020603050405020304" pitchFamily="18" charset="0"/>
            </a:endParaRPr>
          </a:p>
          <a:p>
            <a:pPr algn="just" eaLnBrk="1" hangingPunct="1">
              <a:lnSpc>
                <a:spcPct val="110000"/>
              </a:lnSpc>
            </a:pPr>
            <a:r>
              <a:rPr lang="zh-CN" altLang="en-US" sz="2400" b="1" dirty="0">
                <a:solidFill>
                  <a:srgbClr val="FFFF00"/>
                </a:solidFill>
                <a:effectLst/>
                <a:latin typeface="宋体" panose="02010600030101010101" pitchFamily="2" charset="-122"/>
              </a:rPr>
              <a:t>到出口结帐，并归还篮子；</a:t>
            </a:r>
            <a:endParaRPr lang="zh-CN" altLang="en-US" sz="2400" b="1" dirty="0">
              <a:solidFill>
                <a:srgbClr val="FFFF00"/>
              </a:solidFill>
              <a:effectLst/>
              <a:latin typeface="宋体" panose="02010600030101010101" pitchFamily="2" charset="-122"/>
              <a:cs typeface="Times New Roman" panose="02020603050405020304" pitchFamily="18" charset="0"/>
            </a:endParaRPr>
          </a:p>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V</a:t>
            </a:r>
            <a:r>
              <a:rPr lang="zh-CN" altLang="en-US" sz="2400" b="1" dirty="0">
                <a:solidFill>
                  <a:srgbClr val="FFFF00"/>
                </a:solidFill>
                <a:effectLst/>
                <a:latin typeface="宋体" panose="02010600030101010101" pitchFamily="2" charset="-122"/>
              </a:rPr>
              <a:t>（</a:t>
            </a:r>
            <a:r>
              <a:rPr lang="en-US" altLang="zh-CN" sz="2400" b="1" dirty="0">
                <a:solidFill>
                  <a:srgbClr val="FFFF00"/>
                </a:solidFill>
                <a:effectLst/>
                <a:latin typeface="宋体" panose="02010600030101010101" pitchFamily="2" charset="-122"/>
                <a:cs typeface="Times New Roman" panose="02020603050405020304" pitchFamily="18" charset="0"/>
              </a:rPr>
              <a:t>mutex2</a:t>
            </a:r>
            <a:r>
              <a:rPr lang="zh-CN" altLang="en-US" sz="2400" b="1" dirty="0">
                <a:solidFill>
                  <a:srgbClr val="FFFF00"/>
                </a:solidFill>
                <a:effectLst/>
                <a:latin typeface="宋体" panose="02010600030101010101" pitchFamily="2" charset="-122"/>
              </a:rPr>
              <a:t>）；</a:t>
            </a:r>
            <a:r>
              <a:rPr lang="zh-CN" altLang="en-US" sz="2400" b="1" dirty="0">
                <a:solidFill>
                  <a:srgbClr val="FFFF00"/>
                </a:solidFill>
                <a:effectLst/>
                <a:latin typeface="宋体" panose="02010600030101010101" pitchFamily="2" charset="-122"/>
                <a:cs typeface="Times New Roman" panose="02020603050405020304" pitchFamily="18" charset="0"/>
              </a:rPr>
              <a:t>                    </a:t>
            </a:r>
          </a:p>
          <a:p>
            <a:pPr algn="just" eaLnBrk="1" hangingPunct="1">
              <a:lnSpc>
                <a:spcPct val="80000"/>
              </a:lnSpc>
            </a:pPr>
            <a:r>
              <a:rPr lang="zh-CN" altLang="en-US" sz="2400" b="1" dirty="0">
                <a:solidFill>
                  <a:srgbClr val="FFFF00"/>
                </a:solidFill>
                <a:effectLst/>
                <a:latin typeface="宋体" panose="02010600030101010101" pitchFamily="2" charset="-122"/>
              </a:rPr>
              <a:t>从出口离开超市；</a:t>
            </a:r>
            <a:endParaRPr lang="zh-CN" altLang="en-US" sz="2400" b="1" dirty="0">
              <a:solidFill>
                <a:srgbClr val="FFFF00"/>
              </a:solidFill>
              <a:effectLst/>
              <a:latin typeface="宋体" panose="02010600030101010101" pitchFamily="2" charset="-122"/>
              <a:cs typeface="Times New Roman" panose="02020603050405020304" pitchFamily="18" charset="0"/>
            </a:endParaRPr>
          </a:p>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V</a:t>
            </a:r>
            <a:r>
              <a:rPr lang="zh-CN" altLang="en-US" sz="2400" b="1" dirty="0">
                <a:solidFill>
                  <a:srgbClr val="FFFF00"/>
                </a:solidFill>
                <a:effectLst/>
                <a:latin typeface="宋体" panose="02010600030101010101" pitchFamily="2" charset="-122"/>
              </a:rPr>
              <a:t>（</a:t>
            </a:r>
            <a:r>
              <a:rPr lang="en-US" altLang="zh-CN" sz="2400" b="1" dirty="0">
                <a:solidFill>
                  <a:srgbClr val="FFFF00"/>
                </a:solidFill>
                <a:effectLst/>
                <a:latin typeface="宋体" panose="02010600030101010101" pitchFamily="2" charset="-122"/>
                <a:cs typeface="Times New Roman" panose="02020603050405020304" pitchFamily="18" charset="0"/>
              </a:rPr>
              <a:t>S</a:t>
            </a:r>
            <a:r>
              <a:rPr lang="zh-CN" altLang="en-US" sz="2400" b="1" dirty="0">
                <a:solidFill>
                  <a:srgbClr val="FFFF00"/>
                </a:solidFill>
                <a:effectLst/>
                <a:latin typeface="宋体" panose="02010600030101010101" pitchFamily="2" charset="-122"/>
              </a:rPr>
              <a:t>）</a:t>
            </a:r>
            <a:r>
              <a:rPr lang="en-US" altLang="zh-CN" sz="2400" b="1" dirty="0">
                <a:solidFill>
                  <a:srgbClr val="FFFF00"/>
                </a:solidFill>
                <a:effectLst/>
                <a:latin typeface="宋体" panose="02010600030101010101" pitchFamily="2" charset="-122"/>
              </a:rPr>
              <a:t>;}</a:t>
            </a:r>
          </a:p>
          <a:p>
            <a:pPr marL="0" indent="0" algn="just" eaLnBrk="1" hangingPunct="1">
              <a:lnSpc>
                <a:spcPct val="80000"/>
              </a:lnSpc>
              <a:buNone/>
            </a:pPr>
            <a:r>
              <a:rPr lang="en-US" altLang="zh-CN" sz="2400" b="1" dirty="0">
                <a:solidFill>
                  <a:srgbClr val="FFFF00"/>
                </a:solidFill>
                <a:effectLst/>
                <a:latin typeface="宋体" panose="02010600030101010101" pitchFamily="2" charset="-122"/>
              </a:rPr>
              <a:t>}</a:t>
            </a:r>
          </a:p>
        </p:txBody>
      </p:sp>
      <p:sp>
        <p:nvSpPr>
          <p:cNvPr id="2" name="Rectangle 4">
            <a:extLst>
              <a:ext uri="{FF2B5EF4-FFF2-40B4-BE49-F238E27FC236}">
                <a16:creationId xmlns:a16="http://schemas.microsoft.com/office/drawing/2014/main" id="{67F50055-0685-F2BD-0AFE-9CA8BB3B527E}"/>
              </a:ext>
            </a:extLst>
          </p:cNvPr>
          <p:cNvSpPr>
            <a:spLocks noChangeArrowheads="1"/>
          </p:cNvSpPr>
          <p:nvPr/>
        </p:nvSpPr>
        <p:spPr bwMode="auto">
          <a:xfrm>
            <a:off x="4722813" y="1052736"/>
            <a:ext cx="4320480" cy="216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FFFF00"/>
                </a:solidFill>
                <a:latin typeface="黑体" panose="02010609060101010101" pitchFamily="49" charset="-122"/>
                <a:ea typeface="黑体" panose="02010609060101010101" pitchFamily="49" charset="-122"/>
              </a:rPr>
              <a:t>P.V</a:t>
            </a:r>
            <a:r>
              <a:rPr lang="zh-CN" altLang="en-US" sz="2800" b="1" dirty="0">
                <a:solidFill>
                  <a:srgbClr val="FFFF00"/>
                </a:solidFill>
                <a:latin typeface="黑体" panose="02010609060101010101" pitchFamily="49" charset="-122"/>
                <a:ea typeface="黑体" panose="02010609060101010101" pitchFamily="49" charset="-122"/>
              </a:rPr>
              <a:t>操作必须成对出现，有一个</a:t>
            </a:r>
            <a:r>
              <a:rPr lang="en-US" altLang="zh-CN" sz="2800" b="1" dirty="0">
                <a:solidFill>
                  <a:srgbClr val="FFFF00"/>
                </a:solidFill>
                <a:latin typeface="黑体" panose="02010609060101010101" pitchFamily="49" charset="-122"/>
                <a:ea typeface="黑体" panose="02010609060101010101" pitchFamily="49" charset="-122"/>
              </a:rPr>
              <a:t>P</a:t>
            </a:r>
            <a:r>
              <a:rPr lang="zh-CN" altLang="en-US" sz="2800" b="1" dirty="0">
                <a:solidFill>
                  <a:srgbClr val="FFFF00"/>
                </a:solidFill>
                <a:latin typeface="黑体" panose="02010609060101010101" pitchFamily="49" charset="-122"/>
                <a:ea typeface="黑体" panose="02010609060101010101" pitchFamily="49" charset="-122"/>
              </a:rPr>
              <a:t>操作就一定有一个</a:t>
            </a:r>
            <a:r>
              <a:rPr lang="en-US" altLang="zh-CN" sz="2800" b="1" dirty="0">
                <a:solidFill>
                  <a:srgbClr val="FFFF00"/>
                </a:solidFill>
                <a:latin typeface="黑体" panose="02010609060101010101" pitchFamily="49" charset="-122"/>
                <a:ea typeface="黑体" panose="02010609060101010101" pitchFamily="49" charset="-122"/>
              </a:rPr>
              <a:t>V</a:t>
            </a:r>
            <a:r>
              <a:rPr lang="zh-CN" altLang="en-US" sz="2800" b="1" dirty="0">
                <a:solidFill>
                  <a:srgbClr val="FFFF00"/>
                </a:solidFill>
                <a:latin typeface="黑体" panose="02010609060101010101" pitchFamily="49" charset="-122"/>
                <a:ea typeface="黑体" panose="02010609060101010101" pitchFamily="49" charset="-122"/>
              </a:rPr>
              <a:t>操作</a:t>
            </a:r>
            <a:r>
              <a:rPr lang="en-US" altLang="zh-CN" sz="2800" b="1" dirty="0">
                <a:solidFill>
                  <a:srgbClr val="FFFF00"/>
                </a:solidFill>
                <a:latin typeface="黑体" panose="02010609060101010101" pitchFamily="49" charset="-122"/>
                <a:ea typeface="黑体" panose="02010609060101010101" pitchFamily="49" charset="-122"/>
              </a:rPr>
              <a:t>,</a:t>
            </a:r>
            <a:r>
              <a:rPr lang="zh-CN" altLang="en-US" sz="2800" b="1" dirty="0">
                <a:solidFill>
                  <a:srgbClr val="FFFF00"/>
                </a:solidFill>
                <a:latin typeface="黑体" panose="02010609060101010101" pitchFamily="49" charset="-122"/>
                <a:ea typeface="黑体" panose="02010609060101010101" pitchFamily="49" charset="-122"/>
              </a:rPr>
              <a:t>互斥操作中，处于同一进程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A848D57F-823F-4E7E-85AA-C2AACF3B4C0E}"/>
              </a:ext>
            </a:extLst>
          </p:cNvPr>
          <p:cNvSpPr>
            <a:spLocks noGrp="1" noChangeArrowheads="1"/>
          </p:cNvSpPr>
          <p:nvPr>
            <p:ph type="body" idx="1"/>
          </p:nvPr>
        </p:nvSpPr>
        <p:spPr>
          <a:xfrm>
            <a:off x="539552" y="1700808"/>
            <a:ext cx="8229600" cy="4248745"/>
          </a:xfrm>
        </p:spPr>
        <p:txBody>
          <a:bodyPr/>
          <a:lstStyle/>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可以把各进程之间发送的消息作为信号量看待</a:t>
            </a:r>
            <a:endParaRPr lang="en-US" altLang="zh-CN" sz="36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同步中</a:t>
            </a:r>
            <a:r>
              <a:rPr lang="en-US" altLang="zh-CN" sz="3600" b="1" dirty="0">
                <a:solidFill>
                  <a:srgbClr val="FFFF00"/>
                </a:solidFill>
                <a:effectLst/>
                <a:latin typeface="黑体" panose="02010609060101010101" pitchFamily="49" charset="-122"/>
                <a:ea typeface="黑体" panose="02010609060101010101" pitchFamily="49" charset="-122"/>
              </a:rPr>
              <a:t>P</a:t>
            </a:r>
            <a:r>
              <a:rPr lang="zh-CN" altLang="en-US" sz="3600" b="1" dirty="0">
                <a:solidFill>
                  <a:srgbClr val="FFFF00"/>
                </a:solidFill>
                <a:effectLst/>
                <a:latin typeface="黑体" panose="02010609060101010101" pitchFamily="49" charset="-122"/>
                <a:ea typeface="黑体" panose="02010609060101010101" pitchFamily="49" charset="-122"/>
              </a:rPr>
              <a:t>操作表示</a:t>
            </a:r>
            <a:r>
              <a:rPr lang="zh-CN" altLang="en-US" sz="3600" b="1" dirty="0">
                <a:solidFill>
                  <a:srgbClr val="FFFF00"/>
                </a:solidFill>
                <a:effectLst/>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等合作伙伴发可以执行的信号</a:t>
            </a:r>
            <a:r>
              <a:rPr lang="zh-CN" altLang="en-US" sz="3600" b="1" dirty="0">
                <a:solidFill>
                  <a:srgbClr val="FFFF00"/>
                </a:solidFill>
                <a:effectLst/>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，即测试一个要等的信号是否到达</a:t>
            </a:r>
            <a:endParaRPr lang="en-US" altLang="zh-CN" sz="36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同步中</a:t>
            </a:r>
            <a:r>
              <a:rPr lang="en-US" altLang="zh-CN" sz="3600" b="1" dirty="0">
                <a:solidFill>
                  <a:srgbClr val="FFFF00"/>
                </a:solidFill>
                <a:effectLst/>
                <a:latin typeface="黑体" panose="02010609060101010101" pitchFamily="49" charset="-122"/>
                <a:ea typeface="黑体" panose="02010609060101010101" pitchFamily="49" charset="-122"/>
              </a:rPr>
              <a:t>V</a:t>
            </a:r>
            <a:r>
              <a:rPr lang="zh-CN" altLang="en-US" sz="3600" b="1" dirty="0">
                <a:solidFill>
                  <a:srgbClr val="FFFF00"/>
                </a:solidFill>
                <a:effectLst/>
                <a:latin typeface="黑体" panose="02010609060101010101" pitchFamily="49" charset="-122"/>
                <a:ea typeface="黑体" panose="02010609060101010101" pitchFamily="49" charset="-122"/>
              </a:rPr>
              <a:t>操作表示</a:t>
            </a:r>
            <a:r>
              <a:rPr lang="zh-CN" altLang="en-US" sz="3600" b="1" dirty="0">
                <a:solidFill>
                  <a:srgbClr val="FFFF00"/>
                </a:solidFill>
                <a:effectLst/>
                <a:ea typeface="黑体" panose="02010609060101010101" pitchFamily="49" charset="-122"/>
              </a:rPr>
              <a:t>“给合作伙伴</a:t>
            </a:r>
            <a:r>
              <a:rPr lang="zh-CN" altLang="en-US" sz="3600" b="1" dirty="0">
                <a:solidFill>
                  <a:srgbClr val="FFFF00"/>
                </a:solidFill>
                <a:effectLst/>
                <a:latin typeface="黑体" panose="02010609060101010101" pitchFamily="49" charset="-122"/>
                <a:ea typeface="黑体" panose="02010609060101010101" pitchFamily="49" charset="-122"/>
              </a:rPr>
              <a:t>发可以执行的信号</a:t>
            </a:r>
            <a:r>
              <a:rPr lang="zh-CN" altLang="en-US" sz="3600" b="1" dirty="0">
                <a:solidFill>
                  <a:srgbClr val="FFFF00"/>
                </a:solidFill>
                <a:effectLst/>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a:t>
            </a:r>
          </a:p>
        </p:txBody>
      </p:sp>
      <p:sp>
        <p:nvSpPr>
          <p:cNvPr id="61443" name="Rectangle 3">
            <a:extLst>
              <a:ext uri="{FF2B5EF4-FFF2-40B4-BE49-F238E27FC236}">
                <a16:creationId xmlns:a16="http://schemas.microsoft.com/office/drawing/2014/main" id="{2935B450-A238-4602-BC83-B0CD6F09560D}"/>
              </a:ext>
            </a:extLst>
          </p:cNvPr>
          <p:cNvSpPr>
            <a:spLocks noGrp="1" noChangeArrowheads="1"/>
          </p:cNvSpPr>
          <p:nvPr>
            <p:ph type="title"/>
          </p:nvPr>
        </p:nvSpPr>
        <p:spPr>
          <a:xfrm>
            <a:off x="484188" y="452438"/>
            <a:ext cx="5311775" cy="803275"/>
          </a:xfrm>
          <a:noFill/>
          <a:extLst>
            <a:ext uri="{909E8E84-426E-40DD-AFC4-6F175D3DCCD1}">
              <a14:hiddenFill xmlns:a14="http://schemas.microsoft.com/office/drawing/2010/main">
                <a:solidFill>
                  <a:schemeClr val="accent1"/>
                </a:solidFill>
              </a14:hiddenFill>
            </a:ext>
          </a:extLst>
        </p:spPr>
        <p:txBody>
          <a:bodyPr anchor="b" anchorCtr="0"/>
          <a:lstStyle/>
          <a:p>
            <a:pPr eaLnBrk="1" hangingPunct="1"/>
            <a:r>
              <a:rPr lang="en-US" altLang="zh-CN" sz="4000">
                <a:solidFill>
                  <a:schemeClr val="tx1"/>
                </a:solidFill>
                <a:effectLst/>
                <a:latin typeface="楷体_GB2312" pitchFamily="49" charset="-122"/>
                <a:ea typeface="楷体_GB2312" pitchFamily="49" charset="-122"/>
              </a:rPr>
              <a:t>4.</a:t>
            </a:r>
            <a:r>
              <a:rPr lang="zh-CN" altLang="en-US" sz="4000">
                <a:solidFill>
                  <a:schemeClr val="tx1"/>
                </a:solidFill>
                <a:effectLst/>
                <a:latin typeface="楷体_GB2312" pitchFamily="49" charset="-122"/>
                <a:ea typeface="楷体_GB2312" pitchFamily="49" charset="-122"/>
              </a:rPr>
              <a:t>信号量机制实现同步</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6199B-BBC1-0E0F-8F58-86BA5539C165}"/>
            </a:ext>
          </a:extLst>
        </p:cNvPr>
        <p:cNvGrpSpPr/>
        <p:nvPr/>
      </p:nvGrpSpPr>
      <p:grpSpPr>
        <a:xfrm>
          <a:off x="0" y="0"/>
          <a:ext cx="0" cy="0"/>
          <a:chOff x="0" y="0"/>
          <a:chExt cx="0" cy="0"/>
        </a:xfrm>
      </p:grpSpPr>
      <p:sp>
        <p:nvSpPr>
          <p:cNvPr id="61442" name="Rectangle 2">
            <a:extLst>
              <a:ext uri="{FF2B5EF4-FFF2-40B4-BE49-F238E27FC236}">
                <a16:creationId xmlns:a16="http://schemas.microsoft.com/office/drawing/2014/main" id="{35750A44-C753-FCF5-455B-9E916AAC391E}"/>
              </a:ext>
            </a:extLst>
          </p:cNvPr>
          <p:cNvSpPr>
            <a:spLocks noGrp="1" noChangeArrowheads="1"/>
          </p:cNvSpPr>
          <p:nvPr>
            <p:ph type="body" idx="1"/>
          </p:nvPr>
        </p:nvSpPr>
        <p:spPr>
          <a:xfrm>
            <a:off x="539750" y="2060575"/>
            <a:ext cx="8229600" cy="4243388"/>
          </a:xfrm>
        </p:spPr>
        <p:txBody>
          <a:bodyPr/>
          <a:lstStyle/>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该信号量只与相互合作的进程有关，而不是与整组并发进程有关，因此称为私用信号量</a:t>
            </a:r>
            <a:r>
              <a:rPr lang="en-US" altLang="zh-CN" sz="3600" b="1" dirty="0">
                <a:solidFill>
                  <a:srgbClr val="FFFF00"/>
                </a:solidFill>
                <a:effectLst/>
                <a:latin typeface="黑体" panose="02010609060101010101" pitchFamily="49" charset="-122"/>
                <a:ea typeface="黑体" panose="02010609060101010101" pitchFamily="49" charset="-122"/>
              </a:rPr>
              <a:t>Private Sem</a:t>
            </a: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称互斥时使用的信号量为公用信号量</a:t>
            </a:r>
          </a:p>
        </p:txBody>
      </p:sp>
      <p:sp>
        <p:nvSpPr>
          <p:cNvPr id="61443" name="Rectangle 3">
            <a:extLst>
              <a:ext uri="{FF2B5EF4-FFF2-40B4-BE49-F238E27FC236}">
                <a16:creationId xmlns:a16="http://schemas.microsoft.com/office/drawing/2014/main" id="{5175A7C7-B8C0-CA7A-CB27-20BEBEB5FD06}"/>
              </a:ext>
            </a:extLst>
          </p:cNvPr>
          <p:cNvSpPr>
            <a:spLocks noGrp="1" noChangeArrowheads="1"/>
          </p:cNvSpPr>
          <p:nvPr>
            <p:ph type="title"/>
          </p:nvPr>
        </p:nvSpPr>
        <p:spPr>
          <a:xfrm>
            <a:off x="484188" y="452438"/>
            <a:ext cx="5311775" cy="803275"/>
          </a:xfrm>
          <a:noFill/>
          <a:extLst>
            <a:ext uri="{909E8E84-426E-40DD-AFC4-6F175D3DCCD1}">
              <a14:hiddenFill xmlns:a14="http://schemas.microsoft.com/office/drawing/2010/main">
                <a:solidFill>
                  <a:schemeClr val="accent1"/>
                </a:solidFill>
              </a14:hiddenFill>
            </a:ext>
          </a:extLst>
        </p:spPr>
        <p:txBody>
          <a:bodyPr anchor="b" anchorCtr="0"/>
          <a:lstStyle/>
          <a:p>
            <a:pPr eaLnBrk="1" hangingPunct="1"/>
            <a:r>
              <a:rPr lang="en-US" altLang="zh-CN" sz="4000">
                <a:solidFill>
                  <a:schemeClr val="tx1"/>
                </a:solidFill>
                <a:effectLst/>
                <a:latin typeface="楷体_GB2312" pitchFamily="49" charset="-122"/>
                <a:ea typeface="楷体_GB2312" pitchFamily="49" charset="-122"/>
              </a:rPr>
              <a:t>4.</a:t>
            </a:r>
            <a:r>
              <a:rPr lang="zh-CN" altLang="en-US" sz="4000">
                <a:solidFill>
                  <a:schemeClr val="tx1"/>
                </a:solidFill>
                <a:effectLst/>
                <a:latin typeface="楷体_GB2312" pitchFamily="49" charset="-122"/>
                <a:ea typeface="楷体_GB2312" pitchFamily="49" charset="-122"/>
              </a:rPr>
              <a:t>信号量机制实现同步</a:t>
            </a:r>
          </a:p>
        </p:txBody>
      </p:sp>
    </p:spTree>
    <p:extLst>
      <p:ext uri="{BB962C8B-B14F-4D97-AF65-F5344CB8AC3E}">
        <p14:creationId xmlns:p14="http://schemas.microsoft.com/office/powerpoint/2010/main" val="1689005714"/>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A410FC01-E9B5-49BC-917F-BB615BEF582C}"/>
              </a:ext>
            </a:extLst>
          </p:cNvPr>
          <p:cNvSpPr>
            <a:spLocks noGrp="1" noChangeArrowheads="1"/>
          </p:cNvSpPr>
          <p:nvPr>
            <p:ph type="body" idx="1"/>
          </p:nvPr>
        </p:nvSpPr>
        <p:spPr>
          <a:xfrm>
            <a:off x="684213" y="1196975"/>
            <a:ext cx="7848600" cy="4608513"/>
          </a:xfrm>
        </p:spPr>
        <p:txBody>
          <a:bodyPr/>
          <a:lstStyle/>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为各合作的并发进程设置私用信号量。一个进程</a:t>
            </a:r>
            <a:r>
              <a:rPr lang="en-US" altLang="zh-CN" sz="3600" b="1" dirty="0">
                <a:solidFill>
                  <a:srgbClr val="FFFF00"/>
                </a:solidFill>
                <a:effectLst/>
                <a:latin typeface="黑体" panose="02010609060101010101" pitchFamily="49" charset="-122"/>
                <a:ea typeface="黑体" panose="02010609060101010101" pitchFamily="49" charset="-122"/>
              </a:rPr>
              <a:t>Pi</a:t>
            </a:r>
            <a:r>
              <a:rPr lang="zh-CN" altLang="en-US" sz="3600" b="1" dirty="0">
                <a:solidFill>
                  <a:srgbClr val="FFFF00"/>
                </a:solidFill>
                <a:effectLst/>
                <a:latin typeface="黑体" panose="02010609060101010101" pitchFamily="49" charset="-122"/>
                <a:ea typeface="黑体" panose="02010609060101010101" pitchFamily="49" charset="-122"/>
              </a:rPr>
              <a:t>的私用信号量</a:t>
            </a:r>
            <a:r>
              <a:rPr lang="en-US" altLang="zh-CN" sz="3600" b="1" dirty="0">
                <a:solidFill>
                  <a:srgbClr val="FFFF00"/>
                </a:solidFill>
                <a:effectLst/>
                <a:latin typeface="黑体" panose="02010609060101010101" pitchFamily="49" charset="-122"/>
                <a:ea typeface="黑体" panose="02010609060101010101" pitchFamily="49" charset="-122"/>
              </a:rPr>
              <a:t>S</a:t>
            </a:r>
            <a:r>
              <a:rPr lang="zh-CN" altLang="en-US" sz="3600" b="1" dirty="0">
                <a:solidFill>
                  <a:srgbClr val="FFFF00"/>
                </a:solidFill>
                <a:effectLst/>
                <a:latin typeface="黑体" panose="02010609060101010101" pitchFamily="49" charset="-122"/>
                <a:ea typeface="黑体" panose="02010609060101010101" pitchFamily="49" charset="-122"/>
              </a:rPr>
              <a:t>是从合作进程发送来的进程</a:t>
            </a:r>
            <a:r>
              <a:rPr lang="en-US" altLang="zh-CN" sz="3600" b="1" dirty="0">
                <a:solidFill>
                  <a:srgbClr val="FFFF00"/>
                </a:solidFill>
                <a:effectLst/>
                <a:latin typeface="黑体" panose="02010609060101010101" pitchFamily="49" charset="-122"/>
                <a:ea typeface="黑体" panose="02010609060101010101" pitchFamily="49" charset="-122"/>
              </a:rPr>
              <a:t>Pi</a:t>
            </a:r>
            <a:r>
              <a:rPr lang="zh-CN" altLang="en-US" sz="3600" b="1" dirty="0">
                <a:solidFill>
                  <a:srgbClr val="FFFF00"/>
                </a:solidFill>
                <a:effectLst/>
                <a:latin typeface="黑体" panose="02010609060101010101" pitchFamily="49" charset="-122"/>
                <a:ea typeface="黑体" panose="02010609060101010101" pitchFamily="49" charset="-122"/>
              </a:rPr>
              <a:t>的执行条件所需要的消息。</a:t>
            </a: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为私用信号量赋初值</a:t>
            </a: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利用</a:t>
            </a:r>
            <a:r>
              <a:rPr lang="en-US" altLang="zh-CN" sz="3600" b="1" dirty="0">
                <a:solidFill>
                  <a:srgbClr val="FFFF00"/>
                </a:solidFill>
                <a:effectLst/>
                <a:latin typeface="黑体" panose="02010609060101010101" pitchFamily="49" charset="-122"/>
                <a:ea typeface="黑体" panose="02010609060101010101" pitchFamily="49" charset="-122"/>
              </a:rPr>
              <a:t>P,V</a:t>
            </a:r>
            <a:r>
              <a:rPr lang="zh-CN" altLang="en-US" sz="3600" b="1" dirty="0">
                <a:solidFill>
                  <a:srgbClr val="FFFF00"/>
                </a:solidFill>
                <a:effectLst/>
                <a:latin typeface="黑体" panose="02010609060101010101" pitchFamily="49" charset="-122"/>
                <a:ea typeface="黑体" panose="02010609060101010101" pitchFamily="49" charset="-122"/>
              </a:rPr>
              <a:t>原语规定各进程的执行顺序</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5266" name="Rectangle 2">
            <a:extLst>
              <a:ext uri="{FF2B5EF4-FFF2-40B4-BE49-F238E27FC236}">
                <a16:creationId xmlns:a16="http://schemas.microsoft.com/office/drawing/2014/main" id="{9E426DAC-26B2-42D0-AF93-86C38635DD1B}"/>
              </a:ext>
            </a:extLst>
          </p:cNvPr>
          <p:cNvSpPr>
            <a:spLocks noGrp="1" noChangeArrowheads="1"/>
          </p:cNvSpPr>
          <p:nvPr>
            <p:ph type="body" idx="1"/>
          </p:nvPr>
        </p:nvSpPr>
        <p:spPr>
          <a:xfrm>
            <a:off x="250825" y="981075"/>
            <a:ext cx="8569325" cy="5616575"/>
          </a:xfrm>
        </p:spPr>
        <p:txBody>
          <a:bodyPr/>
          <a:lstStyle/>
          <a:p>
            <a:pPr eaLnBrk="1" hangingPunct="1">
              <a:lnSpc>
                <a:spcPct val="120000"/>
              </a:lnSpc>
              <a:buClr>
                <a:srgbClr val="FF3300"/>
              </a:buClr>
              <a:buSzPct val="115000"/>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信号量机制实施的主要步骤是： </a:t>
            </a:r>
          </a:p>
          <a:p>
            <a:pPr eaLnBrk="1" hangingPunct="1">
              <a:lnSpc>
                <a:spcPct val="120000"/>
              </a:lnSpc>
              <a:buClr>
                <a:srgbClr val="FF3300"/>
              </a:buClr>
              <a:buSzPct val="115000"/>
              <a:buFont typeface="Wingdings" panose="05000000000000000000" pitchFamily="2" charset="2"/>
              <a:buChar char="v"/>
            </a:pP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）分析清楚涉及的进程间的制约关系：同步（互为执行条件）、互斥（临界资源）</a:t>
            </a:r>
          </a:p>
          <a:p>
            <a:pPr eaLnBrk="1" hangingPunct="1">
              <a:lnSpc>
                <a:spcPct val="120000"/>
              </a:lnSpc>
              <a:buClr>
                <a:srgbClr val="FF3300"/>
              </a:buClr>
              <a:buSzPct val="115000"/>
              <a:buFont typeface="Wingdings" panose="05000000000000000000" pitchFamily="2" charset="2"/>
              <a:buChar char="v"/>
            </a:pP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2</a:t>
            </a:r>
            <a:r>
              <a:rPr lang="zh-CN" altLang="en-US" b="1" dirty="0">
                <a:solidFill>
                  <a:srgbClr val="FFFF00"/>
                </a:solidFill>
                <a:effectLst/>
                <a:latin typeface="黑体" panose="02010609060101010101" pitchFamily="49" charset="-122"/>
                <a:ea typeface="黑体" panose="02010609060101010101" pitchFamily="49" charset="-122"/>
              </a:rPr>
              <a:t>）设置信号量（包括信号量的个数和初值，信号量的物理含义）。</a:t>
            </a:r>
          </a:p>
          <a:p>
            <a:pPr eaLnBrk="1" hangingPunct="1">
              <a:lnSpc>
                <a:spcPct val="120000"/>
              </a:lnSpc>
              <a:buClr>
                <a:srgbClr val="FF3300"/>
              </a:buClr>
              <a:buSzPct val="115000"/>
              <a:buFont typeface="Wingdings" panose="05000000000000000000" pitchFamily="2" charset="2"/>
              <a:buChar char="v"/>
            </a:pP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3</a:t>
            </a:r>
            <a:r>
              <a:rPr lang="zh-CN" altLang="en-US" b="1" dirty="0">
                <a:solidFill>
                  <a:srgbClr val="FFFF00"/>
                </a:solidFill>
                <a:effectLst/>
                <a:latin typeface="黑体" panose="02010609060101010101" pitchFamily="49" charset="-122"/>
                <a:ea typeface="黑体" panose="02010609060101010101" pitchFamily="49" charset="-122"/>
              </a:rPr>
              <a:t>）给出进程的算法描述，并把</a:t>
            </a:r>
            <a:r>
              <a:rPr lang="en-US" altLang="zh-CN" b="1" dirty="0">
                <a:solidFill>
                  <a:srgbClr val="FFFF00"/>
                </a:solidFill>
                <a:effectLst/>
                <a:latin typeface="黑体" panose="02010609060101010101" pitchFamily="49" charset="-122"/>
                <a:ea typeface="黑体" panose="02010609060101010101" pitchFamily="49" charset="-122"/>
              </a:rPr>
              <a:t>P</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V</a:t>
            </a:r>
            <a:r>
              <a:rPr lang="zh-CN" altLang="en-US" b="1" dirty="0">
                <a:solidFill>
                  <a:srgbClr val="FFFF00"/>
                </a:solidFill>
                <a:effectLst/>
                <a:latin typeface="黑体" panose="02010609060101010101" pitchFamily="49" charset="-122"/>
                <a:ea typeface="黑体" panose="02010609060101010101" pitchFamily="49" charset="-122"/>
              </a:rPr>
              <a:t>操作加到适当处。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5266">
                                            <p:txEl>
                                              <p:pRg st="0" end="0"/>
                                            </p:txEl>
                                          </p:spTgt>
                                        </p:tgtEl>
                                        <p:attrNameLst>
                                          <p:attrName>style.visibility</p:attrName>
                                        </p:attrNameLst>
                                      </p:cBhvr>
                                      <p:to>
                                        <p:strVal val="visible"/>
                                      </p:to>
                                    </p:set>
                                    <p:anim calcmode="lin" valueType="num">
                                      <p:cBhvr additive="base">
                                        <p:cTn id="7" dur="500" fill="hold"/>
                                        <p:tgtEl>
                                          <p:spTgt spid="3952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5266">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0" end="0"/>
                                            </p:txEl>
                                          </p:spTgt>
                                        </p:tgtEl>
                                        <p:attrNameLst>
                                          <p:attrName>ppt_c</p:attrName>
                                        </p:attrNameLst>
                                      </p:cBhvr>
                                      <p:to>
                                        <a:srgbClr val="66FF66"/>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5266">
                                            <p:txEl>
                                              <p:pRg st="1" end="1"/>
                                            </p:txEl>
                                          </p:spTgt>
                                        </p:tgtEl>
                                        <p:attrNameLst>
                                          <p:attrName>style.visibility</p:attrName>
                                        </p:attrNameLst>
                                      </p:cBhvr>
                                      <p:to>
                                        <p:strVal val="visible"/>
                                      </p:to>
                                    </p:set>
                                    <p:anim calcmode="lin" valueType="num">
                                      <p:cBhvr additive="base">
                                        <p:cTn id="13" dur="500" fill="hold"/>
                                        <p:tgtEl>
                                          <p:spTgt spid="3952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5266">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1" end="1"/>
                                            </p:txEl>
                                          </p:spTgt>
                                        </p:tgtEl>
                                        <p:attrNameLst>
                                          <p:attrName>ppt_c</p:attrName>
                                        </p:attrNameLst>
                                      </p:cBhvr>
                                      <p:to>
                                        <a:srgbClr val="66FF66"/>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5266">
                                            <p:txEl>
                                              <p:pRg st="2" end="2"/>
                                            </p:txEl>
                                          </p:spTgt>
                                        </p:tgtEl>
                                        <p:attrNameLst>
                                          <p:attrName>style.visibility</p:attrName>
                                        </p:attrNameLst>
                                      </p:cBhvr>
                                      <p:to>
                                        <p:strVal val="visible"/>
                                      </p:to>
                                    </p:set>
                                    <p:anim calcmode="lin" valueType="num">
                                      <p:cBhvr additive="base">
                                        <p:cTn id="19" dur="500" fill="hold"/>
                                        <p:tgtEl>
                                          <p:spTgt spid="39526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5266">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2" end="2"/>
                                            </p:txEl>
                                          </p:spTgt>
                                        </p:tgtEl>
                                        <p:attrNameLst>
                                          <p:attrName>ppt_c</p:attrName>
                                        </p:attrNameLst>
                                      </p:cBhvr>
                                      <p:to>
                                        <a:srgbClr val="66FF66"/>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95266">
                                            <p:txEl>
                                              <p:pRg st="3" end="3"/>
                                            </p:txEl>
                                          </p:spTgt>
                                        </p:tgtEl>
                                        <p:attrNameLst>
                                          <p:attrName>style.visibility</p:attrName>
                                        </p:attrNameLst>
                                      </p:cBhvr>
                                      <p:to>
                                        <p:strVal val="visible"/>
                                      </p:to>
                                    </p:set>
                                    <p:anim calcmode="lin" valueType="num">
                                      <p:cBhvr additive="base">
                                        <p:cTn id="25" dur="500" fill="hold"/>
                                        <p:tgtEl>
                                          <p:spTgt spid="39526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5266">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95266">
                                            <p:txEl>
                                              <p:pRg st="3" end="3"/>
                                            </p:txEl>
                                          </p:spTgt>
                                        </p:tgtEl>
                                        <p:attrNameLst>
                                          <p:attrName>ppt_c</p:attrName>
                                        </p:attrNameLst>
                                      </p:cBhvr>
                                      <p:to>
                                        <a:srgbClr val="66FF66"/>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6"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87509825-72CB-4904-B384-7B1352CFE219}"/>
              </a:ext>
            </a:extLst>
          </p:cNvPr>
          <p:cNvSpPr>
            <a:spLocks noGrp="1" noChangeArrowheads="1"/>
          </p:cNvSpPr>
          <p:nvPr>
            <p:ph type="body" idx="1"/>
          </p:nvPr>
        </p:nvSpPr>
        <p:spPr>
          <a:xfrm>
            <a:off x="468313" y="1125538"/>
            <a:ext cx="8229600" cy="5184775"/>
          </a:xfrm>
        </p:spPr>
        <p:txBody>
          <a:bodyPr/>
          <a:lstStyle/>
          <a:p>
            <a:pPr eaLnBrk="1" hangingPunct="1"/>
            <a:r>
              <a:rPr lang="zh-CN" altLang="en-US" b="1">
                <a:solidFill>
                  <a:srgbClr val="FFFF00"/>
                </a:solidFill>
                <a:effectLst/>
                <a:latin typeface="黑体" panose="02010609060101010101" pitchFamily="49" charset="-122"/>
                <a:ea typeface="黑体" panose="02010609060101010101" pitchFamily="49" charset="-122"/>
              </a:rPr>
              <a:t>设某计算进程</a:t>
            </a:r>
            <a:r>
              <a:rPr lang="en-US" altLang="zh-CN" b="1">
                <a:solidFill>
                  <a:srgbClr val="FFFF00"/>
                </a:solidFill>
                <a:effectLst/>
                <a:latin typeface="黑体" panose="02010609060101010101" pitchFamily="49" charset="-122"/>
                <a:ea typeface="黑体" panose="02010609060101010101" pitchFamily="49" charset="-122"/>
              </a:rPr>
              <a:t>cp</a:t>
            </a:r>
            <a:r>
              <a:rPr lang="zh-CN" altLang="en-US" b="1">
                <a:solidFill>
                  <a:srgbClr val="FFFF00"/>
                </a:solidFill>
                <a:effectLst/>
                <a:latin typeface="黑体" panose="02010609060101010101" pitchFamily="49" charset="-122"/>
                <a:ea typeface="黑体" panose="02010609060101010101" pitchFamily="49" charset="-122"/>
              </a:rPr>
              <a:t>和打印进程</a:t>
            </a:r>
            <a:r>
              <a:rPr lang="en-US" altLang="zh-CN" b="1">
                <a:solidFill>
                  <a:srgbClr val="FFFF00"/>
                </a:solidFill>
                <a:effectLst/>
                <a:latin typeface="黑体" panose="02010609060101010101" pitchFamily="49" charset="-122"/>
                <a:ea typeface="黑体" panose="02010609060101010101" pitchFamily="49" charset="-122"/>
              </a:rPr>
              <a:t>iop</a:t>
            </a:r>
            <a:r>
              <a:rPr lang="zh-CN" altLang="en-US" b="1">
                <a:solidFill>
                  <a:srgbClr val="FFFF00"/>
                </a:solidFill>
                <a:effectLst/>
                <a:latin typeface="黑体" panose="02010609060101010101" pitchFamily="49" charset="-122"/>
                <a:ea typeface="黑体" panose="02010609060101010101" pitchFamily="49" charset="-122"/>
              </a:rPr>
              <a:t>共用一个缓冲区</a:t>
            </a:r>
            <a:r>
              <a:rPr lang="en-US" altLang="zh-CN" b="1">
                <a:solidFill>
                  <a:srgbClr val="FFFF00"/>
                </a:solidFill>
                <a:effectLst/>
                <a:latin typeface="黑体" panose="02010609060101010101" pitchFamily="49" charset="-122"/>
                <a:ea typeface="黑体" panose="02010609060101010101" pitchFamily="49" charset="-122"/>
              </a:rPr>
              <a:t>Buf</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 cp</a:t>
            </a:r>
            <a:r>
              <a:rPr lang="zh-CN" altLang="en-US" b="1">
                <a:solidFill>
                  <a:srgbClr val="FFFF00"/>
                </a:solidFill>
                <a:effectLst/>
                <a:latin typeface="黑体" panose="02010609060101010101" pitchFamily="49" charset="-122"/>
                <a:ea typeface="黑体" panose="02010609060101010101" pitchFamily="49" charset="-122"/>
              </a:rPr>
              <a:t>进程负责不断地计算数据并送入缓冲区</a:t>
            </a:r>
            <a:r>
              <a:rPr lang="en-US" altLang="zh-CN" b="1">
                <a:solidFill>
                  <a:srgbClr val="FFFF00"/>
                </a:solidFill>
                <a:effectLst/>
                <a:latin typeface="黑体" panose="02010609060101010101" pitchFamily="49" charset="-122"/>
                <a:ea typeface="黑体" panose="02010609060101010101" pitchFamily="49" charset="-122"/>
              </a:rPr>
              <a:t>Buf</a:t>
            </a:r>
            <a:r>
              <a:rPr lang="zh-CN" altLang="en-US" b="1">
                <a:solidFill>
                  <a:srgbClr val="FFFF00"/>
                </a:solidFill>
                <a:effectLst/>
                <a:latin typeface="黑体" panose="02010609060101010101" pitchFamily="49" charset="-122"/>
                <a:ea typeface="黑体" panose="02010609060101010101" pitchFamily="49" charset="-122"/>
              </a:rPr>
              <a:t>中，</a:t>
            </a:r>
            <a:r>
              <a:rPr lang="en-US" altLang="zh-CN" b="1">
                <a:solidFill>
                  <a:srgbClr val="FFFF00"/>
                </a:solidFill>
                <a:effectLst/>
                <a:latin typeface="黑体" panose="02010609060101010101" pitchFamily="49" charset="-122"/>
                <a:ea typeface="黑体" panose="02010609060101010101" pitchFamily="49" charset="-122"/>
              </a:rPr>
              <a:t> iop</a:t>
            </a:r>
            <a:r>
              <a:rPr lang="zh-CN" altLang="en-US" b="1">
                <a:solidFill>
                  <a:srgbClr val="FFFF00"/>
                </a:solidFill>
                <a:effectLst/>
                <a:latin typeface="黑体" panose="02010609060101010101" pitchFamily="49" charset="-122"/>
                <a:ea typeface="黑体" panose="02010609060101010101" pitchFamily="49" charset="-122"/>
              </a:rPr>
              <a:t>进程负责不断地从缓冲区</a:t>
            </a:r>
            <a:r>
              <a:rPr lang="en-US" altLang="zh-CN" b="1">
                <a:solidFill>
                  <a:srgbClr val="FFFF00"/>
                </a:solidFill>
                <a:effectLst/>
                <a:latin typeface="黑体" panose="02010609060101010101" pitchFamily="49" charset="-122"/>
                <a:ea typeface="黑体" panose="02010609060101010101" pitchFamily="49" charset="-122"/>
              </a:rPr>
              <a:t>Buf</a:t>
            </a:r>
            <a:r>
              <a:rPr lang="zh-CN" altLang="en-US" b="1">
                <a:solidFill>
                  <a:srgbClr val="FFFF00"/>
                </a:solidFill>
                <a:effectLst/>
                <a:latin typeface="黑体" panose="02010609060101010101" pitchFamily="49" charset="-122"/>
                <a:ea typeface="黑体" panose="02010609060101010101" pitchFamily="49" charset="-122"/>
              </a:rPr>
              <a:t>中取出数据去打印。</a:t>
            </a:r>
          </a:p>
          <a:p>
            <a:pPr algn="just" eaLnBrk="1" hangingPunct="1"/>
            <a:endParaRPr lang="en-US" altLang="zh-CN" b="1">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99D7E1D-5662-4118-A305-73EF21C7D06F}"/>
              </a:ext>
            </a:extLst>
          </p:cNvPr>
          <p:cNvSpPr>
            <a:spLocks noGrp="1" noChangeArrowheads="1"/>
          </p:cNvSpPr>
          <p:nvPr>
            <p:ph type="body" idx="1"/>
          </p:nvPr>
        </p:nvSpPr>
        <p:spPr>
          <a:xfrm>
            <a:off x="179388" y="404813"/>
            <a:ext cx="8562975" cy="2254250"/>
          </a:xfrm>
        </p:spPr>
        <p:txBody>
          <a:bodyPr/>
          <a:lstStyle/>
          <a:p>
            <a:pPr algn="just" eaLnBrk="1" hangingPunct="1"/>
            <a:r>
              <a:rPr lang="zh-CN" altLang="en-US" sz="2800" b="1">
                <a:solidFill>
                  <a:srgbClr val="FFFF00"/>
                </a:solidFill>
                <a:effectLst/>
                <a:latin typeface="黑体" panose="02010609060101010101" pitchFamily="49" charset="-122"/>
                <a:ea typeface="黑体" panose="02010609060101010101" pitchFamily="49" charset="-122"/>
              </a:rPr>
              <a:t>设有两个信号量，计算进程的信号量</a:t>
            </a:r>
            <a:r>
              <a:rPr lang="en-US" altLang="zh-CN" sz="2800" b="1">
                <a:solidFill>
                  <a:srgbClr val="FFFF00"/>
                </a:solidFill>
                <a:effectLst/>
                <a:latin typeface="黑体" panose="02010609060101010101" pitchFamily="49" charset="-122"/>
                <a:ea typeface="黑体" panose="02010609060101010101" pitchFamily="49" charset="-122"/>
              </a:rPr>
              <a:t>Sb</a:t>
            </a:r>
            <a:r>
              <a:rPr lang="zh-CN" altLang="en-US" sz="2800" b="1">
                <a:solidFill>
                  <a:srgbClr val="FFFF00"/>
                </a:solidFill>
                <a:effectLst/>
                <a:latin typeface="黑体" panose="02010609060101010101" pitchFamily="49" charset="-122"/>
                <a:ea typeface="黑体" panose="02010609060101010101" pitchFamily="49" charset="-122"/>
              </a:rPr>
              <a:t>表示缓冲区空，打印进程的信号量</a:t>
            </a:r>
            <a:r>
              <a:rPr lang="en-US" altLang="zh-CN" sz="2800" b="1">
                <a:solidFill>
                  <a:srgbClr val="FFFF00"/>
                </a:solidFill>
                <a:effectLst/>
                <a:latin typeface="黑体" panose="02010609060101010101" pitchFamily="49" charset="-122"/>
                <a:ea typeface="黑体" panose="02010609060101010101" pitchFamily="49" charset="-122"/>
              </a:rPr>
              <a:t>Sa</a:t>
            </a:r>
            <a:r>
              <a:rPr lang="zh-CN" altLang="en-US" sz="2800" b="1">
                <a:solidFill>
                  <a:srgbClr val="FFFF00"/>
                </a:solidFill>
                <a:effectLst/>
                <a:latin typeface="黑体" panose="02010609060101010101" pitchFamily="49" charset="-122"/>
                <a:ea typeface="黑体" panose="02010609060101010101" pitchFamily="49" charset="-122"/>
              </a:rPr>
              <a:t>表示缓冲区满，初始化</a:t>
            </a:r>
            <a:r>
              <a:rPr lang="en-US" altLang="zh-CN" sz="2800" b="1">
                <a:solidFill>
                  <a:srgbClr val="FFFF00"/>
                </a:solidFill>
                <a:effectLst/>
                <a:latin typeface="黑体" panose="02010609060101010101" pitchFamily="49" charset="-122"/>
                <a:ea typeface="黑体" panose="02010609060101010101" pitchFamily="49" charset="-122"/>
              </a:rPr>
              <a:t>Sb=1</a:t>
            </a:r>
            <a:r>
              <a:rPr lang="zh-CN" altLang="en-US" sz="2800" b="1">
                <a:solidFill>
                  <a:srgbClr val="FFFF00"/>
                </a:solidFill>
                <a:effectLst/>
                <a:latin typeface="黑体" panose="02010609060101010101" pitchFamily="49" charset="-122"/>
                <a:ea typeface="黑体" panose="02010609060101010101" pitchFamily="49" charset="-122"/>
              </a:rPr>
              <a:t>，</a:t>
            </a:r>
            <a:r>
              <a:rPr lang="en-US" altLang="zh-CN" sz="2800" b="1">
                <a:solidFill>
                  <a:srgbClr val="FFFF00"/>
                </a:solidFill>
                <a:effectLst/>
                <a:latin typeface="黑体" panose="02010609060101010101" pitchFamily="49" charset="-122"/>
                <a:ea typeface="黑体" panose="02010609060101010101" pitchFamily="49" charset="-122"/>
              </a:rPr>
              <a:t>Sa=0</a:t>
            </a:r>
            <a:r>
              <a:rPr lang="zh-CN" altLang="en-US" sz="2800" b="1">
                <a:solidFill>
                  <a:srgbClr val="FFFF00"/>
                </a:solidFill>
                <a:effectLst/>
                <a:latin typeface="黑体" panose="02010609060101010101" pitchFamily="49" charset="-122"/>
                <a:ea typeface="黑体" panose="02010609060101010101" pitchFamily="49" charset="-122"/>
              </a:rPr>
              <a:t>。</a:t>
            </a:r>
          </a:p>
          <a:p>
            <a:pPr eaLnBrk="1" hangingPunct="1"/>
            <a:r>
              <a:rPr lang="zh-CN" altLang="en-US" sz="2800" b="1">
                <a:solidFill>
                  <a:srgbClr val="FFFF00"/>
                </a:solidFill>
                <a:effectLst/>
                <a:latin typeface="黑体" panose="02010609060101010101" pitchFamily="49" charset="-122"/>
                <a:ea typeface="黑体" panose="02010609060101010101" pitchFamily="49" charset="-122"/>
              </a:rPr>
              <a:t>两个进程的同步可以描述如下：</a:t>
            </a:r>
          </a:p>
        </p:txBody>
      </p:sp>
      <p:graphicFrame>
        <p:nvGraphicFramePr>
          <p:cNvPr id="66563" name="Object 3">
            <a:extLst>
              <a:ext uri="{FF2B5EF4-FFF2-40B4-BE49-F238E27FC236}">
                <a16:creationId xmlns:a16="http://schemas.microsoft.com/office/drawing/2014/main" id="{CCE2EF36-7273-47C5-B5CE-68ED9656EDF2}"/>
              </a:ext>
            </a:extLst>
          </p:cNvPr>
          <p:cNvGraphicFramePr>
            <a:graphicFrameLocks noChangeAspect="1"/>
          </p:cNvGraphicFramePr>
          <p:nvPr/>
        </p:nvGraphicFramePr>
        <p:xfrm>
          <a:off x="395288" y="2636838"/>
          <a:ext cx="8305800" cy="4038600"/>
        </p:xfrm>
        <a:graphic>
          <a:graphicData uri="http://schemas.openxmlformats.org/presentationml/2006/ole">
            <mc:AlternateContent xmlns:mc="http://schemas.openxmlformats.org/markup-compatibility/2006">
              <mc:Choice xmlns:v="urn:schemas-microsoft-com:vml" Requires="v">
                <p:oleObj name="位图图像" r:id="rId3" imgW="6373115" imgH="3010320" progId="Paint.Picture">
                  <p:embed/>
                </p:oleObj>
              </mc:Choice>
              <mc:Fallback>
                <p:oleObj name="位图图像" r:id="rId3" imgW="6373115" imgH="301032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2636838"/>
                        <a:ext cx="83058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E6C8AEC1-226F-41E2-AF6E-9159E6EAD95B}"/>
              </a:ext>
            </a:extLst>
          </p:cNvPr>
          <p:cNvSpPr>
            <a:spLocks noGrp="1" noChangeArrowheads="1"/>
          </p:cNvSpPr>
          <p:nvPr>
            <p:ph type="body" idx="1"/>
          </p:nvPr>
        </p:nvSpPr>
        <p:spPr>
          <a:xfrm>
            <a:off x="611188" y="1268413"/>
            <a:ext cx="7775575" cy="5329237"/>
          </a:xfrm>
        </p:spPr>
        <p:txBody>
          <a:bodyPr/>
          <a:lstStyle/>
          <a:p>
            <a:pPr eaLnBrk="1" hangingPunct="1"/>
            <a:r>
              <a:rPr lang="en-US" altLang="zh-CN" sz="3600" b="1">
                <a:solidFill>
                  <a:srgbClr val="FFFF00"/>
                </a:solidFill>
                <a:effectLst/>
                <a:latin typeface="黑体" panose="02010609060101010101" pitchFamily="49" charset="-122"/>
                <a:ea typeface="黑体" panose="02010609060101010101" pitchFamily="49" charset="-122"/>
              </a:rPr>
              <a:t>P.V</a:t>
            </a:r>
            <a:r>
              <a:rPr lang="zh-CN" altLang="en-US" sz="3600" b="1">
                <a:solidFill>
                  <a:srgbClr val="FFFF00"/>
                </a:solidFill>
                <a:effectLst/>
                <a:latin typeface="黑体" panose="02010609060101010101" pitchFamily="49" charset="-122"/>
                <a:ea typeface="黑体" panose="02010609060101010101" pitchFamily="49" charset="-122"/>
              </a:rPr>
              <a:t>操作必须成对出现，有一个</a:t>
            </a:r>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操作就一定有一个</a:t>
            </a:r>
            <a:r>
              <a:rPr lang="en-US" altLang="zh-CN" sz="3600" b="1">
                <a:solidFill>
                  <a:srgbClr val="FFFF00"/>
                </a:solidFill>
                <a:effectLst/>
                <a:latin typeface="黑体" panose="02010609060101010101" pitchFamily="49" charset="-122"/>
                <a:ea typeface="黑体" panose="02010609060101010101" pitchFamily="49" charset="-122"/>
              </a:rPr>
              <a:t>V</a:t>
            </a:r>
            <a:r>
              <a:rPr lang="zh-CN" altLang="en-US" sz="3600" b="1">
                <a:solidFill>
                  <a:srgbClr val="FFFF00"/>
                </a:solidFill>
                <a:effectLst/>
                <a:latin typeface="黑体" panose="02010609060101010101" pitchFamily="49" charset="-122"/>
                <a:ea typeface="黑体" panose="02010609060101010101" pitchFamily="49" charset="-122"/>
              </a:rPr>
              <a:t>操作</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同步操作中，同一信号量的</a:t>
            </a:r>
            <a:r>
              <a:rPr lang="en-US" altLang="zh-CN" sz="3600" b="1">
                <a:solidFill>
                  <a:srgbClr val="FFFF00"/>
                </a:solidFill>
                <a:effectLst/>
                <a:latin typeface="黑体" panose="02010609060101010101" pitchFamily="49" charset="-122"/>
                <a:ea typeface="黑体" panose="02010609060101010101" pitchFamily="49" charset="-122"/>
              </a:rPr>
              <a:t>PV</a:t>
            </a:r>
            <a:r>
              <a:rPr lang="zh-CN" altLang="en-US" sz="3600" b="1">
                <a:solidFill>
                  <a:srgbClr val="FFFF00"/>
                </a:solidFill>
                <a:effectLst/>
                <a:latin typeface="黑体" panose="02010609060101010101" pitchFamily="49" charset="-122"/>
                <a:ea typeface="黑体" panose="02010609060101010101" pitchFamily="49" charset="-122"/>
              </a:rPr>
              <a:t>操作处于不同进程中；互斥操作中，则处于同一进程</a:t>
            </a:r>
          </a:p>
          <a:p>
            <a:pPr eaLnBrk="1" hangingPunct="1"/>
            <a:endParaRPr lang="en-US" altLang="zh-CN" sz="3600" b="1">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transition spd="slow">
    <p:pull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FAAB7F22-7297-42D8-B5F0-78CA0FA0AEF3}"/>
              </a:ext>
            </a:extLst>
          </p:cNvPr>
          <p:cNvSpPr>
            <a:spLocks noChangeArrowheads="1"/>
          </p:cNvSpPr>
          <p:nvPr/>
        </p:nvSpPr>
        <p:spPr bwMode="auto">
          <a:xfrm>
            <a:off x="685800" y="2971800"/>
            <a:ext cx="7086600" cy="2895600"/>
          </a:xfrm>
          <a:prstGeom prst="rect">
            <a:avLst/>
          </a:prstGeom>
          <a:blipFill dpi="0" rotWithShape="0">
            <a:blip r:embed="rId2"/>
            <a:srcRect/>
            <a:tile tx="0" ty="0" sx="100000" sy="100000" flip="none" algn="tl"/>
          </a:blip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FFCC"/>
            </a:extrusionClr>
            <a:contourClr>
              <a:srgbClr val="FFFF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14723" name="Rectangle 3">
            <a:extLst>
              <a:ext uri="{FF2B5EF4-FFF2-40B4-BE49-F238E27FC236}">
                <a16:creationId xmlns:a16="http://schemas.microsoft.com/office/drawing/2014/main" id="{B087C39C-38BE-4AFB-9F68-10EF67A7EAEF}"/>
              </a:ext>
            </a:extLst>
          </p:cNvPr>
          <p:cNvSpPr>
            <a:spLocks noGrp="1" noChangeArrowheads="1"/>
          </p:cNvSpPr>
          <p:nvPr>
            <p:ph type="title"/>
          </p:nvPr>
        </p:nvSpPr>
        <p:spPr>
          <a:xfrm>
            <a:off x="484188" y="365125"/>
            <a:ext cx="7408862" cy="709613"/>
          </a:xfrm>
        </p:spPr>
        <p:txBody>
          <a:bodyPr/>
          <a:lstStyle/>
          <a:p>
            <a:pPr eaLnBrk="1" hangingPunct="1">
              <a:defRPr/>
            </a:pPr>
            <a:r>
              <a:rPr lang="en-US" altLang="zh-CN">
                <a:solidFill>
                  <a:schemeClr val="tx1"/>
                </a:solidFill>
                <a:effectLst>
                  <a:outerShdw blurRad="38100" dist="38100" dir="2700000" algn="tl">
                    <a:srgbClr val="010199"/>
                  </a:outerShdw>
                </a:effectLst>
                <a:latin typeface="楷体_GB2312" pitchFamily="49" charset="-122"/>
              </a:rPr>
              <a:t>【</a:t>
            </a:r>
            <a:r>
              <a:rPr lang="zh-CN" altLang="en-US">
                <a:solidFill>
                  <a:schemeClr val="tx1"/>
                </a:solidFill>
                <a:effectLst>
                  <a:outerShdw blurRad="38100" dist="38100" dir="2700000" algn="tl">
                    <a:srgbClr val="010199"/>
                  </a:outerShdw>
                </a:effectLst>
                <a:latin typeface="楷体_GB2312" pitchFamily="49" charset="-122"/>
              </a:rPr>
              <a:t>思考题</a:t>
            </a:r>
            <a:r>
              <a:rPr lang="en-US" altLang="zh-CN">
                <a:solidFill>
                  <a:schemeClr val="tx1"/>
                </a:solidFill>
                <a:effectLst>
                  <a:outerShdw blurRad="38100" dist="38100" dir="2700000" algn="tl">
                    <a:srgbClr val="010199"/>
                  </a:outerShdw>
                </a:effectLst>
                <a:latin typeface="楷体_GB2312" pitchFamily="49" charset="-122"/>
              </a:rPr>
              <a:t>】</a:t>
            </a:r>
          </a:p>
        </p:txBody>
      </p:sp>
      <p:sp>
        <p:nvSpPr>
          <p:cNvPr id="70660" name="Rectangle 4">
            <a:extLst>
              <a:ext uri="{FF2B5EF4-FFF2-40B4-BE49-F238E27FC236}">
                <a16:creationId xmlns:a16="http://schemas.microsoft.com/office/drawing/2014/main" id="{C756395A-1A64-44F8-87A8-67D76D651FF6}"/>
              </a:ext>
            </a:extLst>
          </p:cNvPr>
          <p:cNvSpPr>
            <a:spLocks noGrp="1" noChangeArrowheads="1"/>
          </p:cNvSpPr>
          <p:nvPr>
            <p:ph type="body" idx="1"/>
          </p:nvPr>
        </p:nvSpPr>
        <p:spPr>
          <a:xfrm>
            <a:off x="684213" y="990600"/>
            <a:ext cx="7926387" cy="5410200"/>
          </a:xfrm>
          <a:noFill/>
          <a:extLst>
            <a:ext uri="{909E8E84-426E-40DD-AFC4-6F175D3DCCD1}">
              <a14:hiddenFill xmlns:a14="http://schemas.microsoft.com/office/drawing/2010/main">
                <a:solidFill>
                  <a:schemeClr val="accent1"/>
                </a:solidFill>
              </a14:hiddenFill>
            </a:ext>
          </a:extLst>
        </p:spPr>
        <p:txBody>
          <a:bodyPr/>
          <a:lstStyle/>
          <a:p>
            <a:pPr eaLnBrk="1" hangingPunct="1">
              <a:buFont typeface="Wingdings" panose="05000000000000000000" pitchFamily="2" charset="2"/>
              <a:buNone/>
            </a:pPr>
            <a:endParaRPr lang="en-US" altLang="zh-CN" b="1">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None/>
            </a:pPr>
            <a:r>
              <a:rPr lang="zh-CN" altLang="en-US" b="1">
                <a:solidFill>
                  <a:srgbClr val="FFFF00"/>
                </a:solidFill>
                <a:effectLst/>
                <a:latin typeface="黑体" panose="02010609060101010101" pitchFamily="49" charset="-122"/>
                <a:ea typeface="黑体" panose="02010609060101010101" pitchFamily="49" charset="-122"/>
              </a:rPr>
              <a:t>用</a:t>
            </a:r>
            <a:r>
              <a:rPr lang="en-US" altLang="zh-CN" b="1">
                <a:solidFill>
                  <a:srgbClr val="FFFF00"/>
                </a:solidFill>
                <a:effectLst/>
                <a:latin typeface="黑体" panose="02010609060101010101" pitchFamily="49" charset="-122"/>
                <a:ea typeface="黑体" panose="02010609060101010101" pitchFamily="49" charset="-122"/>
              </a:rPr>
              <a:t>P.V</a:t>
            </a:r>
            <a:r>
              <a:rPr lang="zh-CN" altLang="en-US" b="1">
                <a:solidFill>
                  <a:srgbClr val="FFFF00"/>
                </a:solidFill>
                <a:effectLst/>
                <a:latin typeface="黑体" panose="02010609060101010101" pitchFamily="49" charset="-122"/>
                <a:ea typeface="黑体" panose="02010609060101010101" pitchFamily="49" charset="-122"/>
              </a:rPr>
              <a:t>操作解决下图之同步问题</a:t>
            </a:r>
          </a:p>
          <a:p>
            <a:pPr eaLnBrk="1" hangingPunct="1">
              <a:buFont typeface="Wingdings" panose="05000000000000000000" pitchFamily="2" charset="2"/>
              <a:buNone/>
            </a:pPr>
            <a:endParaRPr lang="en-US" altLang="zh-CN" b="1">
              <a:solidFill>
                <a:srgbClr val="FFFF00"/>
              </a:solidFill>
              <a:effectLst/>
              <a:latin typeface="黑体" panose="02010609060101010101" pitchFamily="49" charset="-122"/>
              <a:ea typeface="黑体" panose="02010609060101010101" pitchFamily="49" charset="-122"/>
            </a:endParaRPr>
          </a:p>
        </p:txBody>
      </p:sp>
      <p:sp>
        <p:nvSpPr>
          <p:cNvPr id="70661" name="Rectangle 5">
            <a:extLst>
              <a:ext uri="{FF2B5EF4-FFF2-40B4-BE49-F238E27FC236}">
                <a16:creationId xmlns:a16="http://schemas.microsoft.com/office/drawing/2014/main" id="{312E60BE-54D4-42B2-A4EA-BDF182EC6AC9}"/>
              </a:ext>
            </a:extLst>
          </p:cNvPr>
          <p:cNvSpPr>
            <a:spLocks noChangeArrowheads="1"/>
          </p:cNvSpPr>
          <p:nvPr/>
        </p:nvSpPr>
        <p:spPr bwMode="auto">
          <a:xfrm>
            <a:off x="3124200" y="3733800"/>
            <a:ext cx="990600" cy="533400"/>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FFCC"/>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0662" name="Rectangle 6">
            <a:extLst>
              <a:ext uri="{FF2B5EF4-FFF2-40B4-BE49-F238E27FC236}">
                <a16:creationId xmlns:a16="http://schemas.microsoft.com/office/drawing/2014/main" id="{0B88A579-B752-4CB5-8ECE-87F1D38719DE}"/>
              </a:ext>
            </a:extLst>
          </p:cNvPr>
          <p:cNvSpPr>
            <a:spLocks noChangeArrowheads="1"/>
          </p:cNvSpPr>
          <p:nvPr/>
        </p:nvSpPr>
        <p:spPr bwMode="auto">
          <a:xfrm>
            <a:off x="4876800" y="3733800"/>
            <a:ext cx="990600" cy="533400"/>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FFCC"/>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0663" name="Freeform 7">
            <a:extLst>
              <a:ext uri="{FF2B5EF4-FFF2-40B4-BE49-F238E27FC236}">
                <a16:creationId xmlns:a16="http://schemas.microsoft.com/office/drawing/2014/main" id="{6835AB6B-E71F-47FD-8AD8-DBFBA8FFB250}"/>
              </a:ext>
            </a:extLst>
          </p:cNvPr>
          <p:cNvSpPr>
            <a:spLocks/>
          </p:cNvSpPr>
          <p:nvPr/>
        </p:nvSpPr>
        <p:spPr bwMode="auto">
          <a:xfrm>
            <a:off x="1752600" y="3505200"/>
            <a:ext cx="1676400" cy="228600"/>
          </a:xfrm>
          <a:custGeom>
            <a:avLst/>
            <a:gdLst>
              <a:gd name="T0" fmla="*/ 0 w 1296"/>
              <a:gd name="T1" fmla="*/ 311059286 h 168"/>
              <a:gd name="T2" fmla="*/ 883444691 w 1296"/>
              <a:gd name="T3" fmla="*/ 44436846 h 168"/>
              <a:gd name="T4" fmla="*/ 1525949568 w 1296"/>
              <a:gd name="T5" fmla="*/ 44436846 h 168"/>
              <a:gd name="T6" fmla="*/ 2147483646 w 1296"/>
              <a:gd name="T7" fmla="*/ 311059286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96" h="168">
                <a:moveTo>
                  <a:pt x="0" y="168"/>
                </a:moveTo>
                <a:cubicBezTo>
                  <a:pt x="188" y="108"/>
                  <a:pt x="376" y="48"/>
                  <a:pt x="528" y="24"/>
                </a:cubicBezTo>
                <a:cubicBezTo>
                  <a:pt x="680" y="0"/>
                  <a:pt x="784" y="0"/>
                  <a:pt x="912" y="24"/>
                </a:cubicBezTo>
                <a:cubicBezTo>
                  <a:pt x="1040" y="48"/>
                  <a:pt x="1224" y="144"/>
                  <a:pt x="1296" y="168"/>
                </a:cubicBezTo>
              </a:path>
            </a:pathLst>
          </a:custGeom>
          <a:noFill/>
          <a:ln w="38100" cmpd="sng">
            <a:solidFill>
              <a:srgbClr val="0000CC"/>
            </a:solidFill>
            <a:round/>
            <a:headEnd/>
            <a:tailEnd/>
          </a:ln>
          <a:effectLst/>
          <a:scene3d>
            <a:camera prst="legacyObliqueTopRight"/>
            <a:lightRig rig="legacyFlat3" dir="b"/>
          </a:scene3d>
          <a:sp3d extrusionH="430200" prstMaterial="legacyMatte">
            <a:bevelT w="13500" h="13500" prst="angle"/>
            <a:bevelB w="13500" h="13500" prst="angle"/>
            <a:extrusionClr>
              <a:srgbClr val="66CCFF"/>
            </a:extrusionClr>
            <a:contourClr>
              <a:srgbClr val="0000CC"/>
            </a:contourClr>
          </a:sp3d>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70664" name="Freeform 8">
            <a:extLst>
              <a:ext uri="{FF2B5EF4-FFF2-40B4-BE49-F238E27FC236}">
                <a16:creationId xmlns:a16="http://schemas.microsoft.com/office/drawing/2014/main" id="{54D39BC1-3F57-4BED-ABEC-08A5F4EBF0BE}"/>
              </a:ext>
            </a:extLst>
          </p:cNvPr>
          <p:cNvSpPr>
            <a:spLocks/>
          </p:cNvSpPr>
          <p:nvPr/>
        </p:nvSpPr>
        <p:spPr bwMode="auto">
          <a:xfrm>
            <a:off x="3581400" y="3505200"/>
            <a:ext cx="1676400" cy="228600"/>
          </a:xfrm>
          <a:custGeom>
            <a:avLst/>
            <a:gdLst>
              <a:gd name="T0" fmla="*/ 0 w 1296"/>
              <a:gd name="T1" fmla="*/ 311059286 h 168"/>
              <a:gd name="T2" fmla="*/ 883444691 w 1296"/>
              <a:gd name="T3" fmla="*/ 44436846 h 168"/>
              <a:gd name="T4" fmla="*/ 1525949568 w 1296"/>
              <a:gd name="T5" fmla="*/ 44436846 h 168"/>
              <a:gd name="T6" fmla="*/ 2147483646 w 1296"/>
              <a:gd name="T7" fmla="*/ 311059286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96" h="168">
                <a:moveTo>
                  <a:pt x="0" y="168"/>
                </a:moveTo>
                <a:cubicBezTo>
                  <a:pt x="188" y="108"/>
                  <a:pt x="376" y="48"/>
                  <a:pt x="528" y="24"/>
                </a:cubicBezTo>
                <a:cubicBezTo>
                  <a:pt x="680" y="0"/>
                  <a:pt x="784" y="0"/>
                  <a:pt x="912" y="24"/>
                </a:cubicBezTo>
                <a:cubicBezTo>
                  <a:pt x="1040" y="48"/>
                  <a:pt x="1224" y="144"/>
                  <a:pt x="1296" y="168"/>
                </a:cubicBezTo>
              </a:path>
            </a:pathLst>
          </a:custGeom>
          <a:noFill/>
          <a:ln w="38100" cmpd="sng">
            <a:solidFill>
              <a:srgbClr val="0000CC"/>
            </a:solidFill>
            <a:round/>
            <a:headEnd/>
            <a:tailEnd/>
          </a:ln>
          <a:effectLst/>
          <a:scene3d>
            <a:camera prst="legacyObliqueTopRight"/>
            <a:lightRig rig="legacyFlat3" dir="b"/>
          </a:scene3d>
          <a:sp3d extrusionH="430200" prstMaterial="legacyMatte">
            <a:bevelT w="13500" h="13500" prst="angle"/>
            <a:bevelB w="13500" h="13500" prst="angle"/>
            <a:extrusionClr>
              <a:srgbClr val="66CCFF"/>
            </a:extrusionClr>
            <a:contourClr>
              <a:srgbClr val="0000CC"/>
            </a:contourClr>
          </a:sp3d>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70665" name="Freeform 9">
            <a:extLst>
              <a:ext uri="{FF2B5EF4-FFF2-40B4-BE49-F238E27FC236}">
                <a16:creationId xmlns:a16="http://schemas.microsoft.com/office/drawing/2014/main" id="{CF12A0C1-CFF3-4B1F-B324-2F25BFB8E131}"/>
              </a:ext>
            </a:extLst>
          </p:cNvPr>
          <p:cNvSpPr>
            <a:spLocks/>
          </p:cNvSpPr>
          <p:nvPr/>
        </p:nvSpPr>
        <p:spPr bwMode="auto">
          <a:xfrm>
            <a:off x="5562600" y="3505200"/>
            <a:ext cx="1676400" cy="228600"/>
          </a:xfrm>
          <a:custGeom>
            <a:avLst/>
            <a:gdLst>
              <a:gd name="T0" fmla="*/ 0 w 1296"/>
              <a:gd name="T1" fmla="*/ 311059286 h 168"/>
              <a:gd name="T2" fmla="*/ 883444691 w 1296"/>
              <a:gd name="T3" fmla="*/ 44436846 h 168"/>
              <a:gd name="T4" fmla="*/ 1525949568 w 1296"/>
              <a:gd name="T5" fmla="*/ 44436846 h 168"/>
              <a:gd name="T6" fmla="*/ 2147483646 w 1296"/>
              <a:gd name="T7" fmla="*/ 311059286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96" h="168">
                <a:moveTo>
                  <a:pt x="0" y="168"/>
                </a:moveTo>
                <a:cubicBezTo>
                  <a:pt x="188" y="108"/>
                  <a:pt x="376" y="48"/>
                  <a:pt x="528" y="24"/>
                </a:cubicBezTo>
                <a:cubicBezTo>
                  <a:pt x="680" y="0"/>
                  <a:pt x="784" y="0"/>
                  <a:pt x="912" y="24"/>
                </a:cubicBezTo>
                <a:cubicBezTo>
                  <a:pt x="1040" y="48"/>
                  <a:pt x="1224" y="144"/>
                  <a:pt x="1296" y="168"/>
                </a:cubicBezTo>
              </a:path>
            </a:pathLst>
          </a:custGeom>
          <a:noFill/>
          <a:ln w="38100" cmpd="sng">
            <a:solidFill>
              <a:srgbClr val="0000CC"/>
            </a:solidFill>
            <a:round/>
            <a:headEnd/>
            <a:tailEnd/>
          </a:ln>
          <a:effectLst/>
          <a:scene3d>
            <a:camera prst="legacyObliqueTopRight"/>
            <a:lightRig rig="legacyFlat3" dir="b"/>
          </a:scene3d>
          <a:sp3d extrusionH="430200" prstMaterial="legacyMatte">
            <a:bevelT w="13500" h="13500" prst="angle"/>
            <a:bevelB w="13500" h="13500" prst="angle"/>
            <a:extrusionClr>
              <a:srgbClr val="66CCFF"/>
            </a:extrusionClr>
            <a:contourClr>
              <a:srgbClr val="0000CC"/>
            </a:contourClr>
          </a:sp3d>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70666" name="Text Box 10">
            <a:extLst>
              <a:ext uri="{FF2B5EF4-FFF2-40B4-BE49-F238E27FC236}">
                <a16:creationId xmlns:a16="http://schemas.microsoft.com/office/drawing/2014/main" id="{0E266390-08D1-4FFD-87FC-EB763CACED73}"/>
              </a:ext>
            </a:extLst>
          </p:cNvPr>
          <p:cNvSpPr txBox="1">
            <a:spLocks noChangeArrowheads="1"/>
          </p:cNvSpPr>
          <p:nvPr/>
        </p:nvSpPr>
        <p:spPr bwMode="auto">
          <a:xfrm>
            <a:off x="2362200" y="2743200"/>
            <a:ext cx="91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en-US" altLang="zh-CN" b="1">
                <a:latin typeface="Times New Roman" panose="02020603050405020304" pitchFamily="18" charset="0"/>
              </a:rPr>
              <a:t>get</a:t>
            </a:r>
            <a:endParaRPr kumimoji="1" lang="en-US" altLang="zh-CN">
              <a:latin typeface="Times New Roman" panose="02020603050405020304" pitchFamily="18" charset="0"/>
            </a:endParaRPr>
          </a:p>
        </p:txBody>
      </p:sp>
      <p:sp>
        <p:nvSpPr>
          <p:cNvPr id="70667" name="Text Box 11">
            <a:extLst>
              <a:ext uri="{FF2B5EF4-FFF2-40B4-BE49-F238E27FC236}">
                <a16:creationId xmlns:a16="http://schemas.microsoft.com/office/drawing/2014/main" id="{D428FAFA-EEA6-462D-9776-7DD2C7DADF1C}"/>
              </a:ext>
            </a:extLst>
          </p:cNvPr>
          <p:cNvSpPr txBox="1">
            <a:spLocks noChangeArrowheads="1"/>
          </p:cNvSpPr>
          <p:nvPr/>
        </p:nvSpPr>
        <p:spPr bwMode="auto">
          <a:xfrm>
            <a:off x="3962400" y="2743200"/>
            <a:ext cx="1143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en-US" altLang="zh-CN" b="1">
                <a:latin typeface="Times New Roman" panose="02020603050405020304" pitchFamily="18" charset="0"/>
              </a:rPr>
              <a:t>copy</a:t>
            </a:r>
          </a:p>
        </p:txBody>
      </p:sp>
      <p:sp>
        <p:nvSpPr>
          <p:cNvPr id="70668" name="Text Box 12">
            <a:extLst>
              <a:ext uri="{FF2B5EF4-FFF2-40B4-BE49-F238E27FC236}">
                <a16:creationId xmlns:a16="http://schemas.microsoft.com/office/drawing/2014/main" id="{6FDD9037-1DFC-4F54-B6D0-42F7FF8F61FC}"/>
              </a:ext>
            </a:extLst>
          </p:cNvPr>
          <p:cNvSpPr txBox="1">
            <a:spLocks noChangeArrowheads="1"/>
          </p:cNvSpPr>
          <p:nvPr/>
        </p:nvSpPr>
        <p:spPr bwMode="auto">
          <a:xfrm>
            <a:off x="5867400" y="2743200"/>
            <a:ext cx="91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en-US" altLang="zh-CN">
                <a:latin typeface="Times New Roman" panose="02020603050405020304" pitchFamily="18" charset="0"/>
              </a:rPr>
              <a:t>put</a:t>
            </a:r>
          </a:p>
        </p:txBody>
      </p:sp>
      <p:sp>
        <p:nvSpPr>
          <p:cNvPr id="70669" name="Text Box 13">
            <a:extLst>
              <a:ext uri="{FF2B5EF4-FFF2-40B4-BE49-F238E27FC236}">
                <a16:creationId xmlns:a16="http://schemas.microsoft.com/office/drawing/2014/main" id="{FA224C3D-A76F-42EB-A618-D7707DC8C5D9}"/>
              </a:ext>
            </a:extLst>
          </p:cNvPr>
          <p:cNvSpPr txBox="1">
            <a:spLocks noChangeArrowheads="1"/>
          </p:cNvSpPr>
          <p:nvPr/>
        </p:nvSpPr>
        <p:spPr bwMode="auto">
          <a:xfrm>
            <a:off x="3203575" y="4508500"/>
            <a:ext cx="91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en-US" altLang="zh-CN" b="1">
                <a:latin typeface="Times New Roman" panose="02020603050405020304" pitchFamily="18" charset="0"/>
              </a:rPr>
              <a:t>S</a:t>
            </a:r>
            <a:endParaRPr kumimoji="1" lang="en-US" altLang="zh-CN">
              <a:latin typeface="Times New Roman" panose="02020603050405020304" pitchFamily="18" charset="0"/>
            </a:endParaRPr>
          </a:p>
        </p:txBody>
      </p:sp>
      <p:sp>
        <p:nvSpPr>
          <p:cNvPr id="70670" name="Text Box 14">
            <a:extLst>
              <a:ext uri="{FF2B5EF4-FFF2-40B4-BE49-F238E27FC236}">
                <a16:creationId xmlns:a16="http://schemas.microsoft.com/office/drawing/2014/main" id="{7355EC7B-3B3A-4BA6-B896-76BD86693D4F}"/>
              </a:ext>
            </a:extLst>
          </p:cNvPr>
          <p:cNvSpPr txBox="1">
            <a:spLocks noChangeArrowheads="1"/>
          </p:cNvSpPr>
          <p:nvPr/>
        </p:nvSpPr>
        <p:spPr bwMode="auto">
          <a:xfrm>
            <a:off x="5003800" y="4508500"/>
            <a:ext cx="91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en-US" altLang="zh-CN" b="1">
                <a:latin typeface="Times New Roman" panose="02020603050405020304" pitchFamily="18" charset="0"/>
              </a:rPr>
              <a:t>T</a:t>
            </a:r>
            <a:endParaRPr kumimoji="1" lang="en-US" altLang="zh-CN">
              <a:latin typeface="Times New Roman" panose="02020603050405020304" pitchFamily="18"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1696B-4456-0DCC-627D-B443534B17C7}"/>
            </a:ext>
          </a:extLst>
        </p:cNvPr>
        <p:cNvGrpSpPr/>
        <p:nvPr/>
      </p:nvGrpSpPr>
      <p:grpSpPr>
        <a:xfrm>
          <a:off x="0" y="0"/>
          <a:ext cx="0" cy="0"/>
          <a:chOff x="0" y="0"/>
          <a:chExt cx="0" cy="0"/>
        </a:xfrm>
      </p:grpSpPr>
      <p:sp>
        <p:nvSpPr>
          <p:cNvPr id="4" name="灯片编号占位符 6">
            <a:extLst>
              <a:ext uri="{FF2B5EF4-FFF2-40B4-BE49-F238E27FC236}">
                <a16:creationId xmlns:a16="http://schemas.microsoft.com/office/drawing/2014/main" id="{CB0FE4E6-234E-DD73-C655-F227F00A57FA}"/>
              </a:ext>
            </a:extLst>
          </p:cNvPr>
          <p:cNvSpPr>
            <a:spLocks noGrp="1"/>
          </p:cNvSpPr>
          <p:nvPr>
            <p:ph type="sldNum" sz="quarter" idx="12"/>
          </p:nvPr>
        </p:nvSpPr>
        <p:spPr/>
        <p:txBody>
          <a:bodyPr/>
          <a:lstStyle/>
          <a:p>
            <a:pPr>
              <a:defRPr/>
            </a:pPr>
            <a:fld id="{940A6A42-42E9-4B44-A639-E1EA88FEE501}" type="slidenum">
              <a:rPr lang="en-US" altLang="zh-CN"/>
              <a:pPr>
                <a:defRPr/>
              </a:pPr>
              <a:t>68</a:t>
            </a:fld>
            <a:endParaRPr lang="en-US" altLang="zh-CN"/>
          </a:p>
        </p:txBody>
      </p:sp>
      <p:sp>
        <p:nvSpPr>
          <p:cNvPr id="4099" name="Rectangle 2">
            <a:extLst>
              <a:ext uri="{FF2B5EF4-FFF2-40B4-BE49-F238E27FC236}">
                <a16:creationId xmlns:a16="http://schemas.microsoft.com/office/drawing/2014/main" id="{296A00F9-A7A0-FE06-29A8-7C1FD4A5B804}"/>
              </a:ext>
            </a:extLst>
          </p:cNvPr>
          <p:cNvSpPr>
            <a:spLocks noGrp="1" noChangeArrowheads="1"/>
          </p:cNvSpPr>
          <p:nvPr>
            <p:ph type="title"/>
          </p:nvPr>
        </p:nvSpPr>
        <p:spPr>
          <a:xfrm>
            <a:off x="468313" y="260350"/>
            <a:ext cx="8229600" cy="1296988"/>
          </a:xfr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lnSpc>
                <a:spcPct val="70000"/>
              </a:lnSpc>
            </a:pPr>
            <a:r>
              <a:rPr kumimoji="1" lang="zh-CN" altLang="en-US" b="1">
                <a:solidFill>
                  <a:schemeClr val="tx1"/>
                </a:solidFill>
                <a:effectLst/>
              </a:rPr>
              <a:t>第三章  进程管理</a:t>
            </a:r>
          </a:p>
        </p:txBody>
      </p:sp>
      <p:sp>
        <p:nvSpPr>
          <p:cNvPr id="4100" name="Rectangle 5">
            <a:extLst>
              <a:ext uri="{FF2B5EF4-FFF2-40B4-BE49-F238E27FC236}">
                <a16:creationId xmlns:a16="http://schemas.microsoft.com/office/drawing/2014/main" id="{3140C7C7-5152-382D-ECE2-8DDFA0FE7FF9}"/>
              </a:ext>
            </a:extLst>
          </p:cNvPr>
          <p:cNvSpPr>
            <a:spLocks noGrp="1" noChangeArrowheads="1"/>
          </p:cNvSpPr>
          <p:nvPr>
            <p:ph type="body" sz="half" idx="1"/>
          </p:nvPr>
        </p:nvSpPr>
        <p:spPr>
          <a:xfrm>
            <a:off x="1835150" y="1628775"/>
            <a:ext cx="5807075" cy="4679950"/>
          </a:xfrm>
        </p:spPr>
        <p:txBody>
          <a:bodyPr/>
          <a:lstStyle/>
          <a:p>
            <a:pPr eaLnBrk="1" hangingPunct="1"/>
            <a:r>
              <a:rPr lang="en-US" altLang="zh-CN" sz="3600" b="1">
                <a:solidFill>
                  <a:srgbClr val="FFFF00"/>
                </a:solidFill>
                <a:effectLst/>
                <a:ea typeface="黑体" panose="02010609060101010101" pitchFamily="49" charset="-122"/>
              </a:rPr>
              <a:t>3.1</a:t>
            </a:r>
            <a:r>
              <a:rPr lang="zh-CN" altLang="en-US" sz="3600" b="1">
                <a:solidFill>
                  <a:srgbClr val="FFFF00"/>
                </a:solidFill>
                <a:effectLst/>
                <a:ea typeface="黑体" panose="02010609060101010101" pitchFamily="49" charset="-122"/>
              </a:rPr>
              <a:t>进程的概念</a:t>
            </a:r>
          </a:p>
          <a:p>
            <a:pPr eaLnBrk="1" hangingPunct="1"/>
            <a:r>
              <a:rPr lang="en-US" altLang="zh-CN" sz="3600" b="1">
                <a:solidFill>
                  <a:srgbClr val="FFFF00"/>
                </a:solidFill>
                <a:effectLst/>
                <a:ea typeface="黑体" panose="02010609060101010101" pitchFamily="49" charset="-122"/>
              </a:rPr>
              <a:t>3.2</a:t>
            </a:r>
            <a:r>
              <a:rPr lang="zh-CN" altLang="en-US" sz="3600" b="1">
                <a:solidFill>
                  <a:srgbClr val="FFFF00"/>
                </a:solidFill>
                <a:effectLst/>
                <a:ea typeface="黑体" panose="02010609060101010101" pitchFamily="49" charset="-122"/>
              </a:rPr>
              <a:t>进程状态及其转换</a:t>
            </a:r>
          </a:p>
          <a:p>
            <a:pPr eaLnBrk="1" hangingPunct="1"/>
            <a:r>
              <a:rPr lang="en-US" altLang="zh-CN" sz="3600" b="1">
                <a:solidFill>
                  <a:srgbClr val="FFFF00"/>
                </a:solidFill>
                <a:effectLst/>
                <a:ea typeface="黑体" panose="02010609060101010101" pitchFamily="49" charset="-122"/>
              </a:rPr>
              <a:t>3.3</a:t>
            </a:r>
            <a:r>
              <a:rPr lang="zh-CN" altLang="en-US" sz="3600" b="1">
                <a:solidFill>
                  <a:srgbClr val="FFFF00"/>
                </a:solidFill>
                <a:effectLst/>
                <a:ea typeface="黑体" panose="02010609060101010101" pitchFamily="49" charset="-122"/>
              </a:rPr>
              <a:t>进程控制</a:t>
            </a:r>
          </a:p>
          <a:p>
            <a:pPr eaLnBrk="1" hangingPunct="1"/>
            <a:r>
              <a:rPr lang="en-US" altLang="zh-CN" sz="3600" b="1">
                <a:solidFill>
                  <a:srgbClr val="FFFF00"/>
                </a:solidFill>
                <a:effectLst/>
                <a:ea typeface="黑体" panose="02010609060101010101" pitchFamily="49" charset="-122"/>
              </a:rPr>
              <a:t>3.4</a:t>
            </a:r>
            <a:r>
              <a:rPr lang="zh-CN" altLang="en-US" sz="3600" b="1">
                <a:solidFill>
                  <a:srgbClr val="FFFF00"/>
                </a:solidFill>
                <a:effectLst/>
                <a:ea typeface="黑体" panose="02010609060101010101" pitchFamily="49" charset="-122"/>
              </a:rPr>
              <a:t>进程的同步与互斥</a:t>
            </a:r>
          </a:p>
          <a:p>
            <a:pPr eaLnBrk="1" hangingPunct="1"/>
            <a:r>
              <a:rPr lang="en-US" altLang="zh-CN" sz="3600" b="1">
                <a:solidFill>
                  <a:srgbClr val="FFFF00"/>
                </a:solidFill>
                <a:effectLst/>
                <a:ea typeface="黑体" panose="02010609060101010101" pitchFamily="49" charset="-122"/>
              </a:rPr>
              <a:t>3.5</a:t>
            </a:r>
            <a:r>
              <a:rPr lang="zh-CN" altLang="en-US" sz="3600" b="1">
                <a:solidFill>
                  <a:srgbClr val="FFFF00"/>
                </a:solidFill>
                <a:effectLst/>
                <a:ea typeface="黑体" panose="02010609060101010101" pitchFamily="49" charset="-122"/>
              </a:rPr>
              <a:t>进程通信</a:t>
            </a:r>
          </a:p>
          <a:p>
            <a:pPr eaLnBrk="1" hangingPunct="1"/>
            <a:r>
              <a:rPr lang="en-US" altLang="zh-CN" sz="3600" b="1">
                <a:solidFill>
                  <a:srgbClr val="FFFF00"/>
                </a:solidFill>
                <a:effectLst/>
                <a:ea typeface="黑体" panose="02010609060101010101" pitchFamily="49" charset="-122"/>
              </a:rPr>
              <a:t>3.6</a:t>
            </a:r>
            <a:r>
              <a:rPr lang="zh-CN" altLang="en-US" sz="3600" b="1">
                <a:solidFill>
                  <a:srgbClr val="FFFF00"/>
                </a:solidFill>
                <a:effectLst/>
                <a:ea typeface="黑体" panose="02010609060101010101" pitchFamily="49" charset="-122"/>
              </a:rPr>
              <a:t>死锁</a:t>
            </a:r>
          </a:p>
          <a:p>
            <a:pPr eaLnBrk="1" hangingPunct="1"/>
            <a:r>
              <a:rPr lang="en-US" altLang="zh-CN" sz="3600" b="1">
                <a:solidFill>
                  <a:srgbClr val="FFFF00"/>
                </a:solidFill>
                <a:effectLst/>
                <a:ea typeface="黑体" panose="02010609060101010101" pitchFamily="49" charset="-122"/>
              </a:rPr>
              <a:t>3.7</a:t>
            </a:r>
            <a:r>
              <a:rPr lang="zh-CN" altLang="en-US" sz="3600" b="1">
                <a:solidFill>
                  <a:srgbClr val="FFFF00"/>
                </a:solidFill>
                <a:effectLst/>
                <a:ea typeface="黑体" panose="02010609060101010101" pitchFamily="49" charset="-122"/>
              </a:rPr>
              <a:t>线程</a:t>
            </a:r>
          </a:p>
        </p:txBody>
      </p:sp>
    </p:spTree>
    <p:extLst>
      <p:ext uri="{BB962C8B-B14F-4D97-AF65-F5344CB8AC3E}">
        <p14:creationId xmlns:p14="http://schemas.microsoft.com/office/powerpoint/2010/main" val="8278478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454DA3B8-3EF9-4C4B-BA91-3ADCA3FFD348}"/>
              </a:ext>
            </a:extLst>
          </p:cNvPr>
          <p:cNvSpPr>
            <a:spLocks noGrp="1" noChangeArrowheads="1"/>
          </p:cNvSpPr>
          <p:nvPr>
            <p:ph type="body" idx="1"/>
          </p:nvPr>
        </p:nvSpPr>
        <p:spPr>
          <a:xfrm>
            <a:off x="1331913" y="1773238"/>
            <a:ext cx="6335712" cy="4895850"/>
          </a:xfrm>
        </p:spPr>
        <p:txBody>
          <a:bodyPr/>
          <a:lstStyle/>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3.4.1 </a:t>
            </a:r>
            <a:r>
              <a:rPr lang="zh-CN" altLang="en-US" sz="3600" b="1" dirty="0">
                <a:solidFill>
                  <a:srgbClr val="FFFF00"/>
                </a:solidFill>
                <a:effectLst/>
                <a:latin typeface="黑体" panose="02010609060101010101" pitchFamily="49" charset="-122"/>
                <a:ea typeface="黑体" panose="02010609060101010101" pitchFamily="49" charset="-122"/>
              </a:rPr>
              <a:t>进程间的制约关系</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3.4.2 </a:t>
            </a:r>
            <a:r>
              <a:rPr lang="zh-CN" altLang="en-US" sz="3600" b="1" dirty="0">
                <a:solidFill>
                  <a:srgbClr val="FFFF00"/>
                </a:solidFill>
                <a:effectLst/>
                <a:latin typeface="黑体" panose="02010609060101010101" pitchFamily="49" charset="-122"/>
                <a:ea typeface="黑体" panose="02010609060101010101" pitchFamily="49" charset="-122"/>
              </a:rPr>
              <a:t>进程互斥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3.4.3 </a:t>
            </a:r>
            <a:r>
              <a:rPr lang="zh-CN" altLang="en-US" sz="3600" b="1" dirty="0">
                <a:solidFill>
                  <a:srgbClr val="FFFF00"/>
                </a:solidFill>
                <a:effectLst/>
                <a:latin typeface="黑体" panose="02010609060101010101" pitchFamily="49" charset="-122"/>
                <a:ea typeface="黑体" panose="02010609060101010101" pitchFamily="49" charset="-122"/>
              </a:rPr>
              <a:t>进程同步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3.4.4 </a:t>
            </a:r>
            <a:r>
              <a:rPr lang="zh-CN" altLang="en-US" sz="3600" b="1" dirty="0">
                <a:solidFill>
                  <a:srgbClr val="FFFF00"/>
                </a:solidFill>
                <a:effectLst/>
                <a:latin typeface="黑体" panose="02010609060101010101" pitchFamily="49" charset="-122"/>
                <a:ea typeface="黑体" panose="02010609060101010101" pitchFamily="49" charset="-122"/>
              </a:rPr>
              <a:t>信号量机制</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3.4.5 </a:t>
            </a:r>
            <a:r>
              <a:rPr lang="zh-CN" altLang="en-US" sz="3600" b="1" dirty="0">
                <a:solidFill>
                  <a:srgbClr val="FFFF00"/>
                </a:solidFill>
                <a:effectLst/>
                <a:latin typeface="黑体" panose="02010609060101010101" pitchFamily="49" charset="-122"/>
                <a:ea typeface="黑体" panose="02010609060101010101" pitchFamily="49" charset="-122"/>
              </a:rPr>
              <a:t>经典同步互斥问题</a:t>
            </a:r>
          </a:p>
        </p:txBody>
      </p:sp>
      <p:sp>
        <p:nvSpPr>
          <p:cNvPr id="6147" name="Rectangle 3">
            <a:extLst>
              <a:ext uri="{FF2B5EF4-FFF2-40B4-BE49-F238E27FC236}">
                <a16:creationId xmlns:a16="http://schemas.microsoft.com/office/drawing/2014/main" id="{F56EA621-430E-44A3-A8F5-E79B5AE76CF6}"/>
              </a:ext>
            </a:extLst>
          </p:cNvPr>
          <p:cNvSpPr>
            <a:spLocks noGrp="1" noChangeArrowheads="1"/>
          </p:cNvSpPr>
          <p:nvPr>
            <p:ph type="title"/>
          </p:nvPr>
        </p:nvSpPr>
        <p:spPr>
          <a:xfrm>
            <a:off x="179388" y="333375"/>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3.4  </a:t>
            </a:r>
            <a:r>
              <a:rPr lang="zh-CN" altLang="en-US" b="1">
                <a:solidFill>
                  <a:schemeClr val="tx1"/>
                </a:solidFill>
                <a:effectLst/>
                <a:latin typeface="Times New Roman" panose="02020603050405020304" pitchFamily="18" charset="0"/>
              </a:rPr>
              <a:t>进程的同步与互斥</a:t>
            </a:r>
            <a:r>
              <a:rPr lang="zh-CN" altLang="en-US" b="1">
                <a:solidFill>
                  <a:schemeClr val="tx1"/>
                </a:solidFill>
                <a:effectLst/>
              </a:rPr>
              <a:t> </a:t>
            </a:r>
          </a:p>
        </p:txBody>
      </p:sp>
    </p:spTree>
    <p:extLst>
      <p:ext uri="{BB962C8B-B14F-4D97-AF65-F5344CB8AC3E}">
        <p14:creationId xmlns:p14="http://schemas.microsoft.com/office/powerpoint/2010/main" val="328351974"/>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9170">
                                            <p:txEl>
                                              <p:pRg st="0" end="0"/>
                                            </p:txEl>
                                          </p:spTgt>
                                        </p:tgtEl>
                                        <p:attrNameLst>
                                          <p:attrName>style.visibility</p:attrName>
                                        </p:attrNameLst>
                                      </p:cBhvr>
                                      <p:to>
                                        <p:strVal val="visible"/>
                                      </p:to>
                                    </p:set>
                                    <p:animEffect transition="in" filter="box(out)">
                                      <p:cBhvr>
                                        <p:cTn id="7" dur="500"/>
                                        <p:tgtEl>
                                          <p:spTgt spid="51917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9170">
                                            <p:txEl>
                                              <p:pRg st="1" end="1"/>
                                            </p:txEl>
                                          </p:spTgt>
                                        </p:tgtEl>
                                        <p:attrNameLst>
                                          <p:attrName>style.visibility</p:attrName>
                                        </p:attrNameLst>
                                      </p:cBhvr>
                                      <p:to>
                                        <p:strVal val="visible"/>
                                      </p:to>
                                    </p:set>
                                    <p:animEffect transition="in" filter="box(out)">
                                      <p:cBhvr>
                                        <p:cTn id="12" dur="500"/>
                                        <p:tgtEl>
                                          <p:spTgt spid="519170">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9170">
                                            <p:txEl>
                                              <p:pRg st="2" end="2"/>
                                            </p:txEl>
                                          </p:spTgt>
                                        </p:tgtEl>
                                        <p:attrNameLst>
                                          <p:attrName>style.visibility</p:attrName>
                                        </p:attrNameLst>
                                      </p:cBhvr>
                                      <p:to>
                                        <p:strVal val="visible"/>
                                      </p:to>
                                    </p:set>
                                    <p:animEffect transition="in" filter="box(out)">
                                      <p:cBhvr>
                                        <p:cTn id="17" dur="500"/>
                                        <p:tgtEl>
                                          <p:spTgt spid="519170">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19170">
                                            <p:txEl>
                                              <p:pRg st="3" end="3"/>
                                            </p:txEl>
                                          </p:spTgt>
                                        </p:tgtEl>
                                        <p:attrNameLst>
                                          <p:attrName>style.visibility</p:attrName>
                                        </p:attrNameLst>
                                      </p:cBhvr>
                                      <p:to>
                                        <p:strVal val="visible"/>
                                      </p:to>
                                    </p:set>
                                    <p:animEffect transition="in" filter="box(out)">
                                      <p:cBhvr>
                                        <p:cTn id="22" dur="500"/>
                                        <p:tgtEl>
                                          <p:spTgt spid="519170">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19170">
                                            <p:txEl>
                                              <p:pRg st="4" end="4"/>
                                            </p:txEl>
                                          </p:spTgt>
                                        </p:tgtEl>
                                        <p:attrNameLst>
                                          <p:attrName>style.visibility</p:attrName>
                                        </p:attrNameLst>
                                      </p:cBhvr>
                                      <p:to>
                                        <p:strVal val="visible"/>
                                      </p:to>
                                    </p:set>
                                    <p:animEffect transition="in" filter="box(out)">
                                      <p:cBhvr>
                                        <p:cTn id="27" dur="500"/>
                                        <p:tgtEl>
                                          <p:spTgt spid="519170">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0"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85646E9B-1769-4B25-EA84-783CEB2F31A8}"/>
              </a:ext>
            </a:extLst>
          </p:cNvPr>
          <p:cNvGrpSpPr/>
          <p:nvPr/>
        </p:nvGrpSpPr>
        <p:grpSpPr>
          <a:xfrm>
            <a:off x="355153" y="3611491"/>
            <a:ext cx="8064573" cy="3031912"/>
            <a:chOff x="323850" y="1981200"/>
            <a:chExt cx="8291513" cy="4263688"/>
          </a:xfrm>
        </p:grpSpPr>
        <p:sp>
          <p:nvSpPr>
            <p:cNvPr id="74755" name="Rectangle 3">
              <a:extLst>
                <a:ext uri="{FF2B5EF4-FFF2-40B4-BE49-F238E27FC236}">
                  <a16:creationId xmlns:a16="http://schemas.microsoft.com/office/drawing/2014/main" id="{0F684F5E-ADCA-45EA-8903-877C1A8B76E0}"/>
                </a:ext>
              </a:extLst>
            </p:cNvPr>
            <p:cNvSpPr>
              <a:spLocks noChangeArrowheads="1"/>
            </p:cNvSpPr>
            <p:nvPr/>
          </p:nvSpPr>
          <p:spPr bwMode="auto">
            <a:xfrm>
              <a:off x="2819400" y="4191000"/>
              <a:ext cx="3429000" cy="762000"/>
            </a:xfrm>
            <a:prstGeom prst="rect">
              <a:avLst/>
            </a:prstGeom>
            <a:solidFill>
              <a:srgbClr val="33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en-US" altLang="zh-CN" sz="2400">
                  <a:latin typeface="Times New Roman" panose="02020603050405020304" pitchFamily="18" charset="0"/>
                </a:rPr>
                <a:t>  0    1            ……          n-1</a:t>
              </a:r>
            </a:p>
          </p:txBody>
        </p:sp>
        <p:sp>
          <p:nvSpPr>
            <p:cNvPr id="74756" name="Line 4">
              <a:extLst>
                <a:ext uri="{FF2B5EF4-FFF2-40B4-BE49-F238E27FC236}">
                  <a16:creationId xmlns:a16="http://schemas.microsoft.com/office/drawing/2014/main" id="{04881A80-8B2C-4320-9415-8ACC648BF4A0}"/>
                </a:ext>
              </a:extLst>
            </p:cNvPr>
            <p:cNvSpPr>
              <a:spLocks noChangeShapeType="1"/>
            </p:cNvSpPr>
            <p:nvPr/>
          </p:nvSpPr>
          <p:spPr bwMode="auto">
            <a:xfrm>
              <a:off x="3276600" y="41910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7" name="Line 5">
              <a:extLst>
                <a:ext uri="{FF2B5EF4-FFF2-40B4-BE49-F238E27FC236}">
                  <a16:creationId xmlns:a16="http://schemas.microsoft.com/office/drawing/2014/main" id="{5E5CB24E-4653-4C12-809A-DB9E975F2152}"/>
                </a:ext>
              </a:extLst>
            </p:cNvPr>
            <p:cNvSpPr>
              <a:spLocks noChangeShapeType="1"/>
            </p:cNvSpPr>
            <p:nvPr/>
          </p:nvSpPr>
          <p:spPr bwMode="auto">
            <a:xfrm>
              <a:off x="3733800" y="41910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8" name="Line 6">
              <a:extLst>
                <a:ext uri="{FF2B5EF4-FFF2-40B4-BE49-F238E27FC236}">
                  <a16:creationId xmlns:a16="http://schemas.microsoft.com/office/drawing/2014/main" id="{B0D8F576-44E7-4440-9910-D68E602ADC38}"/>
                </a:ext>
              </a:extLst>
            </p:cNvPr>
            <p:cNvSpPr>
              <a:spLocks noChangeShapeType="1"/>
            </p:cNvSpPr>
            <p:nvPr/>
          </p:nvSpPr>
          <p:spPr bwMode="auto">
            <a:xfrm>
              <a:off x="5791200" y="4191000"/>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9" name="Text Box 7">
              <a:extLst>
                <a:ext uri="{FF2B5EF4-FFF2-40B4-BE49-F238E27FC236}">
                  <a16:creationId xmlns:a16="http://schemas.microsoft.com/office/drawing/2014/main" id="{072581CE-2D23-4F27-894A-D69E7B74CE83}"/>
                </a:ext>
              </a:extLst>
            </p:cNvPr>
            <p:cNvSpPr txBox="1">
              <a:spLocks noChangeArrowheads="1"/>
            </p:cNvSpPr>
            <p:nvPr/>
          </p:nvSpPr>
          <p:spPr bwMode="auto">
            <a:xfrm>
              <a:off x="2843213" y="5229225"/>
              <a:ext cx="3581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zh-CN" altLang="en-US" sz="2400" b="1">
                  <a:latin typeface="Comic Sans MS" panose="030F0702030302020204" pitchFamily="66" charset="0"/>
                </a:rPr>
                <a:t>缓冲区</a:t>
              </a:r>
              <a:r>
                <a:rPr kumimoji="1" lang="en-US" altLang="zh-CN" sz="2400" b="1">
                  <a:latin typeface="Comic Sans MS" panose="030F0702030302020204" pitchFamily="66" charset="0"/>
                </a:rPr>
                <a:t>B</a:t>
              </a:r>
              <a:r>
                <a:rPr kumimoji="1" lang="zh-CN" altLang="en-US" sz="2400" b="1">
                  <a:latin typeface="Comic Sans MS" panose="030F0702030302020204" pitchFamily="66" charset="0"/>
                </a:rPr>
                <a:t>，容量</a:t>
              </a:r>
              <a:r>
                <a:rPr kumimoji="1" lang="en-US" altLang="zh-CN" sz="2400" b="1">
                  <a:latin typeface="Comic Sans MS" panose="030F0702030302020204" pitchFamily="66" charset="0"/>
                </a:rPr>
                <a:t>n</a:t>
              </a:r>
              <a:endParaRPr kumimoji="1" lang="en-US" altLang="zh-CN" sz="2400" b="1">
                <a:latin typeface="Times New Roman" panose="02020603050405020304" pitchFamily="18" charset="0"/>
              </a:endParaRPr>
            </a:p>
            <a:p>
              <a:pPr algn="ctr" eaLnBrk="1" hangingPunct="1">
                <a:spcBef>
                  <a:spcPct val="50000"/>
                </a:spcBef>
                <a:buClrTx/>
                <a:buSzTx/>
                <a:buFontTx/>
                <a:buNone/>
              </a:pPr>
              <a:r>
                <a:rPr kumimoji="1" lang="en-US" altLang="zh-CN" sz="2400" b="1">
                  <a:latin typeface="Comic Sans MS" panose="030F0702030302020204" pitchFamily="66" charset="0"/>
                </a:rPr>
                <a:t> </a:t>
              </a:r>
              <a:endParaRPr kumimoji="1" lang="en-US" altLang="zh-CN" sz="2400" b="1">
                <a:latin typeface="Times New Roman" panose="02020603050405020304" pitchFamily="18" charset="0"/>
              </a:endParaRPr>
            </a:p>
          </p:txBody>
        </p:sp>
        <p:grpSp>
          <p:nvGrpSpPr>
            <p:cNvPr id="74760" name="Group 8">
              <a:extLst>
                <a:ext uri="{FF2B5EF4-FFF2-40B4-BE49-F238E27FC236}">
                  <a16:creationId xmlns:a16="http://schemas.microsoft.com/office/drawing/2014/main" id="{1E5D65A0-13AF-4907-8623-994337961B7D}"/>
                </a:ext>
              </a:extLst>
            </p:cNvPr>
            <p:cNvGrpSpPr>
              <a:grpSpLocks/>
            </p:cNvGrpSpPr>
            <p:nvPr/>
          </p:nvGrpSpPr>
          <p:grpSpPr bwMode="auto">
            <a:xfrm>
              <a:off x="1447800" y="3429000"/>
              <a:ext cx="947738" cy="1524000"/>
              <a:chOff x="1035" y="2352"/>
              <a:chExt cx="597" cy="960"/>
            </a:xfrm>
          </p:grpSpPr>
          <p:sp>
            <p:nvSpPr>
              <p:cNvPr id="74797" name="Line 9">
                <a:extLst>
                  <a:ext uri="{FF2B5EF4-FFF2-40B4-BE49-F238E27FC236}">
                    <a16:creationId xmlns:a16="http://schemas.microsoft.com/office/drawing/2014/main" id="{D8734F2D-FECF-4877-B26B-5D429E860896}"/>
                  </a:ext>
                </a:extLst>
              </p:cNvPr>
              <p:cNvSpPr>
                <a:spLocks noChangeShapeType="1"/>
              </p:cNvSpPr>
              <p:nvPr/>
            </p:nvSpPr>
            <p:spPr bwMode="auto">
              <a:xfrm>
                <a:off x="1152" y="3312"/>
                <a:ext cx="9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8" name="Line 10">
                <a:extLst>
                  <a:ext uri="{FF2B5EF4-FFF2-40B4-BE49-F238E27FC236}">
                    <a16:creationId xmlns:a16="http://schemas.microsoft.com/office/drawing/2014/main" id="{DCBDD187-8E93-45A5-BEC1-40F4E0AF77D4}"/>
                  </a:ext>
                </a:extLst>
              </p:cNvPr>
              <p:cNvSpPr>
                <a:spLocks noChangeShapeType="1"/>
              </p:cNvSpPr>
              <p:nvPr/>
            </p:nvSpPr>
            <p:spPr bwMode="auto">
              <a:xfrm>
                <a:off x="1392" y="3312"/>
                <a:ext cx="4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9" name="Oval 11">
                <a:extLst>
                  <a:ext uri="{FF2B5EF4-FFF2-40B4-BE49-F238E27FC236}">
                    <a16:creationId xmlns:a16="http://schemas.microsoft.com/office/drawing/2014/main" id="{44A9E6D8-B6D1-4DB2-AF4E-4726D54E6137}"/>
                  </a:ext>
                </a:extLst>
              </p:cNvPr>
              <p:cNvSpPr>
                <a:spLocks noChangeArrowheads="1"/>
              </p:cNvSpPr>
              <p:nvPr/>
            </p:nvSpPr>
            <p:spPr bwMode="auto">
              <a:xfrm>
                <a:off x="1104" y="2352"/>
                <a:ext cx="288" cy="288"/>
              </a:xfrm>
              <a:prstGeom prst="ellipse">
                <a:avLst/>
              </a:prstGeom>
              <a:solidFill>
                <a:srgbClr val="FF9900"/>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4800" name="AutoShape 12">
                <a:extLst>
                  <a:ext uri="{FF2B5EF4-FFF2-40B4-BE49-F238E27FC236}">
                    <a16:creationId xmlns:a16="http://schemas.microsoft.com/office/drawing/2014/main" id="{F06C6A0D-1674-4935-8C76-8018E96B1E9B}"/>
                  </a:ext>
                </a:extLst>
              </p:cNvPr>
              <p:cNvSpPr>
                <a:spLocks noChangeArrowheads="1"/>
              </p:cNvSpPr>
              <p:nvPr/>
            </p:nvSpPr>
            <p:spPr bwMode="auto">
              <a:xfrm flipV="1">
                <a:off x="1035" y="2656"/>
                <a:ext cx="453" cy="272"/>
              </a:xfrm>
              <a:custGeom>
                <a:avLst/>
                <a:gdLst>
                  <a:gd name="T0" fmla="*/ 8 w 21600"/>
                  <a:gd name="T1" fmla="*/ 2 h 21600"/>
                  <a:gd name="T2" fmla="*/ 5 w 21600"/>
                  <a:gd name="T3" fmla="*/ 3 h 21600"/>
                  <a:gd name="T4" fmla="*/ 1 w 21600"/>
                  <a:gd name="T5" fmla="*/ 2 h 21600"/>
                  <a:gd name="T6" fmla="*/ 5 w 21600"/>
                  <a:gd name="T7" fmla="*/ 0 h 21600"/>
                  <a:gd name="T8" fmla="*/ 0 60000 65536"/>
                  <a:gd name="T9" fmla="*/ 0 60000 65536"/>
                  <a:gd name="T10" fmla="*/ 0 60000 65536"/>
                  <a:gd name="T11" fmla="*/ 0 60000 65536"/>
                  <a:gd name="T12" fmla="*/ 4482 w 21600"/>
                  <a:gd name="T13" fmla="*/ 4526 h 21600"/>
                  <a:gd name="T14" fmla="*/ 17118 w 21600"/>
                  <a:gd name="T15" fmla="*/ 1707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9900"/>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01" name="Line 13">
                <a:extLst>
                  <a:ext uri="{FF2B5EF4-FFF2-40B4-BE49-F238E27FC236}">
                    <a16:creationId xmlns:a16="http://schemas.microsoft.com/office/drawing/2014/main" id="{9291ADC1-5981-4CE5-A123-7805834AD9A6}"/>
                  </a:ext>
                </a:extLst>
              </p:cNvPr>
              <p:cNvSpPr>
                <a:spLocks noChangeShapeType="1"/>
              </p:cNvSpPr>
              <p:nvPr/>
            </p:nvSpPr>
            <p:spPr bwMode="auto">
              <a:xfrm>
                <a:off x="1200" y="2928"/>
                <a:ext cx="0" cy="384"/>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02" name="Line 14">
                <a:extLst>
                  <a:ext uri="{FF2B5EF4-FFF2-40B4-BE49-F238E27FC236}">
                    <a16:creationId xmlns:a16="http://schemas.microsoft.com/office/drawing/2014/main" id="{84D19C01-82BC-4005-831B-A62AD2D46EFE}"/>
                  </a:ext>
                </a:extLst>
              </p:cNvPr>
              <p:cNvSpPr>
                <a:spLocks noChangeShapeType="1"/>
              </p:cNvSpPr>
              <p:nvPr/>
            </p:nvSpPr>
            <p:spPr bwMode="auto">
              <a:xfrm>
                <a:off x="1296" y="2928"/>
                <a:ext cx="96" cy="384"/>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03" name="Line 15">
                <a:extLst>
                  <a:ext uri="{FF2B5EF4-FFF2-40B4-BE49-F238E27FC236}">
                    <a16:creationId xmlns:a16="http://schemas.microsoft.com/office/drawing/2014/main" id="{0962028C-6C1F-4727-95C0-CBBFE01D83DF}"/>
                  </a:ext>
                </a:extLst>
              </p:cNvPr>
              <p:cNvSpPr>
                <a:spLocks noChangeShapeType="1"/>
              </p:cNvSpPr>
              <p:nvPr/>
            </p:nvSpPr>
            <p:spPr bwMode="auto">
              <a:xfrm>
                <a:off x="1344" y="2784"/>
                <a:ext cx="288" cy="48"/>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04" name="Line 16">
                <a:extLst>
                  <a:ext uri="{FF2B5EF4-FFF2-40B4-BE49-F238E27FC236}">
                    <a16:creationId xmlns:a16="http://schemas.microsoft.com/office/drawing/2014/main" id="{B18638FB-C303-49B2-ABA0-F244EF755EC6}"/>
                  </a:ext>
                </a:extLst>
              </p:cNvPr>
              <p:cNvSpPr>
                <a:spLocks noChangeShapeType="1"/>
              </p:cNvSpPr>
              <p:nvPr/>
            </p:nvSpPr>
            <p:spPr bwMode="auto">
              <a:xfrm flipV="1">
                <a:off x="1344" y="2640"/>
                <a:ext cx="192" cy="9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761" name="Group 17">
              <a:extLst>
                <a:ext uri="{FF2B5EF4-FFF2-40B4-BE49-F238E27FC236}">
                  <a16:creationId xmlns:a16="http://schemas.microsoft.com/office/drawing/2014/main" id="{608B0894-0A82-4FEB-BF7E-433BD47530AC}"/>
                </a:ext>
              </a:extLst>
            </p:cNvPr>
            <p:cNvGrpSpPr>
              <a:grpSpLocks/>
            </p:cNvGrpSpPr>
            <p:nvPr/>
          </p:nvGrpSpPr>
          <p:grpSpPr bwMode="auto">
            <a:xfrm>
              <a:off x="6596063" y="3429000"/>
              <a:ext cx="947737" cy="1524000"/>
              <a:chOff x="4539" y="2352"/>
              <a:chExt cx="597" cy="960"/>
            </a:xfrm>
          </p:grpSpPr>
          <p:sp>
            <p:nvSpPr>
              <p:cNvPr id="74789" name="Oval 18">
                <a:extLst>
                  <a:ext uri="{FF2B5EF4-FFF2-40B4-BE49-F238E27FC236}">
                    <a16:creationId xmlns:a16="http://schemas.microsoft.com/office/drawing/2014/main" id="{16BF6F55-DB8D-44E3-91AB-AB27F9899007}"/>
                  </a:ext>
                </a:extLst>
              </p:cNvPr>
              <p:cNvSpPr>
                <a:spLocks noChangeArrowheads="1"/>
              </p:cNvSpPr>
              <p:nvPr/>
            </p:nvSpPr>
            <p:spPr bwMode="auto">
              <a:xfrm flipH="1">
                <a:off x="4779" y="2352"/>
                <a:ext cx="288" cy="288"/>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4790" name="AutoShape 19">
                <a:extLst>
                  <a:ext uri="{FF2B5EF4-FFF2-40B4-BE49-F238E27FC236}">
                    <a16:creationId xmlns:a16="http://schemas.microsoft.com/office/drawing/2014/main" id="{7D6DC0A8-9770-401E-AFCD-785C843BBF23}"/>
                  </a:ext>
                </a:extLst>
              </p:cNvPr>
              <p:cNvSpPr>
                <a:spLocks noChangeArrowheads="1"/>
              </p:cNvSpPr>
              <p:nvPr/>
            </p:nvSpPr>
            <p:spPr bwMode="auto">
              <a:xfrm flipH="1" flipV="1">
                <a:off x="4683" y="2656"/>
                <a:ext cx="453" cy="272"/>
              </a:xfrm>
              <a:custGeom>
                <a:avLst/>
                <a:gdLst>
                  <a:gd name="T0" fmla="*/ 8 w 21600"/>
                  <a:gd name="T1" fmla="*/ 2 h 21600"/>
                  <a:gd name="T2" fmla="*/ 5 w 21600"/>
                  <a:gd name="T3" fmla="*/ 3 h 21600"/>
                  <a:gd name="T4" fmla="*/ 1 w 21600"/>
                  <a:gd name="T5" fmla="*/ 2 h 21600"/>
                  <a:gd name="T6" fmla="*/ 5 w 21600"/>
                  <a:gd name="T7" fmla="*/ 0 h 21600"/>
                  <a:gd name="T8" fmla="*/ 0 60000 65536"/>
                  <a:gd name="T9" fmla="*/ 0 60000 65536"/>
                  <a:gd name="T10" fmla="*/ 0 60000 65536"/>
                  <a:gd name="T11" fmla="*/ 0 60000 65536"/>
                  <a:gd name="T12" fmla="*/ 4482 w 21600"/>
                  <a:gd name="T13" fmla="*/ 4526 h 21600"/>
                  <a:gd name="T14" fmla="*/ 17118 w 21600"/>
                  <a:gd name="T15" fmla="*/ 1707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1" name="Line 20">
                <a:extLst>
                  <a:ext uri="{FF2B5EF4-FFF2-40B4-BE49-F238E27FC236}">
                    <a16:creationId xmlns:a16="http://schemas.microsoft.com/office/drawing/2014/main" id="{5D845382-EDE4-42AC-80A9-D1D712FB2E6F}"/>
                  </a:ext>
                </a:extLst>
              </p:cNvPr>
              <p:cNvSpPr>
                <a:spLocks noChangeShapeType="1"/>
              </p:cNvSpPr>
              <p:nvPr/>
            </p:nvSpPr>
            <p:spPr bwMode="auto">
              <a:xfrm flipH="1">
                <a:off x="4971" y="2928"/>
                <a:ext cx="0"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2" name="Line 21">
                <a:extLst>
                  <a:ext uri="{FF2B5EF4-FFF2-40B4-BE49-F238E27FC236}">
                    <a16:creationId xmlns:a16="http://schemas.microsoft.com/office/drawing/2014/main" id="{63749147-8C34-47B8-8508-A8CF38DA3F7E}"/>
                  </a:ext>
                </a:extLst>
              </p:cNvPr>
              <p:cNvSpPr>
                <a:spLocks noChangeShapeType="1"/>
              </p:cNvSpPr>
              <p:nvPr/>
            </p:nvSpPr>
            <p:spPr bwMode="auto">
              <a:xfrm flipH="1">
                <a:off x="4779" y="2928"/>
                <a:ext cx="9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3" name="Line 22">
                <a:extLst>
                  <a:ext uri="{FF2B5EF4-FFF2-40B4-BE49-F238E27FC236}">
                    <a16:creationId xmlns:a16="http://schemas.microsoft.com/office/drawing/2014/main" id="{2FCCF441-0F8F-4507-8030-5804370EFCEB}"/>
                  </a:ext>
                </a:extLst>
              </p:cNvPr>
              <p:cNvSpPr>
                <a:spLocks noChangeShapeType="1"/>
              </p:cNvSpPr>
              <p:nvPr/>
            </p:nvSpPr>
            <p:spPr bwMode="auto">
              <a:xfrm flipH="1">
                <a:off x="4539" y="2784"/>
                <a:ext cx="288"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4" name="Line 23">
                <a:extLst>
                  <a:ext uri="{FF2B5EF4-FFF2-40B4-BE49-F238E27FC236}">
                    <a16:creationId xmlns:a16="http://schemas.microsoft.com/office/drawing/2014/main" id="{93860318-D7BA-47B3-A3E7-32945A29C691}"/>
                  </a:ext>
                </a:extLst>
              </p:cNvPr>
              <p:cNvSpPr>
                <a:spLocks noChangeShapeType="1"/>
              </p:cNvSpPr>
              <p:nvPr/>
            </p:nvSpPr>
            <p:spPr bwMode="auto">
              <a:xfrm flipH="1" flipV="1">
                <a:off x="4635" y="2640"/>
                <a:ext cx="19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5" name="Line 24">
                <a:extLst>
                  <a:ext uri="{FF2B5EF4-FFF2-40B4-BE49-F238E27FC236}">
                    <a16:creationId xmlns:a16="http://schemas.microsoft.com/office/drawing/2014/main" id="{77FCB625-4E7B-4312-BBD0-01DB0A4B09B4}"/>
                  </a:ext>
                </a:extLst>
              </p:cNvPr>
              <p:cNvSpPr>
                <a:spLocks noChangeShapeType="1"/>
              </p:cNvSpPr>
              <p:nvPr/>
            </p:nvSpPr>
            <p:spPr bwMode="auto">
              <a:xfrm>
                <a:off x="4896" y="3312"/>
                <a:ext cx="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96" name="Line 25">
                <a:extLst>
                  <a:ext uri="{FF2B5EF4-FFF2-40B4-BE49-F238E27FC236}">
                    <a16:creationId xmlns:a16="http://schemas.microsoft.com/office/drawing/2014/main" id="{FE4D837D-287C-4CAF-AA1D-F20B6A35E528}"/>
                  </a:ext>
                </a:extLst>
              </p:cNvPr>
              <p:cNvSpPr>
                <a:spLocks noChangeShapeType="1"/>
              </p:cNvSpPr>
              <p:nvPr/>
            </p:nvSpPr>
            <p:spPr bwMode="auto">
              <a:xfrm flipH="1">
                <a:off x="4704" y="3312"/>
                <a:ext cx="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762" name="AutoShape 26">
              <a:extLst>
                <a:ext uri="{FF2B5EF4-FFF2-40B4-BE49-F238E27FC236}">
                  <a16:creationId xmlns:a16="http://schemas.microsoft.com/office/drawing/2014/main" id="{AFE632DA-26CB-4979-A427-E0F350394384}"/>
                </a:ext>
              </a:extLst>
            </p:cNvPr>
            <p:cNvSpPr>
              <a:spLocks noChangeArrowheads="1"/>
            </p:cNvSpPr>
            <p:nvPr/>
          </p:nvSpPr>
          <p:spPr bwMode="auto">
            <a:xfrm>
              <a:off x="2417763" y="3678238"/>
              <a:ext cx="935037" cy="360362"/>
            </a:xfrm>
            <a:custGeom>
              <a:avLst/>
              <a:gdLst>
                <a:gd name="T0" fmla="*/ 20236408 w 21600"/>
                <a:gd name="T1" fmla="*/ 0 h 21600"/>
                <a:gd name="T2" fmla="*/ 5059589 w 21600"/>
                <a:gd name="T3" fmla="*/ 3006036 h 21600"/>
                <a:gd name="T4" fmla="*/ 20236408 w 21600"/>
                <a:gd name="T5" fmla="*/ 1503027 h 21600"/>
                <a:gd name="T6" fmla="*/ 45536172 w 21600"/>
                <a:gd name="T7" fmla="*/ 3006036 h 21600"/>
                <a:gd name="T8" fmla="*/ 35416994 w 21600"/>
                <a:gd name="T9" fmla="*/ 4509063 h 21600"/>
                <a:gd name="T10" fmla="*/ 25297859 w 21600"/>
                <a:gd name="T11" fmla="*/ 300603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3" name="AutoShape 27">
              <a:extLst>
                <a:ext uri="{FF2B5EF4-FFF2-40B4-BE49-F238E27FC236}">
                  <a16:creationId xmlns:a16="http://schemas.microsoft.com/office/drawing/2014/main" id="{F122C6DD-0C46-43CF-86C3-5D807DC44226}"/>
                </a:ext>
              </a:extLst>
            </p:cNvPr>
            <p:cNvSpPr>
              <a:spLocks noChangeArrowheads="1"/>
            </p:cNvSpPr>
            <p:nvPr/>
          </p:nvSpPr>
          <p:spPr bwMode="auto">
            <a:xfrm>
              <a:off x="5562600" y="3657600"/>
              <a:ext cx="935038" cy="360363"/>
            </a:xfrm>
            <a:custGeom>
              <a:avLst/>
              <a:gdLst>
                <a:gd name="T0" fmla="*/ 20236473 w 21600"/>
                <a:gd name="T1" fmla="*/ 0 h 21600"/>
                <a:gd name="T2" fmla="*/ 5059595 w 21600"/>
                <a:gd name="T3" fmla="*/ 3006061 h 21600"/>
                <a:gd name="T4" fmla="*/ 20236473 w 21600"/>
                <a:gd name="T5" fmla="*/ 1503031 h 21600"/>
                <a:gd name="T6" fmla="*/ 45536264 w 21600"/>
                <a:gd name="T7" fmla="*/ 3006061 h 21600"/>
                <a:gd name="T8" fmla="*/ 35417075 w 21600"/>
                <a:gd name="T9" fmla="*/ 4509075 h 21600"/>
                <a:gd name="T10" fmla="*/ 25297929 w 21600"/>
                <a:gd name="T11" fmla="*/ 3006061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4" name="Text Box 28">
              <a:extLst>
                <a:ext uri="{FF2B5EF4-FFF2-40B4-BE49-F238E27FC236}">
                  <a16:creationId xmlns:a16="http://schemas.microsoft.com/office/drawing/2014/main" id="{B78D77E0-0695-496A-9853-407067334675}"/>
                </a:ext>
              </a:extLst>
            </p:cNvPr>
            <p:cNvSpPr txBox="1">
              <a:spLocks noChangeArrowheads="1"/>
            </p:cNvSpPr>
            <p:nvPr/>
          </p:nvSpPr>
          <p:spPr bwMode="auto">
            <a:xfrm>
              <a:off x="1295400" y="51816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latin typeface="Times New Roman" panose="02020603050405020304" pitchFamily="18" charset="0"/>
                </a:rPr>
                <a:t>生产者</a:t>
              </a:r>
            </a:p>
          </p:txBody>
        </p:sp>
        <p:sp>
          <p:nvSpPr>
            <p:cNvPr id="74765" name="Text Box 29">
              <a:extLst>
                <a:ext uri="{FF2B5EF4-FFF2-40B4-BE49-F238E27FC236}">
                  <a16:creationId xmlns:a16="http://schemas.microsoft.com/office/drawing/2014/main" id="{1122095D-DBD4-4BA4-8D2B-686B38780EE2}"/>
                </a:ext>
              </a:extLst>
            </p:cNvPr>
            <p:cNvSpPr txBox="1">
              <a:spLocks noChangeArrowheads="1"/>
            </p:cNvSpPr>
            <p:nvPr/>
          </p:nvSpPr>
          <p:spPr bwMode="auto">
            <a:xfrm>
              <a:off x="6781800" y="52578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latin typeface="Times New Roman" panose="02020603050405020304" pitchFamily="18" charset="0"/>
                </a:rPr>
                <a:t>消费者</a:t>
              </a:r>
              <a:endParaRPr kumimoji="1" lang="zh-CN" altLang="en-US" sz="2400">
                <a:latin typeface="Times New Roman" panose="02020603050405020304" pitchFamily="18" charset="0"/>
              </a:endParaRPr>
            </a:p>
          </p:txBody>
        </p:sp>
        <p:sp>
          <p:nvSpPr>
            <p:cNvPr id="74766" name="Text Box 30">
              <a:extLst>
                <a:ext uri="{FF2B5EF4-FFF2-40B4-BE49-F238E27FC236}">
                  <a16:creationId xmlns:a16="http://schemas.microsoft.com/office/drawing/2014/main" id="{9D6FC608-E0BE-4C60-9830-0C80264226DA}"/>
                </a:ext>
              </a:extLst>
            </p:cNvPr>
            <p:cNvSpPr txBox="1">
              <a:spLocks noChangeArrowheads="1"/>
            </p:cNvSpPr>
            <p:nvPr/>
          </p:nvSpPr>
          <p:spPr bwMode="auto">
            <a:xfrm>
              <a:off x="1752600" y="22098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endParaRPr kumimoji="1" lang="zh-CN" altLang="zh-CN" sz="2400">
                <a:latin typeface="Comic Sans MS" panose="030F0702030302020204" pitchFamily="66" charset="0"/>
              </a:endParaRPr>
            </a:p>
          </p:txBody>
        </p:sp>
        <p:sp>
          <p:nvSpPr>
            <p:cNvPr id="74767" name="AutoShape 31">
              <a:extLst>
                <a:ext uri="{FF2B5EF4-FFF2-40B4-BE49-F238E27FC236}">
                  <a16:creationId xmlns:a16="http://schemas.microsoft.com/office/drawing/2014/main" id="{6BFB1920-17A2-4F59-9E37-513752DCF391}"/>
                </a:ext>
              </a:extLst>
            </p:cNvPr>
            <p:cNvSpPr>
              <a:spLocks noChangeArrowheads="1"/>
            </p:cNvSpPr>
            <p:nvPr/>
          </p:nvSpPr>
          <p:spPr bwMode="auto">
            <a:xfrm>
              <a:off x="1066800" y="1981200"/>
              <a:ext cx="2438400" cy="1371600"/>
            </a:xfrm>
            <a:prstGeom prst="cloudCallout">
              <a:avLst>
                <a:gd name="adj1" fmla="val -13282"/>
                <a:gd name="adj2" fmla="val 20023"/>
              </a:avLst>
            </a:prstGeom>
            <a:solidFill>
              <a:srgbClr val="391288"/>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SzTx/>
                <a:buNone/>
              </a:pPr>
              <a:r>
                <a:rPr kumimoji="1" lang="zh-CN" altLang="en-US" sz="2400" b="1" dirty="0">
                  <a:solidFill>
                    <a:srgbClr val="FFFFFF"/>
                  </a:solidFill>
                  <a:latin typeface="Comic Sans MS" panose="030F0702030302020204" pitchFamily="66" charset="0"/>
                </a:rPr>
                <a:t>生产物品</a:t>
              </a:r>
            </a:p>
            <a:p>
              <a:pPr lvl="0" algn="ctr" eaLnBrk="1" hangingPunct="1">
                <a:spcBef>
                  <a:spcPct val="0"/>
                </a:spcBef>
                <a:buClrTx/>
                <a:buSzTx/>
                <a:buNone/>
              </a:pPr>
              <a:r>
                <a:rPr kumimoji="1" lang="zh-CN" altLang="en-US" sz="2400" b="1" dirty="0">
                  <a:solidFill>
                    <a:srgbClr val="FFFFFF"/>
                  </a:solidFill>
                  <a:latin typeface="Comic Sans MS" panose="030F0702030302020204" pitchFamily="66" charset="0"/>
                </a:rPr>
                <a:t>放入</a:t>
              </a:r>
              <a:r>
                <a:rPr kumimoji="1" lang="en-US" altLang="zh-CN" sz="2400" b="1" dirty="0">
                  <a:solidFill>
                    <a:srgbClr val="FFFFFF"/>
                  </a:solidFill>
                  <a:latin typeface="Comic Sans MS" panose="030F0702030302020204" pitchFamily="66" charset="0"/>
                </a:rPr>
                <a:t>B</a:t>
              </a:r>
              <a:r>
                <a:rPr kumimoji="1" lang="zh-CN" altLang="en-US" sz="2400" b="1" dirty="0">
                  <a:solidFill>
                    <a:srgbClr val="FFFFFF"/>
                  </a:solidFill>
                  <a:latin typeface="Comic Sans MS" panose="030F0702030302020204" pitchFamily="66" charset="0"/>
                </a:rPr>
                <a:t>中</a:t>
              </a:r>
            </a:p>
          </p:txBody>
        </p:sp>
        <p:sp>
          <p:nvSpPr>
            <p:cNvPr id="74768" name="AutoShape 32">
              <a:extLst>
                <a:ext uri="{FF2B5EF4-FFF2-40B4-BE49-F238E27FC236}">
                  <a16:creationId xmlns:a16="http://schemas.microsoft.com/office/drawing/2014/main" id="{8863319C-ACA8-470C-A6B4-05B3B026717A}"/>
                </a:ext>
              </a:extLst>
            </p:cNvPr>
            <p:cNvSpPr>
              <a:spLocks noChangeArrowheads="1"/>
            </p:cNvSpPr>
            <p:nvPr/>
          </p:nvSpPr>
          <p:spPr bwMode="auto">
            <a:xfrm flipH="1">
              <a:off x="5562600" y="1981200"/>
              <a:ext cx="2438400" cy="1371600"/>
            </a:xfrm>
            <a:prstGeom prst="cloudCallout">
              <a:avLst>
                <a:gd name="adj1" fmla="val -13282"/>
                <a:gd name="adj2" fmla="val 20023"/>
              </a:avLst>
            </a:prstGeom>
            <a:solidFill>
              <a:srgbClr val="391288"/>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SzTx/>
                <a:buNone/>
              </a:pPr>
              <a:r>
                <a:rPr kumimoji="1" lang="en-US" altLang="zh-CN" sz="2400" b="1" dirty="0">
                  <a:solidFill>
                    <a:srgbClr val="FFFFFF"/>
                  </a:solidFill>
                  <a:latin typeface="Comic Sans MS" panose="030F0702030302020204" pitchFamily="66" charset="0"/>
                </a:rPr>
                <a:t>B</a:t>
              </a:r>
              <a:r>
                <a:rPr kumimoji="1" lang="zh-CN" altLang="en-US" sz="2400" b="1" dirty="0">
                  <a:solidFill>
                    <a:srgbClr val="FFFFFF"/>
                  </a:solidFill>
                  <a:latin typeface="Comic Sans MS" panose="030F0702030302020204" pitchFamily="66" charset="0"/>
                </a:rPr>
                <a:t>中取物品</a:t>
              </a:r>
            </a:p>
            <a:p>
              <a:pPr lvl="0" algn="ctr" eaLnBrk="1" hangingPunct="1">
                <a:spcBef>
                  <a:spcPct val="0"/>
                </a:spcBef>
                <a:buClrTx/>
                <a:buSzTx/>
                <a:buNone/>
              </a:pPr>
              <a:r>
                <a:rPr kumimoji="1" lang="zh-CN" altLang="en-US" sz="2400" b="1" dirty="0">
                  <a:solidFill>
                    <a:srgbClr val="FFFFFF"/>
                  </a:solidFill>
                  <a:latin typeface="Comic Sans MS" panose="030F0702030302020204" pitchFamily="66" charset="0"/>
                </a:rPr>
                <a:t>消费之</a:t>
              </a:r>
              <a:endParaRPr kumimoji="1" lang="zh-CN" altLang="en-US" sz="2400" dirty="0">
                <a:solidFill>
                  <a:srgbClr val="FFFFFF"/>
                </a:solidFill>
                <a:latin typeface="Comic Sans MS" panose="030F0702030302020204" pitchFamily="66" charset="0"/>
              </a:endParaRPr>
            </a:p>
          </p:txBody>
        </p:sp>
        <p:grpSp>
          <p:nvGrpSpPr>
            <p:cNvPr id="74769" name="Group 33">
              <a:extLst>
                <a:ext uri="{FF2B5EF4-FFF2-40B4-BE49-F238E27FC236}">
                  <a16:creationId xmlns:a16="http://schemas.microsoft.com/office/drawing/2014/main" id="{7D744043-8A31-47DF-B164-1B8A0548E4A0}"/>
                </a:ext>
              </a:extLst>
            </p:cNvPr>
            <p:cNvGrpSpPr>
              <a:grpSpLocks/>
            </p:cNvGrpSpPr>
            <p:nvPr/>
          </p:nvGrpSpPr>
          <p:grpSpPr bwMode="auto">
            <a:xfrm>
              <a:off x="323850" y="2924175"/>
              <a:ext cx="947738" cy="1524000"/>
              <a:chOff x="1035" y="2352"/>
              <a:chExt cx="597" cy="960"/>
            </a:xfrm>
          </p:grpSpPr>
          <p:sp>
            <p:nvSpPr>
              <p:cNvPr id="74781" name="Line 34">
                <a:extLst>
                  <a:ext uri="{FF2B5EF4-FFF2-40B4-BE49-F238E27FC236}">
                    <a16:creationId xmlns:a16="http://schemas.microsoft.com/office/drawing/2014/main" id="{FF99E103-7DD5-491E-8318-8C4CA2513964}"/>
                  </a:ext>
                </a:extLst>
              </p:cNvPr>
              <p:cNvSpPr>
                <a:spLocks noChangeShapeType="1"/>
              </p:cNvSpPr>
              <p:nvPr/>
            </p:nvSpPr>
            <p:spPr bwMode="auto">
              <a:xfrm>
                <a:off x="1152" y="3312"/>
                <a:ext cx="9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2" name="Line 35">
                <a:extLst>
                  <a:ext uri="{FF2B5EF4-FFF2-40B4-BE49-F238E27FC236}">
                    <a16:creationId xmlns:a16="http://schemas.microsoft.com/office/drawing/2014/main" id="{58AE0ACC-FBDE-41DD-9F7C-B8F1B9F9E710}"/>
                  </a:ext>
                </a:extLst>
              </p:cNvPr>
              <p:cNvSpPr>
                <a:spLocks noChangeShapeType="1"/>
              </p:cNvSpPr>
              <p:nvPr/>
            </p:nvSpPr>
            <p:spPr bwMode="auto">
              <a:xfrm>
                <a:off x="1392" y="3312"/>
                <a:ext cx="4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3" name="Oval 36">
                <a:extLst>
                  <a:ext uri="{FF2B5EF4-FFF2-40B4-BE49-F238E27FC236}">
                    <a16:creationId xmlns:a16="http://schemas.microsoft.com/office/drawing/2014/main" id="{68A19A93-071D-48A8-BF76-86BC1D72E201}"/>
                  </a:ext>
                </a:extLst>
              </p:cNvPr>
              <p:cNvSpPr>
                <a:spLocks noChangeArrowheads="1"/>
              </p:cNvSpPr>
              <p:nvPr/>
            </p:nvSpPr>
            <p:spPr bwMode="auto">
              <a:xfrm>
                <a:off x="1104" y="2352"/>
                <a:ext cx="288" cy="288"/>
              </a:xfrm>
              <a:prstGeom prst="ellipse">
                <a:avLst/>
              </a:prstGeom>
              <a:solidFill>
                <a:srgbClr val="FF9900"/>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4784" name="AutoShape 37">
                <a:extLst>
                  <a:ext uri="{FF2B5EF4-FFF2-40B4-BE49-F238E27FC236}">
                    <a16:creationId xmlns:a16="http://schemas.microsoft.com/office/drawing/2014/main" id="{56CBBDAD-3630-4C46-838A-1FFF5255C539}"/>
                  </a:ext>
                </a:extLst>
              </p:cNvPr>
              <p:cNvSpPr>
                <a:spLocks noChangeArrowheads="1"/>
              </p:cNvSpPr>
              <p:nvPr/>
            </p:nvSpPr>
            <p:spPr bwMode="auto">
              <a:xfrm flipV="1">
                <a:off x="1035" y="2656"/>
                <a:ext cx="453" cy="272"/>
              </a:xfrm>
              <a:custGeom>
                <a:avLst/>
                <a:gdLst>
                  <a:gd name="T0" fmla="*/ 8 w 21600"/>
                  <a:gd name="T1" fmla="*/ 2 h 21600"/>
                  <a:gd name="T2" fmla="*/ 5 w 21600"/>
                  <a:gd name="T3" fmla="*/ 3 h 21600"/>
                  <a:gd name="T4" fmla="*/ 1 w 21600"/>
                  <a:gd name="T5" fmla="*/ 2 h 21600"/>
                  <a:gd name="T6" fmla="*/ 5 w 21600"/>
                  <a:gd name="T7" fmla="*/ 0 h 21600"/>
                  <a:gd name="T8" fmla="*/ 0 60000 65536"/>
                  <a:gd name="T9" fmla="*/ 0 60000 65536"/>
                  <a:gd name="T10" fmla="*/ 0 60000 65536"/>
                  <a:gd name="T11" fmla="*/ 0 60000 65536"/>
                  <a:gd name="T12" fmla="*/ 4482 w 21600"/>
                  <a:gd name="T13" fmla="*/ 4526 h 21600"/>
                  <a:gd name="T14" fmla="*/ 17118 w 21600"/>
                  <a:gd name="T15" fmla="*/ 1707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9900"/>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5" name="Line 38">
                <a:extLst>
                  <a:ext uri="{FF2B5EF4-FFF2-40B4-BE49-F238E27FC236}">
                    <a16:creationId xmlns:a16="http://schemas.microsoft.com/office/drawing/2014/main" id="{EDF19222-B691-4B86-BE68-6D274486FA1B}"/>
                  </a:ext>
                </a:extLst>
              </p:cNvPr>
              <p:cNvSpPr>
                <a:spLocks noChangeShapeType="1"/>
              </p:cNvSpPr>
              <p:nvPr/>
            </p:nvSpPr>
            <p:spPr bwMode="auto">
              <a:xfrm>
                <a:off x="1200" y="2928"/>
                <a:ext cx="0" cy="384"/>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6" name="Line 39">
                <a:extLst>
                  <a:ext uri="{FF2B5EF4-FFF2-40B4-BE49-F238E27FC236}">
                    <a16:creationId xmlns:a16="http://schemas.microsoft.com/office/drawing/2014/main" id="{DBE2E3FE-740C-478C-A960-3ABDDCDD45A5}"/>
                  </a:ext>
                </a:extLst>
              </p:cNvPr>
              <p:cNvSpPr>
                <a:spLocks noChangeShapeType="1"/>
              </p:cNvSpPr>
              <p:nvPr/>
            </p:nvSpPr>
            <p:spPr bwMode="auto">
              <a:xfrm>
                <a:off x="1296" y="2928"/>
                <a:ext cx="96" cy="384"/>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7" name="Line 40">
                <a:extLst>
                  <a:ext uri="{FF2B5EF4-FFF2-40B4-BE49-F238E27FC236}">
                    <a16:creationId xmlns:a16="http://schemas.microsoft.com/office/drawing/2014/main" id="{8649A043-59B1-47B1-81A8-9549C68CE1BD}"/>
                  </a:ext>
                </a:extLst>
              </p:cNvPr>
              <p:cNvSpPr>
                <a:spLocks noChangeShapeType="1"/>
              </p:cNvSpPr>
              <p:nvPr/>
            </p:nvSpPr>
            <p:spPr bwMode="auto">
              <a:xfrm>
                <a:off x="1344" y="2784"/>
                <a:ext cx="288" cy="48"/>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8" name="Line 41">
                <a:extLst>
                  <a:ext uri="{FF2B5EF4-FFF2-40B4-BE49-F238E27FC236}">
                    <a16:creationId xmlns:a16="http://schemas.microsoft.com/office/drawing/2014/main" id="{B08E3018-8EF5-4C93-80C4-EE529DD36FC6}"/>
                  </a:ext>
                </a:extLst>
              </p:cNvPr>
              <p:cNvSpPr>
                <a:spLocks noChangeShapeType="1"/>
              </p:cNvSpPr>
              <p:nvPr/>
            </p:nvSpPr>
            <p:spPr bwMode="auto">
              <a:xfrm flipV="1">
                <a:off x="1344" y="2640"/>
                <a:ext cx="192" cy="9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770" name="Group 42">
              <a:extLst>
                <a:ext uri="{FF2B5EF4-FFF2-40B4-BE49-F238E27FC236}">
                  <a16:creationId xmlns:a16="http://schemas.microsoft.com/office/drawing/2014/main" id="{55BB486C-3C05-46D0-95A6-75622ABE78FC}"/>
                </a:ext>
              </a:extLst>
            </p:cNvPr>
            <p:cNvGrpSpPr>
              <a:grpSpLocks/>
            </p:cNvGrpSpPr>
            <p:nvPr/>
          </p:nvGrpSpPr>
          <p:grpSpPr bwMode="auto">
            <a:xfrm>
              <a:off x="7667625" y="2924175"/>
              <a:ext cx="947738" cy="1524000"/>
              <a:chOff x="4539" y="2352"/>
              <a:chExt cx="597" cy="960"/>
            </a:xfrm>
          </p:grpSpPr>
          <p:sp>
            <p:nvSpPr>
              <p:cNvPr id="74773" name="Oval 43">
                <a:extLst>
                  <a:ext uri="{FF2B5EF4-FFF2-40B4-BE49-F238E27FC236}">
                    <a16:creationId xmlns:a16="http://schemas.microsoft.com/office/drawing/2014/main" id="{8EA056F1-5399-4037-8887-C19C7BD40032}"/>
                  </a:ext>
                </a:extLst>
              </p:cNvPr>
              <p:cNvSpPr>
                <a:spLocks noChangeArrowheads="1"/>
              </p:cNvSpPr>
              <p:nvPr/>
            </p:nvSpPr>
            <p:spPr bwMode="auto">
              <a:xfrm flipH="1">
                <a:off x="4779" y="2352"/>
                <a:ext cx="288" cy="288"/>
              </a:xfrm>
              <a:prstGeom prst="ellipse">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4774" name="AutoShape 44">
                <a:extLst>
                  <a:ext uri="{FF2B5EF4-FFF2-40B4-BE49-F238E27FC236}">
                    <a16:creationId xmlns:a16="http://schemas.microsoft.com/office/drawing/2014/main" id="{4D127AA0-9CCD-47AE-834F-0EA596950CA6}"/>
                  </a:ext>
                </a:extLst>
              </p:cNvPr>
              <p:cNvSpPr>
                <a:spLocks noChangeArrowheads="1"/>
              </p:cNvSpPr>
              <p:nvPr/>
            </p:nvSpPr>
            <p:spPr bwMode="auto">
              <a:xfrm flipH="1" flipV="1">
                <a:off x="4683" y="2656"/>
                <a:ext cx="453" cy="272"/>
              </a:xfrm>
              <a:custGeom>
                <a:avLst/>
                <a:gdLst>
                  <a:gd name="T0" fmla="*/ 8 w 21600"/>
                  <a:gd name="T1" fmla="*/ 2 h 21600"/>
                  <a:gd name="T2" fmla="*/ 5 w 21600"/>
                  <a:gd name="T3" fmla="*/ 3 h 21600"/>
                  <a:gd name="T4" fmla="*/ 1 w 21600"/>
                  <a:gd name="T5" fmla="*/ 2 h 21600"/>
                  <a:gd name="T6" fmla="*/ 5 w 21600"/>
                  <a:gd name="T7" fmla="*/ 0 h 21600"/>
                  <a:gd name="T8" fmla="*/ 0 60000 65536"/>
                  <a:gd name="T9" fmla="*/ 0 60000 65536"/>
                  <a:gd name="T10" fmla="*/ 0 60000 65536"/>
                  <a:gd name="T11" fmla="*/ 0 60000 65536"/>
                  <a:gd name="T12" fmla="*/ 4482 w 21600"/>
                  <a:gd name="T13" fmla="*/ 4526 h 21600"/>
                  <a:gd name="T14" fmla="*/ 17118 w 21600"/>
                  <a:gd name="T15" fmla="*/ 1707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5" name="Line 45">
                <a:extLst>
                  <a:ext uri="{FF2B5EF4-FFF2-40B4-BE49-F238E27FC236}">
                    <a16:creationId xmlns:a16="http://schemas.microsoft.com/office/drawing/2014/main" id="{5F100043-92E9-441F-BB3E-0224286D2877}"/>
                  </a:ext>
                </a:extLst>
              </p:cNvPr>
              <p:cNvSpPr>
                <a:spLocks noChangeShapeType="1"/>
              </p:cNvSpPr>
              <p:nvPr/>
            </p:nvSpPr>
            <p:spPr bwMode="auto">
              <a:xfrm flipH="1">
                <a:off x="4971" y="2928"/>
                <a:ext cx="0"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6" name="Line 46">
                <a:extLst>
                  <a:ext uri="{FF2B5EF4-FFF2-40B4-BE49-F238E27FC236}">
                    <a16:creationId xmlns:a16="http://schemas.microsoft.com/office/drawing/2014/main" id="{97DB5261-8FCA-4553-AE8C-2688DF39A7F9}"/>
                  </a:ext>
                </a:extLst>
              </p:cNvPr>
              <p:cNvSpPr>
                <a:spLocks noChangeShapeType="1"/>
              </p:cNvSpPr>
              <p:nvPr/>
            </p:nvSpPr>
            <p:spPr bwMode="auto">
              <a:xfrm flipH="1">
                <a:off x="4779" y="2928"/>
                <a:ext cx="96"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7" name="Line 47">
                <a:extLst>
                  <a:ext uri="{FF2B5EF4-FFF2-40B4-BE49-F238E27FC236}">
                    <a16:creationId xmlns:a16="http://schemas.microsoft.com/office/drawing/2014/main" id="{DF6367F4-FA10-4E80-A449-4D0DDD195445}"/>
                  </a:ext>
                </a:extLst>
              </p:cNvPr>
              <p:cNvSpPr>
                <a:spLocks noChangeShapeType="1"/>
              </p:cNvSpPr>
              <p:nvPr/>
            </p:nvSpPr>
            <p:spPr bwMode="auto">
              <a:xfrm flipH="1">
                <a:off x="4539" y="2784"/>
                <a:ext cx="288"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8" name="Line 48">
                <a:extLst>
                  <a:ext uri="{FF2B5EF4-FFF2-40B4-BE49-F238E27FC236}">
                    <a16:creationId xmlns:a16="http://schemas.microsoft.com/office/drawing/2014/main" id="{38E1DCDE-7B0B-476A-8C5C-9222BEECF7AC}"/>
                  </a:ext>
                </a:extLst>
              </p:cNvPr>
              <p:cNvSpPr>
                <a:spLocks noChangeShapeType="1"/>
              </p:cNvSpPr>
              <p:nvPr/>
            </p:nvSpPr>
            <p:spPr bwMode="auto">
              <a:xfrm flipH="1" flipV="1">
                <a:off x="4635" y="2640"/>
                <a:ext cx="19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9" name="Line 49">
                <a:extLst>
                  <a:ext uri="{FF2B5EF4-FFF2-40B4-BE49-F238E27FC236}">
                    <a16:creationId xmlns:a16="http://schemas.microsoft.com/office/drawing/2014/main" id="{4D945E20-9C07-42EF-B0E8-0E2D2A251DA3}"/>
                  </a:ext>
                </a:extLst>
              </p:cNvPr>
              <p:cNvSpPr>
                <a:spLocks noChangeShapeType="1"/>
              </p:cNvSpPr>
              <p:nvPr/>
            </p:nvSpPr>
            <p:spPr bwMode="auto">
              <a:xfrm>
                <a:off x="4896" y="3312"/>
                <a:ext cx="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0" name="Line 50">
                <a:extLst>
                  <a:ext uri="{FF2B5EF4-FFF2-40B4-BE49-F238E27FC236}">
                    <a16:creationId xmlns:a16="http://schemas.microsoft.com/office/drawing/2014/main" id="{B5F4F33B-B2CF-499C-B47F-35747A960AAB}"/>
                  </a:ext>
                </a:extLst>
              </p:cNvPr>
              <p:cNvSpPr>
                <a:spLocks noChangeShapeType="1"/>
              </p:cNvSpPr>
              <p:nvPr/>
            </p:nvSpPr>
            <p:spPr bwMode="auto">
              <a:xfrm flipH="1">
                <a:off x="4704" y="3312"/>
                <a:ext cx="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771" name="Line 51">
              <a:extLst>
                <a:ext uri="{FF2B5EF4-FFF2-40B4-BE49-F238E27FC236}">
                  <a16:creationId xmlns:a16="http://schemas.microsoft.com/office/drawing/2014/main" id="{4D5E2398-05F1-4DF5-80C7-333A98EA21FB}"/>
                </a:ext>
              </a:extLst>
            </p:cNvPr>
            <p:cNvSpPr>
              <a:spLocks noChangeShapeType="1"/>
            </p:cNvSpPr>
            <p:nvPr/>
          </p:nvSpPr>
          <p:spPr bwMode="auto">
            <a:xfrm>
              <a:off x="1116013" y="3789363"/>
              <a:ext cx="431800" cy="144462"/>
            </a:xfrm>
            <a:prstGeom prst="line">
              <a:avLst/>
            </a:prstGeom>
            <a:noFill/>
            <a:ln w="38100">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2" name="Line 52">
              <a:extLst>
                <a:ext uri="{FF2B5EF4-FFF2-40B4-BE49-F238E27FC236}">
                  <a16:creationId xmlns:a16="http://schemas.microsoft.com/office/drawing/2014/main" id="{DFA88CED-78E5-4E45-AF67-71F2CB5AAB63}"/>
                </a:ext>
              </a:extLst>
            </p:cNvPr>
            <p:cNvSpPr>
              <a:spLocks noChangeShapeType="1"/>
            </p:cNvSpPr>
            <p:nvPr/>
          </p:nvSpPr>
          <p:spPr bwMode="auto">
            <a:xfrm flipV="1">
              <a:off x="7451725" y="3716338"/>
              <a:ext cx="360363" cy="217487"/>
            </a:xfrm>
            <a:prstGeom prst="line">
              <a:avLst/>
            </a:prstGeom>
            <a:noFill/>
            <a:ln w="38100">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 name="Rectangle 3">
            <a:extLst>
              <a:ext uri="{FF2B5EF4-FFF2-40B4-BE49-F238E27FC236}">
                <a16:creationId xmlns:a16="http://schemas.microsoft.com/office/drawing/2014/main" id="{124FF858-5130-8299-903A-EEA7EC285B9E}"/>
              </a:ext>
            </a:extLst>
          </p:cNvPr>
          <p:cNvSpPr>
            <a:spLocks noGrp="1" noChangeArrowheads="1"/>
          </p:cNvSpPr>
          <p:nvPr>
            <p:ph type="title"/>
          </p:nvPr>
        </p:nvSpPr>
        <p:spPr>
          <a:xfrm>
            <a:off x="147228" y="219075"/>
            <a:ext cx="8480425" cy="803275"/>
          </a:xfrm>
        </p:spPr>
        <p:txBody>
          <a:bodyPr anchor="b" anchorCtr="0"/>
          <a:lstStyle/>
          <a:p>
            <a:pPr eaLnBrk="1" hangingPunct="1">
              <a:defRPr/>
            </a:pPr>
            <a:r>
              <a:rPr lang="en-US" altLang="zh-CN" b="1" dirty="0">
                <a:solidFill>
                  <a:schemeClr val="tx1"/>
                </a:solidFill>
                <a:effectLst>
                  <a:outerShdw blurRad="38100" dist="38100" dir="2700000" algn="tl">
                    <a:srgbClr val="010199"/>
                  </a:outerShdw>
                </a:effectLst>
                <a:latin typeface="楷体_GB2312" pitchFamily="49" charset="-122"/>
                <a:ea typeface="楷体_GB2312" pitchFamily="49" charset="-122"/>
              </a:rPr>
              <a:t>3.4.5</a:t>
            </a:r>
            <a:r>
              <a:rPr lang="zh-CN" altLang="en-US" b="1" dirty="0">
                <a:solidFill>
                  <a:schemeClr val="tx1"/>
                </a:solidFill>
                <a:effectLst>
                  <a:outerShdw blurRad="38100" dist="38100" dir="2700000" algn="tl">
                    <a:srgbClr val="010199"/>
                  </a:outerShdw>
                </a:effectLst>
                <a:latin typeface="楷体_GB2312" pitchFamily="49" charset="-122"/>
                <a:ea typeface="楷体_GB2312" pitchFamily="49" charset="-122"/>
              </a:rPr>
              <a:t>经典同步互斥问题</a:t>
            </a:r>
          </a:p>
        </p:txBody>
      </p:sp>
      <p:sp>
        <p:nvSpPr>
          <p:cNvPr id="73731" name="Rectangle 3">
            <a:extLst>
              <a:ext uri="{FF2B5EF4-FFF2-40B4-BE49-F238E27FC236}">
                <a16:creationId xmlns:a16="http://schemas.microsoft.com/office/drawing/2014/main" id="{FE559E79-A49B-4629-BF9F-1E4A82C95D10}"/>
              </a:ext>
            </a:extLst>
          </p:cNvPr>
          <p:cNvSpPr txBox="1">
            <a:spLocks noChangeArrowheads="1"/>
          </p:cNvSpPr>
          <p:nvPr/>
        </p:nvSpPr>
        <p:spPr>
          <a:xfrm>
            <a:off x="139326" y="1259191"/>
            <a:ext cx="8280400" cy="1539512"/>
          </a:xfrm>
          <a:prstGeom prst="rect">
            <a:avLst/>
          </a:prstGeom>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l"/>
              <a:defRPr sz="3200" kern="1200">
                <a:solidFill>
                  <a:schemeClr val="tx1"/>
                </a:solidFill>
                <a:effectLst>
                  <a:outerShdw blurRad="38100" dist="38100" dir="2700000" algn="tl">
                    <a:srgbClr val="010199"/>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l"/>
              <a:defRPr sz="2800" kern="1200">
                <a:solidFill>
                  <a:schemeClr val="tx1"/>
                </a:solidFill>
                <a:effectLst>
                  <a:outerShdw blurRad="38100" dist="38100" dir="2700000" algn="tl">
                    <a:srgbClr val="010199"/>
                  </a:outerShdw>
                </a:effectLst>
                <a:latin typeface="+mn-lt"/>
                <a:ea typeface="+mn-ea"/>
                <a:cs typeface="+mn-cs"/>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sz="2400" kern="1200">
                <a:solidFill>
                  <a:schemeClr val="tx1"/>
                </a:solidFill>
                <a:effectLst>
                  <a:outerShdw blurRad="38100" dist="38100" dir="2700000" algn="tl">
                    <a:srgbClr val="010199"/>
                  </a:outerShdw>
                </a:effectLst>
                <a:latin typeface="+mn-lt"/>
                <a:ea typeface="+mn-ea"/>
                <a:cs typeface="+mn-cs"/>
              </a:defRPr>
            </a:lvl3pPr>
            <a:lvl4pPr marL="1600200" indent="-228600" algn="l" rtl="0" eaLnBrk="0" fontAlgn="base" hangingPunct="0">
              <a:spcBef>
                <a:spcPct val="20000"/>
              </a:spcBef>
              <a:spcAft>
                <a:spcPct val="0"/>
              </a:spcAft>
              <a:buClr>
                <a:schemeClr val="folHlink"/>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4pPr>
            <a:lvl5pPr marL="2057400" indent="-228600" algn="l" rtl="0" eaLnBrk="0" fontAlgn="base" hangingPunct="0">
              <a:spcBef>
                <a:spcPct val="20000"/>
              </a:spcBef>
              <a:spcAft>
                <a:spcPct val="0"/>
              </a:spcAft>
              <a:buClr>
                <a:schemeClr val="tx1"/>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None/>
            </a:pPr>
            <a:r>
              <a:rPr lang="zh-CN" altLang="en-US" b="1" dirty="0">
                <a:solidFill>
                  <a:srgbClr val="FFFF00"/>
                </a:solidFill>
                <a:effectLst/>
                <a:latin typeface="黑体" panose="02010609060101010101" pitchFamily="49" charset="-122"/>
                <a:ea typeface="黑体" panose="02010609060101010101" pitchFamily="49" charset="-122"/>
              </a:rPr>
              <a:t> </a:t>
            </a: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生产者－消费者问题</a:t>
            </a:r>
          </a:p>
          <a:p>
            <a:pPr eaLnBrk="1" hangingPunct="1">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通过一个长度为</a:t>
            </a:r>
            <a:r>
              <a:rPr lang="en-US" altLang="zh-CN" sz="2400" b="1" dirty="0">
                <a:solidFill>
                  <a:srgbClr val="FFFF00"/>
                </a:solidFill>
                <a:effectLst/>
                <a:latin typeface="黑体" panose="02010609060101010101" pitchFamily="49" charset="-122"/>
                <a:ea typeface="黑体" panose="02010609060101010101" pitchFamily="49" charset="-122"/>
              </a:rPr>
              <a:t>n</a:t>
            </a:r>
            <a:r>
              <a:rPr lang="zh-CN" altLang="en-US" sz="2400" b="1" dirty="0">
                <a:solidFill>
                  <a:srgbClr val="FFFF00"/>
                </a:solidFill>
                <a:effectLst/>
                <a:latin typeface="黑体" panose="02010609060101010101" pitchFamily="49" charset="-122"/>
                <a:ea typeface="黑体" panose="02010609060101010101" pitchFamily="49" charset="-122"/>
              </a:rPr>
              <a:t>的有界缓冲区（</a:t>
            </a:r>
            <a:r>
              <a:rPr lang="en-US" altLang="zh-CN" sz="2400" b="1" dirty="0">
                <a:solidFill>
                  <a:srgbClr val="FFFF00"/>
                </a:solidFill>
                <a:effectLst/>
                <a:latin typeface="黑体" panose="02010609060101010101" pitchFamily="49" charset="-122"/>
                <a:ea typeface="黑体" panose="02010609060101010101" pitchFamily="49" charset="-122"/>
              </a:rPr>
              <a:t>n&gt;0</a:t>
            </a:r>
            <a:r>
              <a:rPr lang="zh-CN" altLang="en-US" sz="2400" b="1" dirty="0">
                <a:solidFill>
                  <a:srgbClr val="FFFF00"/>
                </a:solidFill>
                <a:effectLst/>
                <a:latin typeface="黑体" panose="02010609060101010101" pitchFamily="49" charset="-122"/>
                <a:ea typeface="黑体" panose="02010609060101010101" pitchFamily="49" charset="-122"/>
              </a:rPr>
              <a:t>）可以把一群生产者</a:t>
            </a:r>
            <a:r>
              <a:rPr lang="en-US" altLang="zh-CN" sz="2400" b="1" dirty="0">
                <a:solidFill>
                  <a:srgbClr val="FFFF00"/>
                </a:solidFill>
                <a:effectLst/>
                <a:latin typeface="黑体" panose="02010609060101010101" pitchFamily="49" charset="-122"/>
                <a:ea typeface="黑体" panose="02010609060101010101" pitchFamily="49" charset="-122"/>
              </a:rPr>
              <a:t>P1, P2</a:t>
            </a:r>
            <a:r>
              <a:rPr lang="en-US" altLang="zh-CN" sz="2400" b="1" dirty="0">
                <a:solidFill>
                  <a:srgbClr val="FFFF00"/>
                </a:solidFill>
                <a:effectLst/>
                <a:ea typeface="黑体" panose="02010609060101010101" pitchFamily="49" charset="-122"/>
              </a:rPr>
              <a:t>…</a:t>
            </a:r>
            <a:r>
              <a:rPr lang="en-US" altLang="zh-CN" sz="2400" b="1" dirty="0">
                <a:solidFill>
                  <a:srgbClr val="FFFF00"/>
                </a:solidFill>
                <a:effectLst/>
                <a:latin typeface="黑体" panose="02010609060101010101" pitchFamily="49" charset="-122"/>
                <a:ea typeface="黑体" panose="02010609060101010101" pitchFamily="49" charset="-122"/>
              </a:rPr>
              <a:t>, Pm</a:t>
            </a:r>
            <a:r>
              <a:rPr lang="zh-CN" altLang="en-US" sz="2400" b="1" dirty="0">
                <a:solidFill>
                  <a:srgbClr val="FFFF00"/>
                </a:solidFill>
                <a:effectLst/>
                <a:latin typeface="黑体" panose="02010609060101010101" pitchFamily="49" charset="-122"/>
                <a:ea typeface="黑体" panose="02010609060101010101" pitchFamily="49" charset="-122"/>
              </a:rPr>
              <a:t>，和一群消费者 </a:t>
            </a:r>
            <a:r>
              <a:rPr lang="en-US" altLang="zh-CN" sz="2400" b="1" dirty="0">
                <a:solidFill>
                  <a:srgbClr val="FFFF00"/>
                </a:solidFill>
                <a:effectLst/>
                <a:latin typeface="黑体" panose="02010609060101010101" pitchFamily="49" charset="-122"/>
                <a:ea typeface="黑体" panose="02010609060101010101" pitchFamily="49" charset="-122"/>
              </a:rPr>
              <a:t>C1, C2,</a:t>
            </a:r>
            <a:r>
              <a:rPr lang="en-US" altLang="zh-CN" sz="2400" b="1" dirty="0">
                <a:solidFill>
                  <a:srgbClr val="FFFF00"/>
                </a:solidFill>
                <a:effectLst/>
                <a:ea typeface="黑体" panose="02010609060101010101" pitchFamily="49" charset="-122"/>
              </a:rPr>
              <a:t>…</a:t>
            </a:r>
            <a:r>
              <a:rPr lang="en-US" altLang="zh-CN" sz="2400" b="1" dirty="0">
                <a:solidFill>
                  <a:srgbClr val="FFFF00"/>
                </a:solidFill>
                <a:effectLst/>
                <a:latin typeface="黑体" panose="02010609060101010101" pitchFamily="49" charset="-122"/>
                <a:ea typeface="黑体" panose="02010609060101010101" pitchFamily="49" charset="-122"/>
              </a:rPr>
              <a:t>, Ck</a:t>
            </a:r>
            <a:r>
              <a:rPr lang="zh-CN" altLang="en-US" sz="2400" b="1" dirty="0">
                <a:solidFill>
                  <a:srgbClr val="FFFF00"/>
                </a:solidFill>
                <a:effectLst/>
                <a:latin typeface="黑体" panose="02010609060101010101" pitchFamily="49" charset="-122"/>
                <a:ea typeface="黑体" panose="02010609060101010101" pitchFamily="49" charset="-122"/>
              </a:rPr>
              <a:t>联系起来</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1DB2F3D0-82D7-4DC4-AD0C-9C21B8E87164}"/>
              </a:ext>
            </a:extLst>
          </p:cNvPr>
          <p:cNvSpPr>
            <a:spLocks noGrp="1" noChangeArrowheads="1"/>
          </p:cNvSpPr>
          <p:nvPr>
            <p:ph type="title"/>
          </p:nvPr>
        </p:nvSpPr>
        <p:spPr>
          <a:xfrm>
            <a:off x="1403350" y="188913"/>
            <a:ext cx="6702425" cy="990600"/>
          </a:xfrm>
        </p:spPr>
        <p:txBody>
          <a:bodyPr/>
          <a:lstStyle/>
          <a:p>
            <a:pPr eaLnBrk="1" hangingPunct="1"/>
            <a:r>
              <a:rPr lang="zh-CN" altLang="en-US" b="1">
                <a:solidFill>
                  <a:schemeClr val="tx1"/>
                </a:solidFill>
                <a:effectLst/>
                <a:latin typeface="Times New Roman" panose="02020603050405020304" pitchFamily="18" charset="0"/>
              </a:rPr>
              <a:t>问题分析：</a:t>
            </a:r>
            <a:r>
              <a:rPr lang="zh-CN" altLang="en-US" b="1">
                <a:solidFill>
                  <a:schemeClr val="tx1"/>
                </a:solidFill>
                <a:effectLst/>
              </a:rPr>
              <a:t> </a:t>
            </a:r>
          </a:p>
        </p:txBody>
      </p:sp>
      <p:sp>
        <p:nvSpPr>
          <p:cNvPr id="423939" name="Rectangle 3">
            <a:extLst>
              <a:ext uri="{FF2B5EF4-FFF2-40B4-BE49-F238E27FC236}">
                <a16:creationId xmlns:a16="http://schemas.microsoft.com/office/drawing/2014/main" id="{89AEB082-A228-4654-825F-C04819E615CA}"/>
              </a:ext>
            </a:extLst>
          </p:cNvPr>
          <p:cNvSpPr>
            <a:spLocks noGrp="1" noChangeArrowheads="1"/>
          </p:cNvSpPr>
          <p:nvPr>
            <p:ph type="body" idx="1"/>
          </p:nvPr>
        </p:nvSpPr>
        <p:spPr>
          <a:xfrm>
            <a:off x="250825" y="1143000"/>
            <a:ext cx="8713788" cy="5381625"/>
          </a:xfrm>
        </p:spPr>
        <p:txBody>
          <a:bodyPr/>
          <a:lstStyle/>
          <a:p>
            <a:pPr eaLnBrk="1" hangingPunct="1">
              <a:lnSpc>
                <a:spcPct val="120000"/>
              </a:lnSpc>
            </a:pPr>
            <a:r>
              <a:rPr lang="en-US" altLang="zh-CN" b="1">
                <a:solidFill>
                  <a:srgbClr val="FFFF00"/>
                </a:solidFill>
                <a:effectLst/>
                <a:latin typeface="黑体" panose="02010609060101010101" pitchFamily="49" charset="-122"/>
                <a:ea typeface="黑体" panose="02010609060101010101" pitchFamily="49" charset="-122"/>
              </a:rPr>
              <a:t>①</a:t>
            </a:r>
            <a:r>
              <a:rPr lang="zh-CN" altLang="en-US" b="1">
                <a:solidFill>
                  <a:srgbClr val="FFFF00"/>
                </a:solidFill>
                <a:effectLst/>
                <a:latin typeface="黑体" panose="02010609060101010101" pitchFamily="49" charset="-122"/>
                <a:ea typeface="黑体" panose="02010609060101010101" pitchFamily="49" charset="-122"/>
              </a:rPr>
              <a:t>生产者</a:t>
            </a:r>
            <a:r>
              <a:rPr lang="en-US" altLang="zh-CN" b="1">
                <a:solidFill>
                  <a:srgbClr val="FFFF00"/>
                </a:solidFill>
                <a:effectLst/>
                <a:ea typeface="黑体" panose="02010609060101010101" pitchFamily="49" charset="-122"/>
              </a:rPr>
              <a:t>—</a:t>
            </a:r>
            <a:r>
              <a:rPr lang="zh-CN" altLang="en-US" b="1">
                <a:solidFill>
                  <a:srgbClr val="FFFF00"/>
                </a:solidFill>
                <a:effectLst/>
                <a:latin typeface="黑体" panose="02010609060101010101" pitchFamily="49" charset="-122"/>
                <a:ea typeface="黑体" panose="02010609060101010101" pitchFamily="49" charset="-122"/>
              </a:rPr>
              <a:t>消费者之间的</a:t>
            </a:r>
            <a:r>
              <a:rPr lang="zh-CN" altLang="en-US" b="1">
                <a:solidFill>
                  <a:srgbClr val="FF0000"/>
                </a:solidFill>
                <a:effectLst/>
                <a:latin typeface="黑体" panose="02010609060101010101" pitchFamily="49" charset="-122"/>
                <a:ea typeface="黑体" panose="02010609060101010101" pitchFamily="49" charset="-122"/>
              </a:rPr>
              <a:t>同步</a:t>
            </a:r>
            <a:r>
              <a:rPr lang="zh-CN" altLang="en-US" b="1">
                <a:solidFill>
                  <a:srgbClr val="FFFF00"/>
                </a:solidFill>
                <a:effectLst/>
                <a:latin typeface="黑体" panose="02010609060101010101" pitchFamily="49" charset="-122"/>
                <a:ea typeface="黑体" panose="02010609060101010101" pitchFamily="49" charset="-122"/>
              </a:rPr>
              <a:t>关系表现为：一旦缓冲区中所有单元均装满产品时，生产者必须</a:t>
            </a:r>
            <a:r>
              <a:rPr lang="zh-CN" altLang="en-US" b="1" u="sng">
                <a:solidFill>
                  <a:srgbClr val="FFFF00"/>
                </a:solidFill>
                <a:effectLst/>
                <a:latin typeface="黑体" panose="02010609060101010101" pitchFamily="49" charset="-122"/>
                <a:ea typeface="黑体" panose="02010609060101010101" pitchFamily="49" charset="-122"/>
              </a:rPr>
              <a:t>等待消费者提供空缓冲单元</a:t>
            </a:r>
            <a:r>
              <a:rPr lang="zh-CN" altLang="en-US" b="1">
                <a:solidFill>
                  <a:srgbClr val="FFFF00"/>
                </a:solidFill>
                <a:effectLst/>
                <a:latin typeface="黑体" panose="02010609060101010101" pitchFamily="49" charset="-122"/>
                <a:ea typeface="黑体" panose="02010609060101010101" pitchFamily="49" charset="-122"/>
              </a:rPr>
              <a:t>；一旦缓冲区中所有缓冲区全为空时，消费者必须</a:t>
            </a:r>
            <a:r>
              <a:rPr lang="zh-CN" altLang="en-US" b="1" u="sng">
                <a:solidFill>
                  <a:srgbClr val="FFFF00"/>
                </a:solidFill>
                <a:effectLst/>
                <a:latin typeface="黑体" panose="02010609060101010101" pitchFamily="49" charset="-122"/>
                <a:ea typeface="黑体" panose="02010609060101010101" pitchFamily="49" charset="-122"/>
              </a:rPr>
              <a:t>等待生产者提供满缓冲单元</a:t>
            </a:r>
            <a:r>
              <a:rPr lang="zh-CN" altLang="en-US" b="1">
                <a:solidFill>
                  <a:srgbClr val="FFFF00"/>
                </a:solidFill>
                <a:effectLst/>
                <a:latin typeface="黑体" panose="02010609060101010101" pitchFamily="49" charset="-122"/>
                <a:ea typeface="黑体" panose="02010609060101010101" pitchFamily="49" charset="-122"/>
              </a:rPr>
              <a:t> </a:t>
            </a:r>
          </a:p>
          <a:p>
            <a:pPr eaLnBrk="1" hangingPunct="1">
              <a:lnSpc>
                <a:spcPct val="120000"/>
              </a:lnSpc>
            </a:pPr>
            <a:r>
              <a:rPr lang="zh-CN" altLang="en-US" b="1">
                <a:solidFill>
                  <a:srgbClr val="FFFF00"/>
                </a:solidFill>
                <a:effectLst/>
                <a:latin typeface="黑体" panose="02010609060101010101" pitchFamily="49" charset="-122"/>
                <a:ea typeface="黑体" panose="02010609060101010101" pitchFamily="49" charset="-122"/>
              </a:rPr>
              <a:t>②生产者</a:t>
            </a:r>
            <a:r>
              <a:rPr lang="en-US" altLang="zh-CN" b="1">
                <a:solidFill>
                  <a:srgbClr val="FFFF00"/>
                </a:solidFill>
                <a:effectLst/>
                <a:ea typeface="黑体" panose="02010609060101010101" pitchFamily="49" charset="-122"/>
              </a:rPr>
              <a:t>—</a:t>
            </a:r>
            <a:r>
              <a:rPr lang="zh-CN" altLang="en-US" b="1">
                <a:solidFill>
                  <a:srgbClr val="FFFF00"/>
                </a:solidFill>
                <a:effectLst/>
                <a:latin typeface="黑体" panose="02010609060101010101" pitchFamily="49" charset="-122"/>
                <a:ea typeface="黑体" panose="02010609060101010101" pitchFamily="49" charset="-122"/>
              </a:rPr>
              <a:t>消费者之间还有</a:t>
            </a:r>
            <a:r>
              <a:rPr lang="zh-CN" altLang="en-US" b="1">
                <a:solidFill>
                  <a:srgbClr val="FF0000"/>
                </a:solidFill>
                <a:effectLst/>
                <a:latin typeface="黑体" panose="02010609060101010101" pitchFamily="49" charset="-122"/>
                <a:ea typeface="黑体" panose="02010609060101010101" pitchFamily="49" charset="-122"/>
              </a:rPr>
              <a:t>互斥</a:t>
            </a:r>
            <a:r>
              <a:rPr lang="zh-CN" altLang="en-US" b="1">
                <a:solidFill>
                  <a:srgbClr val="FFFF00"/>
                </a:solidFill>
                <a:effectLst/>
                <a:latin typeface="黑体" panose="02010609060101010101" pitchFamily="49" charset="-122"/>
                <a:ea typeface="黑体" panose="02010609060101010101" pitchFamily="49" charset="-122"/>
              </a:rPr>
              <a:t>关系：由于缓冲区是临界资源，所以任何进程在对缓冲区进行存取操作时都必须和其他进程互斥进行 </a:t>
            </a:r>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Effect transition="in" filter="wipe(up)">
                                      <p:cBhvr>
                                        <p:cTn id="7" dur="500"/>
                                        <p:tgtEl>
                                          <p:spTgt spid="42393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23939">
                                            <p:txEl>
                                              <p:pRg st="1" end="1"/>
                                            </p:txEl>
                                          </p:spTgt>
                                        </p:tgtEl>
                                        <p:attrNameLst>
                                          <p:attrName>style.visibility</p:attrName>
                                        </p:attrNameLst>
                                      </p:cBhvr>
                                      <p:to>
                                        <p:strVal val="visible"/>
                                      </p:to>
                                    </p:set>
                                    <p:animEffect transition="in" filter="wipe(up)">
                                      <p:cBhvr>
                                        <p:cTn id="12" dur="500"/>
                                        <p:tgtEl>
                                          <p:spTgt spid="42393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4962" name="Rectangle 2">
            <a:extLst>
              <a:ext uri="{FF2B5EF4-FFF2-40B4-BE49-F238E27FC236}">
                <a16:creationId xmlns:a16="http://schemas.microsoft.com/office/drawing/2014/main" id="{2406A064-4DF6-4836-8D54-50DB38B05D01}"/>
              </a:ext>
            </a:extLst>
          </p:cNvPr>
          <p:cNvSpPr>
            <a:spLocks noGrp="1" noChangeArrowheads="1"/>
          </p:cNvSpPr>
          <p:nvPr>
            <p:ph type="title"/>
          </p:nvPr>
        </p:nvSpPr>
        <p:spPr>
          <a:xfrm>
            <a:off x="323850" y="333375"/>
            <a:ext cx="8229600" cy="1139825"/>
          </a:xfrm>
        </p:spPr>
        <p:txBody>
          <a:bodyPr/>
          <a:lstStyle/>
          <a:p>
            <a:pPr eaLnBrk="1" hangingPunct="1">
              <a:defRPr/>
            </a:pPr>
            <a:r>
              <a:rPr lang="zh-CN" altLang="en-US">
                <a:latin typeface="Times New Roman" panose="02020603050405020304" pitchFamily="18" charset="0"/>
              </a:rPr>
              <a:t>问题解答</a:t>
            </a:r>
            <a:endParaRPr lang="zh-CN" altLang="en-US"/>
          </a:p>
        </p:txBody>
      </p:sp>
      <p:sp>
        <p:nvSpPr>
          <p:cNvPr id="424963" name="Rectangle 3">
            <a:extLst>
              <a:ext uri="{FF2B5EF4-FFF2-40B4-BE49-F238E27FC236}">
                <a16:creationId xmlns:a16="http://schemas.microsoft.com/office/drawing/2014/main" id="{74C189C9-A3E9-4A8D-A8C7-C4A9FAAF32EC}"/>
              </a:ext>
            </a:extLst>
          </p:cNvPr>
          <p:cNvSpPr>
            <a:spLocks noGrp="1" noChangeArrowheads="1"/>
          </p:cNvSpPr>
          <p:nvPr>
            <p:ph type="body" idx="1"/>
          </p:nvPr>
        </p:nvSpPr>
        <p:spPr>
          <a:xfrm>
            <a:off x="395288" y="1557338"/>
            <a:ext cx="8353425" cy="4608512"/>
          </a:xfrm>
        </p:spPr>
        <p:txBody>
          <a:bodyPr/>
          <a:lstStyle/>
          <a:p>
            <a:pPr eaLnBrk="1" hangingPunct="1"/>
            <a:r>
              <a:rPr lang="zh-CN" altLang="en-US" b="1">
                <a:solidFill>
                  <a:srgbClr val="FFFF00"/>
                </a:solidFill>
                <a:effectLst/>
                <a:latin typeface="黑体" panose="02010609060101010101" pitchFamily="49" charset="-122"/>
                <a:ea typeface="黑体" panose="02010609060101010101" pitchFamily="49" charset="-122"/>
              </a:rPr>
              <a:t>为解决同步问题，应该设两个同步信号量。</a:t>
            </a:r>
            <a:endParaRPr lang="en-US" altLang="zh-CN" b="1">
              <a:solidFill>
                <a:srgbClr val="FFFF00"/>
              </a:solidFill>
              <a:effectLst/>
              <a:latin typeface="黑体" panose="02010609060101010101" pitchFamily="49" charset="-122"/>
              <a:ea typeface="黑体" panose="02010609060101010101" pitchFamily="49" charset="-122"/>
            </a:endParaRPr>
          </a:p>
          <a:p>
            <a:pPr eaLnBrk="1" hangingPunct="1"/>
            <a:r>
              <a:rPr lang="zh-CN" altLang="en-US" b="1">
                <a:solidFill>
                  <a:srgbClr val="FFFF00"/>
                </a:solidFill>
                <a:effectLst/>
                <a:latin typeface="黑体" panose="02010609060101010101" pitchFamily="49" charset="-122"/>
                <a:ea typeface="黑体" panose="02010609060101010101" pitchFamily="49" charset="-122"/>
              </a:rPr>
              <a:t>设信号量</a:t>
            </a:r>
            <a:r>
              <a:rPr lang="en-US" altLang="zh-CN" b="1">
                <a:solidFill>
                  <a:srgbClr val="FFFF00"/>
                </a:solidFill>
                <a:effectLst/>
                <a:latin typeface="黑体" panose="02010609060101010101" pitchFamily="49" charset="-122"/>
                <a:ea typeface="黑体" panose="02010609060101010101" pitchFamily="49" charset="-122"/>
              </a:rPr>
              <a:t>empty</a:t>
            </a:r>
            <a:r>
              <a:rPr lang="zh-CN" altLang="en-US" b="1">
                <a:solidFill>
                  <a:srgbClr val="FFFF00"/>
                </a:solidFill>
                <a:effectLst/>
                <a:latin typeface="黑体" panose="02010609060101010101" pitchFamily="49" charset="-122"/>
                <a:ea typeface="黑体" panose="02010609060101010101" pitchFamily="49" charset="-122"/>
              </a:rPr>
              <a:t>为生产者的私用信号量，表示缓冲区中的空单元数目，初值为有界缓冲区的大小</a:t>
            </a:r>
            <a:r>
              <a:rPr lang="en-US" altLang="zh-CN" b="1">
                <a:solidFill>
                  <a:srgbClr val="FFFF00"/>
                </a:solidFill>
                <a:effectLst/>
                <a:latin typeface="黑体" panose="02010609060101010101" pitchFamily="49" charset="-122"/>
                <a:ea typeface="黑体" panose="02010609060101010101" pitchFamily="49" charset="-122"/>
              </a:rPr>
              <a:t>n</a:t>
            </a:r>
            <a:r>
              <a:rPr lang="zh-CN" altLang="en-US" b="1">
                <a:solidFill>
                  <a:srgbClr val="FFFF00"/>
                </a:solidFill>
                <a:effectLst/>
                <a:latin typeface="黑体" panose="02010609060101010101" pitchFamily="49" charset="-122"/>
                <a:ea typeface="黑体" panose="02010609060101010101" pitchFamily="49" charset="-122"/>
              </a:rPr>
              <a:t>；</a:t>
            </a:r>
            <a:endParaRPr lang="en-US" altLang="zh-CN" b="1">
              <a:solidFill>
                <a:srgbClr val="FFFF00"/>
              </a:solidFill>
              <a:effectLst/>
              <a:latin typeface="黑体" panose="02010609060101010101" pitchFamily="49" charset="-122"/>
              <a:ea typeface="黑体" panose="02010609060101010101" pitchFamily="49" charset="-122"/>
            </a:endParaRPr>
          </a:p>
          <a:p>
            <a:pPr eaLnBrk="1" hangingPunct="1"/>
            <a:r>
              <a:rPr lang="zh-CN" altLang="en-US" b="1">
                <a:solidFill>
                  <a:srgbClr val="FFFF00"/>
                </a:solidFill>
                <a:effectLst/>
                <a:latin typeface="黑体" panose="02010609060101010101" pitchFamily="49" charset="-122"/>
                <a:ea typeface="黑体" panose="02010609060101010101" pitchFamily="49" charset="-122"/>
              </a:rPr>
              <a:t>设信号量</a:t>
            </a:r>
            <a:r>
              <a:rPr lang="en-US" altLang="zh-CN" b="1">
                <a:solidFill>
                  <a:srgbClr val="FFFF00"/>
                </a:solidFill>
                <a:effectLst/>
                <a:latin typeface="黑体" panose="02010609060101010101" pitchFamily="49" charset="-122"/>
                <a:ea typeface="黑体" panose="02010609060101010101" pitchFamily="49" charset="-122"/>
              </a:rPr>
              <a:t>full</a:t>
            </a:r>
            <a:r>
              <a:rPr lang="zh-CN" altLang="en-US" b="1">
                <a:solidFill>
                  <a:srgbClr val="FFFF00"/>
                </a:solidFill>
                <a:effectLst/>
                <a:latin typeface="黑体" panose="02010609060101010101" pitchFamily="49" charset="-122"/>
                <a:ea typeface="黑体" panose="02010609060101010101" pitchFamily="49" charset="-122"/>
              </a:rPr>
              <a:t>为消费者进程的私用信号量，表示缓冲区中的非空单元数，初值为０</a:t>
            </a:r>
          </a:p>
        </p:txBody>
      </p:sp>
      <p:sp>
        <p:nvSpPr>
          <p:cNvPr id="3" name="文本框 2">
            <a:extLst>
              <a:ext uri="{FF2B5EF4-FFF2-40B4-BE49-F238E27FC236}">
                <a16:creationId xmlns:a16="http://schemas.microsoft.com/office/drawing/2014/main" id="{A1437717-F7B7-01E3-2F67-2DD0C53AF5F6}"/>
              </a:ext>
            </a:extLst>
          </p:cNvPr>
          <p:cNvSpPr txBox="1"/>
          <p:nvPr/>
        </p:nvSpPr>
        <p:spPr>
          <a:xfrm>
            <a:off x="2286000" y="5085184"/>
            <a:ext cx="4572000" cy="683264"/>
          </a:xfrm>
          <a:prstGeom prst="rect">
            <a:avLst/>
          </a:prstGeom>
          <a:noFill/>
        </p:spPr>
        <p:txBody>
          <a:bodyPr wrap="square">
            <a:spAutoFit/>
          </a:bodyPr>
          <a:lstStyle/>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semaphore empty=n;</a:t>
            </a:r>
          </a:p>
          <a:p>
            <a:pPr algn="just" eaLnBrk="1" hangingPunct="1">
              <a:lnSpc>
                <a:spcPct val="80000"/>
              </a:lnSpc>
            </a:pPr>
            <a:r>
              <a:rPr lang="en-US" altLang="zh-CN" sz="2400" b="1" dirty="0">
                <a:solidFill>
                  <a:srgbClr val="FFFF00"/>
                </a:solidFill>
                <a:effectLst/>
                <a:latin typeface="宋体" panose="02010600030101010101" pitchFamily="2" charset="-122"/>
                <a:cs typeface="Times New Roman" panose="02020603050405020304" pitchFamily="18" charset="0"/>
              </a:rPr>
              <a:t>semaphore full=0;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24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249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249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3"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5986" name="Rectangle 2">
            <a:extLst>
              <a:ext uri="{FF2B5EF4-FFF2-40B4-BE49-F238E27FC236}">
                <a16:creationId xmlns:a16="http://schemas.microsoft.com/office/drawing/2014/main" id="{37D9FBB9-3690-4550-8367-1CC89AF8ACCA}"/>
              </a:ext>
            </a:extLst>
          </p:cNvPr>
          <p:cNvSpPr>
            <a:spLocks noGrp="1" noChangeArrowheads="1"/>
          </p:cNvSpPr>
          <p:nvPr>
            <p:ph type="body" idx="1"/>
          </p:nvPr>
        </p:nvSpPr>
        <p:spPr>
          <a:xfrm>
            <a:off x="719138" y="1628775"/>
            <a:ext cx="7705725" cy="4824413"/>
          </a:xfrm>
        </p:spPr>
        <p:txBody>
          <a:bodyPr/>
          <a:lstStyle/>
          <a:p>
            <a:pPr eaLnBrk="1" hangingPunct="1"/>
            <a:r>
              <a:rPr lang="zh-CN" altLang="en-US" b="1" dirty="0">
                <a:solidFill>
                  <a:srgbClr val="FFFF00"/>
                </a:solidFill>
                <a:effectLst/>
                <a:latin typeface="黑体" panose="02010609060101010101" pitchFamily="49" charset="-122"/>
                <a:ea typeface="黑体" panose="02010609060101010101" pitchFamily="49" charset="-122"/>
              </a:rPr>
              <a:t>由于有界缓冲区是一个临界资源，必须互斥使用。为了解决互斥问题，还需要设置一个互斥信号量</a:t>
            </a:r>
            <a:r>
              <a:rPr lang="en-US" altLang="zh-CN" b="1" dirty="0">
                <a:solidFill>
                  <a:srgbClr val="FFFF00"/>
                </a:solidFill>
                <a:effectLst/>
                <a:latin typeface="黑体" panose="02010609060101010101" pitchFamily="49" charset="-122"/>
                <a:ea typeface="黑体" panose="02010609060101010101" pitchFamily="49" charset="-122"/>
              </a:rPr>
              <a:t>mutex</a:t>
            </a:r>
            <a:r>
              <a:rPr lang="zh-CN" altLang="en-US" b="1" dirty="0">
                <a:solidFill>
                  <a:srgbClr val="FFFF00"/>
                </a:solidFill>
                <a:effectLst/>
                <a:latin typeface="黑体" panose="02010609060101010101" pitchFamily="49" charset="-122"/>
                <a:ea typeface="黑体" panose="02010609060101010101" pitchFamily="49" charset="-122"/>
              </a:rPr>
              <a:t>，以保证同时只有一个进程能够进入临界区。其初值为１。</a:t>
            </a:r>
          </a:p>
        </p:txBody>
      </p:sp>
      <p:sp>
        <p:nvSpPr>
          <p:cNvPr id="2" name="文本框 1">
            <a:extLst>
              <a:ext uri="{FF2B5EF4-FFF2-40B4-BE49-F238E27FC236}">
                <a16:creationId xmlns:a16="http://schemas.microsoft.com/office/drawing/2014/main" id="{6843FA62-4C4B-E833-F1BE-9556A934C936}"/>
              </a:ext>
            </a:extLst>
          </p:cNvPr>
          <p:cNvSpPr txBox="1"/>
          <p:nvPr/>
        </p:nvSpPr>
        <p:spPr>
          <a:xfrm>
            <a:off x="2286000" y="5085184"/>
            <a:ext cx="4572000" cy="437043"/>
          </a:xfrm>
          <a:prstGeom prst="rect">
            <a:avLst/>
          </a:prstGeom>
          <a:noFill/>
        </p:spPr>
        <p:txBody>
          <a:bodyPr wrap="square">
            <a:spAutoFit/>
          </a:bodyPr>
          <a:lstStyle/>
          <a:p>
            <a:pPr algn="just" eaLnBrk="1" hangingPunct="1">
              <a:lnSpc>
                <a:spcPct val="80000"/>
              </a:lnSpc>
            </a:pPr>
            <a:r>
              <a:rPr lang="en-US" altLang="zh-CN" sz="2800" b="1" dirty="0">
                <a:solidFill>
                  <a:srgbClr val="FFFF00"/>
                </a:solidFill>
                <a:effectLst/>
                <a:latin typeface="宋体" panose="02010600030101010101" pitchFamily="2" charset="-122"/>
                <a:cs typeface="Times New Roman" panose="02020603050405020304" pitchFamily="18" charset="0"/>
              </a:rPr>
              <a:t>semaphore mutex=1;</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2598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6" grpId="0" build="p"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65293B02-EB9B-4BD0-9B56-362F94D710D8}"/>
              </a:ext>
            </a:extLst>
          </p:cNvPr>
          <p:cNvSpPr>
            <a:spLocks noGrp="1" noChangeArrowheads="1"/>
          </p:cNvSpPr>
          <p:nvPr>
            <p:ph type="title"/>
          </p:nvPr>
        </p:nvSpPr>
        <p:spPr>
          <a:xfrm>
            <a:off x="395288" y="0"/>
            <a:ext cx="8229600" cy="1139825"/>
          </a:xfrm>
        </p:spPr>
        <p:txBody>
          <a:bodyPr/>
          <a:lstStyle/>
          <a:p>
            <a:pPr eaLnBrk="1" hangingPunct="1"/>
            <a:r>
              <a:rPr lang="zh-CN" altLang="en-US" b="1">
                <a:solidFill>
                  <a:schemeClr val="tx1"/>
                </a:solidFill>
                <a:effectLst/>
                <a:latin typeface="Times New Roman" panose="02020603050405020304" pitchFamily="18" charset="0"/>
              </a:rPr>
              <a:t>问题的解</a:t>
            </a:r>
            <a:endParaRPr lang="zh-CN" altLang="en-US" b="1">
              <a:solidFill>
                <a:schemeClr val="tx1"/>
              </a:solidFill>
              <a:effectLst/>
            </a:endParaRPr>
          </a:p>
        </p:txBody>
      </p:sp>
      <p:sp>
        <p:nvSpPr>
          <p:cNvPr id="428035" name="Rectangle 3">
            <a:extLst>
              <a:ext uri="{FF2B5EF4-FFF2-40B4-BE49-F238E27FC236}">
                <a16:creationId xmlns:a16="http://schemas.microsoft.com/office/drawing/2014/main" id="{04066483-FC62-4076-A0DF-D436CC889823}"/>
              </a:ext>
            </a:extLst>
          </p:cNvPr>
          <p:cNvSpPr>
            <a:spLocks noGrp="1" noChangeArrowheads="1"/>
          </p:cNvSpPr>
          <p:nvPr>
            <p:ph type="body" sz="half" idx="1"/>
          </p:nvPr>
        </p:nvSpPr>
        <p:spPr>
          <a:xfrm>
            <a:off x="179388" y="1341438"/>
            <a:ext cx="4321175" cy="5327650"/>
          </a:xfrm>
        </p:spPr>
        <p:txBody>
          <a:bodyPr/>
          <a:lstStyle/>
          <a:p>
            <a:pPr eaLnBrk="1" hangingPunct="1">
              <a:lnSpc>
                <a:spcPct val="90000"/>
              </a:lnSpc>
              <a:buFont typeface="Wingdings" panose="05000000000000000000" pitchFamily="2" charset="2"/>
              <a:buNone/>
              <a:defRPr/>
            </a:pPr>
            <a:r>
              <a:rPr lang="en-US" altLang="zh-CN" b="1" dirty="0"/>
              <a:t>Deposit(){</a:t>
            </a:r>
            <a:br>
              <a:rPr lang="zh-CN" altLang="en-US" b="1" dirty="0"/>
            </a:br>
            <a:r>
              <a:rPr lang="en-US" altLang="zh-CN" b="1" dirty="0"/>
              <a:t>while(1){</a:t>
            </a:r>
            <a:br>
              <a:rPr lang="en-US" altLang="zh-CN" b="1" dirty="0"/>
            </a:br>
            <a:r>
              <a:rPr lang="en-US" altLang="zh-CN" b="1" dirty="0"/>
              <a:t>    </a:t>
            </a:r>
            <a:r>
              <a:rPr lang="zh-CN" altLang="en-US" b="1" dirty="0"/>
              <a:t>生产一个产品</a:t>
            </a:r>
            <a:r>
              <a:rPr lang="en-US" altLang="zh-CN" b="1" dirty="0"/>
              <a:t>;</a:t>
            </a:r>
            <a:endParaRPr lang="zh-CN" altLang="en-US" b="1" dirty="0"/>
          </a:p>
          <a:p>
            <a:pPr eaLnBrk="1" hangingPunct="1">
              <a:lnSpc>
                <a:spcPct val="90000"/>
              </a:lnSpc>
              <a:buFont typeface="Wingdings" panose="05000000000000000000" pitchFamily="2" charset="2"/>
              <a:buNone/>
              <a:defRPr/>
            </a:pPr>
            <a:r>
              <a:rPr lang="zh-CN" altLang="en-US" b="1" dirty="0">
                <a:solidFill>
                  <a:srgbClr val="FF0369"/>
                </a:solidFill>
                <a:effectLst>
                  <a:outerShdw blurRad="38100" dist="38100" dir="2700000" algn="tl">
                    <a:srgbClr val="FFFFFF"/>
                  </a:outerShdw>
                </a:effectLst>
              </a:rPr>
              <a:t>       </a:t>
            </a:r>
            <a:r>
              <a:rPr lang="en-US" altLang="zh-CN" b="1" dirty="0">
                <a:solidFill>
                  <a:srgbClr val="FF0369"/>
                </a:solidFill>
                <a:effectLst>
                  <a:outerShdw blurRad="38100" dist="38100" dir="2700000" algn="tl">
                    <a:srgbClr val="FFFFFF"/>
                  </a:outerShdw>
                </a:effectLst>
              </a:rPr>
              <a:t>P(empty) ;</a:t>
            </a:r>
            <a:br>
              <a:rPr lang="en-US" altLang="zh-CN" b="1" dirty="0">
                <a:solidFill>
                  <a:srgbClr val="FF0369"/>
                </a:solidFill>
                <a:effectLst>
                  <a:outerShdw blurRad="38100" dist="38100" dir="2700000" algn="tl">
                    <a:srgbClr val="FFFFFF"/>
                  </a:outerShdw>
                </a:effectLst>
              </a:rPr>
            </a:br>
            <a:r>
              <a:rPr lang="en-US" altLang="zh-CN" b="1" dirty="0">
                <a:solidFill>
                  <a:srgbClr val="FF0369"/>
                </a:solidFill>
                <a:effectLst>
                  <a:outerShdw blurRad="38100" dist="38100" dir="2700000" algn="tl">
                    <a:srgbClr val="FFFFFF"/>
                  </a:outerShdw>
                </a:effectLst>
              </a:rPr>
              <a:t>    P(mutex);</a:t>
            </a:r>
          </a:p>
          <a:p>
            <a:pPr eaLnBrk="1" hangingPunct="1">
              <a:lnSpc>
                <a:spcPct val="90000"/>
              </a:lnSpc>
              <a:buFont typeface="Wingdings" panose="05000000000000000000" pitchFamily="2" charset="2"/>
              <a:buNone/>
              <a:defRPr/>
            </a:pPr>
            <a:r>
              <a:rPr lang="en-US" altLang="zh-CN" b="1" dirty="0"/>
              <a:t>      </a:t>
            </a:r>
            <a:r>
              <a:rPr lang="zh-CN" altLang="en-US" b="1" dirty="0"/>
              <a:t>选择一个空单元放入产品</a:t>
            </a:r>
            <a:r>
              <a:rPr lang="en-US" altLang="zh-CN" b="1" dirty="0"/>
              <a:t>;</a:t>
            </a:r>
            <a:endParaRPr lang="zh-CN" altLang="en-US" b="1" dirty="0"/>
          </a:p>
          <a:p>
            <a:pPr eaLnBrk="1" hangingPunct="1">
              <a:lnSpc>
                <a:spcPct val="90000"/>
              </a:lnSpc>
              <a:buFont typeface="Wingdings" panose="05000000000000000000" pitchFamily="2" charset="2"/>
              <a:buNone/>
              <a:defRPr/>
            </a:pPr>
            <a:r>
              <a:rPr lang="zh-CN" altLang="en-US" b="1" dirty="0"/>
              <a:t>       </a:t>
            </a:r>
            <a:r>
              <a:rPr lang="en-US" altLang="zh-CN" b="1" dirty="0">
                <a:solidFill>
                  <a:srgbClr val="FF0369"/>
                </a:solidFill>
                <a:effectLst>
                  <a:outerShdw blurRad="38100" dist="38100" dir="2700000" algn="tl">
                    <a:srgbClr val="FFFFFF"/>
                  </a:outerShdw>
                </a:effectLst>
              </a:rPr>
              <a:t>V(mutex);</a:t>
            </a:r>
            <a:endParaRPr lang="en-US" altLang="zh-CN" b="1" dirty="0"/>
          </a:p>
          <a:p>
            <a:pPr eaLnBrk="1" hangingPunct="1">
              <a:lnSpc>
                <a:spcPct val="90000"/>
              </a:lnSpc>
              <a:buFont typeface="Wingdings" panose="05000000000000000000" pitchFamily="2" charset="2"/>
              <a:buNone/>
              <a:defRPr/>
            </a:pPr>
            <a:r>
              <a:rPr lang="en-US" altLang="zh-CN" b="1" dirty="0"/>
              <a:t>       </a:t>
            </a:r>
            <a:r>
              <a:rPr lang="en-US" altLang="zh-CN" b="1" dirty="0">
                <a:solidFill>
                  <a:srgbClr val="FF0369"/>
                </a:solidFill>
                <a:effectLst>
                  <a:outerShdw blurRad="38100" dist="38100" dir="2700000" algn="tl">
                    <a:srgbClr val="FFFFFF"/>
                  </a:outerShdw>
                </a:effectLst>
              </a:rPr>
              <a:t>V(full) ;}</a:t>
            </a:r>
            <a:br>
              <a:rPr lang="en-US" altLang="zh-CN" b="1" dirty="0">
                <a:solidFill>
                  <a:srgbClr val="FF0369"/>
                </a:solidFill>
                <a:effectLst>
                  <a:outerShdw blurRad="38100" dist="38100" dir="2700000" algn="tl">
                    <a:srgbClr val="FFFFFF"/>
                  </a:outerShdw>
                </a:effectLst>
              </a:rPr>
            </a:br>
            <a:r>
              <a:rPr lang="en-US" altLang="zh-CN" b="1" dirty="0">
                <a:solidFill>
                  <a:srgbClr val="FF0369"/>
                </a:solidFill>
                <a:effectLst>
                  <a:outerShdw blurRad="38100" dist="38100" dir="2700000" algn="tl">
                    <a:srgbClr val="FFFFFF"/>
                  </a:outerShdw>
                </a:effectLst>
              </a:rPr>
              <a:t>}</a:t>
            </a:r>
            <a:endParaRPr lang="en-US" altLang="zh-CN" b="1" dirty="0"/>
          </a:p>
        </p:txBody>
      </p:sp>
      <p:sp>
        <p:nvSpPr>
          <p:cNvPr id="428036" name="Rectangle 4">
            <a:extLst>
              <a:ext uri="{FF2B5EF4-FFF2-40B4-BE49-F238E27FC236}">
                <a16:creationId xmlns:a16="http://schemas.microsoft.com/office/drawing/2014/main" id="{246D51E0-DD35-40F9-96E0-C62CF7D147BD}"/>
              </a:ext>
            </a:extLst>
          </p:cNvPr>
          <p:cNvSpPr>
            <a:spLocks noChangeArrowheads="1"/>
          </p:cNvSpPr>
          <p:nvPr/>
        </p:nvSpPr>
        <p:spPr bwMode="auto">
          <a:xfrm>
            <a:off x="4572000" y="1196975"/>
            <a:ext cx="4343400" cy="5516563"/>
          </a:xfrm>
          <a:prstGeom prst="rect">
            <a:avLst/>
          </a:prstGeom>
          <a:noFill/>
          <a:ln>
            <a:noFill/>
          </a:ln>
          <a:effectLst/>
        </p:spPr>
        <p:txBody>
          <a:bodyPr/>
          <a:lstStyle>
            <a:lvl1pPr marL="342900" indent="-342900">
              <a:spcBef>
                <a:spcPct val="20000"/>
              </a:spcBef>
              <a:buClr>
                <a:schemeClr val="hlink"/>
              </a:buClr>
              <a:buSzPct val="75000"/>
              <a:buFont typeface="Wingdings" panose="05000000000000000000" pitchFamily="2" charset="2"/>
              <a:buChar char="l"/>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1"/>
              </a:buClr>
              <a:buSzPct val="75000"/>
              <a:buFont typeface="Wingdings" panose="05000000000000000000" pitchFamily="2" charset="2"/>
              <a:buChar char="l"/>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1"/>
              </a:buClr>
              <a:buSzPct val="75000"/>
              <a:buFont typeface="Wingdings" panose="05000000000000000000" pitchFamily="2" charset="2"/>
              <a:buChar char="l"/>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1"/>
              </a:buClr>
              <a:buSzPct val="75000"/>
              <a:buFont typeface="Wingdings" panose="05000000000000000000" pitchFamily="2" charset="2"/>
              <a:buChar char="l"/>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1"/>
              </a:buClr>
              <a:buSzPct val="75000"/>
              <a:buFont typeface="Wingdings" panose="05000000000000000000" pitchFamily="2" charset="2"/>
              <a:buChar char="l"/>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3200" b="1" dirty="0"/>
              <a:t>remove(){</a:t>
            </a:r>
            <a:br>
              <a:rPr lang="zh-CN" altLang="en-US" sz="3200" b="1" dirty="0"/>
            </a:br>
            <a:r>
              <a:rPr lang="en-US" altLang="zh-CN" sz="3600" b="1" dirty="0"/>
              <a:t>while(1){</a:t>
            </a:r>
            <a:br>
              <a:rPr lang="en-US" altLang="zh-CN" sz="3200" b="1" dirty="0"/>
            </a:br>
            <a:r>
              <a:rPr lang="en-US" altLang="zh-CN" sz="3200" b="1" dirty="0"/>
              <a:t>    </a:t>
            </a:r>
            <a:r>
              <a:rPr lang="en-US" altLang="zh-CN" sz="3200" b="1" dirty="0">
                <a:solidFill>
                  <a:srgbClr val="FF0369"/>
                </a:solidFill>
                <a:effectLst>
                  <a:outerShdw blurRad="38100" dist="38100" dir="2700000" algn="tl">
                    <a:srgbClr val="FFFFFF"/>
                  </a:outerShdw>
                </a:effectLst>
              </a:rPr>
              <a:t>P(full) ;</a:t>
            </a:r>
            <a:br>
              <a:rPr lang="en-US" altLang="zh-CN" sz="3200" b="1" dirty="0">
                <a:solidFill>
                  <a:srgbClr val="FF0369"/>
                </a:solidFill>
                <a:effectLst>
                  <a:outerShdw blurRad="38100" dist="38100" dir="2700000" algn="tl">
                    <a:srgbClr val="FFFFFF"/>
                  </a:outerShdw>
                </a:effectLst>
              </a:rPr>
            </a:br>
            <a:r>
              <a:rPr lang="en-US" altLang="zh-CN" sz="3200" b="1" dirty="0">
                <a:solidFill>
                  <a:srgbClr val="FF0369"/>
                </a:solidFill>
                <a:effectLst>
                  <a:outerShdw blurRad="38100" dist="38100" dir="2700000" algn="tl">
                    <a:srgbClr val="FFFFFF"/>
                  </a:outerShdw>
                </a:effectLst>
              </a:rPr>
              <a:t>    P(mutex);</a:t>
            </a:r>
          </a:p>
          <a:p>
            <a:pPr eaLnBrk="1" hangingPunct="1">
              <a:buFont typeface="Wingdings" panose="05000000000000000000" pitchFamily="2" charset="2"/>
              <a:buNone/>
              <a:defRPr/>
            </a:pPr>
            <a:r>
              <a:rPr lang="en-US" altLang="zh-CN" sz="3200" b="1" dirty="0"/>
              <a:t>       </a:t>
            </a:r>
            <a:r>
              <a:rPr lang="zh-CN" altLang="en-US" sz="3200" b="1" dirty="0"/>
              <a:t>选择一个满单元取走产品</a:t>
            </a:r>
            <a:r>
              <a:rPr lang="en-US" altLang="zh-CN" sz="3200" b="1" dirty="0"/>
              <a:t>;</a:t>
            </a:r>
            <a:endParaRPr lang="zh-CN" altLang="en-US" sz="3200" b="1" dirty="0"/>
          </a:p>
          <a:p>
            <a:pPr eaLnBrk="1" hangingPunct="1">
              <a:buFont typeface="Wingdings" panose="05000000000000000000" pitchFamily="2" charset="2"/>
              <a:buNone/>
              <a:defRPr/>
            </a:pPr>
            <a:r>
              <a:rPr lang="zh-CN" altLang="en-US" sz="3200" b="1" dirty="0"/>
              <a:t>       </a:t>
            </a:r>
            <a:r>
              <a:rPr lang="en-US" altLang="zh-CN" sz="3200" b="1" dirty="0">
                <a:solidFill>
                  <a:srgbClr val="FF0369"/>
                </a:solidFill>
                <a:effectLst>
                  <a:outerShdw blurRad="38100" dist="38100" dir="2700000" algn="tl">
                    <a:srgbClr val="FFFFFF"/>
                  </a:outerShdw>
                </a:effectLst>
              </a:rPr>
              <a:t>V(mutex);</a:t>
            </a:r>
            <a:endParaRPr lang="en-US" altLang="zh-CN" sz="3200" b="1" dirty="0"/>
          </a:p>
          <a:p>
            <a:pPr eaLnBrk="1" hangingPunct="1">
              <a:buFont typeface="Wingdings" panose="05000000000000000000" pitchFamily="2" charset="2"/>
              <a:buNone/>
              <a:defRPr/>
            </a:pPr>
            <a:r>
              <a:rPr lang="en-US" altLang="zh-CN" sz="3200" b="1" dirty="0"/>
              <a:t>       </a:t>
            </a:r>
            <a:r>
              <a:rPr lang="en-US" altLang="zh-CN" sz="3200" b="1" dirty="0">
                <a:solidFill>
                  <a:srgbClr val="FF0369"/>
                </a:solidFill>
                <a:effectLst>
                  <a:outerShdw blurRad="38100" dist="38100" dir="2700000" algn="tl">
                    <a:srgbClr val="FFFFFF"/>
                  </a:outerShdw>
                </a:effectLst>
              </a:rPr>
              <a:t>V(empty) ;</a:t>
            </a:r>
          </a:p>
          <a:p>
            <a:pPr eaLnBrk="1" hangingPunct="1">
              <a:buFont typeface="Wingdings" panose="05000000000000000000" pitchFamily="2" charset="2"/>
              <a:buNone/>
              <a:defRPr/>
            </a:pPr>
            <a:r>
              <a:rPr lang="en-US" altLang="zh-CN" sz="3200" b="1" dirty="0">
                <a:solidFill>
                  <a:srgbClr val="FF0369"/>
                </a:solidFill>
                <a:effectLst>
                  <a:outerShdw blurRad="38100" dist="38100" dir="2700000" algn="tl">
                    <a:srgbClr val="FFFFFF"/>
                  </a:outerShdw>
                </a:effectLst>
              </a:rPr>
              <a:t>       </a:t>
            </a:r>
            <a:r>
              <a:rPr lang="zh-CN" altLang="en-US" sz="3200" b="1" dirty="0"/>
              <a:t>消费产品</a:t>
            </a:r>
            <a:r>
              <a:rPr lang="en-US" altLang="zh-CN" sz="3600" b="1" dirty="0">
                <a:solidFill>
                  <a:srgbClr val="FF0369"/>
                </a:solidFill>
                <a:effectLst>
                  <a:outerShdw blurRad="38100" dist="38100" dir="2700000" algn="tl">
                    <a:srgbClr val="FFFFFF"/>
                  </a:outerShdw>
                </a:effectLst>
              </a:rPr>
              <a:t>;}</a:t>
            </a:r>
            <a:br>
              <a:rPr lang="en-US" altLang="zh-CN" sz="3600" b="1" dirty="0">
                <a:solidFill>
                  <a:srgbClr val="FF0369"/>
                </a:solidFill>
                <a:effectLst>
                  <a:outerShdw blurRad="38100" dist="38100" dir="2700000" algn="tl">
                    <a:srgbClr val="FFFFFF"/>
                  </a:outerShdw>
                </a:effectLst>
              </a:rPr>
            </a:br>
            <a:r>
              <a:rPr lang="en-US" altLang="zh-CN" sz="3600" b="1" dirty="0">
                <a:solidFill>
                  <a:srgbClr val="FF0369"/>
                </a:solidFill>
                <a:effectLst>
                  <a:outerShdw blurRad="38100" dist="38100" dir="2700000" algn="tl">
                    <a:srgbClr val="FFFFFF"/>
                  </a:outerShdw>
                </a:effectLst>
              </a:rPr>
              <a:t>}</a:t>
            </a:r>
            <a:endParaRPr lang="en-US" altLang="zh-CN" sz="3200" b="1" dirty="0"/>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a:extLst>
              <a:ext uri="{FF2B5EF4-FFF2-40B4-BE49-F238E27FC236}">
                <a16:creationId xmlns:a16="http://schemas.microsoft.com/office/drawing/2014/main" id="{26856EE8-1267-4C00-B27A-6A03380AA5A1}"/>
              </a:ext>
            </a:extLst>
          </p:cNvPr>
          <p:cNvSpPr>
            <a:spLocks noGrp="1" noChangeArrowheads="1"/>
          </p:cNvSpPr>
          <p:nvPr>
            <p:ph type="title"/>
          </p:nvPr>
        </p:nvSpPr>
        <p:spPr>
          <a:xfrm>
            <a:off x="179388" y="260350"/>
            <a:ext cx="8686800" cy="1139825"/>
          </a:xfrm>
        </p:spPr>
        <p:txBody>
          <a:bodyPr/>
          <a:lstStyle/>
          <a:p>
            <a:pPr eaLnBrk="1" hangingPunct="1">
              <a:defRPr/>
            </a:pPr>
            <a:r>
              <a:rPr lang="zh-CN" altLang="en-US"/>
              <a:t>如果将生产者的两个</a:t>
            </a:r>
            <a:r>
              <a:rPr lang="en-US" altLang="zh-CN"/>
              <a:t>P</a:t>
            </a:r>
            <a:r>
              <a:rPr lang="zh-CN" altLang="en-US"/>
              <a:t>操作对调？</a:t>
            </a:r>
          </a:p>
        </p:txBody>
      </p:sp>
      <p:sp>
        <p:nvSpPr>
          <p:cNvPr id="84995" name="Rectangle 3">
            <a:extLst>
              <a:ext uri="{FF2B5EF4-FFF2-40B4-BE49-F238E27FC236}">
                <a16:creationId xmlns:a16="http://schemas.microsoft.com/office/drawing/2014/main" id="{E7C76F7A-337D-433E-8B2B-0CCB936D2ED8}"/>
              </a:ext>
            </a:extLst>
          </p:cNvPr>
          <p:cNvSpPr>
            <a:spLocks noGrp="1" noChangeArrowheads="1"/>
          </p:cNvSpPr>
          <p:nvPr>
            <p:ph type="body" idx="1"/>
          </p:nvPr>
        </p:nvSpPr>
        <p:spPr>
          <a:xfrm>
            <a:off x="457200" y="1600200"/>
            <a:ext cx="8507413" cy="4530725"/>
          </a:xfrm>
        </p:spPr>
        <p:txBody>
          <a:bodyPr/>
          <a:lstStyle/>
          <a:p>
            <a:pPr eaLnBrk="1" hangingPunct="1">
              <a:spcBef>
                <a:spcPct val="10000"/>
              </a:spcBef>
            </a:pPr>
            <a:r>
              <a:rPr lang="zh-CN" altLang="en-US" b="1" u="sng">
                <a:solidFill>
                  <a:srgbClr val="FFFF00"/>
                </a:solidFill>
                <a:effectLst/>
                <a:latin typeface="黑体" panose="02010609060101010101" pitchFamily="49" charset="-122"/>
                <a:ea typeface="黑体" panose="02010609060101010101" pitchFamily="49" charset="-122"/>
              </a:rPr>
              <a:t>生产者</a:t>
            </a:r>
            <a:r>
              <a:rPr lang="en-US" altLang="zh-CN" b="1" u="sng" baseline="-30000">
                <a:solidFill>
                  <a:srgbClr val="FFFF00"/>
                </a:solidFill>
                <a:effectLst/>
                <a:latin typeface="黑体" panose="02010609060101010101" pitchFamily="49" charset="-122"/>
                <a:ea typeface="黑体" panose="02010609060101010101" pitchFamily="49" charset="-122"/>
              </a:rPr>
              <a:t>i </a:t>
            </a:r>
            <a:r>
              <a:rPr lang="en-US" altLang="zh-CN" b="1" baseline="-30000">
                <a:solidFill>
                  <a:srgbClr val="FFFF00"/>
                </a:solidFill>
                <a:effectLst/>
                <a:latin typeface="黑体" panose="02010609060101010101" pitchFamily="49" charset="-122"/>
                <a:ea typeface="黑体" panose="02010609060101010101" pitchFamily="49" charset="-122"/>
              </a:rPr>
              <a:t>                     </a:t>
            </a:r>
            <a:r>
              <a:rPr lang="en-US" altLang="zh-CN" b="1" u="sng" baseline="-30000">
                <a:solidFill>
                  <a:srgbClr val="FFFF00"/>
                </a:solidFill>
                <a:effectLst/>
                <a:latin typeface="黑体" panose="02010609060101010101" pitchFamily="49" charset="-122"/>
                <a:ea typeface="黑体" panose="02010609060101010101" pitchFamily="49" charset="-122"/>
              </a:rPr>
              <a:t> </a:t>
            </a:r>
            <a:r>
              <a:rPr lang="zh-CN" altLang="en-US" b="1" u="sng">
                <a:solidFill>
                  <a:srgbClr val="FFFF00"/>
                </a:solidFill>
                <a:effectLst/>
                <a:latin typeface="黑体" panose="02010609060101010101" pitchFamily="49" charset="-122"/>
                <a:ea typeface="黑体" panose="02010609060101010101" pitchFamily="49" charset="-122"/>
              </a:rPr>
              <a:t>消费者</a:t>
            </a:r>
            <a:r>
              <a:rPr lang="en-US" altLang="zh-CN" b="1" u="sng" baseline="-30000">
                <a:solidFill>
                  <a:srgbClr val="FFFF00"/>
                </a:solidFill>
                <a:effectLst/>
                <a:latin typeface="黑体" panose="02010609060101010101" pitchFamily="49" charset="-122"/>
                <a:ea typeface="黑体" panose="02010609060101010101" pitchFamily="49" charset="-122"/>
              </a:rPr>
              <a:t>j</a:t>
            </a:r>
            <a:endParaRPr lang="en-US" altLang="zh-CN" b="1" u="sng">
              <a:solidFill>
                <a:srgbClr val="FFFF00"/>
              </a:solidFill>
              <a:effectLst/>
              <a:latin typeface="黑体" panose="02010609060101010101" pitchFamily="49" charset="-122"/>
              <a:ea typeface="黑体" panose="02010609060101010101" pitchFamily="49" charset="-122"/>
            </a:endParaRPr>
          </a:p>
          <a:p>
            <a:pPr eaLnBrk="1" hangingPunct="1">
              <a:lnSpc>
                <a:spcPct val="210000"/>
              </a:lnSpc>
              <a:spcBef>
                <a:spcPct val="10000"/>
              </a:spcBef>
            </a:pPr>
            <a:r>
              <a:rPr lang="zh-CN" altLang="en-US" b="1">
                <a:solidFill>
                  <a:srgbClr val="FFFF00"/>
                </a:solidFill>
                <a:effectLst/>
                <a:latin typeface="黑体" panose="02010609060101010101" pitchFamily="49" charset="-122"/>
                <a:ea typeface="黑体" panose="02010609060101010101" pitchFamily="49" charset="-122"/>
              </a:rPr>
              <a:t>生产出一产品；      </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full</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spcBef>
                <a:spcPct val="10000"/>
              </a:spcBef>
            </a:pP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mutex</a:t>
            </a:r>
            <a:r>
              <a:rPr lang="zh-CN" altLang="en-US" b="1">
                <a:solidFill>
                  <a:srgbClr val="FFFF00"/>
                </a:solidFill>
                <a:effectLst/>
                <a:latin typeface="黑体" panose="02010609060101010101" pitchFamily="49" charset="-122"/>
                <a:ea typeface="黑体" panose="02010609060101010101" pitchFamily="49" charset="-122"/>
              </a:rPr>
              <a:t>） ；       </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mutex</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spcBef>
                <a:spcPct val="10000"/>
              </a:spcBef>
            </a:pP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empty</a:t>
            </a:r>
            <a:r>
              <a:rPr lang="zh-CN" altLang="en-US" b="1">
                <a:solidFill>
                  <a:srgbClr val="FFFF00"/>
                </a:solidFill>
                <a:effectLst/>
                <a:latin typeface="黑体" panose="02010609060101010101" pitchFamily="49" charset="-122"/>
                <a:ea typeface="黑体" panose="02010609060101010101" pitchFamily="49" charset="-122"/>
              </a:rPr>
              <a:t>） ；      </a:t>
            </a:r>
            <a:r>
              <a:rPr lang="zh-CN" altLang="en-US" b="1" i="1">
                <a:solidFill>
                  <a:srgbClr val="FFFF00"/>
                </a:solidFill>
                <a:effectLst/>
                <a:latin typeface="黑体" panose="02010609060101010101" pitchFamily="49" charset="-122"/>
                <a:ea typeface="黑体" panose="02010609060101010101" pitchFamily="49" charset="-122"/>
              </a:rPr>
              <a:t>从缓冲区取出一产品；</a:t>
            </a:r>
          </a:p>
          <a:p>
            <a:pPr eaLnBrk="1" hangingPunct="1">
              <a:spcBef>
                <a:spcPct val="10000"/>
              </a:spcBef>
            </a:pPr>
            <a:r>
              <a:rPr lang="zh-CN" altLang="en-US" b="1" i="1">
                <a:solidFill>
                  <a:srgbClr val="FFFF00"/>
                </a:solidFill>
                <a:effectLst/>
                <a:latin typeface="黑体" panose="02010609060101010101" pitchFamily="49" charset="-122"/>
                <a:ea typeface="黑体" panose="02010609060101010101" pitchFamily="49" charset="-122"/>
              </a:rPr>
              <a:t>将该产品放入缓冲区</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mutex</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spcBef>
                <a:spcPct val="10000"/>
              </a:spcBef>
            </a:pP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mutex</a:t>
            </a:r>
            <a:r>
              <a:rPr lang="zh-CN" altLang="en-US" b="1">
                <a:solidFill>
                  <a:srgbClr val="FFFF00"/>
                </a:solidFill>
                <a:effectLst/>
                <a:latin typeface="黑体" panose="02010609060101010101" pitchFamily="49" charset="-122"/>
                <a:ea typeface="黑体" panose="02010609060101010101" pitchFamily="49" charset="-122"/>
              </a:rPr>
              <a:t>） ；      </a:t>
            </a: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empty</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spcBef>
                <a:spcPct val="10000"/>
              </a:spcBef>
            </a:pP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full</a:t>
            </a:r>
            <a:r>
              <a:rPr lang="zh-CN" altLang="en-US" b="1">
                <a:solidFill>
                  <a:srgbClr val="FFFF00"/>
                </a:solidFill>
                <a:effectLst/>
                <a:latin typeface="黑体" panose="02010609060101010101" pitchFamily="49" charset="-122"/>
                <a:ea typeface="黑体" panose="02010609060101010101" pitchFamily="49" charset="-122"/>
              </a:rPr>
              <a:t>） ；       消费该产品；</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a:extLst>
              <a:ext uri="{FF2B5EF4-FFF2-40B4-BE49-F238E27FC236}">
                <a16:creationId xmlns:a16="http://schemas.microsoft.com/office/drawing/2014/main" id="{DB2A7325-F319-428B-992C-CF38F3BF04BB}"/>
              </a:ext>
            </a:extLst>
          </p:cNvPr>
          <p:cNvSpPr>
            <a:spLocks noGrp="1" noChangeArrowheads="1"/>
          </p:cNvSpPr>
          <p:nvPr>
            <p:ph type="title"/>
          </p:nvPr>
        </p:nvSpPr>
        <p:spPr/>
        <p:txBody>
          <a:bodyPr/>
          <a:lstStyle/>
          <a:p>
            <a:pPr eaLnBrk="1" hangingPunct="1">
              <a:defRPr/>
            </a:pPr>
            <a:r>
              <a:rPr lang="zh-CN" altLang="en-US" sz="4000"/>
              <a:t>如果将消费者的两个</a:t>
            </a:r>
            <a:r>
              <a:rPr lang="en-US" altLang="zh-CN" sz="4000"/>
              <a:t>P</a:t>
            </a:r>
            <a:r>
              <a:rPr lang="zh-CN" altLang="en-US" sz="4000"/>
              <a:t>操作对调？</a:t>
            </a:r>
          </a:p>
        </p:txBody>
      </p:sp>
      <p:sp>
        <p:nvSpPr>
          <p:cNvPr id="87043" name="Rectangle 3">
            <a:extLst>
              <a:ext uri="{FF2B5EF4-FFF2-40B4-BE49-F238E27FC236}">
                <a16:creationId xmlns:a16="http://schemas.microsoft.com/office/drawing/2014/main" id="{271F7812-6561-476D-93B3-40EFD65ED6F8}"/>
              </a:ext>
            </a:extLst>
          </p:cNvPr>
          <p:cNvSpPr>
            <a:spLocks noGrp="1" noChangeArrowheads="1"/>
          </p:cNvSpPr>
          <p:nvPr>
            <p:ph type="body" idx="1"/>
          </p:nvPr>
        </p:nvSpPr>
        <p:spPr>
          <a:xfrm>
            <a:off x="457200" y="1600200"/>
            <a:ext cx="8291513" cy="4924425"/>
          </a:xfrm>
        </p:spPr>
        <p:txBody>
          <a:bodyPr/>
          <a:lstStyle/>
          <a:p>
            <a:pPr eaLnBrk="1" hangingPunct="1">
              <a:lnSpc>
                <a:spcPct val="90000"/>
              </a:lnSpc>
            </a:pPr>
            <a:r>
              <a:rPr lang="zh-CN" altLang="en-US" b="1" u="sng">
                <a:solidFill>
                  <a:srgbClr val="FFFF00"/>
                </a:solidFill>
                <a:effectLst/>
                <a:latin typeface="黑体" panose="02010609060101010101" pitchFamily="49" charset="-122"/>
                <a:ea typeface="黑体" panose="02010609060101010101" pitchFamily="49" charset="-122"/>
              </a:rPr>
              <a:t>生产者</a:t>
            </a:r>
            <a:r>
              <a:rPr lang="en-US" altLang="zh-CN" b="1" u="sng" baseline="-30000">
                <a:solidFill>
                  <a:srgbClr val="FFFF00"/>
                </a:solidFill>
                <a:effectLst/>
                <a:latin typeface="黑体" panose="02010609060101010101" pitchFamily="49" charset="-122"/>
                <a:ea typeface="黑体" panose="02010609060101010101" pitchFamily="49" charset="-122"/>
              </a:rPr>
              <a:t>i </a:t>
            </a:r>
            <a:r>
              <a:rPr lang="en-US" altLang="zh-CN" b="1" baseline="-30000">
                <a:solidFill>
                  <a:srgbClr val="FFFF00"/>
                </a:solidFill>
                <a:effectLst/>
                <a:latin typeface="黑体" panose="02010609060101010101" pitchFamily="49" charset="-122"/>
                <a:ea typeface="黑体" panose="02010609060101010101" pitchFamily="49" charset="-122"/>
              </a:rPr>
              <a:t>                    </a:t>
            </a:r>
            <a:r>
              <a:rPr lang="en-US" altLang="zh-CN" b="1" u="sng" baseline="-30000">
                <a:solidFill>
                  <a:srgbClr val="FFFF00"/>
                </a:solidFill>
                <a:effectLst/>
                <a:latin typeface="黑体" panose="02010609060101010101" pitchFamily="49" charset="-122"/>
                <a:ea typeface="黑体" panose="02010609060101010101" pitchFamily="49" charset="-122"/>
              </a:rPr>
              <a:t> </a:t>
            </a:r>
            <a:r>
              <a:rPr lang="zh-CN" altLang="en-US" b="1" u="sng">
                <a:solidFill>
                  <a:srgbClr val="FFFF00"/>
                </a:solidFill>
                <a:effectLst/>
                <a:latin typeface="黑体" panose="02010609060101010101" pitchFamily="49" charset="-122"/>
                <a:ea typeface="黑体" panose="02010609060101010101" pitchFamily="49" charset="-122"/>
              </a:rPr>
              <a:t>消费者</a:t>
            </a:r>
            <a:r>
              <a:rPr lang="en-US" altLang="zh-CN" b="1" u="sng" baseline="-30000">
                <a:solidFill>
                  <a:srgbClr val="FFFF00"/>
                </a:solidFill>
                <a:effectLst/>
                <a:latin typeface="黑体" panose="02010609060101010101" pitchFamily="49" charset="-122"/>
                <a:ea typeface="黑体" panose="02010609060101010101" pitchFamily="49" charset="-122"/>
              </a:rPr>
              <a:t>j</a:t>
            </a:r>
            <a:endParaRPr lang="en-US" altLang="zh-CN" b="1" u="sng">
              <a:solidFill>
                <a:srgbClr val="FFFF00"/>
              </a:solidFill>
              <a:effectLst/>
              <a:latin typeface="黑体" panose="02010609060101010101" pitchFamily="49" charset="-122"/>
              <a:ea typeface="黑体" panose="02010609060101010101" pitchFamily="49" charset="-122"/>
            </a:endParaRPr>
          </a:p>
          <a:p>
            <a:pPr eaLnBrk="1" hangingPunct="1">
              <a:lnSpc>
                <a:spcPct val="210000"/>
              </a:lnSpc>
            </a:pPr>
            <a:r>
              <a:rPr lang="zh-CN" altLang="en-US" b="1">
                <a:solidFill>
                  <a:srgbClr val="FFFF00"/>
                </a:solidFill>
                <a:effectLst/>
                <a:latin typeface="黑体" panose="02010609060101010101" pitchFamily="49" charset="-122"/>
                <a:ea typeface="黑体" panose="02010609060101010101" pitchFamily="49" charset="-122"/>
              </a:rPr>
              <a:t>生产出一产品；       </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mutex</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lnSpc>
                <a:spcPct val="90000"/>
              </a:lnSpc>
            </a:pP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empty </a:t>
            </a:r>
            <a:r>
              <a:rPr lang="zh-CN" altLang="en-US" b="1">
                <a:solidFill>
                  <a:srgbClr val="FFFF00"/>
                </a:solidFill>
                <a:effectLst/>
                <a:latin typeface="黑体" panose="02010609060101010101" pitchFamily="49" charset="-122"/>
                <a:ea typeface="黑体" panose="02010609060101010101" pitchFamily="49" charset="-122"/>
              </a:rPr>
              <a:t>） ；      </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full</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lnSpc>
                <a:spcPct val="90000"/>
              </a:lnSpc>
            </a:pP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mutex </a:t>
            </a:r>
            <a:r>
              <a:rPr lang="zh-CN" altLang="en-US" b="1">
                <a:solidFill>
                  <a:srgbClr val="FFFF00"/>
                </a:solidFill>
                <a:effectLst/>
                <a:latin typeface="黑体" panose="02010609060101010101" pitchFamily="49" charset="-122"/>
                <a:ea typeface="黑体" panose="02010609060101010101" pitchFamily="49" charset="-122"/>
              </a:rPr>
              <a:t>） ；    </a:t>
            </a:r>
            <a:r>
              <a:rPr lang="zh-CN" altLang="en-US" b="1" i="1">
                <a:solidFill>
                  <a:srgbClr val="FFFF00"/>
                </a:solidFill>
                <a:effectLst/>
                <a:latin typeface="黑体" panose="02010609060101010101" pitchFamily="49" charset="-122"/>
                <a:ea typeface="黑体" panose="02010609060101010101" pitchFamily="49" charset="-122"/>
              </a:rPr>
              <a:t>缓冲区取出一产品；</a:t>
            </a:r>
          </a:p>
          <a:p>
            <a:pPr eaLnBrk="1" hangingPunct="1">
              <a:lnSpc>
                <a:spcPct val="90000"/>
              </a:lnSpc>
            </a:pPr>
            <a:r>
              <a:rPr lang="zh-CN" altLang="en-US" b="1" i="1">
                <a:solidFill>
                  <a:srgbClr val="FFFF00"/>
                </a:solidFill>
                <a:effectLst/>
                <a:latin typeface="黑体" panose="02010609060101010101" pitchFamily="49" charset="-122"/>
                <a:ea typeface="黑体" panose="02010609060101010101" pitchFamily="49" charset="-122"/>
              </a:rPr>
              <a:t>将该产品放入缓冲区</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mutex</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lnSpc>
                <a:spcPct val="90000"/>
              </a:lnSpc>
            </a:pP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mutex </a:t>
            </a:r>
            <a:r>
              <a:rPr lang="zh-CN" altLang="en-US" b="1">
                <a:solidFill>
                  <a:srgbClr val="FFFF00"/>
                </a:solidFill>
                <a:effectLst/>
                <a:latin typeface="黑体" panose="02010609060101010101" pitchFamily="49" charset="-122"/>
                <a:ea typeface="黑体" panose="02010609060101010101" pitchFamily="49" charset="-122"/>
              </a:rPr>
              <a:t>） ；      </a:t>
            </a: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empty</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lnSpc>
                <a:spcPct val="90000"/>
              </a:lnSpc>
            </a:pP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full </a:t>
            </a:r>
            <a:r>
              <a:rPr lang="zh-CN" altLang="en-US" b="1">
                <a:solidFill>
                  <a:srgbClr val="FFFF00"/>
                </a:solidFill>
                <a:effectLst/>
                <a:latin typeface="黑体" panose="02010609060101010101" pitchFamily="49" charset="-122"/>
                <a:ea typeface="黑体" panose="02010609060101010101" pitchFamily="49" charset="-122"/>
              </a:rPr>
              <a:t>） ；       消费该产品；</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1D1E1202-1BCA-46A3-AFA7-59AC707083B0}"/>
              </a:ext>
            </a:extLst>
          </p:cNvPr>
          <p:cNvSpPr>
            <a:spLocks noGrp="1" noChangeArrowheads="1"/>
          </p:cNvSpPr>
          <p:nvPr>
            <p:ph type="title"/>
          </p:nvPr>
        </p:nvSpPr>
        <p:spPr/>
        <p:txBody>
          <a:bodyPr/>
          <a:lstStyle/>
          <a:p>
            <a:pPr eaLnBrk="1" hangingPunct="1">
              <a:defRPr/>
            </a:pPr>
            <a:r>
              <a:rPr lang="zh-CN" altLang="en-US"/>
              <a:t>如果将两个</a:t>
            </a:r>
            <a:r>
              <a:rPr lang="en-US" altLang="zh-CN"/>
              <a:t>V</a:t>
            </a:r>
            <a:r>
              <a:rPr lang="zh-CN" altLang="en-US"/>
              <a:t>操作对调？</a:t>
            </a:r>
          </a:p>
        </p:txBody>
      </p:sp>
      <p:sp>
        <p:nvSpPr>
          <p:cNvPr id="89091" name="Rectangle 3">
            <a:extLst>
              <a:ext uri="{FF2B5EF4-FFF2-40B4-BE49-F238E27FC236}">
                <a16:creationId xmlns:a16="http://schemas.microsoft.com/office/drawing/2014/main" id="{77AAB2F4-C826-4389-9864-847EEC38E4E2}"/>
              </a:ext>
            </a:extLst>
          </p:cNvPr>
          <p:cNvSpPr>
            <a:spLocks noGrp="1" noChangeArrowheads="1"/>
          </p:cNvSpPr>
          <p:nvPr>
            <p:ph type="body" idx="1"/>
          </p:nvPr>
        </p:nvSpPr>
        <p:spPr>
          <a:xfrm>
            <a:off x="457200" y="1600200"/>
            <a:ext cx="8291513" cy="4924425"/>
          </a:xfrm>
        </p:spPr>
        <p:txBody>
          <a:bodyPr/>
          <a:lstStyle/>
          <a:p>
            <a:pPr eaLnBrk="1" hangingPunct="1">
              <a:lnSpc>
                <a:spcPct val="90000"/>
              </a:lnSpc>
            </a:pPr>
            <a:r>
              <a:rPr lang="zh-CN" altLang="en-US" b="1" u="sng">
                <a:solidFill>
                  <a:srgbClr val="FFFF00"/>
                </a:solidFill>
                <a:effectLst/>
                <a:latin typeface="黑体" panose="02010609060101010101" pitchFamily="49" charset="-122"/>
                <a:ea typeface="黑体" panose="02010609060101010101" pitchFamily="49" charset="-122"/>
              </a:rPr>
              <a:t>生产者</a:t>
            </a:r>
            <a:r>
              <a:rPr lang="en-US" altLang="zh-CN" b="1" u="sng" baseline="-30000">
                <a:solidFill>
                  <a:srgbClr val="FFFF00"/>
                </a:solidFill>
                <a:effectLst/>
                <a:latin typeface="黑体" panose="02010609060101010101" pitchFamily="49" charset="-122"/>
                <a:ea typeface="黑体" panose="02010609060101010101" pitchFamily="49" charset="-122"/>
              </a:rPr>
              <a:t>i </a:t>
            </a:r>
            <a:r>
              <a:rPr lang="en-US" altLang="zh-CN" b="1" baseline="-30000">
                <a:solidFill>
                  <a:srgbClr val="FFFF00"/>
                </a:solidFill>
                <a:effectLst/>
                <a:latin typeface="黑体" panose="02010609060101010101" pitchFamily="49" charset="-122"/>
                <a:ea typeface="黑体" panose="02010609060101010101" pitchFamily="49" charset="-122"/>
              </a:rPr>
              <a:t>                    </a:t>
            </a:r>
            <a:r>
              <a:rPr lang="en-US" altLang="zh-CN" b="1" u="sng" baseline="-30000">
                <a:solidFill>
                  <a:srgbClr val="FFFF00"/>
                </a:solidFill>
                <a:effectLst/>
                <a:latin typeface="黑体" panose="02010609060101010101" pitchFamily="49" charset="-122"/>
                <a:ea typeface="黑体" panose="02010609060101010101" pitchFamily="49" charset="-122"/>
              </a:rPr>
              <a:t> </a:t>
            </a:r>
            <a:r>
              <a:rPr lang="zh-CN" altLang="en-US" b="1" u="sng">
                <a:solidFill>
                  <a:srgbClr val="FFFF00"/>
                </a:solidFill>
                <a:effectLst/>
                <a:latin typeface="黑体" panose="02010609060101010101" pitchFamily="49" charset="-122"/>
                <a:ea typeface="黑体" panose="02010609060101010101" pitchFamily="49" charset="-122"/>
              </a:rPr>
              <a:t>消费者</a:t>
            </a:r>
            <a:r>
              <a:rPr lang="en-US" altLang="zh-CN" b="1" u="sng" baseline="-30000">
                <a:solidFill>
                  <a:srgbClr val="FFFF00"/>
                </a:solidFill>
                <a:effectLst/>
                <a:latin typeface="黑体" panose="02010609060101010101" pitchFamily="49" charset="-122"/>
                <a:ea typeface="黑体" panose="02010609060101010101" pitchFamily="49" charset="-122"/>
              </a:rPr>
              <a:t>j</a:t>
            </a:r>
            <a:endParaRPr lang="en-US" altLang="zh-CN" b="1" u="sng">
              <a:solidFill>
                <a:srgbClr val="FFFF00"/>
              </a:solidFill>
              <a:effectLst/>
              <a:latin typeface="黑体" panose="02010609060101010101" pitchFamily="49" charset="-122"/>
              <a:ea typeface="黑体" panose="02010609060101010101" pitchFamily="49" charset="-122"/>
            </a:endParaRPr>
          </a:p>
          <a:p>
            <a:pPr eaLnBrk="1" hangingPunct="1">
              <a:lnSpc>
                <a:spcPct val="210000"/>
              </a:lnSpc>
            </a:pPr>
            <a:r>
              <a:rPr lang="zh-CN" altLang="en-US" b="1">
                <a:solidFill>
                  <a:srgbClr val="FFFF00"/>
                </a:solidFill>
                <a:effectLst/>
                <a:latin typeface="黑体" panose="02010609060101010101" pitchFamily="49" charset="-122"/>
                <a:ea typeface="黑体" panose="02010609060101010101" pitchFamily="49" charset="-122"/>
              </a:rPr>
              <a:t>生产出一产品；       </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full </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lnSpc>
                <a:spcPct val="90000"/>
              </a:lnSpc>
            </a:pP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empty </a:t>
            </a:r>
            <a:r>
              <a:rPr lang="zh-CN" altLang="en-US" b="1">
                <a:solidFill>
                  <a:srgbClr val="FFFF00"/>
                </a:solidFill>
                <a:effectLst/>
                <a:latin typeface="黑体" panose="02010609060101010101" pitchFamily="49" charset="-122"/>
                <a:ea typeface="黑体" panose="02010609060101010101" pitchFamily="49" charset="-122"/>
              </a:rPr>
              <a:t>） ；      </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mutex</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lnSpc>
                <a:spcPct val="90000"/>
              </a:lnSpc>
            </a:pP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mutex </a:t>
            </a:r>
            <a:r>
              <a:rPr lang="zh-CN" altLang="en-US" b="1">
                <a:solidFill>
                  <a:srgbClr val="FFFF00"/>
                </a:solidFill>
                <a:effectLst/>
                <a:latin typeface="黑体" panose="02010609060101010101" pitchFamily="49" charset="-122"/>
                <a:ea typeface="黑体" panose="02010609060101010101" pitchFamily="49" charset="-122"/>
              </a:rPr>
              <a:t>） ；    </a:t>
            </a:r>
            <a:r>
              <a:rPr lang="zh-CN" altLang="en-US" b="1" i="1">
                <a:solidFill>
                  <a:srgbClr val="FFFF00"/>
                </a:solidFill>
                <a:effectLst/>
                <a:latin typeface="黑体" panose="02010609060101010101" pitchFamily="49" charset="-122"/>
                <a:ea typeface="黑体" panose="02010609060101010101" pitchFamily="49" charset="-122"/>
              </a:rPr>
              <a:t>缓冲区取出一产品；</a:t>
            </a:r>
          </a:p>
          <a:p>
            <a:pPr eaLnBrk="1" hangingPunct="1">
              <a:lnSpc>
                <a:spcPct val="90000"/>
              </a:lnSpc>
            </a:pPr>
            <a:r>
              <a:rPr lang="zh-CN" altLang="en-US" b="1" i="1">
                <a:solidFill>
                  <a:srgbClr val="FFFF00"/>
                </a:solidFill>
                <a:effectLst/>
                <a:latin typeface="黑体" panose="02010609060101010101" pitchFamily="49" charset="-122"/>
                <a:ea typeface="黑体" panose="02010609060101010101" pitchFamily="49" charset="-122"/>
              </a:rPr>
              <a:t>将该产品放入缓冲区</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mutex</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lnSpc>
                <a:spcPct val="90000"/>
              </a:lnSpc>
            </a:pP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full </a:t>
            </a:r>
            <a:r>
              <a:rPr lang="zh-CN" altLang="en-US" b="1">
                <a:solidFill>
                  <a:srgbClr val="FFFF00"/>
                </a:solidFill>
                <a:effectLst/>
                <a:latin typeface="黑体" panose="02010609060101010101" pitchFamily="49" charset="-122"/>
                <a:ea typeface="黑体" panose="02010609060101010101" pitchFamily="49" charset="-122"/>
              </a:rPr>
              <a:t>） ；       </a:t>
            </a: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empty</a:t>
            </a:r>
            <a:r>
              <a:rPr lang="zh-CN" altLang="en-US" b="1">
                <a:solidFill>
                  <a:srgbClr val="FFFF00"/>
                </a:solidFill>
                <a:effectLst/>
                <a:latin typeface="黑体" panose="02010609060101010101" pitchFamily="49" charset="-122"/>
                <a:ea typeface="黑体" panose="02010609060101010101" pitchFamily="49" charset="-122"/>
              </a:rPr>
              <a:t>）；</a:t>
            </a:r>
          </a:p>
          <a:p>
            <a:pPr eaLnBrk="1" hangingPunct="1">
              <a:lnSpc>
                <a:spcPct val="90000"/>
              </a:lnSpc>
            </a:pP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 </a:t>
            </a:r>
            <a:r>
              <a:rPr lang="en-US" altLang="zh-CN" b="1">
                <a:solidFill>
                  <a:srgbClr val="FFFF00"/>
                </a:solidFill>
                <a:effectLst/>
                <a:latin typeface="黑体" panose="02010609060101010101" pitchFamily="49" charset="-122"/>
                <a:ea typeface="黑体" panose="02010609060101010101" pitchFamily="49" charset="-122"/>
              </a:rPr>
              <a:t>mutex </a:t>
            </a:r>
            <a:r>
              <a:rPr lang="zh-CN" altLang="en-US" b="1">
                <a:solidFill>
                  <a:srgbClr val="FFFF00"/>
                </a:solidFill>
                <a:effectLst/>
                <a:latin typeface="黑体" panose="02010609060101010101" pitchFamily="49" charset="-122"/>
                <a:ea typeface="黑体" panose="02010609060101010101" pitchFamily="49" charset="-122"/>
              </a:rPr>
              <a:t>） ；       消费该产品；</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5202" name="Rectangle 2">
            <a:extLst>
              <a:ext uri="{FF2B5EF4-FFF2-40B4-BE49-F238E27FC236}">
                <a16:creationId xmlns:a16="http://schemas.microsoft.com/office/drawing/2014/main" id="{A9C59712-AD4F-4184-9BB3-3CACF1756677}"/>
              </a:ext>
            </a:extLst>
          </p:cNvPr>
          <p:cNvSpPr>
            <a:spLocks noGrp="1" noChangeArrowheads="1"/>
          </p:cNvSpPr>
          <p:nvPr>
            <p:ph type="body" idx="1"/>
          </p:nvPr>
        </p:nvSpPr>
        <p:spPr>
          <a:xfrm>
            <a:off x="755650" y="1412875"/>
            <a:ext cx="7705725" cy="4537075"/>
          </a:xfrm>
        </p:spPr>
        <p:txBody>
          <a:bodyPr/>
          <a:lstStyle/>
          <a:p>
            <a:pPr eaLnBrk="1" hangingPunct="1"/>
            <a:r>
              <a:rPr lang="zh-CN" altLang="en-US" sz="3600" b="1">
                <a:solidFill>
                  <a:srgbClr val="FFFF00"/>
                </a:solidFill>
                <a:effectLst/>
                <a:latin typeface="黑体" panose="02010609060101010101" pitchFamily="49" charset="-122"/>
                <a:ea typeface="黑体" panose="02010609060101010101" pitchFamily="49" charset="-122"/>
              </a:rPr>
              <a:t>互斥的</a:t>
            </a:r>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V</a:t>
            </a:r>
            <a:r>
              <a:rPr lang="zh-CN" altLang="en-US" sz="3600" b="1">
                <a:solidFill>
                  <a:srgbClr val="FFFF00"/>
                </a:solidFill>
                <a:effectLst/>
                <a:latin typeface="黑体" panose="02010609060101010101" pitchFamily="49" charset="-122"/>
                <a:ea typeface="黑体" panose="02010609060101010101" pitchFamily="49" charset="-122"/>
              </a:rPr>
              <a:t>原语在同一个进程中成对出现</a:t>
            </a:r>
          </a:p>
          <a:p>
            <a:pPr eaLnBrk="1" hangingPunct="1"/>
            <a:r>
              <a:rPr lang="en-US" altLang="zh-CN" sz="3600" b="1">
                <a:solidFill>
                  <a:srgbClr val="FFFF00"/>
                </a:solidFill>
                <a:effectLst/>
                <a:latin typeface="黑体" panose="02010609060101010101" pitchFamily="49" charset="-122"/>
                <a:ea typeface="黑体" panose="02010609060101010101" pitchFamily="49" charset="-122"/>
              </a:rPr>
              <a:t>V</a:t>
            </a:r>
            <a:r>
              <a:rPr lang="zh-CN" altLang="en-US" sz="3600" b="1">
                <a:solidFill>
                  <a:srgbClr val="FFFF00"/>
                </a:solidFill>
                <a:effectLst/>
                <a:latin typeface="黑体" panose="02010609060101010101" pitchFamily="49" charset="-122"/>
                <a:ea typeface="黑体" panose="02010609060101010101" pitchFamily="49" charset="-122"/>
              </a:rPr>
              <a:t>原语是释放资源的，可以以任意次序出现</a:t>
            </a:r>
          </a:p>
          <a:p>
            <a:pPr eaLnBrk="1" hangingPunct="1"/>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原语的操作次序要正确，使用不当次序混乱将会造成进程之间的死锁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3520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3520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3520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2" grpId="0" build="p"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0E3E8-A86D-B0DE-EF13-D06B20D5C9F5}"/>
            </a:ext>
          </a:extLst>
        </p:cNvPr>
        <p:cNvGrpSpPr/>
        <p:nvPr/>
      </p:nvGrpSpPr>
      <p:grpSpPr>
        <a:xfrm>
          <a:off x="0" y="0"/>
          <a:ext cx="0" cy="0"/>
          <a:chOff x="0" y="0"/>
          <a:chExt cx="0" cy="0"/>
        </a:xfrm>
      </p:grpSpPr>
      <p:sp>
        <p:nvSpPr>
          <p:cNvPr id="71682" name="Rectangle 2">
            <a:extLst>
              <a:ext uri="{FF2B5EF4-FFF2-40B4-BE49-F238E27FC236}">
                <a16:creationId xmlns:a16="http://schemas.microsoft.com/office/drawing/2014/main" id="{6D8C7560-DA3C-3B75-F152-F6963601C987}"/>
              </a:ext>
            </a:extLst>
          </p:cNvPr>
          <p:cNvSpPr>
            <a:spLocks noGrp="1" noChangeArrowheads="1"/>
          </p:cNvSpPr>
          <p:nvPr>
            <p:ph type="body" idx="1"/>
          </p:nvPr>
        </p:nvSpPr>
        <p:spPr>
          <a:xfrm>
            <a:off x="611188" y="1700213"/>
            <a:ext cx="7921625" cy="4970462"/>
          </a:xfrm>
        </p:spPr>
        <p:txBody>
          <a:bodyPr/>
          <a:lstStyle/>
          <a:p>
            <a:pPr eaLnBrk="1" hangingPunct="1">
              <a:buFont typeface="Wingdings" panose="05000000000000000000" pitchFamily="2" charset="2"/>
              <a:buNone/>
            </a:pPr>
            <a:r>
              <a:rPr lang="en-US" altLang="zh-CN" b="1">
                <a:solidFill>
                  <a:srgbClr val="FFFF00"/>
                </a:solidFill>
                <a:effectLst/>
                <a:latin typeface="黑体" panose="02010609060101010101" pitchFamily="49" charset="-122"/>
                <a:ea typeface="黑体" panose="02010609060101010101" pitchFamily="49" charset="-122"/>
              </a:rPr>
              <a:t>1.</a:t>
            </a:r>
            <a:r>
              <a:rPr lang="zh-CN" altLang="en-US" b="1">
                <a:solidFill>
                  <a:srgbClr val="FFFF00"/>
                </a:solidFill>
                <a:effectLst/>
                <a:latin typeface="黑体" panose="02010609060101010101" pitchFamily="49" charset="-122"/>
                <a:ea typeface="黑体" panose="02010609060101010101" pitchFamily="49" charset="-122"/>
              </a:rPr>
              <a:t>生产者－消费者问题</a:t>
            </a:r>
          </a:p>
          <a:p>
            <a:pPr eaLnBrk="1" hangingPunct="1">
              <a:buFont typeface="Wingdings" panose="05000000000000000000" pitchFamily="2" charset="2"/>
              <a:buNone/>
            </a:pPr>
            <a:r>
              <a:rPr lang="en-US" altLang="zh-CN" b="1">
                <a:solidFill>
                  <a:srgbClr val="FFFF00"/>
                </a:solidFill>
                <a:effectLst/>
                <a:latin typeface="黑体" panose="02010609060101010101" pitchFamily="49" charset="-122"/>
                <a:ea typeface="黑体" panose="02010609060101010101" pitchFamily="49" charset="-122"/>
              </a:rPr>
              <a:t>Producer</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consumer problems</a:t>
            </a:r>
          </a:p>
          <a:p>
            <a:pPr algn="just" eaLnBrk="1" hangingPunct="1"/>
            <a:r>
              <a:rPr lang="zh-CN" altLang="en-US" b="1">
                <a:solidFill>
                  <a:srgbClr val="FFFF00"/>
                </a:solidFill>
                <a:effectLst/>
                <a:latin typeface="黑体" panose="02010609060101010101" pitchFamily="49" charset="-122"/>
                <a:ea typeface="黑体" panose="02010609060101010101" pitchFamily="49" charset="-122"/>
              </a:rPr>
              <a:t>生产者消费者问题是一种同步和互斥问题的抽象描述。计算机系统中的每个进程都可以消费（使用）或生产（释放）某类资源。这些资源可以是硬件资源，也可以是软件资源。</a:t>
            </a:r>
          </a:p>
        </p:txBody>
      </p:sp>
      <p:sp>
        <p:nvSpPr>
          <p:cNvPr id="416771" name="Rectangle 3">
            <a:extLst>
              <a:ext uri="{FF2B5EF4-FFF2-40B4-BE49-F238E27FC236}">
                <a16:creationId xmlns:a16="http://schemas.microsoft.com/office/drawing/2014/main" id="{8E6F0F44-FEA0-4C45-D05E-AE3058169259}"/>
              </a:ext>
            </a:extLst>
          </p:cNvPr>
          <p:cNvSpPr>
            <a:spLocks noGrp="1" noChangeArrowheads="1"/>
          </p:cNvSpPr>
          <p:nvPr>
            <p:ph type="title"/>
          </p:nvPr>
        </p:nvSpPr>
        <p:spPr>
          <a:xfrm>
            <a:off x="179388" y="476250"/>
            <a:ext cx="8480425" cy="803275"/>
          </a:xfrm>
        </p:spPr>
        <p:txBody>
          <a:bodyPr anchor="b" anchorCtr="0"/>
          <a:lstStyle/>
          <a:p>
            <a:pPr eaLnBrk="1" hangingPunct="1">
              <a:defRPr/>
            </a:pPr>
            <a:r>
              <a:rPr lang="en-US" altLang="zh-CN" b="1" dirty="0">
                <a:solidFill>
                  <a:schemeClr val="tx1"/>
                </a:solidFill>
                <a:effectLst>
                  <a:outerShdw blurRad="38100" dist="38100" dir="2700000" algn="tl">
                    <a:srgbClr val="010199"/>
                  </a:outerShdw>
                </a:effectLst>
                <a:latin typeface="楷体_GB2312" pitchFamily="49" charset="-122"/>
                <a:ea typeface="楷体_GB2312" pitchFamily="49" charset="-122"/>
              </a:rPr>
              <a:t>3.4.5</a:t>
            </a:r>
            <a:r>
              <a:rPr lang="zh-CN" altLang="en-US" b="1" dirty="0">
                <a:solidFill>
                  <a:schemeClr val="tx1"/>
                </a:solidFill>
                <a:effectLst>
                  <a:outerShdw blurRad="38100" dist="38100" dir="2700000" algn="tl">
                    <a:srgbClr val="010199"/>
                  </a:outerShdw>
                </a:effectLst>
                <a:latin typeface="楷体_GB2312" pitchFamily="49" charset="-122"/>
                <a:ea typeface="楷体_GB2312" pitchFamily="49" charset="-122"/>
              </a:rPr>
              <a:t>经典同步互斥问题</a:t>
            </a:r>
          </a:p>
        </p:txBody>
      </p:sp>
    </p:spTree>
    <p:extLst>
      <p:ext uri="{BB962C8B-B14F-4D97-AF65-F5344CB8AC3E}">
        <p14:creationId xmlns:p14="http://schemas.microsoft.com/office/powerpoint/2010/main" val="1839295356"/>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98600A6-AD3A-44C6-B620-A318AA6F0761}"/>
              </a:ext>
            </a:extLst>
          </p:cNvPr>
          <p:cNvSpPr>
            <a:spLocks noGrp="1" noChangeArrowheads="1"/>
          </p:cNvSpPr>
          <p:nvPr>
            <p:ph type="title"/>
          </p:nvPr>
        </p:nvSpPr>
        <p:spPr>
          <a:xfrm>
            <a:off x="539750" y="404813"/>
            <a:ext cx="7989888" cy="1450975"/>
          </a:xfrm>
        </p:spPr>
        <p:txBody>
          <a:bodyPr/>
          <a:lstStyle/>
          <a:p>
            <a:pPr eaLnBrk="1" hangingPunct="1"/>
            <a:r>
              <a:rPr lang="zh-CN" altLang="en-US" sz="4000" b="1" dirty="0">
                <a:solidFill>
                  <a:srgbClr val="FFFF00"/>
                </a:solidFill>
                <a:effectLst/>
                <a:ea typeface="黑体" panose="02010609060101010101" pitchFamily="49" charset="-122"/>
              </a:rPr>
              <a:t>生产者－消费者问题是相互合作进程关系的一种抽象</a:t>
            </a:r>
          </a:p>
        </p:txBody>
      </p:sp>
      <p:sp>
        <p:nvSpPr>
          <p:cNvPr id="417795" name="Rectangle 3">
            <a:extLst>
              <a:ext uri="{FF2B5EF4-FFF2-40B4-BE49-F238E27FC236}">
                <a16:creationId xmlns:a16="http://schemas.microsoft.com/office/drawing/2014/main" id="{36024002-F826-48DB-B0E4-DF8473CD6012}"/>
              </a:ext>
            </a:extLst>
          </p:cNvPr>
          <p:cNvSpPr>
            <a:spLocks noGrp="1" noChangeArrowheads="1"/>
          </p:cNvSpPr>
          <p:nvPr>
            <p:ph type="body" idx="1"/>
          </p:nvPr>
        </p:nvSpPr>
        <p:spPr>
          <a:xfrm>
            <a:off x="684213" y="2349500"/>
            <a:ext cx="8064500" cy="4032250"/>
          </a:xfrm>
        </p:spPr>
        <p:txBody>
          <a:bodyPr/>
          <a:lstStyle/>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 </a:t>
            </a:r>
            <a:r>
              <a:rPr lang="zh-CN" altLang="en-US" sz="3600" b="1" dirty="0">
                <a:solidFill>
                  <a:srgbClr val="FFFF00"/>
                </a:solidFill>
                <a:effectLst/>
                <a:latin typeface="黑体" panose="02010609060101010101" pitchFamily="49" charset="-122"/>
                <a:ea typeface="黑体" panose="02010609060101010101" pitchFamily="49" charset="-122"/>
              </a:rPr>
              <a:t>输入 </a:t>
            </a:r>
            <a:r>
              <a:rPr lang="en-US" altLang="zh-CN" sz="3600" b="1" dirty="0">
                <a:solidFill>
                  <a:srgbClr val="FFFF00"/>
                </a:solidFill>
                <a:effectLst/>
                <a:ea typeface="黑体" panose="02010609060101010101" pitchFamily="49" charset="-122"/>
              </a:rPr>
              <a:t>——</a:t>
            </a:r>
            <a:r>
              <a:rPr lang="en-US" altLang="zh-CN" sz="3600" b="1" dirty="0">
                <a:solidFill>
                  <a:srgbClr val="FFFF00"/>
                </a:solidFill>
                <a:effectLst/>
                <a:latin typeface="黑体" panose="02010609060101010101" pitchFamily="49" charset="-122"/>
                <a:ea typeface="黑体" panose="02010609060101010101" pitchFamily="49" charset="-122"/>
              </a:rPr>
              <a:t> </a:t>
            </a:r>
            <a:r>
              <a:rPr lang="zh-CN" altLang="en-US" sz="3600" b="1" dirty="0">
                <a:solidFill>
                  <a:srgbClr val="FFFF00"/>
                </a:solidFill>
                <a:effectLst/>
                <a:latin typeface="黑体" panose="02010609060101010101" pitchFamily="49" charset="-122"/>
                <a:ea typeface="黑体" panose="02010609060101010101" pitchFamily="49" charset="-122"/>
              </a:rPr>
              <a:t>计算 </a:t>
            </a:r>
            <a:r>
              <a:rPr lang="en-US" altLang="zh-CN" sz="3600" b="1" dirty="0">
                <a:solidFill>
                  <a:srgbClr val="FFFF00"/>
                </a:solidFill>
                <a:effectLst/>
                <a:ea typeface="黑体" panose="02010609060101010101" pitchFamily="49" charset="-122"/>
              </a:rPr>
              <a:t>——</a:t>
            </a:r>
            <a:r>
              <a:rPr lang="en-US" altLang="zh-CN" sz="3600" b="1" dirty="0">
                <a:solidFill>
                  <a:srgbClr val="FFFF00"/>
                </a:solidFill>
                <a:effectLst/>
                <a:latin typeface="黑体" panose="02010609060101010101" pitchFamily="49" charset="-122"/>
                <a:ea typeface="黑体" panose="02010609060101010101" pitchFamily="49" charset="-122"/>
              </a:rPr>
              <a:t> </a:t>
            </a:r>
            <a:r>
              <a:rPr lang="zh-CN" altLang="en-US" sz="3600" b="1" dirty="0">
                <a:solidFill>
                  <a:srgbClr val="FFFF00"/>
                </a:solidFill>
                <a:effectLst/>
                <a:latin typeface="黑体" panose="02010609060101010101" pitchFamily="49" charset="-122"/>
                <a:ea typeface="黑体" panose="02010609060101010101" pitchFamily="49" charset="-122"/>
              </a:rPr>
              <a:t>打印</a:t>
            </a:r>
          </a:p>
          <a:p>
            <a:pPr eaLnBrk="1" hangingPunct="1">
              <a:buFont typeface="Wingdings" panose="05000000000000000000" pitchFamily="2" charset="2"/>
              <a:buNone/>
            </a:pPr>
            <a:r>
              <a:rPr lang="zh-CN" altLang="en-US" sz="3600" b="1" dirty="0">
                <a:solidFill>
                  <a:srgbClr val="FFFF00"/>
                </a:solidFill>
                <a:effectLst/>
                <a:latin typeface="黑体" panose="02010609060101010101" pitchFamily="49" charset="-122"/>
                <a:ea typeface="黑体" panose="02010609060101010101" pitchFamily="49" charset="-122"/>
              </a:rPr>
              <a:t>  生产者   消费者</a:t>
            </a:r>
          </a:p>
          <a:p>
            <a:pPr eaLnBrk="1" hangingPunct="1">
              <a:buFont typeface="Wingdings" panose="05000000000000000000" pitchFamily="2" charset="2"/>
              <a:buNone/>
            </a:pPr>
            <a:r>
              <a:rPr lang="zh-CN" altLang="en-US" sz="3600" b="1" dirty="0">
                <a:solidFill>
                  <a:srgbClr val="FFFF00"/>
                </a:solidFill>
                <a:effectLst/>
                <a:latin typeface="黑体" panose="02010609060101010101" pitchFamily="49" charset="-122"/>
                <a:ea typeface="黑体" panose="02010609060101010101" pitchFamily="49" charset="-122"/>
              </a:rPr>
              <a:t>           生产者    消费者</a:t>
            </a:r>
          </a:p>
          <a:p>
            <a:pPr eaLnBrk="1" hangingPunct="1">
              <a:buFont typeface="Wingdings" panose="05000000000000000000" pitchFamily="2" charset="2"/>
              <a:buNone/>
            </a:pPr>
            <a:endParaRPr lang="zh-CN" altLang="en-US" sz="3600" b="1" i="1" dirty="0">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None/>
            </a:pPr>
            <a:r>
              <a:rPr lang="zh-CN" altLang="en-US" sz="3600" b="1" i="1" dirty="0">
                <a:solidFill>
                  <a:srgbClr val="FFFF00"/>
                </a:solidFill>
                <a:effectLst/>
                <a:latin typeface="黑体" panose="02010609060101010101" pitchFamily="49" charset="-122"/>
                <a:ea typeface="黑体" panose="02010609060101010101" pitchFamily="49" charset="-122"/>
              </a:rPr>
              <a:t>系统中使用资源的进程</a:t>
            </a:r>
            <a:r>
              <a:rPr lang="en-US" altLang="zh-CN" sz="3600" b="1" i="1" dirty="0">
                <a:solidFill>
                  <a:srgbClr val="FFFF00"/>
                </a:solidFill>
                <a:effectLst/>
                <a:ea typeface="黑体" panose="02010609060101010101" pitchFamily="49" charset="-122"/>
              </a:rPr>
              <a:t>——</a:t>
            </a:r>
            <a:r>
              <a:rPr lang="zh-CN" altLang="en-US" sz="3600" b="1" i="1" dirty="0">
                <a:solidFill>
                  <a:srgbClr val="FFFF00"/>
                </a:solidFill>
                <a:effectLst/>
                <a:latin typeface="黑体" panose="02010609060101010101" pitchFamily="49" charset="-122"/>
                <a:ea typeface="黑体" panose="02010609060101010101" pitchFamily="49" charset="-122"/>
              </a:rPr>
              <a:t>消费者</a:t>
            </a:r>
          </a:p>
          <a:p>
            <a:pPr eaLnBrk="1" hangingPunct="1">
              <a:buFont typeface="Wingdings" panose="05000000000000000000" pitchFamily="2" charset="2"/>
              <a:buNone/>
            </a:pPr>
            <a:r>
              <a:rPr lang="zh-CN" altLang="en-US" sz="3600" b="1" i="1" dirty="0">
                <a:solidFill>
                  <a:srgbClr val="FFFF00"/>
                </a:solidFill>
                <a:effectLst/>
                <a:latin typeface="黑体" panose="02010609060101010101" pitchFamily="49" charset="-122"/>
                <a:ea typeface="黑体" panose="02010609060101010101" pitchFamily="49" charset="-122"/>
              </a:rPr>
              <a:t>系统中释放同类资源的进程</a:t>
            </a:r>
            <a:r>
              <a:rPr lang="en-US" altLang="zh-CN" sz="3600" b="1" i="1" dirty="0">
                <a:solidFill>
                  <a:srgbClr val="FFFF00"/>
                </a:solidFill>
                <a:effectLst/>
                <a:ea typeface="黑体" panose="02010609060101010101" pitchFamily="49" charset="-122"/>
              </a:rPr>
              <a:t>——</a:t>
            </a:r>
            <a:r>
              <a:rPr lang="zh-CN" altLang="en-US" sz="3600" b="1" i="1" dirty="0">
                <a:solidFill>
                  <a:srgbClr val="FFFF00"/>
                </a:solidFill>
                <a:effectLst/>
                <a:latin typeface="黑体" panose="02010609060101010101" pitchFamily="49" charset="-122"/>
                <a:ea typeface="黑体" panose="02010609060101010101" pitchFamily="49" charset="-122"/>
              </a:rPr>
              <a:t>生产者</a:t>
            </a:r>
          </a:p>
        </p:txBody>
      </p:sp>
    </p:spTree>
    <p:extLst>
      <p:ext uri="{BB962C8B-B14F-4D97-AF65-F5344CB8AC3E}">
        <p14:creationId xmlns:p14="http://schemas.microsoft.com/office/powerpoint/2010/main" val="2067142842"/>
      </p:ext>
    </p:extLst>
  </p:cSld>
  <p:clrMapOvr>
    <a:masterClrMapping/>
  </p:clrMapOvr>
  <p:transition spd="slow">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417795">
                                            <p:txEl>
                                              <p:pRg st="0" end="0"/>
                                            </p:txEl>
                                          </p:spTgt>
                                        </p:tgtEl>
                                        <p:attrNameLst>
                                          <p:attrName>style.visibility</p:attrName>
                                        </p:attrNameLst>
                                      </p:cBhvr>
                                      <p:to>
                                        <p:strVal val="visible"/>
                                      </p:to>
                                    </p:set>
                                    <p:anim calcmode="lin" valueType="num">
                                      <p:cBhvr>
                                        <p:cTn id="7" dur="500" fill="hold"/>
                                        <p:tgtEl>
                                          <p:spTgt spid="417795">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417795">
                                            <p:txEl>
                                              <p:pRg st="0" end="0"/>
                                            </p:txEl>
                                          </p:spTgt>
                                        </p:tgtEl>
                                        <p:attrNameLst>
                                          <p:attrName>ppt_y</p:attrName>
                                        </p:attrNameLst>
                                      </p:cBhvr>
                                      <p:tavLst>
                                        <p:tav tm="0">
                                          <p:val>
                                            <p:strVal val="#ppt_y+#ppt_h/2"/>
                                          </p:val>
                                        </p:tav>
                                        <p:tav tm="100000">
                                          <p:val>
                                            <p:strVal val="#ppt_y"/>
                                          </p:val>
                                        </p:tav>
                                      </p:tavLst>
                                    </p:anim>
                                    <p:anim calcmode="lin" valueType="num">
                                      <p:cBhvr>
                                        <p:cTn id="9" dur="500" fill="hold"/>
                                        <p:tgtEl>
                                          <p:spTgt spid="417795">
                                            <p:txEl>
                                              <p:pRg st="0" end="0"/>
                                            </p:txEl>
                                          </p:spTgt>
                                        </p:tgtEl>
                                        <p:attrNameLst>
                                          <p:attrName>ppt_w</p:attrName>
                                        </p:attrNameLst>
                                      </p:cBhvr>
                                      <p:tavLst>
                                        <p:tav tm="0">
                                          <p:val>
                                            <p:strVal val="#ppt_w"/>
                                          </p:val>
                                        </p:tav>
                                        <p:tav tm="100000">
                                          <p:val>
                                            <p:strVal val="#ppt_w"/>
                                          </p:val>
                                        </p:tav>
                                      </p:tavLst>
                                    </p:anim>
                                    <p:anim calcmode="lin" valueType="num">
                                      <p:cBhvr>
                                        <p:cTn id="10" dur="500" fill="hold"/>
                                        <p:tgtEl>
                                          <p:spTgt spid="417795">
                                            <p:txEl>
                                              <p:pRg st="0" end="0"/>
                                            </p:txEl>
                                          </p:spTgt>
                                        </p:tgtEl>
                                        <p:attrNameLst>
                                          <p:attrName>ppt_h</p:attrName>
                                        </p:attrNameLst>
                                      </p:cBhvr>
                                      <p:tavLst>
                                        <p:tav tm="0">
                                          <p:val>
                                            <p:fltVal val="0"/>
                                          </p:val>
                                        </p:tav>
                                        <p:tav tm="100000">
                                          <p:val>
                                            <p:strVal val="#ppt_h"/>
                                          </p:val>
                                        </p:tav>
                                      </p:tavLst>
                                    </p:anim>
                                  </p:childTnLst>
                                  <p:subTnLst>
                                    <p:animClr clrSpc="rgb" dir="cw">
                                      <p:cBhvr override="childStyle">
                                        <p:cTn dur="1" fill="hold" display="0" masterRel="nextClick" afterEffect="1"/>
                                        <p:tgtEl>
                                          <p:spTgt spid="417795">
                                            <p:txEl>
                                              <p:pRg st="0" end="0"/>
                                            </p:txEl>
                                          </p:spTgt>
                                        </p:tgtEl>
                                        <p:attrNameLst>
                                          <p:attrName>ppt_c</p:attrName>
                                        </p:attrNameLst>
                                      </p:cBhvr>
                                      <p:to>
                                        <a:srgbClr val="008000"/>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4" fill="hold" grpId="0" nodeType="clickEffect">
                                  <p:stCondLst>
                                    <p:cond delay="0"/>
                                  </p:stCondLst>
                                  <p:childTnLst>
                                    <p:set>
                                      <p:cBhvr>
                                        <p:cTn id="14" dur="1" fill="hold">
                                          <p:stCondLst>
                                            <p:cond delay="0"/>
                                          </p:stCondLst>
                                        </p:cTn>
                                        <p:tgtEl>
                                          <p:spTgt spid="417795">
                                            <p:txEl>
                                              <p:pRg st="1" end="1"/>
                                            </p:txEl>
                                          </p:spTgt>
                                        </p:tgtEl>
                                        <p:attrNameLst>
                                          <p:attrName>style.visibility</p:attrName>
                                        </p:attrNameLst>
                                      </p:cBhvr>
                                      <p:to>
                                        <p:strVal val="visible"/>
                                      </p:to>
                                    </p:set>
                                    <p:anim calcmode="lin" valueType="num">
                                      <p:cBhvr>
                                        <p:cTn id="15" dur="500" fill="hold"/>
                                        <p:tgtEl>
                                          <p:spTgt spid="417795">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417795">
                                            <p:txEl>
                                              <p:pRg st="1" end="1"/>
                                            </p:txEl>
                                          </p:spTgt>
                                        </p:tgtEl>
                                        <p:attrNameLst>
                                          <p:attrName>ppt_y</p:attrName>
                                        </p:attrNameLst>
                                      </p:cBhvr>
                                      <p:tavLst>
                                        <p:tav tm="0">
                                          <p:val>
                                            <p:strVal val="#ppt_y+#ppt_h/2"/>
                                          </p:val>
                                        </p:tav>
                                        <p:tav tm="100000">
                                          <p:val>
                                            <p:strVal val="#ppt_y"/>
                                          </p:val>
                                        </p:tav>
                                      </p:tavLst>
                                    </p:anim>
                                    <p:anim calcmode="lin" valueType="num">
                                      <p:cBhvr>
                                        <p:cTn id="17" dur="500" fill="hold"/>
                                        <p:tgtEl>
                                          <p:spTgt spid="417795">
                                            <p:txEl>
                                              <p:pRg st="1" end="1"/>
                                            </p:txEl>
                                          </p:spTgt>
                                        </p:tgtEl>
                                        <p:attrNameLst>
                                          <p:attrName>ppt_w</p:attrName>
                                        </p:attrNameLst>
                                      </p:cBhvr>
                                      <p:tavLst>
                                        <p:tav tm="0">
                                          <p:val>
                                            <p:strVal val="#ppt_w"/>
                                          </p:val>
                                        </p:tav>
                                        <p:tav tm="100000">
                                          <p:val>
                                            <p:strVal val="#ppt_w"/>
                                          </p:val>
                                        </p:tav>
                                      </p:tavLst>
                                    </p:anim>
                                    <p:anim calcmode="lin" valueType="num">
                                      <p:cBhvr>
                                        <p:cTn id="18" dur="500" fill="hold"/>
                                        <p:tgtEl>
                                          <p:spTgt spid="417795">
                                            <p:txEl>
                                              <p:pRg st="1" end="1"/>
                                            </p:txEl>
                                          </p:spTgt>
                                        </p:tgtEl>
                                        <p:attrNameLst>
                                          <p:attrName>ppt_h</p:attrName>
                                        </p:attrNameLst>
                                      </p:cBhvr>
                                      <p:tavLst>
                                        <p:tav tm="0">
                                          <p:val>
                                            <p:fltVal val="0"/>
                                          </p:val>
                                        </p:tav>
                                        <p:tav tm="100000">
                                          <p:val>
                                            <p:strVal val="#ppt_h"/>
                                          </p:val>
                                        </p:tav>
                                      </p:tavLst>
                                    </p:anim>
                                  </p:childTnLst>
                                  <p:subTnLst>
                                    <p:animClr clrSpc="rgb" dir="cw">
                                      <p:cBhvr override="childStyle">
                                        <p:cTn dur="1" fill="hold" display="0" masterRel="nextClick" afterEffect="1"/>
                                        <p:tgtEl>
                                          <p:spTgt spid="417795">
                                            <p:txEl>
                                              <p:pRg st="1" end="1"/>
                                            </p:txEl>
                                          </p:spTgt>
                                        </p:tgtEl>
                                        <p:attrNameLst>
                                          <p:attrName>ppt_c</p:attrName>
                                        </p:attrNameLst>
                                      </p:cBhvr>
                                      <p:to>
                                        <a:srgbClr val="008000"/>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4" fill="hold" grpId="0" nodeType="clickEffect">
                                  <p:stCondLst>
                                    <p:cond delay="0"/>
                                  </p:stCondLst>
                                  <p:childTnLst>
                                    <p:set>
                                      <p:cBhvr>
                                        <p:cTn id="22" dur="1" fill="hold">
                                          <p:stCondLst>
                                            <p:cond delay="0"/>
                                          </p:stCondLst>
                                        </p:cTn>
                                        <p:tgtEl>
                                          <p:spTgt spid="417795">
                                            <p:txEl>
                                              <p:pRg st="2" end="2"/>
                                            </p:txEl>
                                          </p:spTgt>
                                        </p:tgtEl>
                                        <p:attrNameLst>
                                          <p:attrName>style.visibility</p:attrName>
                                        </p:attrNameLst>
                                      </p:cBhvr>
                                      <p:to>
                                        <p:strVal val="visible"/>
                                      </p:to>
                                    </p:set>
                                    <p:anim calcmode="lin" valueType="num">
                                      <p:cBhvr>
                                        <p:cTn id="23" dur="500" fill="hold"/>
                                        <p:tgtEl>
                                          <p:spTgt spid="417795">
                                            <p:txEl>
                                              <p:pRg st="2" end="2"/>
                                            </p:txEl>
                                          </p:spTgt>
                                        </p:tgtEl>
                                        <p:attrNameLst>
                                          <p:attrName>ppt_x</p:attrName>
                                        </p:attrNameLst>
                                      </p:cBhvr>
                                      <p:tavLst>
                                        <p:tav tm="0">
                                          <p:val>
                                            <p:strVal val="#ppt_x"/>
                                          </p:val>
                                        </p:tav>
                                        <p:tav tm="100000">
                                          <p:val>
                                            <p:strVal val="#ppt_x"/>
                                          </p:val>
                                        </p:tav>
                                      </p:tavLst>
                                    </p:anim>
                                    <p:anim calcmode="lin" valueType="num">
                                      <p:cBhvr>
                                        <p:cTn id="24" dur="500" fill="hold"/>
                                        <p:tgtEl>
                                          <p:spTgt spid="417795">
                                            <p:txEl>
                                              <p:pRg st="2" end="2"/>
                                            </p:txEl>
                                          </p:spTgt>
                                        </p:tgtEl>
                                        <p:attrNameLst>
                                          <p:attrName>ppt_y</p:attrName>
                                        </p:attrNameLst>
                                      </p:cBhvr>
                                      <p:tavLst>
                                        <p:tav tm="0">
                                          <p:val>
                                            <p:strVal val="#ppt_y+#ppt_h/2"/>
                                          </p:val>
                                        </p:tav>
                                        <p:tav tm="100000">
                                          <p:val>
                                            <p:strVal val="#ppt_y"/>
                                          </p:val>
                                        </p:tav>
                                      </p:tavLst>
                                    </p:anim>
                                    <p:anim calcmode="lin" valueType="num">
                                      <p:cBhvr>
                                        <p:cTn id="25" dur="500" fill="hold"/>
                                        <p:tgtEl>
                                          <p:spTgt spid="417795">
                                            <p:txEl>
                                              <p:pRg st="2" end="2"/>
                                            </p:txEl>
                                          </p:spTgt>
                                        </p:tgtEl>
                                        <p:attrNameLst>
                                          <p:attrName>ppt_w</p:attrName>
                                        </p:attrNameLst>
                                      </p:cBhvr>
                                      <p:tavLst>
                                        <p:tav tm="0">
                                          <p:val>
                                            <p:strVal val="#ppt_w"/>
                                          </p:val>
                                        </p:tav>
                                        <p:tav tm="100000">
                                          <p:val>
                                            <p:strVal val="#ppt_w"/>
                                          </p:val>
                                        </p:tav>
                                      </p:tavLst>
                                    </p:anim>
                                    <p:anim calcmode="lin" valueType="num">
                                      <p:cBhvr>
                                        <p:cTn id="26" dur="500" fill="hold"/>
                                        <p:tgtEl>
                                          <p:spTgt spid="417795">
                                            <p:txEl>
                                              <p:pRg st="2" end="2"/>
                                            </p:txEl>
                                          </p:spTgt>
                                        </p:tgtEl>
                                        <p:attrNameLst>
                                          <p:attrName>ppt_h</p:attrName>
                                        </p:attrNameLst>
                                      </p:cBhvr>
                                      <p:tavLst>
                                        <p:tav tm="0">
                                          <p:val>
                                            <p:fltVal val="0"/>
                                          </p:val>
                                        </p:tav>
                                        <p:tav tm="100000">
                                          <p:val>
                                            <p:strVal val="#ppt_h"/>
                                          </p:val>
                                        </p:tav>
                                      </p:tavLst>
                                    </p:anim>
                                  </p:childTnLst>
                                  <p:subTnLst>
                                    <p:animClr clrSpc="rgb" dir="cw">
                                      <p:cBhvr override="childStyle">
                                        <p:cTn dur="1" fill="hold" display="0" masterRel="nextClick" afterEffect="1"/>
                                        <p:tgtEl>
                                          <p:spTgt spid="417795">
                                            <p:txEl>
                                              <p:pRg st="2" end="2"/>
                                            </p:txEl>
                                          </p:spTgt>
                                        </p:tgtEl>
                                        <p:attrNameLst>
                                          <p:attrName>ppt_c</p:attrName>
                                        </p:attrNameLst>
                                      </p:cBhvr>
                                      <p:to>
                                        <a:srgbClr val="008000"/>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4" fill="hold" grpId="0" nodeType="clickEffect">
                                  <p:stCondLst>
                                    <p:cond delay="0"/>
                                  </p:stCondLst>
                                  <p:childTnLst>
                                    <p:set>
                                      <p:cBhvr>
                                        <p:cTn id="30" dur="1" fill="hold">
                                          <p:stCondLst>
                                            <p:cond delay="0"/>
                                          </p:stCondLst>
                                        </p:cTn>
                                        <p:tgtEl>
                                          <p:spTgt spid="417795">
                                            <p:txEl>
                                              <p:pRg st="4" end="4"/>
                                            </p:txEl>
                                          </p:spTgt>
                                        </p:tgtEl>
                                        <p:attrNameLst>
                                          <p:attrName>style.visibility</p:attrName>
                                        </p:attrNameLst>
                                      </p:cBhvr>
                                      <p:to>
                                        <p:strVal val="visible"/>
                                      </p:to>
                                    </p:set>
                                    <p:anim calcmode="lin" valueType="num">
                                      <p:cBhvr>
                                        <p:cTn id="31" dur="500" fill="hold"/>
                                        <p:tgtEl>
                                          <p:spTgt spid="417795">
                                            <p:txEl>
                                              <p:pRg st="4" end="4"/>
                                            </p:txEl>
                                          </p:spTgt>
                                        </p:tgtEl>
                                        <p:attrNameLst>
                                          <p:attrName>ppt_x</p:attrName>
                                        </p:attrNameLst>
                                      </p:cBhvr>
                                      <p:tavLst>
                                        <p:tav tm="0">
                                          <p:val>
                                            <p:strVal val="#ppt_x"/>
                                          </p:val>
                                        </p:tav>
                                        <p:tav tm="100000">
                                          <p:val>
                                            <p:strVal val="#ppt_x"/>
                                          </p:val>
                                        </p:tav>
                                      </p:tavLst>
                                    </p:anim>
                                    <p:anim calcmode="lin" valueType="num">
                                      <p:cBhvr>
                                        <p:cTn id="32" dur="500" fill="hold"/>
                                        <p:tgtEl>
                                          <p:spTgt spid="417795">
                                            <p:txEl>
                                              <p:pRg st="4" end="4"/>
                                            </p:txEl>
                                          </p:spTgt>
                                        </p:tgtEl>
                                        <p:attrNameLst>
                                          <p:attrName>ppt_y</p:attrName>
                                        </p:attrNameLst>
                                      </p:cBhvr>
                                      <p:tavLst>
                                        <p:tav tm="0">
                                          <p:val>
                                            <p:strVal val="#ppt_y+#ppt_h/2"/>
                                          </p:val>
                                        </p:tav>
                                        <p:tav tm="100000">
                                          <p:val>
                                            <p:strVal val="#ppt_y"/>
                                          </p:val>
                                        </p:tav>
                                      </p:tavLst>
                                    </p:anim>
                                    <p:anim calcmode="lin" valueType="num">
                                      <p:cBhvr>
                                        <p:cTn id="33" dur="500" fill="hold"/>
                                        <p:tgtEl>
                                          <p:spTgt spid="417795">
                                            <p:txEl>
                                              <p:pRg st="4" end="4"/>
                                            </p:txEl>
                                          </p:spTgt>
                                        </p:tgtEl>
                                        <p:attrNameLst>
                                          <p:attrName>ppt_w</p:attrName>
                                        </p:attrNameLst>
                                      </p:cBhvr>
                                      <p:tavLst>
                                        <p:tav tm="0">
                                          <p:val>
                                            <p:strVal val="#ppt_w"/>
                                          </p:val>
                                        </p:tav>
                                        <p:tav tm="100000">
                                          <p:val>
                                            <p:strVal val="#ppt_w"/>
                                          </p:val>
                                        </p:tav>
                                      </p:tavLst>
                                    </p:anim>
                                    <p:anim calcmode="lin" valueType="num">
                                      <p:cBhvr>
                                        <p:cTn id="34" dur="500" fill="hold"/>
                                        <p:tgtEl>
                                          <p:spTgt spid="417795">
                                            <p:txEl>
                                              <p:pRg st="4" end="4"/>
                                            </p:txEl>
                                          </p:spTgt>
                                        </p:tgtEl>
                                        <p:attrNameLst>
                                          <p:attrName>ppt_h</p:attrName>
                                        </p:attrNameLst>
                                      </p:cBhvr>
                                      <p:tavLst>
                                        <p:tav tm="0">
                                          <p:val>
                                            <p:fltVal val="0"/>
                                          </p:val>
                                        </p:tav>
                                        <p:tav tm="100000">
                                          <p:val>
                                            <p:strVal val="#ppt_h"/>
                                          </p:val>
                                        </p:tav>
                                      </p:tavLst>
                                    </p:anim>
                                  </p:childTnLst>
                                  <p:subTnLst>
                                    <p:animClr clrSpc="rgb" dir="cw">
                                      <p:cBhvr override="childStyle">
                                        <p:cTn dur="1" fill="hold" display="0" masterRel="nextClick" afterEffect="1"/>
                                        <p:tgtEl>
                                          <p:spTgt spid="417795">
                                            <p:txEl>
                                              <p:pRg st="4" end="4"/>
                                            </p:txEl>
                                          </p:spTgt>
                                        </p:tgtEl>
                                        <p:attrNameLst>
                                          <p:attrName>ppt_c</p:attrName>
                                        </p:attrNameLst>
                                      </p:cBhvr>
                                      <p:to>
                                        <a:srgbClr val="008000"/>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4" fill="hold" grpId="0" nodeType="clickEffect">
                                  <p:stCondLst>
                                    <p:cond delay="0"/>
                                  </p:stCondLst>
                                  <p:childTnLst>
                                    <p:set>
                                      <p:cBhvr>
                                        <p:cTn id="38" dur="1" fill="hold">
                                          <p:stCondLst>
                                            <p:cond delay="0"/>
                                          </p:stCondLst>
                                        </p:cTn>
                                        <p:tgtEl>
                                          <p:spTgt spid="417795">
                                            <p:txEl>
                                              <p:pRg st="5" end="5"/>
                                            </p:txEl>
                                          </p:spTgt>
                                        </p:tgtEl>
                                        <p:attrNameLst>
                                          <p:attrName>style.visibility</p:attrName>
                                        </p:attrNameLst>
                                      </p:cBhvr>
                                      <p:to>
                                        <p:strVal val="visible"/>
                                      </p:to>
                                    </p:set>
                                    <p:anim calcmode="lin" valueType="num">
                                      <p:cBhvr>
                                        <p:cTn id="39" dur="500" fill="hold"/>
                                        <p:tgtEl>
                                          <p:spTgt spid="417795">
                                            <p:txEl>
                                              <p:pRg st="5" end="5"/>
                                            </p:txEl>
                                          </p:spTgt>
                                        </p:tgtEl>
                                        <p:attrNameLst>
                                          <p:attrName>ppt_x</p:attrName>
                                        </p:attrNameLst>
                                      </p:cBhvr>
                                      <p:tavLst>
                                        <p:tav tm="0">
                                          <p:val>
                                            <p:strVal val="#ppt_x"/>
                                          </p:val>
                                        </p:tav>
                                        <p:tav tm="100000">
                                          <p:val>
                                            <p:strVal val="#ppt_x"/>
                                          </p:val>
                                        </p:tav>
                                      </p:tavLst>
                                    </p:anim>
                                    <p:anim calcmode="lin" valueType="num">
                                      <p:cBhvr>
                                        <p:cTn id="40" dur="500" fill="hold"/>
                                        <p:tgtEl>
                                          <p:spTgt spid="417795">
                                            <p:txEl>
                                              <p:pRg st="5" end="5"/>
                                            </p:txEl>
                                          </p:spTgt>
                                        </p:tgtEl>
                                        <p:attrNameLst>
                                          <p:attrName>ppt_y</p:attrName>
                                        </p:attrNameLst>
                                      </p:cBhvr>
                                      <p:tavLst>
                                        <p:tav tm="0">
                                          <p:val>
                                            <p:strVal val="#ppt_y+#ppt_h/2"/>
                                          </p:val>
                                        </p:tav>
                                        <p:tav tm="100000">
                                          <p:val>
                                            <p:strVal val="#ppt_y"/>
                                          </p:val>
                                        </p:tav>
                                      </p:tavLst>
                                    </p:anim>
                                    <p:anim calcmode="lin" valueType="num">
                                      <p:cBhvr>
                                        <p:cTn id="41" dur="500" fill="hold"/>
                                        <p:tgtEl>
                                          <p:spTgt spid="417795">
                                            <p:txEl>
                                              <p:pRg st="5" end="5"/>
                                            </p:txEl>
                                          </p:spTgt>
                                        </p:tgtEl>
                                        <p:attrNameLst>
                                          <p:attrName>ppt_w</p:attrName>
                                        </p:attrNameLst>
                                      </p:cBhvr>
                                      <p:tavLst>
                                        <p:tav tm="0">
                                          <p:val>
                                            <p:strVal val="#ppt_w"/>
                                          </p:val>
                                        </p:tav>
                                        <p:tav tm="100000">
                                          <p:val>
                                            <p:strVal val="#ppt_w"/>
                                          </p:val>
                                        </p:tav>
                                      </p:tavLst>
                                    </p:anim>
                                    <p:anim calcmode="lin" valueType="num">
                                      <p:cBhvr>
                                        <p:cTn id="42" dur="500" fill="hold"/>
                                        <p:tgtEl>
                                          <p:spTgt spid="417795">
                                            <p:txEl>
                                              <p:pRg st="5" end="5"/>
                                            </p:txEl>
                                          </p:spTgt>
                                        </p:tgtEl>
                                        <p:attrNameLst>
                                          <p:attrName>ppt_h</p:attrName>
                                        </p:attrNameLst>
                                      </p:cBhvr>
                                      <p:tavLst>
                                        <p:tav tm="0">
                                          <p:val>
                                            <p:fltVal val="0"/>
                                          </p:val>
                                        </p:tav>
                                        <p:tav tm="100000">
                                          <p:val>
                                            <p:strVal val="#ppt_h"/>
                                          </p:val>
                                        </p:tav>
                                      </p:tavLst>
                                    </p:anim>
                                  </p:childTnLst>
                                  <p:subTnLst>
                                    <p:animClr clrSpc="rgb" dir="cw">
                                      <p:cBhvr override="childStyle">
                                        <p:cTn dur="1" fill="hold" display="0" masterRel="nextClick" afterEffect="1"/>
                                        <p:tgtEl>
                                          <p:spTgt spid="417795">
                                            <p:txEl>
                                              <p:pRg st="5" end="5"/>
                                            </p:txEl>
                                          </p:spTgt>
                                        </p:tgtEl>
                                        <p:attrNameLst>
                                          <p:attrName>ppt_c</p:attrName>
                                        </p:attrNameLst>
                                      </p:cBhvr>
                                      <p:to>
                                        <a:srgbClr val="008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795" grpId="0"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22" name="Rectangle 2">
            <a:extLst>
              <a:ext uri="{FF2B5EF4-FFF2-40B4-BE49-F238E27FC236}">
                <a16:creationId xmlns:a16="http://schemas.microsoft.com/office/drawing/2014/main" id="{D1401CB7-5DAC-45D4-971F-672F25C4B396}"/>
              </a:ext>
            </a:extLst>
          </p:cNvPr>
          <p:cNvSpPr>
            <a:spLocks noGrp="1" noChangeArrowheads="1"/>
          </p:cNvSpPr>
          <p:nvPr>
            <p:ph type="body" idx="1"/>
          </p:nvPr>
        </p:nvSpPr>
        <p:spPr>
          <a:xfrm>
            <a:off x="755650" y="1412875"/>
            <a:ext cx="7705725" cy="4537075"/>
          </a:xfrm>
        </p:spPr>
        <p:txBody>
          <a:bodyPr/>
          <a:lstStyle/>
          <a:p>
            <a:pPr eaLnBrk="1" hangingPunct="1"/>
            <a:r>
              <a:rPr lang="zh-CN" altLang="en-US" sz="3600" b="1">
                <a:solidFill>
                  <a:srgbClr val="FFFF00"/>
                </a:solidFill>
                <a:effectLst/>
                <a:latin typeface="黑体" panose="02010609060101010101" pitchFamily="49" charset="-122"/>
                <a:ea typeface="黑体" panose="02010609060101010101" pitchFamily="49" charset="-122"/>
              </a:rPr>
              <a:t>在生产者</a:t>
            </a:r>
            <a:r>
              <a:rPr lang="en-US" altLang="zh-CN" sz="3600" b="1">
                <a:solidFill>
                  <a:srgbClr val="FFFF00"/>
                </a:solidFill>
                <a:effectLst/>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消费者问题中，如果只有一个生产者和一个消费者或者将有界缓冲区变为缓冲区队列（每次数据操作单位为一个缓冲区）又该如何用信号量机制和</a:t>
            </a:r>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V</a:t>
            </a:r>
            <a:r>
              <a:rPr lang="zh-CN" altLang="en-US" sz="3600" b="1">
                <a:solidFill>
                  <a:srgbClr val="FFFF00"/>
                </a:solidFill>
                <a:effectLst/>
                <a:latin typeface="黑体" panose="02010609060101010101" pitchFamily="49" charset="-122"/>
                <a:ea typeface="黑体" panose="02010609060101010101" pitchFamily="49" charset="-122"/>
              </a:rPr>
              <a:t>原语解决上述问题？</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27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2"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3746" name="Rectangle 2">
            <a:extLst>
              <a:ext uri="{FF2B5EF4-FFF2-40B4-BE49-F238E27FC236}">
                <a16:creationId xmlns:a16="http://schemas.microsoft.com/office/drawing/2014/main" id="{4516F3FD-12A5-4665-B5BE-FAF74B4695DC}"/>
              </a:ext>
            </a:extLst>
          </p:cNvPr>
          <p:cNvSpPr>
            <a:spLocks noGrp="1" noChangeArrowheads="1"/>
          </p:cNvSpPr>
          <p:nvPr>
            <p:ph type="body" idx="1"/>
          </p:nvPr>
        </p:nvSpPr>
        <p:spPr>
          <a:xfrm>
            <a:off x="26886" y="764704"/>
            <a:ext cx="8424936" cy="5832475"/>
          </a:xfrm>
        </p:spPr>
        <p:txBody>
          <a:bodyPr/>
          <a:lstStyle/>
          <a:p>
            <a:pPr eaLnBrk="1" hangingPunct="1"/>
            <a:r>
              <a:rPr lang="en-US" altLang="zh-CN" sz="2800" b="1" dirty="0">
                <a:solidFill>
                  <a:srgbClr val="FFFF00"/>
                </a:solidFill>
                <a:effectLst/>
                <a:latin typeface="黑体" panose="02010609060101010101" pitchFamily="49" charset="-122"/>
                <a:ea typeface="黑体" panose="02010609060101010101" pitchFamily="49" charset="-122"/>
              </a:rPr>
              <a:t>2.</a:t>
            </a:r>
            <a:r>
              <a:rPr lang="zh-CN" altLang="en-US" sz="2800" b="1" dirty="0">
                <a:solidFill>
                  <a:srgbClr val="FFFF00"/>
                </a:solidFill>
                <a:effectLst/>
                <a:latin typeface="黑体" panose="02010609060101010101" pitchFamily="49" charset="-122"/>
                <a:ea typeface="黑体" panose="02010609060101010101" pitchFamily="49" charset="-122"/>
              </a:rPr>
              <a:t>哲学家进餐问题</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问题描述：一张圆桌上坐着五个哲学家，每两个哲学家之间摆一根筷子，筷子的中间是一碗米饭。</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哲学家们的生活方式是交替地进行思考和进餐，哲学家在思考时，并不影响他人</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只有当哲学家饥饿的时候，才试图拿起左、右两根筷子。如果筷子已在他人手上，则需等待。饥饿的哲学家只有同时拿到了两根筷子才可以开始进餐</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当进餐完毕后，放下筷子继续思考。</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描述哲学家进餐进程。</a:t>
            </a:r>
          </a:p>
        </p:txBody>
      </p:sp>
      <p:pic>
        <p:nvPicPr>
          <p:cNvPr id="2" name="Picture 4">
            <a:extLst>
              <a:ext uri="{FF2B5EF4-FFF2-40B4-BE49-F238E27FC236}">
                <a16:creationId xmlns:a16="http://schemas.microsoft.com/office/drawing/2014/main" id="{2E3A193B-0982-4C54-AAF1-2C0661EF8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5013176"/>
            <a:ext cx="3707904" cy="1832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307D1EC7-40A5-393A-4934-2687A7D0F5F6}"/>
              </a:ext>
            </a:extLst>
          </p:cNvPr>
          <p:cNvSpPr>
            <a:spLocks noGrp="1" noChangeArrowheads="1"/>
          </p:cNvSpPr>
          <p:nvPr>
            <p:ph type="title"/>
          </p:nvPr>
        </p:nvSpPr>
        <p:spPr>
          <a:xfrm>
            <a:off x="35290" y="245285"/>
            <a:ext cx="8480425" cy="504478"/>
          </a:xfrm>
        </p:spPr>
        <p:txBody>
          <a:bodyPr anchor="b" anchorCtr="0"/>
          <a:lstStyle/>
          <a:p>
            <a:pPr eaLnBrk="1" hangingPunct="1">
              <a:defRPr/>
            </a:pPr>
            <a:r>
              <a:rPr lang="en-US" altLang="zh-CN" sz="3200" b="1" dirty="0">
                <a:solidFill>
                  <a:schemeClr val="tx1"/>
                </a:solidFill>
                <a:effectLst>
                  <a:outerShdw blurRad="38100" dist="38100" dir="2700000" algn="tl">
                    <a:srgbClr val="010199"/>
                  </a:outerShdw>
                </a:effectLst>
                <a:latin typeface="楷体_GB2312" pitchFamily="49" charset="-122"/>
                <a:ea typeface="楷体_GB2312" pitchFamily="49" charset="-122"/>
              </a:rPr>
              <a:t>3.4.5</a:t>
            </a:r>
            <a:r>
              <a:rPr lang="zh-CN" altLang="en-US" sz="3200" b="1" dirty="0">
                <a:solidFill>
                  <a:schemeClr val="tx1"/>
                </a:solidFill>
                <a:effectLst>
                  <a:outerShdw blurRad="38100" dist="38100" dir="2700000" algn="tl">
                    <a:srgbClr val="010199"/>
                  </a:outerShdw>
                </a:effectLst>
                <a:latin typeface="楷体_GB2312" pitchFamily="49" charset="-122"/>
                <a:ea typeface="楷体_GB2312" pitchFamily="49" charset="-122"/>
              </a:rPr>
              <a:t>经典同步互斥问题</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374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374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374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4374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43746">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4374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6"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5794" name="Rectangle 2">
            <a:extLst>
              <a:ext uri="{FF2B5EF4-FFF2-40B4-BE49-F238E27FC236}">
                <a16:creationId xmlns:a16="http://schemas.microsoft.com/office/drawing/2014/main" id="{9C3C2CEC-C017-48C9-94BC-DF1A2C9F9D6D}"/>
              </a:ext>
            </a:extLst>
          </p:cNvPr>
          <p:cNvSpPr>
            <a:spLocks noGrp="1" noChangeArrowheads="1"/>
          </p:cNvSpPr>
          <p:nvPr>
            <p:ph type="body" idx="1"/>
          </p:nvPr>
        </p:nvSpPr>
        <p:spPr>
          <a:xfrm>
            <a:off x="611188" y="549275"/>
            <a:ext cx="7993062" cy="5832475"/>
          </a:xfrm>
        </p:spPr>
        <p:txBody>
          <a:bodyPr/>
          <a:lstStyle/>
          <a:p>
            <a:pPr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问题分析：</a:t>
            </a:r>
          </a:p>
          <a:p>
            <a:pPr eaLnBrk="1" hangingPunct="1"/>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关系分析。显然这里有五个哲学家进餐进程并发执行，拿到左右两个筷子可以进餐。筷子是临界资源，五个哲学家与左右邻居对其中间筷子的访问是互斥关系。</a:t>
            </a:r>
          </a:p>
          <a:p>
            <a:pPr eaLnBrk="1" hangingPunct="1"/>
            <a:r>
              <a:rPr lang="en-US" altLang="zh-CN" b="1" dirty="0">
                <a:solidFill>
                  <a:srgbClr val="FFFF00"/>
                </a:solidFill>
                <a:effectLst/>
                <a:latin typeface="黑体" panose="02010609060101010101" pitchFamily="49" charset="-122"/>
                <a:ea typeface="黑体" panose="02010609060101010101" pitchFamily="49" charset="-122"/>
              </a:rPr>
              <a:t>(2)</a:t>
            </a:r>
            <a:r>
              <a:rPr lang="zh-CN" altLang="en-US" b="1" dirty="0">
                <a:solidFill>
                  <a:srgbClr val="FFFF00"/>
                </a:solidFill>
                <a:effectLst/>
                <a:latin typeface="黑体" panose="02010609060101010101" pitchFamily="49" charset="-122"/>
                <a:ea typeface="黑体" panose="02010609060101010101" pitchFamily="49" charset="-122"/>
              </a:rPr>
              <a:t>信号量设置。应为每个筷子设置互斥信号量，定义互斥信号量数组</a:t>
            </a:r>
            <a:r>
              <a:rPr lang="en-US" altLang="zh-CN" b="1" dirty="0">
                <a:solidFill>
                  <a:srgbClr val="FFFF00"/>
                </a:solidFill>
                <a:effectLst/>
                <a:latin typeface="黑体" panose="02010609060101010101" pitchFamily="49" charset="-122"/>
                <a:ea typeface="黑体" panose="02010609060101010101" pitchFamily="49" charset="-122"/>
              </a:rPr>
              <a:t>chopstick[5]={1</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用于对五个筷子的互斥访问。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579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579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579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4"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6818" name="Rectangle 2">
            <a:extLst>
              <a:ext uri="{FF2B5EF4-FFF2-40B4-BE49-F238E27FC236}">
                <a16:creationId xmlns:a16="http://schemas.microsoft.com/office/drawing/2014/main" id="{85A02096-FDB4-4D27-9007-4A75E542AE38}"/>
              </a:ext>
            </a:extLst>
          </p:cNvPr>
          <p:cNvSpPr>
            <a:spLocks noGrp="1" noChangeArrowheads="1"/>
          </p:cNvSpPr>
          <p:nvPr>
            <p:ph type="body" idx="1"/>
          </p:nvPr>
        </p:nvSpPr>
        <p:spPr>
          <a:xfrm>
            <a:off x="611188" y="736600"/>
            <a:ext cx="8208962" cy="6121400"/>
          </a:xfrm>
        </p:spPr>
        <p:txBody>
          <a:bodyPr/>
          <a:lstStyle/>
          <a:p>
            <a:pPr eaLnBrk="1" hangingPunct="1">
              <a:lnSpc>
                <a:spcPct val="80000"/>
              </a:lnSpc>
              <a:buFont typeface="Wingdings" panose="05000000000000000000" pitchFamily="2" charset="2"/>
              <a:buNone/>
            </a:pPr>
            <a:r>
              <a:rPr lang="en-US" altLang="zh-CN" sz="2400" b="1" dirty="0">
                <a:solidFill>
                  <a:srgbClr val="FFFF00"/>
                </a:solidFill>
                <a:effectLst/>
                <a:latin typeface="黑体" panose="02010609060101010101" pitchFamily="49" charset="-122"/>
                <a:ea typeface="黑体" panose="02010609060101010101" pitchFamily="49" charset="-122"/>
              </a:rPr>
              <a:t>(3)P</a:t>
            </a:r>
            <a:r>
              <a:rPr lang="zh-CN" altLang="en-US" sz="2400" b="1" dirty="0">
                <a:solidFill>
                  <a:srgbClr val="FFFF00"/>
                </a:solidFill>
                <a:effectLst/>
                <a:latin typeface="黑体" panose="02010609060101010101" pitchFamily="49" charset="-122"/>
                <a:ea typeface="黑体" panose="02010609060101010101" pitchFamily="49" charset="-122"/>
              </a:rPr>
              <a:t>、</a:t>
            </a:r>
            <a:r>
              <a:rPr lang="en-US" altLang="zh-CN" sz="2400" b="1" dirty="0">
                <a:solidFill>
                  <a:srgbClr val="FFFF00"/>
                </a:solidFill>
                <a:effectLst/>
                <a:latin typeface="黑体" panose="02010609060101010101" pitchFamily="49" charset="-122"/>
                <a:ea typeface="黑体" panose="02010609060101010101" pitchFamily="49" charset="-122"/>
              </a:rPr>
              <a:t>V</a:t>
            </a:r>
            <a:r>
              <a:rPr lang="zh-CN" altLang="en-US" sz="2400" b="1" dirty="0">
                <a:solidFill>
                  <a:srgbClr val="FFFF00"/>
                </a:solidFill>
                <a:effectLst/>
                <a:latin typeface="黑体" panose="02010609060101010101" pitchFamily="49" charset="-122"/>
                <a:ea typeface="黑体" panose="02010609060101010101" pitchFamily="49" charset="-122"/>
              </a:rPr>
              <a:t>操作实现</a:t>
            </a:r>
          </a:p>
          <a:p>
            <a:pPr eaLnBrk="1" hangingPunct="1">
              <a:lnSpc>
                <a:spcPct val="80000"/>
              </a:lnSpc>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对哲学家按顺序从</a:t>
            </a:r>
            <a:r>
              <a:rPr lang="en-US" altLang="zh-CN" sz="2400" b="1" dirty="0">
                <a:solidFill>
                  <a:srgbClr val="FFFF00"/>
                </a:solidFill>
                <a:effectLst/>
                <a:latin typeface="黑体" panose="02010609060101010101" pitchFamily="49" charset="-122"/>
                <a:ea typeface="黑体" panose="02010609060101010101" pitchFamily="49" charset="-122"/>
              </a:rPr>
              <a:t>0</a:t>
            </a:r>
            <a:r>
              <a:rPr lang="zh-CN" altLang="en-US" sz="2400" b="1" dirty="0">
                <a:solidFill>
                  <a:srgbClr val="FFFF00"/>
                </a:solidFill>
                <a:effectLst/>
                <a:latin typeface="黑体" panose="02010609060101010101" pitchFamily="49" charset="-122"/>
                <a:ea typeface="黑体" panose="02010609060101010101" pitchFamily="49" charset="-122"/>
              </a:rPr>
              <a:t>～</a:t>
            </a:r>
            <a:r>
              <a:rPr lang="en-US" altLang="zh-CN" sz="2400" b="1" dirty="0">
                <a:solidFill>
                  <a:srgbClr val="FFFF00"/>
                </a:solidFill>
                <a:effectLst/>
                <a:latin typeface="黑体" panose="02010609060101010101" pitchFamily="49" charset="-122"/>
                <a:ea typeface="黑体" panose="02010609060101010101" pitchFamily="49" charset="-122"/>
              </a:rPr>
              <a:t>4</a:t>
            </a:r>
            <a:r>
              <a:rPr lang="zh-CN" altLang="en-US" sz="2400" b="1" dirty="0">
                <a:solidFill>
                  <a:srgbClr val="FFFF00"/>
                </a:solidFill>
                <a:effectLst/>
                <a:latin typeface="黑体" panose="02010609060101010101" pitchFamily="49" charset="-122"/>
                <a:ea typeface="黑体" panose="02010609060101010101" pitchFamily="49" charset="-122"/>
              </a:rPr>
              <a:t>编号，哲学家</a:t>
            </a:r>
            <a:r>
              <a:rPr lang="en-US" altLang="zh-CN" sz="2400" b="1" dirty="0" err="1">
                <a:solidFill>
                  <a:srgbClr val="FFFF00"/>
                </a:solidFill>
                <a:effectLst/>
                <a:latin typeface="黑体" panose="02010609060101010101" pitchFamily="49" charset="-122"/>
                <a:ea typeface="黑体" panose="02010609060101010101" pitchFamily="49" charset="-122"/>
              </a:rPr>
              <a:t>i</a:t>
            </a:r>
            <a:r>
              <a:rPr lang="zh-CN" altLang="en-US" sz="2400" b="1" dirty="0">
                <a:solidFill>
                  <a:srgbClr val="FFFF00"/>
                </a:solidFill>
                <a:effectLst/>
                <a:latin typeface="黑体" panose="02010609060101010101" pitchFamily="49" charset="-122"/>
                <a:ea typeface="黑体" panose="02010609060101010101" pitchFamily="49" charset="-122"/>
              </a:rPr>
              <a:t>左边的筷子的编号为</a:t>
            </a:r>
            <a:r>
              <a:rPr lang="en-US" altLang="zh-CN" sz="2400" b="1" dirty="0" err="1">
                <a:solidFill>
                  <a:srgbClr val="FFFF00"/>
                </a:solidFill>
                <a:effectLst/>
                <a:latin typeface="黑体" panose="02010609060101010101" pitchFamily="49" charset="-122"/>
                <a:ea typeface="黑体" panose="02010609060101010101" pitchFamily="49" charset="-122"/>
              </a:rPr>
              <a:t>i</a:t>
            </a:r>
            <a:r>
              <a:rPr lang="zh-CN" altLang="en-US" sz="2400" b="1" dirty="0">
                <a:solidFill>
                  <a:srgbClr val="FFFF00"/>
                </a:solidFill>
                <a:effectLst/>
                <a:latin typeface="黑体" panose="02010609060101010101" pitchFamily="49" charset="-122"/>
                <a:ea typeface="黑体" panose="02010609060101010101" pitchFamily="49" charset="-122"/>
              </a:rPr>
              <a:t>，哲学家右边的筷子的编号为</a:t>
            </a:r>
            <a:r>
              <a:rPr lang="en-US" altLang="zh-CN" sz="2400" b="1" dirty="0">
                <a:solidFill>
                  <a:srgbClr val="FFFF00"/>
                </a:solidFill>
                <a:effectLst/>
                <a:latin typeface="黑体" panose="02010609060101010101" pitchFamily="49" charset="-122"/>
                <a:ea typeface="黑体" panose="02010609060101010101" pitchFamily="49" charset="-122"/>
              </a:rPr>
              <a:t>(i+1)</a:t>
            </a:r>
            <a:r>
              <a:rPr lang="zh-CN" altLang="en-US" sz="2400" b="1" dirty="0">
                <a:solidFill>
                  <a:srgbClr val="FFFF00"/>
                </a:solidFill>
                <a:effectLst/>
                <a:latin typeface="黑体" panose="02010609060101010101" pitchFamily="49" charset="-122"/>
                <a:ea typeface="黑体" panose="02010609060101010101" pitchFamily="49" charset="-122"/>
              </a:rPr>
              <a:t>％</a:t>
            </a:r>
            <a:r>
              <a:rPr lang="en-US" altLang="zh-CN" sz="2400" b="1" dirty="0">
                <a:solidFill>
                  <a:srgbClr val="FFFF00"/>
                </a:solidFill>
                <a:effectLst/>
                <a:latin typeface="黑体" panose="02010609060101010101" pitchFamily="49" charset="-122"/>
                <a:ea typeface="黑体" panose="02010609060101010101" pitchFamily="49" charset="-122"/>
              </a:rPr>
              <a:t>5</a:t>
            </a:r>
            <a:r>
              <a:rPr lang="zh-CN" altLang="en-US" sz="2400" b="1" dirty="0">
                <a:solidFill>
                  <a:srgbClr val="FFFF00"/>
                </a:solidFill>
                <a:effectLst/>
                <a:latin typeface="黑体" panose="02010609060101010101" pitchFamily="49" charset="-122"/>
                <a:ea typeface="黑体" panose="02010609060101010101" pitchFamily="49" charset="-122"/>
              </a:rPr>
              <a:t>。</a:t>
            </a:r>
          </a:p>
          <a:p>
            <a:pPr eaLnBrk="1" hangingPunct="1">
              <a:lnSpc>
                <a:spcPct val="80000"/>
              </a:lnSpc>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a:t>
            </a:r>
            <a:r>
              <a:rPr lang="en-US" altLang="zh-CN" sz="2400" b="1" dirty="0">
                <a:solidFill>
                  <a:srgbClr val="FFFF00"/>
                </a:solidFill>
                <a:effectLst/>
                <a:latin typeface="黑体" panose="02010609060101010101" pitchFamily="49" charset="-122"/>
                <a:ea typeface="黑体" panose="02010609060101010101" pitchFamily="49" charset="-122"/>
              </a:rPr>
              <a:t>semaphore chopstick[5]={1,1,1,1,1}; </a:t>
            </a:r>
          </a:p>
          <a:p>
            <a:pPr eaLnBrk="1" hangingPunct="1">
              <a:lnSpc>
                <a:spcPct val="80000"/>
              </a:lnSpc>
              <a:buFont typeface="Wingdings" panose="05000000000000000000" pitchFamily="2" charset="2"/>
              <a:buNone/>
            </a:pPr>
            <a:r>
              <a:rPr lang="en-US" altLang="zh-CN" sz="2400" b="1" dirty="0">
                <a:solidFill>
                  <a:srgbClr val="FFFF00"/>
                </a:solidFill>
                <a:effectLst/>
                <a:latin typeface="黑体" panose="02010609060101010101" pitchFamily="49" charset="-122"/>
                <a:ea typeface="黑体" panose="02010609060101010101" pitchFamily="49" charset="-122"/>
              </a:rPr>
              <a:t>  Pi(int </a:t>
            </a:r>
            <a:r>
              <a:rPr lang="en-US" altLang="zh-CN" sz="2400" b="1" dirty="0" err="1">
                <a:solidFill>
                  <a:srgbClr val="FFFF00"/>
                </a:solidFill>
                <a:effectLst/>
                <a:latin typeface="黑体" panose="02010609060101010101" pitchFamily="49" charset="-122"/>
                <a:ea typeface="黑体" panose="02010609060101010101" pitchFamily="49" charset="-122"/>
              </a:rPr>
              <a:t>i</a:t>
            </a:r>
            <a:r>
              <a:rPr lang="en-US" altLang="zh-CN" sz="2400" b="1" dirty="0">
                <a:solidFill>
                  <a:srgbClr val="FFFF00"/>
                </a:solidFill>
                <a:effectLst/>
                <a:latin typeface="黑体" panose="02010609060101010101" pitchFamily="49" charset="-122"/>
                <a:ea typeface="黑体" panose="02010609060101010101" pitchFamily="49" charset="-122"/>
              </a:rPr>
              <a:t>){                       //</a:t>
            </a:r>
            <a:r>
              <a:rPr lang="en-US" altLang="zh-CN" sz="2400" b="1" dirty="0" err="1">
                <a:solidFill>
                  <a:srgbClr val="FFFF00"/>
                </a:solidFill>
                <a:effectLst/>
                <a:latin typeface="黑体" panose="02010609060101010101" pitchFamily="49" charset="-122"/>
                <a:ea typeface="黑体" panose="02010609060101010101" pitchFamily="49" charset="-122"/>
              </a:rPr>
              <a:t>i</a:t>
            </a:r>
            <a:r>
              <a:rPr lang="zh-CN" altLang="en-US" sz="2400" b="1" dirty="0">
                <a:solidFill>
                  <a:srgbClr val="FFFF00"/>
                </a:solidFill>
                <a:effectLst/>
                <a:latin typeface="黑体" panose="02010609060101010101" pitchFamily="49" charset="-122"/>
                <a:ea typeface="黑体" panose="02010609060101010101" pitchFamily="49" charset="-122"/>
              </a:rPr>
              <a:t>号哲学家的进程</a:t>
            </a:r>
          </a:p>
          <a:p>
            <a:pPr eaLnBrk="1" hangingPunct="1">
              <a:lnSpc>
                <a:spcPct val="80000"/>
              </a:lnSpc>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a:t>
            </a:r>
            <a:r>
              <a:rPr lang="en-US" altLang="zh-CN" sz="2400" b="1" dirty="0">
                <a:solidFill>
                  <a:srgbClr val="FFFF00"/>
                </a:solidFill>
                <a:effectLst/>
                <a:latin typeface="黑体" panose="02010609060101010101" pitchFamily="49" charset="-122"/>
                <a:ea typeface="黑体" panose="02010609060101010101" pitchFamily="49" charset="-122"/>
              </a:rPr>
              <a:t>do {     </a:t>
            </a:r>
          </a:p>
          <a:p>
            <a:pPr eaLnBrk="1" hangingPunct="1">
              <a:lnSpc>
                <a:spcPct val="80000"/>
              </a:lnSpc>
              <a:buNone/>
            </a:pPr>
            <a:r>
              <a:rPr lang="en-US" altLang="zh-CN" sz="2400" b="1" dirty="0">
                <a:solidFill>
                  <a:srgbClr val="FFFF00"/>
                </a:solidFill>
                <a:effectLst/>
                <a:latin typeface="黑体" panose="02010609060101010101" pitchFamily="49" charset="-122"/>
                <a:ea typeface="黑体" panose="02010609060101010101" pitchFamily="49" charset="-122"/>
              </a:rPr>
              <a:t>	             think;</a:t>
            </a:r>
          </a:p>
          <a:p>
            <a:pPr eaLnBrk="1" hangingPunct="1">
              <a:lnSpc>
                <a:spcPct val="80000"/>
              </a:lnSpc>
              <a:buFont typeface="Wingdings" panose="05000000000000000000" pitchFamily="2" charset="2"/>
              <a:buNone/>
            </a:pPr>
            <a:r>
              <a:rPr lang="en-US" altLang="zh-CN" sz="2400" b="1" dirty="0">
                <a:solidFill>
                  <a:srgbClr val="FFFF00"/>
                </a:solidFill>
                <a:effectLst/>
                <a:latin typeface="黑体" panose="02010609060101010101" pitchFamily="49" charset="-122"/>
                <a:ea typeface="黑体" panose="02010609060101010101" pitchFamily="49" charset="-122"/>
              </a:rPr>
              <a:t>               P(chopstick[</a:t>
            </a:r>
            <a:r>
              <a:rPr lang="en-US" altLang="zh-CN" sz="2400" b="1" dirty="0" err="1">
                <a:solidFill>
                  <a:srgbClr val="FFFF00"/>
                </a:solidFill>
                <a:effectLst/>
                <a:latin typeface="黑体" panose="02010609060101010101" pitchFamily="49" charset="-122"/>
                <a:ea typeface="黑体" panose="02010609060101010101" pitchFamily="49" charset="-122"/>
              </a:rPr>
              <a:t>i</a:t>
            </a:r>
            <a:r>
              <a:rPr lang="en-US" altLang="zh-CN" sz="2400" b="1" dirty="0">
                <a:solidFill>
                  <a:srgbClr val="FFFF00"/>
                </a:solidFill>
                <a:effectLst/>
                <a:latin typeface="黑体" panose="02010609060101010101" pitchFamily="49" charset="-122"/>
                <a:ea typeface="黑体" panose="02010609060101010101" pitchFamily="49" charset="-122"/>
              </a:rPr>
              <a:t>])        //</a:t>
            </a:r>
            <a:r>
              <a:rPr lang="zh-CN" altLang="en-US" sz="2400" b="1" dirty="0">
                <a:solidFill>
                  <a:srgbClr val="FFFF00"/>
                </a:solidFill>
                <a:effectLst/>
                <a:latin typeface="黑体" panose="02010609060101010101" pitchFamily="49" charset="-122"/>
                <a:ea typeface="黑体" panose="02010609060101010101" pitchFamily="49" charset="-122"/>
              </a:rPr>
              <a:t>取左边筷子</a:t>
            </a:r>
          </a:p>
          <a:p>
            <a:pPr eaLnBrk="1" hangingPunct="1">
              <a:lnSpc>
                <a:spcPct val="80000"/>
              </a:lnSpc>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a:t>
            </a:r>
            <a:r>
              <a:rPr lang="en-US" altLang="zh-CN" sz="2400" b="1" dirty="0">
                <a:solidFill>
                  <a:srgbClr val="FFFF00"/>
                </a:solidFill>
                <a:effectLst/>
                <a:latin typeface="黑体" panose="02010609060101010101" pitchFamily="49" charset="-122"/>
                <a:ea typeface="黑体" panose="02010609060101010101" pitchFamily="49" charset="-122"/>
              </a:rPr>
              <a:t>P(chopstick[(i+1)%5]); //</a:t>
            </a:r>
            <a:r>
              <a:rPr lang="zh-CN" altLang="en-US" sz="2400" b="1" dirty="0">
                <a:solidFill>
                  <a:srgbClr val="FFFF00"/>
                </a:solidFill>
                <a:effectLst/>
                <a:latin typeface="黑体" panose="02010609060101010101" pitchFamily="49" charset="-122"/>
                <a:ea typeface="黑体" panose="02010609060101010101" pitchFamily="49" charset="-122"/>
              </a:rPr>
              <a:t>取右边筷子</a:t>
            </a:r>
          </a:p>
          <a:p>
            <a:pPr eaLnBrk="1" hangingPunct="1">
              <a:lnSpc>
                <a:spcPct val="80000"/>
              </a:lnSpc>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a:t>
            </a:r>
            <a:r>
              <a:rPr lang="en-US" altLang="zh-CN" sz="2400" b="1" dirty="0">
                <a:solidFill>
                  <a:srgbClr val="FFFF00"/>
                </a:solidFill>
                <a:effectLst/>
                <a:latin typeface="黑体" panose="02010609060101010101" pitchFamily="49" charset="-122"/>
                <a:ea typeface="黑体" panose="02010609060101010101" pitchFamily="49" charset="-122"/>
              </a:rPr>
              <a:t>eat;                 //</a:t>
            </a:r>
            <a:r>
              <a:rPr lang="zh-CN" altLang="en-US" sz="2400" b="1" dirty="0">
                <a:solidFill>
                  <a:srgbClr val="FFFF00"/>
                </a:solidFill>
                <a:effectLst/>
                <a:latin typeface="黑体" panose="02010609060101010101" pitchFamily="49" charset="-122"/>
                <a:ea typeface="黑体" panose="02010609060101010101" pitchFamily="49" charset="-122"/>
              </a:rPr>
              <a:t>进餐</a:t>
            </a:r>
          </a:p>
          <a:p>
            <a:pPr eaLnBrk="1" hangingPunct="1">
              <a:lnSpc>
                <a:spcPct val="80000"/>
              </a:lnSpc>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a:t>
            </a:r>
            <a:r>
              <a:rPr lang="en-US" altLang="zh-CN" sz="2400" b="1" dirty="0">
                <a:solidFill>
                  <a:srgbClr val="FFFF00"/>
                </a:solidFill>
                <a:effectLst/>
                <a:latin typeface="黑体" panose="02010609060101010101" pitchFamily="49" charset="-122"/>
                <a:ea typeface="黑体" panose="02010609060101010101" pitchFamily="49" charset="-122"/>
              </a:rPr>
              <a:t>V(chopstick[</a:t>
            </a:r>
            <a:r>
              <a:rPr lang="en-US" altLang="zh-CN" sz="2400" b="1" dirty="0" err="1">
                <a:solidFill>
                  <a:srgbClr val="FFFF00"/>
                </a:solidFill>
                <a:effectLst/>
                <a:latin typeface="黑体" panose="02010609060101010101" pitchFamily="49" charset="-122"/>
                <a:ea typeface="黑体" panose="02010609060101010101" pitchFamily="49" charset="-122"/>
              </a:rPr>
              <a:t>i</a:t>
            </a:r>
            <a:r>
              <a:rPr lang="en-US" altLang="zh-CN" sz="2400" b="1" dirty="0">
                <a:solidFill>
                  <a:srgbClr val="FFFF00"/>
                </a:solidFill>
                <a:effectLst/>
                <a:latin typeface="黑体" panose="02010609060101010101" pitchFamily="49" charset="-122"/>
                <a:ea typeface="黑体" panose="02010609060101010101" pitchFamily="49" charset="-122"/>
              </a:rPr>
              <a:t>]);     //</a:t>
            </a:r>
            <a:r>
              <a:rPr lang="zh-CN" altLang="en-US" sz="2400" b="1" dirty="0">
                <a:solidFill>
                  <a:srgbClr val="FFFF00"/>
                </a:solidFill>
                <a:effectLst/>
                <a:latin typeface="黑体" panose="02010609060101010101" pitchFamily="49" charset="-122"/>
                <a:ea typeface="黑体" panose="02010609060101010101" pitchFamily="49" charset="-122"/>
              </a:rPr>
              <a:t>放回左边筷子</a:t>
            </a:r>
          </a:p>
          <a:p>
            <a:pPr eaLnBrk="1" hangingPunct="1">
              <a:lnSpc>
                <a:spcPct val="80000"/>
              </a:lnSpc>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a:t>
            </a:r>
            <a:r>
              <a:rPr lang="en-US" altLang="zh-CN" sz="2400" b="1" dirty="0">
                <a:solidFill>
                  <a:srgbClr val="FFFF00"/>
                </a:solidFill>
                <a:effectLst/>
                <a:latin typeface="黑体" panose="02010609060101010101" pitchFamily="49" charset="-122"/>
                <a:ea typeface="黑体" panose="02010609060101010101" pitchFamily="49" charset="-122"/>
              </a:rPr>
              <a:t>V(chopstick[(i+1)%5]); //</a:t>
            </a:r>
            <a:r>
              <a:rPr lang="zh-CN" altLang="en-US" sz="2400" b="1" dirty="0">
                <a:solidFill>
                  <a:srgbClr val="FFFF00"/>
                </a:solidFill>
                <a:effectLst/>
                <a:latin typeface="黑体" panose="02010609060101010101" pitchFamily="49" charset="-122"/>
                <a:ea typeface="黑体" panose="02010609060101010101" pitchFamily="49" charset="-122"/>
              </a:rPr>
              <a:t>放回右边筷子               </a:t>
            </a:r>
          </a:p>
          <a:p>
            <a:pPr eaLnBrk="1" hangingPunct="1">
              <a:lnSpc>
                <a:spcPct val="80000"/>
              </a:lnSpc>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a:t>
            </a:r>
            <a:r>
              <a:rPr lang="en-US" altLang="zh-CN" sz="2400" b="1" dirty="0">
                <a:solidFill>
                  <a:srgbClr val="FFFF00"/>
                </a:solidFill>
                <a:effectLst/>
                <a:latin typeface="黑体" panose="02010609060101010101" pitchFamily="49" charset="-122"/>
                <a:ea typeface="黑体" panose="02010609060101010101" pitchFamily="49" charset="-122"/>
              </a:rPr>
              <a:t>think;               /</a:t>
            </a:r>
            <a:r>
              <a:rPr lang="zh-CN" altLang="en-US" sz="2400" b="1" dirty="0">
                <a:solidFill>
                  <a:srgbClr val="FFFF00"/>
                </a:solidFill>
                <a:effectLst/>
                <a:latin typeface="黑体" panose="02010609060101010101" pitchFamily="49" charset="-122"/>
                <a:ea typeface="黑体" panose="02010609060101010101" pitchFamily="49" charset="-122"/>
              </a:rPr>
              <a:t>思考</a:t>
            </a:r>
          </a:p>
          <a:p>
            <a:pPr eaLnBrk="1" hangingPunct="1">
              <a:lnSpc>
                <a:spcPct val="80000"/>
              </a:lnSpc>
              <a:buFont typeface="Wingdings" panose="05000000000000000000" pitchFamily="2" charset="2"/>
              <a:buNone/>
            </a:pPr>
            <a:r>
              <a:rPr lang="zh-CN" altLang="en-US" sz="2400" b="1" dirty="0">
                <a:solidFill>
                  <a:srgbClr val="FFFF00"/>
                </a:solidFill>
                <a:effectLst/>
                <a:latin typeface="黑体" panose="02010609060101010101" pitchFamily="49" charset="-122"/>
                <a:ea typeface="黑体" panose="02010609060101010101" pitchFamily="49" charset="-122"/>
              </a:rPr>
              <a:t>		      </a:t>
            </a:r>
            <a:r>
              <a:rPr lang="en-US" altLang="zh-CN" sz="2400" b="1" dirty="0">
                <a:solidFill>
                  <a:srgbClr val="FFFF00"/>
                </a:solidFill>
                <a:effectLst/>
                <a:latin typeface="黑体" panose="02010609060101010101" pitchFamily="49" charset="-122"/>
                <a:ea typeface="黑体" panose="02010609060101010101" pitchFamily="49" charset="-122"/>
              </a:rPr>
              <a:t>}while(1)</a:t>
            </a:r>
          </a:p>
          <a:p>
            <a:pPr eaLnBrk="1" hangingPunct="1">
              <a:lnSpc>
                <a:spcPct val="80000"/>
              </a:lnSpc>
              <a:buFont typeface="Wingdings" panose="05000000000000000000" pitchFamily="2" charset="2"/>
              <a:buNone/>
            </a:pPr>
            <a:r>
              <a:rPr lang="en-US" altLang="zh-CN" sz="2400" b="1" dirty="0">
                <a:solidFill>
                  <a:srgbClr val="FFFF00"/>
                </a:solidFill>
                <a:effectLst/>
                <a:latin typeface="黑体" panose="02010609060101010101" pitchFamily="49" charset="-122"/>
                <a:ea typeface="黑体" panose="02010609060101010101" pitchFamily="49" charset="-122"/>
              </a:rPr>
              <a:t>   } </a:t>
            </a:r>
          </a:p>
          <a:p>
            <a:pPr eaLnBrk="1" hangingPunct="1">
              <a:lnSpc>
                <a:spcPct val="80000"/>
              </a:lnSpc>
              <a:buFont typeface="Wingdings" panose="05000000000000000000" pitchFamily="2" charset="2"/>
              <a:buNone/>
            </a:pPr>
            <a:endParaRPr lang="en-US" altLang="zh-CN" sz="2400" b="1" dirty="0">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681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681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681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4681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4681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468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46818">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46818">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546818">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546818">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546818">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546818">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546818">
                                            <p:txEl>
                                              <p:pRg st="12" end="12"/>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54681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18"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7842" name="Rectangle 2">
            <a:extLst>
              <a:ext uri="{FF2B5EF4-FFF2-40B4-BE49-F238E27FC236}">
                <a16:creationId xmlns:a16="http://schemas.microsoft.com/office/drawing/2014/main" id="{BEA1DFC8-DEC3-4B1E-9A43-076E508E5A36}"/>
              </a:ext>
            </a:extLst>
          </p:cNvPr>
          <p:cNvSpPr>
            <a:spLocks noGrp="1" noChangeArrowheads="1"/>
          </p:cNvSpPr>
          <p:nvPr>
            <p:ph type="body" idx="1"/>
          </p:nvPr>
        </p:nvSpPr>
        <p:spPr>
          <a:xfrm>
            <a:off x="611188" y="549275"/>
            <a:ext cx="7993062" cy="5832475"/>
          </a:xfrm>
        </p:spPr>
        <p:txBody>
          <a:bodyPr/>
          <a:lstStyle/>
          <a:p>
            <a:pPr eaLnBrk="1" hangingPunct="1">
              <a:buFont typeface="Wingdings" panose="05000000000000000000" pitchFamily="2" charset="2"/>
              <a:buNone/>
            </a:pPr>
            <a:endParaRPr lang="en-US" altLang="zh-CN" b="1">
              <a:solidFill>
                <a:srgbClr val="FFFF00"/>
              </a:solidFill>
              <a:effectLst/>
              <a:latin typeface="黑体" panose="02010609060101010101" pitchFamily="49" charset="-122"/>
              <a:ea typeface="黑体" panose="02010609060101010101" pitchFamily="49" charset="-122"/>
            </a:endParaRPr>
          </a:p>
          <a:p>
            <a:pPr eaLnBrk="1" hangingPunct="1"/>
            <a:r>
              <a:rPr lang="zh-CN" altLang="en-US" b="1">
                <a:solidFill>
                  <a:srgbClr val="FFFF00"/>
                </a:solidFill>
                <a:effectLst/>
                <a:latin typeface="黑体" panose="02010609060101010101" pitchFamily="49" charset="-122"/>
                <a:ea typeface="黑体" panose="02010609060101010101" pitchFamily="49" charset="-122"/>
              </a:rPr>
              <a:t>该算法存在以下问题：</a:t>
            </a:r>
            <a:endParaRPr lang="en-US" altLang="zh-CN" b="1">
              <a:solidFill>
                <a:srgbClr val="FFFF00"/>
              </a:solidFill>
              <a:effectLst/>
              <a:latin typeface="黑体" panose="02010609060101010101" pitchFamily="49" charset="-122"/>
              <a:ea typeface="黑体" panose="02010609060101010101" pitchFamily="49" charset="-122"/>
            </a:endParaRPr>
          </a:p>
          <a:p>
            <a:pPr eaLnBrk="1" hangingPunct="1"/>
            <a:r>
              <a:rPr lang="zh-CN" altLang="en-US" b="1">
                <a:solidFill>
                  <a:srgbClr val="FFFF00"/>
                </a:solidFill>
                <a:effectLst/>
                <a:latin typeface="黑体" panose="02010609060101010101" pitchFamily="49" charset="-122"/>
                <a:ea typeface="黑体" panose="02010609060101010101" pitchFamily="49" charset="-122"/>
              </a:rPr>
              <a:t>当五个哲学家都想要进餐，分别拿起他们左边筷子的时候</a:t>
            </a:r>
            <a:r>
              <a:rPr lang="en-US" altLang="zh-CN" b="1">
                <a:solidFill>
                  <a:srgbClr val="FFFF00"/>
                </a:solidFill>
                <a:effectLst/>
                <a:latin typeface="黑体" panose="02010609060101010101" pitchFamily="49" charset="-122"/>
                <a:ea typeface="黑体" panose="02010609060101010101" pitchFamily="49" charset="-122"/>
              </a:rPr>
              <a:t>(</a:t>
            </a:r>
            <a:r>
              <a:rPr lang="zh-CN" altLang="en-US" b="1">
                <a:solidFill>
                  <a:srgbClr val="FFFF00"/>
                </a:solidFill>
                <a:effectLst/>
                <a:latin typeface="黑体" panose="02010609060101010101" pitchFamily="49" charset="-122"/>
                <a:ea typeface="黑体" panose="02010609060101010101" pitchFamily="49" charset="-122"/>
              </a:rPr>
              <a:t>都恰好执行完</a:t>
            </a:r>
            <a:r>
              <a:rPr lang="en-US" altLang="zh-CN" b="1">
                <a:solidFill>
                  <a:srgbClr val="FFFF00"/>
                </a:solidFill>
                <a:effectLst/>
                <a:latin typeface="黑体" panose="02010609060101010101" pitchFamily="49" charset="-122"/>
                <a:ea typeface="黑体" panose="02010609060101010101" pitchFamily="49" charset="-122"/>
              </a:rPr>
              <a:t>P(chopstick[i]) )</a:t>
            </a:r>
            <a:r>
              <a:rPr lang="zh-CN" altLang="en-US" b="1">
                <a:solidFill>
                  <a:srgbClr val="FFFF00"/>
                </a:solidFill>
                <a:effectLst/>
                <a:latin typeface="黑体" panose="02010609060101010101" pitchFamily="49" charset="-122"/>
                <a:ea typeface="黑体" panose="02010609060101010101" pitchFamily="49" charset="-122"/>
              </a:rPr>
              <a:t>，筷子已经被拿光了，等到他们再想拿右边的筷子的时候</a:t>
            </a:r>
            <a:r>
              <a:rPr lang="en-US" altLang="zh-CN" b="1">
                <a:solidFill>
                  <a:srgbClr val="FFFF00"/>
                </a:solidFill>
                <a:effectLst/>
                <a:latin typeface="黑体" panose="02010609060101010101" pitchFamily="49" charset="-122"/>
                <a:ea typeface="黑体" panose="02010609060101010101" pitchFamily="49" charset="-122"/>
              </a:rPr>
              <a:t>(</a:t>
            </a:r>
            <a:r>
              <a:rPr lang="zh-CN" altLang="en-US" b="1">
                <a:solidFill>
                  <a:srgbClr val="FFFF00"/>
                </a:solidFill>
                <a:effectLst/>
                <a:latin typeface="黑体" panose="02010609060101010101" pitchFamily="49" charset="-122"/>
                <a:ea typeface="黑体" panose="02010609060101010101" pitchFamily="49" charset="-122"/>
              </a:rPr>
              <a:t>执行</a:t>
            </a:r>
            <a:r>
              <a:rPr lang="en-US" altLang="zh-CN" b="1">
                <a:solidFill>
                  <a:srgbClr val="FFFF00"/>
                </a:solidFill>
                <a:effectLst/>
                <a:latin typeface="黑体" panose="02010609060101010101" pitchFamily="49" charset="-122"/>
                <a:ea typeface="黑体" panose="02010609060101010101" pitchFamily="49" charset="-122"/>
              </a:rPr>
              <a:t>P(chopstick[(i+1)</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5]) )</a:t>
            </a:r>
            <a:r>
              <a:rPr lang="zh-CN" altLang="en-US" b="1">
                <a:solidFill>
                  <a:srgbClr val="FFFF00"/>
                </a:solidFill>
                <a:effectLst/>
                <a:latin typeface="黑体" panose="02010609060101010101" pitchFamily="49" charset="-122"/>
                <a:ea typeface="黑体" panose="02010609060101010101" pitchFamily="49" charset="-122"/>
              </a:rPr>
              <a:t>就全被阻塞了，这就出现了死锁。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784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78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2"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8866" name="Rectangle 2">
            <a:extLst>
              <a:ext uri="{FF2B5EF4-FFF2-40B4-BE49-F238E27FC236}">
                <a16:creationId xmlns:a16="http://schemas.microsoft.com/office/drawing/2014/main" id="{B229F928-685F-4B0B-A1A2-996C9D1B2C9B}"/>
              </a:ext>
            </a:extLst>
          </p:cNvPr>
          <p:cNvSpPr>
            <a:spLocks noGrp="1" noChangeArrowheads="1"/>
          </p:cNvSpPr>
          <p:nvPr>
            <p:ph type="body" idx="1"/>
          </p:nvPr>
        </p:nvSpPr>
        <p:spPr>
          <a:xfrm>
            <a:off x="395287" y="116632"/>
            <a:ext cx="8353425" cy="6408712"/>
          </a:xfrm>
        </p:spPr>
        <p:txBody>
          <a:bodyPr/>
          <a:lstStyle/>
          <a:p>
            <a:pPr eaLnBrk="1" hangingPunct="1"/>
            <a:r>
              <a:rPr lang="zh-CN" altLang="zh-CN" sz="2800" b="1" dirty="0">
                <a:solidFill>
                  <a:srgbClr val="FFFF00"/>
                </a:solidFill>
                <a:effectLst/>
                <a:latin typeface="黑体" panose="02010609060101010101" pitchFamily="49" charset="-122"/>
                <a:ea typeface="黑体" panose="02010609060101010101" pitchFamily="49" charset="-122"/>
              </a:rPr>
              <a:t>解决方法：</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zh-CN" sz="2800" b="1" dirty="0">
                <a:solidFill>
                  <a:srgbClr val="FFFF00"/>
                </a:solidFill>
                <a:effectLst/>
                <a:latin typeface="黑体" panose="02010609060101010101" pitchFamily="49" charset="-122"/>
                <a:ea typeface="黑体" panose="02010609060101010101" pitchFamily="49" charset="-122"/>
              </a:rPr>
              <a:t>对每个哲学家的动作制定规则</a:t>
            </a:r>
          </a:p>
          <a:p>
            <a:pPr lvl="1" eaLnBrk="1" hangingPunct="1"/>
            <a:r>
              <a:rPr lang="zh-CN" altLang="zh-CN" b="1" dirty="0">
                <a:solidFill>
                  <a:srgbClr val="FFFF00"/>
                </a:solidFill>
                <a:effectLst/>
                <a:latin typeface="黑体" panose="02010609060101010101" pitchFamily="49" charset="-122"/>
                <a:ea typeface="黑体" panose="02010609060101010101" pitchFamily="49" charset="-122"/>
              </a:rPr>
              <a:t>①</a:t>
            </a:r>
            <a:r>
              <a:rPr lang="zh-CN" altLang="en-US" b="1" dirty="0">
                <a:solidFill>
                  <a:srgbClr val="FFFF00"/>
                </a:solidFill>
                <a:effectLst/>
                <a:latin typeface="黑体" panose="02010609060101010101" pitchFamily="49" charset="-122"/>
                <a:ea typeface="黑体" panose="02010609060101010101" pitchFamily="49" charset="-122"/>
              </a:rPr>
              <a:t>当所有哲学家的行为是对称的时</a:t>
            </a:r>
            <a:r>
              <a:rPr lang="en-US" altLang="zh-CN" b="1" dirty="0">
                <a:solidFill>
                  <a:srgbClr val="FFFF00"/>
                </a:solidFill>
                <a:effectLst/>
                <a:latin typeface="黑体" panose="02010609060101010101" pitchFamily="49" charset="-122"/>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他们可能会同时采取相同的行动</a:t>
            </a:r>
            <a:r>
              <a:rPr lang="en-US" altLang="zh-CN" b="1" dirty="0">
                <a:solidFill>
                  <a:srgbClr val="FFFF00"/>
                </a:solidFill>
                <a:effectLst/>
                <a:latin typeface="黑体" panose="02010609060101010101" pitchFamily="49" charset="-122"/>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这可能导致所有人都陷入等待状态。但是</a:t>
            </a:r>
            <a:r>
              <a:rPr lang="en-US" altLang="zh-CN" b="1" dirty="0">
                <a:solidFill>
                  <a:srgbClr val="FFFF00"/>
                </a:solidFill>
                <a:effectLst/>
                <a:latin typeface="黑体" panose="02010609060101010101" pitchFamily="49" charset="-122"/>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如果改变其中一个或多个哲学家的行为模式</a:t>
            </a:r>
            <a:r>
              <a:rPr lang="en-US" altLang="zh-CN" b="1" dirty="0">
                <a:solidFill>
                  <a:srgbClr val="FFFF00"/>
                </a:solidFill>
                <a:effectLst/>
                <a:latin typeface="黑体" panose="02010609060101010101" pitchFamily="49" charset="-122"/>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使得他们的行为与其他哲学家不同步</a:t>
            </a:r>
            <a:r>
              <a:rPr lang="en-US" altLang="zh-CN" b="1" dirty="0">
                <a:solidFill>
                  <a:srgbClr val="FFFF00"/>
                </a:solidFill>
                <a:effectLst/>
                <a:latin typeface="黑体" panose="02010609060101010101" pitchFamily="49" charset="-122"/>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就可以打破这种对称。</a:t>
            </a:r>
            <a:endParaRPr lang="en-US" altLang="zh-CN" b="1" dirty="0">
              <a:solidFill>
                <a:srgbClr val="FFFF00"/>
              </a:solidFill>
              <a:effectLst/>
              <a:latin typeface="黑体" panose="02010609060101010101" pitchFamily="49" charset="-122"/>
              <a:ea typeface="黑体" panose="02010609060101010101" pitchFamily="49" charset="-122"/>
            </a:endParaRPr>
          </a:p>
          <a:p>
            <a:pPr lvl="1" eaLnBrk="1" hangingPunct="1"/>
            <a:r>
              <a:rPr lang="zh-CN" altLang="zh-CN" b="1" dirty="0">
                <a:solidFill>
                  <a:srgbClr val="FFFF00"/>
                </a:solidFill>
                <a:effectLst/>
                <a:latin typeface="黑体" panose="02010609060101010101" pitchFamily="49" charset="-122"/>
                <a:ea typeface="黑体" panose="02010609060101010101" pitchFamily="49" charset="-122"/>
              </a:rPr>
              <a:t>对哲学家顺序编号，要求奇数号哲学家先拿左边的筷子，然后再拿他右边的筷子，而偶数号哲学家刚好相反。按此规定，1、2号哲学家竞争1号筷子；3、4号哲学家竞争3号筷子。即五位哲学家都先竞争奇数号筷子，获得后再去竞争偶数号筷子，最后总会有一个哲学家能获得两只筷子而进餐。</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88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886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54886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54886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6"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5010" name="Rectangle 2">
            <a:extLst>
              <a:ext uri="{FF2B5EF4-FFF2-40B4-BE49-F238E27FC236}">
                <a16:creationId xmlns:a16="http://schemas.microsoft.com/office/drawing/2014/main" id="{9160412A-E84A-4C20-93AB-60949261D794}"/>
              </a:ext>
            </a:extLst>
          </p:cNvPr>
          <p:cNvSpPr>
            <a:spLocks noGrp="1" noChangeArrowheads="1"/>
          </p:cNvSpPr>
          <p:nvPr>
            <p:ph type="body" idx="1"/>
          </p:nvPr>
        </p:nvSpPr>
        <p:spPr>
          <a:xfrm>
            <a:off x="395288" y="620713"/>
            <a:ext cx="8280400" cy="4968527"/>
          </a:xfrm>
        </p:spPr>
        <p:txBody>
          <a:bodyPr/>
          <a:lstStyle/>
          <a:p>
            <a:pPr eaLnBrk="1" hangingPunct="1">
              <a:buFont typeface="Wingdings" panose="05000000000000000000" pitchFamily="2" charset="2"/>
              <a:buNone/>
            </a:pPr>
            <a:endParaRPr lang="en-US" altLang="zh-CN" b="1" dirty="0">
              <a:solidFill>
                <a:srgbClr val="FFFF00"/>
              </a:solidFill>
              <a:effectLst/>
              <a:latin typeface="黑体" panose="02010609060101010101" pitchFamily="49" charset="-122"/>
              <a:ea typeface="黑体" panose="02010609060101010101" pitchFamily="49" charset="-122"/>
            </a:endParaRPr>
          </a:p>
          <a:p>
            <a:pPr eaLnBrk="1" hangingPunct="1"/>
            <a:r>
              <a:rPr lang="zh-CN" altLang="zh-CN" b="1" dirty="0">
                <a:solidFill>
                  <a:srgbClr val="FFFF00"/>
                </a:solidFill>
                <a:effectLst/>
                <a:latin typeface="黑体" panose="02010609060101010101" pitchFamily="49" charset="-122"/>
                <a:ea typeface="黑体" panose="02010609060101010101" pitchFamily="49" charset="-122"/>
              </a:rPr>
              <a:t>②仅当一个哲学家左右两边的筷子都可用时才允许他拿起筷子。</a:t>
            </a:r>
            <a:endParaRPr lang="en-US" altLang="zh-CN" b="1" dirty="0">
              <a:solidFill>
                <a:srgbClr val="FFFF00"/>
              </a:solidFill>
              <a:effectLst/>
              <a:latin typeface="黑体" panose="02010609060101010101" pitchFamily="49" charset="-122"/>
              <a:ea typeface="黑体" panose="02010609060101010101" pitchFamily="49" charset="-122"/>
            </a:endParaRPr>
          </a:p>
          <a:p>
            <a:pPr eaLnBrk="1" hangingPunct="1"/>
            <a:r>
              <a:rPr lang="zh-CN" altLang="zh-CN" b="1" dirty="0">
                <a:solidFill>
                  <a:srgbClr val="FFFF00"/>
                </a:solidFill>
                <a:effectLst/>
                <a:latin typeface="黑体" panose="02010609060101010101" pitchFamily="49" charset="-122"/>
                <a:ea typeface="黑体" panose="02010609060101010101" pitchFamily="49" charset="-122"/>
              </a:rPr>
              <a:t>③至多允许四个哲学家同时去拿左边的筷子，最终能保证至少有一位哲学家能够进餐，并在进餐完毕后释放出他用过的两只筷子，从而使更多的哲学家能够进餐</a:t>
            </a:r>
            <a:endParaRPr lang="en-US" altLang="zh-CN" b="1" dirty="0">
              <a:solidFill>
                <a:srgbClr val="FFFF00"/>
              </a:solidFill>
              <a:effectLst/>
              <a:latin typeface="黑体" panose="02010609060101010101" pitchFamily="49" charset="-122"/>
              <a:ea typeface="黑体" panose="02010609060101010101" pitchFamily="49" charset="-122"/>
            </a:endParaRPr>
          </a:p>
          <a:p>
            <a:pPr eaLnBrk="1" hangingPunct="1"/>
            <a:r>
              <a:rPr lang="zh-CN" altLang="zh-CN" b="1" dirty="0">
                <a:solidFill>
                  <a:srgbClr val="FFFF00"/>
                </a:solidFill>
                <a:effectLst/>
                <a:latin typeface="黑体" panose="02010609060101010101" pitchFamily="49" charset="-122"/>
                <a:ea typeface="黑体" panose="02010609060101010101" pitchFamily="49" charset="-122"/>
              </a:rPr>
              <a:t>进餐时同时拿两个筷子（AND信号量机制）</a:t>
            </a:r>
            <a:endParaRPr lang="en-US" altLang="zh-CN" b="1" dirty="0">
              <a:solidFill>
                <a:srgbClr val="FFFF00"/>
              </a:solidFill>
              <a:effectLst/>
              <a:latin typeface="黑体" panose="02010609060101010101" pitchFamily="49" charset="-122"/>
              <a:ea typeface="黑体" panose="02010609060101010101" pitchFamily="49" charset="-122"/>
            </a:endParaRPr>
          </a:p>
          <a:p>
            <a:pPr eaLnBrk="1" hangingPunct="1"/>
            <a:endParaRPr lang="zh-CN" altLang="zh-CN" b="1" dirty="0">
              <a:solidFill>
                <a:srgbClr val="FFFF00"/>
              </a:solidFill>
              <a:effectLst/>
              <a:latin typeface="黑体" panose="02010609060101010101" pitchFamily="49" charset="-122"/>
              <a:ea typeface="黑体" panose="02010609060101010101" pitchFamily="49" charset="-122"/>
            </a:endParaRPr>
          </a:p>
          <a:p>
            <a:pPr marL="0" indent="0" eaLnBrk="1" hangingPunct="1">
              <a:buNone/>
            </a:pPr>
            <a:endParaRPr lang="zh-CN" altLang="en-US" b="1" dirty="0">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50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550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550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0" grpId="0" build="p"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53CCBCA-14DB-A889-422E-212FEE8C02EF}"/>
            </a:ext>
          </a:extLst>
        </p:cNvPr>
        <p:cNvGrpSpPr/>
        <p:nvPr/>
      </p:nvGrpSpPr>
      <p:grpSpPr>
        <a:xfrm>
          <a:off x="0" y="0"/>
          <a:ext cx="0" cy="0"/>
          <a:chOff x="0" y="0"/>
          <a:chExt cx="0" cy="0"/>
        </a:xfrm>
      </p:grpSpPr>
      <p:sp>
        <p:nvSpPr>
          <p:cNvPr id="543746" name="Rectangle 2">
            <a:extLst>
              <a:ext uri="{FF2B5EF4-FFF2-40B4-BE49-F238E27FC236}">
                <a16:creationId xmlns:a16="http://schemas.microsoft.com/office/drawing/2014/main" id="{784203C1-C15C-90D1-96AB-4354D9C29EA5}"/>
              </a:ext>
            </a:extLst>
          </p:cNvPr>
          <p:cNvSpPr>
            <a:spLocks noGrp="1" noChangeArrowheads="1"/>
          </p:cNvSpPr>
          <p:nvPr>
            <p:ph type="body" idx="1"/>
          </p:nvPr>
        </p:nvSpPr>
        <p:spPr>
          <a:xfrm>
            <a:off x="683568" y="1196752"/>
            <a:ext cx="7768254" cy="5400427"/>
          </a:xfrm>
        </p:spPr>
        <p:txBody>
          <a:bodyPr/>
          <a:lstStyle/>
          <a:p>
            <a:pPr eaLnBrk="1" hangingPunct="1"/>
            <a:r>
              <a:rPr lang="en-US" altLang="zh-CN" sz="2800" b="1" dirty="0">
                <a:solidFill>
                  <a:srgbClr val="FFFF00"/>
                </a:solidFill>
                <a:effectLst/>
                <a:latin typeface="黑体" panose="02010609060101010101" pitchFamily="49" charset="-122"/>
                <a:ea typeface="黑体" panose="02010609060101010101" pitchFamily="49" charset="-122"/>
              </a:rPr>
              <a:t>3.</a:t>
            </a:r>
            <a:r>
              <a:rPr lang="zh-CN" altLang="en-US" sz="2800" b="1" dirty="0">
                <a:solidFill>
                  <a:srgbClr val="FFFF00"/>
                </a:solidFill>
                <a:effectLst/>
                <a:latin typeface="黑体" panose="02010609060101010101" pitchFamily="49" charset="-122"/>
                <a:ea typeface="黑体" panose="02010609060101010101" pitchFamily="49" charset="-122"/>
              </a:rPr>
              <a:t>读者写者问题</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问题描述：一组读者与一组写者循环访问共享的同一个数据对象。读者：指能对共享数据对象读的进程，写者：指对共享数据对象只要求写的进程。</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规定：多个读者可以同时读这个数据对象，但决不允许多个写者同时对这个数据对象进行写操作，也不允许读者、写者同时访问这个数据对象。用信号量机制描述读者和写者进程。</a:t>
            </a:r>
          </a:p>
        </p:txBody>
      </p:sp>
      <p:sp>
        <p:nvSpPr>
          <p:cNvPr id="3" name="Rectangle 3">
            <a:extLst>
              <a:ext uri="{FF2B5EF4-FFF2-40B4-BE49-F238E27FC236}">
                <a16:creationId xmlns:a16="http://schemas.microsoft.com/office/drawing/2014/main" id="{A4F23E7C-EF88-C37E-C249-FE7AF45C34F2}"/>
              </a:ext>
            </a:extLst>
          </p:cNvPr>
          <p:cNvSpPr>
            <a:spLocks noGrp="1" noChangeArrowheads="1"/>
          </p:cNvSpPr>
          <p:nvPr>
            <p:ph type="title"/>
          </p:nvPr>
        </p:nvSpPr>
        <p:spPr>
          <a:xfrm>
            <a:off x="35290" y="245285"/>
            <a:ext cx="8480425" cy="504478"/>
          </a:xfrm>
        </p:spPr>
        <p:txBody>
          <a:bodyPr anchor="b" anchorCtr="0"/>
          <a:lstStyle/>
          <a:p>
            <a:pPr eaLnBrk="1" hangingPunct="1">
              <a:defRPr/>
            </a:pPr>
            <a:r>
              <a:rPr lang="en-US" altLang="zh-CN" sz="3200" b="1" dirty="0">
                <a:solidFill>
                  <a:schemeClr val="tx1"/>
                </a:solidFill>
                <a:effectLst>
                  <a:outerShdw blurRad="38100" dist="38100" dir="2700000" algn="tl">
                    <a:srgbClr val="010199"/>
                  </a:outerShdw>
                </a:effectLst>
                <a:latin typeface="楷体_GB2312" pitchFamily="49" charset="-122"/>
                <a:ea typeface="楷体_GB2312" pitchFamily="49" charset="-122"/>
              </a:rPr>
              <a:t>3.4.5</a:t>
            </a:r>
            <a:r>
              <a:rPr lang="zh-CN" altLang="en-US" sz="3200" b="1" dirty="0">
                <a:solidFill>
                  <a:schemeClr val="tx1"/>
                </a:solidFill>
                <a:effectLst>
                  <a:outerShdw blurRad="38100" dist="38100" dir="2700000" algn="tl">
                    <a:srgbClr val="010199"/>
                  </a:outerShdw>
                </a:effectLst>
                <a:latin typeface="楷体_GB2312" pitchFamily="49" charset="-122"/>
                <a:ea typeface="楷体_GB2312" pitchFamily="49" charset="-122"/>
              </a:rPr>
              <a:t>经典同步互斥问题</a:t>
            </a:r>
          </a:p>
        </p:txBody>
      </p:sp>
    </p:spTree>
    <p:extLst>
      <p:ext uri="{BB962C8B-B14F-4D97-AF65-F5344CB8AC3E}">
        <p14:creationId xmlns:p14="http://schemas.microsoft.com/office/powerpoint/2010/main" val="13271330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374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37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374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6"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a:extLst>
              <a:ext uri="{FF2B5EF4-FFF2-40B4-BE49-F238E27FC236}">
                <a16:creationId xmlns:a16="http://schemas.microsoft.com/office/drawing/2014/main" id="{1CEDC4F2-4002-43F8-8A27-7A58F78103A6}"/>
              </a:ext>
            </a:extLst>
          </p:cNvPr>
          <p:cNvSpPr>
            <a:spLocks noGrp="1" noChangeArrowheads="1"/>
          </p:cNvSpPr>
          <p:nvPr>
            <p:ph type="title"/>
          </p:nvPr>
        </p:nvSpPr>
        <p:spPr>
          <a:xfrm>
            <a:off x="533400" y="457200"/>
            <a:ext cx="8286750" cy="1458913"/>
          </a:xfrm>
        </p:spPr>
        <p:txBody>
          <a:bodyPr/>
          <a:lstStyle/>
          <a:p>
            <a:pPr eaLnBrk="1" hangingPunct="1">
              <a:defRPr/>
            </a:pPr>
            <a:r>
              <a:rPr lang="zh-CN" altLang="en-US" sz="4000">
                <a:solidFill>
                  <a:schemeClr val="tx1"/>
                </a:solidFill>
                <a:effectLst>
                  <a:outerShdw blurRad="38100" dist="38100" dir="2700000" algn="tl">
                    <a:srgbClr val="010199"/>
                  </a:outerShdw>
                </a:effectLst>
                <a:latin typeface="黑体" panose="02010609060101010101" pitchFamily="49" charset="-122"/>
                <a:ea typeface="黑体" panose="02010609060101010101" pitchFamily="49" charset="-122"/>
              </a:rPr>
              <a:t>总结上述几个实例的解题过程，可以得出这样的结论：</a:t>
            </a:r>
          </a:p>
        </p:txBody>
      </p:sp>
      <p:sp>
        <p:nvSpPr>
          <p:cNvPr id="99331" name="Rectangle 3">
            <a:extLst>
              <a:ext uri="{FF2B5EF4-FFF2-40B4-BE49-F238E27FC236}">
                <a16:creationId xmlns:a16="http://schemas.microsoft.com/office/drawing/2014/main" id="{3DF0E8B6-DDAA-4C21-8844-6958B4233EDE}"/>
              </a:ext>
            </a:extLst>
          </p:cNvPr>
          <p:cNvSpPr>
            <a:spLocks noGrp="1" noChangeArrowheads="1"/>
          </p:cNvSpPr>
          <p:nvPr>
            <p:ph type="body" idx="1"/>
          </p:nvPr>
        </p:nvSpPr>
        <p:spPr>
          <a:xfrm>
            <a:off x="539750" y="2276475"/>
            <a:ext cx="8001000" cy="3408363"/>
          </a:xfrm>
        </p:spPr>
        <p:txBody>
          <a:bodyPr/>
          <a:lstStyle/>
          <a:p>
            <a:pPr eaLnBrk="1" hangingPunct="1">
              <a:lnSpc>
                <a:spcPct val="130000"/>
              </a:lnSpc>
            </a:pPr>
            <a:r>
              <a:rPr lang="zh-CN" altLang="en-US" sz="3600" b="1">
                <a:solidFill>
                  <a:srgbClr val="FFFF00"/>
                </a:solidFill>
                <a:effectLst/>
                <a:latin typeface="黑体" panose="02010609060101010101" pitchFamily="49" charset="-122"/>
                <a:ea typeface="黑体" panose="02010609060101010101" pitchFamily="49" charset="-122"/>
              </a:rPr>
              <a:t>实现进程的同步互斥实际就是给进程的并发执行增加一定的限制，以保证被访问的共享数据的完整性和进程执行结果的可再现性。</a:t>
            </a:r>
          </a:p>
        </p:txBody>
      </p:sp>
    </p:spTree>
  </p:cSld>
  <p:clrMapOvr>
    <a:masterClrMapping/>
  </p:clrMapOvr>
  <p:transition spd="slow">
    <p:randomBa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a:extLst>
              <a:ext uri="{FF2B5EF4-FFF2-40B4-BE49-F238E27FC236}">
                <a16:creationId xmlns:a16="http://schemas.microsoft.com/office/drawing/2014/main" id="{610A7411-06B3-45F0-9352-5B690796DEC2}"/>
              </a:ext>
            </a:extLst>
          </p:cNvPr>
          <p:cNvSpPr>
            <a:spLocks noGrp="1" noChangeArrowheads="1"/>
          </p:cNvSpPr>
          <p:nvPr>
            <p:ph type="title"/>
          </p:nvPr>
        </p:nvSpPr>
        <p:spPr>
          <a:xfrm>
            <a:off x="179388" y="620713"/>
            <a:ext cx="8964612" cy="990600"/>
          </a:xfrm>
        </p:spPr>
        <p:txBody>
          <a:bodyPr/>
          <a:lstStyle/>
          <a:p>
            <a:pPr eaLnBrk="1" hangingPunct="1">
              <a:defRPr/>
            </a:pPr>
            <a:r>
              <a:rPr lang="zh-CN" altLang="en-US">
                <a:latin typeface="隶书" panose="02010509060101010101" pitchFamily="49" charset="-122"/>
                <a:ea typeface="隶书" panose="02010509060101010101" pitchFamily="49" charset="-122"/>
              </a:rPr>
              <a:t>用信号量机制解题的三个步骤：</a:t>
            </a:r>
          </a:p>
        </p:txBody>
      </p:sp>
      <p:sp>
        <p:nvSpPr>
          <p:cNvPr id="100355" name="Rectangle 3">
            <a:extLst>
              <a:ext uri="{FF2B5EF4-FFF2-40B4-BE49-F238E27FC236}">
                <a16:creationId xmlns:a16="http://schemas.microsoft.com/office/drawing/2014/main" id="{926C43CD-DFA6-4A49-ABB4-3E9E5B5C2038}"/>
              </a:ext>
            </a:extLst>
          </p:cNvPr>
          <p:cNvSpPr>
            <a:spLocks noGrp="1" noChangeArrowheads="1"/>
          </p:cNvSpPr>
          <p:nvPr>
            <p:ph type="body" idx="1"/>
          </p:nvPr>
        </p:nvSpPr>
        <p:spPr>
          <a:xfrm>
            <a:off x="395288" y="1844675"/>
            <a:ext cx="8243887" cy="4652963"/>
          </a:xfrm>
        </p:spPr>
        <p:txBody>
          <a:bodyPr/>
          <a:lstStyle/>
          <a:p>
            <a:pPr eaLnBrk="1" hangingPunct="1">
              <a:lnSpc>
                <a:spcPct val="120000"/>
              </a:lnSpc>
            </a:pP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）分析进程间的制约关系</a:t>
            </a:r>
          </a:p>
          <a:p>
            <a:pPr eaLnBrk="1" hangingPunct="1">
              <a:lnSpc>
                <a:spcPct val="120000"/>
              </a:lnSpc>
            </a:pP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2</a:t>
            </a:r>
            <a:r>
              <a:rPr lang="zh-CN" altLang="en-US" sz="3600" b="1">
                <a:solidFill>
                  <a:srgbClr val="FFFF00"/>
                </a:solidFill>
                <a:effectLst/>
                <a:latin typeface="黑体" panose="02010609060101010101" pitchFamily="49" charset="-122"/>
                <a:ea typeface="黑体" panose="02010609060101010101" pitchFamily="49" charset="-122"/>
              </a:rPr>
              <a:t>）设置信号量</a:t>
            </a:r>
          </a:p>
          <a:p>
            <a:pPr eaLnBrk="1" hangingPunct="1">
              <a:lnSpc>
                <a:spcPct val="120000"/>
              </a:lnSpc>
            </a:pP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3</a:t>
            </a:r>
            <a:r>
              <a:rPr lang="zh-CN" altLang="en-US" sz="3600" b="1">
                <a:solidFill>
                  <a:srgbClr val="FFFF00"/>
                </a:solidFill>
                <a:effectLst/>
                <a:latin typeface="黑体" panose="02010609060101010101" pitchFamily="49" charset="-122"/>
                <a:ea typeface="黑体" panose="02010609060101010101" pitchFamily="49" charset="-122"/>
              </a:rPr>
              <a:t>）实施</a:t>
            </a:r>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V</a:t>
            </a:r>
            <a:r>
              <a:rPr lang="zh-CN" altLang="en-US" sz="3600" b="1">
                <a:solidFill>
                  <a:srgbClr val="FFFF00"/>
                </a:solidFill>
                <a:effectLst/>
                <a:latin typeface="黑体" panose="02010609060101010101" pitchFamily="49" charset="-122"/>
                <a:ea typeface="黑体" panose="02010609060101010101" pitchFamily="49" charset="-122"/>
              </a:rPr>
              <a:t>操作。</a:t>
            </a:r>
          </a:p>
        </p:txBody>
      </p:sp>
    </p:spTree>
  </p:cSld>
  <p:clrMapOvr>
    <a:masterClrMapping/>
  </p:clrMapOvr>
  <p:transition spd="slow">
    <p:strips dir="ru"/>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931D702B-490E-4B2D-8199-24E29C35E288}"/>
              </a:ext>
            </a:extLst>
          </p:cNvPr>
          <p:cNvSpPr>
            <a:spLocks noGrp="1" noChangeArrowheads="1"/>
          </p:cNvSpPr>
          <p:nvPr>
            <p:ph type="body" idx="1"/>
          </p:nvPr>
        </p:nvSpPr>
        <p:spPr>
          <a:xfrm>
            <a:off x="323850" y="765175"/>
            <a:ext cx="8424614" cy="5805488"/>
          </a:xfrm>
        </p:spPr>
        <p:txBody>
          <a:bodyPr/>
          <a:lstStyle/>
          <a:p>
            <a:pPr eaLnBrk="1" hangingPunct="1">
              <a:lnSpc>
                <a:spcPct val="120000"/>
              </a:lnSpc>
            </a:pPr>
            <a:r>
              <a:rPr lang="zh-CN" altLang="en-US" b="1" dirty="0">
                <a:solidFill>
                  <a:srgbClr val="FFFF00"/>
                </a:solidFill>
                <a:effectLst/>
                <a:latin typeface="黑体" panose="02010609060101010101" pitchFamily="49" charset="-122"/>
                <a:ea typeface="黑体" panose="02010609060101010101" pitchFamily="49" charset="-122"/>
              </a:rPr>
              <a:t>掌握实现进程互斥与进程同步的第三步在形式上差异：即</a:t>
            </a:r>
            <a:r>
              <a:rPr lang="en-US" altLang="zh-CN" b="1" dirty="0">
                <a:solidFill>
                  <a:srgbClr val="FFFF00"/>
                </a:solidFill>
                <a:effectLst/>
                <a:latin typeface="黑体" panose="02010609060101010101" pitchFamily="49" charset="-122"/>
                <a:ea typeface="黑体" panose="02010609060101010101" pitchFamily="49" charset="-122"/>
              </a:rPr>
              <a:t>P</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V</a:t>
            </a:r>
            <a:r>
              <a:rPr lang="zh-CN" altLang="en-US" b="1" dirty="0">
                <a:solidFill>
                  <a:srgbClr val="FFFF00"/>
                </a:solidFill>
                <a:effectLst/>
                <a:latin typeface="黑体" panose="02010609060101010101" pitchFamily="49" charset="-122"/>
                <a:ea typeface="黑体" panose="02010609060101010101" pitchFamily="49" charset="-122"/>
              </a:rPr>
              <a:t>操作总是配对出现的。但</a:t>
            </a:r>
            <a:r>
              <a:rPr lang="en-US" altLang="zh-CN" b="1" dirty="0">
                <a:solidFill>
                  <a:srgbClr val="FFFF00"/>
                </a:solidFill>
                <a:effectLst/>
                <a:latin typeface="黑体" panose="02010609060101010101" pitchFamily="49" charset="-122"/>
                <a:ea typeface="黑体" panose="02010609060101010101" pitchFamily="49" charset="-122"/>
              </a:rPr>
              <a:t>P,V</a:t>
            </a:r>
            <a:r>
              <a:rPr lang="zh-CN" altLang="en-US" b="1" dirty="0">
                <a:solidFill>
                  <a:srgbClr val="FFFF00"/>
                </a:solidFill>
                <a:effectLst/>
                <a:latin typeface="黑体" panose="02010609060101010101" pitchFamily="49" charset="-122"/>
                <a:ea typeface="黑体" panose="02010609060101010101" pitchFamily="49" charset="-122"/>
              </a:rPr>
              <a:t>在</a:t>
            </a:r>
            <a:r>
              <a:rPr lang="zh-CN" altLang="en-US" b="1" i="1" dirty="0">
                <a:solidFill>
                  <a:srgbClr val="FFFF00"/>
                </a:solidFill>
                <a:effectLst/>
                <a:latin typeface="黑体" panose="02010609060101010101" pitchFamily="49" charset="-122"/>
                <a:ea typeface="黑体" panose="02010609060101010101" pitchFamily="49" charset="-122"/>
              </a:rPr>
              <a:t>互斥</a:t>
            </a:r>
            <a:r>
              <a:rPr lang="zh-CN" altLang="en-US" b="1" dirty="0">
                <a:solidFill>
                  <a:srgbClr val="FFFF00"/>
                </a:solidFill>
                <a:effectLst/>
                <a:latin typeface="黑体" panose="02010609060101010101" pitchFamily="49" charset="-122"/>
                <a:ea typeface="黑体" panose="02010609060101010101" pitchFamily="49" charset="-122"/>
              </a:rPr>
              <a:t>中总是出现在同一个进程的代码中，且紧紧夹着临界区；而在</a:t>
            </a:r>
            <a:r>
              <a:rPr lang="zh-CN" altLang="en-US" b="1" i="1" dirty="0">
                <a:solidFill>
                  <a:srgbClr val="FFFF00"/>
                </a:solidFill>
                <a:effectLst/>
                <a:latin typeface="黑体" panose="02010609060101010101" pitchFamily="49" charset="-122"/>
                <a:ea typeface="黑体" panose="02010609060101010101" pitchFamily="49" charset="-122"/>
              </a:rPr>
              <a:t>同步问题</a:t>
            </a:r>
            <a:r>
              <a:rPr lang="zh-CN" altLang="en-US" b="1" dirty="0">
                <a:solidFill>
                  <a:srgbClr val="FFFF00"/>
                </a:solidFill>
                <a:effectLst/>
                <a:latin typeface="黑体" panose="02010609060101010101" pitchFamily="49" charset="-122"/>
                <a:ea typeface="黑体" panose="02010609060101010101" pitchFamily="49" charset="-122"/>
              </a:rPr>
              <a:t>中，却是分别出现在两个合作进程的代码中，需要等消息的一方用</a:t>
            </a:r>
            <a:r>
              <a:rPr lang="en-US" altLang="zh-CN" b="1" dirty="0">
                <a:solidFill>
                  <a:srgbClr val="FFFF00"/>
                </a:solidFill>
                <a:effectLst/>
                <a:latin typeface="黑体" panose="02010609060101010101" pitchFamily="49" charset="-122"/>
                <a:ea typeface="黑体" panose="02010609060101010101" pitchFamily="49" charset="-122"/>
              </a:rPr>
              <a:t>P</a:t>
            </a:r>
            <a:r>
              <a:rPr lang="zh-CN" altLang="en-US" b="1" dirty="0">
                <a:solidFill>
                  <a:srgbClr val="FFFF00"/>
                </a:solidFill>
                <a:effectLst/>
                <a:latin typeface="黑体" panose="02010609060101010101" pitchFamily="49" charset="-122"/>
                <a:ea typeface="黑体" panose="02010609060101010101" pitchFamily="49" charset="-122"/>
              </a:rPr>
              <a:t>操作，相应的对同一信号量的</a:t>
            </a:r>
            <a:r>
              <a:rPr lang="en-US" altLang="zh-CN" b="1" dirty="0">
                <a:solidFill>
                  <a:srgbClr val="FFFF00"/>
                </a:solidFill>
                <a:effectLst/>
                <a:latin typeface="黑体" panose="02010609060101010101" pitchFamily="49" charset="-122"/>
                <a:ea typeface="黑体" panose="02010609060101010101" pitchFamily="49" charset="-122"/>
              </a:rPr>
              <a:t>V</a:t>
            </a:r>
            <a:r>
              <a:rPr lang="zh-CN" altLang="en-US" b="1" dirty="0">
                <a:solidFill>
                  <a:srgbClr val="FFFF00"/>
                </a:solidFill>
                <a:effectLst/>
                <a:latin typeface="黑体" panose="02010609060101010101" pitchFamily="49" charset="-122"/>
                <a:ea typeface="黑体" panose="02010609060101010101" pitchFamily="49" charset="-122"/>
              </a:rPr>
              <a:t>操作则在发出此消息的另一方中 </a:t>
            </a:r>
          </a:p>
        </p:txBody>
      </p:sp>
    </p:spTree>
  </p:cSld>
  <p:clrMapOvr>
    <a:masterClrMapping/>
  </p:clrMapOvr>
  <p:transition spd="slow">
    <p:strips dir="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E05304-AB7A-BA7A-DFB3-A092938EAFC5}"/>
              </a:ext>
            </a:extLst>
          </p:cNvPr>
          <p:cNvSpPr>
            <a:spLocks noGrp="1"/>
          </p:cNvSpPr>
          <p:nvPr>
            <p:ph type="title"/>
          </p:nvPr>
        </p:nvSpPr>
        <p:spPr/>
        <p:txBody>
          <a:bodyPr/>
          <a:lstStyle/>
          <a:p>
            <a:r>
              <a:rPr lang="zh-CN" altLang="en-US" dirty="0"/>
              <a:t>思考</a:t>
            </a:r>
          </a:p>
        </p:txBody>
      </p:sp>
      <p:sp>
        <p:nvSpPr>
          <p:cNvPr id="3" name="内容占位符 2">
            <a:extLst>
              <a:ext uri="{FF2B5EF4-FFF2-40B4-BE49-F238E27FC236}">
                <a16:creationId xmlns:a16="http://schemas.microsoft.com/office/drawing/2014/main" id="{122A0EBD-49C0-11AB-00EB-37EBFA19EF16}"/>
              </a:ext>
            </a:extLst>
          </p:cNvPr>
          <p:cNvSpPr>
            <a:spLocks noGrp="1"/>
          </p:cNvSpPr>
          <p:nvPr>
            <p:ph idx="1"/>
          </p:nvPr>
        </p:nvSpPr>
        <p:spPr/>
        <p:txBody>
          <a:bodyPr/>
          <a:lstStyle/>
          <a:p>
            <a:r>
              <a:rPr lang="zh-CN" altLang="en-US" b="1" dirty="0"/>
              <a:t>利用信号量实现前驱关系</a:t>
            </a:r>
            <a:endParaRPr lang="en-US" altLang="zh-CN" b="1" dirty="0"/>
          </a:p>
          <a:p>
            <a:r>
              <a:rPr lang="zh-CN" altLang="en-US" b="1" dirty="0"/>
              <a:t>现有</a:t>
            </a:r>
            <a:r>
              <a:rPr lang="en-US" altLang="zh-CN" b="1" dirty="0"/>
              <a:t>5</a:t>
            </a:r>
            <a:r>
              <a:rPr lang="zh-CN" altLang="en-US" b="1" dirty="0"/>
              <a:t>个操作</a:t>
            </a:r>
            <a:r>
              <a:rPr lang="en-US" altLang="zh-CN" b="1" dirty="0"/>
              <a:t>A</a:t>
            </a:r>
            <a:r>
              <a:rPr lang="zh-CN" altLang="en-US" b="1" dirty="0"/>
              <a:t>、</a:t>
            </a:r>
            <a:r>
              <a:rPr lang="en-US" altLang="zh-CN" b="1" dirty="0"/>
              <a:t>B</a:t>
            </a:r>
            <a:r>
              <a:rPr lang="zh-CN" altLang="en-US" b="1" dirty="0"/>
              <a:t>、</a:t>
            </a:r>
            <a:r>
              <a:rPr lang="en-US" altLang="zh-CN" b="1" dirty="0"/>
              <a:t>C</a:t>
            </a:r>
            <a:r>
              <a:rPr lang="zh-CN" altLang="en-US" b="1" dirty="0"/>
              <a:t>、</a:t>
            </a:r>
            <a:r>
              <a:rPr lang="en-US" altLang="zh-CN" b="1" dirty="0"/>
              <a:t>D</a:t>
            </a:r>
            <a:r>
              <a:rPr lang="zh-CN" altLang="en-US" b="1" dirty="0"/>
              <a:t>和</a:t>
            </a:r>
            <a:r>
              <a:rPr lang="en-US" altLang="zh-CN" b="1" dirty="0"/>
              <a:t>E</a:t>
            </a:r>
            <a:r>
              <a:rPr lang="zh-CN" altLang="en-US" b="1" dirty="0"/>
              <a:t>，操作</a:t>
            </a:r>
            <a:r>
              <a:rPr lang="en-US" altLang="zh-CN" b="1" dirty="0"/>
              <a:t>C</a:t>
            </a:r>
            <a:r>
              <a:rPr lang="zh-CN" altLang="en-US" b="1" dirty="0"/>
              <a:t>必须在</a:t>
            </a:r>
            <a:r>
              <a:rPr lang="en-US" altLang="zh-CN" b="1" dirty="0"/>
              <a:t>A</a:t>
            </a:r>
            <a:r>
              <a:rPr lang="zh-CN" altLang="en-US" b="1" dirty="0"/>
              <a:t>和</a:t>
            </a:r>
            <a:r>
              <a:rPr lang="en-US" altLang="zh-CN" b="1" dirty="0"/>
              <a:t>B</a:t>
            </a:r>
            <a:r>
              <a:rPr lang="zh-CN" altLang="en-US" b="1" dirty="0"/>
              <a:t>完成后执行，操作</a:t>
            </a:r>
            <a:r>
              <a:rPr lang="en-US" altLang="zh-CN" b="1" dirty="0"/>
              <a:t>E</a:t>
            </a:r>
            <a:r>
              <a:rPr lang="zh-CN" altLang="en-US" b="1" dirty="0"/>
              <a:t>必须在</a:t>
            </a:r>
            <a:r>
              <a:rPr lang="en-US" altLang="zh-CN" b="1" dirty="0"/>
              <a:t>C</a:t>
            </a:r>
            <a:r>
              <a:rPr lang="zh-CN" altLang="en-US" b="1" dirty="0"/>
              <a:t>和</a:t>
            </a:r>
            <a:r>
              <a:rPr lang="en-US" altLang="zh-CN" b="1" dirty="0"/>
              <a:t>D</a:t>
            </a:r>
            <a:r>
              <a:rPr lang="zh-CN" altLang="en-US" b="1" dirty="0"/>
              <a:t>完成后执行，请使用信号量的</a:t>
            </a:r>
            <a:r>
              <a:rPr lang="en-US" altLang="zh-CN" b="1" dirty="0"/>
              <a:t>P</a:t>
            </a:r>
            <a:r>
              <a:rPr lang="zh-CN" altLang="en-US" b="1" dirty="0"/>
              <a:t>、</a:t>
            </a:r>
            <a:r>
              <a:rPr lang="en-US" altLang="zh-CN" b="1" dirty="0"/>
              <a:t>V</a:t>
            </a:r>
            <a:r>
              <a:rPr lang="zh-CN" altLang="en-US" b="1" dirty="0"/>
              <a:t>操作</a:t>
            </a:r>
            <a:r>
              <a:rPr lang="en-US" altLang="zh-CN" b="1" dirty="0"/>
              <a:t>(wait</a:t>
            </a:r>
            <a:r>
              <a:rPr lang="zh-CN" altLang="en-US" b="1" dirty="0"/>
              <a:t>（）、</a:t>
            </a:r>
            <a:r>
              <a:rPr lang="en-US" altLang="zh-CN" b="1" dirty="0"/>
              <a:t>signal</a:t>
            </a:r>
            <a:r>
              <a:rPr lang="zh-CN" altLang="en-US" b="1" dirty="0"/>
              <a:t>（）</a:t>
            </a:r>
            <a:r>
              <a:rPr lang="en-US" altLang="zh-CN" b="1" dirty="0"/>
              <a:t> </a:t>
            </a:r>
            <a:r>
              <a:rPr lang="zh-CN" altLang="en-US" b="1" dirty="0"/>
              <a:t>操作</a:t>
            </a:r>
            <a:r>
              <a:rPr lang="en-US" altLang="zh-CN" b="1" dirty="0"/>
              <a:t>)</a:t>
            </a:r>
            <a:r>
              <a:rPr lang="zh-CN" altLang="en-US" b="1" dirty="0"/>
              <a:t>描述上述操作之间的同步关系，并说明所用信号量及其初值。</a:t>
            </a:r>
          </a:p>
        </p:txBody>
      </p:sp>
    </p:spTree>
    <p:extLst>
      <p:ext uri="{BB962C8B-B14F-4D97-AF65-F5344CB8AC3E}">
        <p14:creationId xmlns:p14="http://schemas.microsoft.com/office/powerpoint/2010/main" val="744567273"/>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454DA3B8-3EF9-4C4B-BA91-3ADCA3FFD348}"/>
              </a:ext>
            </a:extLst>
          </p:cNvPr>
          <p:cNvSpPr>
            <a:spLocks noGrp="1" noChangeArrowheads="1"/>
          </p:cNvSpPr>
          <p:nvPr>
            <p:ph type="body" idx="1"/>
          </p:nvPr>
        </p:nvSpPr>
        <p:spPr>
          <a:xfrm>
            <a:off x="1331913" y="1773238"/>
            <a:ext cx="6335712" cy="4895850"/>
          </a:xfrm>
        </p:spPr>
        <p:txBody>
          <a:bodyPr/>
          <a:lstStyle/>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3.4.1 </a:t>
            </a:r>
            <a:r>
              <a:rPr lang="zh-CN" altLang="en-US" sz="3600" b="1" dirty="0">
                <a:solidFill>
                  <a:srgbClr val="FFFF00"/>
                </a:solidFill>
                <a:effectLst/>
                <a:latin typeface="黑体" panose="02010609060101010101" pitchFamily="49" charset="-122"/>
                <a:ea typeface="黑体" panose="02010609060101010101" pitchFamily="49" charset="-122"/>
              </a:rPr>
              <a:t>进程间的制约关系</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3.4.2 </a:t>
            </a:r>
            <a:r>
              <a:rPr lang="zh-CN" altLang="en-US" sz="3600" b="1" dirty="0">
                <a:solidFill>
                  <a:srgbClr val="FFFF00"/>
                </a:solidFill>
                <a:effectLst/>
                <a:latin typeface="黑体" panose="02010609060101010101" pitchFamily="49" charset="-122"/>
                <a:ea typeface="黑体" panose="02010609060101010101" pitchFamily="49" charset="-122"/>
              </a:rPr>
              <a:t>进程互斥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3.4.3 </a:t>
            </a:r>
            <a:r>
              <a:rPr lang="zh-CN" altLang="en-US" sz="3600" b="1" dirty="0">
                <a:solidFill>
                  <a:srgbClr val="FFFF00"/>
                </a:solidFill>
                <a:effectLst/>
                <a:latin typeface="黑体" panose="02010609060101010101" pitchFamily="49" charset="-122"/>
                <a:ea typeface="黑体" panose="02010609060101010101" pitchFamily="49" charset="-122"/>
              </a:rPr>
              <a:t>进程同步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3.4.4 </a:t>
            </a:r>
            <a:r>
              <a:rPr lang="zh-CN" altLang="en-US" sz="3600" b="1" dirty="0">
                <a:solidFill>
                  <a:srgbClr val="FFFF00"/>
                </a:solidFill>
                <a:effectLst/>
                <a:latin typeface="黑体" panose="02010609060101010101" pitchFamily="49" charset="-122"/>
                <a:ea typeface="黑体" panose="02010609060101010101" pitchFamily="49" charset="-122"/>
              </a:rPr>
              <a:t>信号量机制</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3.4.5 </a:t>
            </a:r>
            <a:r>
              <a:rPr lang="zh-CN" altLang="en-US" sz="3600" b="1" dirty="0">
                <a:solidFill>
                  <a:srgbClr val="FFFF00"/>
                </a:solidFill>
                <a:effectLst/>
                <a:latin typeface="黑体" panose="02010609060101010101" pitchFamily="49" charset="-122"/>
                <a:ea typeface="黑体" panose="02010609060101010101" pitchFamily="49" charset="-122"/>
              </a:rPr>
              <a:t>经典同步互斥问题</a:t>
            </a:r>
          </a:p>
        </p:txBody>
      </p:sp>
      <p:sp>
        <p:nvSpPr>
          <p:cNvPr id="6147" name="Rectangle 3">
            <a:extLst>
              <a:ext uri="{FF2B5EF4-FFF2-40B4-BE49-F238E27FC236}">
                <a16:creationId xmlns:a16="http://schemas.microsoft.com/office/drawing/2014/main" id="{F56EA621-430E-44A3-A8F5-E79B5AE76CF6}"/>
              </a:ext>
            </a:extLst>
          </p:cNvPr>
          <p:cNvSpPr>
            <a:spLocks noGrp="1" noChangeArrowheads="1"/>
          </p:cNvSpPr>
          <p:nvPr>
            <p:ph type="title"/>
          </p:nvPr>
        </p:nvSpPr>
        <p:spPr>
          <a:xfrm>
            <a:off x="179388" y="333375"/>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3.4  </a:t>
            </a:r>
            <a:r>
              <a:rPr lang="zh-CN" altLang="en-US" b="1">
                <a:solidFill>
                  <a:schemeClr val="tx1"/>
                </a:solidFill>
                <a:effectLst/>
                <a:latin typeface="Times New Roman" panose="02020603050405020304" pitchFamily="18" charset="0"/>
              </a:rPr>
              <a:t>进程的同步与互斥</a:t>
            </a:r>
            <a:r>
              <a:rPr lang="zh-CN" altLang="en-US" b="1">
                <a:solidFill>
                  <a:schemeClr val="tx1"/>
                </a:solidFill>
                <a:effectLst/>
              </a:rPr>
              <a:t> </a:t>
            </a:r>
          </a:p>
        </p:txBody>
      </p:sp>
    </p:spTree>
    <p:extLst>
      <p:ext uri="{BB962C8B-B14F-4D97-AF65-F5344CB8AC3E}">
        <p14:creationId xmlns:p14="http://schemas.microsoft.com/office/powerpoint/2010/main" val="2716108232"/>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9170">
                                            <p:txEl>
                                              <p:pRg st="0" end="0"/>
                                            </p:txEl>
                                          </p:spTgt>
                                        </p:tgtEl>
                                        <p:attrNameLst>
                                          <p:attrName>style.visibility</p:attrName>
                                        </p:attrNameLst>
                                      </p:cBhvr>
                                      <p:to>
                                        <p:strVal val="visible"/>
                                      </p:to>
                                    </p:set>
                                    <p:animEffect transition="in" filter="box(out)">
                                      <p:cBhvr>
                                        <p:cTn id="7" dur="500"/>
                                        <p:tgtEl>
                                          <p:spTgt spid="51917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9170">
                                            <p:txEl>
                                              <p:pRg st="1" end="1"/>
                                            </p:txEl>
                                          </p:spTgt>
                                        </p:tgtEl>
                                        <p:attrNameLst>
                                          <p:attrName>style.visibility</p:attrName>
                                        </p:attrNameLst>
                                      </p:cBhvr>
                                      <p:to>
                                        <p:strVal val="visible"/>
                                      </p:to>
                                    </p:set>
                                    <p:animEffect transition="in" filter="box(out)">
                                      <p:cBhvr>
                                        <p:cTn id="12" dur="500"/>
                                        <p:tgtEl>
                                          <p:spTgt spid="519170">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9170">
                                            <p:txEl>
                                              <p:pRg st="2" end="2"/>
                                            </p:txEl>
                                          </p:spTgt>
                                        </p:tgtEl>
                                        <p:attrNameLst>
                                          <p:attrName>style.visibility</p:attrName>
                                        </p:attrNameLst>
                                      </p:cBhvr>
                                      <p:to>
                                        <p:strVal val="visible"/>
                                      </p:to>
                                    </p:set>
                                    <p:animEffect transition="in" filter="box(out)">
                                      <p:cBhvr>
                                        <p:cTn id="17" dur="500"/>
                                        <p:tgtEl>
                                          <p:spTgt spid="519170">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19170">
                                            <p:txEl>
                                              <p:pRg st="3" end="3"/>
                                            </p:txEl>
                                          </p:spTgt>
                                        </p:tgtEl>
                                        <p:attrNameLst>
                                          <p:attrName>style.visibility</p:attrName>
                                        </p:attrNameLst>
                                      </p:cBhvr>
                                      <p:to>
                                        <p:strVal val="visible"/>
                                      </p:to>
                                    </p:set>
                                    <p:animEffect transition="in" filter="box(out)">
                                      <p:cBhvr>
                                        <p:cTn id="22" dur="500"/>
                                        <p:tgtEl>
                                          <p:spTgt spid="519170">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19170">
                                            <p:txEl>
                                              <p:pRg st="4" end="4"/>
                                            </p:txEl>
                                          </p:spTgt>
                                        </p:tgtEl>
                                        <p:attrNameLst>
                                          <p:attrName>style.visibility</p:attrName>
                                        </p:attrNameLst>
                                      </p:cBhvr>
                                      <p:to>
                                        <p:strVal val="visible"/>
                                      </p:to>
                                    </p:set>
                                    <p:animEffect transition="in" filter="box(out)">
                                      <p:cBhvr>
                                        <p:cTn id="27" dur="500"/>
                                        <p:tgtEl>
                                          <p:spTgt spid="519170">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0" grpId="0" build="p"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454DA3B8-3EF9-4C4B-BA91-3ADCA3FFD348}"/>
              </a:ext>
            </a:extLst>
          </p:cNvPr>
          <p:cNvSpPr>
            <a:spLocks noGrp="1" noChangeArrowheads="1"/>
          </p:cNvSpPr>
          <p:nvPr>
            <p:ph type="body" idx="1"/>
          </p:nvPr>
        </p:nvSpPr>
        <p:spPr>
          <a:xfrm>
            <a:off x="1331913" y="1773238"/>
            <a:ext cx="6335712" cy="4895850"/>
          </a:xfrm>
        </p:spPr>
        <p:txBody>
          <a:bodyPr/>
          <a:lstStyle/>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3.4.1 </a:t>
            </a:r>
            <a:r>
              <a:rPr lang="zh-CN" altLang="en-US" sz="3600" b="1" dirty="0">
                <a:solidFill>
                  <a:srgbClr val="FFFF00"/>
                </a:solidFill>
                <a:effectLst/>
                <a:latin typeface="黑体" panose="02010609060101010101" pitchFamily="49" charset="-122"/>
                <a:ea typeface="黑体" panose="02010609060101010101" pitchFamily="49" charset="-122"/>
              </a:rPr>
              <a:t>进程间的制约关系</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3.4.2 </a:t>
            </a:r>
            <a:r>
              <a:rPr lang="zh-CN" altLang="en-US" sz="3600" b="1" dirty="0">
                <a:solidFill>
                  <a:srgbClr val="FFFF00"/>
                </a:solidFill>
                <a:effectLst/>
                <a:latin typeface="黑体" panose="02010609060101010101" pitchFamily="49" charset="-122"/>
                <a:ea typeface="黑体" panose="02010609060101010101" pitchFamily="49" charset="-122"/>
              </a:rPr>
              <a:t>进程互斥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3.4.3 </a:t>
            </a:r>
            <a:r>
              <a:rPr lang="zh-CN" altLang="en-US" sz="3600" b="1" dirty="0">
                <a:solidFill>
                  <a:srgbClr val="FFFF00"/>
                </a:solidFill>
                <a:effectLst/>
                <a:latin typeface="黑体" panose="02010609060101010101" pitchFamily="49" charset="-122"/>
                <a:ea typeface="黑体" panose="02010609060101010101" pitchFamily="49" charset="-122"/>
              </a:rPr>
              <a:t>进程同步</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3.4.4 </a:t>
            </a:r>
            <a:r>
              <a:rPr lang="zh-CN" altLang="en-US" sz="3600" b="1" dirty="0">
                <a:solidFill>
                  <a:srgbClr val="FFFF00"/>
                </a:solidFill>
                <a:effectLst/>
                <a:latin typeface="黑体" panose="02010609060101010101" pitchFamily="49" charset="-122"/>
                <a:ea typeface="黑体" panose="02010609060101010101" pitchFamily="49" charset="-122"/>
              </a:rPr>
              <a:t>信号量机制</a:t>
            </a:r>
          </a:p>
          <a:p>
            <a:pPr eaLnBrk="1" hangingPunct="1"/>
            <a:r>
              <a:rPr lang="en-US" altLang="zh-CN" sz="3600" b="1" dirty="0">
                <a:solidFill>
                  <a:srgbClr val="FFFF00"/>
                </a:solidFill>
                <a:effectLst/>
                <a:latin typeface="黑体" panose="02010609060101010101" pitchFamily="49" charset="-122"/>
                <a:ea typeface="黑体" panose="02010609060101010101" pitchFamily="49" charset="-122"/>
              </a:rPr>
              <a:t>3.4.5 </a:t>
            </a:r>
            <a:r>
              <a:rPr lang="zh-CN" altLang="en-US" sz="3600" b="1" dirty="0">
                <a:solidFill>
                  <a:srgbClr val="FFFF00"/>
                </a:solidFill>
                <a:effectLst/>
                <a:latin typeface="黑体" panose="02010609060101010101" pitchFamily="49" charset="-122"/>
                <a:ea typeface="黑体" panose="02010609060101010101" pitchFamily="49" charset="-122"/>
              </a:rPr>
              <a:t>经典同步互斥问题</a:t>
            </a:r>
          </a:p>
        </p:txBody>
      </p:sp>
      <p:sp>
        <p:nvSpPr>
          <p:cNvPr id="6147" name="Rectangle 3">
            <a:extLst>
              <a:ext uri="{FF2B5EF4-FFF2-40B4-BE49-F238E27FC236}">
                <a16:creationId xmlns:a16="http://schemas.microsoft.com/office/drawing/2014/main" id="{F56EA621-430E-44A3-A8F5-E79B5AE76CF6}"/>
              </a:ext>
            </a:extLst>
          </p:cNvPr>
          <p:cNvSpPr>
            <a:spLocks noGrp="1" noChangeArrowheads="1"/>
          </p:cNvSpPr>
          <p:nvPr>
            <p:ph type="title"/>
          </p:nvPr>
        </p:nvSpPr>
        <p:spPr>
          <a:xfrm>
            <a:off x="179388" y="333375"/>
            <a:ext cx="8229600" cy="922338"/>
          </a:xfrm>
          <a:noFill/>
          <a:extLst>
            <a:ext uri="{909E8E84-426E-40DD-AFC4-6F175D3DCCD1}">
              <a14:hiddenFill xmlns:a14="http://schemas.microsoft.com/office/drawing/2010/main">
                <a:solidFill>
                  <a:schemeClr val="accent1"/>
                </a:solidFill>
              </a14:hiddenFill>
            </a:ext>
          </a:extLst>
        </p:spPr>
        <p:txBody>
          <a:bodyPr/>
          <a:lstStyle/>
          <a:p>
            <a:pPr eaLnBrk="1" hangingPunct="1"/>
            <a:r>
              <a:rPr lang="en-US" altLang="zh-CN" b="1" dirty="0">
                <a:solidFill>
                  <a:schemeClr val="tx1"/>
                </a:solidFill>
                <a:effectLst/>
                <a:latin typeface="Times New Roman" panose="02020603050405020304" pitchFamily="18" charset="0"/>
                <a:cs typeface="Times New Roman" panose="02020603050405020304" pitchFamily="18" charset="0"/>
              </a:rPr>
              <a:t>3.4  </a:t>
            </a:r>
            <a:r>
              <a:rPr lang="zh-CN" altLang="en-US" b="1" dirty="0">
                <a:solidFill>
                  <a:schemeClr val="tx1"/>
                </a:solidFill>
                <a:effectLst/>
                <a:latin typeface="Times New Roman" panose="02020603050405020304" pitchFamily="18" charset="0"/>
              </a:rPr>
              <a:t>进程的同步与互斥</a:t>
            </a:r>
            <a:r>
              <a:rPr lang="zh-CN" altLang="en-US" b="1" dirty="0">
                <a:solidFill>
                  <a:schemeClr val="tx1"/>
                </a:solidFill>
                <a:effectLst/>
              </a:rPr>
              <a:t> </a:t>
            </a:r>
          </a:p>
        </p:txBody>
      </p:sp>
    </p:spTree>
    <p:extLst>
      <p:ext uri="{BB962C8B-B14F-4D97-AF65-F5344CB8AC3E}">
        <p14:creationId xmlns:p14="http://schemas.microsoft.com/office/powerpoint/2010/main" val="2280126019"/>
      </p:ext>
    </p:extLst>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9170">
                                            <p:txEl>
                                              <p:pRg st="0" end="0"/>
                                            </p:txEl>
                                          </p:spTgt>
                                        </p:tgtEl>
                                        <p:attrNameLst>
                                          <p:attrName>style.visibility</p:attrName>
                                        </p:attrNameLst>
                                      </p:cBhvr>
                                      <p:to>
                                        <p:strVal val="visible"/>
                                      </p:to>
                                    </p:set>
                                    <p:animEffect transition="in" filter="box(out)">
                                      <p:cBhvr>
                                        <p:cTn id="7" dur="500"/>
                                        <p:tgtEl>
                                          <p:spTgt spid="51917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9170">
                                            <p:txEl>
                                              <p:pRg st="1" end="1"/>
                                            </p:txEl>
                                          </p:spTgt>
                                        </p:tgtEl>
                                        <p:attrNameLst>
                                          <p:attrName>style.visibility</p:attrName>
                                        </p:attrNameLst>
                                      </p:cBhvr>
                                      <p:to>
                                        <p:strVal val="visible"/>
                                      </p:to>
                                    </p:set>
                                    <p:animEffect transition="in" filter="box(out)">
                                      <p:cBhvr>
                                        <p:cTn id="12" dur="500"/>
                                        <p:tgtEl>
                                          <p:spTgt spid="519170">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9170">
                                            <p:txEl>
                                              <p:pRg st="2" end="2"/>
                                            </p:txEl>
                                          </p:spTgt>
                                        </p:tgtEl>
                                        <p:attrNameLst>
                                          <p:attrName>style.visibility</p:attrName>
                                        </p:attrNameLst>
                                      </p:cBhvr>
                                      <p:to>
                                        <p:strVal val="visible"/>
                                      </p:to>
                                    </p:set>
                                    <p:animEffect transition="in" filter="box(out)">
                                      <p:cBhvr>
                                        <p:cTn id="17" dur="500"/>
                                        <p:tgtEl>
                                          <p:spTgt spid="519170">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19170">
                                            <p:txEl>
                                              <p:pRg st="3" end="3"/>
                                            </p:txEl>
                                          </p:spTgt>
                                        </p:tgtEl>
                                        <p:attrNameLst>
                                          <p:attrName>style.visibility</p:attrName>
                                        </p:attrNameLst>
                                      </p:cBhvr>
                                      <p:to>
                                        <p:strVal val="visible"/>
                                      </p:to>
                                    </p:set>
                                    <p:animEffect transition="in" filter="box(out)">
                                      <p:cBhvr>
                                        <p:cTn id="22" dur="500"/>
                                        <p:tgtEl>
                                          <p:spTgt spid="519170">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19170">
                                            <p:txEl>
                                              <p:pRg st="4" end="4"/>
                                            </p:txEl>
                                          </p:spTgt>
                                        </p:tgtEl>
                                        <p:attrNameLst>
                                          <p:attrName>style.visibility</p:attrName>
                                        </p:attrNameLst>
                                      </p:cBhvr>
                                      <p:to>
                                        <p:strVal val="visible"/>
                                      </p:to>
                                    </p:set>
                                    <p:animEffect transition="in" filter="box(out)">
                                      <p:cBhvr>
                                        <p:cTn id="27" dur="500"/>
                                        <p:tgtEl>
                                          <p:spTgt spid="519170">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0"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6">
            <a:extLst>
              <a:ext uri="{FF2B5EF4-FFF2-40B4-BE49-F238E27FC236}">
                <a16:creationId xmlns:a16="http://schemas.microsoft.com/office/drawing/2014/main" id="{9BF8268D-A846-4CFC-95FD-A53AB9974CEE}"/>
              </a:ext>
            </a:extLst>
          </p:cNvPr>
          <p:cNvSpPr>
            <a:spLocks noGrp="1"/>
          </p:cNvSpPr>
          <p:nvPr>
            <p:ph type="sldNum" sz="quarter" idx="12"/>
          </p:nvPr>
        </p:nvSpPr>
        <p:spPr/>
        <p:txBody>
          <a:bodyPr/>
          <a:lstStyle/>
          <a:p>
            <a:pPr>
              <a:defRPr/>
            </a:pPr>
            <a:fld id="{E547E2EC-4EFA-49FA-A0DA-FD61EBE5F001}" type="slidenum">
              <a:rPr lang="en-US" altLang="zh-CN"/>
              <a:pPr>
                <a:defRPr/>
              </a:pPr>
              <a:t>95</a:t>
            </a:fld>
            <a:endParaRPr lang="en-US" altLang="zh-CN"/>
          </a:p>
        </p:txBody>
      </p:sp>
      <p:sp>
        <p:nvSpPr>
          <p:cNvPr id="102403" name="Rectangle 2">
            <a:extLst>
              <a:ext uri="{FF2B5EF4-FFF2-40B4-BE49-F238E27FC236}">
                <a16:creationId xmlns:a16="http://schemas.microsoft.com/office/drawing/2014/main" id="{2A0D2CC1-8B5F-4928-BE37-6EADE2A61CCD}"/>
              </a:ext>
            </a:extLst>
          </p:cNvPr>
          <p:cNvSpPr>
            <a:spLocks noGrp="1" noChangeArrowheads="1"/>
          </p:cNvSpPr>
          <p:nvPr>
            <p:ph type="title"/>
          </p:nvPr>
        </p:nvSpPr>
        <p:spPr>
          <a:xfrm>
            <a:off x="468313" y="260350"/>
            <a:ext cx="8229600" cy="1296988"/>
          </a:xfr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lnSpc>
                <a:spcPct val="70000"/>
              </a:lnSpc>
            </a:pPr>
            <a:r>
              <a:rPr kumimoji="1" lang="zh-CN" altLang="en-US" b="1">
                <a:solidFill>
                  <a:schemeClr val="tx1"/>
                </a:solidFill>
                <a:effectLst/>
              </a:rPr>
              <a:t>第三章  进程管理</a:t>
            </a:r>
          </a:p>
        </p:txBody>
      </p:sp>
      <p:sp>
        <p:nvSpPr>
          <p:cNvPr id="102404" name="Rectangle 5">
            <a:extLst>
              <a:ext uri="{FF2B5EF4-FFF2-40B4-BE49-F238E27FC236}">
                <a16:creationId xmlns:a16="http://schemas.microsoft.com/office/drawing/2014/main" id="{E0E8B063-C273-42C1-8C5E-8971EDE512F4}"/>
              </a:ext>
            </a:extLst>
          </p:cNvPr>
          <p:cNvSpPr>
            <a:spLocks noGrp="1" noChangeArrowheads="1"/>
          </p:cNvSpPr>
          <p:nvPr>
            <p:ph type="body" sz="half" idx="1"/>
          </p:nvPr>
        </p:nvSpPr>
        <p:spPr>
          <a:xfrm>
            <a:off x="1835150" y="1628775"/>
            <a:ext cx="5807075" cy="4679950"/>
          </a:xfrm>
        </p:spPr>
        <p:txBody>
          <a:bodyPr/>
          <a:lstStyle/>
          <a:p>
            <a:pPr eaLnBrk="1" hangingPunct="1"/>
            <a:r>
              <a:rPr lang="en-US" altLang="zh-CN" sz="3600" b="1">
                <a:solidFill>
                  <a:srgbClr val="FFFF00"/>
                </a:solidFill>
                <a:effectLst/>
                <a:ea typeface="黑体" panose="02010609060101010101" pitchFamily="49" charset="-122"/>
              </a:rPr>
              <a:t>3.1</a:t>
            </a:r>
            <a:r>
              <a:rPr lang="zh-CN" altLang="en-US" sz="3600" b="1">
                <a:solidFill>
                  <a:srgbClr val="FFFF00"/>
                </a:solidFill>
                <a:effectLst/>
                <a:ea typeface="黑体" panose="02010609060101010101" pitchFamily="49" charset="-122"/>
              </a:rPr>
              <a:t>进程的概念</a:t>
            </a:r>
          </a:p>
          <a:p>
            <a:pPr eaLnBrk="1" hangingPunct="1"/>
            <a:r>
              <a:rPr lang="en-US" altLang="zh-CN" sz="3600" b="1">
                <a:solidFill>
                  <a:srgbClr val="FFFF00"/>
                </a:solidFill>
                <a:effectLst/>
                <a:ea typeface="黑体" panose="02010609060101010101" pitchFamily="49" charset="-122"/>
              </a:rPr>
              <a:t>3.2</a:t>
            </a:r>
            <a:r>
              <a:rPr lang="zh-CN" altLang="en-US" sz="3600" b="1">
                <a:solidFill>
                  <a:srgbClr val="FFFF00"/>
                </a:solidFill>
                <a:effectLst/>
                <a:ea typeface="黑体" panose="02010609060101010101" pitchFamily="49" charset="-122"/>
              </a:rPr>
              <a:t>进程状态及其转换</a:t>
            </a:r>
          </a:p>
          <a:p>
            <a:pPr eaLnBrk="1" hangingPunct="1"/>
            <a:r>
              <a:rPr lang="en-US" altLang="zh-CN" sz="3600" b="1">
                <a:solidFill>
                  <a:srgbClr val="FFFF00"/>
                </a:solidFill>
                <a:effectLst/>
                <a:ea typeface="黑体" panose="02010609060101010101" pitchFamily="49" charset="-122"/>
              </a:rPr>
              <a:t>3.3</a:t>
            </a:r>
            <a:r>
              <a:rPr lang="zh-CN" altLang="en-US" sz="3600" b="1">
                <a:solidFill>
                  <a:srgbClr val="FFFF00"/>
                </a:solidFill>
                <a:effectLst/>
                <a:ea typeface="黑体" panose="02010609060101010101" pitchFamily="49" charset="-122"/>
              </a:rPr>
              <a:t>进程控制</a:t>
            </a:r>
          </a:p>
          <a:p>
            <a:pPr eaLnBrk="1" hangingPunct="1"/>
            <a:r>
              <a:rPr lang="en-US" altLang="zh-CN" sz="3600" b="1">
                <a:solidFill>
                  <a:srgbClr val="FFFF00"/>
                </a:solidFill>
                <a:effectLst/>
                <a:ea typeface="黑体" panose="02010609060101010101" pitchFamily="49" charset="-122"/>
              </a:rPr>
              <a:t>3.4</a:t>
            </a:r>
            <a:r>
              <a:rPr lang="zh-CN" altLang="en-US" sz="3600" b="1">
                <a:solidFill>
                  <a:srgbClr val="FFFF00"/>
                </a:solidFill>
                <a:effectLst/>
                <a:ea typeface="黑体" panose="02010609060101010101" pitchFamily="49" charset="-122"/>
              </a:rPr>
              <a:t>进程的同步与互斥</a:t>
            </a:r>
          </a:p>
          <a:p>
            <a:pPr eaLnBrk="1" hangingPunct="1"/>
            <a:r>
              <a:rPr lang="en-US" altLang="zh-CN" sz="3600" b="1">
                <a:solidFill>
                  <a:srgbClr val="FFFF00"/>
                </a:solidFill>
                <a:effectLst/>
                <a:ea typeface="黑体" panose="02010609060101010101" pitchFamily="49" charset="-122"/>
              </a:rPr>
              <a:t>3.5</a:t>
            </a:r>
            <a:r>
              <a:rPr lang="zh-CN" altLang="en-US" sz="3600" b="1">
                <a:solidFill>
                  <a:srgbClr val="FFFF00"/>
                </a:solidFill>
                <a:effectLst/>
                <a:ea typeface="黑体" panose="02010609060101010101" pitchFamily="49" charset="-122"/>
              </a:rPr>
              <a:t>进程通信</a:t>
            </a:r>
          </a:p>
          <a:p>
            <a:pPr eaLnBrk="1" hangingPunct="1"/>
            <a:r>
              <a:rPr lang="en-US" altLang="zh-CN" sz="3600" b="1">
                <a:solidFill>
                  <a:srgbClr val="FFFF00"/>
                </a:solidFill>
                <a:effectLst/>
                <a:ea typeface="黑体" panose="02010609060101010101" pitchFamily="49" charset="-122"/>
              </a:rPr>
              <a:t>3.6</a:t>
            </a:r>
            <a:r>
              <a:rPr lang="zh-CN" altLang="en-US" sz="3600" b="1">
                <a:solidFill>
                  <a:srgbClr val="FFFF00"/>
                </a:solidFill>
                <a:effectLst/>
                <a:ea typeface="黑体" panose="02010609060101010101" pitchFamily="49" charset="-122"/>
              </a:rPr>
              <a:t>死锁</a:t>
            </a:r>
          </a:p>
          <a:p>
            <a:pPr eaLnBrk="1" hangingPunct="1"/>
            <a:r>
              <a:rPr lang="en-US" altLang="zh-CN" sz="3600" b="1">
                <a:solidFill>
                  <a:srgbClr val="FFFF00"/>
                </a:solidFill>
                <a:effectLst/>
                <a:ea typeface="黑体" panose="02010609060101010101" pitchFamily="49" charset="-122"/>
              </a:rPr>
              <a:t>3.7</a:t>
            </a:r>
            <a:r>
              <a:rPr lang="zh-CN" altLang="en-US" sz="3600" b="1">
                <a:solidFill>
                  <a:srgbClr val="FFFF00"/>
                </a:solidFill>
                <a:effectLst/>
                <a:ea typeface="黑体" panose="02010609060101010101" pitchFamily="49" charset="-122"/>
              </a:rPr>
              <a:t>线程</a:t>
            </a: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E56B4CB8-FB47-4F89-BFEC-46221AA2B966}"/>
              </a:ext>
            </a:extLst>
          </p:cNvPr>
          <p:cNvSpPr>
            <a:spLocks noGrp="1" noChangeArrowheads="1"/>
          </p:cNvSpPr>
          <p:nvPr>
            <p:ph type="title"/>
          </p:nvPr>
        </p:nvSpPr>
        <p:spPr>
          <a:xfrm>
            <a:off x="0" y="620713"/>
            <a:ext cx="8229600" cy="922337"/>
          </a:xfrm>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3.5  </a:t>
            </a:r>
            <a:r>
              <a:rPr lang="zh-CN" altLang="en-US" b="1">
                <a:solidFill>
                  <a:schemeClr val="tx1"/>
                </a:solidFill>
                <a:effectLst/>
                <a:latin typeface="Times New Roman" panose="02020603050405020304" pitchFamily="18" charset="0"/>
              </a:rPr>
              <a:t>进程通信</a:t>
            </a:r>
            <a:r>
              <a:rPr lang="zh-CN" altLang="en-US" b="1">
                <a:solidFill>
                  <a:schemeClr val="tx1"/>
                </a:solidFill>
                <a:effectLst/>
              </a:rPr>
              <a:t> </a:t>
            </a:r>
          </a:p>
        </p:txBody>
      </p:sp>
      <p:sp>
        <p:nvSpPr>
          <p:cNvPr id="103427" name="Rectangle 3">
            <a:extLst>
              <a:ext uri="{FF2B5EF4-FFF2-40B4-BE49-F238E27FC236}">
                <a16:creationId xmlns:a16="http://schemas.microsoft.com/office/drawing/2014/main" id="{55632388-E215-45F9-9211-12F0C72DCF9D}"/>
              </a:ext>
            </a:extLst>
          </p:cNvPr>
          <p:cNvSpPr>
            <a:spLocks noGrp="1" noChangeArrowheads="1"/>
          </p:cNvSpPr>
          <p:nvPr>
            <p:ph type="body" idx="1"/>
          </p:nvPr>
        </p:nvSpPr>
        <p:spPr>
          <a:xfrm>
            <a:off x="344488" y="1412776"/>
            <a:ext cx="7885112" cy="4530725"/>
          </a:xfrm>
        </p:spPr>
        <p:txBody>
          <a:bodyPr/>
          <a:lstStyle/>
          <a:p>
            <a:pPr algn="just" eaLnBrk="1" hangingPunct="1">
              <a:buFont typeface="Wingdings" panose="05000000000000000000" pitchFamily="2" charset="2"/>
              <a:buNone/>
            </a:pPr>
            <a:endParaRPr lang="en-US" altLang="zh-CN" sz="3600" b="1" dirty="0">
              <a:solidFill>
                <a:srgbClr val="FFFF00"/>
              </a:solidFill>
              <a:effectLst/>
              <a:latin typeface="楷体_GB2312" pitchFamily="49" charset="-122"/>
              <a:ea typeface="楷体_GB2312" pitchFamily="49" charset="-122"/>
            </a:endParaRPr>
          </a:p>
          <a:p>
            <a:pPr algn="just" eaLnBrk="1" hangingPunct="1"/>
            <a:r>
              <a:rPr lang="en-US" altLang="zh-CN" sz="3600" b="1" dirty="0">
                <a:solidFill>
                  <a:srgbClr val="FFFF00"/>
                </a:solidFill>
                <a:effectLst/>
                <a:latin typeface="楷体_GB2312" pitchFamily="49" charset="-122"/>
                <a:ea typeface="楷体_GB2312" pitchFamily="49" charset="-122"/>
              </a:rPr>
              <a:t>3.5.1 </a:t>
            </a:r>
            <a:r>
              <a:rPr lang="zh-CN" altLang="en-US" sz="3600" b="1" dirty="0">
                <a:solidFill>
                  <a:srgbClr val="FFFF00"/>
                </a:solidFill>
                <a:effectLst/>
                <a:latin typeface="楷体_GB2312" pitchFamily="49" charset="-122"/>
                <a:ea typeface="楷体_GB2312" pitchFamily="49" charset="-122"/>
              </a:rPr>
              <a:t>进程通信的方式</a:t>
            </a:r>
          </a:p>
          <a:p>
            <a:pPr algn="just" eaLnBrk="1" hangingPunct="1"/>
            <a:r>
              <a:rPr lang="en-US" altLang="zh-CN" sz="3600" b="1" dirty="0">
                <a:solidFill>
                  <a:srgbClr val="FFFF00"/>
                </a:solidFill>
                <a:effectLst/>
                <a:latin typeface="楷体_GB2312" pitchFamily="49" charset="-122"/>
                <a:ea typeface="楷体_GB2312" pitchFamily="49" charset="-122"/>
              </a:rPr>
              <a:t>3.5.2 </a:t>
            </a:r>
            <a:r>
              <a:rPr lang="zh-CN" altLang="en-US" sz="3600" b="1" dirty="0">
                <a:solidFill>
                  <a:srgbClr val="FFFF00"/>
                </a:solidFill>
                <a:effectLst/>
                <a:latin typeface="楷体_GB2312" pitchFamily="49" charset="-122"/>
                <a:ea typeface="楷体_GB2312" pitchFamily="49" charset="-122"/>
              </a:rPr>
              <a:t>消息缓冲机制</a:t>
            </a:r>
          </a:p>
          <a:p>
            <a:pPr algn="just" eaLnBrk="1" hangingPunct="1"/>
            <a:r>
              <a:rPr lang="en-US" altLang="zh-CN" sz="3600" b="1" dirty="0">
                <a:solidFill>
                  <a:srgbClr val="FFFF00"/>
                </a:solidFill>
                <a:effectLst/>
                <a:latin typeface="楷体_GB2312" pitchFamily="49" charset="-122"/>
                <a:ea typeface="楷体_GB2312" pitchFamily="49" charset="-122"/>
              </a:rPr>
              <a:t>3.5.3 </a:t>
            </a:r>
            <a:r>
              <a:rPr lang="zh-CN" altLang="en-US" sz="3600" b="1" dirty="0">
                <a:solidFill>
                  <a:srgbClr val="FFFF00"/>
                </a:solidFill>
                <a:effectLst/>
                <a:latin typeface="楷体_GB2312" pitchFamily="49" charset="-122"/>
                <a:ea typeface="楷体_GB2312" pitchFamily="49" charset="-122"/>
              </a:rPr>
              <a:t>邮箱通信</a:t>
            </a:r>
          </a:p>
        </p:txBody>
      </p:sp>
      <p:sp>
        <p:nvSpPr>
          <p:cNvPr id="2" name="Rectangle 2">
            <a:extLst>
              <a:ext uri="{FF2B5EF4-FFF2-40B4-BE49-F238E27FC236}">
                <a16:creationId xmlns:a16="http://schemas.microsoft.com/office/drawing/2014/main" id="{12AD10B4-C91F-E49B-C951-753D3BF62E7C}"/>
              </a:ext>
            </a:extLst>
          </p:cNvPr>
          <p:cNvSpPr txBox="1">
            <a:spLocks noChangeArrowheads="1"/>
          </p:cNvSpPr>
          <p:nvPr/>
        </p:nvSpPr>
        <p:spPr bwMode="auto">
          <a:xfrm>
            <a:off x="5508104" y="1943486"/>
            <a:ext cx="4752379" cy="2663676"/>
          </a:xfrm>
          <a:prstGeom prst="rect">
            <a:avLst/>
          </a:prstGeom>
          <a:no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l"/>
              <a:defRPr sz="3200" kern="1200">
                <a:solidFill>
                  <a:schemeClr val="tx1"/>
                </a:solidFill>
                <a:effectLst>
                  <a:outerShdw blurRad="38100" dist="38100" dir="2700000" algn="tl">
                    <a:srgbClr val="010199"/>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l"/>
              <a:defRPr sz="2800" kern="1200">
                <a:solidFill>
                  <a:schemeClr val="tx1"/>
                </a:solidFill>
                <a:effectLst>
                  <a:outerShdw blurRad="38100" dist="38100" dir="2700000" algn="tl">
                    <a:srgbClr val="010199"/>
                  </a:outerShdw>
                </a:effectLst>
                <a:latin typeface="+mn-lt"/>
                <a:ea typeface="+mn-ea"/>
                <a:cs typeface="+mn-cs"/>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sz="2400" kern="1200">
                <a:solidFill>
                  <a:schemeClr val="tx1"/>
                </a:solidFill>
                <a:effectLst>
                  <a:outerShdw blurRad="38100" dist="38100" dir="2700000" algn="tl">
                    <a:srgbClr val="010199"/>
                  </a:outerShdw>
                </a:effectLst>
                <a:latin typeface="+mn-lt"/>
                <a:ea typeface="+mn-ea"/>
                <a:cs typeface="+mn-cs"/>
              </a:defRPr>
            </a:lvl3pPr>
            <a:lvl4pPr marL="1600200" indent="-228600" algn="l" rtl="0" eaLnBrk="0" fontAlgn="base" hangingPunct="0">
              <a:spcBef>
                <a:spcPct val="20000"/>
              </a:spcBef>
              <a:spcAft>
                <a:spcPct val="0"/>
              </a:spcAft>
              <a:buClr>
                <a:schemeClr val="folHlink"/>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4pPr>
            <a:lvl5pPr marL="2057400" indent="-228600" algn="l" rtl="0" eaLnBrk="0" fontAlgn="base" hangingPunct="0">
              <a:spcBef>
                <a:spcPct val="20000"/>
              </a:spcBef>
              <a:spcAft>
                <a:spcPct val="0"/>
              </a:spcAft>
              <a:buClr>
                <a:schemeClr val="tx1"/>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共享存储器机制</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消息传递机制</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管道通信机制</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A278BAB4-7737-4C39-9DF9-76E2E8B34D71}"/>
              </a:ext>
            </a:extLst>
          </p:cNvPr>
          <p:cNvSpPr>
            <a:spLocks noGrp="1" noChangeArrowheads="1"/>
          </p:cNvSpPr>
          <p:nvPr>
            <p:ph type="body" idx="1"/>
          </p:nvPr>
        </p:nvSpPr>
        <p:spPr>
          <a:xfrm>
            <a:off x="358775" y="1557338"/>
            <a:ext cx="8426450" cy="4581525"/>
          </a:xfrm>
        </p:spPr>
        <p:txBody>
          <a:bodyPr/>
          <a:lstStyle/>
          <a:p>
            <a:pPr eaLnBrk="1" hangingPunct="1"/>
            <a:r>
              <a:rPr lang="en-US" altLang="zh-CN" b="1">
                <a:solidFill>
                  <a:srgbClr val="FFFF00"/>
                </a:solidFill>
                <a:effectLst/>
                <a:latin typeface="黑体" panose="02010609060101010101" pitchFamily="49" charset="-122"/>
                <a:ea typeface="黑体" panose="02010609060101010101" pitchFamily="49" charset="-122"/>
              </a:rPr>
              <a:t>OS</a:t>
            </a:r>
            <a:r>
              <a:rPr lang="zh-CN" altLang="en-US" b="1">
                <a:solidFill>
                  <a:srgbClr val="FFFF00"/>
                </a:solidFill>
                <a:effectLst/>
                <a:latin typeface="黑体" panose="02010609060101010101" pitchFamily="49" charset="-122"/>
                <a:ea typeface="黑体" panose="02010609060101010101" pitchFamily="49" charset="-122"/>
              </a:rPr>
              <a:t>可以被看作是各种进程组成的，例如用户进程、计算进程等</a:t>
            </a:r>
          </a:p>
          <a:p>
            <a:pPr eaLnBrk="1" hangingPunct="1"/>
            <a:r>
              <a:rPr lang="zh-CN" altLang="en-US" b="1">
                <a:solidFill>
                  <a:srgbClr val="FFFF00"/>
                </a:solidFill>
                <a:effectLst/>
                <a:latin typeface="黑体" panose="02010609060101010101" pitchFamily="49" charset="-122"/>
                <a:ea typeface="黑体" panose="02010609060101010101" pitchFamily="49" charset="-122"/>
              </a:rPr>
              <a:t>通信</a:t>
            </a:r>
            <a:r>
              <a:rPr lang="en-US" altLang="zh-CN" b="1">
                <a:solidFill>
                  <a:srgbClr val="FFFF00"/>
                </a:solidFill>
                <a:effectLst/>
                <a:latin typeface="黑体" panose="02010609060101010101" pitchFamily="49" charset="-122"/>
                <a:ea typeface="黑体" panose="02010609060101010101" pitchFamily="49" charset="-122"/>
              </a:rPr>
              <a:t>communication</a:t>
            </a:r>
            <a:r>
              <a:rPr lang="zh-CN" altLang="en-US" b="1">
                <a:solidFill>
                  <a:srgbClr val="FFFF00"/>
                </a:solidFill>
                <a:effectLst/>
                <a:latin typeface="黑体" panose="02010609060101010101" pitchFamily="49" charset="-122"/>
                <a:ea typeface="黑体" panose="02010609060101010101" pitchFamily="49" charset="-122"/>
              </a:rPr>
              <a:t>意味着在进程间传送数据。</a:t>
            </a:r>
            <a:endParaRPr lang="en-US" altLang="zh-CN" b="1">
              <a:solidFill>
                <a:srgbClr val="FFFF00"/>
              </a:solidFill>
              <a:effectLst/>
              <a:latin typeface="黑体" panose="02010609060101010101" pitchFamily="49" charset="-122"/>
              <a:ea typeface="黑体" panose="02010609060101010101" pitchFamily="49" charset="-122"/>
            </a:endParaRPr>
          </a:p>
          <a:p>
            <a:pPr eaLnBrk="1" hangingPunct="1"/>
            <a:r>
              <a:rPr lang="zh-CN" altLang="en-US" b="1">
                <a:solidFill>
                  <a:srgbClr val="FFFF00"/>
                </a:solidFill>
                <a:effectLst/>
                <a:latin typeface="黑体" panose="02010609060101010101" pitchFamily="49" charset="-122"/>
                <a:ea typeface="黑体" panose="02010609060101010101" pitchFamily="49" charset="-122"/>
              </a:rPr>
              <a:t>进程之间互相交换信息的工作称为进程通信</a:t>
            </a:r>
            <a:r>
              <a:rPr lang="en-US" altLang="zh-CN" b="1">
                <a:solidFill>
                  <a:srgbClr val="FFFF00"/>
                </a:solidFill>
                <a:effectLst/>
                <a:latin typeface="黑体" panose="02010609060101010101" pitchFamily="49" charset="-122"/>
                <a:ea typeface="黑体" panose="02010609060101010101" pitchFamily="49" charset="-122"/>
              </a:rPr>
              <a:t>IPC</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InterProcess Communication</a:t>
            </a:r>
            <a:r>
              <a:rPr lang="zh-CN" altLang="en-US" b="1">
                <a:solidFill>
                  <a:srgbClr val="FFFF00"/>
                </a:solidFill>
                <a:effectLst/>
                <a:latin typeface="黑体" panose="02010609060101010101" pitchFamily="49" charset="-122"/>
                <a:ea typeface="黑体" panose="02010609060101010101" pitchFamily="49" charset="-122"/>
              </a:rPr>
              <a:t>）。 </a:t>
            </a: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D27A5D15-7FEE-4F40-A189-7B4430904632}"/>
              </a:ext>
            </a:extLst>
          </p:cNvPr>
          <p:cNvSpPr>
            <a:spLocks noGrp="1" noChangeArrowheads="1"/>
          </p:cNvSpPr>
          <p:nvPr>
            <p:ph type="body" idx="1"/>
          </p:nvPr>
        </p:nvSpPr>
        <p:spPr>
          <a:xfrm>
            <a:off x="468313" y="1700213"/>
            <a:ext cx="8208962" cy="3887787"/>
          </a:xfrm>
        </p:spPr>
        <p:txBody>
          <a:bodyPr/>
          <a:lstStyle/>
          <a:p>
            <a:pPr eaLnBrk="1" hangingPunct="1">
              <a:lnSpc>
                <a:spcPct val="120000"/>
              </a:lnSpc>
            </a:pPr>
            <a:r>
              <a:rPr lang="zh-CN" altLang="en-US" sz="3600" b="1">
                <a:solidFill>
                  <a:srgbClr val="FFFF00"/>
                </a:solidFill>
                <a:effectLst/>
                <a:latin typeface="黑体" panose="02010609060101010101" pitchFamily="49" charset="-122"/>
                <a:ea typeface="黑体" panose="02010609060101010101" pitchFamily="49" charset="-122"/>
              </a:rPr>
              <a:t>根据通信内容可以划分为二种：</a:t>
            </a:r>
          </a:p>
          <a:p>
            <a:pPr lvl="1" eaLnBrk="1" hangingPunct="1">
              <a:lnSpc>
                <a:spcPct val="120000"/>
              </a:lnSpc>
            </a:pPr>
            <a:r>
              <a:rPr lang="zh-CN" altLang="en-US" sz="3600" b="1">
                <a:solidFill>
                  <a:srgbClr val="FFFF00"/>
                </a:solidFill>
                <a:effectLst/>
                <a:latin typeface="黑体" panose="02010609060101010101" pitchFamily="49" charset="-122"/>
                <a:ea typeface="黑体" panose="02010609060101010101" pitchFamily="49" charset="-122"/>
              </a:rPr>
              <a:t>控制信息的传送（低级通信）</a:t>
            </a:r>
          </a:p>
          <a:p>
            <a:pPr lvl="1" eaLnBrk="1" hangingPunct="1">
              <a:lnSpc>
                <a:spcPct val="120000"/>
              </a:lnSpc>
            </a:pPr>
            <a:r>
              <a:rPr lang="zh-CN" altLang="en-US" sz="3600" b="1">
                <a:solidFill>
                  <a:srgbClr val="FFFF00"/>
                </a:solidFill>
                <a:effectLst/>
                <a:latin typeface="黑体" panose="02010609060101010101" pitchFamily="49" charset="-122"/>
                <a:ea typeface="黑体" panose="02010609060101010101" pitchFamily="49" charset="-122"/>
              </a:rPr>
              <a:t>大批量数据传送（高级通信）</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a:extLst>
              <a:ext uri="{FF2B5EF4-FFF2-40B4-BE49-F238E27FC236}">
                <a16:creationId xmlns:a16="http://schemas.microsoft.com/office/drawing/2014/main" id="{E5BE48A8-C6AE-4D04-80F1-4FB14F7C243A}"/>
              </a:ext>
            </a:extLst>
          </p:cNvPr>
          <p:cNvSpPr>
            <a:spLocks noGrp="1" noChangeArrowheads="1"/>
          </p:cNvSpPr>
          <p:nvPr>
            <p:ph type="title"/>
          </p:nvPr>
        </p:nvSpPr>
        <p:spPr>
          <a:xfrm>
            <a:off x="827088" y="188913"/>
            <a:ext cx="7777162" cy="1143000"/>
          </a:xfrm>
        </p:spPr>
        <p:txBody>
          <a:bodyPr/>
          <a:lstStyle/>
          <a:p>
            <a:pPr eaLnBrk="1" hangingPunct="1">
              <a:defRPr/>
            </a:pPr>
            <a:r>
              <a:rPr lang="zh-CN" altLang="en-US" sz="4000" b="1">
                <a:solidFill>
                  <a:schemeClr val="hlink"/>
                </a:solidFill>
              </a:rPr>
              <a:t>按通信交换的数据量多少划分为</a:t>
            </a:r>
            <a:r>
              <a:rPr lang="en-US" altLang="zh-CN" sz="4000" b="1">
                <a:solidFill>
                  <a:schemeClr val="hlink"/>
                </a:solidFill>
              </a:rPr>
              <a:t>:</a:t>
            </a:r>
          </a:p>
        </p:txBody>
      </p:sp>
      <p:sp>
        <p:nvSpPr>
          <p:cNvPr id="106499" name="Rectangle 3">
            <a:extLst>
              <a:ext uri="{FF2B5EF4-FFF2-40B4-BE49-F238E27FC236}">
                <a16:creationId xmlns:a16="http://schemas.microsoft.com/office/drawing/2014/main" id="{A6E662F1-3D72-4027-B1B5-B3A6544FE5A4}"/>
              </a:ext>
            </a:extLst>
          </p:cNvPr>
          <p:cNvSpPr>
            <a:spLocks noGrp="1" noChangeArrowheads="1"/>
          </p:cNvSpPr>
          <p:nvPr>
            <p:ph type="body" idx="1"/>
          </p:nvPr>
        </p:nvSpPr>
        <p:spPr>
          <a:xfrm>
            <a:off x="468313" y="1196975"/>
            <a:ext cx="8370887" cy="5472113"/>
          </a:xfrm>
        </p:spPr>
        <p:txBody>
          <a:bodyPr/>
          <a:lstStyle/>
          <a:p>
            <a:pPr eaLnBrk="1" hangingPunct="1">
              <a:lnSpc>
                <a:spcPct val="130000"/>
              </a:lnSpc>
              <a:buClr>
                <a:srgbClr val="FF0066"/>
              </a:buClr>
              <a:buSzPct val="125000"/>
              <a:buFont typeface="Wingdings" panose="05000000000000000000" pitchFamily="2" charset="2"/>
              <a:buChar char="Ø"/>
            </a:pPr>
            <a:r>
              <a:rPr lang="zh-CN" altLang="en-US" b="1" u="sng">
                <a:solidFill>
                  <a:srgbClr val="FFFF00"/>
                </a:solidFill>
                <a:effectLst/>
                <a:latin typeface="黑体" panose="02010609060101010101" pitchFamily="49" charset="-122"/>
                <a:ea typeface="黑体" panose="02010609060101010101" pitchFamily="49" charset="-122"/>
              </a:rPr>
              <a:t>低级通信</a:t>
            </a:r>
            <a:r>
              <a:rPr lang="zh-CN" altLang="en-US" b="1">
                <a:solidFill>
                  <a:srgbClr val="FFFF00"/>
                </a:solidFill>
                <a:effectLst/>
                <a:latin typeface="黑体" panose="02010609060101010101" pitchFamily="49" charset="-122"/>
                <a:ea typeface="黑体" panose="02010609060101010101" pitchFamily="49" charset="-122"/>
              </a:rPr>
              <a:t>：在</a:t>
            </a:r>
            <a:r>
              <a:rPr lang="en-US" altLang="zh-CN" b="1">
                <a:solidFill>
                  <a:srgbClr val="FFFF00"/>
                </a:solidFill>
                <a:effectLst/>
                <a:latin typeface="黑体" panose="02010609060101010101" pitchFamily="49" charset="-122"/>
                <a:ea typeface="黑体" panose="02010609060101010101" pitchFamily="49" charset="-122"/>
              </a:rPr>
              <a:t>OS</a:t>
            </a:r>
            <a:r>
              <a:rPr lang="zh-CN" altLang="en-US" b="1">
                <a:solidFill>
                  <a:srgbClr val="FFFF00"/>
                </a:solidFill>
                <a:effectLst/>
                <a:latin typeface="黑体" panose="02010609060101010101" pitchFamily="49" charset="-122"/>
                <a:ea typeface="黑体" panose="02010609060101010101" pitchFamily="49" charset="-122"/>
              </a:rPr>
              <a:t>中数据交换量少的进程协调过程。一般只传送一个和几个字节的信息，达到控制进程执行速度的作用。（进程的同步和互斥）</a:t>
            </a:r>
          </a:p>
          <a:p>
            <a:pPr eaLnBrk="1" hangingPunct="1">
              <a:lnSpc>
                <a:spcPct val="130000"/>
              </a:lnSpc>
              <a:buClr>
                <a:srgbClr val="FF0066"/>
              </a:buClr>
              <a:buSzPct val="120000"/>
              <a:buFont typeface="Wingdings" panose="05000000000000000000" pitchFamily="2" charset="2"/>
              <a:buChar char="Ø"/>
            </a:pPr>
            <a:r>
              <a:rPr lang="zh-CN" altLang="en-US" b="1" u="sng">
                <a:solidFill>
                  <a:srgbClr val="FFFF00"/>
                </a:solidFill>
                <a:effectLst/>
                <a:latin typeface="黑体" panose="02010609060101010101" pitchFamily="49" charset="-122"/>
                <a:ea typeface="黑体" panose="02010609060101010101" pitchFamily="49" charset="-122"/>
              </a:rPr>
              <a:t>高级通信</a:t>
            </a:r>
            <a:r>
              <a:rPr lang="zh-CN" altLang="en-US" b="1">
                <a:solidFill>
                  <a:srgbClr val="FFFF00"/>
                </a:solidFill>
                <a:effectLst/>
                <a:latin typeface="黑体" panose="02010609060101010101" pitchFamily="49" charset="-122"/>
                <a:ea typeface="黑体" panose="02010609060101010101" pitchFamily="49" charset="-122"/>
              </a:rPr>
              <a:t>：用户可以直接利用操作系统所提供的一组通信命令，高效地传送大量数据的一种通信方式。</a:t>
            </a:r>
          </a:p>
        </p:txBody>
      </p:sp>
    </p:spTree>
  </p:cSld>
  <p:clrMapOvr>
    <a:masterClrMapping/>
  </p:clrMapOvr>
  <p:transition>
    <p:zo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a:extLst>
              <a:ext uri="{FF2B5EF4-FFF2-40B4-BE49-F238E27FC236}">
                <a16:creationId xmlns:a16="http://schemas.microsoft.com/office/drawing/2014/main" id="{8518B081-6091-4BDE-86BB-6FB6F327E993}"/>
              </a:ext>
            </a:extLst>
          </p:cNvPr>
          <p:cNvSpPr txBox="1">
            <a:spLocks noChangeArrowheads="1"/>
          </p:cNvSpPr>
          <p:nvPr/>
        </p:nvSpPr>
        <p:spPr bwMode="auto">
          <a:xfrm>
            <a:off x="1295400" y="5410200"/>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endParaRPr kumimoji="1" lang="zh-CN" altLang="zh-CN" sz="2400">
              <a:latin typeface="Times New Roman" panose="02020603050405020304" pitchFamily="18" charset="0"/>
            </a:endParaRPr>
          </a:p>
        </p:txBody>
      </p:sp>
      <p:sp>
        <p:nvSpPr>
          <p:cNvPr id="108547" name="Rectangle 3">
            <a:extLst>
              <a:ext uri="{FF2B5EF4-FFF2-40B4-BE49-F238E27FC236}">
                <a16:creationId xmlns:a16="http://schemas.microsoft.com/office/drawing/2014/main" id="{3AD8BB72-627A-47FE-924A-6ED60E728861}"/>
              </a:ext>
            </a:extLst>
          </p:cNvPr>
          <p:cNvSpPr>
            <a:spLocks noGrp="1" noChangeArrowheads="1"/>
          </p:cNvSpPr>
          <p:nvPr>
            <p:ph type="title"/>
          </p:nvPr>
        </p:nvSpPr>
        <p:spPr>
          <a:xfrm>
            <a:off x="395288" y="188913"/>
            <a:ext cx="8229600" cy="1139825"/>
          </a:xfrm>
        </p:spPr>
        <p:txBody>
          <a:bodyPr/>
          <a:lstStyle/>
          <a:p>
            <a:pPr eaLnBrk="1" hangingPunct="1"/>
            <a:r>
              <a:rPr lang="en-US" altLang="zh-CN" sz="3600" b="1">
                <a:solidFill>
                  <a:srgbClr val="000000"/>
                </a:solidFill>
                <a:effectLst/>
                <a:latin typeface="幼圆" panose="02010509060101010101" pitchFamily="49" charset="-122"/>
                <a:ea typeface="幼圆" panose="02010509060101010101" pitchFamily="49" charset="-122"/>
              </a:rPr>
              <a:t> </a:t>
            </a:r>
            <a:r>
              <a:rPr lang="zh-CN" altLang="en-US" sz="4000" b="1">
                <a:solidFill>
                  <a:schemeClr val="folHlink"/>
                </a:solidFill>
                <a:effectLst/>
                <a:latin typeface="幼圆" panose="02010509060101010101" pitchFamily="49" charset="-122"/>
                <a:ea typeface="幼圆" panose="02010509060101010101" pitchFamily="49" charset="-122"/>
              </a:rPr>
              <a:t>进程的同步与互斥  </a:t>
            </a:r>
            <a:r>
              <a:rPr lang="zh-CN" altLang="en-US" sz="4000" b="1">
                <a:solidFill>
                  <a:srgbClr val="FF0000"/>
                </a:solidFill>
                <a:effectLst/>
              </a:rPr>
              <a:t>低级通信</a:t>
            </a:r>
          </a:p>
        </p:txBody>
      </p:sp>
      <p:sp>
        <p:nvSpPr>
          <p:cNvPr id="108548" name="Rectangle 4">
            <a:extLst>
              <a:ext uri="{FF2B5EF4-FFF2-40B4-BE49-F238E27FC236}">
                <a16:creationId xmlns:a16="http://schemas.microsoft.com/office/drawing/2014/main" id="{7C8A41D4-016E-4F20-AFC7-906CD7429B3A}"/>
              </a:ext>
            </a:extLst>
          </p:cNvPr>
          <p:cNvSpPr>
            <a:spLocks noGrp="1" noChangeArrowheads="1"/>
          </p:cNvSpPr>
          <p:nvPr>
            <p:ph type="body" idx="1"/>
          </p:nvPr>
        </p:nvSpPr>
        <p:spPr>
          <a:xfrm>
            <a:off x="468313" y="1412875"/>
            <a:ext cx="8064500" cy="5111750"/>
          </a:xfrm>
        </p:spPr>
        <p:txBody>
          <a:bodyPr/>
          <a:lstStyle/>
          <a:p>
            <a:pPr eaLnBrk="1" hangingPunct="1">
              <a:lnSpc>
                <a:spcPct val="110000"/>
              </a:lnSpc>
            </a:pPr>
            <a:r>
              <a:rPr lang="zh-CN" altLang="en-US" b="1">
                <a:solidFill>
                  <a:srgbClr val="FFFF00"/>
                </a:solidFill>
                <a:effectLst/>
                <a:latin typeface="黑体" panose="02010609060101010101" pitchFamily="49" charset="-122"/>
                <a:ea typeface="黑体" panose="02010609060101010101" pitchFamily="49" charset="-122"/>
              </a:rPr>
              <a:t>进程的同步与互斥是一种通信方式，一进程可通过修改变量或信号量告知另一进程，它是否可以继续执行下去，利用生产者</a:t>
            </a:r>
            <a:r>
              <a:rPr lang="en-US" altLang="zh-CN" b="1">
                <a:solidFill>
                  <a:srgbClr val="FFFF00"/>
                </a:solidFill>
                <a:effectLst/>
                <a:ea typeface="黑体" panose="02010609060101010101" pitchFamily="49" charset="-122"/>
              </a:rPr>
              <a:t>——</a:t>
            </a:r>
            <a:r>
              <a:rPr lang="zh-CN" altLang="en-US" b="1">
                <a:solidFill>
                  <a:srgbClr val="FFFF00"/>
                </a:solidFill>
                <a:effectLst/>
                <a:latin typeface="黑体" panose="02010609060101010101" pitchFamily="49" charset="-122"/>
                <a:ea typeface="黑体" panose="02010609060101010101" pitchFamily="49" charset="-122"/>
              </a:rPr>
              <a:t>消费者算法，生产者进程可以传送一批数据给消费进程，或者说生产者通过缓冲区与消费者进行通信，</a:t>
            </a:r>
            <a:endParaRPr lang="en-US" altLang="zh-CN" b="1">
              <a:solidFill>
                <a:srgbClr val="FFFF00"/>
              </a:solidFill>
              <a:effectLst/>
              <a:latin typeface="黑体" panose="02010609060101010101" pitchFamily="49" charset="-122"/>
              <a:ea typeface="黑体" panose="02010609060101010101" pitchFamily="49" charset="-122"/>
            </a:endParaRPr>
          </a:p>
          <a:p>
            <a:pPr eaLnBrk="1" hangingPunct="1">
              <a:lnSpc>
                <a:spcPct val="110000"/>
              </a:lnSpc>
            </a:pPr>
            <a:r>
              <a:rPr lang="zh-CN" altLang="en-US" b="1">
                <a:solidFill>
                  <a:srgbClr val="FFFF00"/>
                </a:solidFill>
                <a:effectLst/>
                <a:latin typeface="黑体" panose="02010609060101010101" pitchFamily="49" charset="-122"/>
                <a:ea typeface="黑体" panose="02010609060101010101" pitchFamily="49" charset="-122"/>
              </a:rPr>
              <a:t>但</a:t>
            </a:r>
            <a:r>
              <a:rPr lang="en-US" altLang="zh-CN" b="1">
                <a:solidFill>
                  <a:srgbClr val="FFFF00"/>
                </a:solidFill>
                <a:effectLst/>
                <a:latin typeface="黑体" panose="02010609060101010101" pitchFamily="49" charset="-122"/>
                <a:ea typeface="黑体" panose="02010609060101010101" pitchFamily="49" charset="-122"/>
              </a:rPr>
              <a:t>P</a:t>
            </a:r>
            <a:r>
              <a:rPr lang="zh-CN" altLang="en-US" b="1">
                <a:solidFill>
                  <a:srgbClr val="FFFF00"/>
                </a:solidFill>
                <a:effectLst/>
                <a:latin typeface="黑体" panose="02010609060101010101" pitchFamily="49" charset="-122"/>
                <a:ea typeface="黑体" panose="02010609060101010101" pitchFamily="49" charset="-122"/>
              </a:rPr>
              <a:t>、</a:t>
            </a:r>
            <a:r>
              <a:rPr lang="en-US" altLang="zh-CN" b="1">
                <a:solidFill>
                  <a:srgbClr val="FFFF00"/>
                </a:solidFill>
                <a:effectLst/>
                <a:latin typeface="黑体" panose="02010609060101010101" pitchFamily="49" charset="-122"/>
                <a:ea typeface="黑体" panose="02010609060101010101" pitchFamily="49" charset="-122"/>
              </a:rPr>
              <a:t>V</a:t>
            </a:r>
            <a:r>
              <a:rPr lang="zh-CN" altLang="en-US" b="1">
                <a:solidFill>
                  <a:srgbClr val="FFFF00"/>
                </a:solidFill>
                <a:effectLst/>
                <a:latin typeface="黑体" panose="02010609060101010101" pitchFamily="49" charset="-122"/>
                <a:ea typeface="黑体" panose="02010609060101010101" pitchFamily="49" charset="-122"/>
              </a:rPr>
              <a:t>操作只能传递信号，信号本身不包含任何数据，因此，称这些同步机构为</a:t>
            </a:r>
            <a:r>
              <a:rPr lang="zh-CN" altLang="en-US" b="1" u="sng">
                <a:solidFill>
                  <a:srgbClr val="FFFF00"/>
                </a:solidFill>
                <a:effectLst/>
                <a:latin typeface="黑体" panose="02010609060101010101" pitchFamily="49" charset="-122"/>
                <a:ea typeface="黑体" panose="02010609060101010101" pitchFamily="49" charset="-122"/>
              </a:rPr>
              <a:t>低级通信机构</a:t>
            </a:r>
            <a:r>
              <a:rPr lang="en-US" altLang="zh-CN" b="1">
                <a:solidFill>
                  <a:srgbClr val="FFFF00"/>
                </a:solidFill>
                <a:effectLst/>
                <a:latin typeface="黑体" panose="02010609060101010101" pitchFamily="49" charset="-122"/>
                <a:ea typeface="黑体" panose="02010609060101010101" pitchFamily="49" charset="-122"/>
              </a:rPr>
              <a:t>.</a:t>
            </a:r>
          </a:p>
        </p:txBody>
      </p:sp>
    </p:spTree>
  </p:cSld>
  <p:clrMapOvr>
    <a:masterClrMapping/>
  </p:clrMapOvr>
  <p:transition spd="med">
    <p:checker dir="vert"/>
  </p:transition>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EC4CFBF9-43FF-429A-A625-F4633E2CC013}"/>
              </a:ext>
            </a:extLst>
          </p:cNvPr>
          <p:cNvSpPr>
            <a:spLocks noGrp="1" noChangeArrowheads="1"/>
          </p:cNvSpPr>
          <p:nvPr>
            <p:ph type="title"/>
          </p:nvPr>
        </p:nvSpPr>
        <p:spPr>
          <a:xfrm>
            <a:off x="684213" y="765175"/>
            <a:ext cx="7378700" cy="1143000"/>
          </a:xfrm>
        </p:spPr>
        <p:txBody>
          <a:bodyPr/>
          <a:lstStyle/>
          <a:p>
            <a:pPr eaLnBrk="1" hangingPunct="1">
              <a:defRPr/>
            </a:pPr>
            <a:r>
              <a:rPr lang="zh-CN" altLang="en-US" sz="3600" b="1" dirty="0">
                <a:solidFill>
                  <a:schemeClr val="hlink"/>
                </a:solidFill>
              </a:rPr>
              <a:t>高级进程通信方式的主要优点是：</a:t>
            </a:r>
          </a:p>
        </p:txBody>
      </p:sp>
      <p:sp>
        <p:nvSpPr>
          <p:cNvPr id="457731" name="Rectangle 3">
            <a:extLst>
              <a:ext uri="{FF2B5EF4-FFF2-40B4-BE49-F238E27FC236}">
                <a16:creationId xmlns:a16="http://schemas.microsoft.com/office/drawing/2014/main" id="{1828DDD7-A634-4D1A-A4C1-AFD0F20CDFA9}"/>
              </a:ext>
            </a:extLst>
          </p:cNvPr>
          <p:cNvSpPr>
            <a:spLocks noGrp="1" noChangeArrowheads="1"/>
          </p:cNvSpPr>
          <p:nvPr>
            <p:ph type="body" idx="1"/>
          </p:nvPr>
        </p:nvSpPr>
        <p:spPr>
          <a:xfrm>
            <a:off x="533400" y="2636838"/>
            <a:ext cx="7207250" cy="3671887"/>
          </a:xfrm>
        </p:spPr>
        <p:txBody>
          <a:bodyPr/>
          <a:lstStyle/>
          <a:p>
            <a:pPr eaLnBrk="1" hangingPunct="1">
              <a:lnSpc>
                <a:spcPct val="120000"/>
              </a:lnSpc>
              <a:buClr>
                <a:srgbClr val="FF0066"/>
              </a:buClr>
              <a:buSzPct val="120000"/>
              <a:buFont typeface="Wingdings" panose="05000000000000000000" pitchFamily="2" charset="2"/>
              <a:buNone/>
            </a:pPr>
            <a:r>
              <a:rPr lang="en-US" altLang="zh-CN" sz="4000" b="1">
                <a:solidFill>
                  <a:srgbClr val="FFFF00"/>
                </a:solidFill>
                <a:effectLst/>
                <a:latin typeface="黑体" panose="02010609060101010101" pitchFamily="49" charset="-122"/>
                <a:ea typeface="黑体" panose="02010609060101010101" pitchFamily="49" charset="-122"/>
              </a:rPr>
              <a:t>       </a:t>
            </a:r>
            <a:r>
              <a:rPr lang="zh-CN" altLang="en-US" sz="4000" b="1">
                <a:solidFill>
                  <a:srgbClr val="FFFF00"/>
                </a:solidFill>
                <a:effectLst/>
                <a:latin typeface="黑体" panose="02010609060101010101" pitchFamily="49" charset="-122"/>
                <a:ea typeface="黑体" panose="02010609060101010101" pitchFamily="49" charset="-122"/>
              </a:rPr>
              <a:t>效率高和使用方便</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7731">
                                            <p:txEl>
                                              <p:pRg st="0" end="0"/>
                                            </p:txEl>
                                          </p:spTgt>
                                        </p:tgtEl>
                                        <p:attrNameLst>
                                          <p:attrName>style.visibility</p:attrName>
                                        </p:attrNameLst>
                                      </p:cBhvr>
                                      <p:to>
                                        <p:strVal val="visible"/>
                                      </p:to>
                                    </p:set>
                                    <p:anim calcmode="lin" valueType="num">
                                      <p:cBhvr additive="base">
                                        <p:cTn id="7" dur="500" fill="hold"/>
                                        <p:tgtEl>
                                          <p:spTgt spid="4577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5773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1"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45A87811-83ED-41E4-9620-E0AE045406EF}"/>
              </a:ext>
            </a:extLst>
          </p:cNvPr>
          <p:cNvSpPr>
            <a:spLocks noGrp="1" noChangeArrowheads="1"/>
          </p:cNvSpPr>
          <p:nvPr>
            <p:ph type="body" idx="1"/>
          </p:nvPr>
        </p:nvSpPr>
        <p:spPr>
          <a:xfrm>
            <a:off x="1547813" y="2349500"/>
            <a:ext cx="6119812" cy="3816350"/>
          </a:xfrm>
        </p:spPr>
        <p:txBody>
          <a:bodyPr/>
          <a:lstStyle/>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共享存储器机制</a:t>
            </a: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消息传递机制</a:t>
            </a: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管道通信机制</a:t>
            </a:r>
          </a:p>
        </p:txBody>
      </p:sp>
      <p:sp>
        <p:nvSpPr>
          <p:cNvPr id="110595" name="Rectangle 3">
            <a:extLst>
              <a:ext uri="{FF2B5EF4-FFF2-40B4-BE49-F238E27FC236}">
                <a16:creationId xmlns:a16="http://schemas.microsoft.com/office/drawing/2014/main" id="{4404D3DC-0438-4FCB-8335-89CE97638F76}"/>
              </a:ext>
            </a:extLst>
          </p:cNvPr>
          <p:cNvSpPr>
            <a:spLocks noGrp="1" noChangeArrowheads="1"/>
          </p:cNvSpPr>
          <p:nvPr>
            <p:ph type="title"/>
          </p:nvPr>
        </p:nvSpPr>
        <p:spPr>
          <a:xfrm>
            <a:off x="366713" y="549275"/>
            <a:ext cx="8480425" cy="803275"/>
          </a:xfrm>
          <a:noFill/>
          <a:extLst>
            <a:ext uri="{909E8E84-426E-40DD-AFC4-6F175D3DCCD1}">
              <a14:hiddenFill xmlns:a14="http://schemas.microsoft.com/office/drawing/2010/main">
                <a:solidFill>
                  <a:schemeClr val="accent1"/>
                </a:solidFill>
              </a14:hiddenFill>
            </a:ext>
          </a:extLst>
        </p:spPr>
        <p:txBody>
          <a:bodyPr anchor="b" anchorCtr="0"/>
          <a:lstStyle/>
          <a:p>
            <a:pPr eaLnBrk="1" hangingPunct="1"/>
            <a:r>
              <a:rPr lang="en-US" altLang="zh-CN" sz="4800" b="1">
                <a:solidFill>
                  <a:schemeClr val="tx1"/>
                </a:solidFill>
                <a:effectLst/>
                <a:latin typeface="楷体_GB2312" pitchFamily="49" charset="-122"/>
                <a:ea typeface="楷体_GB2312" pitchFamily="49" charset="-122"/>
              </a:rPr>
              <a:t>3.5.1</a:t>
            </a:r>
            <a:r>
              <a:rPr lang="zh-CN" altLang="en-US" sz="4800" b="1">
                <a:solidFill>
                  <a:schemeClr val="tx1"/>
                </a:solidFill>
                <a:effectLst/>
                <a:latin typeface="楷体_GB2312" pitchFamily="49" charset="-122"/>
                <a:ea typeface="楷体_GB2312" pitchFamily="49" charset="-122"/>
              </a:rPr>
              <a:t>进程的通信方式</a:t>
            </a: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C96984A4-AD85-4BA6-9828-DFF741E8521B}"/>
              </a:ext>
            </a:extLst>
          </p:cNvPr>
          <p:cNvSpPr>
            <a:spLocks noGrp="1" noChangeArrowheads="1"/>
          </p:cNvSpPr>
          <p:nvPr>
            <p:ph type="body" idx="1"/>
          </p:nvPr>
        </p:nvSpPr>
        <p:spPr>
          <a:xfrm>
            <a:off x="323528" y="404664"/>
            <a:ext cx="8208912" cy="5688632"/>
          </a:xfrm>
        </p:spPr>
        <p:txBody>
          <a:bodyPr/>
          <a:lstStyle/>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1.</a:t>
            </a:r>
            <a:r>
              <a:rPr lang="zh-CN" altLang="en-US" sz="2800" b="1" dirty="0">
                <a:solidFill>
                  <a:srgbClr val="FFFF00"/>
                </a:solidFill>
                <a:effectLst/>
                <a:latin typeface="黑体" panose="02010609060101010101" pitchFamily="49" charset="-122"/>
                <a:ea typeface="黑体" panose="02010609060101010101" pitchFamily="49" charset="-122"/>
              </a:rPr>
              <a:t>共享存储器机制</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通信的进程之间存在一块可以直接访问的共享空间，通过对这片共空间进行读写操作实现进程之间的信息交换</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在对共享空间进行读</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写操作时，需要使用同步互斥工具</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如</a:t>
            </a:r>
            <a:r>
              <a:rPr lang="en-US" altLang="zh-CN" sz="2800" b="1" dirty="0">
                <a:solidFill>
                  <a:srgbClr val="FFFF00"/>
                </a:solidFill>
                <a:effectLst/>
                <a:latin typeface="黑体" panose="02010609060101010101" pitchFamily="49" charset="-122"/>
                <a:ea typeface="黑体" panose="02010609060101010101" pitchFamily="49" charset="-122"/>
              </a:rPr>
              <a:t>P</a:t>
            </a:r>
            <a:r>
              <a:rPr lang="zh-CN" altLang="en-US" sz="2800" b="1" dirty="0">
                <a:solidFill>
                  <a:srgbClr val="FFFF00"/>
                </a:solidFill>
                <a:effectLst/>
                <a:latin typeface="黑体" panose="02010609060101010101" pitchFamily="49" charset="-122"/>
                <a:ea typeface="黑体" panose="02010609060101010101" pitchFamily="49" charset="-122"/>
              </a:rPr>
              <a:t>、</a:t>
            </a:r>
            <a:r>
              <a:rPr lang="en-US" altLang="zh-CN" sz="2800" b="1" dirty="0">
                <a:solidFill>
                  <a:srgbClr val="FFFF00"/>
                </a:solidFill>
                <a:effectLst/>
                <a:latin typeface="黑体" panose="02010609060101010101" pitchFamily="49" charset="-122"/>
                <a:ea typeface="黑体" panose="02010609060101010101" pitchFamily="49" charset="-122"/>
              </a:rPr>
              <a:t>V</a:t>
            </a:r>
            <a:r>
              <a:rPr lang="zh-CN" altLang="en-US" sz="2800" b="1" dirty="0">
                <a:solidFill>
                  <a:srgbClr val="FFFF00"/>
                </a:solidFill>
                <a:effectLst/>
                <a:latin typeface="黑体" panose="02010609060101010101" pitchFamily="49" charset="-122"/>
                <a:ea typeface="黑体" panose="02010609060101010101" pitchFamily="49" charset="-122"/>
              </a:rPr>
              <a:t>操作</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对共享空间的读写进行控制。</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共享存储又分为两种</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0000"/>
                </a:solidFill>
                <a:effectLst/>
                <a:latin typeface="黑体" panose="02010609060101010101" pitchFamily="49" charset="-122"/>
                <a:ea typeface="黑体" panose="02010609060101010101" pitchFamily="49" charset="-122"/>
              </a:rPr>
              <a:t>低级方式</a:t>
            </a:r>
            <a:r>
              <a:rPr lang="zh-CN" altLang="en-US" sz="2800" b="1" dirty="0">
                <a:solidFill>
                  <a:srgbClr val="FFFF00"/>
                </a:solidFill>
                <a:effectLst/>
                <a:latin typeface="黑体" panose="02010609060101010101" pitchFamily="49" charset="-122"/>
                <a:ea typeface="黑体" panose="02010609060101010101" pitchFamily="49" charset="-122"/>
              </a:rPr>
              <a:t>的共享是基于数据结构的共享</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0000"/>
                </a:solidFill>
                <a:effectLst/>
                <a:latin typeface="黑体" panose="02010609060101010101" pitchFamily="49" charset="-122"/>
                <a:ea typeface="黑体" panose="02010609060101010101" pitchFamily="49" charset="-122"/>
              </a:rPr>
              <a:t>高级方式</a:t>
            </a:r>
            <a:r>
              <a:rPr lang="zh-CN" altLang="en-US" sz="2800" b="1" dirty="0">
                <a:solidFill>
                  <a:srgbClr val="FFFF00"/>
                </a:solidFill>
                <a:effectLst/>
                <a:latin typeface="黑体" panose="02010609060101010101" pitchFamily="49" charset="-122"/>
                <a:ea typeface="黑体" panose="02010609060101010101" pitchFamily="49" charset="-122"/>
              </a:rPr>
              <a:t>的共享则是基于存储区的共享。</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操作系统只负责为通信进程提供可共享使用的存储空间和同步互斥工具，而数据交换则由用户自己安排读</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写指令完成。</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endParaRPr lang="en-US" altLang="zh-CN" sz="2800" b="1" dirty="0">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764704"/>
            <a:ext cx="8229600" cy="806909"/>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algn="ctr" eaLnBrk="1" fontAlgn="auto" hangingPunct="1">
              <a:spcAft>
                <a:spcPts val="0"/>
              </a:spcAft>
              <a:defRPr/>
            </a:pPr>
            <a:r>
              <a:rPr lang="zh-CN" altLang="en-US" sz="2800" dirty="0">
                <a:solidFill>
                  <a:srgbClr val="FFC000"/>
                </a:solidFill>
                <a:cs typeface="+mj-cs"/>
              </a:rPr>
              <a:t>共享内存</a:t>
            </a:r>
          </a:p>
        </p:txBody>
      </p:sp>
      <p:grpSp>
        <p:nvGrpSpPr>
          <p:cNvPr id="2" name="组合 1"/>
          <p:cNvGrpSpPr/>
          <p:nvPr/>
        </p:nvGrpSpPr>
        <p:grpSpPr>
          <a:xfrm>
            <a:off x="844894" y="1857364"/>
            <a:ext cx="7255497" cy="642942"/>
            <a:chOff x="844893" y="1000114"/>
            <a:chExt cx="7255497" cy="642942"/>
          </a:xfrm>
        </p:grpSpPr>
        <p:sp>
          <p:nvSpPr>
            <p:cNvPr id="9" name="内容占位符 2"/>
            <p:cNvSpPr txBox="1"/>
            <p:nvPr/>
          </p:nvSpPr>
          <p:spPr>
            <a:xfrm>
              <a:off x="1142975" y="1000114"/>
              <a:ext cx="6957415" cy="64294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defRPr/>
              </a:pPr>
              <a:r>
                <a:rPr lang="zh-CN" altLang="en-US" sz="2400" dirty="0">
                  <a:solidFill>
                    <a:srgbClr val="FFC000"/>
                  </a:solidFill>
                </a:rPr>
                <a:t>共享内存是把同一个物理内存区域同时映射到多个进程的内存地址空间的通信机制</a:t>
              </a:r>
            </a:p>
          </p:txBody>
        </p:sp>
        <p:sp>
          <p:nvSpPr>
            <p:cNvPr id="12" name="TextBox 11"/>
            <p:cNvSpPr txBox="1"/>
            <p:nvPr/>
          </p:nvSpPr>
          <p:spPr>
            <a:xfrm>
              <a:off x="844893" y="100011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FFC000"/>
                  </a:solidFill>
                  <a:latin typeface="张海山锐谐体2.0-授权联系：Samtype@QQ.com" pitchFamily="2" charset="-122"/>
                  <a:ea typeface="张海山锐谐体2.0-授权联系：Samtype@QQ.com" pitchFamily="2" charset="-122"/>
                </a:rPr>
                <a:t>■</a:t>
              </a:r>
              <a:endParaRPr lang="zh-CN" altLang="en-US" sz="2400" b="1" dirty="0">
                <a:solidFill>
                  <a:srgbClr val="FFC000"/>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15672" y="2749421"/>
            <a:ext cx="7871128" cy="1110471"/>
            <a:chOff x="844893" y="1644188"/>
            <a:chExt cx="7183491" cy="1110471"/>
          </a:xfrm>
        </p:grpSpPr>
        <p:sp>
          <p:nvSpPr>
            <p:cNvPr id="27" name="内容占位符 2"/>
            <p:cNvSpPr txBox="1"/>
            <p:nvPr/>
          </p:nvSpPr>
          <p:spPr>
            <a:xfrm>
              <a:off x="1394985" y="1993896"/>
              <a:ext cx="4521007" cy="271016"/>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solidFill>
                    <a:srgbClr val="FFC000"/>
                  </a:solidFill>
                </a:rPr>
                <a:t>每个进程都有私有内存地址空间</a:t>
              </a:r>
            </a:p>
          </p:txBody>
        </p:sp>
        <p:pic>
          <p:nvPicPr>
            <p:cNvPr id="28" name="图片 27" descr="小点1.png"/>
            <p:cNvPicPr>
              <a:picLocks noChangeAspect="1"/>
            </p:cNvPicPr>
            <p:nvPr/>
          </p:nvPicPr>
          <p:blipFill>
            <a:blip r:embed="rId2" cstate="print"/>
            <a:stretch>
              <a:fillRect/>
            </a:stretch>
          </p:blipFill>
          <p:spPr>
            <a:xfrm>
              <a:off x="1262422" y="2071003"/>
              <a:ext cx="151066" cy="148997"/>
            </a:xfrm>
            <a:prstGeom prst="rect">
              <a:avLst/>
            </a:prstGeom>
            <a:effectLst/>
          </p:spPr>
        </p:pic>
        <p:sp>
          <p:nvSpPr>
            <p:cNvPr id="23" name="内容占位符 2"/>
            <p:cNvSpPr txBox="1"/>
            <p:nvPr/>
          </p:nvSpPr>
          <p:spPr>
            <a:xfrm>
              <a:off x="1142976" y="1644188"/>
              <a:ext cx="928694" cy="35605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defRPr/>
              </a:pPr>
              <a:r>
                <a:rPr lang="zh-CN" altLang="en-US" sz="2400" dirty="0">
                  <a:solidFill>
                    <a:srgbClr val="FFC000"/>
                  </a:solidFill>
                </a:rPr>
                <a:t>进程</a:t>
              </a:r>
            </a:p>
          </p:txBody>
        </p:sp>
        <p:sp>
          <p:nvSpPr>
            <p:cNvPr id="24" name="TextBox 23"/>
            <p:cNvSpPr txBox="1"/>
            <p:nvPr/>
          </p:nvSpPr>
          <p:spPr>
            <a:xfrm>
              <a:off x="844893" y="1644188"/>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FFC000"/>
                  </a:solidFill>
                  <a:latin typeface="张海山锐谐体2.0-授权联系：Samtype@QQ.com" pitchFamily="2" charset="-122"/>
                  <a:ea typeface="张海山锐谐体2.0-授权联系：Samtype@QQ.com" pitchFamily="2" charset="-122"/>
                </a:rPr>
                <a:t>■</a:t>
              </a:r>
              <a:endParaRPr lang="zh-CN" altLang="en-US" sz="2400" b="1" dirty="0">
                <a:solidFill>
                  <a:srgbClr val="FFC000"/>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394985" y="2384769"/>
              <a:ext cx="6633399" cy="3698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solidFill>
                    <a:srgbClr val="FFC000"/>
                  </a:solidFill>
                </a:rPr>
                <a:t>每个进程的内存地址空间需明确设置共享内存段</a:t>
              </a:r>
            </a:p>
          </p:txBody>
        </p:sp>
        <p:pic>
          <p:nvPicPr>
            <p:cNvPr id="26" name="图片 25" descr="小点1.png"/>
            <p:cNvPicPr>
              <a:picLocks noChangeAspect="1"/>
            </p:cNvPicPr>
            <p:nvPr/>
          </p:nvPicPr>
          <p:blipFill>
            <a:blip r:embed="rId2" cstate="print"/>
            <a:stretch>
              <a:fillRect/>
            </a:stretch>
          </p:blipFill>
          <p:spPr>
            <a:xfrm>
              <a:off x="1262422" y="2382155"/>
              <a:ext cx="151066" cy="148997"/>
            </a:xfrm>
            <a:prstGeom prst="rect">
              <a:avLst/>
            </a:prstGeom>
            <a:effectLst/>
          </p:spPr>
        </p:pic>
      </p:grpSp>
      <p:grpSp>
        <p:nvGrpSpPr>
          <p:cNvPr id="5" name="组合 4"/>
          <p:cNvGrpSpPr/>
          <p:nvPr/>
        </p:nvGrpSpPr>
        <p:grpSpPr>
          <a:xfrm>
            <a:off x="844894" y="4088942"/>
            <a:ext cx="4087146" cy="641810"/>
            <a:chOff x="844893" y="3231692"/>
            <a:chExt cx="3369917" cy="641810"/>
          </a:xfrm>
        </p:grpSpPr>
        <p:sp>
          <p:nvSpPr>
            <p:cNvPr id="49" name="内容占位符 2"/>
            <p:cNvSpPr txBox="1"/>
            <p:nvPr/>
          </p:nvSpPr>
          <p:spPr>
            <a:xfrm>
              <a:off x="1394985" y="3549650"/>
              <a:ext cx="2819825" cy="3238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solidFill>
                    <a:srgbClr val="FFC000"/>
                  </a:solidFill>
                </a:rPr>
                <a:t>快速、方便地共享数据</a:t>
              </a:r>
            </a:p>
          </p:txBody>
        </p:sp>
        <p:pic>
          <p:nvPicPr>
            <p:cNvPr id="50" name="图片 49" descr="小点1.png"/>
            <p:cNvPicPr>
              <a:picLocks noChangeAspect="1"/>
            </p:cNvPicPr>
            <p:nvPr/>
          </p:nvPicPr>
          <p:blipFill>
            <a:blip r:embed="rId2" cstate="print"/>
            <a:stretch>
              <a:fillRect/>
            </a:stretch>
          </p:blipFill>
          <p:spPr>
            <a:xfrm>
              <a:off x="1262422" y="3658507"/>
              <a:ext cx="151066" cy="148997"/>
            </a:xfrm>
            <a:prstGeom prst="rect">
              <a:avLst/>
            </a:prstGeom>
            <a:effectLst/>
          </p:spPr>
        </p:pic>
        <p:sp>
          <p:nvSpPr>
            <p:cNvPr id="51" name="内容占位符 2"/>
            <p:cNvSpPr txBox="1"/>
            <p:nvPr/>
          </p:nvSpPr>
          <p:spPr>
            <a:xfrm>
              <a:off x="1142976" y="3231692"/>
              <a:ext cx="928694" cy="35605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defRPr/>
              </a:pPr>
              <a:r>
                <a:rPr lang="zh-CN" altLang="en-US" sz="2400" dirty="0">
                  <a:solidFill>
                    <a:srgbClr val="FFC000"/>
                  </a:solidFill>
                </a:rPr>
                <a:t>优点</a:t>
              </a:r>
            </a:p>
          </p:txBody>
        </p:sp>
        <p:sp>
          <p:nvSpPr>
            <p:cNvPr id="52" name="TextBox 51"/>
            <p:cNvSpPr txBox="1"/>
            <p:nvPr/>
          </p:nvSpPr>
          <p:spPr>
            <a:xfrm>
              <a:off x="844893" y="323169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FFC000"/>
                  </a:solidFill>
                  <a:latin typeface="张海山锐谐体2.0-授权联系：Samtype@QQ.com" pitchFamily="2" charset="-122"/>
                  <a:ea typeface="张海山锐谐体2.0-授权联系：Samtype@QQ.com" pitchFamily="2" charset="-122"/>
                </a:rPr>
                <a:t>■</a:t>
              </a:r>
              <a:endParaRPr lang="zh-CN" altLang="en-US" sz="2400" b="1" dirty="0">
                <a:solidFill>
                  <a:srgbClr val="FFC000"/>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844894" y="4703316"/>
            <a:ext cx="6794312" cy="718472"/>
            <a:chOff x="844893" y="3846066"/>
            <a:chExt cx="5232904" cy="718472"/>
          </a:xfrm>
        </p:grpSpPr>
        <p:sp>
          <p:nvSpPr>
            <p:cNvPr id="53" name="内容占位符 2"/>
            <p:cNvSpPr txBox="1"/>
            <p:nvPr/>
          </p:nvSpPr>
          <p:spPr>
            <a:xfrm>
              <a:off x="1400584" y="4240686"/>
              <a:ext cx="4677213" cy="3238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sz="2400" dirty="0">
                  <a:solidFill>
                    <a:srgbClr val="FFC000"/>
                  </a:solidFill>
                </a:rPr>
                <a:t>必须用额外的同步机制来协调数据访问</a:t>
              </a:r>
            </a:p>
          </p:txBody>
        </p:sp>
        <p:pic>
          <p:nvPicPr>
            <p:cNvPr id="54" name="图片 53" descr="小点1.png"/>
            <p:cNvPicPr>
              <a:picLocks noChangeAspect="1"/>
            </p:cNvPicPr>
            <p:nvPr/>
          </p:nvPicPr>
          <p:blipFill>
            <a:blip r:embed="rId2" cstate="print"/>
            <a:stretch>
              <a:fillRect/>
            </a:stretch>
          </p:blipFill>
          <p:spPr>
            <a:xfrm>
              <a:off x="1262422" y="4272881"/>
              <a:ext cx="151066" cy="148997"/>
            </a:xfrm>
            <a:prstGeom prst="rect">
              <a:avLst/>
            </a:prstGeom>
            <a:effectLst/>
          </p:spPr>
        </p:pic>
        <p:sp>
          <p:nvSpPr>
            <p:cNvPr id="55" name="内容占位符 2"/>
            <p:cNvSpPr txBox="1"/>
            <p:nvPr/>
          </p:nvSpPr>
          <p:spPr>
            <a:xfrm>
              <a:off x="1142976" y="3846066"/>
              <a:ext cx="928694" cy="35605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defRPr/>
              </a:pPr>
              <a:r>
                <a:rPr lang="zh-CN" altLang="en-US" sz="2400" dirty="0">
                  <a:solidFill>
                    <a:srgbClr val="FFC000"/>
                  </a:solidFill>
                </a:rPr>
                <a:t>不足</a:t>
              </a:r>
            </a:p>
          </p:txBody>
        </p:sp>
        <p:sp>
          <p:nvSpPr>
            <p:cNvPr id="56" name="TextBox 55"/>
            <p:cNvSpPr txBox="1"/>
            <p:nvPr/>
          </p:nvSpPr>
          <p:spPr>
            <a:xfrm>
              <a:off x="844893" y="384606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FFC000"/>
                  </a:solidFill>
                  <a:latin typeface="张海山锐谐体2.0-授权联系：Samtype@QQ.com" pitchFamily="2" charset="-122"/>
                  <a:ea typeface="张海山锐谐体2.0-授权联系：Samtype@QQ.com" pitchFamily="2" charset="-122"/>
                </a:rPr>
                <a:t>■</a:t>
              </a:r>
              <a:endParaRPr lang="zh-CN" altLang="en-US" sz="2400" b="1" dirty="0">
                <a:solidFill>
                  <a:srgbClr val="FFC000"/>
                </a:solidFill>
                <a:latin typeface="微软雅黑" panose="020B0503020204020204" pitchFamily="34" charset="-122"/>
                <a:ea typeface="微软雅黑" panose="020B0503020204020204" pitchFamily="3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179512" y="375527"/>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algn="ctr" eaLnBrk="1" fontAlgn="auto" hangingPunct="1">
              <a:spcAft>
                <a:spcPts val="0"/>
              </a:spcAft>
              <a:defRPr/>
            </a:pPr>
            <a:r>
              <a:rPr lang="zh-CN" altLang="en-US" dirty="0"/>
              <a:t>共享内存的实现</a:t>
            </a:r>
          </a:p>
        </p:txBody>
      </p:sp>
      <p:grpSp>
        <p:nvGrpSpPr>
          <p:cNvPr id="2" name="组合 2"/>
          <p:cNvGrpSpPr/>
          <p:nvPr/>
        </p:nvGrpSpPr>
        <p:grpSpPr>
          <a:xfrm>
            <a:off x="455783" y="3569053"/>
            <a:ext cx="1869719" cy="369890"/>
            <a:chOff x="844893" y="3301548"/>
            <a:chExt cx="1869719" cy="369890"/>
          </a:xfrm>
        </p:grpSpPr>
        <p:sp>
          <p:nvSpPr>
            <p:cNvPr id="9" name="内容占位符 2"/>
            <p:cNvSpPr txBox="1"/>
            <p:nvPr/>
          </p:nvSpPr>
          <p:spPr>
            <a:xfrm>
              <a:off x="1142976" y="3314248"/>
              <a:ext cx="1571636"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ct val="20000"/>
                </a:spcBef>
                <a:spcAft>
                  <a:spcPts val="0"/>
                </a:spcAft>
                <a:defRPr/>
              </a:pPr>
              <a:r>
                <a:rPr lang="zh-CN" altLang="en-US" sz="1800" dirty="0"/>
                <a:t>最快的方法</a:t>
              </a:r>
            </a:p>
          </p:txBody>
        </p:sp>
        <p:sp>
          <p:nvSpPr>
            <p:cNvPr id="12" name="TextBox 11"/>
            <p:cNvSpPr txBox="1"/>
            <p:nvPr/>
          </p:nvSpPr>
          <p:spPr>
            <a:xfrm>
              <a:off x="844893" y="3301548"/>
              <a:ext cx="433390" cy="369332"/>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3"/>
          <p:cNvGrpSpPr/>
          <p:nvPr/>
        </p:nvGrpSpPr>
        <p:grpSpPr>
          <a:xfrm>
            <a:off x="455783" y="3862743"/>
            <a:ext cx="3941421" cy="369332"/>
            <a:chOff x="844893" y="3595238"/>
            <a:chExt cx="3941421" cy="369332"/>
          </a:xfrm>
        </p:grpSpPr>
        <p:sp>
          <p:nvSpPr>
            <p:cNvPr id="23" name="内容占位符 2"/>
            <p:cNvSpPr txBox="1"/>
            <p:nvPr/>
          </p:nvSpPr>
          <p:spPr>
            <a:xfrm>
              <a:off x="1142976" y="3595238"/>
              <a:ext cx="3643338" cy="35605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ct val="20000"/>
                </a:spcBef>
                <a:spcAft>
                  <a:spcPts val="0"/>
                </a:spcAft>
                <a:defRPr/>
              </a:pPr>
              <a:r>
                <a:rPr lang="zh-CN" altLang="en-US" sz="1800" dirty="0"/>
                <a:t>一个进程写另外一个进程立即可见</a:t>
              </a:r>
            </a:p>
          </p:txBody>
        </p:sp>
        <p:sp>
          <p:nvSpPr>
            <p:cNvPr id="24" name="TextBox 23"/>
            <p:cNvSpPr txBox="1"/>
            <p:nvPr/>
          </p:nvSpPr>
          <p:spPr>
            <a:xfrm>
              <a:off x="844893" y="3595238"/>
              <a:ext cx="433390" cy="369332"/>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anose="020B0503020204020204" pitchFamily="34" charset="-122"/>
                <a:ea typeface="微软雅黑" panose="020B0503020204020204" pitchFamily="34" charset="-122"/>
              </a:endParaRPr>
            </a:p>
          </p:txBody>
        </p:sp>
      </p:grpSp>
      <p:grpSp>
        <p:nvGrpSpPr>
          <p:cNvPr id="4" name="组合 4"/>
          <p:cNvGrpSpPr/>
          <p:nvPr/>
        </p:nvGrpSpPr>
        <p:grpSpPr>
          <a:xfrm>
            <a:off x="455783" y="4120972"/>
            <a:ext cx="4166240" cy="371455"/>
            <a:chOff x="844893" y="3853467"/>
            <a:chExt cx="2870858" cy="371455"/>
          </a:xfrm>
        </p:grpSpPr>
        <p:sp>
          <p:nvSpPr>
            <p:cNvPr id="47" name="内容占位符 2"/>
            <p:cNvSpPr txBox="1"/>
            <p:nvPr/>
          </p:nvSpPr>
          <p:spPr>
            <a:xfrm>
              <a:off x="1048621" y="3853467"/>
              <a:ext cx="2667130" cy="35605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ct val="20000"/>
                </a:spcBef>
                <a:spcAft>
                  <a:spcPts val="0"/>
                </a:spcAft>
                <a:defRPr/>
              </a:pPr>
              <a:r>
                <a:rPr lang="zh-CN" altLang="en-US" sz="1800" dirty="0"/>
                <a:t>没有系统调用干预，系统开销小</a:t>
              </a:r>
            </a:p>
          </p:txBody>
        </p:sp>
        <p:sp>
          <p:nvSpPr>
            <p:cNvPr id="48" name="TextBox 47"/>
            <p:cNvSpPr txBox="1"/>
            <p:nvPr/>
          </p:nvSpPr>
          <p:spPr>
            <a:xfrm>
              <a:off x="844893" y="3855590"/>
              <a:ext cx="433390" cy="369332"/>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anose="020B0503020204020204" pitchFamily="34" charset="-122"/>
                <a:ea typeface="微软雅黑" panose="020B0503020204020204" pitchFamily="34" charset="-122"/>
              </a:endParaRPr>
            </a:p>
          </p:txBody>
        </p:sp>
      </p:grpSp>
      <p:grpSp>
        <p:nvGrpSpPr>
          <p:cNvPr id="5" name="组合 5"/>
          <p:cNvGrpSpPr/>
          <p:nvPr/>
        </p:nvGrpSpPr>
        <p:grpSpPr>
          <a:xfrm>
            <a:off x="455783" y="4391385"/>
            <a:ext cx="2084033" cy="369332"/>
            <a:chOff x="844893" y="4123880"/>
            <a:chExt cx="2084033" cy="369332"/>
          </a:xfrm>
        </p:grpSpPr>
        <p:sp>
          <p:nvSpPr>
            <p:cNvPr id="51" name="内容占位符 2"/>
            <p:cNvSpPr txBox="1"/>
            <p:nvPr/>
          </p:nvSpPr>
          <p:spPr>
            <a:xfrm>
              <a:off x="1142976" y="4123880"/>
              <a:ext cx="1785950" cy="35605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ct val="20000"/>
                </a:spcBef>
                <a:spcAft>
                  <a:spcPts val="0"/>
                </a:spcAft>
                <a:defRPr/>
              </a:pPr>
              <a:r>
                <a:rPr lang="zh-CN" altLang="en-US" sz="1800" dirty="0"/>
                <a:t>没有数据复制</a:t>
              </a:r>
            </a:p>
          </p:txBody>
        </p:sp>
        <p:sp>
          <p:nvSpPr>
            <p:cNvPr id="52" name="TextBox 51"/>
            <p:cNvSpPr txBox="1"/>
            <p:nvPr/>
          </p:nvSpPr>
          <p:spPr>
            <a:xfrm>
              <a:off x="844893" y="4123880"/>
              <a:ext cx="433390" cy="369332"/>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anose="020B0503020204020204" pitchFamily="34" charset="-122"/>
                <a:ea typeface="微软雅黑" panose="020B0503020204020204" pitchFamily="34" charset="-122"/>
              </a:endParaRPr>
            </a:p>
          </p:txBody>
        </p:sp>
      </p:grpSp>
      <p:grpSp>
        <p:nvGrpSpPr>
          <p:cNvPr id="7" name="组合 1"/>
          <p:cNvGrpSpPr/>
          <p:nvPr/>
        </p:nvGrpSpPr>
        <p:grpSpPr>
          <a:xfrm>
            <a:off x="539552" y="1124744"/>
            <a:ext cx="6143625" cy="2385961"/>
            <a:chOff x="928662" y="857238"/>
            <a:chExt cx="6143625" cy="2385961"/>
          </a:xfrm>
        </p:grpSpPr>
        <p:sp>
          <p:nvSpPr>
            <p:cNvPr id="30" name="Rectangle 4"/>
            <p:cNvSpPr>
              <a:spLocks noChangeArrowheads="1"/>
            </p:cNvSpPr>
            <p:nvPr/>
          </p:nvSpPr>
          <p:spPr bwMode="auto">
            <a:xfrm>
              <a:off x="3186087" y="925544"/>
              <a:ext cx="1600200" cy="1707638"/>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ln>
          </p:spPr>
          <p:txBody>
            <a:bodyPr wrap="none" anchor="ctr"/>
            <a:lstStyle/>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p:txBody>
        </p:sp>
        <p:sp>
          <p:nvSpPr>
            <p:cNvPr id="31" name="Rectangle 5"/>
            <p:cNvSpPr>
              <a:spLocks noChangeArrowheads="1"/>
            </p:cNvSpPr>
            <p:nvPr/>
          </p:nvSpPr>
          <p:spPr bwMode="auto">
            <a:xfrm>
              <a:off x="928662" y="867199"/>
              <a:ext cx="1752600" cy="2376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ln>
          </p:spPr>
          <p:txBody>
            <a:bodyPr wrap="none" anchor="ctr"/>
            <a:lstStyle/>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p:txBody>
        </p:sp>
        <p:sp>
          <p:nvSpPr>
            <p:cNvPr id="32" name="Rectangle 6"/>
            <p:cNvSpPr>
              <a:spLocks noChangeArrowheads="1"/>
            </p:cNvSpPr>
            <p:nvPr/>
          </p:nvSpPr>
          <p:spPr bwMode="auto">
            <a:xfrm>
              <a:off x="5319687" y="857238"/>
              <a:ext cx="1752600" cy="2376000"/>
            </a:xfrm>
            <a:prstGeom prst="rect">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miter lim="800000"/>
            </a:ln>
          </p:spPr>
          <p:txBody>
            <a:bodyPr wrap="none" anchor="ctr"/>
            <a:lstStyle/>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a:p>
              <a:pPr algn="ctr" eaLnBrk="1" fontAlgn="auto" hangingPunct="1">
                <a:spcBef>
                  <a:spcPts val="0"/>
                </a:spcBef>
                <a:spcAft>
                  <a:spcPts val="0"/>
                </a:spcAft>
              </a:pPr>
              <a:endParaRPr lang="en-US" altLang="zh-CN" sz="1400" b="1" dirty="0">
                <a:solidFill>
                  <a:prstClr val="black"/>
                </a:solidFill>
                <a:latin typeface="MS PGothic"/>
                <a:ea typeface="Gulim" panose="020B0600000101010101" charset="-127"/>
                <a:cs typeface="Gulim" panose="020B0600000101010101" charset="-127"/>
              </a:endParaRPr>
            </a:p>
          </p:txBody>
        </p:sp>
        <p:sp>
          <p:nvSpPr>
            <p:cNvPr id="33" name="Rectangle 7"/>
            <p:cNvSpPr>
              <a:spLocks noChangeArrowheads="1"/>
            </p:cNvSpPr>
            <p:nvPr/>
          </p:nvSpPr>
          <p:spPr bwMode="auto">
            <a:xfrm>
              <a:off x="3871887" y="1542010"/>
              <a:ext cx="304800" cy="341528"/>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34" name="Rectangle 8"/>
            <p:cNvSpPr>
              <a:spLocks noChangeArrowheads="1"/>
            </p:cNvSpPr>
            <p:nvPr/>
          </p:nvSpPr>
          <p:spPr bwMode="auto">
            <a:xfrm>
              <a:off x="2043087" y="2088454"/>
              <a:ext cx="304800" cy="341528"/>
            </a:xfrm>
            <a:prstGeom prst="rect">
              <a:avLst/>
            </a:prstGeom>
            <a:gradFill>
              <a:gsLst>
                <a:gs pos="100000">
                  <a:srgbClr val="339900"/>
                </a:gs>
                <a:gs pos="0">
                  <a:srgbClr val="CCFF99"/>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35" name="Rectangle 9"/>
            <p:cNvSpPr>
              <a:spLocks noChangeArrowheads="1"/>
            </p:cNvSpPr>
            <p:nvPr/>
          </p:nvSpPr>
          <p:spPr bwMode="auto">
            <a:xfrm>
              <a:off x="5700687" y="1678621"/>
              <a:ext cx="304800" cy="341528"/>
            </a:xfrm>
            <a:prstGeom prst="rect">
              <a:avLst/>
            </a:prstGeom>
            <a:gradFill>
              <a:gsLst>
                <a:gs pos="100000">
                  <a:srgbClr val="330033"/>
                </a:gs>
                <a:gs pos="0">
                  <a:srgbClr val="CC66FF"/>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36" name="Line 10"/>
            <p:cNvSpPr>
              <a:spLocks noChangeShapeType="1"/>
            </p:cNvSpPr>
            <p:nvPr/>
          </p:nvSpPr>
          <p:spPr bwMode="auto">
            <a:xfrm flipV="1">
              <a:off x="2347887" y="1542010"/>
              <a:ext cx="1524000" cy="546444"/>
            </a:xfrm>
            <a:prstGeom prst="line">
              <a:avLst/>
            </a:prstGeom>
            <a:noFill/>
            <a:ln w="28575">
              <a:solidFill>
                <a:srgbClr val="11576A"/>
              </a:solidFill>
              <a:round/>
            </a:ln>
          </p:spPr>
          <p:txBody>
            <a:bodyP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37" name="Line 11"/>
            <p:cNvSpPr>
              <a:spLocks noChangeShapeType="1"/>
            </p:cNvSpPr>
            <p:nvPr/>
          </p:nvSpPr>
          <p:spPr bwMode="auto">
            <a:xfrm flipV="1">
              <a:off x="2347887" y="1883537"/>
              <a:ext cx="1524000" cy="546444"/>
            </a:xfrm>
            <a:prstGeom prst="line">
              <a:avLst/>
            </a:prstGeom>
            <a:noFill/>
            <a:ln w="28575">
              <a:solidFill>
                <a:srgbClr val="11576A"/>
              </a:solidFill>
              <a:round/>
            </a:ln>
          </p:spPr>
          <p:txBody>
            <a:bodyP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38" name="Line 12"/>
            <p:cNvSpPr>
              <a:spLocks noChangeShapeType="1"/>
            </p:cNvSpPr>
            <p:nvPr/>
          </p:nvSpPr>
          <p:spPr bwMode="auto">
            <a:xfrm>
              <a:off x="4176687" y="1542010"/>
              <a:ext cx="1524000" cy="136611"/>
            </a:xfrm>
            <a:prstGeom prst="line">
              <a:avLst/>
            </a:prstGeom>
            <a:noFill/>
            <a:ln w="28575">
              <a:solidFill>
                <a:srgbClr val="11576A"/>
              </a:solidFill>
              <a:round/>
            </a:ln>
          </p:spPr>
          <p:txBody>
            <a:bodyP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39" name="Line 13"/>
            <p:cNvSpPr>
              <a:spLocks noChangeShapeType="1"/>
            </p:cNvSpPr>
            <p:nvPr/>
          </p:nvSpPr>
          <p:spPr bwMode="auto">
            <a:xfrm>
              <a:off x="4176687" y="1883537"/>
              <a:ext cx="1524000" cy="136611"/>
            </a:xfrm>
            <a:prstGeom prst="line">
              <a:avLst/>
            </a:prstGeom>
            <a:noFill/>
            <a:ln w="28575">
              <a:solidFill>
                <a:srgbClr val="11576A"/>
              </a:solidFill>
              <a:round/>
            </a:ln>
          </p:spPr>
          <p:txBody>
            <a:bodyP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40" name="Text Box 14"/>
            <p:cNvSpPr txBox="1">
              <a:spLocks noChangeArrowheads="1"/>
            </p:cNvSpPr>
            <p:nvPr/>
          </p:nvSpPr>
          <p:spPr bwMode="auto">
            <a:xfrm>
              <a:off x="1022007" y="1441508"/>
              <a:ext cx="923651" cy="646331"/>
            </a:xfrm>
            <a:prstGeom prst="rect">
              <a:avLst/>
            </a:prstGeom>
            <a:noFill/>
            <a:ln>
              <a:noFill/>
            </a:ln>
          </p:spPr>
          <p:txBody>
            <a:bodyPr wrap="none">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eaLnBrk="1" fontAlgn="auto" hangingPunct="1">
                <a:spcBef>
                  <a:spcPts val="0"/>
                </a:spcBef>
                <a:spcAft>
                  <a:spcPts val="0"/>
                </a:spcAft>
              </a:pPr>
              <a:r>
                <a:rPr lang="en-US" altLang="zh-CN" sz="1200" b="1" dirty="0">
                  <a:solidFill>
                    <a:srgbClr val="11576A"/>
                  </a:solidFill>
                  <a:latin typeface="微软雅黑" panose="020B0503020204020204" pitchFamily="34" charset="-122"/>
                  <a:ea typeface="微软雅黑" panose="020B0503020204020204" pitchFamily="34" charset="-122"/>
                  <a:cs typeface="Gulim" panose="020B0600000101010101" charset="-127"/>
                </a:rPr>
                <a:t>main() {</a:t>
              </a:r>
            </a:p>
            <a:p>
              <a:pPr eaLnBrk="1" fontAlgn="auto" hangingPunct="1">
                <a:spcBef>
                  <a:spcPts val="0"/>
                </a:spcBef>
                <a:spcAft>
                  <a:spcPts val="0"/>
                </a:spcAft>
              </a:pPr>
              <a:r>
                <a:rPr lang="en-US" altLang="zh-CN" sz="1200" b="1" dirty="0">
                  <a:solidFill>
                    <a:srgbClr val="11576A"/>
                  </a:solidFill>
                  <a:latin typeface="微软雅黑" panose="020B0503020204020204" pitchFamily="34" charset="-122"/>
                  <a:ea typeface="微软雅黑" panose="020B0503020204020204" pitchFamily="34" charset="-122"/>
                  <a:cs typeface="Gulim" panose="020B0600000101010101" charset="-127"/>
                </a:rPr>
                <a:t>  …</a:t>
              </a:r>
            </a:p>
            <a:p>
              <a:pPr eaLnBrk="1" fontAlgn="auto" hangingPunct="1">
                <a:spcBef>
                  <a:spcPts val="0"/>
                </a:spcBef>
                <a:spcAft>
                  <a:spcPts val="0"/>
                </a:spcAft>
              </a:pPr>
              <a:r>
                <a:rPr lang="en-US" altLang="zh-CN" sz="1200" b="1" dirty="0">
                  <a:solidFill>
                    <a:srgbClr val="11576A"/>
                  </a:solidFill>
                  <a:latin typeface="微软雅黑" panose="020B0503020204020204" pitchFamily="34" charset="-122"/>
                  <a:ea typeface="微软雅黑" panose="020B0503020204020204" pitchFamily="34" charset="-122"/>
                  <a:cs typeface="Gulim" panose="020B0600000101010101" charset="-127"/>
                </a:rPr>
                <a:t>  attach();</a:t>
              </a:r>
            </a:p>
          </p:txBody>
        </p:sp>
        <p:sp>
          <p:nvSpPr>
            <p:cNvPr id="41" name="Text Box 15"/>
            <p:cNvSpPr txBox="1">
              <a:spLocks noChangeArrowheads="1"/>
            </p:cNvSpPr>
            <p:nvPr/>
          </p:nvSpPr>
          <p:spPr bwMode="auto">
            <a:xfrm>
              <a:off x="6081687" y="1426268"/>
              <a:ext cx="923651" cy="646331"/>
            </a:xfrm>
            <a:prstGeom prst="rect">
              <a:avLst/>
            </a:prstGeom>
            <a:noFill/>
            <a:ln>
              <a:noFill/>
            </a:ln>
          </p:spPr>
          <p:txBody>
            <a:bodyPr wrap="none">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eaLnBrk="1" fontAlgn="auto" hangingPunct="1">
                <a:spcBef>
                  <a:spcPts val="0"/>
                </a:spcBef>
                <a:spcAft>
                  <a:spcPts val="0"/>
                </a:spcAft>
              </a:pPr>
              <a:r>
                <a:rPr lang="en-US" altLang="zh-CN" sz="1200" b="1" dirty="0">
                  <a:solidFill>
                    <a:srgbClr val="11576A"/>
                  </a:solidFill>
                  <a:latin typeface="微软雅黑" panose="020B0503020204020204" pitchFamily="34" charset="-122"/>
                  <a:ea typeface="微软雅黑" panose="020B0503020204020204" pitchFamily="34" charset="-122"/>
                  <a:cs typeface="Gulim" panose="020B0600000101010101" charset="-127"/>
                </a:rPr>
                <a:t>main() {</a:t>
              </a:r>
            </a:p>
            <a:p>
              <a:pPr eaLnBrk="1" fontAlgn="auto" hangingPunct="1">
                <a:spcBef>
                  <a:spcPts val="0"/>
                </a:spcBef>
                <a:spcAft>
                  <a:spcPts val="0"/>
                </a:spcAft>
              </a:pPr>
              <a:r>
                <a:rPr lang="en-US" altLang="zh-CN" sz="1200" b="1" dirty="0">
                  <a:solidFill>
                    <a:srgbClr val="11576A"/>
                  </a:solidFill>
                  <a:latin typeface="微软雅黑" panose="020B0503020204020204" pitchFamily="34" charset="-122"/>
                  <a:ea typeface="微软雅黑" panose="020B0503020204020204" pitchFamily="34" charset="-122"/>
                  <a:cs typeface="Gulim" panose="020B0600000101010101" charset="-127"/>
                </a:rPr>
                <a:t>  …</a:t>
              </a:r>
            </a:p>
            <a:p>
              <a:pPr eaLnBrk="1" fontAlgn="auto" hangingPunct="1">
                <a:spcBef>
                  <a:spcPts val="0"/>
                </a:spcBef>
                <a:spcAft>
                  <a:spcPts val="0"/>
                </a:spcAft>
              </a:pPr>
              <a:r>
                <a:rPr lang="en-US" altLang="zh-CN" sz="1200" b="1" dirty="0">
                  <a:solidFill>
                    <a:srgbClr val="11576A"/>
                  </a:solidFill>
                  <a:latin typeface="微软雅黑" panose="020B0503020204020204" pitchFamily="34" charset="-122"/>
                  <a:ea typeface="微软雅黑" panose="020B0503020204020204" pitchFamily="34" charset="-122"/>
                  <a:cs typeface="Gulim" panose="020B0600000101010101" charset="-127"/>
                </a:rPr>
                <a:t>  attach();</a:t>
              </a:r>
            </a:p>
          </p:txBody>
        </p:sp>
        <p:sp>
          <p:nvSpPr>
            <p:cNvPr id="42" name="Freeform 16"/>
            <p:cNvSpPr/>
            <p:nvPr/>
          </p:nvSpPr>
          <p:spPr bwMode="auto">
            <a:xfrm>
              <a:off x="1509687" y="2634898"/>
              <a:ext cx="838200" cy="409833"/>
            </a:xfrm>
            <a:custGeom>
              <a:avLst/>
              <a:gdLst>
                <a:gd name="T0" fmla="*/ 0 w 528"/>
                <a:gd name="T1" fmla="*/ 288 h 288"/>
                <a:gd name="T2" fmla="*/ 0 w 528"/>
                <a:gd name="T3" fmla="*/ 0 h 288"/>
                <a:gd name="T4" fmla="*/ 528 w 528"/>
                <a:gd name="T5" fmla="*/ 0 h 288"/>
                <a:gd name="T6" fmla="*/ 528 w 528"/>
                <a:gd name="T7" fmla="*/ 288 h 288"/>
                <a:gd name="T8" fmla="*/ 0 60000 65536"/>
                <a:gd name="T9" fmla="*/ 0 60000 65536"/>
                <a:gd name="T10" fmla="*/ 0 60000 65536"/>
                <a:gd name="T11" fmla="*/ 0 60000 65536"/>
                <a:gd name="T12" fmla="*/ 0 w 528"/>
                <a:gd name="T13" fmla="*/ 0 h 288"/>
                <a:gd name="T14" fmla="*/ 528 w 528"/>
                <a:gd name="T15" fmla="*/ 288 h 288"/>
              </a:gdLst>
              <a:ahLst/>
              <a:cxnLst>
                <a:cxn ang="T8">
                  <a:pos x="T0" y="T1"/>
                </a:cxn>
                <a:cxn ang="T9">
                  <a:pos x="T2" y="T3"/>
                </a:cxn>
                <a:cxn ang="T10">
                  <a:pos x="T4" y="T5"/>
                </a:cxn>
                <a:cxn ang="T11">
                  <a:pos x="T6" y="T7"/>
                </a:cxn>
              </a:cxnLst>
              <a:rect l="T12" t="T13" r="T14" b="T15"/>
              <a:pathLst>
                <a:path w="528" h="288">
                  <a:moveTo>
                    <a:pt x="0" y="288"/>
                  </a:moveTo>
                  <a:lnTo>
                    <a:pt x="0" y="0"/>
                  </a:lnTo>
                  <a:lnTo>
                    <a:pt x="528" y="0"/>
                  </a:lnTo>
                  <a:lnTo>
                    <a:pt x="528" y="288"/>
                  </a:lnTo>
                </a:path>
              </a:pathLst>
            </a:custGeom>
            <a:noFill/>
            <a:ln w="28575" cmpd="sng">
              <a:solidFill>
                <a:srgbClr val="11576A"/>
              </a:solidFill>
              <a:miter lim="800000"/>
            </a:ln>
          </p:spPr>
          <p:txBody>
            <a:bodyP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43" name="Rectangle 17"/>
            <p:cNvSpPr>
              <a:spLocks noChangeArrowheads="1"/>
            </p:cNvSpPr>
            <p:nvPr/>
          </p:nvSpPr>
          <p:spPr bwMode="auto">
            <a:xfrm>
              <a:off x="1512866" y="2771509"/>
              <a:ext cx="457200" cy="136611"/>
            </a:xfrm>
            <a:prstGeom prst="rect">
              <a:avLst/>
            </a:prstGeom>
            <a:gradFill>
              <a:gsLst>
                <a:gs pos="100000">
                  <a:srgbClr val="339900"/>
                </a:gs>
                <a:gs pos="0">
                  <a:srgbClr val="CCFF99"/>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44" name="Rectangle 18"/>
            <p:cNvSpPr>
              <a:spLocks noChangeArrowheads="1"/>
            </p:cNvSpPr>
            <p:nvPr/>
          </p:nvSpPr>
          <p:spPr bwMode="auto">
            <a:xfrm>
              <a:off x="1966887" y="2771509"/>
              <a:ext cx="381000" cy="136611"/>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57" name="Text Box 19"/>
            <p:cNvSpPr txBox="1">
              <a:spLocks noChangeArrowheads="1"/>
            </p:cNvSpPr>
            <p:nvPr/>
          </p:nvSpPr>
          <p:spPr bwMode="auto">
            <a:xfrm>
              <a:off x="976287" y="2357436"/>
              <a:ext cx="646331" cy="276999"/>
            </a:xfrm>
            <a:prstGeom prst="rect">
              <a:avLst/>
            </a:prstGeom>
            <a:noFill/>
            <a:ln>
              <a:noFill/>
            </a:ln>
          </p:spPr>
          <p:txBody>
            <a:bodyPr wrap="none">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eaLnBrk="1" fontAlgn="auto" hangingPunct="1">
                <a:spcBef>
                  <a:spcPts val="0"/>
                </a:spcBef>
                <a:spcAft>
                  <a:spcPts val="0"/>
                </a:spcAft>
              </a:pPr>
              <a:r>
                <a:rPr lang="zh-CN" altLang="en-US" sz="1200" b="1" dirty="0">
                  <a:solidFill>
                    <a:srgbClr val="11576A"/>
                  </a:solidFill>
                  <a:latin typeface="微软雅黑" panose="020B0503020204020204" pitchFamily="34" charset="-122"/>
                  <a:ea typeface="微软雅黑" panose="020B0503020204020204" pitchFamily="34" charset="-122"/>
                  <a:cs typeface="Gulim" panose="020B0600000101010101" charset="-127"/>
                </a:rPr>
                <a:t>页表项</a:t>
              </a:r>
              <a:endParaRPr lang="en-US" altLang="zh-CN" sz="1200" b="1" dirty="0">
                <a:solidFill>
                  <a:srgbClr val="11576A"/>
                </a:solidFill>
                <a:latin typeface="微软雅黑" panose="020B0503020204020204" pitchFamily="34" charset="-122"/>
                <a:ea typeface="微软雅黑" panose="020B0503020204020204" pitchFamily="34" charset="-122"/>
                <a:cs typeface="Gulim" panose="020B0600000101010101" charset="-127"/>
              </a:endParaRPr>
            </a:p>
          </p:txBody>
        </p:sp>
        <p:sp>
          <p:nvSpPr>
            <p:cNvPr id="58" name="Freeform 20"/>
            <p:cNvSpPr/>
            <p:nvPr/>
          </p:nvSpPr>
          <p:spPr bwMode="auto">
            <a:xfrm>
              <a:off x="6005487" y="2703203"/>
              <a:ext cx="838200" cy="409833"/>
            </a:xfrm>
            <a:custGeom>
              <a:avLst/>
              <a:gdLst>
                <a:gd name="T0" fmla="*/ 0 w 528"/>
                <a:gd name="T1" fmla="*/ 288 h 288"/>
                <a:gd name="T2" fmla="*/ 0 w 528"/>
                <a:gd name="T3" fmla="*/ 0 h 288"/>
                <a:gd name="T4" fmla="*/ 528 w 528"/>
                <a:gd name="T5" fmla="*/ 0 h 288"/>
                <a:gd name="T6" fmla="*/ 528 w 528"/>
                <a:gd name="T7" fmla="*/ 288 h 288"/>
                <a:gd name="T8" fmla="*/ 0 60000 65536"/>
                <a:gd name="T9" fmla="*/ 0 60000 65536"/>
                <a:gd name="T10" fmla="*/ 0 60000 65536"/>
                <a:gd name="T11" fmla="*/ 0 60000 65536"/>
                <a:gd name="T12" fmla="*/ 0 w 528"/>
                <a:gd name="T13" fmla="*/ 0 h 288"/>
                <a:gd name="T14" fmla="*/ 528 w 528"/>
                <a:gd name="T15" fmla="*/ 288 h 288"/>
              </a:gdLst>
              <a:ahLst/>
              <a:cxnLst>
                <a:cxn ang="T8">
                  <a:pos x="T0" y="T1"/>
                </a:cxn>
                <a:cxn ang="T9">
                  <a:pos x="T2" y="T3"/>
                </a:cxn>
                <a:cxn ang="T10">
                  <a:pos x="T4" y="T5"/>
                </a:cxn>
                <a:cxn ang="T11">
                  <a:pos x="T6" y="T7"/>
                </a:cxn>
              </a:cxnLst>
              <a:rect l="T12" t="T13" r="T14" b="T15"/>
              <a:pathLst>
                <a:path w="528" h="288">
                  <a:moveTo>
                    <a:pt x="0" y="288"/>
                  </a:moveTo>
                  <a:lnTo>
                    <a:pt x="0" y="0"/>
                  </a:lnTo>
                  <a:lnTo>
                    <a:pt x="528" y="0"/>
                  </a:lnTo>
                  <a:lnTo>
                    <a:pt x="528" y="288"/>
                  </a:lnTo>
                </a:path>
              </a:pathLst>
            </a:custGeom>
            <a:noFill/>
            <a:ln w="28575" cmpd="sng">
              <a:solidFill>
                <a:srgbClr val="11576A"/>
              </a:solidFill>
              <a:miter lim="800000"/>
            </a:ln>
          </p:spPr>
          <p:txBody>
            <a:bodyP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59" name="Rectangle 21"/>
            <p:cNvSpPr>
              <a:spLocks noChangeArrowheads="1"/>
            </p:cNvSpPr>
            <p:nvPr/>
          </p:nvSpPr>
          <p:spPr bwMode="auto">
            <a:xfrm>
              <a:off x="6005487" y="2839814"/>
              <a:ext cx="457200" cy="136611"/>
            </a:xfrm>
            <a:prstGeom prst="rect">
              <a:avLst/>
            </a:prstGeom>
            <a:gradFill>
              <a:gsLst>
                <a:gs pos="100000">
                  <a:srgbClr val="330033"/>
                </a:gs>
                <a:gs pos="0">
                  <a:srgbClr val="CC66FF"/>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60" name="Rectangle 22"/>
            <p:cNvSpPr>
              <a:spLocks noChangeArrowheads="1"/>
            </p:cNvSpPr>
            <p:nvPr/>
          </p:nvSpPr>
          <p:spPr bwMode="auto">
            <a:xfrm>
              <a:off x="6462687" y="2839814"/>
              <a:ext cx="381000" cy="136611"/>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61" name="Text Box 23"/>
            <p:cNvSpPr txBox="1">
              <a:spLocks noChangeArrowheads="1"/>
            </p:cNvSpPr>
            <p:nvPr/>
          </p:nvSpPr>
          <p:spPr bwMode="auto">
            <a:xfrm>
              <a:off x="5472087" y="2428874"/>
              <a:ext cx="646331" cy="276999"/>
            </a:xfrm>
            <a:prstGeom prst="rect">
              <a:avLst/>
            </a:prstGeom>
            <a:noFill/>
            <a:ln>
              <a:noFill/>
            </a:ln>
          </p:spPr>
          <p:txBody>
            <a:bodyPr wrap="none">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eaLnBrk="1" fontAlgn="auto" hangingPunct="1">
                <a:spcBef>
                  <a:spcPts val="0"/>
                </a:spcBef>
                <a:spcAft>
                  <a:spcPts val="0"/>
                </a:spcAft>
              </a:pPr>
              <a:r>
                <a:rPr lang="zh-CN" altLang="en-US" sz="1200" b="1" dirty="0">
                  <a:solidFill>
                    <a:srgbClr val="11576A"/>
                  </a:solidFill>
                  <a:latin typeface="微软雅黑" panose="020B0503020204020204" pitchFamily="34" charset="-122"/>
                  <a:ea typeface="微软雅黑" panose="020B0503020204020204" pitchFamily="34" charset="-122"/>
                  <a:cs typeface="Gulim" panose="020B0600000101010101" charset="-127"/>
                </a:rPr>
                <a:t>页表项</a:t>
              </a:r>
              <a:endParaRPr lang="en-US" altLang="zh-CN" sz="1200" b="1" dirty="0">
                <a:solidFill>
                  <a:srgbClr val="11576A"/>
                </a:solidFill>
                <a:latin typeface="微软雅黑" panose="020B0503020204020204" pitchFamily="34" charset="-122"/>
                <a:ea typeface="微软雅黑" panose="020B0503020204020204" pitchFamily="34" charset="-122"/>
                <a:cs typeface="Gulim" panose="020B0600000101010101" charset="-127"/>
              </a:endParaRPr>
            </a:p>
          </p:txBody>
        </p:sp>
        <p:sp>
          <p:nvSpPr>
            <p:cNvPr id="64" name="TextBox 63"/>
            <p:cNvSpPr txBox="1"/>
            <p:nvPr/>
          </p:nvSpPr>
          <p:spPr>
            <a:xfrm>
              <a:off x="985812" y="890576"/>
              <a:ext cx="1689886" cy="338554"/>
            </a:xfrm>
            <a:prstGeom prst="rect">
              <a:avLst/>
            </a:prstGeom>
            <a:noFill/>
          </p:spPr>
          <p:txBody>
            <a:bodyPr wrap="none" rtlCol="0">
              <a:spAutoFit/>
            </a:bodyPr>
            <a:lstStyle/>
            <a:p>
              <a:pPr eaLnBrk="1" fontAlgn="auto" hangingPunct="1">
                <a:spcBef>
                  <a:spcPts val="0"/>
                </a:spcBef>
                <a:spcAft>
                  <a:spcPts val="0"/>
                </a:spcAft>
              </a:pPr>
              <a:r>
                <a:rPr lang="zh-CN" altLang="en-US" sz="1600" b="1" dirty="0">
                  <a:solidFill>
                    <a:srgbClr val="11576A"/>
                  </a:solidFill>
                  <a:latin typeface="微软雅黑"/>
                  <a:ea typeface="微软雅黑"/>
                  <a:cs typeface="Gulim" panose="020B0600000101010101" charset="-127"/>
                </a:rPr>
                <a:t>进程</a:t>
              </a:r>
              <a:r>
                <a:rPr lang="en-US" altLang="zh-CN" sz="1600" b="1" dirty="0">
                  <a:solidFill>
                    <a:srgbClr val="11576A"/>
                  </a:solidFill>
                  <a:latin typeface="微软雅黑"/>
                  <a:ea typeface="微软雅黑"/>
                  <a:cs typeface="Gulim" panose="020B0600000101010101" charset="-127"/>
                </a:rPr>
                <a:t>I</a:t>
              </a:r>
              <a:r>
                <a:rPr lang="zh-CN" altLang="en-US" sz="1600" b="1" dirty="0">
                  <a:solidFill>
                    <a:srgbClr val="11576A"/>
                  </a:solidFill>
                  <a:latin typeface="微软雅黑"/>
                  <a:ea typeface="微软雅黑"/>
                  <a:cs typeface="Gulim" panose="020B0600000101010101" charset="-127"/>
                </a:rPr>
                <a:t>的地址空间</a:t>
              </a:r>
              <a:endParaRPr lang="en-US" altLang="zh-CN" sz="1600" b="1" dirty="0">
                <a:solidFill>
                  <a:srgbClr val="11576A"/>
                </a:solidFill>
                <a:latin typeface="微软雅黑"/>
                <a:ea typeface="微软雅黑"/>
                <a:cs typeface="Gulim" panose="020B0600000101010101" charset="-127"/>
              </a:endParaRPr>
            </a:p>
          </p:txBody>
        </p:sp>
        <p:sp>
          <p:nvSpPr>
            <p:cNvPr id="65" name="TextBox 64"/>
            <p:cNvSpPr txBox="1"/>
            <p:nvPr/>
          </p:nvSpPr>
          <p:spPr>
            <a:xfrm>
              <a:off x="5334005" y="866763"/>
              <a:ext cx="1717137" cy="338554"/>
            </a:xfrm>
            <a:prstGeom prst="rect">
              <a:avLst/>
            </a:prstGeom>
            <a:noFill/>
          </p:spPr>
          <p:txBody>
            <a:bodyPr wrap="none" rtlCol="0">
              <a:spAutoFit/>
            </a:bodyPr>
            <a:lstStyle/>
            <a:p>
              <a:pPr eaLnBrk="1" fontAlgn="auto" hangingPunct="1">
                <a:spcBef>
                  <a:spcPts val="0"/>
                </a:spcBef>
                <a:spcAft>
                  <a:spcPts val="0"/>
                </a:spcAft>
              </a:pPr>
              <a:r>
                <a:rPr lang="zh-CN" altLang="en-US" sz="1600" b="1" dirty="0">
                  <a:solidFill>
                    <a:srgbClr val="11576A"/>
                  </a:solidFill>
                  <a:latin typeface="微软雅黑"/>
                  <a:ea typeface="微软雅黑"/>
                  <a:cs typeface="Gulim" panose="020B0600000101010101" charset="-127"/>
                </a:rPr>
                <a:t>进程</a:t>
              </a:r>
              <a:r>
                <a:rPr lang="en-US" altLang="zh-CN" sz="1600" b="1" dirty="0">
                  <a:solidFill>
                    <a:srgbClr val="11576A"/>
                  </a:solidFill>
                  <a:latin typeface="微软雅黑"/>
                  <a:ea typeface="微软雅黑"/>
                  <a:cs typeface="Gulim" panose="020B0600000101010101" charset="-127"/>
                </a:rPr>
                <a:t>J</a:t>
              </a:r>
              <a:r>
                <a:rPr lang="zh-CN" altLang="en-US" sz="1600" b="1" dirty="0">
                  <a:solidFill>
                    <a:srgbClr val="11576A"/>
                  </a:solidFill>
                  <a:latin typeface="微软雅黑"/>
                  <a:ea typeface="微软雅黑"/>
                  <a:cs typeface="Gulim" panose="020B0600000101010101" charset="-127"/>
                </a:rPr>
                <a:t>的地址空间</a:t>
              </a:r>
              <a:endParaRPr lang="en-US" altLang="zh-CN" sz="1600" b="1" dirty="0">
                <a:solidFill>
                  <a:srgbClr val="11576A"/>
                </a:solidFill>
                <a:latin typeface="微软雅黑"/>
                <a:ea typeface="微软雅黑"/>
                <a:cs typeface="Gulim" panose="020B0600000101010101" charset="-127"/>
              </a:endParaRPr>
            </a:p>
          </p:txBody>
        </p:sp>
        <p:sp>
          <p:nvSpPr>
            <p:cNvPr id="66" name="TextBox 65"/>
            <p:cNvSpPr txBox="1"/>
            <p:nvPr/>
          </p:nvSpPr>
          <p:spPr>
            <a:xfrm>
              <a:off x="3483485" y="928588"/>
              <a:ext cx="1005403" cy="338554"/>
            </a:xfrm>
            <a:prstGeom prst="rect">
              <a:avLst/>
            </a:prstGeom>
            <a:noFill/>
          </p:spPr>
          <p:txBody>
            <a:bodyPr wrap="none" rtlCol="0">
              <a:spAutoFit/>
            </a:bodyPr>
            <a:lstStyle/>
            <a:p>
              <a:pPr eaLnBrk="1" fontAlgn="auto" hangingPunct="1">
                <a:spcBef>
                  <a:spcPts val="0"/>
                </a:spcBef>
                <a:spcAft>
                  <a:spcPts val="0"/>
                </a:spcAft>
              </a:pPr>
              <a:r>
                <a:rPr lang="zh-CN" altLang="en-US" sz="1600" b="1" dirty="0">
                  <a:solidFill>
                    <a:srgbClr val="11576A"/>
                  </a:solidFill>
                  <a:latin typeface="微软雅黑"/>
                  <a:ea typeface="微软雅黑"/>
                  <a:cs typeface="Gulim" panose="020B0600000101010101" charset="-127"/>
                </a:rPr>
                <a:t>物理内存</a:t>
              </a:r>
              <a:endParaRPr lang="en-US" altLang="zh-CN" sz="1600" b="1" dirty="0">
                <a:solidFill>
                  <a:srgbClr val="11576A"/>
                </a:solidFill>
                <a:latin typeface="微软雅黑"/>
                <a:ea typeface="微软雅黑"/>
                <a:cs typeface="Gulim" panose="020B0600000101010101" charset="-127"/>
              </a:endParaRPr>
            </a:p>
          </p:txBody>
        </p:sp>
      </p:grpSp>
      <p:grpSp>
        <p:nvGrpSpPr>
          <p:cNvPr id="6" name="组合 5">
            <a:extLst>
              <a:ext uri="{FF2B5EF4-FFF2-40B4-BE49-F238E27FC236}">
                <a16:creationId xmlns:a16="http://schemas.microsoft.com/office/drawing/2014/main" id="{974F087B-80E4-EE12-5F5A-C65F0BC3835D}"/>
              </a:ext>
            </a:extLst>
          </p:cNvPr>
          <p:cNvGrpSpPr/>
          <p:nvPr/>
        </p:nvGrpSpPr>
        <p:grpSpPr>
          <a:xfrm>
            <a:off x="458212" y="4702660"/>
            <a:ext cx="2084033" cy="369332"/>
            <a:chOff x="844893" y="4123880"/>
            <a:chExt cx="2084033" cy="369332"/>
          </a:xfrm>
        </p:grpSpPr>
        <p:sp>
          <p:nvSpPr>
            <p:cNvPr id="10" name="内容占位符 2">
              <a:extLst>
                <a:ext uri="{FF2B5EF4-FFF2-40B4-BE49-F238E27FC236}">
                  <a16:creationId xmlns:a16="http://schemas.microsoft.com/office/drawing/2014/main" id="{E36796F4-348C-11BD-9DD6-6CC849F066E9}"/>
                </a:ext>
              </a:extLst>
            </p:cNvPr>
            <p:cNvSpPr txBox="1"/>
            <p:nvPr/>
          </p:nvSpPr>
          <p:spPr>
            <a:xfrm>
              <a:off x="1142976" y="4123880"/>
              <a:ext cx="1785950" cy="35605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ct val="20000"/>
                </a:spcBef>
                <a:spcAft>
                  <a:spcPts val="0"/>
                </a:spcAft>
                <a:defRPr/>
              </a:pPr>
              <a:r>
                <a:rPr lang="zh-CN" altLang="en-US" sz="1800" dirty="0"/>
                <a:t>双向</a:t>
              </a:r>
            </a:p>
          </p:txBody>
        </p:sp>
        <p:sp>
          <p:nvSpPr>
            <p:cNvPr id="11" name="TextBox 51">
              <a:extLst>
                <a:ext uri="{FF2B5EF4-FFF2-40B4-BE49-F238E27FC236}">
                  <a16:creationId xmlns:a16="http://schemas.microsoft.com/office/drawing/2014/main" id="{3B020133-0F89-6CA5-F874-43B9D09411B0}"/>
                </a:ext>
              </a:extLst>
            </p:cNvPr>
            <p:cNvSpPr txBox="1"/>
            <p:nvPr/>
          </p:nvSpPr>
          <p:spPr>
            <a:xfrm>
              <a:off x="844893" y="4123880"/>
              <a:ext cx="433390" cy="369332"/>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anose="020B0503020204020204" pitchFamily="34" charset="-122"/>
                <a:ea typeface="微软雅黑" panose="020B0503020204020204" pitchFamily="34" charset="-122"/>
              </a:endParaRPr>
            </a:p>
          </p:txBody>
        </p:sp>
      </p:grpSp>
      <p:pic>
        <p:nvPicPr>
          <p:cNvPr id="14" name="图片 13">
            <a:extLst>
              <a:ext uri="{FF2B5EF4-FFF2-40B4-BE49-F238E27FC236}">
                <a16:creationId xmlns:a16="http://schemas.microsoft.com/office/drawing/2014/main" id="{0825521D-2782-EEA0-2C29-27847B3244AA}"/>
              </a:ext>
            </a:extLst>
          </p:cNvPr>
          <p:cNvPicPr>
            <a:picLocks noChangeAspect="1"/>
          </p:cNvPicPr>
          <p:nvPr/>
        </p:nvPicPr>
        <p:blipFill>
          <a:blip r:embed="rId2"/>
          <a:stretch>
            <a:fillRect/>
          </a:stretch>
        </p:blipFill>
        <p:spPr>
          <a:xfrm>
            <a:off x="4595177" y="4218801"/>
            <a:ext cx="4416687" cy="2284933"/>
          </a:xfrm>
          <a:prstGeom prst="rect">
            <a:avLst/>
          </a:prstGeom>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par>
                                <p:cTn id="13" presetID="22" presetClass="entr" presetSubtype="8"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par>
                                <p:cTn id="21" presetID="22" presetClass="entr" presetSubtype="8"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par>
                                <p:cTn id="24" presetID="22" presetClass="entr" presetSubtype="8"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A055945-17DC-4121-B254-11925C6C0B39}"/>
              </a:ext>
            </a:extLst>
          </p:cNvPr>
          <p:cNvSpPr>
            <a:spLocks noGrp="1" noChangeArrowheads="1"/>
          </p:cNvSpPr>
          <p:nvPr>
            <p:ph type="body" idx="1"/>
          </p:nvPr>
        </p:nvSpPr>
        <p:spPr>
          <a:xfrm>
            <a:off x="468313" y="549275"/>
            <a:ext cx="8280400" cy="5903913"/>
          </a:xfrm>
        </p:spPr>
        <p:txBody>
          <a:bodyPr/>
          <a:lstStyle/>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2.</a:t>
            </a:r>
            <a:r>
              <a:rPr lang="zh-CN" altLang="en-US" sz="2800" b="1" dirty="0">
                <a:solidFill>
                  <a:srgbClr val="FFFF00"/>
                </a:solidFill>
                <a:effectLst/>
                <a:latin typeface="黑体" panose="02010609060101010101" pitchFamily="49" charset="-122"/>
                <a:ea typeface="黑体" panose="02010609060101010101" pitchFamily="49" charset="-122"/>
              </a:rPr>
              <a:t>消息传递机制</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用得最广泛的一种进程间通信的机制。</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在消息传递系统中，进程间的数据交换，是以格式化的消息</a:t>
            </a:r>
            <a:r>
              <a:rPr lang="en-US" altLang="zh-CN" sz="2800" b="1" dirty="0">
                <a:solidFill>
                  <a:srgbClr val="FFFF00"/>
                </a:solidFill>
                <a:effectLst/>
                <a:latin typeface="黑体" panose="02010609060101010101" pitchFamily="49" charset="-122"/>
                <a:ea typeface="黑体" panose="02010609060101010101" pitchFamily="49" charset="-122"/>
              </a:rPr>
              <a:t>(message)</a:t>
            </a:r>
            <a:r>
              <a:rPr lang="zh-CN" altLang="en-US" sz="2800" b="1" dirty="0">
                <a:solidFill>
                  <a:srgbClr val="FFFF00"/>
                </a:solidFill>
                <a:effectLst/>
                <a:latin typeface="黑体" panose="02010609060101010101" pitchFamily="49" charset="-122"/>
                <a:ea typeface="黑体" panose="02010609060101010101" pitchFamily="49" charset="-122"/>
              </a:rPr>
              <a:t>为单位的；在计算机网络中，又把</a:t>
            </a:r>
            <a:r>
              <a:rPr lang="en-US" altLang="zh-CN" sz="2800" b="1" dirty="0">
                <a:solidFill>
                  <a:srgbClr val="FFFF00"/>
                </a:solidFill>
                <a:effectLst/>
                <a:latin typeface="黑体" panose="02010609060101010101" pitchFamily="49" charset="-122"/>
                <a:ea typeface="黑体" panose="02010609060101010101" pitchFamily="49" charset="-122"/>
              </a:rPr>
              <a:t>message</a:t>
            </a:r>
            <a:r>
              <a:rPr lang="zh-CN" altLang="en-US" sz="2800" b="1" dirty="0">
                <a:solidFill>
                  <a:srgbClr val="FFFF00"/>
                </a:solidFill>
                <a:effectLst/>
                <a:latin typeface="黑体" panose="02010609060101010101" pitchFamily="49" charset="-122"/>
                <a:ea typeface="黑体" panose="02010609060101010101" pitchFamily="49" charset="-122"/>
              </a:rPr>
              <a:t>称为报文。</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程序员直接利用系统提供的一组通信命令</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原语</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进行通信。操作系统隐藏了通信的实现细节，大大简化了通信程序编制的复杂性，而获得广泛的应用。在微内核操作系统中，微内核与服务器之间的通信就采用了消息传递机制。</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因其实现方式的不同而进一步分成直接通信方式和间接通信方式两种。</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D98E0046-9564-42F1-9CA9-47A8936CC5AE}"/>
              </a:ext>
            </a:extLst>
          </p:cNvPr>
          <p:cNvSpPr>
            <a:spLocks noGrp="1" noChangeArrowheads="1"/>
          </p:cNvSpPr>
          <p:nvPr>
            <p:ph type="body" idx="1"/>
          </p:nvPr>
        </p:nvSpPr>
        <p:spPr>
          <a:xfrm>
            <a:off x="468313" y="549275"/>
            <a:ext cx="8280400" cy="5903913"/>
          </a:xfrm>
        </p:spPr>
        <p:txBody>
          <a:bodyPr/>
          <a:lstStyle/>
          <a:p>
            <a:pPr eaLnBrk="1" hangingPunct="1">
              <a:lnSpc>
                <a:spcPts val="3800"/>
              </a:lnSpc>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2.</a:t>
            </a:r>
            <a:r>
              <a:rPr lang="zh-CN" altLang="en-US" sz="2800" b="1" dirty="0">
                <a:solidFill>
                  <a:srgbClr val="FFFF00"/>
                </a:solidFill>
                <a:effectLst/>
                <a:latin typeface="黑体" panose="02010609060101010101" pitchFamily="49" charset="-122"/>
                <a:ea typeface="黑体" panose="02010609060101010101" pitchFamily="49" charset="-122"/>
              </a:rPr>
              <a:t>消息传递机制</a:t>
            </a:r>
          </a:p>
          <a:p>
            <a:pPr eaLnBrk="1" hangingPunct="1">
              <a:lnSpc>
                <a:spcPts val="3800"/>
              </a:lnSpc>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   </a:t>
            </a:r>
            <a:r>
              <a:rPr lang="en-US" altLang="zh-CN" sz="2800" b="1" dirty="0">
                <a:solidFill>
                  <a:srgbClr val="FFFF00"/>
                </a:solidFill>
                <a:effectLst/>
                <a:latin typeface="黑体" panose="02010609060101010101" pitchFamily="49" charset="-122"/>
                <a:ea typeface="黑体" panose="02010609060101010101" pitchFamily="49" charset="-122"/>
              </a:rPr>
              <a:t>(1)</a:t>
            </a:r>
            <a:r>
              <a:rPr lang="zh-CN" altLang="en-US" sz="2800" b="1" dirty="0">
                <a:solidFill>
                  <a:srgbClr val="FFFF00"/>
                </a:solidFill>
                <a:effectLst/>
                <a:latin typeface="黑体" panose="02010609060101010101" pitchFamily="49" charset="-122"/>
                <a:ea typeface="黑体" panose="02010609060101010101" pitchFamily="49" charset="-122"/>
              </a:rPr>
              <a:t>直接通信方式</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lnSpc>
                <a:spcPts val="3800"/>
              </a:lnSpc>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a:t>
            </a:r>
            <a:r>
              <a:rPr lang="zh-CN" altLang="en-US" sz="2800" b="1" dirty="0">
                <a:solidFill>
                  <a:srgbClr val="FFFF00"/>
                </a:solidFill>
                <a:effectLst/>
                <a:latin typeface="黑体" panose="02010609060101010101" pitchFamily="49" charset="-122"/>
                <a:ea typeface="黑体" panose="02010609060101010101" pitchFamily="49" charset="-122"/>
              </a:rPr>
              <a:t>发送进程直接把消息发送给接收进程，并将它挂在接收进程的消息缓冲队列上，接收进程从消息缓冲队列中取得消息。</a:t>
            </a:r>
          </a:p>
          <a:p>
            <a:pPr eaLnBrk="1" hangingPunct="1">
              <a:lnSpc>
                <a:spcPts val="3800"/>
              </a:lnSpc>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   </a:t>
            </a:r>
            <a:r>
              <a:rPr lang="en-US" altLang="zh-CN" sz="2800" b="1" dirty="0">
                <a:solidFill>
                  <a:srgbClr val="FFFF00"/>
                </a:solidFill>
                <a:effectLst/>
                <a:latin typeface="黑体" panose="02010609060101010101" pitchFamily="49" charset="-122"/>
                <a:ea typeface="黑体" panose="02010609060101010101" pitchFamily="49" charset="-122"/>
              </a:rPr>
              <a:t>(2)</a:t>
            </a:r>
            <a:r>
              <a:rPr lang="zh-CN" altLang="en-US" sz="2800" b="1" dirty="0">
                <a:solidFill>
                  <a:srgbClr val="FFFF00"/>
                </a:solidFill>
                <a:effectLst/>
                <a:latin typeface="黑体" panose="02010609060101010101" pitchFamily="49" charset="-122"/>
                <a:ea typeface="黑体" panose="02010609060101010101" pitchFamily="49" charset="-122"/>
              </a:rPr>
              <a:t>间接通信方式</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lnSpc>
                <a:spcPts val="3800"/>
              </a:lnSpc>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  </a:t>
            </a:r>
            <a:r>
              <a:rPr lang="zh-CN" altLang="en-US" sz="2800" b="1" dirty="0">
                <a:solidFill>
                  <a:srgbClr val="FFFF00"/>
                </a:solidFill>
                <a:effectLst/>
                <a:latin typeface="黑体" panose="02010609060101010101" pitchFamily="49" charset="-122"/>
                <a:ea typeface="黑体" panose="02010609060101010101" pitchFamily="49" charset="-122"/>
              </a:rPr>
              <a:t>发送进程把消息发送到某个中间实体中，接收进程从中取得消息。这种中间实体一般称为信箱，故这种通信方式也称为信箱通信方式。这种通信方式被广泛应用于计算机网络中，称为电子邮件系统。</a:t>
            </a: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96905762-CB00-4BF0-ADCE-17A7F992D4A2}"/>
              </a:ext>
            </a:extLst>
          </p:cNvPr>
          <p:cNvSpPr>
            <a:spLocks noGrp="1" noChangeArrowheads="1"/>
          </p:cNvSpPr>
          <p:nvPr>
            <p:ph type="body" idx="1"/>
          </p:nvPr>
        </p:nvSpPr>
        <p:spPr>
          <a:xfrm>
            <a:off x="611188" y="836613"/>
            <a:ext cx="8064500" cy="5545137"/>
          </a:xfrm>
        </p:spPr>
        <p:txBody>
          <a:bodyPr/>
          <a:lstStyle/>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3.</a:t>
            </a:r>
            <a:r>
              <a:rPr lang="zh-CN" altLang="en-US" sz="2800" b="1" dirty="0">
                <a:solidFill>
                  <a:srgbClr val="FFFF00"/>
                </a:solidFill>
                <a:effectLst/>
                <a:latin typeface="黑体" panose="02010609060101010101" pitchFamily="49" charset="-122"/>
                <a:ea typeface="黑体" panose="02010609060101010101" pitchFamily="49" charset="-122"/>
              </a:rPr>
              <a:t>管道</a:t>
            </a:r>
            <a:r>
              <a:rPr lang="en-US" altLang="zh-CN" sz="2800" b="1" dirty="0">
                <a:solidFill>
                  <a:srgbClr val="FFFF00"/>
                </a:solidFill>
                <a:effectLst/>
                <a:latin typeface="黑体" panose="02010609060101010101" pitchFamily="49" charset="-122"/>
                <a:ea typeface="黑体" panose="02010609060101010101" pitchFamily="49" charset="-122"/>
              </a:rPr>
              <a:t>(pipe)</a:t>
            </a:r>
            <a:r>
              <a:rPr lang="zh-CN" altLang="en-US" sz="2800" b="1" dirty="0">
                <a:solidFill>
                  <a:srgbClr val="FFFF00"/>
                </a:solidFill>
                <a:effectLst/>
                <a:latin typeface="黑体" panose="02010609060101010101" pitchFamily="49" charset="-122"/>
                <a:ea typeface="黑体" panose="02010609060101010101" pitchFamily="49" charset="-122"/>
              </a:rPr>
              <a:t>通信机制</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管道是指用于连接一个读进程和一个写进程以实现他们之间通信的一个共享文件（</a:t>
            </a:r>
            <a:r>
              <a:rPr lang="zh-CN" altLang="en-US" sz="2800" b="1" dirty="0">
                <a:solidFill>
                  <a:srgbClr val="FF0000"/>
                </a:solidFill>
                <a:effectLst/>
                <a:latin typeface="黑体" panose="02010609060101010101" pitchFamily="49" charset="-122"/>
                <a:ea typeface="黑体" panose="02010609060101010101" pitchFamily="49" charset="-122"/>
              </a:rPr>
              <a:t>内存文件，缓冲区</a:t>
            </a:r>
            <a:r>
              <a:rPr lang="zh-CN" altLang="en-US" sz="2800" b="1" dirty="0">
                <a:solidFill>
                  <a:srgbClr val="FFFF00"/>
                </a:solidFill>
                <a:effectLst/>
                <a:latin typeface="黑体" panose="02010609060101010101" pitchFamily="49" charset="-122"/>
                <a:ea typeface="黑体" panose="02010609060101010101" pitchFamily="49" charset="-122"/>
              </a:rPr>
              <a:t>），又名</a:t>
            </a:r>
            <a:r>
              <a:rPr lang="en-US" altLang="zh-CN" sz="2800" b="1" dirty="0">
                <a:solidFill>
                  <a:srgbClr val="FFFF00"/>
                </a:solidFill>
                <a:effectLst/>
                <a:latin typeface="黑体" panose="02010609060101010101" pitchFamily="49" charset="-122"/>
                <a:ea typeface="黑体" panose="02010609060101010101" pitchFamily="49" charset="-122"/>
              </a:rPr>
              <a:t>pipe</a:t>
            </a:r>
            <a:r>
              <a:rPr lang="zh-CN" altLang="en-US" sz="2800" b="1" dirty="0">
                <a:solidFill>
                  <a:srgbClr val="FFFF00"/>
                </a:solidFill>
                <a:effectLst/>
                <a:latin typeface="黑体" panose="02010609060101010101" pitchFamily="49" charset="-122"/>
                <a:ea typeface="黑体" panose="02010609060101010101" pitchFamily="49" charset="-122"/>
              </a:rPr>
              <a:t>文件</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向管道</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共享文件</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提供输入的发送进程</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即写进程</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，以字符流形式将大量的数据送入管道；而接受管道输出的接收进程</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即读进程</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则从管道中接收</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读</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数据。</a:t>
            </a:r>
            <a:r>
              <a:rPr lang="zh-CN" altLang="en-US" sz="2800" b="1" dirty="0">
                <a:solidFill>
                  <a:srgbClr val="FF0000"/>
                </a:solidFill>
                <a:effectLst/>
                <a:latin typeface="黑体" panose="02010609060101010101" pitchFamily="49" charset="-122"/>
                <a:ea typeface="黑体" panose="02010609060101010101" pitchFamily="49" charset="-122"/>
              </a:rPr>
              <a:t>单向传输</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通信的两个进程按生产者</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消费者方式进行通信</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首创于</a:t>
            </a:r>
            <a:r>
              <a:rPr lang="en-US" altLang="zh-CN" sz="2800" b="1" dirty="0">
                <a:solidFill>
                  <a:srgbClr val="FFFF00"/>
                </a:solidFill>
                <a:effectLst/>
                <a:latin typeface="黑体" panose="02010609060101010101" pitchFamily="49" charset="-122"/>
                <a:ea typeface="黑体" panose="02010609060101010101" pitchFamily="49" charset="-122"/>
              </a:rPr>
              <a:t>UNIX</a:t>
            </a:r>
            <a:r>
              <a:rPr lang="zh-CN" altLang="en-US" sz="2800" b="1" dirty="0">
                <a:solidFill>
                  <a:srgbClr val="FFFF00"/>
                </a:solidFill>
                <a:effectLst/>
                <a:latin typeface="黑体" panose="02010609060101010101" pitchFamily="49" charset="-122"/>
                <a:ea typeface="黑体" panose="02010609060101010101" pitchFamily="49" charset="-122"/>
              </a:rPr>
              <a:t>系统</a:t>
            </a: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108492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algn="ctr" eaLnBrk="1" fontAlgn="auto" hangingPunct="1">
              <a:spcBef>
                <a:spcPts val="0"/>
              </a:spcBef>
              <a:spcAft>
                <a:spcPts val="0"/>
              </a:spcAft>
            </a:pPr>
            <a:r>
              <a:rPr lang="zh-CN" altLang="en-US" sz="3200" dirty="0"/>
              <a:t>与管道相关的系统调用</a:t>
            </a:r>
            <a:endParaRPr lang="en-US" altLang="zh-CN" sz="3200" dirty="0"/>
          </a:p>
        </p:txBody>
      </p:sp>
      <p:grpSp>
        <p:nvGrpSpPr>
          <p:cNvPr id="2" name="组合 1"/>
          <p:cNvGrpSpPr/>
          <p:nvPr/>
        </p:nvGrpSpPr>
        <p:grpSpPr>
          <a:xfrm>
            <a:off x="669634" y="1963750"/>
            <a:ext cx="4610537" cy="673163"/>
            <a:chOff x="669633" y="1106499"/>
            <a:chExt cx="4610537" cy="673163"/>
          </a:xfrm>
        </p:grpSpPr>
        <p:sp>
          <p:nvSpPr>
            <p:cNvPr id="58" name="内容占位符 2"/>
            <p:cNvSpPr txBox="1"/>
            <p:nvPr/>
          </p:nvSpPr>
          <p:spPr>
            <a:xfrm>
              <a:off x="960147" y="1131957"/>
              <a:ext cx="4320023" cy="3746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t>读管道：</a:t>
              </a:r>
              <a:r>
                <a:rPr lang="en-US" altLang="zh-CN" dirty="0"/>
                <a:t>read(</a:t>
              </a:r>
              <a:r>
                <a:rPr lang="en-US" altLang="zh-CN" dirty="0" err="1"/>
                <a:t>fd</a:t>
              </a:r>
              <a:r>
                <a:rPr lang="en-US" altLang="zh-CN" dirty="0"/>
                <a:t>, buffer, </a:t>
              </a:r>
              <a:r>
                <a:rPr lang="en-US" altLang="zh-CN" dirty="0" err="1"/>
                <a:t>nbytes</a:t>
              </a:r>
              <a:r>
                <a:rPr lang="en-US" altLang="zh-CN" dirty="0"/>
                <a:t>)</a:t>
              </a:r>
              <a:endParaRPr lang="zh-CN" altLang="en-US" dirty="0"/>
            </a:p>
          </p:txBody>
        </p:sp>
        <p:sp>
          <p:nvSpPr>
            <p:cNvPr id="60" name="内容占位符 2"/>
            <p:cNvSpPr txBox="1"/>
            <p:nvPr/>
          </p:nvSpPr>
          <p:spPr>
            <a:xfrm>
              <a:off x="1245899" y="1405010"/>
              <a:ext cx="2891263" cy="3746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en-US" altLang="zh-CN" dirty="0" err="1"/>
                <a:t>scanf</a:t>
              </a:r>
              <a:r>
                <a:rPr lang="en-US" altLang="zh-CN" dirty="0"/>
                <a:t>()</a:t>
              </a:r>
              <a:r>
                <a:rPr lang="zh-CN" altLang="en-US" dirty="0"/>
                <a:t>是基于它实现的</a:t>
              </a:r>
            </a:p>
          </p:txBody>
        </p:sp>
        <p:sp>
          <p:nvSpPr>
            <p:cNvPr id="17" name="TextBox 11"/>
            <p:cNvSpPr txBox="1"/>
            <p:nvPr/>
          </p:nvSpPr>
          <p:spPr>
            <a:xfrm>
              <a:off x="669633" y="1106499"/>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669633" y="2596842"/>
            <a:ext cx="6219190" cy="688340"/>
            <a:chOff x="669633" y="1739592"/>
            <a:chExt cx="6219190" cy="688340"/>
          </a:xfrm>
        </p:grpSpPr>
        <p:sp>
          <p:nvSpPr>
            <p:cNvPr id="63" name="内容占位符 2"/>
            <p:cNvSpPr txBox="1"/>
            <p:nvPr/>
          </p:nvSpPr>
          <p:spPr>
            <a:xfrm>
              <a:off x="961098" y="1764992"/>
              <a:ext cx="5927725" cy="37465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t>写管道：</a:t>
              </a:r>
              <a:r>
                <a:rPr lang="en-US" altLang="zh-CN" dirty="0"/>
                <a:t> write(</a:t>
              </a:r>
              <a:r>
                <a:rPr lang="en-US" altLang="zh-CN" dirty="0" err="1"/>
                <a:t>fd</a:t>
              </a:r>
              <a:r>
                <a:rPr lang="en-US" altLang="zh-CN" dirty="0"/>
                <a:t>, buffer, </a:t>
              </a:r>
              <a:r>
                <a:rPr lang="en-US" altLang="zh-CN" dirty="0" err="1"/>
                <a:t>nbytes</a:t>
              </a:r>
              <a:r>
                <a:rPr lang="en-US" altLang="zh-CN" dirty="0"/>
                <a:t>)</a:t>
              </a:r>
              <a:endParaRPr lang="zh-CN" altLang="en-US" dirty="0"/>
            </a:p>
          </p:txBody>
        </p:sp>
        <p:sp>
          <p:nvSpPr>
            <p:cNvPr id="65" name="内容占位符 2"/>
            <p:cNvSpPr txBox="1"/>
            <p:nvPr/>
          </p:nvSpPr>
          <p:spPr>
            <a:xfrm>
              <a:off x="1246848" y="2053282"/>
              <a:ext cx="4258945" cy="37465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en-US" altLang="zh-CN" dirty="0" err="1"/>
                <a:t>printf</a:t>
              </a:r>
              <a:r>
                <a:rPr lang="en-US" altLang="zh-CN" dirty="0"/>
                <a:t>()</a:t>
              </a:r>
              <a:r>
                <a:rPr lang="zh-CN" altLang="en-US" dirty="0"/>
                <a:t>是基于它实现的</a:t>
              </a:r>
            </a:p>
          </p:txBody>
        </p:sp>
        <p:sp>
          <p:nvSpPr>
            <p:cNvPr id="18" name="TextBox 11"/>
            <p:cNvSpPr txBox="1"/>
            <p:nvPr/>
          </p:nvSpPr>
          <p:spPr>
            <a:xfrm>
              <a:off x="669633" y="1739592"/>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669633" y="3229936"/>
            <a:ext cx="4708188" cy="1495209"/>
            <a:chOff x="669633" y="2372685"/>
            <a:chExt cx="4708188" cy="1495209"/>
          </a:xfrm>
        </p:grpSpPr>
        <p:sp>
          <p:nvSpPr>
            <p:cNvPr id="66" name="内容占位符 2"/>
            <p:cNvSpPr txBox="1"/>
            <p:nvPr/>
          </p:nvSpPr>
          <p:spPr>
            <a:xfrm>
              <a:off x="960147" y="2413122"/>
              <a:ext cx="2819825" cy="3746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t>创建管道：</a:t>
              </a:r>
              <a:r>
                <a:rPr lang="en-US" altLang="zh-CN" dirty="0"/>
                <a:t>pipe(</a:t>
              </a:r>
              <a:r>
                <a:rPr lang="en-US" altLang="zh-CN" dirty="0" err="1"/>
                <a:t>rgfd</a:t>
              </a:r>
              <a:r>
                <a:rPr lang="en-US" altLang="zh-CN" dirty="0"/>
                <a:t>)</a:t>
              </a:r>
              <a:endParaRPr lang="zh-CN" altLang="en-US" dirty="0"/>
            </a:p>
          </p:txBody>
        </p:sp>
        <p:sp>
          <p:nvSpPr>
            <p:cNvPr id="68" name="内容占位符 2"/>
            <p:cNvSpPr txBox="1"/>
            <p:nvPr/>
          </p:nvSpPr>
          <p:spPr>
            <a:xfrm>
              <a:off x="1259632" y="2775442"/>
              <a:ext cx="4118189" cy="3746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en-US" altLang="zh-CN" dirty="0" err="1"/>
                <a:t>rgfd</a:t>
              </a:r>
              <a:r>
                <a:rPr lang="zh-CN" altLang="en-US" dirty="0"/>
                <a:t>是</a:t>
              </a:r>
              <a:r>
                <a:rPr lang="en-US" altLang="zh-CN" dirty="0"/>
                <a:t>2</a:t>
              </a:r>
              <a:r>
                <a:rPr lang="zh-CN" altLang="en-US" dirty="0"/>
                <a:t>个文件描述符组成的数组</a:t>
              </a:r>
            </a:p>
          </p:txBody>
        </p:sp>
        <p:sp>
          <p:nvSpPr>
            <p:cNvPr id="69" name="内容占位符 2"/>
            <p:cNvSpPr txBox="1"/>
            <p:nvPr/>
          </p:nvSpPr>
          <p:spPr>
            <a:xfrm>
              <a:off x="1259632" y="3135482"/>
              <a:ext cx="2891263" cy="3746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en-US" altLang="zh-CN" dirty="0" err="1"/>
                <a:t>rgfd</a:t>
              </a:r>
              <a:r>
                <a:rPr lang="en-US" altLang="zh-CN" dirty="0"/>
                <a:t>[0]</a:t>
              </a:r>
              <a:r>
                <a:rPr lang="zh-CN" altLang="en-US" dirty="0"/>
                <a:t>是读文件描述符</a:t>
              </a:r>
            </a:p>
          </p:txBody>
        </p:sp>
        <p:sp>
          <p:nvSpPr>
            <p:cNvPr id="70" name="内容占位符 2"/>
            <p:cNvSpPr txBox="1"/>
            <p:nvPr/>
          </p:nvSpPr>
          <p:spPr>
            <a:xfrm>
              <a:off x="1259632" y="3493242"/>
              <a:ext cx="3110077" cy="3746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en-US" altLang="zh-CN" dirty="0" err="1"/>
                <a:t>rgfd</a:t>
              </a:r>
              <a:r>
                <a:rPr lang="en-US" altLang="zh-CN" dirty="0"/>
                <a:t>[1]</a:t>
              </a:r>
              <a:r>
                <a:rPr lang="zh-CN" altLang="en-US" dirty="0"/>
                <a:t>是写文件描述符</a:t>
              </a:r>
            </a:p>
          </p:txBody>
        </p:sp>
        <p:sp>
          <p:nvSpPr>
            <p:cNvPr id="19" name="TextBox 11"/>
            <p:cNvSpPr txBox="1"/>
            <p:nvPr/>
          </p:nvSpPr>
          <p:spPr>
            <a:xfrm>
              <a:off x="669633" y="2372685"/>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65BA7-84E9-6A8B-8087-B433AFB1DF96}"/>
            </a:ext>
          </a:extLst>
        </p:cNvPr>
        <p:cNvGrpSpPr/>
        <p:nvPr/>
      </p:nvGrpSpPr>
      <p:grpSpPr>
        <a:xfrm>
          <a:off x="0" y="0"/>
          <a:ext cx="0" cy="0"/>
          <a:chOff x="0" y="0"/>
          <a:chExt cx="0" cy="0"/>
        </a:xfrm>
      </p:grpSpPr>
      <p:sp>
        <p:nvSpPr>
          <p:cNvPr id="103426" name="Rectangle 2">
            <a:extLst>
              <a:ext uri="{FF2B5EF4-FFF2-40B4-BE49-F238E27FC236}">
                <a16:creationId xmlns:a16="http://schemas.microsoft.com/office/drawing/2014/main" id="{EA4296B3-61D7-DAAB-1F57-D5F1D7F0CF43}"/>
              </a:ext>
            </a:extLst>
          </p:cNvPr>
          <p:cNvSpPr>
            <a:spLocks noGrp="1" noChangeArrowheads="1"/>
          </p:cNvSpPr>
          <p:nvPr>
            <p:ph type="title"/>
          </p:nvPr>
        </p:nvSpPr>
        <p:spPr>
          <a:xfrm>
            <a:off x="0" y="620713"/>
            <a:ext cx="8229600" cy="922337"/>
          </a:xfrm>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3.5  </a:t>
            </a:r>
            <a:r>
              <a:rPr lang="zh-CN" altLang="en-US" b="1">
                <a:solidFill>
                  <a:schemeClr val="tx1"/>
                </a:solidFill>
                <a:effectLst/>
                <a:latin typeface="Times New Roman" panose="02020603050405020304" pitchFamily="18" charset="0"/>
              </a:rPr>
              <a:t>进程通信</a:t>
            </a:r>
            <a:r>
              <a:rPr lang="zh-CN" altLang="en-US" b="1">
                <a:solidFill>
                  <a:schemeClr val="tx1"/>
                </a:solidFill>
                <a:effectLst/>
              </a:rPr>
              <a:t> </a:t>
            </a:r>
          </a:p>
        </p:txBody>
      </p:sp>
      <p:sp>
        <p:nvSpPr>
          <p:cNvPr id="103427" name="Rectangle 3">
            <a:extLst>
              <a:ext uri="{FF2B5EF4-FFF2-40B4-BE49-F238E27FC236}">
                <a16:creationId xmlns:a16="http://schemas.microsoft.com/office/drawing/2014/main" id="{2C386C8D-5AB8-5A86-DE89-049A81410862}"/>
              </a:ext>
            </a:extLst>
          </p:cNvPr>
          <p:cNvSpPr>
            <a:spLocks noGrp="1" noChangeArrowheads="1"/>
          </p:cNvSpPr>
          <p:nvPr>
            <p:ph type="body" idx="1"/>
          </p:nvPr>
        </p:nvSpPr>
        <p:spPr>
          <a:xfrm>
            <a:off x="344488" y="1412776"/>
            <a:ext cx="7885112" cy="4530725"/>
          </a:xfrm>
        </p:spPr>
        <p:txBody>
          <a:bodyPr/>
          <a:lstStyle/>
          <a:p>
            <a:pPr algn="just" eaLnBrk="1" hangingPunct="1">
              <a:buFont typeface="Wingdings" panose="05000000000000000000" pitchFamily="2" charset="2"/>
              <a:buNone/>
            </a:pPr>
            <a:endParaRPr lang="en-US" altLang="zh-CN" sz="3600" b="1" dirty="0">
              <a:solidFill>
                <a:srgbClr val="FFFF00"/>
              </a:solidFill>
              <a:effectLst/>
              <a:latin typeface="楷体_GB2312" pitchFamily="49" charset="-122"/>
              <a:ea typeface="楷体_GB2312" pitchFamily="49" charset="-122"/>
            </a:endParaRPr>
          </a:p>
          <a:p>
            <a:pPr algn="just" eaLnBrk="1" hangingPunct="1"/>
            <a:r>
              <a:rPr lang="en-US" altLang="zh-CN" sz="3600" b="1" dirty="0">
                <a:solidFill>
                  <a:srgbClr val="FFFF00"/>
                </a:solidFill>
                <a:effectLst/>
                <a:latin typeface="楷体_GB2312" pitchFamily="49" charset="-122"/>
                <a:ea typeface="楷体_GB2312" pitchFamily="49" charset="-122"/>
              </a:rPr>
              <a:t>3.5.1 </a:t>
            </a:r>
            <a:r>
              <a:rPr lang="zh-CN" altLang="en-US" sz="3600" b="1" dirty="0">
                <a:solidFill>
                  <a:srgbClr val="FFFF00"/>
                </a:solidFill>
                <a:effectLst/>
                <a:latin typeface="楷体_GB2312" pitchFamily="49" charset="-122"/>
                <a:ea typeface="楷体_GB2312" pitchFamily="49" charset="-122"/>
              </a:rPr>
              <a:t>进程通信的方式</a:t>
            </a:r>
          </a:p>
          <a:p>
            <a:pPr algn="just" eaLnBrk="1" hangingPunct="1"/>
            <a:r>
              <a:rPr lang="en-US" altLang="zh-CN" sz="3600" b="1" dirty="0">
                <a:solidFill>
                  <a:srgbClr val="FFFF00"/>
                </a:solidFill>
                <a:effectLst/>
                <a:latin typeface="楷体_GB2312" pitchFamily="49" charset="-122"/>
                <a:ea typeface="楷体_GB2312" pitchFamily="49" charset="-122"/>
              </a:rPr>
              <a:t>3.5.2 </a:t>
            </a:r>
            <a:r>
              <a:rPr lang="zh-CN" altLang="en-US" sz="3600" b="1" dirty="0">
                <a:solidFill>
                  <a:srgbClr val="FFFF00"/>
                </a:solidFill>
                <a:effectLst/>
                <a:latin typeface="楷体_GB2312" pitchFamily="49" charset="-122"/>
                <a:ea typeface="楷体_GB2312" pitchFamily="49" charset="-122"/>
              </a:rPr>
              <a:t>消息缓冲机制</a:t>
            </a:r>
          </a:p>
          <a:p>
            <a:pPr algn="just" eaLnBrk="1" hangingPunct="1"/>
            <a:r>
              <a:rPr lang="en-US" altLang="zh-CN" sz="3600" b="1" dirty="0">
                <a:solidFill>
                  <a:srgbClr val="FFFF00"/>
                </a:solidFill>
                <a:effectLst/>
                <a:latin typeface="楷体_GB2312" pitchFamily="49" charset="-122"/>
                <a:ea typeface="楷体_GB2312" pitchFamily="49" charset="-122"/>
              </a:rPr>
              <a:t>3.5.3 </a:t>
            </a:r>
            <a:r>
              <a:rPr lang="zh-CN" altLang="en-US" sz="3600" b="1" dirty="0">
                <a:solidFill>
                  <a:srgbClr val="FFFF00"/>
                </a:solidFill>
                <a:effectLst/>
                <a:latin typeface="楷体_GB2312" pitchFamily="49" charset="-122"/>
                <a:ea typeface="楷体_GB2312" pitchFamily="49" charset="-122"/>
              </a:rPr>
              <a:t>邮箱通信</a:t>
            </a:r>
          </a:p>
        </p:txBody>
      </p:sp>
      <p:sp>
        <p:nvSpPr>
          <p:cNvPr id="2" name="Rectangle 2">
            <a:extLst>
              <a:ext uri="{FF2B5EF4-FFF2-40B4-BE49-F238E27FC236}">
                <a16:creationId xmlns:a16="http://schemas.microsoft.com/office/drawing/2014/main" id="{F60C8C81-A2A5-7D06-8B11-CBEAD32A12F6}"/>
              </a:ext>
            </a:extLst>
          </p:cNvPr>
          <p:cNvSpPr txBox="1">
            <a:spLocks noChangeArrowheads="1"/>
          </p:cNvSpPr>
          <p:nvPr/>
        </p:nvSpPr>
        <p:spPr bwMode="auto">
          <a:xfrm>
            <a:off x="5508104" y="1943486"/>
            <a:ext cx="4752379" cy="2663676"/>
          </a:xfrm>
          <a:prstGeom prst="rect">
            <a:avLst/>
          </a:prstGeom>
          <a:no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l"/>
              <a:defRPr sz="3200" kern="1200">
                <a:solidFill>
                  <a:schemeClr val="tx1"/>
                </a:solidFill>
                <a:effectLst>
                  <a:outerShdw blurRad="38100" dist="38100" dir="2700000" algn="tl">
                    <a:srgbClr val="010199"/>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l"/>
              <a:defRPr sz="2800" kern="1200">
                <a:solidFill>
                  <a:schemeClr val="tx1"/>
                </a:solidFill>
                <a:effectLst>
                  <a:outerShdw blurRad="38100" dist="38100" dir="2700000" algn="tl">
                    <a:srgbClr val="010199"/>
                  </a:outerShdw>
                </a:effectLst>
                <a:latin typeface="+mn-lt"/>
                <a:ea typeface="+mn-ea"/>
                <a:cs typeface="+mn-cs"/>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sz="2400" kern="1200">
                <a:solidFill>
                  <a:schemeClr val="tx1"/>
                </a:solidFill>
                <a:effectLst>
                  <a:outerShdw blurRad="38100" dist="38100" dir="2700000" algn="tl">
                    <a:srgbClr val="010199"/>
                  </a:outerShdw>
                </a:effectLst>
                <a:latin typeface="+mn-lt"/>
                <a:ea typeface="+mn-ea"/>
                <a:cs typeface="+mn-cs"/>
              </a:defRPr>
            </a:lvl3pPr>
            <a:lvl4pPr marL="1600200" indent="-228600" algn="l" rtl="0" eaLnBrk="0" fontAlgn="base" hangingPunct="0">
              <a:spcBef>
                <a:spcPct val="20000"/>
              </a:spcBef>
              <a:spcAft>
                <a:spcPct val="0"/>
              </a:spcAft>
              <a:buClr>
                <a:schemeClr val="folHlink"/>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4pPr>
            <a:lvl5pPr marL="2057400" indent="-228600" algn="l" rtl="0" eaLnBrk="0" fontAlgn="base" hangingPunct="0">
              <a:spcBef>
                <a:spcPct val="20000"/>
              </a:spcBef>
              <a:spcAft>
                <a:spcPct val="0"/>
              </a:spcAft>
              <a:buClr>
                <a:schemeClr val="tx1"/>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共享存储器机制</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消息传递机制</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管道通信机制</a:t>
            </a:r>
          </a:p>
        </p:txBody>
      </p:sp>
    </p:spTree>
    <p:extLst>
      <p:ext uri="{BB962C8B-B14F-4D97-AF65-F5344CB8AC3E}">
        <p14:creationId xmlns:p14="http://schemas.microsoft.com/office/powerpoint/2010/main" val="2112760809"/>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DEE3038B-8A95-4931-AD13-199DACD68DD7}"/>
              </a:ext>
            </a:extLst>
          </p:cNvPr>
          <p:cNvSpPr>
            <a:spLocks noGrp="1" noChangeArrowheads="1"/>
          </p:cNvSpPr>
          <p:nvPr>
            <p:ph type="body" idx="1"/>
          </p:nvPr>
        </p:nvSpPr>
        <p:spPr>
          <a:xfrm>
            <a:off x="421975" y="1340768"/>
            <a:ext cx="8249834" cy="5040560"/>
          </a:xfrm>
        </p:spPr>
        <p:txBody>
          <a:bodyPr/>
          <a:lstStyle/>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消息传递的直接通信方式</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为了实现消息缓冲通信，在发送进程的工作区要开辟一个发送区，有三个数据项：接收进程标识号</a:t>
            </a:r>
            <a:r>
              <a:rPr lang="en-US" altLang="zh-CN" sz="2800" b="1" dirty="0">
                <a:solidFill>
                  <a:srgbClr val="FFFF00"/>
                </a:solidFill>
                <a:effectLst/>
                <a:latin typeface="黑体" panose="02010609060101010101" pitchFamily="49" charset="-122"/>
                <a:ea typeface="黑体" panose="02010609060101010101" pitchFamily="49" charset="-122"/>
              </a:rPr>
              <a:t>(id)</a:t>
            </a:r>
            <a:r>
              <a:rPr lang="zh-CN" altLang="en-US" sz="2800" b="1" dirty="0">
                <a:solidFill>
                  <a:srgbClr val="FFFF00"/>
                </a:solidFill>
                <a:effectLst/>
                <a:latin typeface="黑体" panose="02010609060101010101" pitchFamily="49" charset="-122"/>
                <a:ea typeface="黑体" panose="02010609060101010101" pitchFamily="49" charset="-122"/>
              </a:rPr>
              <a:t>、消息大小</a:t>
            </a:r>
            <a:r>
              <a:rPr lang="en-US" altLang="zh-CN" sz="2800" b="1" dirty="0">
                <a:solidFill>
                  <a:srgbClr val="FFFF00"/>
                </a:solidFill>
                <a:effectLst/>
                <a:latin typeface="黑体" panose="02010609060101010101" pitchFamily="49" charset="-122"/>
                <a:ea typeface="黑体" panose="02010609060101010101" pitchFamily="49" charset="-122"/>
              </a:rPr>
              <a:t>(size)</a:t>
            </a:r>
            <a:r>
              <a:rPr lang="zh-CN" altLang="en-US" sz="2800" b="1" dirty="0">
                <a:solidFill>
                  <a:srgbClr val="FFFF00"/>
                </a:solidFill>
                <a:effectLst/>
                <a:latin typeface="黑体" panose="02010609060101010101" pitchFamily="49" charset="-122"/>
                <a:ea typeface="黑体" panose="02010609060101010101" pitchFamily="49" charset="-122"/>
              </a:rPr>
              <a:t>和消息正文</a:t>
            </a:r>
            <a:r>
              <a:rPr lang="en-US" altLang="zh-CN" sz="2800" b="1" dirty="0">
                <a:solidFill>
                  <a:srgbClr val="FFFF00"/>
                </a:solidFill>
                <a:effectLst/>
                <a:latin typeface="黑体" panose="02010609060101010101" pitchFamily="49" charset="-122"/>
                <a:ea typeface="黑体" panose="02010609060101010101" pitchFamily="49" charset="-122"/>
              </a:rPr>
              <a:t>(text)</a:t>
            </a:r>
            <a:r>
              <a:rPr lang="zh-CN" altLang="en-US" sz="2800" b="1" dirty="0">
                <a:solidFill>
                  <a:srgbClr val="FFFF00"/>
                </a:solidFill>
                <a:effectLst/>
                <a:latin typeface="黑体" panose="02010609060101010101" pitchFamily="49" charset="-122"/>
                <a:ea typeface="黑体" panose="02010609060101010101" pitchFamily="49" charset="-122"/>
              </a:rPr>
              <a:t>。</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在接收进程</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例如进程</a:t>
            </a:r>
            <a:r>
              <a:rPr lang="en-US" altLang="zh-CN" sz="2800" b="1" dirty="0">
                <a:solidFill>
                  <a:srgbClr val="FFFF00"/>
                </a:solidFill>
                <a:effectLst/>
                <a:latin typeface="黑体" panose="02010609060101010101" pitchFamily="49" charset="-122"/>
                <a:ea typeface="黑体" panose="02010609060101010101" pitchFamily="49" charset="-122"/>
              </a:rPr>
              <a:t>B)</a:t>
            </a:r>
            <a:r>
              <a:rPr lang="zh-CN" altLang="en-US" sz="2800" b="1" dirty="0">
                <a:solidFill>
                  <a:srgbClr val="FFFF00"/>
                </a:solidFill>
                <a:effectLst/>
                <a:latin typeface="黑体" panose="02010609060101010101" pitchFamily="49" charset="-122"/>
                <a:ea typeface="黑体" panose="02010609060101010101" pitchFamily="49" charset="-122"/>
              </a:rPr>
              <a:t>的工作区间也要开辟一个接收区</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为支持这种通信</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操作系统应在系统内存空间提供消息缓冲区队列</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用来存放消息。</a:t>
            </a:r>
          </a:p>
        </p:txBody>
      </p:sp>
      <p:sp>
        <p:nvSpPr>
          <p:cNvPr id="464899" name="Rectangle 3">
            <a:extLst>
              <a:ext uri="{FF2B5EF4-FFF2-40B4-BE49-F238E27FC236}">
                <a16:creationId xmlns:a16="http://schemas.microsoft.com/office/drawing/2014/main" id="{6C1EB1A8-374D-4DAD-AB78-B9BF3BE76044}"/>
              </a:ext>
            </a:extLst>
          </p:cNvPr>
          <p:cNvSpPr>
            <a:spLocks noGrp="1" noChangeArrowheads="1"/>
          </p:cNvSpPr>
          <p:nvPr>
            <p:ph type="title"/>
          </p:nvPr>
        </p:nvSpPr>
        <p:spPr>
          <a:xfrm>
            <a:off x="179512" y="44624"/>
            <a:ext cx="8480425" cy="947737"/>
          </a:xfrm>
        </p:spPr>
        <p:txBody>
          <a:bodyPr anchor="b" anchorCtr="0"/>
          <a:lstStyle/>
          <a:p>
            <a:pPr eaLnBrk="1" hangingPunct="1">
              <a:defRPr/>
            </a:pPr>
            <a:r>
              <a:rPr lang="en-US" altLang="zh-CN" dirty="0">
                <a:solidFill>
                  <a:schemeClr val="tx1"/>
                </a:solidFill>
                <a:effectLst>
                  <a:outerShdw blurRad="38100" dist="38100" dir="2700000" algn="tl">
                    <a:srgbClr val="010199"/>
                  </a:outerShdw>
                </a:effectLst>
                <a:latin typeface="楷体_GB2312" pitchFamily="49" charset="-122"/>
                <a:ea typeface="楷体_GB2312" pitchFamily="49" charset="-122"/>
              </a:rPr>
              <a:t>3.5.2 </a:t>
            </a:r>
            <a:r>
              <a:rPr lang="zh-CN" altLang="en-US" dirty="0">
                <a:solidFill>
                  <a:schemeClr val="tx1"/>
                </a:solidFill>
                <a:effectLst>
                  <a:outerShdw blurRad="38100" dist="38100" dir="2700000" algn="tl">
                    <a:srgbClr val="010199"/>
                  </a:outerShdw>
                </a:effectLst>
                <a:latin typeface="楷体_GB2312" pitchFamily="49" charset="-122"/>
                <a:ea typeface="楷体_GB2312" pitchFamily="49" charset="-122"/>
              </a:rPr>
              <a:t>消息缓冲机制</a:t>
            </a: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9A3C1B30-399E-406C-9BA9-2EECB7FE9BE7}"/>
              </a:ext>
            </a:extLst>
          </p:cNvPr>
          <p:cNvSpPr>
            <a:spLocks noGrp="1" noChangeArrowheads="1"/>
          </p:cNvSpPr>
          <p:nvPr>
            <p:ph type="body" idx="1"/>
          </p:nvPr>
        </p:nvSpPr>
        <p:spPr>
          <a:xfrm>
            <a:off x="251520" y="332656"/>
            <a:ext cx="8388449" cy="2808312"/>
          </a:xfrm>
        </p:spPr>
        <p:txBody>
          <a:bodyPr/>
          <a:lstStyle/>
          <a:p>
            <a:pPr eaLnBrk="1" hangingPunct="1"/>
            <a:r>
              <a:rPr lang="zh-CN" altLang="en-US" sz="2400" b="1" dirty="0">
                <a:solidFill>
                  <a:srgbClr val="FFFF00"/>
                </a:solidFill>
                <a:effectLst/>
                <a:latin typeface="黑体" panose="02010609060101010101" pitchFamily="49" charset="-122"/>
                <a:ea typeface="黑体" panose="02010609060101010101" pitchFamily="49" charset="-122"/>
              </a:rPr>
              <a:t>每当一进程向另一进程发送消息时</a:t>
            </a:r>
            <a:r>
              <a:rPr lang="en-US" altLang="zh-CN" sz="2400" b="1" dirty="0">
                <a:solidFill>
                  <a:srgbClr val="FF0000"/>
                </a:solidFill>
                <a:effectLst/>
                <a:latin typeface="黑体" panose="02010609060101010101" pitchFamily="49" charset="-122"/>
                <a:ea typeface="黑体" panose="02010609060101010101" pitchFamily="49" charset="-122"/>
              </a:rPr>
              <a:t>send</a:t>
            </a:r>
            <a:r>
              <a:rPr lang="en-US" altLang="zh-CN" sz="2400" b="1" dirty="0">
                <a:solidFill>
                  <a:srgbClr val="FFFF00"/>
                </a:solidFill>
                <a:effectLst/>
                <a:latin typeface="黑体" panose="02010609060101010101" pitchFamily="49" charset="-122"/>
                <a:ea typeface="黑体" panose="02010609060101010101" pitchFamily="49" charset="-122"/>
              </a:rPr>
              <a:t>,</a:t>
            </a:r>
            <a:r>
              <a:rPr lang="zh-CN" altLang="en-US" sz="2400" b="1" dirty="0">
                <a:solidFill>
                  <a:srgbClr val="FFFF00"/>
                </a:solidFill>
                <a:effectLst/>
                <a:latin typeface="黑体" panose="02010609060101010101" pitchFamily="49" charset="-122"/>
                <a:ea typeface="黑体" panose="02010609060101010101" pitchFamily="49" charset="-122"/>
              </a:rPr>
              <a:t>便向系统申请一个消息缓冲区</a:t>
            </a:r>
            <a:r>
              <a:rPr lang="en-US" altLang="zh-CN" sz="2400" b="1" dirty="0">
                <a:solidFill>
                  <a:srgbClr val="FFFF00"/>
                </a:solidFill>
                <a:effectLst/>
                <a:latin typeface="黑体" panose="02010609060101010101" pitchFamily="49" charset="-122"/>
                <a:ea typeface="黑体" panose="02010609060101010101" pitchFamily="49" charset="-122"/>
              </a:rPr>
              <a:t>,</a:t>
            </a:r>
            <a:r>
              <a:rPr lang="zh-CN" altLang="en-US" sz="2400" b="1" dirty="0">
                <a:solidFill>
                  <a:srgbClr val="FFFF00"/>
                </a:solidFill>
                <a:effectLst/>
                <a:latin typeface="黑体" panose="02010609060101010101" pitchFamily="49" charset="-122"/>
                <a:ea typeface="黑体" panose="02010609060101010101" pitchFamily="49" charset="-122"/>
              </a:rPr>
              <a:t>并把已准备好的消息从发送区复制到该缓冲区</a:t>
            </a:r>
            <a:r>
              <a:rPr lang="en-US" altLang="zh-CN" sz="2400" b="1" dirty="0">
                <a:solidFill>
                  <a:srgbClr val="FFFF00"/>
                </a:solidFill>
                <a:effectLst/>
                <a:latin typeface="黑体" panose="02010609060101010101" pitchFamily="49" charset="-122"/>
                <a:ea typeface="黑体" panose="02010609060101010101" pitchFamily="49" charset="-122"/>
              </a:rPr>
              <a:t>,</a:t>
            </a:r>
            <a:r>
              <a:rPr lang="zh-CN" altLang="en-US" sz="2400" b="1" dirty="0">
                <a:solidFill>
                  <a:srgbClr val="FFFF00"/>
                </a:solidFill>
                <a:effectLst/>
                <a:latin typeface="黑体" panose="02010609060101010101" pitchFamily="49" charset="-122"/>
                <a:ea typeface="黑体" panose="02010609060101010101" pitchFamily="49" charset="-122"/>
              </a:rPr>
              <a:t>然后把它插入接收进程的消息链。</a:t>
            </a:r>
            <a:endParaRPr lang="en-US" altLang="zh-CN" sz="24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400" b="1" dirty="0">
                <a:solidFill>
                  <a:srgbClr val="FFFF00"/>
                </a:solidFill>
                <a:effectLst/>
                <a:latin typeface="黑体" panose="02010609060101010101" pitchFamily="49" charset="-122"/>
                <a:ea typeface="黑体" panose="02010609060101010101" pitchFamily="49" charset="-122"/>
              </a:rPr>
              <a:t>在以后某个时刻，当接收进程执行到</a:t>
            </a:r>
            <a:r>
              <a:rPr lang="en-US" altLang="zh-CN" sz="2400" b="1" dirty="0">
                <a:solidFill>
                  <a:srgbClr val="FF0000"/>
                </a:solidFill>
                <a:effectLst/>
                <a:latin typeface="黑体" panose="02010609060101010101" pitchFamily="49" charset="-122"/>
                <a:ea typeface="黑体" panose="02010609060101010101" pitchFamily="49" charset="-122"/>
              </a:rPr>
              <a:t>receive</a:t>
            </a:r>
            <a:r>
              <a:rPr lang="zh-CN" altLang="en-US" sz="2400" b="1" dirty="0">
                <a:solidFill>
                  <a:srgbClr val="FFFF00"/>
                </a:solidFill>
                <a:effectLst/>
                <a:latin typeface="黑体" panose="02010609060101010101" pitchFamily="49" charset="-122"/>
                <a:ea typeface="黑体" panose="02010609060101010101" pitchFamily="49" charset="-122"/>
              </a:rPr>
              <a:t>时，由操作系统将载有消息的缓冲区从消息链中取出，并把消息内容</a:t>
            </a:r>
            <a:r>
              <a:rPr lang="en-US" altLang="zh-CN" sz="2400" b="1" dirty="0">
                <a:solidFill>
                  <a:srgbClr val="FFFF00"/>
                </a:solidFill>
                <a:effectLst/>
                <a:latin typeface="黑体" panose="02010609060101010101" pitchFamily="49" charset="-122"/>
                <a:ea typeface="黑体" panose="02010609060101010101" pitchFamily="49" charset="-122"/>
              </a:rPr>
              <a:t>copy</a:t>
            </a:r>
            <a:r>
              <a:rPr lang="zh-CN" altLang="en-US" sz="2400" b="1" dirty="0">
                <a:solidFill>
                  <a:srgbClr val="FFFF00"/>
                </a:solidFill>
                <a:effectLst/>
                <a:latin typeface="黑体" panose="02010609060101010101" pitchFamily="49" charset="-122"/>
                <a:ea typeface="黑体" panose="02010609060101010101" pitchFamily="49" charset="-122"/>
              </a:rPr>
              <a:t>到接收进程空间，之后释放缓冲区，完成消息的接收</a:t>
            </a:r>
          </a:p>
        </p:txBody>
      </p:sp>
      <p:pic>
        <p:nvPicPr>
          <p:cNvPr id="5" name="图片 4">
            <a:extLst>
              <a:ext uri="{FF2B5EF4-FFF2-40B4-BE49-F238E27FC236}">
                <a16:creationId xmlns:a16="http://schemas.microsoft.com/office/drawing/2014/main" id="{8A2CDA43-49BE-0AD5-36E5-F03894DAECF0}"/>
              </a:ext>
            </a:extLst>
          </p:cNvPr>
          <p:cNvPicPr>
            <a:picLocks noChangeAspect="1"/>
          </p:cNvPicPr>
          <p:nvPr/>
        </p:nvPicPr>
        <p:blipFill>
          <a:blip r:embed="rId2"/>
          <a:stretch>
            <a:fillRect/>
          </a:stretch>
        </p:blipFill>
        <p:spPr>
          <a:xfrm>
            <a:off x="971600" y="2780928"/>
            <a:ext cx="7431226" cy="4077072"/>
          </a:xfrm>
          <a:prstGeom prst="rect">
            <a:avLst/>
          </a:prstGeom>
        </p:spPr>
      </p:pic>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065D2674-3DB4-47B1-AE89-85DDE27AEAA4}"/>
              </a:ext>
            </a:extLst>
          </p:cNvPr>
          <p:cNvSpPr>
            <a:spLocks noGrp="1" noChangeArrowheads="1"/>
          </p:cNvSpPr>
          <p:nvPr>
            <p:ph type="body" idx="1"/>
          </p:nvPr>
        </p:nvSpPr>
        <p:spPr>
          <a:xfrm>
            <a:off x="611188" y="1052735"/>
            <a:ext cx="8281292" cy="5255989"/>
          </a:xfrm>
        </p:spPr>
        <p:txBody>
          <a:bodyPr/>
          <a:lstStyle/>
          <a:p>
            <a:pPr eaLnBrk="1" hangingPunct="1">
              <a:lnSpc>
                <a:spcPct val="90000"/>
              </a:lnSpc>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由于缓冲区为公用的缓冲区，必须满足：</a:t>
            </a:r>
          </a:p>
          <a:p>
            <a:pPr eaLnBrk="1" hangingPunct="1">
              <a:lnSpc>
                <a:spcPct val="90000"/>
              </a:lnSpc>
            </a:pPr>
            <a:r>
              <a:rPr lang="zh-CN" altLang="en-US" b="1" dirty="0">
                <a:solidFill>
                  <a:srgbClr val="FFFF00"/>
                </a:solidFill>
                <a:effectLst/>
                <a:latin typeface="黑体" panose="02010609060101010101" pitchFamily="49" charset="-122"/>
                <a:ea typeface="黑体" panose="02010609060101010101" pitchFamily="49" charset="-122"/>
              </a:rPr>
              <a:t>在发送进程把消息写入缓冲区和把缓冲区挂入接收进程的消息队列时，应禁止其他进程对该缓冲区消息队列的访问；当接收进程正从消息队列中取缓冲消息时，也禁止其它进程对其访问</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536BDE22-1DD6-4B9D-BE90-8E2422D410D4}"/>
              </a:ext>
            </a:extLst>
          </p:cNvPr>
          <p:cNvSpPr>
            <a:spLocks noGrp="1" noChangeArrowheads="1"/>
          </p:cNvSpPr>
          <p:nvPr>
            <p:ph type="body" idx="1"/>
          </p:nvPr>
        </p:nvSpPr>
        <p:spPr>
          <a:xfrm>
            <a:off x="755650" y="1557338"/>
            <a:ext cx="8064500" cy="5040312"/>
          </a:xfrm>
        </p:spPr>
        <p:txBody>
          <a:bodyPr/>
          <a:lstStyle/>
          <a:p>
            <a:pPr eaLnBrk="1" hangingPunct="1"/>
            <a:r>
              <a:rPr lang="zh-CN" altLang="en-US" b="1" dirty="0">
                <a:solidFill>
                  <a:srgbClr val="FFFF00"/>
                </a:solidFill>
                <a:effectLst/>
                <a:latin typeface="黑体" panose="02010609060101010101" pitchFamily="49" charset="-122"/>
                <a:ea typeface="黑体" panose="02010609060101010101" pitchFamily="49" charset="-122"/>
              </a:rPr>
              <a:t>消息传递的间接通信方式</a:t>
            </a:r>
          </a:p>
          <a:p>
            <a:pPr eaLnBrk="1" hangingPunct="1"/>
            <a:r>
              <a:rPr lang="zh-CN" altLang="en-US" b="1" dirty="0">
                <a:solidFill>
                  <a:srgbClr val="FFFF00"/>
                </a:solidFill>
                <a:effectLst/>
                <a:latin typeface="黑体" panose="02010609060101010101" pitchFamily="49" charset="-122"/>
                <a:ea typeface="黑体" panose="02010609060101010101" pitchFamily="49" charset="-122"/>
              </a:rPr>
              <a:t>信箱是用来存放信件的，而信件是一个进程发给另一个进程的一组消息。实际上信箱是一种数据结构</a:t>
            </a:r>
            <a:endParaRPr lang="en-US" altLang="zh-CN"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b="1" dirty="0">
                <a:solidFill>
                  <a:srgbClr val="FFFF00"/>
                </a:solidFill>
                <a:effectLst/>
                <a:latin typeface="黑体" panose="02010609060101010101" pitchFamily="49" charset="-122"/>
                <a:ea typeface="黑体" panose="02010609060101010101" pitchFamily="49" charset="-122"/>
              </a:rPr>
              <a:t>当一个进程</a:t>
            </a:r>
            <a:r>
              <a:rPr lang="en-US" altLang="zh-CN" b="1" dirty="0">
                <a:solidFill>
                  <a:srgbClr val="FFFF00"/>
                </a:solidFill>
                <a:effectLst/>
                <a:latin typeface="黑体" panose="02010609060101010101" pitchFamily="49" charset="-122"/>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发送进程</a:t>
            </a:r>
            <a:r>
              <a:rPr lang="en-US" altLang="zh-CN" b="1" dirty="0">
                <a:solidFill>
                  <a:srgbClr val="FFFF00"/>
                </a:solidFill>
                <a:effectLst/>
                <a:latin typeface="黑体" panose="02010609060101010101" pitchFamily="49" charset="-122"/>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要与另一个进程</a:t>
            </a:r>
            <a:r>
              <a:rPr lang="en-US" altLang="zh-CN" b="1" dirty="0">
                <a:solidFill>
                  <a:srgbClr val="FFFF00"/>
                </a:solidFill>
                <a:effectLst/>
                <a:latin typeface="黑体" panose="02010609060101010101" pitchFamily="49" charset="-122"/>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接收进程</a:t>
            </a:r>
            <a:r>
              <a:rPr lang="en-US" altLang="zh-CN" b="1" dirty="0">
                <a:solidFill>
                  <a:srgbClr val="FFFF00"/>
                </a:solidFill>
                <a:effectLst/>
                <a:latin typeface="黑体" panose="02010609060101010101" pitchFamily="49" charset="-122"/>
                <a:ea typeface="黑体" panose="02010609060101010101" pitchFamily="49" charset="-122"/>
              </a:rPr>
              <a:t>)</a:t>
            </a:r>
            <a:r>
              <a:rPr lang="zh-CN" altLang="en-US" b="1" dirty="0">
                <a:solidFill>
                  <a:srgbClr val="FFFF00"/>
                </a:solidFill>
                <a:effectLst/>
                <a:latin typeface="黑体" panose="02010609060101010101" pitchFamily="49" charset="-122"/>
                <a:ea typeface="黑体" panose="02010609060101010101" pitchFamily="49" charset="-122"/>
              </a:rPr>
              <a:t>通信时，发送进程只需要把它的信件投入信箱，接收进程就可以在任何时候取走信件而不会丢失。</a:t>
            </a:r>
          </a:p>
        </p:txBody>
      </p:sp>
      <p:sp>
        <p:nvSpPr>
          <p:cNvPr id="125955" name="Rectangle 3">
            <a:extLst>
              <a:ext uri="{FF2B5EF4-FFF2-40B4-BE49-F238E27FC236}">
                <a16:creationId xmlns:a16="http://schemas.microsoft.com/office/drawing/2014/main" id="{A0EB7DEF-58E9-4792-941E-FBFAEFBB860A}"/>
              </a:ext>
            </a:extLst>
          </p:cNvPr>
          <p:cNvSpPr>
            <a:spLocks noGrp="1" noChangeArrowheads="1"/>
          </p:cNvSpPr>
          <p:nvPr>
            <p:ph type="title"/>
          </p:nvPr>
        </p:nvSpPr>
        <p:spPr>
          <a:xfrm>
            <a:off x="250825" y="476250"/>
            <a:ext cx="8480425" cy="803275"/>
          </a:xfrm>
          <a:noFill/>
          <a:extLst>
            <a:ext uri="{909E8E84-426E-40DD-AFC4-6F175D3DCCD1}">
              <a14:hiddenFill xmlns:a14="http://schemas.microsoft.com/office/drawing/2010/main">
                <a:solidFill>
                  <a:schemeClr val="accent1"/>
                </a:solidFill>
              </a14:hiddenFill>
            </a:ext>
          </a:extLst>
        </p:spPr>
        <p:txBody>
          <a:bodyPr anchor="b" anchorCtr="0"/>
          <a:lstStyle/>
          <a:p>
            <a:pPr eaLnBrk="1" hangingPunct="1"/>
            <a:r>
              <a:rPr lang="en-US" altLang="zh-CN" sz="4800" b="1">
                <a:solidFill>
                  <a:schemeClr val="tx1"/>
                </a:solidFill>
                <a:effectLst/>
                <a:latin typeface="楷体_GB2312" pitchFamily="49" charset="-122"/>
                <a:ea typeface="楷体_GB2312" pitchFamily="49" charset="-122"/>
              </a:rPr>
              <a:t>3.5.3 </a:t>
            </a:r>
            <a:r>
              <a:rPr lang="zh-CN" altLang="en-US" sz="4800" b="1">
                <a:solidFill>
                  <a:schemeClr val="tx1"/>
                </a:solidFill>
                <a:effectLst/>
                <a:latin typeface="楷体_GB2312" pitchFamily="49" charset="-122"/>
                <a:ea typeface="楷体_GB2312" pitchFamily="49" charset="-122"/>
              </a:rPr>
              <a:t>信箱通信</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31AC7AAF-1390-4474-B857-09DBDE1BA7B2}"/>
              </a:ext>
            </a:extLst>
          </p:cNvPr>
          <p:cNvSpPr>
            <a:spLocks noGrp="1" noChangeArrowheads="1"/>
          </p:cNvSpPr>
          <p:nvPr>
            <p:ph type="body" idx="1"/>
          </p:nvPr>
        </p:nvSpPr>
        <p:spPr>
          <a:xfrm>
            <a:off x="458787" y="1279525"/>
            <a:ext cx="8064500" cy="2159694"/>
          </a:xfrm>
        </p:spPr>
        <p:txBody>
          <a:bodyPr/>
          <a:lstStyle/>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信箱逻辑上分成信箱头和信箱体两部分。信箱头中存放有关信箱的描述，信箱体由若干格子组成，每格存放一信件，格子的数目和大小在创建信箱时确定。信件的传递可以是单向的，也可以是双向的。</a:t>
            </a:r>
          </a:p>
        </p:txBody>
      </p:sp>
      <p:sp>
        <p:nvSpPr>
          <p:cNvPr id="126979" name="Rectangle 3">
            <a:extLst>
              <a:ext uri="{FF2B5EF4-FFF2-40B4-BE49-F238E27FC236}">
                <a16:creationId xmlns:a16="http://schemas.microsoft.com/office/drawing/2014/main" id="{951AED87-B60C-4EE2-8665-8016341988C6}"/>
              </a:ext>
            </a:extLst>
          </p:cNvPr>
          <p:cNvSpPr>
            <a:spLocks noGrp="1" noChangeArrowheads="1"/>
          </p:cNvSpPr>
          <p:nvPr>
            <p:ph type="title"/>
          </p:nvPr>
        </p:nvSpPr>
        <p:spPr>
          <a:xfrm>
            <a:off x="250825" y="476250"/>
            <a:ext cx="8480425" cy="803275"/>
          </a:xfrm>
          <a:noFill/>
          <a:extLst>
            <a:ext uri="{909E8E84-426E-40DD-AFC4-6F175D3DCCD1}">
              <a14:hiddenFill xmlns:a14="http://schemas.microsoft.com/office/drawing/2010/main">
                <a:solidFill>
                  <a:schemeClr val="accent1"/>
                </a:solidFill>
              </a14:hiddenFill>
            </a:ext>
          </a:extLst>
        </p:spPr>
        <p:txBody>
          <a:bodyPr anchor="b" anchorCtr="0"/>
          <a:lstStyle/>
          <a:p>
            <a:pPr eaLnBrk="1" hangingPunct="1"/>
            <a:r>
              <a:rPr lang="en-US" altLang="zh-CN" sz="4800" b="1">
                <a:solidFill>
                  <a:schemeClr val="tx1"/>
                </a:solidFill>
                <a:effectLst/>
                <a:latin typeface="楷体_GB2312" pitchFamily="49" charset="-122"/>
                <a:ea typeface="楷体_GB2312" pitchFamily="49" charset="-122"/>
              </a:rPr>
              <a:t>3.5.3 </a:t>
            </a:r>
            <a:r>
              <a:rPr lang="zh-CN" altLang="en-US" sz="4800" b="1">
                <a:solidFill>
                  <a:schemeClr val="tx1"/>
                </a:solidFill>
                <a:effectLst/>
                <a:latin typeface="楷体_GB2312" pitchFamily="49" charset="-122"/>
                <a:ea typeface="楷体_GB2312" pitchFamily="49" charset="-122"/>
              </a:rPr>
              <a:t>信箱通信</a:t>
            </a:r>
          </a:p>
        </p:txBody>
      </p:sp>
      <p:pic>
        <p:nvPicPr>
          <p:cNvPr id="3" name="图片 2">
            <a:extLst>
              <a:ext uri="{FF2B5EF4-FFF2-40B4-BE49-F238E27FC236}">
                <a16:creationId xmlns:a16="http://schemas.microsoft.com/office/drawing/2014/main" id="{198C22D3-1AB0-1DDD-75F5-FF3E933319E8}"/>
              </a:ext>
            </a:extLst>
          </p:cNvPr>
          <p:cNvPicPr>
            <a:picLocks noChangeAspect="1"/>
          </p:cNvPicPr>
          <p:nvPr/>
        </p:nvPicPr>
        <p:blipFill>
          <a:blip r:embed="rId2"/>
          <a:srcRect b="10065"/>
          <a:stretch>
            <a:fillRect/>
          </a:stretch>
        </p:blipFill>
        <p:spPr>
          <a:xfrm>
            <a:off x="1475656" y="3717031"/>
            <a:ext cx="6624736" cy="2592289"/>
          </a:xfrm>
          <a:prstGeom prst="rect">
            <a:avLst/>
          </a:prstGeom>
        </p:spPr>
      </p:pic>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A1D2533D-BBAE-4197-B2DA-D76DE183E865}"/>
              </a:ext>
            </a:extLst>
          </p:cNvPr>
          <p:cNvSpPr>
            <a:spLocks noGrp="1" noChangeArrowheads="1"/>
          </p:cNvSpPr>
          <p:nvPr>
            <p:ph type="body" idx="1"/>
          </p:nvPr>
        </p:nvSpPr>
        <p:spPr>
          <a:xfrm>
            <a:off x="611188" y="549275"/>
            <a:ext cx="8280400" cy="6092825"/>
          </a:xfrm>
        </p:spPr>
        <p:txBody>
          <a:bodyPr/>
          <a:lstStyle/>
          <a:p>
            <a:pPr eaLnBrk="1" hangingPunct="1">
              <a:lnSpc>
                <a:spcPct val="90000"/>
              </a:lnSpc>
              <a:buFont typeface="Wingdings" panose="05000000000000000000" pitchFamily="2" charset="2"/>
              <a:buNone/>
            </a:pPr>
            <a:r>
              <a:rPr lang="en-US" altLang="zh-CN" sz="2800" b="1">
                <a:solidFill>
                  <a:srgbClr val="FFFF00"/>
                </a:solidFill>
                <a:effectLst/>
                <a:latin typeface="黑体" panose="02010609060101010101" pitchFamily="49" charset="-122"/>
                <a:ea typeface="黑体" panose="02010609060101010101" pitchFamily="49" charset="-122"/>
              </a:rPr>
              <a:t> </a:t>
            </a:r>
            <a:r>
              <a:rPr lang="zh-CN" altLang="en-US" sz="2800" b="1">
                <a:solidFill>
                  <a:srgbClr val="FFFF00"/>
                </a:solidFill>
                <a:effectLst/>
                <a:latin typeface="黑体" panose="02010609060101010101" pitchFamily="49" charset="-122"/>
                <a:ea typeface="黑体" panose="02010609060101010101" pitchFamily="49" charset="-122"/>
              </a:rPr>
              <a:t>在利用信箱通信时，在发送进程和接收进程之间，存在以下四种关系。</a:t>
            </a:r>
          </a:p>
          <a:p>
            <a:pPr eaLnBrk="1" hangingPunct="1">
              <a:lnSpc>
                <a:spcPct val="90000"/>
              </a:lnSpc>
            </a:pPr>
            <a:r>
              <a:rPr lang="en-US" altLang="zh-CN" sz="2800" b="1">
                <a:solidFill>
                  <a:srgbClr val="FFFF00"/>
                </a:solidFill>
                <a:effectLst/>
                <a:latin typeface="黑体" panose="02010609060101010101" pitchFamily="49" charset="-122"/>
                <a:ea typeface="黑体" panose="02010609060101010101" pitchFamily="49" charset="-122"/>
              </a:rPr>
              <a:t>(1)</a:t>
            </a:r>
            <a:r>
              <a:rPr lang="zh-CN" altLang="en-US" sz="2800" b="1">
                <a:solidFill>
                  <a:srgbClr val="FFFF00"/>
                </a:solidFill>
                <a:effectLst/>
                <a:latin typeface="黑体" panose="02010609060101010101" pitchFamily="49" charset="-122"/>
                <a:ea typeface="黑体" panose="02010609060101010101" pitchFamily="49" charset="-122"/>
              </a:rPr>
              <a:t>一对一关系。这时可为发送进程和接收进程建立一条两者专用的通信链路</a:t>
            </a:r>
          </a:p>
          <a:p>
            <a:pPr eaLnBrk="1" hangingPunct="1">
              <a:lnSpc>
                <a:spcPct val="90000"/>
              </a:lnSpc>
            </a:pPr>
            <a:r>
              <a:rPr lang="en-US" altLang="zh-CN" sz="2800" b="1">
                <a:solidFill>
                  <a:srgbClr val="FFFF00"/>
                </a:solidFill>
                <a:effectLst/>
                <a:latin typeface="黑体" panose="02010609060101010101" pitchFamily="49" charset="-122"/>
                <a:ea typeface="黑体" panose="02010609060101010101" pitchFamily="49" charset="-122"/>
              </a:rPr>
              <a:t>(2)</a:t>
            </a:r>
            <a:r>
              <a:rPr lang="zh-CN" altLang="en-US" sz="2800" b="1">
                <a:solidFill>
                  <a:srgbClr val="FFFF00"/>
                </a:solidFill>
                <a:effectLst/>
                <a:latin typeface="黑体" panose="02010609060101010101" pitchFamily="49" charset="-122"/>
                <a:ea typeface="黑体" panose="02010609060101010101" pitchFamily="49" charset="-122"/>
              </a:rPr>
              <a:t>多对一关系。也称为客户</a:t>
            </a:r>
            <a:r>
              <a:rPr lang="en-US" altLang="zh-CN" sz="2800" b="1">
                <a:solidFill>
                  <a:srgbClr val="FFFF00"/>
                </a:solidFill>
                <a:effectLst/>
                <a:ea typeface="黑体" panose="02010609060101010101" pitchFamily="49" charset="-122"/>
              </a:rPr>
              <a:t>—</a:t>
            </a:r>
            <a:r>
              <a:rPr lang="zh-CN" altLang="en-US" sz="2800" b="1">
                <a:solidFill>
                  <a:srgbClr val="FFFF00"/>
                </a:solidFill>
                <a:effectLst/>
                <a:latin typeface="黑体" panose="02010609060101010101" pitchFamily="49" charset="-122"/>
                <a:ea typeface="黑体" panose="02010609060101010101" pitchFamily="49" charset="-122"/>
              </a:rPr>
              <a:t>服务器交互</a:t>
            </a:r>
          </a:p>
          <a:p>
            <a:pPr eaLnBrk="1" hangingPunct="1">
              <a:lnSpc>
                <a:spcPct val="90000"/>
              </a:lnSpc>
            </a:pPr>
            <a:r>
              <a:rPr lang="en-US" altLang="zh-CN" sz="2800" b="1">
                <a:solidFill>
                  <a:srgbClr val="FFFF00"/>
                </a:solidFill>
                <a:effectLst/>
                <a:latin typeface="黑体" panose="02010609060101010101" pitchFamily="49" charset="-122"/>
                <a:ea typeface="黑体" panose="02010609060101010101" pitchFamily="49" charset="-122"/>
              </a:rPr>
              <a:t>(3)</a:t>
            </a:r>
            <a:r>
              <a:rPr lang="zh-CN" altLang="en-US" sz="2800" b="1">
                <a:solidFill>
                  <a:srgbClr val="FFFF00"/>
                </a:solidFill>
                <a:effectLst/>
                <a:latin typeface="黑体" panose="02010609060101010101" pitchFamily="49" charset="-122"/>
                <a:ea typeface="黑体" panose="02010609060101010101" pitchFamily="49" charset="-122"/>
              </a:rPr>
              <a:t>一对多关系。使发送进程可用广播方式向接收者</a:t>
            </a:r>
            <a:r>
              <a:rPr lang="en-US" altLang="zh-CN" sz="2800" b="1">
                <a:solidFill>
                  <a:srgbClr val="FFFF00"/>
                </a:solidFill>
                <a:effectLst/>
                <a:latin typeface="黑体" panose="02010609060101010101" pitchFamily="49" charset="-122"/>
                <a:ea typeface="黑体" panose="02010609060101010101" pitchFamily="49" charset="-122"/>
              </a:rPr>
              <a:t>(</a:t>
            </a:r>
            <a:r>
              <a:rPr lang="zh-CN" altLang="en-US" sz="2800" b="1">
                <a:solidFill>
                  <a:srgbClr val="FFFF00"/>
                </a:solidFill>
                <a:effectLst/>
                <a:latin typeface="黑体" panose="02010609060101010101" pitchFamily="49" charset="-122"/>
                <a:ea typeface="黑体" panose="02010609060101010101" pitchFamily="49" charset="-122"/>
              </a:rPr>
              <a:t>多个</a:t>
            </a:r>
            <a:r>
              <a:rPr lang="en-US" altLang="zh-CN" sz="2800" b="1">
                <a:solidFill>
                  <a:srgbClr val="FFFF00"/>
                </a:solidFill>
                <a:effectLst/>
                <a:latin typeface="黑体" panose="02010609060101010101" pitchFamily="49" charset="-122"/>
                <a:ea typeface="黑体" panose="02010609060101010101" pitchFamily="49" charset="-122"/>
              </a:rPr>
              <a:t>)</a:t>
            </a:r>
            <a:r>
              <a:rPr lang="zh-CN" altLang="en-US" sz="2800" b="1">
                <a:solidFill>
                  <a:srgbClr val="FFFF00"/>
                </a:solidFill>
                <a:effectLst/>
                <a:latin typeface="黑体" panose="02010609060101010101" pitchFamily="49" charset="-122"/>
                <a:ea typeface="黑体" panose="02010609060101010101" pitchFamily="49" charset="-122"/>
              </a:rPr>
              <a:t>发送消息。</a:t>
            </a:r>
          </a:p>
          <a:p>
            <a:pPr eaLnBrk="1" hangingPunct="1">
              <a:lnSpc>
                <a:spcPct val="90000"/>
              </a:lnSpc>
            </a:pPr>
            <a:r>
              <a:rPr lang="en-US" altLang="zh-CN" sz="2800" b="1">
                <a:solidFill>
                  <a:srgbClr val="FFFF00"/>
                </a:solidFill>
                <a:effectLst/>
                <a:latin typeface="黑体" panose="02010609060101010101" pitchFamily="49" charset="-122"/>
                <a:ea typeface="黑体" panose="02010609060101010101" pitchFamily="49" charset="-122"/>
              </a:rPr>
              <a:t>(4)</a:t>
            </a:r>
            <a:r>
              <a:rPr lang="zh-CN" altLang="en-US" sz="2800" b="1">
                <a:solidFill>
                  <a:srgbClr val="FFFF00"/>
                </a:solidFill>
                <a:effectLst/>
                <a:latin typeface="黑体" panose="02010609060101010101" pitchFamily="49" charset="-122"/>
                <a:ea typeface="黑体" panose="02010609060101010101" pitchFamily="49" charset="-122"/>
              </a:rPr>
              <a:t>多对多关系。允许建立一个公用信箱，让多个进程都能向信箱中投递消息。也可从信箱中取走属于自己的消息。</a:t>
            </a:r>
          </a:p>
          <a:p>
            <a:pPr eaLnBrk="1" hangingPunct="1">
              <a:lnSpc>
                <a:spcPct val="90000"/>
              </a:lnSpc>
            </a:pPr>
            <a:r>
              <a:rPr lang="zh-CN" altLang="en-US" sz="2800" b="1">
                <a:solidFill>
                  <a:srgbClr val="FFFF00"/>
                </a:solidFill>
                <a:effectLst/>
                <a:latin typeface="黑体" panose="02010609060101010101" pitchFamily="49" charset="-122"/>
                <a:ea typeface="黑体" panose="02010609060101010101" pitchFamily="49" charset="-122"/>
              </a:rPr>
              <a:t>根据以上各种关系，在实现对信箱操作的发送进程和接收进程之间还需要考虑进程间的同步互斥问题。</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6">
            <a:extLst>
              <a:ext uri="{FF2B5EF4-FFF2-40B4-BE49-F238E27FC236}">
                <a16:creationId xmlns:a16="http://schemas.microsoft.com/office/drawing/2014/main" id="{9BF8268D-A846-4CFC-95FD-A53AB9974CEE}"/>
              </a:ext>
            </a:extLst>
          </p:cNvPr>
          <p:cNvSpPr>
            <a:spLocks noGrp="1"/>
          </p:cNvSpPr>
          <p:nvPr>
            <p:ph type="sldNum" sz="quarter" idx="12"/>
          </p:nvPr>
        </p:nvSpPr>
        <p:spPr/>
        <p:txBody>
          <a:bodyPr/>
          <a:lstStyle/>
          <a:p>
            <a:pPr>
              <a:defRPr/>
            </a:pPr>
            <a:fld id="{E547E2EC-4EFA-49FA-A0DA-FD61EBE5F001}" type="slidenum">
              <a:rPr lang="en-US" altLang="zh-CN"/>
              <a:pPr>
                <a:defRPr/>
              </a:pPr>
              <a:t>117</a:t>
            </a:fld>
            <a:endParaRPr lang="en-US" altLang="zh-CN"/>
          </a:p>
        </p:txBody>
      </p:sp>
      <p:sp>
        <p:nvSpPr>
          <p:cNvPr id="102403" name="Rectangle 2">
            <a:extLst>
              <a:ext uri="{FF2B5EF4-FFF2-40B4-BE49-F238E27FC236}">
                <a16:creationId xmlns:a16="http://schemas.microsoft.com/office/drawing/2014/main" id="{2A0D2CC1-8B5F-4928-BE37-6EADE2A61CCD}"/>
              </a:ext>
            </a:extLst>
          </p:cNvPr>
          <p:cNvSpPr>
            <a:spLocks noGrp="1" noChangeArrowheads="1"/>
          </p:cNvSpPr>
          <p:nvPr>
            <p:ph type="title"/>
          </p:nvPr>
        </p:nvSpPr>
        <p:spPr>
          <a:xfrm>
            <a:off x="468313" y="260350"/>
            <a:ext cx="8229600" cy="1296988"/>
          </a:xfr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lnSpc>
                <a:spcPct val="70000"/>
              </a:lnSpc>
            </a:pPr>
            <a:r>
              <a:rPr kumimoji="1" lang="zh-CN" altLang="en-US" b="1">
                <a:solidFill>
                  <a:schemeClr val="tx1"/>
                </a:solidFill>
                <a:effectLst/>
              </a:rPr>
              <a:t>第三章  进程管理</a:t>
            </a:r>
          </a:p>
        </p:txBody>
      </p:sp>
      <p:sp>
        <p:nvSpPr>
          <p:cNvPr id="102404" name="Rectangle 5">
            <a:extLst>
              <a:ext uri="{FF2B5EF4-FFF2-40B4-BE49-F238E27FC236}">
                <a16:creationId xmlns:a16="http://schemas.microsoft.com/office/drawing/2014/main" id="{E0E8B063-C273-42C1-8C5E-8971EDE512F4}"/>
              </a:ext>
            </a:extLst>
          </p:cNvPr>
          <p:cNvSpPr>
            <a:spLocks noGrp="1" noChangeArrowheads="1"/>
          </p:cNvSpPr>
          <p:nvPr>
            <p:ph type="body" sz="half" idx="1"/>
          </p:nvPr>
        </p:nvSpPr>
        <p:spPr>
          <a:xfrm>
            <a:off x="1835150" y="1628775"/>
            <a:ext cx="5807075" cy="4679950"/>
          </a:xfrm>
        </p:spPr>
        <p:txBody>
          <a:bodyPr/>
          <a:lstStyle/>
          <a:p>
            <a:pPr eaLnBrk="1" hangingPunct="1"/>
            <a:r>
              <a:rPr lang="en-US" altLang="zh-CN" sz="3600" b="1">
                <a:solidFill>
                  <a:srgbClr val="FFFF00"/>
                </a:solidFill>
                <a:effectLst/>
                <a:ea typeface="黑体" panose="02010609060101010101" pitchFamily="49" charset="-122"/>
              </a:rPr>
              <a:t>3.1</a:t>
            </a:r>
            <a:r>
              <a:rPr lang="zh-CN" altLang="en-US" sz="3600" b="1">
                <a:solidFill>
                  <a:srgbClr val="FFFF00"/>
                </a:solidFill>
                <a:effectLst/>
                <a:ea typeface="黑体" panose="02010609060101010101" pitchFamily="49" charset="-122"/>
              </a:rPr>
              <a:t>进程的概念</a:t>
            </a:r>
          </a:p>
          <a:p>
            <a:pPr eaLnBrk="1" hangingPunct="1"/>
            <a:r>
              <a:rPr lang="en-US" altLang="zh-CN" sz="3600" b="1">
                <a:solidFill>
                  <a:srgbClr val="FFFF00"/>
                </a:solidFill>
                <a:effectLst/>
                <a:ea typeface="黑体" panose="02010609060101010101" pitchFamily="49" charset="-122"/>
              </a:rPr>
              <a:t>3.2</a:t>
            </a:r>
            <a:r>
              <a:rPr lang="zh-CN" altLang="en-US" sz="3600" b="1">
                <a:solidFill>
                  <a:srgbClr val="FFFF00"/>
                </a:solidFill>
                <a:effectLst/>
                <a:ea typeface="黑体" panose="02010609060101010101" pitchFamily="49" charset="-122"/>
              </a:rPr>
              <a:t>进程状态及其转换</a:t>
            </a:r>
          </a:p>
          <a:p>
            <a:pPr eaLnBrk="1" hangingPunct="1"/>
            <a:r>
              <a:rPr lang="en-US" altLang="zh-CN" sz="3600" b="1">
                <a:solidFill>
                  <a:srgbClr val="FFFF00"/>
                </a:solidFill>
                <a:effectLst/>
                <a:ea typeface="黑体" panose="02010609060101010101" pitchFamily="49" charset="-122"/>
              </a:rPr>
              <a:t>3.3</a:t>
            </a:r>
            <a:r>
              <a:rPr lang="zh-CN" altLang="en-US" sz="3600" b="1">
                <a:solidFill>
                  <a:srgbClr val="FFFF00"/>
                </a:solidFill>
                <a:effectLst/>
                <a:ea typeface="黑体" panose="02010609060101010101" pitchFamily="49" charset="-122"/>
              </a:rPr>
              <a:t>进程控制</a:t>
            </a:r>
          </a:p>
          <a:p>
            <a:pPr eaLnBrk="1" hangingPunct="1"/>
            <a:r>
              <a:rPr lang="en-US" altLang="zh-CN" sz="3600" b="1">
                <a:solidFill>
                  <a:srgbClr val="FFFF00"/>
                </a:solidFill>
                <a:effectLst/>
                <a:ea typeface="黑体" panose="02010609060101010101" pitchFamily="49" charset="-122"/>
              </a:rPr>
              <a:t>3.4</a:t>
            </a:r>
            <a:r>
              <a:rPr lang="zh-CN" altLang="en-US" sz="3600" b="1">
                <a:solidFill>
                  <a:srgbClr val="FFFF00"/>
                </a:solidFill>
                <a:effectLst/>
                <a:ea typeface="黑体" panose="02010609060101010101" pitchFamily="49" charset="-122"/>
              </a:rPr>
              <a:t>进程的同步与互斥</a:t>
            </a:r>
          </a:p>
          <a:p>
            <a:pPr eaLnBrk="1" hangingPunct="1"/>
            <a:r>
              <a:rPr lang="en-US" altLang="zh-CN" sz="3600" b="1">
                <a:solidFill>
                  <a:srgbClr val="FFFF00"/>
                </a:solidFill>
                <a:effectLst/>
                <a:ea typeface="黑体" panose="02010609060101010101" pitchFamily="49" charset="-122"/>
              </a:rPr>
              <a:t>3.5</a:t>
            </a:r>
            <a:r>
              <a:rPr lang="zh-CN" altLang="en-US" sz="3600" b="1">
                <a:solidFill>
                  <a:srgbClr val="FFFF00"/>
                </a:solidFill>
                <a:effectLst/>
                <a:ea typeface="黑体" panose="02010609060101010101" pitchFamily="49" charset="-122"/>
              </a:rPr>
              <a:t>进程通信</a:t>
            </a:r>
          </a:p>
          <a:p>
            <a:pPr eaLnBrk="1" hangingPunct="1"/>
            <a:r>
              <a:rPr lang="en-US" altLang="zh-CN" sz="3600" b="1">
                <a:solidFill>
                  <a:srgbClr val="FFFF00"/>
                </a:solidFill>
                <a:effectLst/>
                <a:ea typeface="黑体" panose="02010609060101010101" pitchFamily="49" charset="-122"/>
              </a:rPr>
              <a:t>3.6</a:t>
            </a:r>
            <a:r>
              <a:rPr lang="zh-CN" altLang="en-US" sz="3600" b="1">
                <a:solidFill>
                  <a:srgbClr val="FFFF00"/>
                </a:solidFill>
                <a:effectLst/>
                <a:ea typeface="黑体" panose="02010609060101010101" pitchFamily="49" charset="-122"/>
              </a:rPr>
              <a:t>死锁</a:t>
            </a:r>
          </a:p>
          <a:p>
            <a:pPr eaLnBrk="1" hangingPunct="1"/>
            <a:r>
              <a:rPr lang="en-US" altLang="zh-CN" sz="3600" b="1">
                <a:solidFill>
                  <a:srgbClr val="FFFF00"/>
                </a:solidFill>
                <a:effectLst/>
                <a:ea typeface="黑体" panose="02010609060101010101" pitchFamily="49" charset="-122"/>
              </a:rPr>
              <a:t>3.7</a:t>
            </a:r>
            <a:r>
              <a:rPr lang="zh-CN" altLang="en-US" sz="3600" b="1">
                <a:solidFill>
                  <a:srgbClr val="FFFF00"/>
                </a:solidFill>
                <a:effectLst/>
                <a:ea typeface="黑体" panose="02010609060101010101" pitchFamily="49" charset="-122"/>
              </a:rPr>
              <a:t>线程</a:t>
            </a:r>
          </a:p>
        </p:txBody>
      </p:sp>
    </p:spTree>
    <p:extLst>
      <p:ext uri="{BB962C8B-B14F-4D97-AF65-F5344CB8AC3E}">
        <p14:creationId xmlns:p14="http://schemas.microsoft.com/office/powerpoint/2010/main" val="3588259598"/>
      </p:ext>
    </p:extLst>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a:extLst>
              <a:ext uri="{FF2B5EF4-FFF2-40B4-BE49-F238E27FC236}">
                <a16:creationId xmlns:a16="http://schemas.microsoft.com/office/drawing/2014/main" id="{F8485D62-6A30-42C3-A4F2-E82859A33E99}"/>
              </a:ext>
            </a:extLst>
          </p:cNvPr>
          <p:cNvSpPr>
            <a:spLocks noGrp="1" noChangeArrowheads="1"/>
          </p:cNvSpPr>
          <p:nvPr>
            <p:ph type="title"/>
          </p:nvPr>
        </p:nvSpPr>
        <p:spPr>
          <a:xfrm>
            <a:off x="0" y="620713"/>
            <a:ext cx="8229600" cy="922337"/>
          </a:xfrm>
        </p:spPr>
        <p:txBody>
          <a:bodyPr/>
          <a:lstStyle/>
          <a:p>
            <a:pPr eaLnBrk="1" hangingPunct="1">
              <a:defRPr/>
            </a:pPr>
            <a:r>
              <a:rPr lang="en-US" altLang="zh-CN">
                <a:latin typeface="Times New Roman" panose="02020603050405020304" pitchFamily="18" charset="0"/>
                <a:cs typeface="Times New Roman" panose="02020603050405020304" pitchFamily="18" charset="0"/>
              </a:rPr>
              <a:t>3.6  </a:t>
            </a:r>
            <a:r>
              <a:rPr lang="zh-CN" altLang="en-US">
                <a:latin typeface="Times New Roman" panose="02020603050405020304" pitchFamily="18" charset="0"/>
                <a:cs typeface="Times New Roman" panose="02020603050405020304" pitchFamily="18" charset="0"/>
              </a:rPr>
              <a:t>死锁问题</a:t>
            </a:r>
            <a:r>
              <a:rPr lang="zh-CN" altLang="en-US"/>
              <a:t> </a:t>
            </a:r>
          </a:p>
        </p:txBody>
      </p:sp>
      <p:sp>
        <p:nvSpPr>
          <p:cNvPr id="482307" name="Rectangle 3">
            <a:extLst>
              <a:ext uri="{FF2B5EF4-FFF2-40B4-BE49-F238E27FC236}">
                <a16:creationId xmlns:a16="http://schemas.microsoft.com/office/drawing/2014/main" id="{DC430268-BF47-4A33-AA26-80275B7A6280}"/>
              </a:ext>
            </a:extLst>
          </p:cNvPr>
          <p:cNvSpPr>
            <a:spLocks noGrp="1" noChangeArrowheads="1"/>
          </p:cNvSpPr>
          <p:nvPr>
            <p:ph type="body" idx="1"/>
          </p:nvPr>
        </p:nvSpPr>
        <p:spPr>
          <a:xfrm>
            <a:off x="827088" y="1484313"/>
            <a:ext cx="7885112" cy="4530725"/>
          </a:xfrm>
        </p:spPr>
        <p:txBody>
          <a:bodyPr/>
          <a:lstStyle/>
          <a:p>
            <a:pPr algn="just" eaLnBrk="1" hangingPunct="1">
              <a:buFont typeface="Wingdings" panose="05000000000000000000" pitchFamily="2" charset="2"/>
              <a:buNone/>
              <a:defRPr/>
            </a:pPr>
            <a:endParaRPr lang="en-US" altLang="zh-CN" sz="4400" b="1">
              <a:solidFill>
                <a:srgbClr val="FF9966"/>
              </a:solidFill>
              <a:effectLst>
                <a:outerShdw blurRad="38100" dist="38100" dir="2700000" algn="tl">
                  <a:srgbClr val="FFFFFF"/>
                </a:outerShdw>
              </a:effectLst>
              <a:latin typeface="楷体_GB2312" pitchFamily="49" charset="-122"/>
              <a:ea typeface="楷体_GB2312" pitchFamily="49" charset="-122"/>
            </a:endParaRPr>
          </a:p>
          <a:p>
            <a:pPr algn="just" eaLnBrk="1" hangingPunct="1">
              <a:defRPr/>
            </a:pPr>
            <a:r>
              <a:rPr lang="en-US" altLang="zh-CN" sz="4400" b="1">
                <a:latin typeface="楷体_GB2312" pitchFamily="49" charset="-122"/>
                <a:ea typeface="楷体_GB2312" pitchFamily="49" charset="-122"/>
              </a:rPr>
              <a:t>3.6.1 </a:t>
            </a:r>
            <a:r>
              <a:rPr lang="zh-CN" altLang="en-US" sz="4400" b="1">
                <a:latin typeface="楷体_GB2312" pitchFamily="49" charset="-122"/>
                <a:ea typeface="楷体_GB2312" pitchFamily="49" charset="-122"/>
              </a:rPr>
              <a:t>死锁的概念</a:t>
            </a:r>
          </a:p>
          <a:p>
            <a:pPr algn="just" eaLnBrk="1" hangingPunct="1">
              <a:defRPr/>
            </a:pPr>
            <a:r>
              <a:rPr lang="en-US" altLang="zh-CN" sz="4400" b="1">
                <a:latin typeface="楷体_GB2312" pitchFamily="49" charset="-122"/>
                <a:ea typeface="楷体_GB2312" pitchFamily="49" charset="-122"/>
              </a:rPr>
              <a:t>3.6.2 </a:t>
            </a:r>
            <a:r>
              <a:rPr lang="zh-CN" altLang="en-US" sz="4400" b="1">
                <a:latin typeface="楷体_GB2312" pitchFamily="49" charset="-122"/>
                <a:ea typeface="楷体_GB2312" pitchFamily="49" charset="-122"/>
              </a:rPr>
              <a:t>死锁的处理策略</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a:extLst>
              <a:ext uri="{FF2B5EF4-FFF2-40B4-BE49-F238E27FC236}">
                <a16:creationId xmlns:a16="http://schemas.microsoft.com/office/drawing/2014/main" id="{83920ADF-105E-4A8E-9CC3-05A31CC4E084}"/>
              </a:ext>
            </a:extLst>
          </p:cNvPr>
          <p:cNvSpPr>
            <a:spLocks noGrp="1" noChangeArrowheads="1"/>
          </p:cNvSpPr>
          <p:nvPr>
            <p:ph type="title"/>
          </p:nvPr>
        </p:nvSpPr>
        <p:spPr/>
        <p:txBody>
          <a:bodyPr/>
          <a:lstStyle/>
          <a:p>
            <a:pPr eaLnBrk="1" hangingPunct="1">
              <a:defRPr/>
            </a:pPr>
            <a:r>
              <a:rPr lang="zh-CN" altLang="en-US"/>
              <a:t>死锁举例</a:t>
            </a:r>
          </a:p>
        </p:txBody>
      </p:sp>
      <p:sp>
        <p:nvSpPr>
          <p:cNvPr id="136195" name="Rectangle 3">
            <a:extLst>
              <a:ext uri="{FF2B5EF4-FFF2-40B4-BE49-F238E27FC236}">
                <a16:creationId xmlns:a16="http://schemas.microsoft.com/office/drawing/2014/main" id="{D3DD4915-0A05-469F-B19F-081DA9636D56}"/>
              </a:ext>
            </a:extLst>
          </p:cNvPr>
          <p:cNvSpPr>
            <a:spLocks noGrp="1" noChangeArrowheads="1"/>
          </p:cNvSpPr>
          <p:nvPr>
            <p:ph type="body" idx="1"/>
          </p:nvPr>
        </p:nvSpPr>
        <p:spPr>
          <a:xfrm>
            <a:off x="827088" y="1773238"/>
            <a:ext cx="7416800" cy="4530725"/>
          </a:xfrm>
        </p:spPr>
        <p:txBody>
          <a:bodyPr/>
          <a:lstStyle/>
          <a:p>
            <a:pPr algn="just" eaLnBrk="1" hangingPunct="1"/>
            <a:r>
              <a:rPr lang="zh-CN" altLang="en-US" sz="3600" b="1" dirty="0">
                <a:solidFill>
                  <a:srgbClr val="FFFF00"/>
                </a:solidFill>
                <a:effectLst/>
                <a:latin typeface="黑体" panose="02010609060101010101" pitchFamily="49" charset="-122"/>
                <a:ea typeface="黑体" panose="02010609060101010101" pitchFamily="49" charset="-122"/>
              </a:rPr>
              <a:t>例</a:t>
            </a:r>
            <a:r>
              <a:rPr lang="en-US" altLang="zh-CN" sz="3600" b="1" dirty="0">
                <a:solidFill>
                  <a:srgbClr val="FFFF00"/>
                </a:solidFill>
                <a:effectLst/>
                <a:latin typeface="黑体" panose="02010609060101010101" pitchFamily="49" charset="-122"/>
                <a:ea typeface="黑体" panose="02010609060101010101" pitchFamily="49" charset="-122"/>
              </a:rPr>
              <a:t>1</a:t>
            </a:r>
            <a:r>
              <a:rPr lang="zh-CN" altLang="en-US" sz="3600" b="1" dirty="0">
                <a:solidFill>
                  <a:srgbClr val="FFFF00"/>
                </a:solidFill>
                <a:effectLst/>
                <a:latin typeface="黑体" panose="02010609060101010101" pitchFamily="49" charset="-122"/>
                <a:ea typeface="黑体" panose="02010609060101010101" pitchFamily="49" charset="-122"/>
              </a:rPr>
              <a:t>：</a:t>
            </a:r>
          </a:p>
          <a:p>
            <a:pPr algn="just" eaLnBrk="1" hangingPunct="1">
              <a:buFont typeface="Wingdings" panose="05000000000000000000" pitchFamily="2" charset="2"/>
              <a:buNone/>
            </a:pPr>
            <a:r>
              <a:rPr lang="zh-CN" altLang="en-US" sz="3600" b="1" dirty="0">
                <a:solidFill>
                  <a:srgbClr val="FFFF00"/>
                </a:solidFill>
                <a:effectLst/>
                <a:latin typeface="黑体" panose="02010609060101010101" pitchFamily="49" charset="-122"/>
                <a:ea typeface="黑体" panose="02010609060101010101" pitchFamily="49" charset="-122"/>
              </a:rPr>
              <a:t>  两个小孩在一起玩耍，一个在玩皮球，另一个玩自动步枪，如果这两个小孩都要对方手中的玩具，而又不肯先放掉自己拿着的玩具，这时就发生了僵持局面。</a:t>
            </a: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E84B941C-64F4-4730-BB7A-67E9FBC93B29}"/>
              </a:ext>
            </a:extLst>
          </p:cNvPr>
          <p:cNvSpPr>
            <a:spLocks noGrp="1" noChangeArrowheads="1"/>
          </p:cNvSpPr>
          <p:nvPr>
            <p:ph type="body" idx="1"/>
          </p:nvPr>
        </p:nvSpPr>
        <p:spPr>
          <a:xfrm>
            <a:off x="539750" y="692150"/>
            <a:ext cx="8229600" cy="5761038"/>
          </a:xfrm>
        </p:spPr>
        <p:txBody>
          <a:bodyPr/>
          <a:lstStyle/>
          <a:p>
            <a:pPr algn="just" eaLnBrk="1" hangingPunct="1">
              <a:lnSpc>
                <a:spcPct val="90000"/>
              </a:lnSpc>
            </a:pPr>
            <a:r>
              <a:rPr lang="zh-CN" altLang="en-US" b="1" dirty="0">
                <a:solidFill>
                  <a:srgbClr val="FFFF00"/>
                </a:solidFill>
                <a:effectLst/>
                <a:latin typeface="黑体" panose="02010609060101010101" pitchFamily="49" charset="-122"/>
                <a:ea typeface="黑体" panose="02010609060101010101" pitchFamily="49" charset="-122"/>
              </a:rPr>
              <a:t>例</a:t>
            </a:r>
            <a:r>
              <a:rPr lang="en-US" altLang="zh-CN" b="1" dirty="0">
                <a:solidFill>
                  <a:srgbClr val="FFFF00"/>
                </a:solidFill>
                <a:effectLst/>
                <a:latin typeface="黑体" panose="02010609060101010101" pitchFamily="49" charset="-122"/>
                <a:ea typeface="黑体" panose="02010609060101010101" pitchFamily="49" charset="-122"/>
              </a:rPr>
              <a:t>2</a:t>
            </a:r>
            <a:r>
              <a:rPr lang="zh-CN" altLang="en-US" b="1" dirty="0">
                <a:solidFill>
                  <a:srgbClr val="FFFF00"/>
                </a:solidFill>
                <a:effectLst/>
                <a:latin typeface="黑体" panose="02010609060101010101" pitchFamily="49" charset="-122"/>
                <a:ea typeface="黑体" panose="02010609060101010101" pitchFamily="49" charset="-122"/>
              </a:rPr>
              <a:t>：</a:t>
            </a:r>
          </a:p>
          <a:p>
            <a:pPr algn="just" eaLnBrk="1" hangingPunct="1">
              <a:lnSpc>
                <a:spcPct val="90000"/>
              </a:lnSpc>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设系统有一台打印机和一台扫描仪，进程</a:t>
            </a:r>
            <a:r>
              <a:rPr lang="en-US" altLang="zh-CN" b="1" dirty="0">
                <a:solidFill>
                  <a:srgbClr val="FFFF00"/>
                </a:solidFill>
                <a:effectLst/>
                <a:latin typeface="黑体" panose="02010609060101010101" pitchFamily="49" charset="-122"/>
                <a:ea typeface="黑体" panose="02010609060101010101" pitchFamily="49" charset="-122"/>
              </a:rPr>
              <a:t>P1</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P2</a:t>
            </a:r>
            <a:r>
              <a:rPr lang="zh-CN" altLang="en-US" b="1" dirty="0">
                <a:solidFill>
                  <a:srgbClr val="FFFF00"/>
                </a:solidFill>
                <a:effectLst/>
                <a:latin typeface="黑体" panose="02010609060101010101" pitchFamily="49" charset="-122"/>
                <a:ea typeface="黑体" panose="02010609060101010101" pitchFamily="49" charset="-122"/>
              </a:rPr>
              <a:t>并发执行</a:t>
            </a:r>
            <a:endParaRPr lang="en-US" altLang="zh-CN" b="1" dirty="0">
              <a:solidFill>
                <a:srgbClr val="FFFF00"/>
              </a:solidFill>
              <a:effectLst/>
              <a:latin typeface="黑体" panose="02010609060101010101" pitchFamily="49" charset="-122"/>
              <a:ea typeface="黑体" panose="02010609060101010101" pitchFamily="49" charset="-122"/>
            </a:endParaRPr>
          </a:p>
          <a:p>
            <a:pPr algn="just" eaLnBrk="1" hangingPunct="1">
              <a:lnSpc>
                <a:spcPct val="90000"/>
              </a:lnSpc>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在某时刻</a:t>
            </a:r>
            <a:r>
              <a:rPr lang="en-US" altLang="zh-CN" b="1" dirty="0">
                <a:solidFill>
                  <a:srgbClr val="FFFF00"/>
                </a:solidFill>
                <a:effectLst/>
                <a:latin typeface="黑体" panose="02010609060101010101" pitchFamily="49" charset="-122"/>
                <a:ea typeface="黑体" panose="02010609060101010101" pitchFamily="49" charset="-122"/>
              </a:rPr>
              <a:t>T</a:t>
            </a:r>
            <a:r>
              <a:rPr lang="zh-CN" altLang="en-US" b="1" dirty="0">
                <a:solidFill>
                  <a:srgbClr val="FFFF00"/>
                </a:solidFill>
                <a:effectLst/>
                <a:latin typeface="黑体" panose="02010609060101010101" pitchFamily="49" charset="-122"/>
                <a:ea typeface="黑体" panose="02010609060101010101" pitchFamily="49" charset="-122"/>
              </a:rPr>
              <a:t>，进程</a:t>
            </a:r>
            <a:r>
              <a:rPr lang="en-US" altLang="zh-CN" b="1" dirty="0">
                <a:solidFill>
                  <a:srgbClr val="FFFF00"/>
                </a:solidFill>
                <a:effectLst/>
                <a:latin typeface="黑体" panose="02010609060101010101" pitchFamily="49" charset="-122"/>
                <a:ea typeface="黑体" panose="02010609060101010101" pitchFamily="49" charset="-122"/>
              </a:rPr>
              <a:t>P1</a:t>
            </a:r>
            <a:r>
              <a:rPr lang="zh-CN" altLang="en-US" b="1" dirty="0">
                <a:solidFill>
                  <a:srgbClr val="FFFF00"/>
                </a:solidFill>
                <a:effectLst/>
                <a:latin typeface="黑体" panose="02010609060101010101" pitchFamily="49" charset="-122"/>
                <a:ea typeface="黑体" panose="02010609060101010101" pitchFamily="49" charset="-122"/>
              </a:rPr>
              <a:t>和</a:t>
            </a:r>
            <a:r>
              <a:rPr lang="en-US" altLang="zh-CN" b="1" dirty="0">
                <a:solidFill>
                  <a:srgbClr val="FFFF00"/>
                </a:solidFill>
                <a:effectLst/>
                <a:latin typeface="黑体" panose="02010609060101010101" pitchFamily="49" charset="-122"/>
                <a:ea typeface="黑体" panose="02010609060101010101" pitchFamily="49" charset="-122"/>
              </a:rPr>
              <a:t>P2</a:t>
            </a:r>
            <a:r>
              <a:rPr lang="zh-CN" altLang="en-US" b="1" dirty="0">
                <a:solidFill>
                  <a:srgbClr val="FFFF00"/>
                </a:solidFill>
                <a:effectLst/>
                <a:latin typeface="黑体" panose="02010609060101010101" pitchFamily="49" charset="-122"/>
                <a:ea typeface="黑体" panose="02010609060101010101" pitchFamily="49" charset="-122"/>
              </a:rPr>
              <a:t>分别占用了打印机和扫描仪。</a:t>
            </a:r>
            <a:endParaRPr lang="en-US" altLang="zh-CN" b="1" dirty="0">
              <a:solidFill>
                <a:srgbClr val="FFFF00"/>
              </a:solidFill>
              <a:effectLst/>
              <a:latin typeface="黑体" panose="02010609060101010101" pitchFamily="49" charset="-122"/>
              <a:ea typeface="黑体" panose="02010609060101010101" pitchFamily="49" charset="-122"/>
            </a:endParaRPr>
          </a:p>
          <a:p>
            <a:pPr algn="just" eaLnBrk="1" hangingPunct="1">
              <a:lnSpc>
                <a:spcPct val="90000"/>
              </a:lnSpc>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在时刻</a:t>
            </a:r>
            <a:r>
              <a:rPr lang="en-US" altLang="zh-CN" b="1" dirty="0">
                <a:solidFill>
                  <a:srgbClr val="FFFF00"/>
                </a:solidFill>
                <a:effectLst/>
                <a:latin typeface="黑体" panose="02010609060101010101" pitchFamily="49" charset="-122"/>
                <a:ea typeface="黑体" panose="02010609060101010101" pitchFamily="49" charset="-122"/>
              </a:rPr>
              <a:t>T1</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T1&gt;T</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P1</a:t>
            </a:r>
            <a:r>
              <a:rPr lang="zh-CN" altLang="en-US" b="1" dirty="0">
                <a:solidFill>
                  <a:srgbClr val="FFFF00"/>
                </a:solidFill>
                <a:effectLst/>
                <a:latin typeface="黑体" panose="02010609060101010101" pitchFamily="49" charset="-122"/>
                <a:ea typeface="黑体" panose="02010609060101010101" pitchFamily="49" charset="-122"/>
              </a:rPr>
              <a:t>又要申请扫描仪，但由于扫描仪被</a:t>
            </a:r>
            <a:r>
              <a:rPr lang="en-US" altLang="zh-CN" b="1" dirty="0">
                <a:solidFill>
                  <a:srgbClr val="FFFF00"/>
                </a:solidFill>
                <a:effectLst/>
                <a:latin typeface="黑体" panose="02010609060101010101" pitchFamily="49" charset="-122"/>
                <a:ea typeface="黑体" panose="02010609060101010101" pitchFamily="49" charset="-122"/>
              </a:rPr>
              <a:t>P2</a:t>
            </a:r>
            <a:r>
              <a:rPr lang="zh-CN" altLang="en-US" b="1" dirty="0">
                <a:solidFill>
                  <a:srgbClr val="FFFF00"/>
                </a:solidFill>
                <a:effectLst/>
                <a:latin typeface="黑体" panose="02010609060101010101" pitchFamily="49" charset="-122"/>
                <a:ea typeface="黑体" panose="02010609060101010101" pitchFamily="49" charset="-122"/>
              </a:rPr>
              <a:t>占用，</a:t>
            </a:r>
            <a:r>
              <a:rPr lang="en-US" altLang="zh-CN" b="1" dirty="0">
                <a:solidFill>
                  <a:srgbClr val="FFFF00"/>
                </a:solidFill>
                <a:effectLst/>
                <a:latin typeface="黑体" panose="02010609060101010101" pitchFamily="49" charset="-122"/>
                <a:ea typeface="黑体" panose="02010609060101010101" pitchFamily="49" charset="-122"/>
              </a:rPr>
              <a:t>P1</a:t>
            </a:r>
            <a:r>
              <a:rPr lang="zh-CN" altLang="en-US" b="1" dirty="0">
                <a:solidFill>
                  <a:srgbClr val="FFFF00"/>
                </a:solidFill>
                <a:effectLst/>
                <a:latin typeface="黑体" panose="02010609060101010101" pitchFamily="49" charset="-122"/>
                <a:ea typeface="黑体" panose="02010609060101010101" pitchFamily="49" charset="-122"/>
              </a:rPr>
              <a:t>只有等待。</a:t>
            </a:r>
            <a:endParaRPr lang="en-US" altLang="zh-CN" b="1" dirty="0">
              <a:solidFill>
                <a:srgbClr val="FFFF00"/>
              </a:solidFill>
              <a:effectLst/>
              <a:latin typeface="黑体" panose="02010609060101010101" pitchFamily="49" charset="-122"/>
              <a:ea typeface="黑体" panose="02010609060101010101" pitchFamily="49" charset="-122"/>
            </a:endParaRPr>
          </a:p>
          <a:p>
            <a:pPr algn="just" eaLnBrk="1" hangingPunct="1">
              <a:lnSpc>
                <a:spcPct val="90000"/>
              </a:lnSpc>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在时刻</a:t>
            </a:r>
            <a:r>
              <a:rPr lang="en-US" altLang="zh-CN" b="1" dirty="0">
                <a:solidFill>
                  <a:srgbClr val="FFFF00"/>
                </a:solidFill>
                <a:effectLst/>
                <a:latin typeface="黑体" panose="02010609060101010101" pitchFamily="49" charset="-122"/>
                <a:ea typeface="黑体" panose="02010609060101010101" pitchFamily="49" charset="-122"/>
              </a:rPr>
              <a:t>T2</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T2&gt;T</a:t>
            </a: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P2</a:t>
            </a:r>
            <a:r>
              <a:rPr lang="zh-CN" altLang="en-US" b="1" dirty="0">
                <a:solidFill>
                  <a:srgbClr val="FFFF00"/>
                </a:solidFill>
                <a:effectLst/>
                <a:latin typeface="黑体" panose="02010609060101010101" pitchFamily="49" charset="-122"/>
                <a:ea typeface="黑体" panose="02010609060101010101" pitchFamily="49" charset="-122"/>
              </a:rPr>
              <a:t>又申请打印机，但由于打印机被</a:t>
            </a:r>
            <a:r>
              <a:rPr lang="en-US" altLang="zh-CN" b="1" dirty="0">
                <a:solidFill>
                  <a:srgbClr val="FFFF00"/>
                </a:solidFill>
                <a:effectLst/>
                <a:latin typeface="黑体" panose="02010609060101010101" pitchFamily="49" charset="-122"/>
                <a:ea typeface="黑体" panose="02010609060101010101" pitchFamily="49" charset="-122"/>
              </a:rPr>
              <a:t>P1</a:t>
            </a:r>
            <a:r>
              <a:rPr lang="zh-CN" altLang="en-US" b="1" dirty="0">
                <a:solidFill>
                  <a:srgbClr val="FFFF00"/>
                </a:solidFill>
                <a:effectLst/>
                <a:latin typeface="黑体" panose="02010609060101010101" pitchFamily="49" charset="-122"/>
                <a:ea typeface="黑体" panose="02010609060101010101" pitchFamily="49" charset="-122"/>
              </a:rPr>
              <a:t>占用，</a:t>
            </a:r>
            <a:r>
              <a:rPr lang="en-US" altLang="zh-CN" b="1" dirty="0">
                <a:solidFill>
                  <a:srgbClr val="FFFF00"/>
                </a:solidFill>
                <a:effectLst/>
                <a:latin typeface="黑体" panose="02010609060101010101" pitchFamily="49" charset="-122"/>
                <a:ea typeface="黑体" panose="02010609060101010101" pitchFamily="49" charset="-122"/>
              </a:rPr>
              <a:t>P2</a:t>
            </a:r>
            <a:r>
              <a:rPr lang="zh-CN" altLang="en-US" b="1" dirty="0">
                <a:solidFill>
                  <a:srgbClr val="FFFF00"/>
                </a:solidFill>
                <a:effectLst/>
                <a:latin typeface="黑体" panose="02010609060101010101" pitchFamily="49" charset="-122"/>
                <a:ea typeface="黑体" panose="02010609060101010101" pitchFamily="49" charset="-122"/>
              </a:rPr>
              <a:t>只有等待。</a:t>
            </a:r>
            <a:endParaRPr lang="en-US" altLang="zh-CN" b="1" dirty="0">
              <a:solidFill>
                <a:srgbClr val="FFFF00"/>
              </a:solidFill>
              <a:effectLst/>
              <a:latin typeface="黑体" panose="02010609060101010101" pitchFamily="49" charset="-122"/>
              <a:ea typeface="黑体" panose="02010609060101010101" pitchFamily="49" charset="-122"/>
            </a:endParaRPr>
          </a:p>
          <a:p>
            <a:pPr algn="just" eaLnBrk="1" hangingPunct="1">
              <a:lnSpc>
                <a:spcPct val="90000"/>
              </a:lnSpc>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如此两进程均不能执行完成。称这种现象为死锁。</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a:extLst>
              <a:ext uri="{FF2B5EF4-FFF2-40B4-BE49-F238E27FC236}">
                <a16:creationId xmlns:a16="http://schemas.microsoft.com/office/drawing/2014/main" id="{5428B96A-FF68-4EFE-B0EF-438EC0EF2CF9}"/>
              </a:ext>
            </a:extLst>
          </p:cNvPr>
          <p:cNvSpPr>
            <a:spLocks noGrp="1" noChangeArrowheads="1"/>
          </p:cNvSpPr>
          <p:nvPr>
            <p:ph type="title"/>
          </p:nvPr>
        </p:nvSpPr>
        <p:spPr/>
        <p:txBody>
          <a:bodyPr/>
          <a:lstStyle/>
          <a:p>
            <a:pPr eaLnBrk="1" hangingPunct="1">
              <a:defRPr/>
            </a:pPr>
            <a:r>
              <a:rPr lang="en-US" altLang="zh-CN"/>
              <a:t> </a:t>
            </a:r>
          </a:p>
        </p:txBody>
      </p:sp>
      <p:sp>
        <p:nvSpPr>
          <p:cNvPr id="138243" name="Rectangle 3">
            <a:extLst>
              <a:ext uri="{FF2B5EF4-FFF2-40B4-BE49-F238E27FC236}">
                <a16:creationId xmlns:a16="http://schemas.microsoft.com/office/drawing/2014/main" id="{442507FF-9406-4B97-8242-E5574081BACD}"/>
              </a:ext>
            </a:extLst>
          </p:cNvPr>
          <p:cNvSpPr>
            <a:spLocks noGrp="1" noChangeArrowheads="1"/>
          </p:cNvSpPr>
          <p:nvPr>
            <p:ph type="body" idx="1"/>
          </p:nvPr>
        </p:nvSpPr>
        <p:spPr>
          <a:xfrm>
            <a:off x="900113" y="549275"/>
            <a:ext cx="7532687" cy="5830888"/>
          </a:xfrm>
        </p:spPr>
        <p:txBody>
          <a:bodyPr/>
          <a:lstStyle/>
          <a:p>
            <a:pPr algn="just" eaLnBrk="1" hangingPunct="1"/>
            <a:r>
              <a:rPr lang="zh-CN" altLang="en-US" sz="3600" b="1">
                <a:solidFill>
                  <a:srgbClr val="FFFF00"/>
                </a:solidFill>
                <a:effectLst/>
                <a:latin typeface="黑体" panose="02010609060101010101" pitchFamily="49" charset="-122"/>
                <a:ea typeface="黑体" panose="02010609060101010101" pitchFamily="49" charset="-122"/>
              </a:rPr>
              <a:t>例</a:t>
            </a:r>
            <a:r>
              <a:rPr lang="en-US" altLang="zh-CN" sz="3600" b="1">
                <a:solidFill>
                  <a:srgbClr val="FFFF00"/>
                </a:solidFill>
                <a:effectLst/>
                <a:latin typeface="黑体" panose="02010609060101010101" pitchFamily="49" charset="-122"/>
                <a:ea typeface="黑体" panose="02010609060101010101" pitchFamily="49" charset="-122"/>
              </a:rPr>
              <a:t>3</a:t>
            </a:r>
            <a:r>
              <a:rPr lang="zh-CN" altLang="en-US" sz="3600" b="1">
                <a:solidFill>
                  <a:srgbClr val="FFFF00"/>
                </a:solidFill>
                <a:effectLst/>
                <a:latin typeface="黑体" panose="02010609060101010101" pitchFamily="49" charset="-122"/>
                <a:ea typeface="黑体" panose="02010609060101010101" pitchFamily="49" charset="-122"/>
              </a:rPr>
              <a:t>：</a:t>
            </a:r>
          </a:p>
          <a:p>
            <a:pPr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在生产者</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消费者问题中将生产者进程的两个</a:t>
            </a:r>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操作颠倒时会发生死锁</a:t>
            </a:r>
          </a:p>
          <a:p>
            <a:pPr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将消费者进程的两个</a:t>
            </a:r>
            <a:r>
              <a:rPr lang="en-US" altLang="zh-CN" sz="3600" b="1">
                <a:solidFill>
                  <a:srgbClr val="FFFF00"/>
                </a:solidFill>
                <a:effectLst/>
                <a:latin typeface="黑体" panose="02010609060101010101" pitchFamily="49" charset="-122"/>
                <a:ea typeface="黑体" panose="02010609060101010101" pitchFamily="49" charset="-122"/>
              </a:rPr>
              <a:t>P</a:t>
            </a:r>
            <a:r>
              <a:rPr lang="zh-CN" altLang="en-US" sz="3600" b="1">
                <a:solidFill>
                  <a:srgbClr val="FFFF00"/>
                </a:solidFill>
                <a:effectLst/>
                <a:latin typeface="黑体" panose="02010609060101010101" pitchFamily="49" charset="-122"/>
                <a:ea typeface="黑体" panose="02010609060101010101" pitchFamily="49" charset="-122"/>
              </a:rPr>
              <a:t>操作颠倒时也会发生死锁。</a:t>
            </a:r>
          </a:p>
          <a:p>
            <a:pPr eaLnBrk="1" hangingPunct="1">
              <a:buFont typeface="Wingdings" panose="05000000000000000000" pitchFamily="2" charset="2"/>
              <a:buNone/>
            </a:pPr>
            <a:endParaRPr lang="zh-CN" altLang="en-US" sz="3600" b="1">
              <a:solidFill>
                <a:srgbClr val="FFFF00"/>
              </a:solidFill>
              <a:effectLst/>
              <a:latin typeface="黑体" panose="02010609060101010101" pitchFamily="49" charset="-122"/>
              <a:ea typeface="黑体" panose="02010609060101010101" pitchFamily="49" charset="-122"/>
            </a:endParaRPr>
          </a:p>
          <a:p>
            <a:pPr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如果死锁发生，会浪费大量系统资源，甚至导致系统崩溃</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108492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algn="ctr" eaLnBrk="1" fontAlgn="auto" hangingPunct="1">
              <a:spcAft>
                <a:spcPts val="0"/>
              </a:spcAft>
            </a:pPr>
            <a:r>
              <a:rPr lang="zh-CN" altLang="en-US" dirty="0"/>
              <a:t>死锁示例：单向通行桥梁</a:t>
            </a:r>
          </a:p>
        </p:txBody>
      </p:sp>
      <p:grpSp>
        <p:nvGrpSpPr>
          <p:cNvPr id="2" name="组合 1"/>
          <p:cNvGrpSpPr/>
          <p:nvPr/>
        </p:nvGrpSpPr>
        <p:grpSpPr>
          <a:xfrm>
            <a:off x="844894" y="3286124"/>
            <a:ext cx="2655537" cy="428628"/>
            <a:chOff x="844893" y="2428874"/>
            <a:chExt cx="2655537" cy="428628"/>
          </a:xfrm>
        </p:grpSpPr>
        <p:sp>
          <p:nvSpPr>
            <p:cNvPr id="9" name="内容占位符 2"/>
            <p:cNvSpPr txBox="1"/>
            <p:nvPr/>
          </p:nvSpPr>
          <p:spPr>
            <a:xfrm>
              <a:off x="1142976" y="2428874"/>
              <a:ext cx="235745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ct val="20000"/>
                </a:spcBef>
                <a:spcAft>
                  <a:spcPts val="0"/>
                </a:spcAft>
              </a:pPr>
              <a:r>
                <a:rPr lang="zh-CN" altLang="en-US" dirty="0"/>
                <a:t>桥梁只能单道通行</a:t>
              </a:r>
            </a:p>
          </p:txBody>
        </p:sp>
        <p:sp>
          <p:nvSpPr>
            <p:cNvPr id="12" name="TextBox 11"/>
            <p:cNvSpPr txBox="1"/>
            <p:nvPr/>
          </p:nvSpPr>
          <p:spPr>
            <a:xfrm>
              <a:off x="844893" y="2428874"/>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844894" y="4000504"/>
            <a:ext cx="6391403" cy="428628"/>
            <a:chOff x="844893" y="3143254"/>
            <a:chExt cx="6391403" cy="428628"/>
          </a:xfrm>
        </p:grpSpPr>
        <p:sp>
          <p:nvSpPr>
            <p:cNvPr id="15" name="内容占位符 2"/>
            <p:cNvSpPr txBox="1"/>
            <p:nvPr/>
          </p:nvSpPr>
          <p:spPr>
            <a:xfrm>
              <a:off x="1142976" y="3143254"/>
              <a:ext cx="60933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eaLnBrk="1" fontAlgn="auto" hangingPunct="1">
                <a:spcBef>
                  <a:spcPct val="20000"/>
                </a:spcBef>
                <a:spcAft>
                  <a:spcPts val="0"/>
                </a:spcAft>
              </a:pPr>
              <a:r>
                <a:rPr lang="zh-CN" altLang="en-US" dirty="0"/>
                <a:t>可能出现死锁</a:t>
              </a:r>
            </a:p>
          </p:txBody>
        </p:sp>
        <p:sp>
          <p:nvSpPr>
            <p:cNvPr id="16" name="TextBox 15"/>
            <p:cNvSpPr txBox="1"/>
            <p:nvPr/>
          </p:nvSpPr>
          <p:spPr>
            <a:xfrm>
              <a:off x="844893" y="3143254"/>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44894" y="3643314"/>
            <a:ext cx="3869983" cy="428628"/>
            <a:chOff x="844893" y="2786064"/>
            <a:chExt cx="3869983" cy="428628"/>
          </a:xfrm>
        </p:grpSpPr>
        <p:sp>
          <p:nvSpPr>
            <p:cNvPr id="13" name="内容占位符 2"/>
            <p:cNvSpPr txBox="1"/>
            <p:nvPr/>
          </p:nvSpPr>
          <p:spPr>
            <a:xfrm>
              <a:off x="1142976" y="2786064"/>
              <a:ext cx="357190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ct val="20000"/>
                </a:spcBef>
                <a:spcAft>
                  <a:spcPts val="0"/>
                </a:spcAft>
              </a:pPr>
              <a:r>
                <a:rPr lang="zh-CN" altLang="en-US" dirty="0"/>
                <a:t>桥的每个部分可视为一个资源</a:t>
              </a:r>
            </a:p>
          </p:txBody>
        </p:sp>
        <p:sp>
          <p:nvSpPr>
            <p:cNvPr id="14" name="TextBox 13"/>
            <p:cNvSpPr txBox="1"/>
            <p:nvPr/>
          </p:nvSpPr>
          <p:spPr>
            <a:xfrm>
              <a:off x="844893" y="2786064"/>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24" name="Group 17"/>
          <p:cNvGrpSpPr/>
          <p:nvPr/>
        </p:nvGrpSpPr>
        <p:grpSpPr bwMode="auto">
          <a:xfrm>
            <a:off x="-540568" y="2962032"/>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45" name="Rectangle 18"/>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46" name="Rectangle 19"/>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7" name="组合 6"/>
          <p:cNvGrpSpPr/>
          <p:nvPr/>
        </p:nvGrpSpPr>
        <p:grpSpPr>
          <a:xfrm>
            <a:off x="949301" y="1857364"/>
            <a:ext cx="6276975" cy="1371600"/>
            <a:chOff x="949300" y="1000114"/>
            <a:chExt cx="6276975" cy="1371600"/>
          </a:xfrm>
        </p:grpSpPr>
        <p:grpSp>
          <p:nvGrpSpPr>
            <p:cNvPr id="22" name="Group 5"/>
            <p:cNvGrpSpPr/>
            <p:nvPr/>
          </p:nvGrpSpPr>
          <p:grpSpPr bwMode="auto">
            <a:xfrm>
              <a:off x="977875" y="1000114"/>
              <a:ext cx="6248400" cy="381000"/>
              <a:chOff x="0" y="0"/>
              <a:chExt cx="3936" cy="240"/>
            </a:xfrm>
          </p:grpSpPr>
          <p:sp>
            <p:nvSpPr>
              <p:cNvPr id="52" name="Line 6"/>
              <p:cNvSpPr>
                <a:spLocks noChangeShapeType="1"/>
              </p:cNvSpPr>
              <p:nvPr/>
            </p:nvSpPr>
            <p:spPr bwMode="auto">
              <a:xfrm>
                <a:off x="0" y="0"/>
                <a:ext cx="1152" cy="0"/>
              </a:xfrm>
              <a:prstGeom prst="line">
                <a:avLst/>
              </a:prstGeom>
              <a:noFill/>
              <a:ln w="3810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53" name="Line 7"/>
              <p:cNvSpPr>
                <a:spLocks noChangeShapeType="1"/>
              </p:cNvSpPr>
              <p:nvPr/>
            </p:nvSpPr>
            <p:spPr bwMode="auto">
              <a:xfrm>
                <a:off x="1152" y="0"/>
                <a:ext cx="384" cy="240"/>
              </a:xfrm>
              <a:prstGeom prst="line">
                <a:avLst/>
              </a:prstGeom>
              <a:noFill/>
              <a:ln w="3810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54" name="Line 8"/>
              <p:cNvSpPr>
                <a:spLocks noChangeShapeType="1"/>
              </p:cNvSpPr>
              <p:nvPr/>
            </p:nvSpPr>
            <p:spPr bwMode="auto">
              <a:xfrm>
                <a:off x="1536" y="240"/>
                <a:ext cx="864" cy="0"/>
              </a:xfrm>
              <a:prstGeom prst="line">
                <a:avLst/>
              </a:prstGeom>
              <a:noFill/>
              <a:ln w="3810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55" name="Line 9"/>
              <p:cNvSpPr>
                <a:spLocks noChangeShapeType="1"/>
              </p:cNvSpPr>
              <p:nvPr/>
            </p:nvSpPr>
            <p:spPr bwMode="auto">
              <a:xfrm flipV="1">
                <a:off x="2400" y="18"/>
                <a:ext cx="384" cy="222"/>
              </a:xfrm>
              <a:prstGeom prst="line">
                <a:avLst/>
              </a:prstGeom>
              <a:noFill/>
              <a:ln w="3810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56" name="Line 10"/>
              <p:cNvSpPr>
                <a:spLocks noChangeShapeType="1"/>
              </p:cNvSpPr>
              <p:nvPr/>
            </p:nvSpPr>
            <p:spPr bwMode="auto">
              <a:xfrm>
                <a:off x="2784" y="12"/>
                <a:ext cx="1152" cy="0"/>
              </a:xfrm>
              <a:prstGeom prst="line">
                <a:avLst/>
              </a:prstGeom>
              <a:noFill/>
              <a:ln w="3810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23" name="Group 11"/>
            <p:cNvGrpSpPr/>
            <p:nvPr/>
          </p:nvGrpSpPr>
          <p:grpSpPr bwMode="auto">
            <a:xfrm flipV="1">
              <a:off x="977875" y="1990714"/>
              <a:ext cx="6248400" cy="381000"/>
              <a:chOff x="0" y="0"/>
              <a:chExt cx="3936" cy="240"/>
            </a:xfrm>
          </p:grpSpPr>
          <p:sp>
            <p:nvSpPr>
              <p:cNvPr id="47" name="Line 12"/>
              <p:cNvSpPr>
                <a:spLocks noChangeShapeType="1"/>
              </p:cNvSpPr>
              <p:nvPr/>
            </p:nvSpPr>
            <p:spPr bwMode="auto">
              <a:xfrm>
                <a:off x="0" y="0"/>
                <a:ext cx="1152" cy="0"/>
              </a:xfrm>
              <a:prstGeom prst="line">
                <a:avLst/>
              </a:prstGeom>
              <a:noFill/>
              <a:ln w="3175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48" name="Line 13"/>
              <p:cNvSpPr>
                <a:spLocks noChangeShapeType="1"/>
              </p:cNvSpPr>
              <p:nvPr/>
            </p:nvSpPr>
            <p:spPr bwMode="auto">
              <a:xfrm>
                <a:off x="1152" y="0"/>
                <a:ext cx="384" cy="240"/>
              </a:xfrm>
              <a:prstGeom prst="line">
                <a:avLst/>
              </a:prstGeom>
              <a:noFill/>
              <a:ln w="3175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49" name="Line 14"/>
              <p:cNvSpPr>
                <a:spLocks noChangeShapeType="1"/>
              </p:cNvSpPr>
              <p:nvPr/>
            </p:nvSpPr>
            <p:spPr bwMode="auto">
              <a:xfrm>
                <a:off x="1536" y="240"/>
                <a:ext cx="864" cy="0"/>
              </a:xfrm>
              <a:prstGeom prst="line">
                <a:avLst/>
              </a:prstGeom>
              <a:noFill/>
              <a:ln w="3175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50" name="Line 15"/>
              <p:cNvSpPr>
                <a:spLocks noChangeShapeType="1"/>
              </p:cNvSpPr>
              <p:nvPr/>
            </p:nvSpPr>
            <p:spPr bwMode="auto">
              <a:xfrm flipV="1">
                <a:off x="2400" y="18"/>
                <a:ext cx="384" cy="222"/>
              </a:xfrm>
              <a:prstGeom prst="line">
                <a:avLst/>
              </a:prstGeom>
              <a:noFill/>
              <a:ln w="3175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51" name="Line 16"/>
              <p:cNvSpPr>
                <a:spLocks noChangeShapeType="1"/>
              </p:cNvSpPr>
              <p:nvPr/>
            </p:nvSpPr>
            <p:spPr bwMode="auto">
              <a:xfrm>
                <a:off x="2784" y="12"/>
                <a:ext cx="1152" cy="0"/>
              </a:xfrm>
              <a:prstGeom prst="line">
                <a:avLst/>
              </a:prstGeom>
              <a:noFill/>
              <a:ln w="31750">
                <a:solidFill>
                  <a:schemeClr val="tx1"/>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sp>
          <p:nvSpPr>
            <p:cNvPr id="25" name="Line 20"/>
            <p:cNvSpPr>
              <a:spLocks noChangeShapeType="1"/>
            </p:cNvSpPr>
            <p:nvPr/>
          </p:nvSpPr>
          <p:spPr bwMode="auto">
            <a:xfrm>
              <a:off x="949300" y="1666864"/>
              <a:ext cx="2019300" cy="0"/>
            </a:xfrm>
            <a:prstGeom prst="line">
              <a:avLst/>
            </a:prstGeom>
            <a:noFill/>
            <a:ln w="28575">
              <a:solidFill>
                <a:schemeClr val="tx1"/>
              </a:solidFill>
              <a:prstDash val="dash"/>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26" name="Line 21"/>
            <p:cNvSpPr>
              <a:spLocks noChangeShapeType="1"/>
            </p:cNvSpPr>
            <p:nvPr/>
          </p:nvSpPr>
          <p:spPr bwMode="auto">
            <a:xfrm>
              <a:off x="5149825" y="1657339"/>
              <a:ext cx="2019300" cy="0"/>
            </a:xfrm>
            <a:prstGeom prst="line">
              <a:avLst/>
            </a:prstGeom>
            <a:noFill/>
            <a:ln w="28575">
              <a:solidFill>
                <a:schemeClr val="tx1"/>
              </a:solidFill>
              <a:prstDash val="dash"/>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33" name="Group 22"/>
          <p:cNvGrpSpPr/>
          <p:nvPr/>
        </p:nvGrpSpPr>
        <p:grpSpPr bwMode="auto">
          <a:xfrm>
            <a:off x="-540568" y="1919277"/>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43" name="Rectangle 23"/>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44" name="Rectangle 24"/>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34" name="Group 25"/>
          <p:cNvGrpSpPr/>
          <p:nvPr/>
        </p:nvGrpSpPr>
        <p:grpSpPr bwMode="auto">
          <a:xfrm flipH="1">
            <a:off x="9252520" y="2975356"/>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41" name="Rectangle 26"/>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42" name="Rectangle 27"/>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36" name="Group 31"/>
          <p:cNvGrpSpPr/>
          <p:nvPr/>
        </p:nvGrpSpPr>
        <p:grpSpPr bwMode="auto">
          <a:xfrm flipH="1">
            <a:off x="9252520" y="1933564"/>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37"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38"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21" name="组合 20"/>
          <p:cNvGrpSpPr/>
          <p:nvPr/>
        </p:nvGrpSpPr>
        <p:grpSpPr>
          <a:xfrm>
            <a:off x="1259632" y="4394908"/>
            <a:ext cx="6336704" cy="355598"/>
            <a:chOff x="1259632" y="3537658"/>
            <a:chExt cx="6336704" cy="355598"/>
          </a:xfrm>
        </p:grpSpPr>
        <p:sp>
          <p:nvSpPr>
            <p:cNvPr id="30" name="内容占位符 2"/>
            <p:cNvSpPr txBox="1"/>
            <p:nvPr/>
          </p:nvSpPr>
          <p:spPr>
            <a:xfrm>
              <a:off x="1394985" y="3537658"/>
              <a:ext cx="6201351"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t>对向行驶车辆在桥上相遇</a:t>
              </a:r>
              <a:endParaRPr lang="en-US" altLang="zh-CN" dirty="0"/>
            </a:p>
          </p:txBody>
        </p:sp>
        <p:pic>
          <p:nvPicPr>
            <p:cNvPr id="57" name="图片 56" descr="小点1.png"/>
            <p:cNvPicPr>
              <a:picLocks noChangeAspect="1"/>
            </p:cNvPicPr>
            <p:nvPr/>
          </p:nvPicPr>
          <p:blipFill>
            <a:blip r:embed="rId2" cstate="print"/>
            <a:stretch>
              <a:fillRect/>
            </a:stretch>
          </p:blipFill>
          <p:spPr>
            <a:xfrm>
              <a:off x="1259632" y="3634208"/>
              <a:ext cx="151066" cy="148997"/>
            </a:xfrm>
            <a:prstGeom prst="rect">
              <a:avLst/>
            </a:prstGeom>
            <a:effectLst/>
          </p:spPr>
        </p:pic>
      </p:grpSp>
      <p:grpSp>
        <p:nvGrpSpPr>
          <p:cNvPr id="27" name="组合 26"/>
          <p:cNvGrpSpPr/>
          <p:nvPr/>
        </p:nvGrpSpPr>
        <p:grpSpPr>
          <a:xfrm>
            <a:off x="1262423" y="4722305"/>
            <a:ext cx="6316467" cy="355598"/>
            <a:chOff x="1262422" y="3865055"/>
            <a:chExt cx="6316467" cy="355598"/>
          </a:xfrm>
        </p:grpSpPr>
        <p:pic>
          <p:nvPicPr>
            <p:cNvPr id="29" name="图片 28" descr="小点1.png"/>
            <p:cNvPicPr>
              <a:picLocks noChangeAspect="1"/>
            </p:cNvPicPr>
            <p:nvPr/>
          </p:nvPicPr>
          <p:blipFill>
            <a:blip r:embed="rId2" cstate="print"/>
            <a:stretch>
              <a:fillRect/>
            </a:stretch>
          </p:blipFill>
          <p:spPr>
            <a:xfrm>
              <a:off x="1262422" y="3941881"/>
              <a:ext cx="151066" cy="148997"/>
            </a:xfrm>
            <a:prstGeom prst="rect">
              <a:avLst/>
            </a:prstGeom>
            <a:effectLst/>
          </p:spPr>
        </p:pic>
        <p:sp>
          <p:nvSpPr>
            <p:cNvPr id="58" name="内容占位符 2"/>
            <p:cNvSpPr txBox="1"/>
            <p:nvPr/>
          </p:nvSpPr>
          <p:spPr>
            <a:xfrm>
              <a:off x="1377538" y="3865055"/>
              <a:ext cx="6201351"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t>解决方法：</a:t>
              </a:r>
              <a:endParaRPr lang="en-US" altLang="zh-CN" dirty="0"/>
            </a:p>
            <a:p>
              <a:pPr marL="0" lvl="1" indent="0" eaLnBrk="1" fontAlgn="auto" hangingPunct="1">
                <a:lnSpc>
                  <a:spcPct val="90000"/>
                </a:lnSpc>
                <a:spcBef>
                  <a:spcPts val="0"/>
                </a:spcBef>
                <a:spcAft>
                  <a:spcPts val="0"/>
                </a:spcAft>
              </a:pPr>
              <a:r>
                <a:rPr lang="zh-CN" altLang="en-US" dirty="0"/>
                <a:t>合理分配资源</a:t>
              </a:r>
              <a:endParaRPr lang="en-US" altLang="zh-CN" dirty="0"/>
            </a:p>
            <a:p>
              <a:pPr marL="0" lvl="1" indent="0" eaLnBrk="1" fontAlgn="auto" hangingPunct="1">
                <a:lnSpc>
                  <a:spcPct val="90000"/>
                </a:lnSpc>
                <a:spcBef>
                  <a:spcPts val="0"/>
                </a:spcBef>
                <a:spcAft>
                  <a:spcPts val="0"/>
                </a:spcAft>
              </a:pPr>
              <a:r>
                <a:rPr lang="zh-CN" altLang="en-US" dirty="0"/>
                <a:t>一个方向的车辆倒退</a:t>
              </a:r>
              <a:r>
                <a:rPr lang="en-US" altLang="zh-CN" dirty="0"/>
                <a:t>(</a:t>
              </a:r>
              <a:r>
                <a:rPr lang="zh-CN" altLang="en-US" dirty="0"/>
                <a:t>资源抢占和回退</a:t>
              </a:r>
              <a:r>
                <a:rPr lang="en-US" altLang="zh-CN" dirty="0"/>
                <a:t>)</a:t>
              </a:r>
              <a:endParaRPr lang="zh-CN" altLang="en-US" dirty="0"/>
            </a:p>
          </p:txBody>
        </p:sp>
      </p:grpSp>
      <p:grpSp>
        <p:nvGrpSpPr>
          <p:cNvPr id="62" name="Group 17"/>
          <p:cNvGrpSpPr/>
          <p:nvPr/>
        </p:nvGrpSpPr>
        <p:grpSpPr bwMode="auto">
          <a:xfrm>
            <a:off x="-538167" y="2963422"/>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63" name="Rectangle 18"/>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64" name="Rectangle 19"/>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65" name="Group 17"/>
          <p:cNvGrpSpPr/>
          <p:nvPr/>
        </p:nvGrpSpPr>
        <p:grpSpPr bwMode="auto">
          <a:xfrm>
            <a:off x="-540568" y="2962032"/>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66" name="Rectangle 18"/>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67" name="Rectangle 19"/>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68" name="Group 31"/>
          <p:cNvGrpSpPr/>
          <p:nvPr/>
        </p:nvGrpSpPr>
        <p:grpSpPr bwMode="auto">
          <a:xfrm flipH="1">
            <a:off x="9252520" y="1933048"/>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69"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70"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71" name="Group 31"/>
          <p:cNvGrpSpPr/>
          <p:nvPr/>
        </p:nvGrpSpPr>
        <p:grpSpPr bwMode="auto">
          <a:xfrm flipH="1">
            <a:off x="9242995" y="1927344"/>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72"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73"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sp>
        <p:nvSpPr>
          <p:cNvPr id="5" name="文本框 4"/>
          <p:cNvSpPr txBox="1"/>
          <p:nvPr/>
        </p:nvSpPr>
        <p:spPr>
          <a:xfrm>
            <a:off x="3602355" y="2352675"/>
            <a:ext cx="338554" cy="369332"/>
          </a:xfrm>
          <a:prstGeom prst="rect">
            <a:avLst/>
          </a:prstGeom>
          <a:noFill/>
        </p:spPr>
        <p:txBody>
          <a:bodyPr wrap="none" rtlCol="0" anchor="t">
            <a:spAutoFit/>
          </a:bodyPr>
          <a:lstStyle/>
          <a:p>
            <a:pPr eaLnBrk="1" fontAlgn="auto" hangingPunct="1">
              <a:spcBef>
                <a:spcPts val="0"/>
              </a:spcBef>
              <a:spcAft>
                <a:spcPts val="0"/>
              </a:spcAft>
            </a:pPr>
            <a:r>
              <a:rPr lang="x-none" altLang="zh-CN">
                <a:solidFill>
                  <a:prstClr val="black"/>
                </a:solidFill>
                <a:ea typeface="微软雅黑"/>
              </a:rPr>
              <a:t>A</a:t>
            </a:r>
          </a:p>
        </p:txBody>
      </p:sp>
      <p:sp>
        <p:nvSpPr>
          <p:cNvPr id="6" name="文本框 5"/>
          <p:cNvSpPr txBox="1"/>
          <p:nvPr/>
        </p:nvSpPr>
        <p:spPr>
          <a:xfrm>
            <a:off x="4312285" y="2352675"/>
            <a:ext cx="338554" cy="369332"/>
          </a:xfrm>
          <a:prstGeom prst="rect">
            <a:avLst/>
          </a:prstGeom>
          <a:noFill/>
        </p:spPr>
        <p:txBody>
          <a:bodyPr wrap="none" rtlCol="0" anchor="t">
            <a:spAutoFit/>
          </a:bodyPr>
          <a:lstStyle/>
          <a:p>
            <a:pPr eaLnBrk="1" fontAlgn="auto" hangingPunct="1">
              <a:spcBef>
                <a:spcPts val="0"/>
              </a:spcBef>
              <a:spcAft>
                <a:spcPts val="0"/>
              </a:spcAft>
            </a:pPr>
            <a:r>
              <a:rPr lang="x-none" altLang="zh-CN">
                <a:solidFill>
                  <a:prstClr val="black"/>
                </a:solidFill>
                <a:ea typeface="微软雅黑"/>
              </a:rPr>
              <a:t>B</a:t>
            </a:r>
          </a:p>
        </p:txBody>
      </p:sp>
      <p:sp>
        <p:nvSpPr>
          <p:cNvPr id="10" name="Line 21"/>
          <p:cNvSpPr>
            <a:spLocks noChangeShapeType="1"/>
          </p:cNvSpPr>
          <p:nvPr/>
        </p:nvSpPr>
        <p:spPr bwMode="auto">
          <a:xfrm flipH="1" flipV="1">
            <a:off x="3416275" y="2282814"/>
            <a:ext cx="7620" cy="508000"/>
          </a:xfrm>
          <a:prstGeom prst="line">
            <a:avLst/>
          </a:prstGeom>
          <a:noFill/>
          <a:ln w="28575">
            <a:solidFill>
              <a:schemeClr val="tx1"/>
            </a:solidFill>
            <a:prstDash val="dash"/>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11" name="Line 21"/>
          <p:cNvSpPr>
            <a:spLocks noChangeShapeType="1"/>
          </p:cNvSpPr>
          <p:nvPr/>
        </p:nvSpPr>
        <p:spPr bwMode="auto">
          <a:xfrm flipH="1" flipV="1">
            <a:off x="4780255" y="2270114"/>
            <a:ext cx="7620" cy="508000"/>
          </a:xfrm>
          <a:prstGeom prst="line">
            <a:avLst/>
          </a:prstGeom>
          <a:noFill/>
          <a:ln w="28575">
            <a:solidFill>
              <a:schemeClr val="tx1"/>
            </a:solidFill>
            <a:prstDash val="dash"/>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17" name="Line 21"/>
          <p:cNvSpPr>
            <a:spLocks noChangeShapeType="1"/>
          </p:cNvSpPr>
          <p:nvPr/>
        </p:nvSpPr>
        <p:spPr bwMode="auto">
          <a:xfrm flipH="1" flipV="1">
            <a:off x="4082390" y="2270114"/>
            <a:ext cx="7620" cy="508000"/>
          </a:xfrm>
          <a:prstGeom prst="line">
            <a:avLst/>
          </a:prstGeom>
          <a:noFill/>
          <a:ln w="28575">
            <a:solidFill>
              <a:schemeClr val="tx1"/>
            </a:solidFill>
            <a:prstDash val="dash"/>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0" presetClass="path" presetSubtype="0" accel="50000" decel="50000" fill="hold" nodeType="afterEffect">
                                  <p:stCondLst>
                                    <p:cond delay="0"/>
                                  </p:stCondLst>
                                  <p:childTnLst>
                                    <p:animMotion origin="layout" path="M 0.07917 -0.03272 L 0.3283 -0.03117 L 0.4066 -0.10401 L 0.55903 -0.10525 L 0.63489 -0.03426 L 1.08507 -0.03735 L 1.08073 -0.0358 " pathEditMode="relative" ptsTypes="AAAAAAA">
                                      <p:cBhvr>
                                        <p:cTn id="15" dur="6000" fill="hold"/>
                                        <p:tgtEl>
                                          <p:spTgt spid="24"/>
                                        </p:tgtEl>
                                        <p:attrNameLst>
                                          <p:attrName>ppt_x</p:attrName>
                                          <p:attrName>ppt_y</p:attrName>
                                        </p:attrNameLst>
                                      </p:cBhvr>
                                    </p:animMotion>
                                  </p:childTnLst>
                                </p:cTn>
                              </p:par>
                              <p:par>
                                <p:cTn id="16" presetID="0" presetClass="path" presetSubtype="0" accel="50000" decel="50000" fill="hold" nodeType="withEffect">
                                  <p:stCondLst>
                                    <p:cond delay="2000"/>
                                  </p:stCondLst>
                                  <p:childTnLst>
                                    <p:animMotion origin="layout" path="M -0.15348 0.02469 L -0.44862 0.02315 L -0.51268 0.09167 L -0.66684 0.09475 L -0.73855 0.01451 L -1.08507 0.01451 L -1.08681 0.01728 " pathEditMode="relative" ptsTypes="AAAAAAA">
                                      <p:cBhvr>
                                        <p:cTn id="17" dur="6000" fill="hold"/>
                                        <p:tgtEl>
                                          <p:spTgt spid="36"/>
                                        </p:tgtEl>
                                        <p:attrNameLst>
                                          <p:attrName>ppt_x</p:attrName>
                                          <p:attrName>ppt_y</p:attrName>
                                        </p:attrNameLst>
                                      </p:cBhvr>
                                    </p:animMotion>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500"/>
                            </p:stCondLst>
                            <p:childTnLst>
                              <p:par>
                                <p:cTn id="24" presetID="0" presetClass="path" presetSubtype="0" accel="50000" decel="50000" fill="hold" nodeType="afterEffect">
                                  <p:stCondLst>
                                    <p:cond delay="0"/>
                                  </p:stCondLst>
                                  <p:childTnLst>
                                    <p:animMotion origin="layout" path="M 0.07916 -0.03272 L 0.32829 -0.03117 L 0.40659 -0.10401 L 0.55902 -0.10525 L 0.63489 -0.03426 L 1.08507 -0.03735 L 1.08073 -0.0358 " pathEditMode="relative" rAng="0" ptsTypes="AAAAAAA">
                                      <p:cBhvr>
                                        <p:cTn id="25" dur="6000" fill="hold"/>
                                        <p:tgtEl>
                                          <p:spTgt spid="62"/>
                                        </p:tgtEl>
                                        <p:attrNameLst>
                                          <p:attrName>ppt_x</p:attrName>
                                          <p:attrName>ppt_y</p:attrName>
                                        </p:attrNameLst>
                                      </p:cBhvr>
                                      <p:rCtr x="50295" y="-3549"/>
                                    </p:animMotion>
                                  </p:childTnLst>
                                </p:cTn>
                              </p:par>
                              <p:par>
                                <p:cTn id="26" presetID="0" presetClass="path" presetSubtype="0" accel="50000" decel="50000" fill="hold" nodeType="withEffect">
                                  <p:stCondLst>
                                    <p:cond delay="1500"/>
                                  </p:stCondLst>
                                  <p:childTnLst>
                                    <p:animMotion origin="layout" path="M 0.07917 -0.03272 L 0.3283 -0.03117 L 0.4066 -0.10401 L 0.55903 -0.10525 L 0.63489 -0.03426 L 1.08507 -0.03735 L 1.08073 -0.0358 " pathEditMode="relative" rAng="0" ptsTypes="AAAAAAA">
                                      <p:cBhvr>
                                        <p:cTn id="27" dur="6000" fill="hold"/>
                                        <p:tgtEl>
                                          <p:spTgt spid="65"/>
                                        </p:tgtEl>
                                        <p:attrNameLst>
                                          <p:attrName>ppt_x</p:attrName>
                                          <p:attrName>ppt_y</p:attrName>
                                        </p:attrNameLst>
                                      </p:cBhvr>
                                      <p:rCtr x="50295" y="-3549"/>
                                    </p:animMotion>
                                  </p:childTnLst>
                                </p:cTn>
                              </p:par>
                              <p:par>
                                <p:cTn id="28" presetID="0" presetClass="path" presetSubtype="0" accel="50000" decel="50000" fill="hold" nodeType="withEffect">
                                  <p:stCondLst>
                                    <p:cond delay="2500"/>
                                  </p:stCondLst>
                                  <p:childTnLst>
                                    <p:animMotion origin="layout" path="M -0.15348 0.02469 L -0.44862 0.02315 L -0.51268 0.09167 L -0.66684 0.09475 L -0.73855 0.01451 L -1.08507 0.01451 L -1.08681 0.01728 " pathEditMode="relative" rAng="0" ptsTypes="AAAAAAA">
                                      <p:cBhvr>
                                        <p:cTn id="29" dur="6000" fill="hold"/>
                                        <p:tgtEl>
                                          <p:spTgt spid="68"/>
                                        </p:tgtEl>
                                        <p:attrNameLst>
                                          <p:attrName>ppt_x</p:attrName>
                                          <p:attrName>ppt_y</p:attrName>
                                        </p:attrNameLst>
                                      </p:cBhvr>
                                      <p:rCtr x="-46667" y="2994"/>
                                    </p:animMotion>
                                  </p:childTnLst>
                                </p:cTn>
                              </p:par>
                              <p:par>
                                <p:cTn id="30" presetID="0" presetClass="path" presetSubtype="0" accel="50000" decel="50000" fill="hold" nodeType="withEffect">
                                  <p:stCondLst>
                                    <p:cond delay="4000"/>
                                  </p:stCondLst>
                                  <p:childTnLst>
                                    <p:animMotion origin="layout" path="M -0.15347 0.0247 L -0.44861 0.02315 L -0.51267 0.09167 L -0.66684 0.09476 L -0.73854 0.01451 L -1.08507 0.01451 L -1.0868 0.01729 " pathEditMode="relative" rAng="0" ptsTypes="AAAAAAA">
                                      <p:cBhvr>
                                        <p:cTn id="31" dur="6000" fill="hold"/>
                                        <p:tgtEl>
                                          <p:spTgt spid="71"/>
                                        </p:tgtEl>
                                        <p:attrNameLst>
                                          <p:attrName>ppt_x</p:attrName>
                                          <p:attrName>ppt_y</p:attrName>
                                        </p:attrNameLst>
                                      </p:cBhvr>
                                      <p:rCtr x="-46667" y="2994"/>
                                    </p:animMotion>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500"/>
                                        <p:tgtEl>
                                          <p:spTgt spid="21"/>
                                        </p:tgtEl>
                                      </p:cBhvr>
                                    </p:animEffect>
                                  </p:childTnLst>
                                </p:cTn>
                              </p:par>
                            </p:childTnLst>
                          </p:cTn>
                        </p:par>
                        <p:par>
                          <p:cTn id="41" fill="hold">
                            <p:stCondLst>
                              <p:cond delay="1000"/>
                            </p:stCondLst>
                            <p:childTnLst>
                              <p:par>
                                <p:cTn id="42" presetID="0" presetClass="path" presetSubtype="0" accel="50000" decel="50000" fill="hold" nodeType="afterEffect">
                                  <p:stCondLst>
                                    <p:cond delay="0"/>
                                  </p:stCondLst>
                                  <p:childTnLst>
                                    <p:animMotion origin="layout" path="M 0.08108 0.17006 L 0.33073 0.17006 L 0.4066 0.09877 L 0.4408 0.1 L 0.44167 0.1 " pathEditMode="relative" rAng="0" ptsTypes="AAAAA">
                                      <p:cBhvr>
                                        <p:cTn id="43" dur="2000" fill="hold"/>
                                        <p:tgtEl>
                                          <p:spTgt spid="33"/>
                                        </p:tgtEl>
                                        <p:attrNameLst>
                                          <p:attrName>ppt_x</p:attrName>
                                          <p:attrName>ppt_y</p:attrName>
                                        </p:attrNameLst>
                                      </p:cBhvr>
                                      <p:rCtr x="18021" y="-3580"/>
                                    </p:animMotion>
                                  </p:childTnLst>
                                </p:cTn>
                              </p:par>
                              <p:par>
                                <p:cTn id="44" presetID="0" presetClass="path" presetSubtype="0" accel="50000" decel="50000" fill="hold" nodeType="withEffect">
                                  <p:stCondLst>
                                    <p:cond delay="0"/>
                                  </p:stCondLst>
                                  <p:childTnLst>
                                    <p:animMotion origin="layout" path="M -0.15591 -0.17901 L -0.44757 -0.17778 L -0.51355 -0.10926 L -0.56007 -0.10926 L -0.55938 -0.10772 " pathEditMode="relative" ptsTypes="AAAAA">
                                      <p:cBhvr>
                                        <p:cTn id="45" dur="2000" fill="hold"/>
                                        <p:tgtEl>
                                          <p:spTgt spid="34"/>
                                        </p:tgtEl>
                                        <p:attrNameLst>
                                          <p:attrName>ppt_x</p:attrName>
                                          <p:attrName>ppt_y</p:attrName>
                                        </p:attrNameLst>
                                      </p:cBhvr>
                                    </p:animMotion>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wipe(left)">
                                      <p:cBhvr>
                                        <p:cTn id="50" dur="500"/>
                                        <p:tgtEl>
                                          <p:spTgt spid="27"/>
                                        </p:tgtEl>
                                      </p:cBhvr>
                                    </p:animEffect>
                                  </p:childTnLst>
                                </p:cTn>
                              </p:par>
                            </p:childTnLst>
                          </p:cTn>
                        </p:par>
                        <p:par>
                          <p:cTn id="51" fill="hold">
                            <p:stCondLst>
                              <p:cond delay="500"/>
                            </p:stCondLst>
                            <p:childTnLst>
                              <p:par>
                                <p:cTn id="52" presetID="0" presetClass="path" presetSubtype="0" accel="50000" decel="50000" fill="hold" nodeType="afterEffect">
                                  <p:stCondLst>
                                    <p:cond delay="0"/>
                                  </p:stCondLst>
                                  <p:childTnLst>
                                    <p:animMotion origin="layout" path="M 0.44166 0.1 L 0.40486 0.09877 L 0.32829 0.17562 L 0.27916 0.17562 L 0.27916 0.17562 " pathEditMode="relative" ptsTypes="AAAAA">
                                      <p:cBhvr>
                                        <p:cTn id="53" dur="2000" fill="hold"/>
                                        <p:tgtEl>
                                          <p:spTgt spid="33"/>
                                        </p:tgtEl>
                                        <p:attrNameLst>
                                          <p:attrName>ppt_x</p:attrName>
                                          <p:attrName>ppt_y</p:attrName>
                                        </p:attrNameLst>
                                      </p:cBhvr>
                                    </p:animMotion>
                                  </p:childTnLst>
                                </p:cTn>
                              </p:par>
                            </p:childTnLst>
                          </p:cTn>
                        </p:par>
                        <p:par>
                          <p:cTn id="54" fill="hold">
                            <p:stCondLst>
                              <p:cond delay="2500"/>
                            </p:stCondLst>
                            <p:childTnLst>
                              <p:par>
                                <p:cTn id="55" presetID="0" presetClass="path" presetSubtype="0" accel="50000" decel="50000" fill="hold" nodeType="afterEffect">
                                  <p:stCondLst>
                                    <p:cond delay="0"/>
                                  </p:stCondLst>
                                  <p:childTnLst>
                                    <p:animMotion origin="layout" path="M -0.55938 -0.10771 L -0.66441 -0.10771 L -0.73785 -0.18919 L -1.07188 -0.19043 L -1.07188 -0.19043 " pathEditMode="relative" ptsTypes="AAAAA">
                                      <p:cBhvr>
                                        <p:cTn id="56" dur="2000" fill="hold"/>
                                        <p:tgtEl>
                                          <p:spTgt spid="3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108492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lvl="0" algn="ctr">
              <a:spcBef>
                <a:spcPct val="0"/>
              </a:spcBef>
            </a:pPr>
            <a:r>
              <a:rPr lang="zh-CN" altLang="en-US" dirty="0"/>
              <a:t>死锁示例：单向通行桥梁</a:t>
            </a:r>
            <a:endParaRPr lang="zh-CN" altLang="en-US" dirty="0">
              <a:cs typeface="+mj-cs"/>
            </a:endParaRPr>
          </a:p>
        </p:txBody>
      </p:sp>
      <p:grpSp>
        <p:nvGrpSpPr>
          <p:cNvPr id="2" name="组合 1"/>
          <p:cNvGrpSpPr/>
          <p:nvPr/>
        </p:nvGrpSpPr>
        <p:grpSpPr>
          <a:xfrm>
            <a:off x="844894" y="3286124"/>
            <a:ext cx="2655537" cy="428628"/>
            <a:chOff x="844893" y="2428874"/>
            <a:chExt cx="2655537" cy="428628"/>
          </a:xfrm>
        </p:grpSpPr>
        <p:sp>
          <p:nvSpPr>
            <p:cNvPr id="9" name="内容占位符 2"/>
            <p:cNvSpPr txBox="1"/>
            <p:nvPr/>
          </p:nvSpPr>
          <p:spPr>
            <a:xfrm>
              <a:off x="1142976" y="2428874"/>
              <a:ext cx="2357454"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桥梁只能单道通行</a:t>
              </a:r>
            </a:p>
          </p:txBody>
        </p:sp>
        <p:sp>
          <p:nvSpPr>
            <p:cNvPr id="12" name="TextBox 11"/>
            <p:cNvSpPr txBox="1"/>
            <p:nvPr/>
          </p:nvSpPr>
          <p:spPr>
            <a:xfrm>
              <a:off x="844893" y="242887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844894" y="4000504"/>
            <a:ext cx="6391403" cy="428628"/>
            <a:chOff x="844893" y="3143254"/>
            <a:chExt cx="6391403" cy="428628"/>
          </a:xfrm>
        </p:grpSpPr>
        <p:sp>
          <p:nvSpPr>
            <p:cNvPr id="15" name="内容占位符 2"/>
            <p:cNvSpPr txBox="1"/>
            <p:nvPr/>
          </p:nvSpPr>
          <p:spPr>
            <a:xfrm>
              <a:off x="1142976" y="3143254"/>
              <a:ext cx="60933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dirty="0"/>
                <a:t>可能出现</a:t>
              </a:r>
              <a:r>
                <a:rPr lang="zh-CN" altLang="en-US" dirty="0">
                  <a:solidFill>
                    <a:srgbClr val="FF0000"/>
                  </a:solidFill>
                </a:rPr>
                <a:t>死锁</a:t>
              </a:r>
            </a:p>
          </p:txBody>
        </p:sp>
        <p:sp>
          <p:nvSpPr>
            <p:cNvPr id="16" name="TextBox 15"/>
            <p:cNvSpPr txBox="1"/>
            <p:nvPr/>
          </p:nvSpPr>
          <p:spPr>
            <a:xfrm>
              <a:off x="844893" y="314325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844894" y="3643314"/>
            <a:ext cx="3869983" cy="428628"/>
            <a:chOff x="844893" y="2786064"/>
            <a:chExt cx="3869983" cy="428628"/>
          </a:xfrm>
        </p:grpSpPr>
        <p:sp>
          <p:nvSpPr>
            <p:cNvPr id="13" name="内容占位符 2"/>
            <p:cNvSpPr txBox="1"/>
            <p:nvPr/>
          </p:nvSpPr>
          <p:spPr>
            <a:xfrm>
              <a:off x="1142976" y="2786064"/>
              <a:ext cx="357190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a:spcBef>
                  <a:spcPct val="20000"/>
                </a:spcBef>
              </a:pPr>
              <a:r>
                <a:rPr lang="zh-CN" altLang="en-US" dirty="0"/>
                <a:t>桥的每个部分可视为一个资源</a:t>
              </a:r>
            </a:p>
          </p:txBody>
        </p:sp>
        <p:sp>
          <p:nvSpPr>
            <p:cNvPr id="14" name="TextBox 13"/>
            <p:cNvSpPr txBox="1"/>
            <p:nvPr/>
          </p:nvSpPr>
          <p:spPr>
            <a:xfrm>
              <a:off x="844893" y="278606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28" name="组合 27"/>
          <p:cNvGrpSpPr/>
          <p:nvPr/>
        </p:nvGrpSpPr>
        <p:grpSpPr>
          <a:xfrm>
            <a:off x="844894" y="4378589"/>
            <a:ext cx="5870247" cy="929900"/>
            <a:chOff x="844893" y="4155926"/>
            <a:chExt cx="5870247" cy="929900"/>
          </a:xfrm>
        </p:grpSpPr>
        <p:grpSp>
          <p:nvGrpSpPr>
            <p:cNvPr id="6" name="组合 5"/>
            <p:cNvGrpSpPr/>
            <p:nvPr/>
          </p:nvGrpSpPr>
          <p:grpSpPr>
            <a:xfrm>
              <a:off x="844893" y="4155926"/>
              <a:ext cx="2155471" cy="428628"/>
              <a:chOff x="844893" y="4155926"/>
              <a:chExt cx="2155471" cy="428628"/>
            </a:xfrm>
          </p:grpSpPr>
          <p:sp>
            <p:nvSpPr>
              <p:cNvPr id="17" name="内容占位符 2"/>
              <p:cNvSpPr txBox="1"/>
              <p:nvPr/>
            </p:nvSpPr>
            <p:spPr>
              <a:xfrm>
                <a:off x="1142976" y="4155926"/>
                <a:ext cx="1857388"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dirty="0"/>
                  <a:t>可能发生</a:t>
                </a:r>
                <a:r>
                  <a:rPr lang="zh-CN" altLang="en-US" dirty="0">
                    <a:solidFill>
                      <a:srgbClr val="FF0000"/>
                    </a:solidFill>
                  </a:rPr>
                  <a:t>饥饿</a:t>
                </a:r>
              </a:p>
            </p:txBody>
          </p:sp>
          <p:sp>
            <p:nvSpPr>
              <p:cNvPr id="18" name="TextBox 17"/>
              <p:cNvSpPr txBox="1"/>
              <p:nvPr/>
            </p:nvSpPr>
            <p:spPr>
              <a:xfrm>
                <a:off x="844893" y="415592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1262422" y="4514322"/>
              <a:ext cx="5452718" cy="571504"/>
              <a:chOff x="1262422" y="4514322"/>
              <a:chExt cx="5452718" cy="571504"/>
            </a:xfrm>
          </p:grpSpPr>
          <p:pic>
            <p:nvPicPr>
              <p:cNvPr id="19" name="图片 18" descr="小点1.png"/>
              <p:cNvPicPr>
                <a:picLocks noChangeAspect="1"/>
              </p:cNvPicPr>
              <p:nvPr/>
            </p:nvPicPr>
            <p:blipFill>
              <a:blip r:embed="rId3" cstate="print"/>
              <a:stretch>
                <a:fillRect/>
              </a:stretch>
            </p:blipFill>
            <p:spPr>
              <a:xfrm>
                <a:off x="1262422" y="4619098"/>
                <a:ext cx="151066" cy="148997"/>
              </a:xfrm>
              <a:prstGeom prst="rect">
                <a:avLst/>
              </a:prstGeom>
              <a:effectLst/>
            </p:spPr>
          </p:pic>
          <p:sp>
            <p:nvSpPr>
              <p:cNvPr id="20" name="内容占位符 2"/>
              <p:cNvSpPr txBox="1"/>
              <p:nvPr/>
            </p:nvSpPr>
            <p:spPr>
              <a:xfrm>
                <a:off x="1394985" y="4514322"/>
                <a:ext cx="5320155" cy="571504"/>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a:lnSpc>
                    <a:spcPct val="90000"/>
                  </a:lnSpc>
                </a:pPr>
                <a:r>
                  <a:rPr lang="zh-CN" altLang="en-US" dirty="0"/>
                  <a:t>由于一个方向的持续车流，另一个方向的车辆无法通过桥梁</a:t>
                </a:r>
              </a:p>
            </p:txBody>
          </p:sp>
        </p:grpSp>
      </p:grpSp>
      <p:grpSp>
        <p:nvGrpSpPr>
          <p:cNvPr id="24" name="Group 17"/>
          <p:cNvGrpSpPr/>
          <p:nvPr/>
        </p:nvGrpSpPr>
        <p:grpSpPr bwMode="auto">
          <a:xfrm>
            <a:off x="-540568" y="2962032"/>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45" name="Rectangle 18"/>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46" name="Rectangle 19"/>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grpSp>
        <p:nvGrpSpPr>
          <p:cNvPr id="7" name="组合 6"/>
          <p:cNvGrpSpPr/>
          <p:nvPr/>
        </p:nvGrpSpPr>
        <p:grpSpPr>
          <a:xfrm>
            <a:off x="949301" y="1857364"/>
            <a:ext cx="6276975" cy="1371600"/>
            <a:chOff x="949300" y="1000114"/>
            <a:chExt cx="6276975" cy="1371600"/>
          </a:xfrm>
        </p:grpSpPr>
        <p:grpSp>
          <p:nvGrpSpPr>
            <p:cNvPr id="22" name="Group 5"/>
            <p:cNvGrpSpPr/>
            <p:nvPr/>
          </p:nvGrpSpPr>
          <p:grpSpPr bwMode="auto">
            <a:xfrm>
              <a:off x="977875" y="1000114"/>
              <a:ext cx="6248400" cy="381000"/>
              <a:chOff x="0" y="0"/>
              <a:chExt cx="3936" cy="240"/>
            </a:xfrm>
          </p:grpSpPr>
          <p:sp>
            <p:nvSpPr>
              <p:cNvPr id="52" name="Line 6"/>
              <p:cNvSpPr>
                <a:spLocks noChangeShapeType="1"/>
              </p:cNvSpPr>
              <p:nvPr/>
            </p:nvSpPr>
            <p:spPr bwMode="auto">
              <a:xfrm>
                <a:off x="0" y="0"/>
                <a:ext cx="1152" cy="0"/>
              </a:xfrm>
              <a:prstGeom prst="line">
                <a:avLst/>
              </a:prstGeom>
              <a:noFill/>
              <a:ln w="38100">
                <a:solidFill>
                  <a:schemeClr val="tx1"/>
                </a:solidFill>
                <a:round/>
              </a:ln>
            </p:spPr>
            <p:txBody>
              <a:bodyPr wrap="none" anchor="ctr"/>
              <a:lstStyle/>
              <a:p>
                <a:endParaRPr lang="zh-CN" altLang="en-US"/>
              </a:p>
            </p:txBody>
          </p:sp>
          <p:sp>
            <p:nvSpPr>
              <p:cNvPr id="53" name="Line 7"/>
              <p:cNvSpPr>
                <a:spLocks noChangeShapeType="1"/>
              </p:cNvSpPr>
              <p:nvPr/>
            </p:nvSpPr>
            <p:spPr bwMode="auto">
              <a:xfrm>
                <a:off x="1152" y="0"/>
                <a:ext cx="384" cy="240"/>
              </a:xfrm>
              <a:prstGeom prst="line">
                <a:avLst/>
              </a:prstGeom>
              <a:noFill/>
              <a:ln w="38100">
                <a:solidFill>
                  <a:schemeClr val="tx1"/>
                </a:solidFill>
                <a:round/>
              </a:ln>
            </p:spPr>
            <p:txBody>
              <a:bodyPr wrap="none" anchor="ctr"/>
              <a:lstStyle/>
              <a:p>
                <a:endParaRPr lang="zh-CN" altLang="en-US"/>
              </a:p>
            </p:txBody>
          </p:sp>
          <p:sp>
            <p:nvSpPr>
              <p:cNvPr id="54" name="Line 8"/>
              <p:cNvSpPr>
                <a:spLocks noChangeShapeType="1"/>
              </p:cNvSpPr>
              <p:nvPr/>
            </p:nvSpPr>
            <p:spPr bwMode="auto">
              <a:xfrm>
                <a:off x="1536" y="240"/>
                <a:ext cx="864" cy="0"/>
              </a:xfrm>
              <a:prstGeom prst="line">
                <a:avLst/>
              </a:prstGeom>
              <a:noFill/>
              <a:ln w="38100">
                <a:solidFill>
                  <a:schemeClr val="tx1"/>
                </a:solidFill>
                <a:round/>
              </a:ln>
            </p:spPr>
            <p:txBody>
              <a:bodyPr wrap="none" anchor="ctr"/>
              <a:lstStyle/>
              <a:p>
                <a:endParaRPr lang="zh-CN" altLang="en-US"/>
              </a:p>
            </p:txBody>
          </p:sp>
          <p:sp>
            <p:nvSpPr>
              <p:cNvPr id="55" name="Line 9"/>
              <p:cNvSpPr>
                <a:spLocks noChangeShapeType="1"/>
              </p:cNvSpPr>
              <p:nvPr/>
            </p:nvSpPr>
            <p:spPr bwMode="auto">
              <a:xfrm flipV="1">
                <a:off x="2400" y="18"/>
                <a:ext cx="384" cy="222"/>
              </a:xfrm>
              <a:prstGeom prst="line">
                <a:avLst/>
              </a:prstGeom>
              <a:noFill/>
              <a:ln w="38100">
                <a:solidFill>
                  <a:schemeClr val="tx1"/>
                </a:solidFill>
                <a:round/>
              </a:ln>
            </p:spPr>
            <p:txBody>
              <a:bodyPr wrap="none" anchor="ctr"/>
              <a:lstStyle/>
              <a:p>
                <a:endParaRPr lang="zh-CN" altLang="en-US"/>
              </a:p>
            </p:txBody>
          </p:sp>
          <p:sp>
            <p:nvSpPr>
              <p:cNvPr id="56" name="Line 10"/>
              <p:cNvSpPr>
                <a:spLocks noChangeShapeType="1"/>
              </p:cNvSpPr>
              <p:nvPr/>
            </p:nvSpPr>
            <p:spPr bwMode="auto">
              <a:xfrm>
                <a:off x="2784" y="12"/>
                <a:ext cx="1152" cy="0"/>
              </a:xfrm>
              <a:prstGeom prst="line">
                <a:avLst/>
              </a:prstGeom>
              <a:noFill/>
              <a:ln w="38100">
                <a:solidFill>
                  <a:schemeClr val="tx1"/>
                </a:solidFill>
                <a:round/>
              </a:ln>
            </p:spPr>
            <p:txBody>
              <a:bodyPr wrap="none" anchor="ctr"/>
              <a:lstStyle/>
              <a:p>
                <a:endParaRPr lang="zh-CN" altLang="en-US"/>
              </a:p>
            </p:txBody>
          </p:sp>
        </p:grpSp>
        <p:grpSp>
          <p:nvGrpSpPr>
            <p:cNvPr id="23" name="Group 11"/>
            <p:cNvGrpSpPr/>
            <p:nvPr/>
          </p:nvGrpSpPr>
          <p:grpSpPr bwMode="auto">
            <a:xfrm flipV="1">
              <a:off x="977875" y="1990714"/>
              <a:ext cx="6248400" cy="381000"/>
              <a:chOff x="0" y="0"/>
              <a:chExt cx="3936" cy="240"/>
            </a:xfrm>
          </p:grpSpPr>
          <p:sp>
            <p:nvSpPr>
              <p:cNvPr id="47" name="Line 12"/>
              <p:cNvSpPr>
                <a:spLocks noChangeShapeType="1"/>
              </p:cNvSpPr>
              <p:nvPr/>
            </p:nvSpPr>
            <p:spPr bwMode="auto">
              <a:xfrm>
                <a:off x="0" y="0"/>
                <a:ext cx="1152" cy="0"/>
              </a:xfrm>
              <a:prstGeom prst="line">
                <a:avLst/>
              </a:prstGeom>
              <a:noFill/>
              <a:ln w="31750">
                <a:solidFill>
                  <a:schemeClr val="tx1"/>
                </a:solidFill>
                <a:round/>
              </a:ln>
            </p:spPr>
            <p:txBody>
              <a:bodyPr wrap="none" anchor="ctr"/>
              <a:lstStyle/>
              <a:p>
                <a:endParaRPr lang="zh-CN" altLang="en-US"/>
              </a:p>
            </p:txBody>
          </p:sp>
          <p:sp>
            <p:nvSpPr>
              <p:cNvPr id="48" name="Line 13"/>
              <p:cNvSpPr>
                <a:spLocks noChangeShapeType="1"/>
              </p:cNvSpPr>
              <p:nvPr/>
            </p:nvSpPr>
            <p:spPr bwMode="auto">
              <a:xfrm>
                <a:off x="1152" y="0"/>
                <a:ext cx="384" cy="240"/>
              </a:xfrm>
              <a:prstGeom prst="line">
                <a:avLst/>
              </a:prstGeom>
              <a:noFill/>
              <a:ln w="31750">
                <a:solidFill>
                  <a:schemeClr val="tx1"/>
                </a:solidFill>
                <a:round/>
              </a:ln>
            </p:spPr>
            <p:txBody>
              <a:bodyPr wrap="none" anchor="ctr"/>
              <a:lstStyle/>
              <a:p>
                <a:endParaRPr lang="zh-CN" altLang="en-US"/>
              </a:p>
            </p:txBody>
          </p:sp>
          <p:sp>
            <p:nvSpPr>
              <p:cNvPr id="49" name="Line 14"/>
              <p:cNvSpPr>
                <a:spLocks noChangeShapeType="1"/>
              </p:cNvSpPr>
              <p:nvPr/>
            </p:nvSpPr>
            <p:spPr bwMode="auto">
              <a:xfrm>
                <a:off x="1536" y="240"/>
                <a:ext cx="864" cy="0"/>
              </a:xfrm>
              <a:prstGeom prst="line">
                <a:avLst/>
              </a:prstGeom>
              <a:noFill/>
              <a:ln w="31750">
                <a:solidFill>
                  <a:schemeClr val="tx1"/>
                </a:solidFill>
                <a:round/>
              </a:ln>
            </p:spPr>
            <p:txBody>
              <a:bodyPr wrap="none" anchor="ctr"/>
              <a:lstStyle/>
              <a:p>
                <a:endParaRPr lang="zh-CN" altLang="en-US"/>
              </a:p>
            </p:txBody>
          </p:sp>
          <p:sp>
            <p:nvSpPr>
              <p:cNvPr id="50" name="Line 15"/>
              <p:cNvSpPr>
                <a:spLocks noChangeShapeType="1"/>
              </p:cNvSpPr>
              <p:nvPr/>
            </p:nvSpPr>
            <p:spPr bwMode="auto">
              <a:xfrm flipV="1">
                <a:off x="2400" y="18"/>
                <a:ext cx="384" cy="222"/>
              </a:xfrm>
              <a:prstGeom prst="line">
                <a:avLst/>
              </a:prstGeom>
              <a:noFill/>
              <a:ln w="31750">
                <a:solidFill>
                  <a:schemeClr val="tx1"/>
                </a:solidFill>
                <a:round/>
              </a:ln>
            </p:spPr>
            <p:txBody>
              <a:bodyPr wrap="none" anchor="ctr"/>
              <a:lstStyle/>
              <a:p>
                <a:endParaRPr lang="zh-CN" altLang="en-US"/>
              </a:p>
            </p:txBody>
          </p:sp>
          <p:sp>
            <p:nvSpPr>
              <p:cNvPr id="51" name="Line 16"/>
              <p:cNvSpPr>
                <a:spLocks noChangeShapeType="1"/>
              </p:cNvSpPr>
              <p:nvPr/>
            </p:nvSpPr>
            <p:spPr bwMode="auto">
              <a:xfrm>
                <a:off x="2784" y="12"/>
                <a:ext cx="1152" cy="0"/>
              </a:xfrm>
              <a:prstGeom prst="line">
                <a:avLst/>
              </a:prstGeom>
              <a:noFill/>
              <a:ln w="31750">
                <a:solidFill>
                  <a:schemeClr val="tx1"/>
                </a:solidFill>
                <a:round/>
              </a:ln>
            </p:spPr>
            <p:txBody>
              <a:bodyPr wrap="none" anchor="ctr"/>
              <a:lstStyle/>
              <a:p>
                <a:endParaRPr lang="zh-CN" altLang="en-US"/>
              </a:p>
            </p:txBody>
          </p:sp>
        </p:grpSp>
        <p:sp>
          <p:nvSpPr>
            <p:cNvPr id="25" name="Line 20"/>
            <p:cNvSpPr>
              <a:spLocks noChangeShapeType="1"/>
            </p:cNvSpPr>
            <p:nvPr/>
          </p:nvSpPr>
          <p:spPr bwMode="auto">
            <a:xfrm>
              <a:off x="949300" y="1666864"/>
              <a:ext cx="2019300" cy="0"/>
            </a:xfrm>
            <a:prstGeom prst="line">
              <a:avLst/>
            </a:prstGeom>
            <a:noFill/>
            <a:ln w="28575">
              <a:solidFill>
                <a:schemeClr val="tx1"/>
              </a:solidFill>
              <a:prstDash val="dash"/>
              <a:round/>
            </a:ln>
          </p:spPr>
          <p:txBody>
            <a:bodyPr wrap="none" anchor="ctr"/>
            <a:lstStyle/>
            <a:p>
              <a:endParaRPr lang="zh-CN" altLang="en-US"/>
            </a:p>
          </p:txBody>
        </p:sp>
        <p:sp>
          <p:nvSpPr>
            <p:cNvPr id="26" name="Line 21"/>
            <p:cNvSpPr>
              <a:spLocks noChangeShapeType="1"/>
            </p:cNvSpPr>
            <p:nvPr/>
          </p:nvSpPr>
          <p:spPr bwMode="auto">
            <a:xfrm>
              <a:off x="5149825" y="1657339"/>
              <a:ext cx="2019300" cy="0"/>
            </a:xfrm>
            <a:prstGeom prst="line">
              <a:avLst/>
            </a:prstGeom>
            <a:noFill/>
            <a:ln w="28575">
              <a:solidFill>
                <a:schemeClr val="tx1"/>
              </a:solidFill>
              <a:prstDash val="dash"/>
              <a:round/>
            </a:ln>
          </p:spPr>
          <p:txBody>
            <a:bodyPr wrap="none" anchor="ctr"/>
            <a:lstStyle/>
            <a:p>
              <a:endParaRPr lang="zh-CN" altLang="en-US"/>
            </a:p>
          </p:txBody>
        </p:sp>
        <p:sp>
          <p:nvSpPr>
            <p:cNvPr id="10" name="Line 21"/>
            <p:cNvSpPr>
              <a:spLocks noChangeShapeType="1"/>
            </p:cNvSpPr>
            <p:nvPr/>
          </p:nvSpPr>
          <p:spPr bwMode="auto">
            <a:xfrm flipH="1" flipV="1">
              <a:off x="3416275" y="1425564"/>
              <a:ext cx="7620" cy="508000"/>
            </a:xfrm>
            <a:prstGeom prst="line">
              <a:avLst/>
            </a:prstGeom>
            <a:noFill/>
            <a:ln w="28575">
              <a:solidFill>
                <a:schemeClr val="tx1"/>
              </a:solidFill>
              <a:prstDash val="dash"/>
              <a:round/>
            </a:ln>
          </p:spPr>
          <p:txBody>
            <a:bodyPr wrap="none" anchor="ctr"/>
            <a:lstStyle/>
            <a:p>
              <a:endParaRPr lang="zh-CN" altLang="en-US"/>
            </a:p>
          </p:txBody>
        </p:sp>
        <p:sp>
          <p:nvSpPr>
            <p:cNvPr id="11" name="Line 21"/>
            <p:cNvSpPr>
              <a:spLocks noChangeShapeType="1"/>
            </p:cNvSpPr>
            <p:nvPr/>
          </p:nvSpPr>
          <p:spPr bwMode="auto">
            <a:xfrm flipH="1" flipV="1">
              <a:off x="4780255" y="1412864"/>
              <a:ext cx="7620" cy="508000"/>
            </a:xfrm>
            <a:prstGeom prst="line">
              <a:avLst/>
            </a:prstGeom>
            <a:noFill/>
            <a:ln w="28575">
              <a:solidFill>
                <a:schemeClr val="tx1"/>
              </a:solidFill>
              <a:prstDash val="dash"/>
              <a:round/>
            </a:ln>
          </p:spPr>
          <p:txBody>
            <a:bodyPr wrap="none" anchor="ctr"/>
            <a:lstStyle/>
            <a:p>
              <a:endParaRPr lang="zh-CN" altLang="en-US"/>
            </a:p>
          </p:txBody>
        </p:sp>
        <p:sp>
          <p:nvSpPr>
            <p:cNvPr id="21" name="Line 21"/>
            <p:cNvSpPr>
              <a:spLocks noChangeShapeType="1"/>
            </p:cNvSpPr>
            <p:nvPr/>
          </p:nvSpPr>
          <p:spPr bwMode="auto">
            <a:xfrm flipH="1" flipV="1">
              <a:off x="4082390" y="1412864"/>
              <a:ext cx="7620" cy="508000"/>
            </a:xfrm>
            <a:prstGeom prst="line">
              <a:avLst/>
            </a:prstGeom>
            <a:noFill/>
            <a:ln w="28575">
              <a:solidFill>
                <a:schemeClr val="tx1"/>
              </a:solidFill>
              <a:prstDash val="dash"/>
              <a:round/>
            </a:ln>
          </p:spPr>
          <p:txBody>
            <a:bodyPr wrap="none" anchor="ctr"/>
            <a:lstStyle/>
            <a:p>
              <a:endParaRPr lang="zh-CN" altLang="en-US"/>
            </a:p>
          </p:txBody>
        </p:sp>
      </p:grpSp>
      <p:grpSp>
        <p:nvGrpSpPr>
          <p:cNvPr id="36" name="Group 31"/>
          <p:cNvGrpSpPr/>
          <p:nvPr/>
        </p:nvGrpSpPr>
        <p:grpSpPr bwMode="auto">
          <a:xfrm flipH="1">
            <a:off x="9252520" y="1933564"/>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37"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38"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grpSp>
        <p:nvGrpSpPr>
          <p:cNvPr id="62" name="Group 17"/>
          <p:cNvGrpSpPr/>
          <p:nvPr/>
        </p:nvGrpSpPr>
        <p:grpSpPr bwMode="auto">
          <a:xfrm>
            <a:off x="-538167" y="2963422"/>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63" name="Rectangle 18"/>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64" name="Rectangle 19"/>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grpSp>
        <p:nvGrpSpPr>
          <p:cNvPr id="65" name="Group 17"/>
          <p:cNvGrpSpPr/>
          <p:nvPr/>
        </p:nvGrpSpPr>
        <p:grpSpPr bwMode="auto">
          <a:xfrm>
            <a:off x="-540568" y="2962032"/>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66" name="Rectangle 18"/>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67" name="Rectangle 19"/>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grpSp>
        <p:nvGrpSpPr>
          <p:cNvPr id="68" name="Group 31"/>
          <p:cNvGrpSpPr/>
          <p:nvPr/>
        </p:nvGrpSpPr>
        <p:grpSpPr bwMode="auto">
          <a:xfrm flipH="1">
            <a:off x="9252520" y="1933048"/>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69"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70"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grpSp>
        <p:nvGrpSpPr>
          <p:cNvPr id="75" name="Group 31"/>
          <p:cNvGrpSpPr/>
          <p:nvPr/>
        </p:nvGrpSpPr>
        <p:grpSpPr bwMode="auto">
          <a:xfrm flipH="1">
            <a:off x="9242995" y="1927344"/>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76"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77"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grpSp>
        <p:nvGrpSpPr>
          <p:cNvPr id="78" name="Group 31"/>
          <p:cNvGrpSpPr/>
          <p:nvPr/>
        </p:nvGrpSpPr>
        <p:grpSpPr bwMode="auto">
          <a:xfrm flipH="1">
            <a:off x="9242995" y="1932532"/>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79"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80"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grpSp>
        <p:nvGrpSpPr>
          <p:cNvPr id="81" name="Group 31"/>
          <p:cNvGrpSpPr/>
          <p:nvPr/>
        </p:nvGrpSpPr>
        <p:grpSpPr bwMode="auto">
          <a:xfrm flipH="1">
            <a:off x="9242995" y="1931500"/>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82"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83"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grpSp>
        <p:nvGrpSpPr>
          <p:cNvPr id="84" name="Group 31"/>
          <p:cNvGrpSpPr/>
          <p:nvPr/>
        </p:nvGrpSpPr>
        <p:grpSpPr bwMode="auto">
          <a:xfrm flipH="1">
            <a:off x="9252520" y="1934080"/>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85"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86"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grpSp>
        <p:nvGrpSpPr>
          <p:cNvPr id="87" name="Group 31"/>
          <p:cNvGrpSpPr/>
          <p:nvPr/>
        </p:nvGrpSpPr>
        <p:grpSpPr bwMode="auto">
          <a:xfrm flipH="1">
            <a:off x="9252520" y="1929952"/>
            <a:ext cx="457200" cy="257175"/>
            <a:chOff x="0" y="0"/>
            <a:chExt cx="288" cy="162"/>
          </a:xfrm>
          <a:gradFill>
            <a:gsLst>
              <a:gs pos="100000">
                <a:srgbClr val="FDD000"/>
              </a:gs>
              <a:gs pos="0">
                <a:srgbClr val="FFF9B1"/>
              </a:gs>
              <a:gs pos="100000">
                <a:schemeClr val="accent1">
                  <a:tint val="23500"/>
                  <a:satMod val="160000"/>
                </a:schemeClr>
              </a:gs>
            </a:gsLst>
            <a:lin ang="5400000" scaled="0"/>
          </a:gradFill>
        </p:grpSpPr>
        <p:sp>
          <p:nvSpPr>
            <p:cNvPr id="88" name="Rectangle 32"/>
            <p:cNvSpPr>
              <a:spLocks noChangeArrowheads="1"/>
            </p:cNvSpPr>
            <p:nvPr/>
          </p:nvSpPr>
          <p:spPr bwMode="auto">
            <a:xfrm>
              <a:off x="0" y="0"/>
              <a:ext cx="288" cy="162"/>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sp>
          <p:nvSpPr>
            <p:cNvPr id="89" name="Rectangle 33"/>
            <p:cNvSpPr>
              <a:spLocks noChangeArrowheads="1"/>
            </p:cNvSpPr>
            <p:nvPr/>
          </p:nvSpPr>
          <p:spPr bwMode="auto">
            <a:xfrm>
              <a:off x="150" y="24"/>
              <a:ext cx="66" cy="114"/>
            </a:xfrm>
            <a:prstGeom prst="rect">
              <a:avLst/>
            </a:prstGeom>
            <a:grpFill/>
            <a:ln w="28575">
              <a:solidFill>
                <a:schemeClr val="tx1"/>
              </a:solidFill>
              <a:miter lim="800000"/>
            </a:ln>
          </p:spPr>
          <p:txBody>
            <a:bodyPr wrap="none" anchor="ctr"/>
            <a:lstStyle/>
            <a:p>
              <a:pPr eaLnBrk="1" hangingPunct="1">
                <a:buFont typeface="Monotype Sorts" charset="0"/>
                <a:buNone/>
              </a:pPr>
              <a:endParaRPr lang="zh-CN" altLang="en-US"/>
            </a:p>
          </p:txBody>
        </p:sp>
      </p:grpSp>
      <p:sp>
        <p:nvSpPr>
          <p:cNvPr id="29" name="文本框 28"/>
          <p:cNvSpPr txBox="1"/>
          <p:nvPr/>
        </p:nvSpPr>
        <p:spPr>
          <a:xfrm>
            <a:off x="3602355" y="2352675"/>
            <a:ext cx="338554" cy="369332"/>
          </a:xfrm>
          <a:prstGeom prst="rect">
            <a:avLst/>
          </a:prstGeom>
          <a:noFill/>
        </p:spPr>
        <p:txBody>
          <a:bodyPr wrap="none" rtlCol="0" anchor="t">
            <a:spAutoFit/>
          </a:bodyPr>
          <a:lstStyle/>
          <a:p>
            <a:r>
              <a:rPr lang="x-none" altLang="zh-CN"/>
              <a:t>A</a:t>
            </a:r>
          </a:p>
        </p:txBody>
      </p:sp>
      <p:sp>
        <p:nvSpPr>
          <p:cNvPr id="30" name="文本框 29"/>
          <p:cNvSpPr txBox="1"/>
          <p:nvPr/>
        </p:nvSpPr>
        <p:spPr>
          <a:xfrm>
            <a:off x="4312286" y="2352675"/>
            <a:ext cx="338554" cy="369332"/>
          </a:xfrm>
          <a:prstGeom prst="rect">
            <a:avLst/>
          </a:prstGeom>
          <a:noFill/>
        </p:spPr>
        <p:txBody>
          <a:bodyPr wrap="none" rtlCol="0" anchor="t">
            <a:spAutoFit/>
          </a:bodyPr>
          <a:lstStyle/>
          <a:p>
            <a:r>
              <a:rPr lang="x-none" altLang="zh-CN"/>
              <a:t>B</a:t>
            </a:r>
          </a:p>
        </p:txBody>
      </p:sp>
      <p:sp>
        <p:nvSpPr>
          <p:cNvPr id="31" name="文本框 30"/>
          <p:cNvSpPr txBox="1"/>
          <p:nvPr/>
        </p:nvSpPr>
        <p:spPr>
          <a:xfrm>
            <a:off x="805816" y="5349875"/>
            <a:ext cx="7915275" cy="645160"/>
          </a:xfrm>
          <a:prstGeom prst="rect">
            <a:avLst/>
          </a:prstGeom>
          <a:noFill/>
        </p:spPr>
        <p:txBody>
          <a:bodyPr wrap="square" rtlCol="0" anchor="t">
            <a:spAutoFit/>
          </a:bodyPr>
          <a:lstStyle/>
          <a:p>
            <a:r>
              <a:rPr lang="zh-CN" altLang="en-US" b="1">
                <a:solidFill>
                  <a:srgbClr val="11576A"/>
                </a:solidFill>
                <a:latin typeface="微软雅黑" panose="020B0503020204020204" pitchFamily="34" charset="-122"/>
                <a:ea typeface="微软雅黑" panose="020B0503020204020204" pitchFamily="34" charset="-122"/>
                <a:sym typeface="+mn-ea"/>
              </a:rPr>
              <a:t>死锁</a:t>
            </a:r>
            <a:r>
              <a:rPr lang="x-none" altLang="zh-CN" b="1">
                <a:solidFill>
                  <a:srgbClr val="11576A"/>
                </a:solidFill>
                <a:latin typeface="微软雅黑" panose="020B0503020204020204" pitchFamily="34" charset="-122"/>
                <a:ea typeface="微软雅黑" panose="020B0503020204020204" pitchFamily="34" charset="-122"/>
                <a:sym typeface="+mn-ea"/>
              </a:rPr>
              <a:t>: 在出现死锁时，若无外力作用，它们都将永远无法继续执行，</a:t>
            </a:r>
          </a:p>
          <a:p>
            <a:r>
              <a:rPr lang="x-none" altLang="zh-CN" b="1">
                <a:solidFill>
                  <a:srgbClr val="11576A"/>
                </a:solidFill>
                <a:latin typeface="微软雅黑" panose="020B0503020204020204" pitchFamily="34" charset="-122"/>
                <a:ea typeface="微软雅黑" panose="020B0503020204020204" pitchFamily="34" charset="-122"/>
                <a:sym typeface="+mn-ea"/>
              </a:rPr>
              <a:t>这些处于等待状态的进程称为死锁进程。</a:t>
            </a:r>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par>
                                <p:cTn id="8" presetID="0" presetClass="path" presetSubtype="0" accel="50000" decel="50000" fill="hold" nodeType="withEffect">
                                  <p:stCondLst>
                                    <p:cond delay="0"/>
                                  </p:stCondLst>
                                  <p:childTnLst>
                                    <p:animMotion origin="layout" path="M -0.15347 0.0247 L -0.44861 0.02315 L -0.51267 0.09167 L -0.66684 0.09476 L -0.73854 0.01451 L -1.08507 0.01451 L -1.0868 0.01729 " pathEditMode="relative" rAng="0" ptsTypes="AAAAAAA">
                                      <p:cBhvr>
                                        <p:cTn id="9" dur="5000" fill="hold"/>
                                        <p:tgtEl>
                                          <p:spTgt spid="75"/>
                                        </p:tgtEl>
                                        <p:attrNameLst>
                                          <p:attrName>ppt_x</p:attrName>
                                          <p:attrName>ppt_y</p:attrName>
                                        </p:attrNameLst>
                                      </p:cBhvr>
                                      <p:rCtr x="-46667" y="2994"/>
                                    </p:animMotion>
                                  </p:childTnLst>
                                </p:cTn>
                              </p:par>
                              <p:par>
                                <p:cTn id="10" presetID="0" presetClass="path" presetSubtype="0" accel="50000" decel="50000" fill="hold" nodeType="withEffect">
                                  <p:stCondLst>
                                    <p:cond delay="0"/>
                                  </p:stCondLst>
                                  <p:childTnLst>
                                    <p:animMotion origin="layout" path="M 0.08594 -0.02253 L 0.32413 -0.02253 " pathEditMode="relative" ptsTypes="AA">
                                      <p:cBhvr>
                                        <p:cTn id="11" dur="3000" fill="hold"/>
                                        <p:tgtEl>
                                          <p:spTgt spid="65"/>
                                        </p:tgtEl>
                                        <p:attrNameLst>
                                          <p:attrName>ppt_x</p:attrName>
                                          <p:attrName>ppt_y</p:attrName>
                                        </p:attrNameLst>
                                      </p:cBhvr>
                                    </p:animMotion>
                                  </p:childTnLst>
                                </p:cTn>
                              </p:par>
                              <p:par>
                                <p:cTn id="12" presetID="0" presetClass="path" presetSubtype="0" accel="50000" decel="50000" fill="hold" nodeType="withEffect">
                                  <p:stCondLst>
                                    <p:cond delay="1000"/>
                                  </p:stCondLst>
                                  <p:childTnLst>
                                    <p:animMotion origin="layout" path="M -0.15347 0.02469 L -0.44861 0.02315 L -0.51267 0.09167 L -0.66684 0.09475 L -0.73854 0.01451 L -1.08507 0.01451 L -1.0868 0.01728 " pathEditMode="relative" rAng="0" ptsTypes="AAAAAAA">
                                      <p:cBhvr>
                                        <p:cTn id="13" dur="5000" fill="hold"/>
                                        <p:tgtEl>
                                          <p:spTgt spid="78"/>
                                        </p:tgtEl>
                                        <p:attrNameLst>
                                          <p:attrName>ppt_x</p:attrName>
                                          <p:attrName>ppt_y</p:attrName>
                                        </p:attrNameLst>
                                      </p:cBhvr>
                                      <p:rCtr x="-46667" y="2994"/>
                                    </p:animMotion>
                                  </p:childTnLst>
                                </p:cTn>
                              </p:par>
                              <p:par>
                                <p:cTn id="14" presetID="0" presetClass="path" presetSubtype="0" accel="50000" decel="50000" fill="hold" nodeType="withEffect">
                                  <p:stCondLst>
                                    <p:cond delay="2000"/>
                                  </p:stCondLst>
                                  <p:childTnLst>
                                    <p:animMotion origin="layout" path="M -0.15347 0.02438 L -0.44895 0.02315 C -0.47031 0.04568 -0.49166 0.06852 -0.51319 0.09136 L -0.66718 0.09475 C -0.69114 0.0679 -0.7151 0.04105 -0.73906 0.01451 L -0.85607 0.01451 " pathEditMode="relative" rAng="0" ptsTypes="AAAAAA">
                                      <p:cBhvr>
                                        <p:cTn id="15" dur="4000" fill="hold"/>
                                        <p:tgtEl>
                                          <p:spTgt spid="81"/>
                                        </p:tgtEl>
                                        <p:attrNameLst>
                                          <p:attrName>ppt_x</p:attrName>
                                          <p:attrName>ppt_y</p:attrName>
                                        </p:attrNameLst>
                                      </p:cBhvr>
                                      <p:rCtr x="-35139" y="3025"/>
                                    </p:animMotion>
                                  </p:childTnLst>
                                </p:cTn>
                              </p:par>
                              <p:par>
                                <p:cTn id="16" presetID="0" presetClass="path" presetSubtype="0" accel="50000" decel="50000" fill="hold" nodeType="withEffect">
                                  <p:stCondLst>
                                    <p:cond delay="3000"/>
                                  </p:stCondLst>
                                  <p:childTnLst>
                                    <p:animMotion origin="layout" path="M -0.15348 0.02376 L -0.44914 0.02284 C -0.47066 0.04414 -0.49219 0.06728 -0.51355 0.09043 C -0.54375 0.09136 -0.57466 0.09074 -0.60487 0.09167 " pathEditMode="relative" rAng="0" ptsTypes="AAAA">
                                      <p:cBhvr>
                                        <p:cTn id="17" dur="3000" fill="hold"/>
                                        <p:tgtEl>
                                          <p:spTgt spid="84"/>
                                        </p:tgtEl>
                                        <p:attrNameLst>
                                          <p:attrName>ppt_x</p:attrName>
                                          <p:attrName>ppt_y</p:attrName>
                                        </p:attrNameLst>
                                      </p:cBhvr>
                                      <p:rCtr x="-22569" y="3333"/>
                                    </p:animMotion>
                                  </p:childTnLst>
                                </p:cTn>
                              </p:par>
                              <p:par>
                                <p:cTn id="18" presetID="0" presetClass="path" presetSubtype="0" accel="50000" decel="50000" fill="hold" nodeType="withEffect">
                                  <p:stCondLst>
                                    <p:cond delay="4000"/>
                                  </p:stCondLst>
                                  <p:childTnLst>
                                    <p:animMotion origin="layout" path="M -0.15521 0.02562 L -0.40782 0.02408 L -0.40938 0.02408 " pathEditMode="relative" ptsTypes="AAA">
                                      <p:cBhvr>
                                        <p:cTn id="19" dur="2000" fill="hold"/>
                                        <p:tgtEl>
                                          <p:spTgt spid="8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210AE480-EBD4-492A-92ED-24462F836880}"/>
              </a:ext>
            </a:extLst>
          </p:cNvPr>
          <p:cNvSpPr>
            <a:spLocks noGrp="1" noChangeArrowheads="1"/>
          </p:cNvSpPr>
          <p:nvPr>
            <p:ph type="body" idx="1"/>
          </p:nvPr>
        </p:nvSpPr>
        <p:spPr>
          <a:xfrm>
            <a:off x="684213" y="1557338"/>
            <a:ext cx="7920037" cy="4751387"/>
          </a:xfrm>
        </p:spPr>
        <p:txBody>
          <a:bodyPr/>
          <a:lstStyle/>
          <a:p>
            <a:pPr eaLnBrk="1" hangingPunct="1">
              <a:buFont typeface="Wingdings" panose="05000000000000000000" pitchFamily="2" charset="2"/>
              <a:buNone/>
            </a:pPr>
            <a:r>
              <a:rPr lang="en-US" altLang="zh-CN" sz="2800" b="1" dirty="0">
                <a:solidFill>
                  <a:srgbClr val="FFFF00"/>
                </a:solidFill>
                <a:effectLst/>
                <a:latin typeface="黑体" panose="02010609060101010101" pitchFamily="49" charset="-122"/>
                <a:ea typeface="黑体" panose="02010609060101010101" pitchFamily="49" charset="-122"/>
              </a:rPr>
              <a:t>1.</a:t>
            </a:r>
            <a:r>
              <a:rPr lang="zh-CN" altLang="en-US" sz="2800" b="1" dirty="0">
                <a:solidFill>
                  <a:srgbClr val="FFFF00"/>
                </a:solidFill>
                <a:effectLst/>
                <a:latin typeface="黑体" panose="02010609060101010101" pitchFamily="49" charset="-122"/>
                <a:ea typeface="黑体" panose="02010609060101010101" pitchFamily="49" charset="-122"/>
              </a:rPr>
              <a:t>死锁</a:t>
            </a:r>
            <a:r>
              <a:rPr kumimoji="1" lang="zh-CN" altLang="en-US" sz="2800" b="1" dirty="0">
                <a:solidFill>
                  <a:srgbClr val="FFFF00"/>
                </a:solidFill>
                <a:effectLst/>
                <a:latin typeface="黑体" panose="02010609060101010101" pitchFamily="49" charset="-122"/>
                <a:ea typeface="黑体" panose="02010609060101010101" pitchFamily="49" charset="-122"/>
              </a:rPr>
              <a:t>（</a:t>
            </a:r>
            <a:r>
              <a:rPr kumimoji="1" lang="en-US" altLang="zh-CN" sz="2800" b="1" dirty="0">
                <a:solidFill>
                  <a:srgbClr val="FFFF00"/>
                </a:solidFill>
                <a:effectLst/>
                <a:latin typeface="黑体" panose="02010609060101010101" pitchFamily="49" charset="-122"/>
                <a:ea typeface="黑体" panose="02010609060101010101" pitchFamily="49" charset="-122"/>
              </a:rPr>
              <a:t>Deadlock</a:t>
            </a:r>
            <a:r>
              <a:rPr kumimoji="1" lang="zh-CN" altLang="en-US"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的定义：</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所谓死锁，是指各并发进程彼此互相等待对方所拥有的资源，且这些并发进程在得到对方的资源之前不会释放自己所拥有的资源。从而造成大家都想得到资源而又得不到资源，各并发进程不能继续向前推进</a:t>
            </a:r>
            <a:endParaRPr lang="en-US" altLang="zh-CN" sz="28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多个进程因竞争资源而造成的一种互相等待的僵局，若无外力作用，这些进程都将无法向前推进</a:t>
            </a:r>
          </a:p>
        </p:txBody>
      </p:sp>
      <p:sp>
        <p:nvSpPr>
          <p:cNvPr id="486403" name="Rectangle 3">
            <a:extLst>
              <a:ext uri="{FF2B5EF4-FFF2-40B4-BE49-F238E27FC236}">
                <a16:creationId xmlns:a16="http://schemas.microsoft.com/office/drawing/2014/main" id="{49A177A4-8053-4327-B0AD-CAA717262ED9}"/>
              </a:ext>
            </a:extLst>
          </p:cNvPr>
          <p:cNvSpPr>
            <a:spLocks noGrp="1" noChangeArrowheads="1"/>
          </p:cNvSpPr>
          <p:nvPr>
            <p:ph type="title"/>
          </p:nvPr>
        </p:nvSpPr>
        <p:spPr>
          <a:xfrm>
            <a:off x="323850" y="260350"/>
            <a:ext cx="8480425" cy="803275"/>
          </a:xfrm>
        </p:spPr>
        <p:txBody>
          <a:bodyPr anchor="b" anchorCtr="0"/>
          <a:lstStyle/>
          <a:p>
            <a:pPr eaLnBrk="1" hangingPunct="1">
              <a:defRPr/>
            </a:pPr>
            <a:r>
              <a:rPr lang="en-US" altLang="zh-CN" sz="4800" b="1">
                <a:latin typeface="楷体_GB2312" pitchFamily="49" charset="-122"/>
                <a:ea typeface="楷体_GB2312" pitchFamily="49" charset="-122"/>
              </a:rPr>
              <a:t>3.8.1</a:t>
            </a:r>
            <a:r>
              <a:rPr lang="zh-CN" altLang="en-US" sz="4800" b="1">
                <a:latin typeface="楷体_GB2312" pitchFamily="49" charset="-122"/>
                <a:ea typeface="楷体_GB2312" pitchFamily="49" charset="-122"/>
              </a:rPr>
              <a:t>死锁的概念</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B0A5D-B390-F3DF-8150-31D4E95E878A}"/>
            </a:ext>
          </a:extLst>
        </p:cNvPr>
        <p:cNvGrpSpPr/>
        <p:nvPr/>
      </p:nvGrpSpPr>
      <p:grpSpPr>
        <a:xfrm>
          <a:off x="0" y="0"/>
          <a:ext cx="0" cy="0"/>
          <a:chOff x="0" y="0"/>
          <a:chExt cx="0" cy="0"/>
        </a:xfrm>
      </p:grpSpPr>
      <p:sp>
        <p:nvSpPr>
          <p:cNvPr id="139266" name="Rectangle 2">
            <a:extLst>
              <a:ext uri="{FF2B5EF4-FFF2-40B4-BE49-F238E27FC236}">
                <a16:creationId xmlns:a16="http://schemas.microsoft.com/office/drawing/2014/main" id="{74F49B70-F906-BF35-7A36-91920CD7FC75}"/>
              </a:ext>
            </a:extLst>
          </p:cNvPr>
          <p:cNvSpPr>
            <a:spLocks noGrp="1" noChangeArrowheads="1"/>
          </p:cNvSpPr>
          <p:nvPr>
            <p:ph type="body" idx="1"/>
          </p:nvPr>
        </p:nvSpPr>
        <p:spPr>
          <a:xfrm>
            <a:off x="611770" y="836712"/>
            <a:ext cx="7920459" cy="4751387"/>
          </a:xfrm>
        </p:spPr>
        <p:txBody>
          <a:bodyPr/>
          <a:lstStyle/>
          <a:p>
            <a:pPr eaLnBrk="1" hangingPunct="1"/>
            <a:r>
              <a:rPr lang="zh-CN" altLang="en-US" sz="2400" b="1" dirty="0">
                <a:solidFill>
                  <a:srgbClr val="FF0000"/>
                </a:solidFill>
                <a:effectLst/>
                <a:latin typeface="黑体" panose="02010609060101010101" pitchFamily="49" charset="-122"/>
                <a:ea typeface="黑体" panose="02010609060101010101" pitchFamily="49" charset="-122"/>
              </a:rPr>
              <a:t>饥饿</a:t>
            </a:r>
            <a:r>
              <a:rPr lang="zh-CN" altLang="en-US" sz="2400" b="1" dirty="0">
                <a:solidFill>
                  <a:srgbClr val="FFFF00"/>
                </a:solidFill>
                <a:effectLst/>
                <a:latin typeface="黑体" panose="02010609060101010101" pitchFamily="49" charset="-122"/>
                <a:ea typeface="黑体" panose="02010609060101010101" pitchFamily="49" charset="-122"/>
              </a:rPr>
              <a:t>，即进程无限等待的情况。</a:t>
            </a:r>
            <a:endParaRPr lang="en-US" altLang="zh-CN" sz="24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400" b="1" dirty="0">
                <a:solidFill>
                  <a:srgbClr val="FFFF00"/>
                </a:solidFill>
                <a:effectLst/>
                <a:latin typeface="黑体" panose="02010609060101010101" pitchFamily="49" charset="-122"/>
                <a:ea typeface="黑体" panose="02010609060101010101" pitchFamily="49" charset="-122"/>
              </a:rPr>
              <a:t>主要原因</a:t>
            </a:r>
            <a:r>
              <a:rPr lang="en-US" altLang="zh-CN" sz="2400" b="1" dirty="0">
                <a:solidFill>
                  <a:srgbClr val="FFFF00"/>
                </a:solidFill>
                <a:effectLst/>
                <a:latin typeface="黑体" panose="02010609060101010101" pitchFamily="49" charset="-122"/>
                <a:ea typeface="黑体" panose="02010609060101010101" pitchFamily="49" charset="-122"/>
              </a:rPr>
              <a:t>:</a:t>
            </a:r>
            <a:r>
              <a:rPr lang="zh-CN" altLang="en-US" sz="2400" b="1" dirty="0">
                <a:solidFill>
                  <a:srgbClr val="FFFF00"/>
                </a:solidFill>
                <a:effectLst/>
                <a:latin typeface="黑体" panose="02010609060101010101" pitchFamily="49" charset="-122"/>
                <a:ea typeface="黑体" panose="02010609060101010101" pitchFamily="49" charset="-122"/>
              </a:rPr>
              <a:t>当系统中有多个进程同时申请某类资源时，由分配策略确定资源分配给进程的次序，有的分配策略可能是不公平的，即不能保证等待时间上界的存在。在这种情况下，即使系统未发生死锁，某些进程也可能长时间等待。当等待时间给进程的推进带来明显影响时，称发生了饥饿</a:t>
            </a:r>
            <a:endParaRPr lang="en-US" altLang="zh-CN" sz="24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400" b="1" dirty="0">
                <a:solidFill>
                  <a:srgbClr val="FFFF00"/>
                </a:solidFill>
                <a:effectLst/>
                <a:latin typeface="黑体" panose="02010609060101010101" pitchFamily="49" charset="-122"/>
                <a:ea typeface="黑体" panose="02010609060101010101" pitchFamily="49" charset="-122"/>
              </a:rPr>
              <a:t>例如，当有多个进程需要打印文件时，若系统分配打印机的策略是最短文件优先，则长文件的打印任务将因短文件的源源不断到来而被无限期推迟</a:t>
            </a:r>
            <a:r>
              <a:rPr lang="en-US" altLang="zh-CN" sz="2400" b="1" dirty="0">
                <a:solidFill>
                  <a:srgbClr val="FFFF00"/>
                </a:solidFill>
                <a:effectLst/>
                <a:latin typeface="黑体" panose="02010609060101010101" pitchFamily="49" charset="-122"/>
                <a:ea typeface="黑体" panose="02010609060101010101" pitchFamily="49" charset="-122"/>
              </a:rPr>
              <a:t>,</a:t>
            </a:r>
            <a:r>
              <a:rPr lang="zh-CN" altLang="en-US" sz="2400" b="1" dirty="0">
                <a:solidFill>
                  <a:srgbClr val="FFFF00"/>
                </a:solidFill>
                <a:effectLst/>
                <a:latin typeface="黑体" panose="02010609060101010101" pitchFamily="49" charset="-122"/>
                <a:ea typeface="黑体" panose="02010609060101010101" pitchFamily="49" charset="-122"/>
              </a:rPr>
              <a:t>最终导致饥饿，甚至“饿死”。饥饿并不表示系统一定会死锁，但至少有一个进程的执行被无限期推迟。</a:t>
            </a:r>
            <a:endParaRPr lang="en-US" altLang="zh-CN" sz="2400" b="1" dirty="0">
              <a:solidFill>
                <a:srgbClr val="FFFF00"/>
              </a:solidFill>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699387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8633C-7D37-E98B-4559-8D2F2EECB255}"/>
            </a:ext>
          </a:extLst>
        </p:cNvPr>
        <p:cNvGrpSpPr/>
        <p:nvPr/>
      </p:nvGrpSpPr>
      <p:grpSpPr>
        <a:xfrm>
          <a:off x="0" y="0"/>
          <a:ext cx="0" cy="0"/>
          <a:chOff x="0" y="0"/>
          <a:chExt cx="0" cy="0"/>
        </a:xfrm>
      </p:grpSpPr>
      <p:sp>
        <p:nvSpPr>
          <p:cNvPr id="139266" name="Rectangle 2">
            <a:extLst>
              <a:ext uri="{FF2B5EF4-FFF2-40B4-BE49-F238E27FC236}">
                <a16:creationId xmlns:a16="http://schemas.microsoft.com/office/drawing/2014/main" id="{EC74E2F3-7D7C-CBFC-F065-FD47D0C2C320}"/>
              </a:ext>
            </a:extLst>
          </p:cNvPr>
          <p:cNvSpPr>
            <a:spLocks noGrp="1" noChangeArrowheads="1"/>
          </p:cNvSpPr>
          <p:nvPr>
            <p:ph type="body" idx="1"/>
          </p:nvPr>
        </p:nvSpPr>
        <p:spPr>
          <a:xfrm>
            <a:off x="755576" y="908720"/>
            <a:ext cx="7704856" cy="4751387"/>
          </a:xfrm>
        </p:spPr>
        <p:txBody>
          <a:bodyPr/>
          <a:lstStyle/>
          <a:p>
            <a:pPr eaLnBrk="1" hangingPunct="1"/>
            <a:r>
              <a:rPr lang="zh-CN" altLang="en-US" sz="2400" b="1" dirty="0">
                <a:solidFill>
                  <a:srgbClr val="FFFF00"/>
                </a:solidFill>
                <a:effectLst/>
                <a:latin typeface="黑体" panose="02010609060101010101" pitchFamily="49" charset="-122"/>
                <a:ea typeface="黑体" panose="02010609060101010101" pitchFamily="49" charset="-122"/>
              </a:rPr>
              <a:t>死锁和饥饿的共同点都是进程无法顺利向前推进的现象。</a:t>
            </a:r>
            <a:endParaRPr lang="en-US" altLang="zh-CN" sz="24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400" b="1" dirty="0">
                <a:solidFill>
                  <a:srgbClr val="FFFF00"/>
                </a:solidFill>
                <a:effectLst/>
                <a:latin typeface="黑体" panose="02010609060101010101" pitchFamily="49" charset="-122"/>
                <a:ea typeface="黑体" panose="02010609060101010101" pitchFamily="49" charset="-122"/>
              </a:rPr>
              <a:t>死锁和饥饿的主要差别</a:t>
            </a:r>
            <a:r>
              <a:rPr lang="en-US" altLang="zh-CN" sz="2400" b="1" dirty="0">
                <a:solidFill>
                  <a:srgbClr val="FFFF00"/>
                </a:solidFill>
                <a:effectLst/>
                <a:latin typeface="黑体" panose="02010609060101010101" pitchFamily="49" charset="-122"/>
                <a:ea typeface="黑体" panose="02010609060101010101" pitchFamily="49" charset="-122"/>
              </a:rPr>
              <a:t>:</a:t>
            </a:r>
          </a:p>
          <a:p>
            <a:pPr eaLnBrk="1" hangingPunct="1"/>
            <a:r>
              <a:rPr lang="en-US" altLang="zh-CN" sz="2400" b="1" dirty="0">
                <a:solidFill>
                  <a:srgbClr val="FFFF00"/>
                </a:solidFill>
                <a:effectLst/>
                <a:latin typeface="黑体" panose="02010609060101010101" pitchFamily="49" charset="-122"/>
                <a:ea typeface="黑体" panose="02010609060101010101" pitchFamily="49" charset="-122"/>
              </a:rPr>
              <a:t>①</a:t>
            </a:r>
            <a:r>
              <a:rPr lang="zh-CN" altLang="en-US" sz="2400" b="1" dirty="0">
                <a:solidFill>
                  <a:srgbClr val="FFFF00"/>
                </a:solidFill>
                <a:effectLst/>
                <a:latin typeface="黑体" panose="02010609060101010101" pitchFamily="49" charset="-122"/>
                <a:ea typeface="黑体" panose="02010609060101010101" pitchFamily="49" charset="-122"/>
              </a:rPr>
              <a:t>发生饥饿的进程可以只有一个</a:t>
            </a:r>
            <a:r>
              <a:rPr lang="en-US" altLang="zh-CN" sz="2400" b="1" dirty="0">
                <a:solidFill>
                  <a:srgbClr val="FFFF00"/>
                </a:solidFill>
                <a:effectLst/>
                <a:latin typeface="黑体" panose="02010609060101010101" pitchFamily="49" charset="-122"/>
                <a:ea typeface="黑体" panose="02010609060101010101" pitchFamily="49" charset="-122"/>
              </a:rPr>
              <a:t>;</a:t>
            </a:r>
            <a:r>
              <a:rPr lang="zh-CN" altLang="en-US" sz="2400" b="1" dirty="0">
                <a:solidFill>
                  <a:srgbClr val="FFFF00"/>
                </a:solidFill>
                <a:effectLst/>
                <a:latin typeface="黑体" panose="02010609060101010101" pitchFamily="49" charset="-122"/>
                <a:ea typeface="黑体" panose="02010609060101010101" pitchFamily="49" charset="-122"/>
              </a:rPr>
              <a:t>而死锁是因循环等待对方手里的资源而导致的，因此，若有死锁现象，则发生死锁的进程必然大于或等于两个。</a:t>
            </a:r>
            <a:endParaRPr lang="en-US" altLang="zh-CN" sz="2400" b="1" dirty="0">
              <a:solidFill>
                <a:srgbClr val="FFFF00"/>
              </a:solidFill>
              <a:effectLst/>
              <a:latin typeface="黑体" panose="02010609060101010101" pitchFamily="49" charset="-122"/>
              <a:ea typeface="黑体" panose="02010609060101010101" pitchFamily="49" charset="-122"/>
            </a:endParaRPr>
          </a:p>
          <a:p>
            <a:pPr eaLnBrk="1" hangingPunct="1"/>
            <a:r>
              <a:rPr lang="zh-CN" altLang="en-US" sz="2400" b="1" dirty="0">
                <a:solidFill>
                  <a:srgbClr val="FFFF00"/>
                </a:solidFill>
                <a:effectLst/>
                <a:latin typeface="黑体" panose="02010609060101010101" pitchFamily="49" charset="-122"/>
                <a:ea typeface="黑体" panose="02010609060101010101" pitchFamily="49" charset="-122"/>
              </a:rPr>
              <a:t>②发生饥饿的进程可能处于就绪态</a:t>
            </a:r>
            <a:r>
              <a:rPr lang="en-US" altLang="zh-CN" sz="2400" b="1" dirty="0">
                <a:solidFill>
                  <a:srgbClr val="FFFF00"/>
                </a:solidFill>
                <a:effectLst/>
                <a:latin typeface="黑体" panose="02010609060101010101" pitchFamily="49" charset="-122"/>
                <a:ea typeface="黑体" panose="02010609060101010101" pitchFamily="49" charset="-122"/>
              </a:rPr>
              <a:t>(</a:t>
            </a:r>
            <a:r>
              <a:rPr lang="zh-CN" altLang="en-US" sz="2400" b="1" dirty="0">
                <a:solidFill>
                  <a:srgbClr val="FFFF00"/>
                </a:solidFill>
                <a:effectLst/>
                <a:latin typeface="黑体" panose="02010609060101010101" pitchFamily="49" charset="-122"/>
                <a:ea typeface="黑体" panose="02010609060101010101" pitchFamily="49" charset="-122"/>
              </a:rPr>
              <a:t>长期得不到 </a:t>
            </a:r>
            <a:r>
              <a:rPr lang="en-US" altLang="zh-CN" sz="2400" b="1" dirty="0">
                <a:solidFill>
                  <a:srgbClr val="FFFF00"/>
                </a:solidFill>
                <a:effectLst/>
                <a:latin typeface="黑体" panose="02010609060101010101" pitchFamily="49" charset="-122"/>
                <a:ea typeface="黑体" panose="02010609060101010101" pitchFamily="49" charset="-122"/>
              </a:rPr>
              <a:t>CPU)</a:t>
            </a:r>
            <a:r>
              <a:rPr lang="zh-CN" altLang="en-US" sz="2400" b="1" dirty="0">
                <a:solidFill>
                  <a:srgbClr val="FFFF00"/>
                </a:solidFill>
                <a:effectLst/>
                <a:latin typeface="黑体" panose="02010609060101010101" pitchFamily="49" charset="-122"/>
                <a:ea typeface="黑体" panose="02010609060101010101" pitchFamily="49" charset="-122"/>
              </a:rPr>
              <a:t>，也可能处于阻塞态</a:t>
            </a:r>
            <a:r>
              <a:rPr lang="en-US" altLang="zh-CN" sz="2400" b="1" dirty="0">
                <a:solidFill>
                  <a:srgbClr val="FFFF00"/>
                </a:solidFill>
                <a:effectLst/>
                <a:latin typeface="黑体" panose="02010609060101010101" pitchFamily="49" charset="-122"/>
                <a:ea typeface="黑体" panose="02010609060101010101" pitchFamily="49" charset="-122"/>
              </a:rPr>
              <a:t>(</a:t>
            </a:r>
            <a:r>
              <a:rPr lang="zh-CN" altLang="en-US" sz="2400" b="1" dirty="0">
                <a:solidFill>
                  <a:srgbClr val="FFFF00"/>
                </a:solidFill>
                <a:effectLst/>
                <a:latin typeface="黑体" panose="02010609060101010101" pitchFamily="49" charset="-122"/>
                <a:ea typeface="黑体" panose="02010609060101010101" pitchFamily="49" charset="-122"/>
              </a:rPr>
              <a:t>如长期得不到所需的设备</a:t>
            </a:r>
            <a:r>
              <a:rPr lang="en-US" altLang="zh-CN" sz="2400" b="1" dirty="0">
                <a:solidFill>
                  <a:srgbClr val="FFFF00"/>
                </a:solidFill>
                <a:effectLst/>
                <a:latin typeface="黑体" panose="02010609060101010101" pitchFamily="49" charset="-122"/>
                <a:ea typeface="黑体" panose="02010609060101010101" pitchFamily="49" charset="-122"/>
              </a:rPr>
              <a:t>);</a:t>
            </a:r>
            <a:r>
              <a:rPr lang="zh-CN" altLang="en-US" sz="2400" b="1" dirty="0">
                <a:solidFill>
                  <a:srgbClr val="FFFF00"/>
                </a:solidFill>
                <a:effectLst/>
                <a:latin typeface="黑体" panose="02010609060101010101" pitchFamily="49" charset="-122"/>
                <a:ea typeface="黑体" panose="02010609060101010101" pitchFamily="49" charset="-122"/>
              </a:rPr>
              <a:t>而发生死锁的进程必定处于阻塞态。</a:t>
            </a:r>
          </a:p>
        </p:txBody>
      </p:sp>
    </p:spTree>
    <p:extLst>
      <p:ext uri="{BB962C8B-B14F-4D97-AF65-F5344CB8AC3E}">
        <p14:creationId xmlns:p14="http://schemas.microsoft.com/office/powerpoint/2010/main" val="129778004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AAE1097C-9F9D-42B7-ADEC-A7A9BF6E9595}"/>
              </a:ext>
            </a:extLst>
          </p:cNvPr>
          <p:cNvSpPr>
            <a:spLocks noGrp="1" noChangeArrowheads="1"/>
          </p:cNvSpPr>
          <p:nvPr>
            <p:ph type="body" idx="1"/>
          </p:nvPr>
        </p:nvSpPr>
        <p:spPr>
          <a:xfrm>
            <a:off x="539750" y="692150"/>
            <a:ext cx="8280722" cy="5762625"/>
          </a:xfrm>
        </p:spPr>
        <p:txBody>
          <a:bodyPr/>
          <a:lstStyle/>
          <a:p>
            <a:pPr eaLnBrk="1" hangingPunct="1">
              <a:buFont typeface="Wingdings" panose="05000000000000000000" pitchFamily="2" charset="2"/>
              <a:buNone/>
            </a:pPr>
            <a:r>
              <a:rPr lang="en-US" altLang="zh-CN" sz="3600" b="1" dirty="0">
                <a:solidFill>
                  <a:srgbClr val="FFFF00"/>
                </a:solidFill>
                <a:effectLst/>
                <a:latin typeface="黑体" panose="02010609060101010101" pitchFamily="49" charset="-122"/>
                <a:ea typeface="黑体" panose="02010609060101010101" pitchFamily="49" charset="-122"/>
              </a:rPr>
              <a:t>2.</a:t>
            </a:r>
            <a:r>
              <a:rPr lang="zh-CN" altLang="en-US" sz="3600" b="1" dirty="0">
                <a:solidFill>
                  <a:srgbClr val="FFFF00"/>
                </a:solidFill>
                <a:effectLst/>
                <a:latin typeface="黑体" panose="02010609060101010101" pitchFamily="49" charset="-122"/>
                <a:ea typeface="黑体" panose="02010609060101010101" pitchFamily="49" charset="-122"/>
              </a:rPr>
              <a:t>产生死锁的原因：</a:t>
            </a:r>
          </a:p>
          <a:p>
            <a:pPr eaLnBrk="1" hangingPunct="1"/>
            <a:r>
              <a:rPr lang="zh-CN" altLang="en-US" b="1" dirty="0">
                <a:solidFill>
                  <a:srgbClr val="FFFF00"/>
                </a:solidFill>
                <a:effectLst/>
                <a:latin typeface="黑体" panose="02010609060101010101" pitchFamily="49" charset="-122"/>
                <a:ea typeface="黑体" panose="02010609060101010101" pitchFamily="49" charset="-122"/>
              </a:rPr>
              <a:t>并发进程的资源竞争和进程使用资源的顺序</a:t>
            </a:r>
          </a:p>
          <a:p>
            <a:pPr eaLnBrk="1" hangingPunct="1"/>
            <a:r>
              <a:rPr lang="zh-CN" altLang="en-US" b="1" dirty="0">
                <a:solidFill>
                  <a:srgbClr val="FFFF00"/>
                </a:solidFill>
                <a:effectLst/>
                <a:latin typeface="黑体" panose="02010609060101010101" pitchFamily="49" charset="-122"/>
                <a:ea typeface="黑体" panose="02010609060101010101" pitchFamily="49" charset="-122"/>
              </a:rPr>
              <a:t>根本原因在于系统提供的资源个数少于并发进程所要求的该类资源数</a:t>
            </a:r>
          </a:p>
          <a:p>
            <a:pPr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由于资源的有限性不可能为所有要求资源的进程无限制的提供资源，但是可以采用适当的资源分配算法，以达到消除死锁的目的</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4BB964C-5650-D99F-67B7-96D8264433F6}"/>
              </a:ext>
            </a:extLst>
          </p:cNvPr>
          <p:cNvSpPr>
            <a:spLocks noGrp="1"/>
          </p:cNvSpPr>
          <p:nvPr>
            <p:ph idx="1"/>
          </p:nvPr>
        </p:nvSpPr>
        <p:spPr>
          <a:xfrm>
            <a:off x="457200" y="836712"/>
            <a:ext cx="8229600" cy="5184576"/>
          </a:xfrm>
        </p:spPr>
        <p:txBody>
          <a:bodyPr/>
          <a:lstStyle/>
          <a:p>
            <a:r>
              <a:rPr lang="zh-CN" altLang="en-US" sz="2800" b="1" dirty="0"/>
              <a:t>如果没有谦让或回退、撤销机制</a:t>
            </a:r>
            <a:r>
              <a:rPr lang="en-US" altLang="zh-CN" sz="2800" b="1" dirty="0"/>
              <a:t>,</a:t>
            </a:r>
            <a:r>
              <a:rPr lang="zh-CN" altLang="en-US" sz="2800" b="1" dirty="0"/>
              <a:t>死锁将永久存在</a:t>
            </a:r>
            <a:r>
              <a:rPr lang="en-US" altLang="zh-CN" sz="2800" b="1" dirty="0"/>
              <a:t>,</a:t>
            </a:r>
            <a:r>
              <a:rPr lang="zh-CN" altLang="en-US" sz="2800" b="1" dirty="0"/>
              <a:t>直至机器重启。</a:t>
            </a:r>
            <a:endParaRPr lang="en-US" altLang="zh-CN" sz="2800" b="1" dirty="0"/>
          </a:p>
          <a:p>
            <a:r>
              <a:rPr lang="zh-CN" altLang="en-US" sz="2800" b="1" dirty="0"/>
              <a:t>死锁发生后</a:t>
            </a:r>
            <a:r>
              <a:rPr lang="en-US" altLang="zh-CN" sz="2800" b="1" dirty="0"/>
              <a:t>,</a:t>
            </a:r>
            <a:r>
              <a:rPr lang="zh-CN" altLang="en-US" sz="2800" b="1" dirty="0"/>
              <a:t>相关资源 将被永久锁定而无法释放</a:t>
            </a:r>
            <a:r>
              <a:rPr lang="en-US" altLang="zh-CN" sz="2800" b="1" dirty="0"/>
              <a:t>,</a:t>
            </a:r>
            <a:r>
              <a:rPr lang="zh-CN" altLang="en-US" sz="2800" b="1" dirty="0"/>
              <a:t>导致系统的</a:t>
            </a:r>
            <a:r>
              <a:rPr lang="zh-CN" altLang="en-US" sz="2800" b="1" dirty="0">
                <a:solidFill>
                  <a:srgbClr val="FF0000"/>
                </a:solidFill>
              </a:rPr>
              <a:t>资源利用率降低</a:t>
            </a:r>
            <a:r>
              <a:rPr lang="en-US" altLang="zh-CN" sz="2800" b="1" dirty="0"/>
              <a:t>;</a:t>
            </a:r>
            <a:r>
              <a:rPr lang="zh-CN" altLang="en-US" sz="2800" b="1" dirty="0"/>
              <a:t>相关进程因僵死而无法继续执行会 导致</a:t>
            </a:r>
            <a:r>
              <a:rPr lang="zh-CN" altLang="en-US" sz="2800" b="1" dirty="0">
                <a:solidFill>
                  <a:srgbClr val="FF0000"/>
                </a:solidFill>
              </a:rPr>
              <a:t>系统吞吐量降低</a:t>
            </a:r>
            <a:r>
              <a:rPr lang="en-US" altLang="zh-CN" sz="2800" b="1" dirty="0"/>
              <a:t>;</a:t>
            </a:r>
            <a:r>
              <a:rPr lang="zh-CN" altLang="en-US" sz="2800" b="1" dirty="0"/>
              <a:t>若死锁没有得到及时解除</a:t>
            </a:r>
            <a:r>
              <a:rPr lang="en-US" altLang="zh-CN" sz="2800" b="1" dirty="0"/>
              <a:t>,</a:t>
            </a:r>
            <a:r>
              <a:rPr lang="zh-CN" altLang="en-US" sz="2800" b="1" dirty="0"/>
              <a:t>还可能会引发连锁效应</a:t>
            </a:r>
            <a:r>
              <a:rPr lang="en-US" altLang="zh-CN" sz="2800" b="1" dirty="0"/>
              <a:t>,</a:t>
            </a:r>
            <a:r>
              <a:rPr lang="zh-CN" altLang="en-US" sz="2800" b="1" dirty="0"/>
              <a:t>涉及死锁的进程和 资源可能会越来越多</a:t>
            </a:r>
            <a:r>
              <a:rPr lang="en-US" altLang="zh-CN" sz="2800" b="1" dirty="0"/>
              <a:t>,</a:t>
            </a:r>
            <a:r>
              <a:rPr lang="zh-CN" altLang="en-US" sz="2800" b="1" dirty="0"/>
              <a:t>会导致更多的死锁</a:t>
            </a:r>
            <a:r>
              <a:rPr lang="en-US" altLang="zh-CN" sz="2800" b="1" dirty="0"/>
              <a:t>,</a:t>
            </a:r>
            <a:r>
              <a:rPr lang="zh-CN" altLang="en-US" sz="2800" b="1" dirty="0"/>
              <a:t>直至系统所有进程都在等待</a:t>
            </a:r>
            <a:r>
              <a:rPr lang="en-US" altLang="zh-CN" sz="2800" b="1" dirty="0"/>
              <a:t>,</a:t>
            </a:r>
            <a:r>
              <a:rPr lang="zh-CN" altLang="en-US" sz="2800" b="1" dirty="0"/>
              <a:t>无进程可运行或所有 的资源都被耗尽</a:t>
            </a:r>
            <a:r>
              <a:rPr lang="en-US" altLang="zh-CN" sz="2800" b="1" dirty="0"/>
              <a:t>,</a:t>
            </a:r>
            <a:r>
              <a:rPr lang="zh-CN" altLang="en-US" sz="2800" b="1" dirty="0"/>
              <a:t>最终</a:t>
            </a:r>
            <a:r>
              <a:rPr lang="zh-CN" altLang="en-US" sz="2800" b="1" dirty="0">
                <a:solidFill>
                  <a:srgbClr val="FF0000"/>
                </a:solidFill>
              </a:rPr>
              <a:t>系统崩溃</a:t>
            </a:r>
          </a:p>
        </p:txBody>
      </p:sp>
    </p:spTree>
    <p:extLst>
      <p:ext uri="{BB962C8B-B14F-4D97-AF65-F5344CB8AC3E}">
        <p14:creationId xmlns:p14="http://schemas.microsoft.com/office/powerpoint/2010/main" val="274904453"/>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06012E73-4397-45E7-85C9-E1C4406874B7}"/>
              </a:ext>
            </a:extLst>
          </p:cNvPr>
          <p:cNvSpPr>
            <a:spLocks noGrp="1" noChangeArrowheads="1"/>
          </p:cNvSpPr>
          <p:nvPr>
            <p:ph type="body" idx="1"/>
          </p:nvPr>
        </p:nvSpPr>
        <p:spPr>
          <a:xfrm>
            <a:off x="179512" y="260648"/>
            <a:ext cx="8784976" cy="6336704"/>
          </a:xfr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Font typeface="Wingdings" panose="05000000000000000000" pitchFamily="2" charset="2"/>
              <a:buNone/>
            </a:pPr>
            <a:r>
              <a:rPr lang="en-US" altLang="zh-CN" sz="2800" b="1" dirty="0">
                <a:solidFill>
                  <a:srgbClr val="FFFF00"/>
                </a:solidFill>
                <a:effectLst/>
                <a:ea typeface="黑体" panose="02010609060101010101" pitchFamily="49" charset="-122"/>
              </a:rPr>
              <a:t>3.</a:t>
            </a:r>
            <a:r>
              <a:rPr lang="zh-CN" altLang="en-US" sz="2800" b="1" dirty="0">
                <a:solidFill>
                  <a:srgbClr val="FFFF00"/>
                </a:solidFill>
                <a:effectLst/>
                <a:ea typeface="黑体" panose="02010609060101010101" pitchFamily="49" charset="-122"/>
              </a:rPr>
              <a:t>产生死锁的四个必要条件：</a:t>
            </a:r>
          </a:p>
          <a:p>
            <a:pPr eaLnBrk="1" hangingPunct="1"/>
            <a:r>
              <a:rPr lang="zh-CN" altLang="en-US" sz="2800" b="1" dirty="0">
                <a:solidFill>
                  <a:srgbClr val="FFFF00"/>
                </a:solidFill>
                <a:effectLst/>
                <a:ea typeface="黑体" panose="02010609060101010101" pitchFamily="49" charset="-122"/>
              </a:rPr>
              <a:t>互斥条件：涉及的资源不能同时被两个进程以上的进程使用</a:t>
            </a:r>
          </a:p>
          <a:p>
            <a:pPr eaLnBrk="1" hangingPunct="1"/>
            <a:r>
              <a:rPr lang="zh-CN" altLang="en-US" sz="2800" b="1" dirty="0">
                <a:solidFill>
                  <a:srgbClr val="FFFF00"/>
                </a:solidFill>
                <a:effectLst/>
                <a:ea typeface="黑体" panose="02010609060101010101" pitchFamily="49" charset="-122"/>
              </a:rPr>
              <a:t>不可剥夺条件：不能强行剥夺进程拥有的资源</a:t>
            </a:r>
          </a:p>
          <a:p>
            <a:pPr eaLnBrk="1" hangingPunct="1"/>
            <a:r>
              <a:rPr lang="zh-CN" altLang="en-US" sz="2800" b="1" dirty="0">
                <a:solidFill>
                  <a:srgbClr val="FFFF00"/>
                </a:solidFill>
                <a:effectLst/>
                <a:ea typeface="黑体" panose="02010609060101010101" pitchFamily="49" charset="-122"/>
              </a:rPr>
              <a:t>请求并保持保持：进程在申请新资源时继续占有已分配的资源</a:t>
            </a:r>
          </a:p>
          <a:p>
            <a:pPr eaLnBrk="1" hangingPunct="1"/>
            <a:r>
              <a:rPr lang="zh-CN" altLang="en-US" sz="2800" b="1" dirty="0">
                <a:solidFill>
                  <a:srgbClr val="FFFF00"/>
                </a:solidFill>
                <a:effectLst/>
                <a:ea typeface="黑体" panose="02010609060101010101" pitchFamily="49" charset="-122"/>
              </a:rPr>
              <a:t>循环等待等待：存在一种进程的循环链，链中的每一个进程已获得的资源同时被链中的下一个进程所请求</a:t>
            </a:r>
            <a:endParaRPr lang="en-US" altLang="zh-CN" sz="2800" b="1" dirty="0">
              <a:solidFill>
                <a:srgbClr val="FFFF00"/>
              </a:solidFill>
              <a:effectLst/>
              <a:ea typeface="黑体" panose="02010609060101010101" pitchFamily="49" charset="-122"/>
            </a:endParaRPr>
          </a:p>
          <a:p>
            <a:pPr marL="0" indent="0" eaLnBrk="1" hangingPunct="1">
              <a:buNone/>
            </a:pPr>
            <a:r>
              <a:rPr lang="zh-CN" altLang="en-US" sz="2800" b="1" dirty="0"/>
              <a:t>这</a:t>
            </a:r>
            <a:r>
              <a:rPr lang="en-US" altLang="zh-CN" sz="2800" b="1" dirty="0"/>
              <a:t>4</a:t>
            </a:r>
            <a:r>
              <a:rPr lang="zh-CN" altLang="en-US" sz="2800" b="1" dirty="0"/>
              <a:t>个条件的并集是死锁发生的充分条件</a:t>
            </a:r>
            <a:r>
              <a:rPr lang="en-US" altLang="zh-CN" sz="2800" b="1" dirty="0"/>
              <a:t>,</a:t>
            </a:r>
            <a:r>
              <a:rPr lang="zh-CN" altLang="en-US" sz="2800" b="1" dirty="0"/>
              <a:t>也就是说</a:t>
            </a:r>
            <a:r>
              <a:rPr lang="en-US" altLang="zh-CN" sz="2800" b="1" dirty="0"/>
              <a:t>,</a:t>
            </a:r>
            <a:r>
              <a:rPr lang="zh-CN" altLang="en-US" sz="2800" b="1" dirty="0"/>
              <a:t>只有当这四个条 件同时满足时</a:t>
            </a:r>
            <a:r>
              <a:rPr lang="en-US" altLang="zh-CN" sz="2800" b="1" dirty="0"/>
              <a:t>,</a:t>
            </a:r>
            <a:r>
              <a:rPr lang="zh-CN" altLang="en-US" sz="2800" b="1" dirty="0"/>
              <a:t>才可能发生死锁。破坏任何一个条件都可以免除死锁的发生。</a:t>
            </a:r>
            <a:endParaRPr lang="zh-CN" altLang="en-US" sz="2800" b="1" dirty="0">
              <a:solidFill>
                <a:srgbClr val="FFFF00"/>
              </a:solidFill>
              <a:effectLst/>
              <a:ea typeface="黑体" panose="02010609060101010101" pitchFamily="49" charset="-122"/>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41FC4609-B0C8-4F90-8368-819DC0ABFC9D}"/>
              </a:ext>
            </a:extLst>
          </p:cNvPr>
          <p:cNvSpPr>
            <a:spLocks noGrp="1" noChangeArrowheads="1"/>
          </p:cNvSpPr>
          <p:nvPr>
            <p:ph type="body" idx="1"/>
          </p:nvPr>
        </p:nvSpPr>
        <p:spPr>
          <a:xfrm>
            <a:off x="242887" y="1268760"/>
            <a:ext cx="8353425" cy="1008583"/>
          </a:xfrm>
        </p:spPr>
        <p:txBody>
          <a:bodyPr/>
          <a:lstStyle/>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解决死锁的方法为：预防、避免、检测与解除</a:t>
            </a:r>
          </a:p>
        </p:txBody>
      </p:sp>
      <p:sp>
        <p:nvSpPr>
          <p:cNvPr id="142339" name="Rectangle 3">
            <a:extLst>
              <a:ext uri="{FF2B5EF4-FFF2-40B4-BE49-F238E27FC236}">
                <a16:creationId xmlns:a16="http://schemas.microsoft.com/office/drawing/2014/main" id="{2A015BF6-4FD4-4E27-A0C0-9B5E4BFE2A27}"/>
              </a:ext>
            </a:extLst>
          </p:cNvPr>
          <p:cNvSpPr>
            <a:spLocks noGrp="1" noChangeArrowheads="1"/>
          </p:cNvSpPr>
          <p:nvPr>
            <p:ph type="title"/>
          </p:nvPr>
        </p:nvSpPr>
        <p:spPr>
          <a:xfrm>
            <a:off x="179388" y="333375"/>
            <a:ext cx="8480425" cy="803275"/>
          </a:xfrm>
          <a:noFill/>
          <a:extLst>
            <a:ext uri="{909E8E84-426E-40DD-AFC4-6F175D3DCCD1}">
              <a14:hiddenFill xmlns:a14="http://schemas.microsoft.com/office/drawing/2010/main">
                <a:solidFill>
                  <a:schemeClr val="accent1"/>
                </a:solidFill>
              </a14:hiddenFill>
            </a:ext>
          </a:extLst>
        </p:spPr>
        <p:txBody>
          <a:bodyPr anchor="b" anchorCtr="0"/>
          <a:lstStyle/>
          <a:p>
            <a:pPr eaLnBrk="1" hangingPunct="1"/>
            <a:r>
              <a:rPr lang="en-US" altLang="zh-CN" sz="4800" b="1">
                <a:solidFill>
                  <a:schemeClr val="tx1"/>
                </a:solidFill>
                <a:effectLst/>
                <a:latin typeface="楷体_GB2312" pitchFamily="49" charset="-122"/>
                <a:ea typeface="楷体_GB2312" pitchFamily="49" charset="-122"/>
              </a:rPr>
              <a:t>3.6.2</a:t>
            </a:r>
            <a:r>
              <a:rPr lang="zh-CN" altLang="en-US" sz="4800" b="1">
                <a:solidFill>
                  <a:schemeClr val="tx1"/>
                </a:solidFill>
                <a:effectLst/>
                <a:latin typeface="楷体_GB2312" pitchFamily="49" charset="-122"/>
                <a:ea typeface="楷体_GB2312" pitchFamily="49" charset="-122"/>
              </a:rPr>
              <a:t>死锁的处理策略</a:t>
            </a:r>
          </a:p>
        </p:txBody>
      </p:sp>
      <p:pic>
        <p:nvPicPr>
          <p:cNvPr id="3" name="图片 2">
            <a:extLst>
              <a:ext uri="{FF2B5EF4-FFF2-40B4-BE49-F238E27FC236}">
                <a16:creationId xmlns:a16="http://schemas.microsoft.com/office/drawing/2014/main" id="{FA21A9B7-7F22-D352-4E1A-02A5E6A5CA10}"/>
              </a:ext>
            </a:extLst>
          </p:cNvPr>
          <p:cNvPicPr>
            <a:picLocks noChangeAspect="1"/>
          </p:cNvPicPr>
          <p:nvPr/>
        </p:nvPicPr>
        <p:blipFill>
          <a:blip r:embed="rId2"/>
          <a:stretch>
            <a:fillRect/>
          </a:stretch>
        </p:blipFill>
        <p:spPr>
          <a:xfrm>
            <a:off x="468313" y="1988841"/>
            <a:ext cx="8191500" cy="4677560"/>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92E3B-0AB7-8F97-3736-D5C98AF03D09}"/>
            </a:ext>
          </a:extLst>
        </p:cNvPr>
        <p:cNvGrpSpPr/>
        <p:nvPr/>
      </p:nvGrpSpPr>
      <p:grpSpPr>
        <a:xfrm>
          <a:off x="0" y="0"/>
          <a:ext cx="0" cy="0"/>
          <a:chOff x="0" y="0"/>
          <a:chExt cx="0" cy="0"/>
        </a:xfrm>
      </p:grpSpPr>
      <p:sp>
        <p:nvSpPr>
          <p:cNvPr id="142338" name="Rectangle 2">
            <a:extLst>
              <a:ext uri="{FF2B5EF4-FFF2-40B4-BE49-F238E27FC236}">
                <a16:creationId xmlns:a16="http://schemas.microsoft.com/office/drawing/2014/main" id="{5987032A-0147-AF24-9D2C-0E69F2812578}"/>
              </a:ext>
            </a:extLst>
          </p:cNvPr>
          <p:cNvSpPr>
            <a:spLocks noGrp="1" noChangeArrowheads="1"/>
          </p:cNvSpPr>
          <p:nvPr>
            <p:ph type="body" idx="1"/>
          </p:nvPr>
        </p:nvSpPr>
        <p:spPr>
          <a:xfrm>
            <a:off x="468313" y="1484313"/>
            <a:ext cx="8353425" cy="5184775"/>
          </a:xfrm>
        </p:spPr>
        <p:txBody>
          <a:bodyPr/>
          <a:lstStyle/>
          <a:p>
            <a:pPr eaLnBrk="1" hangingPunct="1"/>
            <a:r>
              <a:rPr lang="zh-CN" altLang="en-US" sz="2800" b="1">
                <a:solidFill>
                  <a:srgbClr val="FFFF00"/>
                </a:solidFill>
                <a:effectLst/>
                <a:latin typeface="黑体" panose="02010609060101010101" pitchFamily="49" charset="-122"/>
                <a:ea typeface="黑体" panose="02010609060101010101" pitchFamily="49" charset="-122"/>
              </a:rPr>
              <a:t>解决死锁的方法为：预防、避免、检测与解除</a:t>
            </a:r>
          </a:p>
          <a:p>
            <a:pPr eaLnBrk="1" hangingPunct="1"/>
            <a:r>
              <a:rPr lang="zh-CN" altLang="en-US" sz="2800" b="1">
                <a:solidFill>
                  <a:srgbClr val="FFFF00"/>
                </a:solidFill>
                <a:effectLst/>
                <a:latin typeface="黑体" panose="02010609060101010101" pitchFamily="49" charset="-122"/>
                <a:ea typeface="黑体" panose="02010609060101010101" pitchFamily="49" charset="-122"/>
              </a:rPr>
              <a:t>预防是采用某种策略，限制并发进程对资源的请求，从而使得死锁的必要条件在系统执行的任何时间都不满足。</a:t>
            </a:r>
          </a:p>
          <a:p>
            <a:pPr eaLnBrk="1" hangingPunct="1"/>
            <a:r>
              <a:rPr lang="zh-CN" altLang="en-US" sz="2800" b="1">
                <a:solidFill>
                  <a:srgbClr val="FFFF00"/>
                </a:solidFill>
                <a:effectLst/>
                <a:latin typeface="黑体" panose="02010609060101010101" pitchFamily="49" charset="-122"/>
                <a:ea typeface="黑体" panose="02010609060101010101" pitchFamily="49" charset="-122"/>
              </a:rPr>
              <a:t>避免是指系统在分配资源时，根据资源的使用情况提前做出预测，从而避免死锁的发生。</a:t>
            </a:r>
          </a:p>
          <a:p>
            <a:pPr eaLnBrk="1" hangingPunct="1"/>
            <a:r>
              <a:rPr lang="zh-CN" altLang="en-US" sz="2800" b="1">
                <a:solidFill>
                  <a:srgbClr val="FFFF00"/>
                </a:solidFill>
                <a:effectLst/>
                <a:latin typeface="黑体" panose="02010609060101010101" pitchFamily="49" charset="-122"/>
                <a:ea typeface="黑体" panose="02010609060101010101" pitchFamily="49" charset="-122"/>
              </a:rPr>
              <a:t>死锁检测与解除是指系统设有专门的机构，当死锁发生时，该机构能够检测到死锁发生的位置和原因，并能通过外力破坏死锁发生的条件，从而使得并发进程从死锁状态中恢复出来。</a:t>
            </a:r>
          </a:p>
        </p:txBody>
      </p:sp>
      <p:sp>
        <p:nvSpPr>
          <p:cNvPr id="142339" name="Rectangle 3">
            <a:extLst>
              <a:ext uri="{FF2B5EF4-FFF2-40B4-BE49-F238E27FC236}">
                <a16:creationId xmlns:a16="http://schemas.microsoft.com/office/drawing/2014/main" id="{68522295-AB9E-F400-029E-B6E4902DD946}"/>
              </a:ext>
            </a:extLst>
          </p:cNvPr>
          <p:cNvSpPr>
            <a:spLocks noGrp="1" noChangeArrowheads="1"/>
          </p:cNvSpPr>
          <p:nvPr>
            <p:ph type="title"/>
          </p:nvPr>
        </p:nvSpPr>
        <p:spPr>
          <a:xfrm>
            <a:off x="179388" y="333375"/>
            <a:ext cx="8480425" cy="803275"/>
          </a:xfrm>
          <a:noFill/>
          <a:extLst>
            <a:ext uri="{909E8E84-426E-40DD-AFC4-6F175D3DCCD1}">
              <a14:hiddenFill xmlns:a14="http://schemas.microsoft.com/office/drawing/2010/main">
                <a:solidFill>
                  <a:schemeClr val="accent1"/>
                </a:solidFill>
              </a14:hiddenFill>
            </a:ext>
          </a:extLst>
        </p:spPr>
        <p:txBody>
          <a:bodyPr anchor="b" anchorCtr="0"/>
          <a:lstStyle/>
          <a:p>
            <a:pPr eaLnBrk="1" hangingPunct="1"/>
            <a:r>
              <a:rPr lang="en-US" altLang="zh-CN" sz="4800" b="1">
                <a:solidFill>
                  <a:schemeClr val="tx1"/>
                </a:solidFill>
                <a:effectLst/>
                <a:latin typeface="楷体_GB2312" pitchFamily="49" charset="-122"/>
                <a:ea typeface="楷体_GB2312" pitchFamily="49" charset="-122"/>
              </a:rPr>
              <a:t>3.6.2</a:t>
            </a:r>
            <a:r>
              <a:rPr lang="zh-CN" altLang="en-US" sz="4800" b="1">
                <a:solidFill>
                  <a:schemeClr val="tx1"/>
                </a:solidFill>
                <a:effectLst/>
                <a:latin typeface="楷体_GB2312" pitchFamily="49" charset="-122"/>
                <a:ea typeface="楷体_GB2312" pitchFamily="49" charset="-122"/>
              </a:rPr>
              <a:t>死锁的处理策略</a:t>
            </a:r>
          </a:p>
        </p:txBody>
      </p:sp>
    </p:spTree>
    <p:extLst>
      <p:ext uri="{BB962C8B-B14F-4D97-AF65-F5344CB8AC3E}">
        <p14:creationId xmlns:p14="http://schemas.microsoft.com/office/powerpoint/2010/main" val="334942240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2A3EC533-3112-44DC-B8B1-1FB389F7906E}"/>
              </a:ext>
            </a:extLst>
          </p:cNvPr>
          <p:cNvSpPr>
            <a:spLocks noGrp="1" noChangeArrowheads="1"/>
          </p:cNvSpPr>
          <p:nvPr>
            <p:ph type="body" idx="1"/>
          </p:nvPr>
        </p:nvSpPr>
        <p:spPr>
          <a:xfrm>
            <a:off x="457200" y="908721"/>
            <a:ext cx="8229600" cy="3312368"/>
          </a:xfrm>
        </p:spPr>
        <p:txBody>
          <a:bodyPr/>
          <a:lstStyle/>
          <a:p>
            <a:pPr algn="just" eaLnBrk="1" hangingPunct="1">
              <a:buFont typeface="Wingdings" panose="05000000000000000000" pitchFamily="2" charset="2"/>
              <a:buNone/>
            </a:pP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、死锁预防：</a:t>
            </a:r>
          </a:p>
          <a:p>
            <a:pPr eaLnBrk="1" hangingPunct="1"/>
            <a:r>
              <a:rPr lang="zh-CN" altLang="en-US" b="1" dirty="0">
                <a:solidFill>
                  <a:srgbClr val="FFFF00"/>
                </a:solidFill>
                <a:effectLst/>
                <a:latin typeface="黑体" panose="02010609060101010101" pitchFamily="49" charset="-122"/>
                <a:ea typeface="黑体" panose="02010609060101010101" pitchFamily="49" charset="-122"/>
              </a:rPr>
              <a:t>通过设置某些限制条件，去破坏死锁四个必要条件中的一个或多个，来防止死锁。</a:t>
            </a:r>
          </a:p>
          <a:p>
            <a:pPr eaLnBrk="1" hangingPunct="1"/>
            <a:r>
              <a:rPr lang="zh-CN" altLang="en-US" b="1" dirty="0">
                <a:solidFill>
                  <a:srgbClr val="FFFF00"/>
                </a:solidFill>
                <a:effectLst/>
                <a:latin typeface="Times New Roman" panose="02020603050405020304" pitchFamily="18" charset="0"/>
                <a:ea typeface="黑体" panose="02010609060101010101" pitchFamily="49" charset="-122"/>
              </a:rPr>
              <a:t>产生死锁的四个必要条件中，互斥条件不仅不能改变，相反还应加以保证</a:t>
            </a:r>
            <a:endParaRPr lang="zh-CN" altLang="en-US" b="1" dirty="0">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3">
            <a:extLst>
              <a:ext uri="{FF2B5EF4-FFF2-40B4-BE49-F238E27FC236}">
                <a16:creationId xmlns:a16="http://schemas.microsoft.com/office/drawing/2014/main" id="{9BF15E5E-6380-4B3A-B808-25D2C7A61D26}"/>
              </a:ext>
            </a:extLst>
          </p:cNvPr>
          <p:cNvSpPr>
            <a:spLocks noGrp="1" noChangeArrowheads="1"/>
          </p:cNvSpPr>
          <p:nvPr>
            <p:ph type="body" idx="1"/>
          </p:nvPr>
        </p:nvSpPr>
        <p:spPr>
          <a:xfrm>
            <a:off x="570706" y="620688"/>
            <a:ext cx="8002587" cy="5149850"/>
          </a:xfrm>
        </p:spPr>
        <p:txBody>
          <a:bodyPr/>
          <a:lstStyle/>
          <a:p>
            <a:pPr algn="just" eaLnBrk="1" hangingPunct="1">
              <a:buFont typeface="Wingdings" panose="05000000000000000000" pitchFamily="2" charset="2"/>
              <a:buNone/>
            </a:pP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、死锁预防：</a:t>
            </a:r>
          </a:p>
          <a:p>
            <a:pPr algn="just" eaLnBrk="1" hangingPunct="1">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破坏不可剥夺条件：一个已拥有资源的进程，若它再提出新资源要求而不能立即得到满足时，它必须释放已经拥有的所有资源。以后需要时再重新申请。</a:t>
            </a:r>
          </a:p>
          <a:p>
            <a:pPr algn="just" eaLnBrk="1" hangingPunct="1">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该方法需要完成对已执行进程的回滚，反复的申请和释放资源，系统开销大。</a:t>
            </a:r>
            <a:endParaRPr lang="en-US" altLang="zh-CN" b="1" dirty="0">
              <a:solidFill>
                <a:srgbClr val="FFFF00"/>
              </a:solidFill>
              <a:effectLst/>
              <a:latin typeface="黑体" panose="02010609060101010101" pitchFamily="49" charset="-122"/>
              <a:ea typeface="黑体" panose="02010609060101010101" pitchFamily="49" charset="-122"/>
            </a:endParaRPr>
          </a:p>
          <a:p>
            <a:pPr algn="just" eaLnBrk="1" hangingPunct="1">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常用于状态易于保存和恢复的资源，如</a:t>
            </a:r>
            <a:r>
              <a:rPr lang="en-US" altLang="zh-CN" b="1" dirty="0">
                <a:solidFill>
                  <a:srgbClr val="FFFF00"/>
                </a:solidFill>
                <a:effectLst/>
                <a:latin typeface="黑体" panose="02010609060101010101" pitchFamily="49" charset="-122"/>
                <a:ea typeface="黑体" panose="02010609060101010101" pitchFamily="49" charset="-122"/>
              </a:rPr>
              <a:t>CPU</a:t>
            </a:r>
            <a:r>
              <a:rPr lang="zh-CN" altLang="en-US" b="1" dirty="0">
                <a:solidFill>
                  <a:srgbClr val="FFFF00"/>
                </a:solidFill>
                <a:effectLst/>
                <a:latin typeface="黑体" panose="02010609060101010101" pitchFamily="49" charset="-122"/>
                <a:ea typeface="黑体" panose="02010609060101010101" pitchFamily="49" charset="-122"/>
              </a:rPr>
              <a:t>的寄存器和内存资源 </a:t>
            </a: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E42801C6-1D0D-4B1F-9510-AEA3DACDF4AB}"/>
              </a:ext>
            </a:extLst>
          </p:cNvPr>
          <p:cNvSpPr>
            <a:spLocks noGrp="1" noChangeArrowheads="1"/>
          </p:cNvSpPr>
          <p:nvPr>
            <p:ph type="body" idx="1"/>
          </p:nvPr>
        </p:nvSpPr>
        <p:spPr>
          <a:xfrm>
            <a:off x="611188" y="981075"/>
            <a:ext cx="8002587" cy="5149850"/>
          </a:xfrm>
        </p:spPr>
        <p:txBody>
          <a:bodyPr/>
          <a:lstStyle/>
          <a:p>
            <a:pPr algn="just" eaLnBrk="1" hangingPunct="1">
              <a:buFont typeface="Wingdings" panose="05000000000000000000" pitchFamily="2" charset="2"/>
              <a:buNone/>
            </a:pPr>
            <a:r>
              <a:rPr lang="en-US" altLang="zh-CN" sz="3600" b="1" dirty="0">
                <a:solidFill>
                  <a:srgbClr val="FFFF00"/>
                </a:solidFill>
                <a:effectLst/>
                <a:latin typeface="黑体" panose="02010609060101010101" pitchFamily="49" charset="-122"/>
                <a:ea typeface="黑体" panose="02010609060101010101" pitchFamily="49" charset="-122"/>
              </a:rPr>
              <a:t>1</a:t>
            </a:r>
            <a:r>
              <a:rPr lang="zh-CN" altLang="en-US" sz="3600" b="1" dirty="0">
                <a:solidFill>
                  <a:srgbClr val="FFFF00"/>
                </a:solidFill>
                <a:effectLst/>
                <a:latin typeface="黑体" panose="02010609060101010101" pitchFamily="49" charset="-122"/>
                <a:ea typeface="黑体" panose="02010609060101010101" pitchFamily="49" charset="-122"/>
              </a:rPr>
              <a:t>、死锁预防：</a:t>
            </a:r>
          </a:p>
          <a:p>
            <a:pPr algn="just" eaLnBrk="1" hangingPunct="1">
              <a:buFont typeface="Wingdings" panose="05000000000000000000" pitchFamily="2" charset="2"/>
              <a:buChar char="ü"/>
            </a:pPr>
            <a:r>
              <a:rPr lang="zh-CN" altLang="en-US" sz="3600" b="1" dirty="0">
                <a:solidFill>
                  <a:srgbClr val="FFFF00"/>
                </a:solidFill>
                <a:effectLst/>
                <a:latin typeface="黑体" panose="02010609060101010101" pitchFamily="49" charset="-122"/>
                <a:ea typeface="黑体" panose="02010609060101010101" pitchFamily="49" charset="-122"/>
              </a:rPr>
              <a:t>破坏请求并保持条件：</a:t>
            </a:r>
            <a:r>
              <a:rPr lang="zh-CN" altLang="en-US" sz="3600" b="1" dirty="0">
                <a:solidFill>
                  <a:srgbClr val="FFFF00"/>
                </a:solidFill>
                <a:effectLst/>
                <a:latin typeface="Times New Roman" panose="02020603050405020304" pitchFamily="18" charset="0"/>
                <a:ea typeface="黑体" panose="02010609060101010101" pitchFamily="49" charset="-122"/>
              </a:rPr>
              <a:t>系统要求所有进程要一次性地申请在整个运行过程中所需的全部资源后，再投入运行，在执行过程中，资源一直归进程所有</a:t>
            </a:r>
            <a:endParaRPr lang="en-US" altLang="zh-CN" sz="3600" b="1" dirty="0">
              <a:solidFill>
                <a:srgbClr val="FFFF00"/>
              </a:solidFill>
              <a:effectLst/>
              <a:latin typeface="Times New Roman" panose="02020603050405020304" pitchFamily="18" charset="0"/>
              <a:ea typeface="黑体" panose="02010609060101010101" pitchFamily="49" charset="-122"/>
            </a:endParaRPr>
          </a:p>
          <a:p>
            <a:pPr algn="just" eaLnBrk="1" hangingPunct="1">
              <a:buFont typeface="Wingdings" panose="05000000000000000000" pitchFamily="2" charset="2"/>
              <a:buChar char="ü"/>
            </a:pPr>
            <a:r>
              <a:rPr lang="zh-CN" altLang="en-US" sz="3600" b="1" dirty="0">
                <a:solidFill>
                  <a:srgbClr val="FFFF00"/>
                </a:solidFill>
                <a:effectLst/>
                <a:latin typeface="Times New Roman" panose="02020603050405020304" pitchFamily="18" charset="0"/>
                <a:ea typeface="黑体" panose="02010609060101010101" pitchFamily="49" charset="-122"/>
              </a:rPr>
              <a:t>简单</a:t>
            </a:r>
            <a:endParaRPr lang="zh-CN" altLang="en-US" sz="3600" b="1" dirty="0">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a:extLst>
              <a:ext uri="{FF2B5EF4-FFF2-40B4-BE49-F238E27FC236}">
                <a16:creationId xmlns:a16="http://schemas.microsoft.com/office/drawing/2014/main" id="{7B5CE273-464B-4ADD-92FB-803008D8EA48}"/>
              </a:ext>
            </a:extLst>
          </p:cNvPr>
          <p:cNvSpPr>
            <a:spLocks noGrp="1" noChangeArrowheads="1"/>
          </p:cNvSpPr>
          <p:nvPr>
            <p:ph type="title"/>
          </p:nvPr>
        </p:nvSpPr>
        <p:spPr/>
        <p:txBody>
          <a:bodyPr/>
          <a:lstStyle/>
          <a:p>
            <a:pPr eaLnBrk="1" hangingPunct="1">
              <a:defRPr/>
            </a:pPr>
            <a:r>
              <a:rPr lang="en-US" altLang="zh-CN"/>
              <a:t> </a:t>
            </a:r>
          </a:p>
        </p:txBody>
      </p:sp>
      <p:sp>
        <p:nvSpPr>
          <p:cNvPr id="146435" name="Rectangle 3">
            <a:extLst>
              <a:ext uri="{FF2B5EF4-FFF2-40B4-BE49-F238E27FC236}">
                <a16:creationId xmlns:a16="http://schemas.microsoft.com/office/drawing/2014/main" id="{88590A70-A060-4825-B18E-0DCF392340BC}"/>
              </a:ext>
            </a:extLst>
          </p:cNvPr>
          <p:cNvSpPr>
            <a:spLocks noGrp="1" noChangeArrowheads="1"/>
          </p:cNvSpPr>
          <p:nvPr>
            <p:ph type="body" idx="1"/>
          </p:nvPr>
        </p:nvSpPr>
        <p:spPr>
          <a:xfrm>
            <a:off x="250825" y="908719"/>
            <a:ext cx="8562975" cy="5287293"/>
          </a:xfrm>
        </p:spPr>
        <p:txBody>
          <a:bodyPr/>
          <a:lstStyle/>
          <a:p>
            <a:pPr algn="just"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缺点：</a:t>
            </a:r>
          </a:p>
          <a:p>
            <a:pPr algn="just" eaLnBrk="1" hangingPunct="1"/>
            <a:r>
              <a:rPr lang="zh-CN" altLang="en-US" sz="2800" b="1" dirty="0">
                <a:solidFill>
                  <a:srgbClr val="FFFF00"/>
                </a:solidFill>
                <a:effectLst/>
                <a:latin typeface="黑体" panose="02010609060101010101" pitchFamily="49" charset="-122"/>
                <a:ea typeface="黑体" panose="02010609060101010101" pitchFamily="49" charset="-122"/>
              </a:rPr>
              <a:t>一个用户在进程运行之前可能提不出进程将要使用的全部设备。</a:t>
            </a:r>
          </a:p>
          <a:p>
            <a:pPr algn="just" eaLnBrk="1" hangingPunct="1"/>
            <a:r>
              <a:rPr lang="zh-CN" altLang="en-US" sz="2800" b="1" dirty="0">
                <a:solidFill>
                  <a:srgbClr val="FFFF00"/>
                </a:solidFill>
                <a:effectLst/>
                <a:latin typeface="黑体" panose="02010609060101010101" pitchFamily="49" charset="-122"/>
                <a:ea typeface="黑体" panose="02010609060101010101" pitchFamily="49" charset="-122"/>
              </a:rPr>
              <a:t>进程必须等待，直到所有资源满足才能运行。实际上某些资源可能要到运行后期才会用到。</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进程运行期间，对某些设备的使用时间很短，甚至不会用到。如：当用户进程出错时才需要打印机输出错误信息，但采用静态分配法必须把打印机分配给该进程，并长期占用。采用该方法对系统来说是非常浪费的。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6EBFC28A-FBED-4BE2-8492-59E3AD5DA168}"/>
              </a:ext>
            </a:extLst>
          </p:cNvPr>
          <p:cNvSpPr>
            <a:spLocks noGrp="1" noChangeArrowheads="1"/>
          </p:cNvSpPr>
          <p:nvPr>
            <p:ph type="body" idx="1"/>
          </p:nvPr>
        </p:nvSpPr>
        <p:spPr>
          <a:xfrm>
            <a:off x="611188" y="981075"/>
            <a:ext cx="8002587" cy="5149850"/>
          </a:xfrm>
        </p:spPr>
        <p:txBody>
          <a:bodyPr/>
          <a:lstStyle/>
          <a:p>
            <a:pPr algn="just" eaLnBrk="1" hangingPunct="1">
              <a:lnSpc>
                <a:spcPct val="90000"/>
              </a:lnSpc>
              <a:buFont typeface="Wingdings" panose="05000000000000000000" pitchFamily="2" charset="2"/>
              <a:buNone/>
            </a:pP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、死锁预防：</a:t>
            </a:r>
          </a:p>
          <a:p>
            <a:pPr algn="just" eaLnBrk="1" hangingPunct="1">
              <a:lnSpc>
                <a:spcPct val="90000"/>
              </a:lnSpc>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破坏循环等待条件：系统中的所有资源都有一个确定的唯一号码，所有分配请求必须以序号上升的次序进行，只能申请级别更高的资源</a:t>
            </a:r>
          </a:p>
          <a:p>
            <a:pPr algn="just" eaLnBrk="1" hangingPunct="1">
              <a:lnSpc>
                <a:spcPct val="90000"/>
              </a:lnSpc>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例如：系统中有下列设备：输入机（</a:t>
            </a:r>
            <a:r>
              <a:rPr lang="en-US" altLang="zh-CN" b="1" dirty="0">
                <a:solidFill>
                  <a:srgbClr val="FFFF00"/>
                </a:solidFill>
                <a:effectLst/>
                <a:latin typeface="黑体" panose="02010609060101010101" pitchFamily="49" charset="-122"/>
                <a:ea typeface="黑体" panose="02010609060101010101" pitchFamily="49" charset="-122"/>
              </a:rPr>
              <a:t>1</a:t>
            </a:r>
            <a:r>
              <a:rPr lang="zh-CN" altLang="en-US" b="1" dirty="0">
                <a:solidFill>
                  <a:srgbClr val="FFFF00"/>
                </a:solidFill>
                <a:effectLst/>
                <a:latin typeface="黑体" panose="02010609060101010101" pitchFamily="49" charset="-122"/>
                <a:ea typeface="黑体" panose="02010609060101010101" pitchFamily="49" charset="-122"/>
              </a:rPr>
              <a:t>），打印机（</a:t>
            </a:r>
            <a:r>
              <a:rPr lang="en-US" altLang="zh-CN" b="1" dirty="0">
                <a:solidFill>
                  <a:srgbClr val="FFFF00"/>
                </a:solidFill>
                <a:effectLst/>
                <a:latin typeface="黑体" panose="02010609060101010101" pitchFamily="49" charset="-122"/>
                <a:ea typeface="黑体" panose="02010609060101010101" pitchFamily="49" charset="-122"/>
              </a:rPr>
              <a:t>2</a:t>
            </a:r>
            <a:r>
              <a:rPr lang="zh-CN" altLang="en-US" b="1" dirty="0">
                <a:solidFill>
                  <a:srgbClr val="FFFF00"/>
                </a:solidFill>
                <a:effectLst/>
                <a:latin typeface="黑体" panose="02010609060101010101" pitchFamily="49" charset="-122"/>
                <a:ea typeface="黑体" panose="02010609060101010101" pitchFamily="49" charset="-122"/>
              </a:rPr>
              <a:t>），扫描仪（</a:t>
            </a:r>
            <a:r>
              <a:rPr lang="en-US" altLang="zh-CN" b="1" dirty="0">
                <a:solidFill>
                  <a:srgbClr val="FFFF00"/>
                </a:solidFill>
                <a:effectLst/>
                <a:latin typeface="黑体" panose="02010609060101010101" pitchFamily="49" charset="-122"/>
                <a:ea typeface="黑体" panose="02010609060101010101" pitchFamily="49" charset="-122"/>
              </a:rPr>
              <a:t>3</a:t>
            </a:r>
            <a:r>
              <a:rPr lang="zh-CN" altLang="en-US" b="1" dirty="0">
                <a:solidFill>
                  <a:srgbClr val="FFFF00"/>
                </a:solidFill>
                <a:effectLst/>
                <a:latin typeface="黑体" panose="02010609060101010101" pitchFamily="49" charset="-122"/>
                <a:ea typeface="黑体" panose="02010609060101010101" pitchFamily="49" charset="-122"/>
              </a:rPr>
              <a:t>），键盘（</a:t>
            </a:r>
            <a:r>
              <a:rPr lang="en-US" altLang="zh-CN" b="1" dirty="0">
                <a:solidFill>
                  <a:srgbClr val="FFFF00"/>
                </a:solidFill>
                <a:effectLst/>
                <a:latin typeface="黑体" panose="02010609060101010101" pitchFamily="49" charset="-122"/>
                <a:ea typeface="黑体" panose="02010609060101010101" pitchFamily="49" charset="-122"/>
              </a:rPr>
              <a:t>4</a:t>
            </a:r>
            <a:r>
              <a:rPr lang="zh-CN" altLang="en-US" b="1" dirty="0">
                <a:solidFill>
                  <a:srgbClr val="FFFF00"/>
                </a:solidFill>
                <a:effectLst/>
                <a:latin typeface="黑体" panose="02010609060101010101" pitchFamily="49" charset="-122"/>
                <a:ea typeface="黑体" panose="02010609060101010101" pitchFamily="49" charset="-122"/>
              </a:rPr>
              <a:t>），磁盘（</a:t>
            </a:r>
            <a:r>
              <a:rPr lang="en-US" altLang="zh-CN" b="1" dirty="0">
                <a:solidFill>
                  <a:srgbClr val="FFFF00"/>
                </a:solidFill>
                <a:effectLst/>
                <a:latin typeface="黑体" panose="02010609060101010101" pitchFamily="49" charset="-122"/>
                <a:ea typeface="黑体" panose="02010609060101010101" pitchFamily="49" charset="-122"/>
              </a:rPr>
              <a:t>5</a:t>
            </a:r>
            <a:r>
              <a:rPr lang="zh-CN" altLang="en-US" b="1" dirty="0">
                <a:solidFill>
                  <a:srgbClr val="FFFF00"/>
                </a:solidFill>
                <a:effectLst/>
                <a:latin typeface="黑体" panose="02010609060101010101" pitchFamily="49" charset="-122"/>
                <a:ea typeface="黑体" panose="02010609060101010101" pitchFamily="49" charset="-122"/>
              </a:rPr>
              <a:t>）。有一进程要先后使用输入机、磁盘、打印机，则它申请设备时要按输入机、打印机、磁盘的顺序申请</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a:extLst>
              <a:ext uri="{FF2B5EF4-FFF2-40B4-BE49-F238E27FC236}">
                <a16:creationId xmlns:a16="http://schemas.microsoft.com/office/drawing/2014/main" id="{4B66726A-634C-44EC-8AFD-407310982387}"/>
              </a:ext>
            </a:extLst>
          </p:cNvPr>
          <p:cNvSpPr>
            <a:spLocks noGrp="1" noChangeArrowheads="1"/>
          </p:cNvSpPr>
          <p:nvPr>
            <p:ph type="body" idx="1"/>
          </p:nvPr>
        </p:nvSpPr>
        <p:spPr>
          <a:xfrm>
            <a:off x="827088" y="1628775"/>
            <a:ext cx="7921625" cy="4530725"/>
          </a:xfrm>
        </p:spPr>
        <p:txBody>
          <a:bodyPr/>
          <a:lstStyle/>
          <a:p>
            <a:pPr algn="just" eaLnBrk="1" hangingPunct="1">
              <a:buFont typeface="Wingdings" panose="05000000000000000000" pitchFamily="2" charset="2"/>
              <a:buChar char="ü"/>
            </a:pPr>
            <a:r>
              <a:rPr lang="zh-CN" altLang="en-US" sz="3600" b="1">
                <a:solidFill>
                  <a:srgbClr val="FFFF00"/>
                </a:solidFill>
                <a:effectLst/>
                <a:latin typeface="黑体" panose="02010609060101010101" pitchFamily="49" charset="-122"/>
                <a:ea typeface="黑体" panose="02010609060101010101" pitchFamily="49" charset="-122"/>
              </a:rPr>
              <a:t>优点：同前两法相比，其资源利用率和系统吞吐量有较明显的改善</a:t>
            </a:r>
          </a:p>
          <a:p>
            <a:pPr algn="just" eaLnBrk="1" hangingPunct="1">
              <a:buFont typeface="Wingdings" panose="05000000000000000000" pitchFamily="2" charset="2"/>
              <a:buChar char="ü"/>
            </a:pPr>
            <a:r>
              <a:rPr lang="zh-CN" altLang="en-US" sz="3600" b="1">
                <a:solidFill>
                  <a:srgbClr val="FFFF00"/>
                </a:solidFill>
                <a:effectLst/>
                <a:latin typeface="黑体" panose="02010609060101010101" pitchFamily="49" charset="-122"/>
                <a:ea typeface="黑体" panose="02010609060101010101" pitchFamily="49" charset="-122"/>
              </a:rPr>
              <a:t>缺点：实现较困难，因为很难给出合适的资源编号，不便于系统增添新设备，不便于用户编程，且仍有一定的资源浪费现象</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204ADB13-FA3F-4B5E-9EF1-284A4C4541EB}"/>
              </a:ext>
            </a:extLst>
          </p:cNvPr>
          <p:cNvSpPr>
            <a:spLocks noGrp="1" noChangeArrowheads="1"/>
          </p:cNvSpPr>
          <p:nvPr>
            <p:ph type="body" idx="1"/>
          </p:nvPr>
        </p:nvSpPr>
        <p:spPr>
          <a:xfrm>
            <a:off x="755650" y="765175"/>
            <a:ext cx="7920038" cy="5689600"/>
          </a:xfrm>
        </p:spPr>
        <p:txBody>
          <a:bodyPr/>
          <a:lstStyle/>
          <a:p>
            <a:pPr eaLnBrk="1" hangingPunct="1">
              <a:buFont typeface="Wingdings" panose="05000000000000000000" pitchFamily="2" charset="2"/>
              <a:buNone/>
            </a:pPr>
            <a:r>
              <a:rPr lang="en-US" altLang="zh-CN" b="1">
                <a:solidFill>
                  <a:srgbClr val="FFFF00"/>
                </a:solidFill>
                <a:effectLst/>
                <a:latin typeface="黑体" panose="02010609060101010101" pitchFamily="49" charset="-122"/>
                <a:ea typeface="黑体" panose="02010609060101010101" pitchFamily="49" charset="-122"/>
              </a:rPr>
              <a:t>2.</a:t>
            </a:r>
            <a:r>
              <a:rPr lang="zh-CN" altLang="en-US" b="1">
                <a:solidFill>
                  <a:srgbClr val="FFFF00"/>
                </a:solidFill>
                <a:effectLst/>
                <a:latin typeface="黑体" panose="02010609060101010101" pitchFamily="49" charset="-122"/>
                <a:ea typeface="黑体" panose="02010609060101010101" pitchFamily="49" charset="-122"/>
              </a:rPr>
              <a:t>死锁避免：</a:t>
            </a:r>
          </a:p>
          <a:p>
            <a:pPr eaLnBrk="1" hangingPunct="1">
              <a:buFont typeface="Wingdings" panose="05000000000000000000" pitchFamily="2" charset="2"/>
              <a:buChar char="ü"/>
            </a:pPr>
            <a:r>
              <a:rPr lang="zh-CN" altLang="en-US" b="1">
                <a:solidFill>
                  <a:srgbClr val="FFFF00"/>
                </a:solidFill>
                <a:effectLst/>
                <a:latin typeface="黑体" panose="02010609060101010101" pitchFamily="49" charset="-122"/>
                <a:ea typeface="黑体" panose="02010609060101010101" pitchFamily="49" charset="-122"/>
              </a:rPr>
              <a:t>在系统运行过程中，对进程发出的每一个系统能够满足的资源申请进行动态检查，并根据检查结果决定是否分配资源，若分配后系统可能发生死锁，则不予分配，否则予以分配</a:t>
            </a:r>
          </a:p>
          <a:p>
            <a:pPr eaLnBrk="1" hangingPunct="1">
              <a:buFont typeface="Wingdings" panose="05000000000000000000" pitchFamily="2" charset="2"/>
              <a:buChar char="ü"/>
            </a:pPr>
            <a:r>
              <a:rPr lang="zh-CN" altLang="en-US" b="1">
                <a:solidFill>
                  <a:srgbClr val="FFFF00"/>
                </a:solidFill>
                <a:effectLst/>
                <a:latin typeface="黑体" panose="02010609060101010101" pitchFamily="49" charset="-122"/>
                <a:ea typeface="黑体" panose="02010609060101010101" pitchFamily="49" charset="-122"/>
              </a:rPr>
              <a:t>不事先采取限制去破坏产生死锁的条件，而是在资源的动态分配过程中，用某种方法去防止系统进入不安全状态，从而避免死锁的发生</a:t>
            </a: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3">
            <a:extLst>
              <a:ext uri="{FF2B5EF4-FFF2-40B4-BE49-F238E27FC236}">
                <a16:creationId xmlns:a16="http://schemas.microsoft.com/office/drawing/2014/main" id="{27CBBF39-3387-4D02-9E6F-3B3704E42C4B}"/>
              </a:ext>
            </a:extLst>
          </p:cNvPr>
          <p:cNvSpPr>
            <a:spLocks noGrp="1" noChangeArrowheads="1"/>
          </p:cNvSpPr>
          <p:nvPr>
            <p:ph type="body" idx="1"/>
          </p:nvPr>
        </p:nvSpPr>
        <p:spPr>
          <a:xfrm>
            <a:off x="684213" y="1125538"/>
            <a:ext cx="7920037" cy="5322887"/>
          </a:xfrm>
        </p:spPr>
        <p:txBody>
          <a:bodyPr/>
          <a:lstStyle/>
          <a:p>
            <a:pPr algn="just"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）系统安全状态</a:t>
            </a:r>
          </a:p>
          <a:p>
            <a:pPr algn="just" eaLnBrk="1" hangingPunct="1">
              <a:buFont typeface="Wingdings" panose="05000000000000000000" pitchFamily="2" charset="2"/>
              <a:buChar char="ü"/>
            </a:pPr>
            <a:r>
              <a:rPr lang="zh-CN" altLang="en-US" sz="3600" b="1">
                <a:solidFill>
                  <a:srgbClr val="FFFF00"/>
                </a:solidFill>
                <a:effectLst/>
                <a:latin typeface="黑体" panose="02010609060101010101" pitchFamily="49" charset="-122"/>
                <a:ea typeface="黑体" panose="02010609060101010101" pitchFamily="49" charset="-122"/>
              </a:rPr>
              <a:t>避免死锁的方法中，允许进程动态地申请资源，但系统在进行资源分配之前，应先计算此次资源分配的安全性。若此次分配不会导致系统进入不安全状态，则将资源分配给进程；否则，让进程等待。</a:t>
            </a:r>
            <a:endParaRPr lang="zh-CN" altLang="en-US" b="1">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31C5F7AB-0FC4-4553-87D0-616FF6FD7FE3}"/>
              </a:ext>
            </a:extLst>
          </p:cNvPr>
          <p:cNvSpPr>
            <a:spLocks noGrp="1" noChangeArrowheads="1"/>
          </p:cNvSpPr>
          <p:nvPr>
            <p:ph type="body" idx="1"/>
          </p:nvPr>
        </p:nvSpPr>
        <p:spPr>
          <a:xfrm>
            <a:off x="323850" y="836613"/>
            <a:ext cx="8435975" cy="5322887"/>
          </a:xfrm>
        </p:spPr>
        <p:txBody>
          <a:bodyPr/>
          <a:lstStyle/>
          <a:p>
            <a:pPr algn="just"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）系统安全状态</a:t>
            </a:r>
          </a:p>
          <a:p>
            <a:pPr algn="just"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  如果系统能按某种顺序（如</a:t>
            </a:r>
            <a:r>
              <a:rPr lang="en-US" altLang="zh-CN" sz="3600" b="1">
                <a:solidFill>
                  <a:srgbClr val="FFFF00"/>
                </a:solidFill>
                <a:effectLst/>
                <a:latin typeface="黑体" panose="02010609060101010101" pitchFamily="49" charset="-122"/>
                <a:ea typeface="黑体" panose="02010609060101010101" pitchFamily="49" charset="-122"/>
              </a:rPr>
              <a:t>P0</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P1</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,Pn, </a:t>
            </a:r>
            <a:r>
              <a:rPr lang="zh-CN" altLang="en-US" sz="3600" b="1">
                <a:solidFill>
                  <a:srgbClr val="FFFF00"/>
                </a:solidFill>
                <a:effectLst/>
                <a:latin typeface="黑体" panose="02010609060101010101" pitchFamily="49" charset="-122"/>
                <a:ea typeface="黑体" panose="02010609060101010101" pitchFamily="49" charset="-122"/>
              </a:rPr>
              <a:t>称为安全序列）为每个进程分配其所需的资源，直至所有进程都能运行完成，称系统处于安全状态。若不存在这样一个安全序列称系统处于不安全状态。</a:t>
            </a:r>
          </a:p>
          <a:p>
            <a:pPr eaLnBrk="1" hangingPunct="1">
              <a:lnSpc>
                <a:spcPct val="120000"/>
              </a:lnSpc>
              <a:buClr>
                <a:srgbClr val="FF0000"/>
              </a:buClr>
              <a:buSzPct val="120000"/>
              <a:buFont typeface="Wingdings" panose="05000000000000000000" pitchFamily="2" charset="2"/>
              <a:buChar char="ü"/>
            </a:pPr>
            <a:r>
              <a:rPr lang="zh-CN" altLang="en-US" b="1">
                <a:solidFill>
                  <a:srgbClr val="FFFF00"/>
                </a:solidFill>
                <a:effectLst/>
                <a:latin typeface="黑体" panose="02010609060101010101" pitchFamily="49" charset="-122"/>
                <a:ea typeface="黑体" panose="02010609060101010101" pitchFamily="49" charset="-122"/>
              </a:rPr>
              <a:t>系统在某一时刻的安全状态可能不唯一，但这不影响对系统安全性的判断。</a:t>
            </a:r>
            <a:endParaRPr lang="zh-CN" altLang="en-US" sz="3600" b="1">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D862B317-2759-41AF-806C-C391EFFACF80}"/>
              </a:ext>
            </a:extLst>
          </p:cNvPr>
          <p:cNvSpPr>
            <a:spLocks noGrp="1" noChangeArrowheads="1"/>
          </p:cNvSpPr>
          <p:nvPr>
            <p:ph type="title"/>
          </p:nvPr>
        </p:nvSpPr>
        <p:spPr>
          <a:xfrm>
            <a:off x="323850" y="404813"/>
            <a:ext cx="8229600" cy="735012"/>
          </a:xfrm>
        </p:spPr>
        <p:txBody>
          <a:bodyPr/>
          <a:lstStyle/>
          <a:p>
            <a:pPr eaLnBrk="1" hangingPunct="1"/>
            <a:r>
              <a:rPr lang="zh-CN" altLang="en-US" sz="4000" b="1">
                <a:solidFill>
                  <a:schemeClr val="tx1"/>
                </a:solidFill>
                <a:effectLst/>
                <a:latin typeface="Times New Roman" panose="02020603050405020304" pitchFamily="18" charset="0"/>
              </a:rPr>
              <a:t>安全状态举例</a:t>
            </a:r>
          </a:p>
        </p:txBody>
      </p:sp>
      <p:sp>
        <p:nvSpPr>
          <p:cNvPr id="152579" name="Rectangle 3">
            <a:extLst>
              <a:ext uri="{FF2B5EF4-FFF2-40B4-BE49-F238E27FC236}">
                <a16:creationId xmlns:a16="http://schemas.microsoft.com/office/drawing/2014/main" id="{02623EE7-A2FB-4B75-9FD0-C99415C70A81}"/>
              </a:ext>
            </a:extLst>
          </p:cNvPr>
          <p:cNvSpPr>
            <a:spLocks noGrp="1" noChangeArrowheads="1"/>
          </p:cNvSpPr>
          <p:nvPr>
            <p:ph type="body" idx="1"/>
          </p:nvPr>
        </p:nvSpPr>
        <p:spPr>
          <a:xfrm>
            <a:off x="395288" y="1268413"/>
            <a:ext cx="8229600" cy="2376487"/>
          </a:xfrm>
        </p:spPr>
        <p:txBody>
          <a:bodyPr/>
          <a:lstStyle/>
          <a:p>
            <a:pPr algn="just"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	 </a:t>
            </a:r>
            <a:r>
              <a:rPr lang="zh-CN" altLang="en-US" sz="3600" b="1">
                <a:solidFill>
                  <a:srgbClr val="FFFF00"/>
                </a:solidFill>
                <a:effectLst/>
                <a:latin typeface="黑体" panose="02010609060101010101" pitchFamily="49" charset="-122"/>
                <a:ea typeface="黑体" panose="02010609060101010101" pitchFamily="49" charset="-122"/>
              </a:rPr>
              <a:t>有三个进程</a:t>
            </a:r>
            <a:r>
              <a:rPr lang="en-US" altLang="zh-CN" sz="3600" b="1">
                <a:solidFill>
                  <a:srgbClr val="FFFF00"/>
                </a:solidFill>
                <a:effectLst/>
                <a:latin typeface="黑体" panose="02010609060101010101" pitchFamily="49" charset="-122"/>
                <a:ea typeface="黑体" panose="02010609060101010101" pitchFamily="49" charset="-122"/>
              </a:rPr>
              <a:t>p1,p2,p3</a:t>
            </a:r>
            <a:r>
              <a:rPr lang="zh-CN" altLang="en-US" sz="3600" b="1">
                <a:solidFill>
                  <a:srgbClr val="FFFF00"/>
                </a:solidFill>
                <a:effectLst/>
                <a:latin typeface="黑体" panose="02010609060101010101" pitchFamily="49" charset="-122"/>
                <a:ea typeface="黑体" panose="02010609060101010101" pitchFamily="49" charset="-122"/>
              </a:rPr>
              <a:t>，有</a:t>
            </a:r>
            <a:r>
              <a:rPr lang="en-US" altLang="zh-CN" sz="3600" b="1">
                <a:solidFill>
                  <a:srgbClr val="FFFF00"/>
                </a:solidFill>
                <a:effectLst/>
                <a:latin typeface="黑体" panose="02010609060101010101" pitchFamily="49" charset="-122"/>
                <a:ea typeface="黑体" panose="02010609060101010101" pitchFamily="49" charset="-122"/>
              </a:rPr>
              <a:t>12</a:t>
            </a:r>
            <a:r>
              <a:rPr lang="zh-CN" altLang="en-US" sz="3600" b="1">
                <a:solidFill>
                  <a:srgbClr val="FFFF00"/>
                </a:solidFill>
                <a:effectLst/>
                <a:latin typeface="黑体" panose="02010609060101010101" pitchFamily="49" charset="-122"/>
                <a:ea typeface="黑体" panose="02010609060101010101" pitchFamily="49" charset="-122"/>
              </a:rPr>
              <a:t>台磁带机。</a:t>
            </a:r>
            <a:r>
              <a:rPr lang="en-US" altLang="zh-CN" sz="3600" b="1">
                <a:solidFill>
                  <a:srgbClr val="FFFF00"/>
                </a:solidFill>
                <a:effectLst/>
                <a:latin typeface="黑体" panose="02010609060101010101" pitchFamily="49" charset="-122"/>
                <a:ea typeface="黑体" panose="02010609060101010101" pitchFamily="49" charset="-122"/>
              </a:rPr>
              <a:t>P1</a:t>
            </a:r>
            <a:r>
              <a:rPr lang="zh-CN" altLang="en-US" sz="3600" b="1">
                <a:solidFill>
                  <a:srgbClr val="FFFF00"/>
                </a:solidFill>
                <a:effectLst/>
                <a:latin typeface="黑体" panose="02010609060101010101" pitchFamily="49" charset="-122"/>
                <a:ea typeface="黑体" panose="02010609060101010101" pitchFamily="49" charset="-122"/>
              </a:rPr>
              <a:t>共要求</a:t>
            </a:r>
            <a:r>
              <a:rPr lang="en-US" altLang="zh-CN" sz="3600" b="1">
                <a:solidFill>
                  <a:srgbClr val="FFFF00"/>
                </a:solidFill>
                <a:effectLst/>
                <a:latin typeface="黑体" panose="02010609060101010101" pitchFamily="49" charset="-122"/>
                <a:ea typeface="黑体" panose="02010609060101010101" pitchFamily="49" charset="-122"/>
              </a:rPr>
              <a:t>10</a:t>
            </a:r>
            <a:r>
              <a:rPr lang="zh-CN" altLang="en-US" sz="3600" b="1">
                <a:solidFill>
                  <a:srgbClr val="FFFF00"/>
                </a:solidFill>
                <a:effectLst/>
                <a:latin typeface="黑体" panose="02010609060101010101" pitchFamily="49" charset="-122"/>
                <a:ea typeface="黑体" panose="02010609060101010101" pitchFamily="49" charset="-122"/>
              </a:rPr>
              <a:t>台，</a:t>
            </a:r>
            <a:r>
              <a:rPr lang="en-US" altLang="zh-CN" sz="3600" b="1">
                <a:solidFill>
                  <a:srgbClr val="FFFF00"/>
                </a:solidFill>
                <a:effectLst/>
                <a:latin typeface="黑体" panose="02010609060101010101" pitchFamily="49" charset="-122"/>
                <a:ea typeface="黑体" panose="02010609060101010101" pitchFamily="49" charset="-122"/>
              </a:rPr>
              <a:t>P2</a:t>
            </a:r>
            <a:r>
              <a:rPr lang="zh-CN" altLang="en-US" sz="3600" b="1">
                <a:solidFill>
                  <a:srgbClr val="FFFF00"/>
                </a:solidFill>
                <a:effectLst/>
                <a:latin typeface="黑体" panose="02010609060101010101" pitchFamily="49" charset="-122"/>
                <a:ea typeface="黑体" panose="02010609060101010101" pitchFamily="49" charset="-122"/>
              </a:rPr>
              <a:t>共要求</a:t>
            </a:r>
            <a:r>
              <a:rPr lang="en-US" altLang="zh-CN" sz="3600" b="1">
                <a:solidFill>
                  <a:srgbClr val="FFFF00"/>
                </a:solidFill>
                <a:effectLst/>
                <a:latin typeface="黑体" panose="02010609060101010101" pitchFamily="49" charset="-122"/>
                <a:ea typeface="黑体" panose="02010609060101010101" pitchFamily="49" charset="-122"/>
              </a:rPr>
              <a:t>4</a:t>
            </a:r>
            <a:r>
              <a:rPr lang="zh-CN" altLang="en-US" sz="3600" b="1">
                <a:solidFill>
                  <a:srgbClr val="FFFF00"/>
                </a:solidFill>
                <a:effectLst/>
                <a:latin typeface="黑体" panose="02010609060101010101" pitchFamily="49" charset="-122"/>
                <a:ea typeface="黑体" panose="02010609060101010101" pitchFamily="49" charset="-122"/>
              </a:rPr>
              <a:t>台，</a:t>
            </a:r>
            <a:r>
              <a:rPr lang="en-US" altLang="zh-CN" sz="3600" b="1">
                <a:solidFill>
                  <a:srgbClr val="FFFF00"/>
                </a:solidFill>
                <a:effectLst/>
                <a:latin typeface="黑体" panose="02010609060101010101" pitchFamily="49" charset="-122"/>
                <a:ea typeface="黑体" panose="02010609060101010101" pitchFamily="49" charset="-122"/>
              </a:rPr>
              <a:t>P3</a:t>
            </a:r>
            <a:r>
              <a:rPr lang="zh-CN" altLang="en-US" sz="3600" b="1">
                <a:solidFill>
                  <a:srgbClr val="FFFF00"/>
                </a:solidFill>
                <a:effectLst/>
                <a:latin typeface="黑体" panose="02010609060101010101" pitchFamily="49" charset="-122"/>
                <a:ea typeface="黑体" panose="02010609060101010101" pitchFamily="49" charset="-122"/>
              </a:rPr>
              <a:t>共要求</a:t>
            </a:r>
            <a:r>
              <a:rPr lang="en-US" altLang="zh-CN" sz="3600" b="1">
                <a:solidFill>
                  <a:srgbClr val="FFFF00"/>
                </a:solidFill>
                <a:effectLst/>
                <a:latin typeface="黑体" panose="02010609060101010101" pitchFamily="49" charset="-122"/>
                <a:ea typeface="黑体" panose="02010609060101010101" pitchFamily="49" charset="-122"/>
              </a:rPr>
              <a:t>9</a:t>
            </a:r>
            <a:r>
              <a:rPr lang="zh-CN" altLang="en-US" sz="3600" b="1">
                <a:solidFill>
                  <a:srgbClr val="FFFF00"/>
                </a:solidFill>
                <a:effectLst/>
                <a:latin typeface="黑体" panose="02010609060101010101" pitchFamily="49" charset="-122"/>
                <a:ea typeface="黑体" panose="02010609060101010101" pitchFamily="49" charset="-122"/>
              </a:rPr>
              <a:t>台。在</a:t>
            </a:r>
            <a:r>
              <a:rPr lang="en-US" altLang="zh-CN" sz="3600" b="1">
                <a:solidFill>
                  <a:srgbClr val="FFFF00"/>
                </a:solidFill>
                <a:effectLst/>
                <a:latin typeface="黑体" panose="02010609060101010101" pitchFamily="49" charset="-122"/>
                <a:ea typeface="黑体" panose="02010609060101010101" pitchFamily="49" charset="-122"/>
              </a:rPr>
              <a:t>T0</a:t>
            </a:r>
            <a:r>
              <a:rPr lang="zh-CN" altLang="en-US" sz="3600" b="1">
                <a:solidFill>
                  <a:srgbClr val="FFFF00"/>
                </a:solidFill>
                <a:effectLst/>
                <a:latin typeface="黑体" panose="02010609060101010101" pitchFamily="49" charset="-122"/>
                <a:ea typeface="黑体" panose="02010609060101010101" pitchFamily="49" charset="-122"/>
              </a:rPr>
              <a:t>时刻，</a:t>
            </a:r>
            <a:r>
              <a:rPr lang="en-US" altLang="zh-CN" sz="3600" b="1">
                <a:solidFill>
                  <a:srgbClr val="FFFF00"/>
                </a:solidFill>
                <a:effectLst/>
                <a:latin typeface="黑体" panose="02010609060101010101" pitchFamily="49" charset="-122"/>
                <a:ea typeface="黑体" panose="02010609060101010101" pitchFamily="49" charset="-122"/>
              </a:rPr>
              <a:t>p1,p2,p3</a:t>
            </a:r>
            <a:r>
              <a:rPr lang="zh-CN" altLang="en-US" sz="3600" b="1">
                <a:solidFill>
                  <a:srgbClr val="FFFF00"/>
                </a:solidFill>
                <a:effectLst/>
                <a:latin typeface="黑体" panose="02010609060101010101" pitchFamily="49" charset="-122"/>
                <a:ea typeface="黑体" panose="02010609060101010101" pitchFamily="49" charset="-122"/>
              </a:rPr>
              <a:t>分别获得</a:t>
            </a:r>
            <a:r>
              <a:rPr lang="en-US" altLang="zh-CN" sz="3600" b="1">
                <a:solidFill>
                  <a:srgbClr val="FFFF00"/>
                </a:solidFill>
                <a:effectLst/>
                <a:latin typeface="黑体" panose="02010609060101010101" pitchFamily="49" charset="-122"/>
                <a:ea typeface="黑体" panose="02010609060101010101" pitchFamily="49" charset="-122"/>
              </a:rPr>
              <a:t>5</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2</a:t>
            </a: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2</a:t>
            </a:r>
            <a:r>
              <a:rPr lang="zh-CN" altLang="en-US" sz="3600" b="1">
                <a:solidFill>
                  <a:srgbClr val="FFFF00"/>
                </a:solidFill>
                <a:effectLst/>
                <a:latin typeface="黑体" panose="02010609060101010101" pitchFamily="49" charset="-122"/>
                <a:ea typeface="黑体" panose="02010609060101010101" pitchFamily="49" charset="-122"/>
              </a:rPr>
              <a:t>台，尚有</a:t>
            </a:r>
            <a:r>
              <a:rPr lang="en-US" altLang="zh-CN" sz="3600" b="1">
                <a:solidFill>
                  <a:srgbClr val="FFFF00"/>
                </a:solidFill>
                <a:effectLst/>
                <a:latin typeface="黑体" panose="02010609060101010101" pitchFamily="49" charset="-122"/>
                <a:ea typeface="黑体" panose="02010609060101010101" pitchFamily="49" charset="-122"/>
              </a:rPr>
              <a:t>3</a:t>
            </a:r>
            <a:r>
              <a:rPr lang="zh-CN" altLang="en-US" sz="3600" b="1">
                <a:solidFill>
                  <a:srgbClr val="FFFF00"/>
                </a:solidFill>
                <a:effectLst/>
                <a:latin typeface="黑体" panose="02010609060101010101" pitchFamily="49" charset="-122"/>
                <a:ea typeface="黑体" panose="02010609060101010101" pitchFamily="49" charset="-122"/>
              </a:rPr>
              <a:t>台空闲。</a:t>
            </a:r>
          </a:p>
        </p:txBody>
      </p:sp>
      <p:graphicFrame>
        <p:nvGraphicFramePr>
          <p:cNvPr id="501764" name="Group 4">
            <a:extLst>
              <a:ext uri="{FF2B5EF4-FFF2-40B4-BE49-F238E27FC236}">
                <a16:creationId xmlns:a16="http://schemas.microsoft.com/office/drawing/2014/main" id="{4918EAE0-4DD0-438E-9811-A735BE059624}"/>
              </a:ext>
            </a:extLst>
          </p:cNvPr>
          <p:cNvGraphicFramePr>
            <a:graphicFrameLocks noGrp="1"/>
          </p:cNvGraphicFramePr>
          <p:nvPr/>
        </p:nvGraphicFramePr>
        <p:xfrm>
          <a:off x="684213" y="3860800"/>
          <a:ext cx="7834312" cy="2560640"/>
        </p:xfrm>
        <a:graphic>
          <a:graphicData uri="http://schemas.openxmlformats.org/drawingml/2006/table">
            <a:tbl>
              <a:tblPr/>
              <a:tblGrid>
                <a:gridCol w="1320800">
                  <a:extLst>
                    <a:ext uri="{9D8B030D-6E8A-4147-A177-3AD203B41FA5}">
                      <a16:colId xmlns:a16="http://schemas.microsoft.com/office/drawing/2014/main" val="20000"/>
                    </a:ext>
                  </a:extLst>
                </a:gridCol>
                <a:gridCol w="2112962">
                  <a:extLst>
                    <a:ext uri="{9D8B030D-6E8A-4147-A177-3AD203B41FA5}">
                      <a16:colId xmlns:a16="http://schemas.microsoft.com/office/drawing/2014/main" val="20001"/>
                    </a:ext>
                  </a:extLst>
                </a:gridCol>
                <a:gridCol w="1606550">
                  <a:extLst>
                    <a:ext uri="{9D8B030D-6E8A-4147-A177-3AD203B41FA5}">
                      <a16:colId xmlns:a16="http://schemas.microsoft.com/office/drawing/2014/main" val="20002"/>
                    </a:ext>
                  </a:extLst>
                </a:gridCol>
                <a:gridCol w="1385888">
                  <a:extLst>
                    <a:ext uri="{9D8B030D-6E8A-4147-A177-3AD203B41FA5}">
                      <a16:colId xmlns:a16="http://schemas.microsoft.com/office/drawing/2014/main" val="20003"/>
                    </a:ext>
                  </a:extLst>
                </a:gridCol>
                <a:gridCol w="1408112">
                  <a:extLst>
                    <a:ext uri="{9D8B030D-6E8A-4147-A177-3AD203B41FA5}">
                      <a16:colId xmlns:a16="http://schemas.microsoft.com/office/drawing/2014/main" val="20004"/>
                    </a:ext>
                  </a:extLst>
                </a:gridCol>
              </a:tblGrid>
              <a:tr h="640160">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进程</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最大需求</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已分配</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还需</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可用</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0160">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p1</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10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5</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5</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3</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0160">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p2</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4</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2</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2</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endParaRPr kumimoji="0" lang="zh-CN"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0160">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p3</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9</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2</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6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7</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endParaRPr kumimoji="0" lang="zh-CN" altLang="zh-CN" sz="3600" b="1" i="0" u="none" strike="noStrike" cap="none" normalizeH="0" baseline="0" dirty="0">
                        <a:ln>
                          <a:noFill/>
                        </a:ln>
                        <a:solidFill>
                          <a:srgbClr val="FFFF00"/>
                        </a:solidFill>
                        <a:effectLst/>
                        <a:latin typeface="黑体" panose="02010609060101010101" pitchFamily="49" charset="-122"/>
                        <a:ea typeface="黑体" panose="02010609060101010101" pitchFamily="49"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3">
            <a:extLst>
              <a:ext uri="{FF2B5EF4-FFF2-40B4-BE49-F238E27FC236}">
                <a16:creationId xmlns:a16="http://schemas.microsoft.com/office/drawing/2014/main" id="{B2968A60-5EE6-4756-8106-F47BF39404D3}"/>
              </a:ext>
            </a:extLst>
          </p:cNvPr>
          <p:cNvSpPr txBox="1">
            <a:spLocks noChangeArrowheads="1"/>
          </p:cNvSpPr>
          <p:nvPr/>
        </p:nvSpPr>
        <p:spPr bwMode="auto">
          <a:xfrm>
            <a:off x="611188" y="1628775"/>
            <a:ext cx="7904162"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3600" b="1">
                <a:solidFill>
                  <a:srgbClr val="FFFF00"/>
                </a:solidFill>
                <a:latin typeface="黑体" panose="02010609060101010101" pitchFamily="49" charset="-122"/>
                <a:ea typeface="黑体" panose="02010609060101010101" pitchFamily="49" charset="-122"/>
              </a:rPr>
              <a:t>经分析，在</a:t>
            </a:r>
            <a:r>
              <a:rPr kumimoji="1" lang="en-US" altLang="zh-CN" sz="3600" b="1">
                <a:solidFill>
                  <a:srgbClr val="FFFF00"/>
                </a:solidFill>
                <a:latin typeface="黑体" panose="02010609060101010101" pitchFamily="49" charset="-122"/>
                <a:ea typeface="黑体" panose="02010609060101010101" pitchFamily="49" charset="-122"/>
              </a:rPr>
              <a:t>T0</a:t>
            </a:r>
            <a:r>
              <a:rPr kumimoji="1" lang="zh-CN" altLang="en-US" sz="3600" b="1">
                <a:solidFill>
                  <a:srgbClr val="FFFF00"/>
                </a:solidFill>
                <a:latin typeface="黑体" panose="02010609060101010101" pitchFamily="49" charset="-122"/>
                <a:ea typeface="黑体" panose="02010609060101010101" pitchFamily="49" charset="-122"/>
              </a:rPr>
              <a:t>时刻，系统是安全的。</a:t>
            </a:r>
          </a:p>
          <a:p>
            <a:pPr>
              <a:spcBef>
                <a:spcPct val="0"/>
              </a:spcBef>
              <a:buClrTx/>
              <a:buSzTx/>
              <a:buFontTx/>
              <a:buNone/>
            </a:pPr>
            <a:r>
              <a:rPr kumimoji="1" lang="zh-CN" altLang="en-US" sz="3600" b="1">
                <a:solidFill>
                  <a:srgbClr val="FFFF00"/>
                </a:solidFill>
                <a:latin typeface="黑体" panose="02010609060101010101" pitchFamily="49" charset="-122"/>
                <a:ea typeface="黑体" panose="02010609060101010101" pitchFamily="49" charset="-122"/>
              </a:rPr>
              <a:t>因为存在一个安全序列</a:t>
            </a:r>
            <a:r>
              <a:rPr kumimoji="1" lang="en-US" altLang="zh-CN" sz="3600" b="1">
                <a:solidFill>
                  <a:srgbClr val="FFFF00"/>
                </a:solidFill>
                <a:latin typeface="黑体" panose="02010609060101010101" pitchFamily="49" charset="-122"/>
                <a:ea typeface="黑体" panose="02010609060101010101" pitchFamily="49" charset="-122"/>
              </a:rPr>
              <a:t>p2</a:t>
            </a:r>
            <a:r>
              <a:rPr kumimoji="1" lang="zh-CN" altLang="en-US" sz="3600" b="1">
                <a:solidFill>
                  <a:srgbClr val="FFFF00"/>
                </a:solidFill>
                <a:latin typeface="黑体" panose="02010609060101010101" pitchFamily="49" charset="-122"/>
                <a:ea typeface="黑体" panose="02010609060101010101" pitchFamily="49" charset="-122"/>
              </a:rPr>
              <a:t>、</a:t>
            </a:r>
            <a:r>
              <a:rPr kumimoji="1" lang="en-US" altLang="zh-CN" sz="3600" b="1">
                <a:solidFill>
                  <a:srgbClr val="FFFF00"/>
                </a:solidFill>
                <a:latin typeface="黑体" panose="02010609060101010101" pitchFamily="49" charset="-122"/>
                <a:ea typeface="黑体" panose="02010609060101010101" pitchFamily="49" charset="-122"/>
              </a:rPr>
              <a:t>p1</a:t>
            </a:r>
            <a:r>
              <a:rPr kumimoji="1" lang="zh-CN" altLang="en-US" sz="3600" b="1">
                <a:solidFill>
                  <a:srgbClr val="FFFF00"/>
                </a:solidFill>
                <a:latin typeface="黑体" panose="02010609060101010101" pitchFamily="49" charset="-122"/>
                <a:ea typeface="黑体" panose="02010609060101010101" pitchFamily="49" charset="-122"/>
              </a:rPr>
              <a:t>、</a:t>
            </a:r>
            <a:r>
              <a:rPr kumimoji="1" lang="en-US" altLang="zh-CN" sz="3600" b="1">
                <a:solidFill>
                  <a:srgbClr val="FFFF00"/>
                </a:solidFill>
                <a:latin typeface="黑体" panose="02010609060101010101" pitchFamily="49" charset="-122"/>
                <a:ea typeface="黑体" panose="02010609060101010101" pitchFamily="49" charset="-122"/>
              </a:rPr>
              <a:t>p3</a:t>
            </a:r>
            <a:r>
              <a:rPr kumimoji="1" lang="zh-CN" altLang="en-US" sz="3600" b="1">
                <a:solidFill>
                  <a:srgbClr val="FFFF00"/>
                </a:solidFill>
                <a:latin typeface="黑体" panose="02010609060101010101" pitchFamily="49" charset="-122"/>
                <a:ea typeface="黑体" panose="02010609060101010101" pitchFamily="49" charset="-122"/>
              </a:rPr>
              <a:t>，使各进程执行完成。</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FBAC625D-0F4A-4C5E-A02C-A9288498E672}"/>
              </a:ext>
            </a:extLst>
          </p:cNvPr>
          <p:cNvSpPr>
            <a:spLocks noGrp="1" noChangeArrowheads="1"/>
          </p:cNvSpPr>
          <p:nvPr>
            <p:ph type="body" idx="1"/>
          </p:nvPr>
        </p:nvSpPr>
        <p:spPr>
          <a:xfrm>
            <a:off x="539750" y="620713"/>
            <a:ext cx="8291513" cy="2305050"/>
          </a:xfrm>
        </p:spPr>
        <p:txBody>
          <a:bodyPr/>
          <a:lstStyle/>
          <a:p>
            <a:pPr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	</a:t>
            </a:r>
            <a:r>
              <a:rPr lang="zh-CN" altLang="en-US" sz="3600" b="1">
                <a:solidFill>
                  <a:srgbClr val="FFFF00"/>
                </a:solidFill>
                <a:effectLst/>
                <a:latin typeface="黑体" panose="02010609060101010101" pitchFamily="49" charset="-122"/>
                <a:ea typeface="黑体" panose="02010609060101010101" pitchFamily="49" charset="-122"/>
              </a:rPr>
              <a:t>如在</a:t>
            </a:r>
            <a:r>
              <a:rPr lang="en-US" altLang="zh-CN" sz="3600" b="1">
                <a:solidFill>
                  <a:srgbClr val="FFFF00"/>
                </a:solidFill>
                <a:effectLst/>
                <a:latin typeface="黑体" panose="02010609060101010101" pitchFamily="49" charset="-122"/>
                <a:ea typeface="黑体" panose="02010609060101010101" pitchFamily="49" charset="-122"/>
              </a:rPr>
              <a:t>T0</a:t>
            </a:r>
            <a:r>
              <a:rPr lang="zh-CN" altLang="en-US" sz="3600" b="1">
                <a:solidFill>
                  <a:srgbClr val="FFFF00"/>
                </a:solidFill>
                <a:effectLst/>
                <a:latin typeface="黑体" panose="02010609060101010101" pitchFamily="49" charset="-122"/>
                <a:ea typeface="黑体" panose="02010609060101010101" pitchFamily="49" charset="-122"/>
              </a:rPr>
              <a:t>以后，</a:t>
            </a:r>
            <a:r>
              <a:rPr lang="en-US" altLang="zh-CN" sz="3600" b="1">
                <a:solidFill>
                  <a:srgbClr val="FFFF00"/>
                </a:solidFill>
                <a:effectLst/>
                <a:latin typeface="黑体" panose="02010609060101010101" pitchFamily="49" charset="-122"/>
                <a:ea typeface="黑体" panose="02010609060101010101" pitchFamily="49" charset="-122"/>
              </a:rPr>
              <a:t>T1</a:t>
            </a:r>
            <a:r>
              <a:rPr lang="zh-CN" altLang="en-US" sz="3600" b="1">
                <a:solidFill>
                  <a:srgbClr val="FFFF00"/>
                </a:solidFill>
                <a:effectLst/>
                <a:latin typeface="黑体" panose="02010609060101010101" pitchFamily="49" charset="-122"/>
                <a:ea typeface="黑体" panose="02010609060101010101" pitchFamily="49" charset="-122"/>
              </a:rPr>
              <a:t>时刻</a:t>
            </a:r>
            <a:r>
              <a:rPr lang="en-US" altLang="zh-CN" sz="3600" b="1">
                <a:solidFill>
                  <a:srgbClr val="FFFF00"/>
                </a:solidFill>
                <a:effectLst/>
                <a:latin typeface="黑体" panose="02010609060101010101" pitchFamily="49" charset="-122"/>
                <a:ea typeface="黑体" panose="02010609060101010101" pitchFamily="49" charset="-122"/>
              </a:rPr>
              <a:t>P3</a:t>
            </a:r>
            <a:r>
              <a:rPr lang="zh-CN" altLang="en-US" sz="3600" b="1">
                <a:solidFill>
                  <a:srgbClr val="FFFF00"/>
                </a:solidFill>
                <a:effectLst/>
                <a:latin typeface="黑体" panose="02010609060101010101" pitchFamily="49" charset="-122"/>
                <a:ea typeface="黑体" panose="02010609060101010101" pitchFamily="49" charset="-122"/>
              </a:rPr>
              <a:t>要求</a:t>
            </a: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台磁带机，</a:t>
            </a:r>
            <a:r>
              <a:rPr lang="en-US" altLang="zh-CN" sz="3600" b="1">
                <a:solidFill>
                  <a:srgbClr val="FFFF00"/>
                </a:solidFill>
                <a:effectLst/>
                <a:latin typeface="黑体" panose="02010609060101010101" pitchFamily="49" charset="-122"/>
                <a:ea typeface="黑体" panose="02010609060101010101" pitchFamily="49" charset="-122"/>
              </a:rPr>
              <a:t>T1</a:t>
            </a:r>
            <a:r>
              <a:rPr lang="zh-CN" altLang="en-US" sz="3600" b="1">
                <a:solidFill>
                  <a:srgbClr val="FFFF00"/>
                </a:solidFill>
                <a:effectLst/>
                <a:latin typeface="黑体" panose="02010609060101010101" pitchFamily="49" charset="-122"/>
                <a:ea typeface="黑体" panose="02010609060101010101" pitchFamily="49" charset="-122"/>
              </a:rPr>
              <a:t>时刻系统是否安全？能否给</a:t>
            </a:r>
            <a:r>
              <a:rPr lang="en-US" altLang="zh-CN" sz="3600" b="1">
                <a:solidFill>
                  <a:srgbClr val="FFFF00"/>
                </a:solidFill>
                <a:effectLst/>
                <a:latin typeface="黑体" panose="02010609060101010101" pitchFamily="49" charset="-122"/>
                <a:ea typeface="黑体" panose="02010609060101010101" pitchFamily="49" charset="-122"/>
              </a:rPr>
              <a:t>P3</a:t>
            </a:r>
            <a:r>
              <a:rPr lang="zh-CN" altLang="en-US" sz="3600" b="1">
                <a:solidFill>
                  <a:srgbClr val="FFFF00"/>
                </a:solidFill>
                <a:effectLst/>
                <a:latin typeface="黑体" panose="02010609060101010101" pitchFamily="49" charset="-122"/>
                <a:ea typeface="黑体" panose="02010609060101010101" pitchFamily="49" charset="-122"/>
              </a:rPr>
              <a:t>分配所需资源</a:t>
            </a:r>
          </a:p>
        </p:txBody>
      </p:sp>
      <p:graphicFrame>
        <p:nvGraphicFramePr>
          <p:cNvPr id="503811" name="Group 3">
            <a:extLst>
              <a:ext uri="{FF2B5EF4-FFF2-40B4-BE49-F238E27FC236}">
                <a16:creationId xmlns:a16="http://schemas.microsoft.com/office/drawing/2014/main" id="{ABC2C3EE-E771-4730-AB18-5C01452C17F8}"/>
              </a:ext>
            </a:extLst>
          </p:cNvPr>
          <p:cNvGraphicFramePr>
            <a:graphicFrameLocks noGrp="1"/>
          </p:cNvGraphicFramePr>
          <p:nvPr/>
        </p:nvGraphicFramePr>
        <p:xfrm>
          <a:off x="539750" y="2997200"/>
          <a:ext cx="8208963" cy="2952752"/>
        </p:xfrm>
        <a:graphic>
          <a:graphicData uri="http://schemas.openxmlformats.org/drawingml/2006/table">
            <a:tbl>
              <a:tblPr/>
              <a:tblGrid>
                <a:gridCol w="1384300">
                  <a:extLst>
                    <a:ext uri="{9D8B030D-6E8A-4147-A177-3AD203B41FA5}">
                      <a16:colId xmlns:a16="http://schemas.microsoft.com/office/drawing/2014/main" val="20000"/>
                    </a:ext>
                  </a:extLst>
                </a:gridCol>
                <a:gridCol w="2212975">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382713">
                  <a:extLst>
                    <a:ext uri="{9D8B030D-6E8A-4147-A177-3AD203B41FA5}">
                      <a16:colId xmlns:a16="http://schemas.microsoft.com/office/drawing/2014/main" val="20003"/>
                    </a:ext>
                  </a:extLst>
                </a:gridCol>
                <a:gridCol w="1476375">
                  <a:extLst>
                    <a:ext uri="{9D8B030D-6E8A-4147-A177-3AD203B41FA5}">
                      <a16:colId xmlns:a16="http://schemas.microsoft.com/office/drawing/2014/main" val="20004"/>
                    </a:ext>
                  </a:extLst>
                </a:gridCol>
              </a:tblGrid>
              <a:tr h="738188">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进程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最大需求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已分配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还需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可用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8188">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p1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8188">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p2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endParaRPr kumimoji="0" lang="zh-CN"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8188">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p3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3200" b="1" i="0" u="none" strike="noStrike" cap="none" normalizeH="0" baseline="0">
                          <a:ln>
                            <a:noFill/>
                          </a:ln>
                          <a:solidFill>
                            <a:srgbClr val="FFFF00"/>
                          </a:solidFill>
                          <a:effectLst/>
                          <a:latin typeface="黑体" panose="02010609060101010101" pitchFamily="49" charset="-122"/>
                          <a:ea typeface="黑体" panose="02010609060101010101" pitchFamily="49"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284163" indent="-284163">
                        <a:spcBef>
                          <a:spcPct val="20000"/>
                        </a:spcBef>
                        <a:buClr>
                          <a:schemeClr val="hlink"/>
                        </a:buClr>
                        <a:buSzPct val="75000"/>
                        <a:buFont typeface="Wingdings" panose="05000000000000000000" pitchFamily="2" charset="2"/>
                        <a:defRPr sz="28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1pPr>
                      <a:lvl2pPr marL="474663" indent="-17463">
                        <a:spcBef>
                          <a:spcPct val="20000"/>
                        </a:spcBef>
                        <a:buClr>
                          <a:schemeClr val="tx2"/>
                        </a:buClr>
                        <a:buSzPct val="75000"/>
                        <a:buFont typeface="Wingdings" panose="05000000000000000000" pitchFamily="2" charset="2"/>
                        <a:defRPr sz="24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2pPr>
                      <a:lvl3pPr marL="957263" indent="-42863">
                        <a:spcBef>
                          <a:spcPct val="20000"/>
                        </a:spcBef>
                        <a:buClr>
                          <a:schemeClr val="accent2"/>
                        </a:buClr>
                        <a:buSzPct val="75000"/>
                        <a:buFont typeface="Wingdings" panose="05000000000000000000" pitchFamily="2" charset="2"/>
                        <a:defRPr sz="2000">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3pPr>
                      <a:lvl4pPr marL="1376363" indent="-4763">
                        <a:spcBef>
                          <a:spcPct val="20000"/>
                        </a:spcBef>
                        <a:buClr>
                          <a:schemeClr val="folHlink"/>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4pPr>
                      <a:lvl5pPr>
                        <a:spcBef>
                          <a:spcPct val="20000"/>
                        </a:spcBef>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tx1"/>
                        </a:buClr>
                        <a:buSzPct val="75000"/>
                        <a:buFont typeface="Wingdings" panose="05000000000000000000" pitchFamily="2" charset="2"/>
                        <a:defRPr>
                          <a:solidFill>
                            <a:schemeClr val="tx1"/>
                          </a:solidFill>
                          <a:effectLst>
                            <a:outerShdw blurRad="38100" dist="38100" dir="2700000" algn="tl">
                              <a:srgbClr val="010199"/>
                            </a:outerShdw>
                          </a:effectLst>
                          <a:latin typeface="Arial" panose="020B0604020202020204" pitchFamily="34" charset="0"/>
                          <a:ea typeface="宋体" panose="02010600030101010101" pitchFamily="2" charset="-122"/>
                        </a:defRPr>
                      </a:lvl9pPr>
                    </a:lstStyle>
                    <a:p>
                      <a:pPr marL="284163" marR="0" lvl="0" indent="-284163"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endParaRPr kumimoji="0" lang="zh-CN" altLang="zh-CN" sz="3200" b="1" i="0" u="none" strike="noStrike" cap="none" normalizeH="0" baseline="0" dirty="0">
                        <a:ln>
                          <a:noFill/>
                        </a:ln>
                        <a:solidFill>
                          <a:srgbClr val="FFFF00"/>
                        </a:solidFill>
                        <a:effectLst/>
                        <a:latin typeface="黑体" panose="02010609060101010101" pitchFamily="49" charset="-122"/>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a:extLst>
              <a:ext uri="{FF2B5EF4-FFF2-40B4-BE49-F238E27FC236}">
                <a16:creationId xmlns:a16="http://schemas.microsoft.com/office/drawing/2014/main" id="{438888A5-2BD0-43B7-8336-EA796AA12CA9}"/>
              </a:ext>
            </a:extLst>
          </p:cNvPr>
          <p:cNvSpPr>
            <a:spLocks noGrp="1" noChangeArrowheads="1"/>
          </p:cNvSpPr>
          <p:nvPr>
            <p:ph type="title"/>
          </p:nvPr>
        </p:nvSpPr>
        <p:spPr>
          <a:xfrm>
            <a:off x="250825" y="1196975"/>
            <a:ext cx="8229600" cy="635000"/>
          </a:xfrm>
        </p:spPr>
        <p:txBody>
          <a:bodyPr/>
          <a:lstStyle/>
          <a:p>
            <a:pPr eaLnBrk="1" hangingPunct="1">
              <a:defRPr/>
            </a:pPr>
            <a:r>
              <a:rPr lang="zh-CN" altLang="en-US" sz="4000" b="1">
                <a:solidFill>
                  <a:schemeClr val="tx1"/>
                </a:solidFill>
                <a:effectLst>
                  <a:outerShdw blurRad="38100" dist="38100" dir="2700000" algn="tl">
                    <a:srgbClr val="010199"/>
                  </a:outerShdw>
                </a:effectLst>
                <a:latin typeface="宋体" panose="02010600030101010101" pitchFamily="2" charset="-122"/>
              </a:rPr>
              <a:t>系统进入不安全状态</a:t>
            </a:r>
          </a:p>
        </p:txBody>
      </p:sp>
      <p:sp>
        <p:nvSpPr>
          <p:cNvPr id="155651" name="Rectangle 35">
            <a:extLst>
              <a:ext uri="{FF2B5EF4-FFF2-40B4-BE49-F238E27FC236}">
                <a16:creationId xmlns:a16="http://schemas.microsoft.com/office/drawing/2014/main" id="{BA77349D-97E4-4975-89D1-2EFAA6E3EE15}"/>
              </a:ext>
            </a:extLst>
          </p:cNvPr>
          <p:cNvSpPr>
            <a:spLocks noChangeArrowheads="1"/>
          </p:cNvSpPr>
          <p:nvPr/>
        </p:nvSpPr>
        <p:spPr bwMode="auto">
          <a:xfrm>
            <a:off x="468313" y="2349500"/>
            <a:ext cx="80645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3600" b="1">
                <a:solidFill>
                  <a:srgbClr val="FFFF00"/>
                </a:solidFill>
                <a:latin typeface="黑体" panose="02010609060101010101" pitchFamily="49" charset="-122"/>
                <a:ea typeface="黑体" panose="02010609060101010101" pitchFamily="49" charset="-122"/>
              </a:rPr>
              <a:t>因为其余</a:t>
            </a:r>
            <a:r>
              <a:rPr lang="en-US" altLang="zh-CN" sz="3600" b="1">
                <a:solidFill>
                  <a:srgbClr val="FFFF00"/>
                </a:solidFill>
                <a:latin typeface="黑体" panose="02010609060101010101" pitchFamily="49" charset="-122"/>
                <a:ea typeface="黑体" panose="02010609060101010101" pitchFamily="49" charset="-122"/>
              </a:rPr>
              <a:t>2</a:t>
            </a:r>
            <a:r>
              <a:rPr lang="zh-CN" altLang="en-US" sz="3600" b="1">
                <a:solidFill>
                  <a:srgbClr val="FFFF00"/>
                </a:solidFill>
                <a:latin typeface="黑体" panose="02010609060101010101" pitchFamily="49" charset="-122"/>
                <a:ea typeface="黑体" panose="02010609060101010101" pitchFamily="49" charset="-122"/>
              </a:rPr>
              <a:t>台分给</a:t>
            </a:r>
            <a:r>
              <a:rPr lang="en-US" altLang="zh-CN" sz="3600" b="1">
                <a:solidFill>
                  <a:srgbClr val="FFFF00"/>
                </a:solidFill>
                <a:latin typeface="黑体" panose="02010609060101010101" pitchFamily="49" charset="-122"/>
                <a:ea typeface="黑体" panose="02010609060101010101" pitchFamily="49" charset="-122"/>
              </a:rPr>
              <a:t>P2</a:t>
            </a:r>
            <a:r>
              <a:rPr lang="zh-CN" altLang="en-US" sz="3600" b="1">
                <a:solidFill>
                  <a:srgbClr val="FFFF00"/>
                </a:solidFill>
                <a:latin typeface="黑体" panose="02010609060101010101" pitchFamily="49" charset="-122"/>
                <a:ea typeface="黑体" panose="02010609060101010101" pitchFamily="49" charset="-122"/>
              </a:rPr>
              <a:t>，</a:t>
            </a:r>
            <a:r>
              <a:rPr lang="en-US" altLang="zh-CN" sz="3600" b="1">
                <a:solidFill>
                  <a:srgbClr val="FFFF00"/>
                </a:solidFill>
                <a:latin typeface="黑体" panose="02010609060101010101" pitchFamily="49" charset="-122"/>
                <a:ea typeface="黑体" panose="02010609060101010101" pitchFamily="49" charset="-122"/>
              </a:rPr>
              <a:t>P2</a:t>
            </a:r>
            <a:r>
              <a:rPr lang="zh-CN" altLang="en-US" sz="3600" b="1">
                <a:solidFill>
                  <a:srgbClr val="FFFF00"/>
                </a:solidFill>
                <a:latin typeface="黑体" panose="02010609060101010101" pitchFamily="49" charset="-122"/>
                <a:ea typeface="黑体" panose="02010609060101010101" pitchFamily="49" charset="-122"/>
              </a:rPr>
              <a:t>完成后，只能释放</a:t>
            </a:r>
            <a:r>
              <a:rPr lang="en-US" altLang="zh-CN" sz="3600" b="1">
                <a:solidFill>
                  <a:srgbClr val="FFFF00"/>
                </a:solidFill>
                <a:latin typeface="黑体" panose="02010609060101010101" pitchFamily="49" charset="-122"/>
                <a:ea typeface="黑体" panose="02010609060101010101" pitchFamily="49" charset="-122"/>
              </a:rPr>
              <a:t>4</a:t>
            </a:r>
            <a:r>
              <a:rPr lang="zh-CN" altLang="en-US" sz="3600" b="1">
                <a:solidFill>
                  <a:srgbClr val="FFFF00"/>
                </a:solidFill>
                <a:latin typeface="黑体" panose="02010609060101010101" pitchFamily="49" charset="-122"/>
                <a:ea typeface="黑体" panose="02010609060101010101" pitchFamily="49" charset="-122"/>
              </a:rPr>
              <a:t>台，这既不能满足</a:t>
            </a:r>
            <a:r>
              <a:rPr lang="en-US" altLang="zh-CN" sz="3600" b="1">
                <a:solidFill>
                  <a:srgbClr val="FFFF00"/>
                </a:solidFill>
                <a:latin typeface="黑体" panose="02010609060101010101" pitchFamily="49" charset="-122"/>
                <a:ea typeface="黑体" panose="02010609060101010101" pitchFamily="49" charset="-122"/>
              </a:rPr>
              <a:t>P1</a:t>
            </a:r>
            <a:r>
              <a:rPr lang="zh-CN" altLang="en-US" sz="3600" b="1">
                <a:solidFill>
                  <a:srgbClr val="FFFF00"/>
                </a:solidFill>
                <a:latin typeface="黑体" panose="02010609060101010101" pitchFamily="49" charset="-122"/>
                <a:ea typeface="黑体" panose="02010609060101010101" pitchFamily="49" charset="-122"/>
              </a:rPr>
              <a:t>（</a:t>
            </a:r>
            <a:r>
              <a:rPr lang="en-US" altLang="zh-CN" sz="3600" b="1">
                <a:solidFill>
                  <a:srgbClr val="FFFF00"/>
                </a:solidFill>
                <a:latin typeface="黑体" panose="02010609060101010101" pitchFamily="49" charset="-122"/>
                <a:ea typeface="黑体" panose="02010609060101010101" pitchFamily="49" charset="-122"/>
              </a:rPr>
              <a:t>5</a:t>
            </a:r>
            <a:r>
              <a:rPr lang="zh-CN" altLang="en-US" sz="3600" b="1">
                <a:solidFill>
                  <a:srgbClr val="FFFF00"/>
                </a:solidFill>
                <a:latin typeface="黑体" panose="02010609060101010101" pitchFamily="49" charset="-122"/>
                <a:ea typeface="黑体" panose="02010609060101010101" pitchFamily="49" charset="-122"/>
              </a:rPr>
              <a:t>台），也不能满足</a:t>
            </a:r>
            <a:r>
              <a:rPr lang="en-US" altLang="zh-CN" sz="3600" b="1">
                <a:solidFill>
                  <a:srgbClr val="FFFF00"/>
                </a:solidFill>
                <a:latin typeface="黑体" panose="02010609060101010101" pitchFamily="49" charset="-122"/>
                <a:ea typeface="黑体" panose="02010609060101010101" pitchFamily="49" charset="-122"/>
              </a:rPr>
              <a:t>P3</a:t>
            </a:r>
            <a:r>
              <a:rPr lang="zh-CN" altLang="en-US" sz="3600" b="1">
                <a:solidFill>
                  <a:srgbClr val="FFFF00"/>
                </a:solidFill>
                <a:latin typeface="黑体" panose="02010609060101010101" pitchFamily="49" charset="-122"/>
                <a:ea typeface="黑体" panose="02010609060101010101" pitchFamily="49" charset="-122"/>
              </a:rPr>
              <a:t>（</a:t>
            </a:r>
            <a:r>
              <a:rPr lang="en-US" altLang="zh-CN" sz="3600" b="1">
                <a:solidFill>
                  <a:srgbClr val="FFFF00"/>
                </a:solidFill>
                <a:latin typeface="黑体" panose="02010609060101010101" pitchFamily="49" charset="-122"/>
                <a:ea typeface="黑体" panose="02010609060101010101" pitchFamily="49" charset="-122"/>
              </a:rPr>
              <a:t>6</a:t>
            </a:r>
            <a:r>
              <a:rPr lang="zh-CN" altLang="en-US" sz="3600" b="1">
                <a:solidFill>
                  <a:srgbClr val="FFFF00"/>
                </a:solidFill>
                <a:latin typeface="黑体" panose="02010609060101010101" pitchFamily="49" charset="-122"/>
                <a:ea typeface="黑体" panose="02010609060101010101" pitchFamily="49" charset="-122"/>
              </a:rPr>
              <a:t>台）。将导致死锁。可见当</a:t>
            </a:r>
            <a:r>
              <a:rPr lang="en-US" altLang="zh-CN" sz="3600" b="1">
                <a:solidFill>
                  <a:srgbClr val="FFFF00"/>
                </a:solidFill>
                <a:latin typeface="黑体" panose="02010609060101010101" pitchFamily="49" charset="-122"/>
                <a:ea typeface="黑体" panose="02010609060101010101" pitchFamily="49" charset="-122"/>
              </a:rPr>
              <a:t>P3</a:t>
            </a:r>
            <a:r>
              <a:rPr lang="zh-CN" altLang="en-US" sz="3600" b="1">
                <a:solidFill>
                  <a:srgbClr val="FFFF00"/>
                </a:solidFill>
                <a:latin typeface="黑体" panose="02010609060101010101" pitchFamily="49" charset="-122"/>
                <a:ea typeface="黑体" panose="02010609060101010101" pitchFamily="49" charset="-122"/>
              </a:rPr>
              <a:t>申请资源时，尽管系统中有资源也不能分给它</a:t>
            </a: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a:extLst>
              <a:ext uri="{FF2B5EF4-FFF2-40B4-BE49-F238E27FC236}">
                <a16:creationId xmlns:a16="http://schemas.microsoft.com/office/drawing/2014/main" id="{320A54DD-C5D8-404E-B9DF-6820AFC93911}"/>
              </a:ext>
            </a:extLst>
          </p:cNvPr>
          <p:cNvSpPr>
            <a:spLocks noGrp="1" noChangeArrowheads="1"/>
          </p:cNvSpPr>
          <p:nvPr>
            <p:ph type="title"/>
          </p:nvPr>
        </p:nvSpPr>
        <p:spPr>
          <a:xfrm>
            <a:off x="468313" y="404813"/>
            <a:ext cx="8229600" cy="1139825"/>
          </a:xfrm>
        </p:spPr>
        <p:txBody>
          <a:bodyPr/>
          <a:lstStyle/>
          <a:p>
            <a:pPr eaLnBrk="1" hangingPunct="1">
              <a:defRPr/>
            </a:pPr>
            <a:r>
              <a:rPr lang="zh-CN" altLang="en-US" sz="3600" b="1">
                <a:solidFill>
                  <a:schemeClr val="tx1"/>
                </a:solidFill>
                <a:effectLst>
                  <a:outerShdw blurRad="38100" dist="38100" dir="2700000" algn="tl">
                    <a:srgbClr val="010199"/>
                  </a:outerShdw>
                </a:effectLst>
                <a:latin typeface="宋体" panose="02010600030101010101" pitchFamily="2" charset="-122"/>
              </a:rPr>
              <a:t>由安全状态向不安全状态的转换</a:t>
            </a:r>
          </a:p>
        </p:txBody>
      </p:sp>
      <p:sp>
        <p:nvSpPr>
          <p:cNvPr id="156675" name="Rectangle 3">
            <a:extLst>
              <a:ext uri="{FF2B5EF4-FFF2-40B4-BE49-F238E27FC236}">
                <a16:creationId xmlns:a16="http://schemas.microsoft.com/office/drawing/2014/main" id="{052F42E3-A077-40D7-B2EC-D32693491D7C}"/>
              </a:ext>
            </a:extLst>
          </p:cNvPr>
          <p:cNvSpPr>
            <a:spLocks noGrp="1" noChangeArrowheads="1"/>
          </p:cNvSpPr>
          <p:nvPr>
            <p:ph type="body" idx="1"/>
          </p:nvPr>
        </p:nvSpPr>
        <p:spPr>
          <a:xfrm>
            <a:off x="468313" y="1557338"/>
            <a:ext cx="8291512" cy="5111750"/>
          </a:xfrm>
        </p:spPr>
        <p:txBody>
          <a:bodyPr/>
          <a:lstStyle/>
          <a:p>
            <a:pPr eaLnBrk="1" hangingPunct="1">
              <a:buFont typeface="Wingdings" panose="05000000000000000000" pitchFamily="2" charset="2"/>
              <a:buChar char="ü"/>
            </a:pPr>
            <a:r>
              <a:rPr lang="zh-CN" altLang="en-US" b="1">
                <a:solidFill>
                  <a:srgbClr val="FFFF00"/>
                </a:solidFill>
                <a:effectLst/>
                <a:latin typeface="黑体" panose="02010609060101010101" pitchFamily="49" charset="-122"/>
                <a:ea typeface="黑体" panose="02010609060101010101" pitchFamily="49" charset="-122"/>
              </a:rPr>
              <a:t>如果不按安全序列分配资源，则系统可能会由安全状态进入不安全状态。如在</a:t>
            </a:r>
            <a:r>
              <a:rPr lang="en-US" altLang="zh-CN" b="1">
                <a:solidFill>
                  <a:srgbClr val="FFFF00"/>
                </a:solidFill>
                <a:effectLst/>
                <a:latin typeface="黑体" panose="02010609060101010101" pitchFamily="49" charset="-122"/>
                <a:ea typeface="黑体" panose="02010609060101010101" pitchFamily="49" charset="-122"/>
              </a:rPr>
              <a:t>T0</a:t>
            </a:r>
            <a:r>
              <a:rPr lang="zh-CN" altLang="en-US" b="1">
                <a:solidFill>
                  <a:srgbClr val="FFFF00"/>
                </a:solidFill>
                <a:effectLst/>
                <a:latin typeface="黑体" panose="02010609060101010101" pitchFamily="49" charset="-122"/>
                <a:ea typeface="黑体" panose="02010609060101010101" pitchFamily="49" charset="-122"/>
              </a:rPr>
              <a:t>以后，</a:t>
            </a:r>
            <a:r>
              <a:rPr lang="en-US" altLang="zh-CN" b="1">
                <a:solidFill>
                  <a:srgbClr val="FFFF00"/>
                </a:solidFill>
                <a:effectLst/>
                <a:latin typeface="黑体" panose="02010609060101010101" pitchFamily="49" charset="-122"/>
                <a:ea typeface="黑体" panose="02010609060101010101" pitchFamily="49" charset="-122"/>
              </a:rPr>
              <a:t>P3</a:t>
            </a:r>
            <a:r>
              <a:rPr lang="zh-CN" altLang="en-US" b="1">
                <a:solidFill>
                  <a:srgbClr val="FFFF00"/>
                </a:solidFill>
                <a:effectLst/>
                <a:latin typeface="黑体" panose="02010609060101010101" pitchFamily="49" charset="-122"/>
                <a:ea typeface="黑体" panose="02010609060101010101" pitchFamily="49" charset="-122"/>
              </a:rPr>
              <a:t>要求</a:t>
            </a:r>
            <a:r>
              <a:rPr lang="en-US" altLang="zh-CN" b="1">
                <a:solidFill>
                  <a:srgbClr val="FFFF00"/>
                </a:solidFill>
                <a:effectLst/>
                <a:latin typeface="黑体" panose="02010609060101010101" pitchFamily="49" charset="-122"/>
                <a:ea typeface="黑体" panose="02010609060101010101" pitchFamily="49" charset="-122"/>
              </a:rPr>
              <a:t>1</a:t>
            </a:r>
            <a:r>
              <a:rPr lang="zh-CN" altLang="en-US" b="1">
                <a:solidFill>
                  <a:srgbClr val="FFFF00"/>
                </a:solidFill>
                <a:effectLst/>
                <a:latin typeface="黑体" panose="02010609060101010101" pitchFamily="49" charset="-122"/>
                <a:ea typeface="黑体" panose="02010609060101010101" pitchFamily="49" charset="-122"/>
              </a:rPr>
              <a:t>台磁带机，若系统分给它一台，则系统进入不安全状态。</a:t>
            </a:r>
          </a:p>
          <a:p>
            <a:pPr eaLnBrk="1" hangingPunct="1">
              <a:buFont typeface="Wingdings" panose="05000000000000000000" pitchFamily="2" charset="2"/>
              <a:buChar char="ü"/>
            </a:pPr>
            <a:r>
              <a:rPr lang="zh-CN" altLang="en-US" b="1">
                <a:solidFill>
                  <a:srgbClr val="FFFF00"/>
                </a:solidFill>
                <a:effectLst/>
                <a:latin typeface="黑体" panose="02010609060101010101" pitchFamily="49" charset="-122"/>
                <a:ea typeface="黑体" panose="02010609060101010101" pitchFamily="49" charset="-122"/>
              </a:rPr>
              <a:t>并非所有的不安全状态都是死锁状态，但当系统进入不安全状态后，便可能进入死锁状态；反之，只要系统处于安全状态，系统便可以避免进入死锁状态。</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108492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algn="ctr" eaLnBrk="1" fontAlgn="auto" hangingPunct="1">
              <a:spcAft>
                <a:spcPts val="0"/>
              </a:spcAft>
            </a:pPr>
            <a:r>
              <a:rPr lang="zh-CN" altLang="en-US" dirty="0"/>
              <a:t>安全状态与死锁的关系</a:t>
            </a:r>
          </a:p>
        </p:txBody>
      </p:sp>
      <p:grpSp>
        <p:nvGrpSpPr>
          <p:cNvPr id="2" name="组合 1"/>
          <p:cNvGrpSpPr/>
          <p:nvPr/>
        </p:nvGrpSpPr>
        <p:grpSpPr>
          <a:xfrm>
            <a:off x="683569" y="4645866"/>
            <a:ext cx="4735219" cy="642942"/>
            <a:chOff x="683568" y="3788616"/>
            <a:chExt cx="4735219" cy="642942"/>
          </a:xfrm>
        </p:grpSpPr>
        <p:sp>
          <p:nvSpPr>
            <p:cNvPr id="9" name="内容占位符 2"/>
            <p:cNvSpPr txBox="1"/>
            <p:nvPr/>
          </p:nvSpPr>
          <p:spPr>
            <a:xfrm>
              <a:off x="981651" y="3788616"/>
              <a:ext cx="4437136" cy="64294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ts val="0"/>
                </a:spcBef>
                <a:spcAft>
                  <a:spcPts val="0"/>
                </a:spcAft>
              </a:pPr>
              <a:r>
                <a:rPr lang="zh-CN" altLang="en-US" dirty="0"/>
                <a:t>系统处于安全状态，一定没有死锁</a:t>
              </a:r>
              <a:endParaRPr lang="en-US" altLang="zh-CN" dirty="0"/>
            </a:p>
          </p:txBody>
        </p:sp>
        <p:sp>
          <p:nvSpPr>
            <p:cNvPr id="12" name="TextBox 11"/>
            <p:cNvSpPr txBox="1"/>
            <p:nvPr/>
          </p:nvSpPr>
          <p:spPr>
            <a:xfrm>
              <a:off x="683568" y="3788616"/>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683569" y="4993776"/>
            <a:ext cx="5602059" cy="774888"/>
            <a:chOff x="683568" y="4136526"/>
            <a:chExt cx="5602059" cy="774888"/>
          </a:xfrm>
        </p:grpSpPr>
        <p:pic>
          <p:nvPicPr>
            <p:cNvPr id="14" name="图片 13" descr="小点1.png"/>
            <p:cNvPicPr>
              <a:picLocks noChangeAspect="1"/>
            </p:cNvPicPr>
            <p:nvPr/>
          </p:nvPicPr>
          <p:blipFill>
            <a:blip r:embed="rId2" cstate="print"/>
            <a:stretch>
              <a:fillRect/>
            </a:stretch>
          </p:blipFill>
          <p:spPr>
            <a:xfrm>
              <a:off x="1101097" y="4595023"/>
              <a:ext cx="151066" cy="148997"/>
            </a:xfrm>
            <a:prstGeom prst="rect">
              <a:avLst/>
            </a:prstGeom>
            <a:effectLst/>
          </p:spPr>
        </p:pic>
        <p:sp>
          <p:nvSpPr>
            <p:cNvPr id="17" name="内容占位符 2"/>
            <p:cNvSpPr txBox="1"/>
            <p:nvPr/>
          </p:nvSpPr>
          <p:spPr>
            <a:xfrm>
              <a:off x="1236404" y="4503772"/>
              <a:ext cx="5049223" cy="40764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sym typeface="Symbol" panose="05050102010706020507" charset="0"/>
                </a:rPr>
                <a:t>避免死锁就是确保系统不会进入不安全状态</a:t>
              </a:r>
              <a:endParaRPr lang="zh-CN" altLang="en-US" dirty="0">
                <a:solidFill>
                  <a:srgbClr val="C00000"/>
                </a:solidFill>
              </a:endParaRPr>
            </a:p>
          </p:txBody>
        </p:sp>
        <p:sp>
          <p:nvSpPr>
            <p:cNvPr id="11" name="内容占位符 2"/>
            <p:cNvSpPr txBox="1"/>
            <p:nvPr/>
          </p:nvSpPr>
          <p:spPr>
            <a:xfrm>
              <a:off x="981651" y="4136526"/>
              <a:ext cx="5085208" cy="72708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ts val="0"/>
                </a:spcBef>
                <a:spcAft>
                  <a:spcPts val="0"/>
                </a:spcAft>
              </a:pPr>
              <a:r>
                <a:rPr lang="zh-CN" altLang="en-US" dirty="0">
                  <a:sym typeface="Symbol" panose="05050102010706020507" charset="0"/>
                </a:rPr>
                <a:t>系统处于不安全状态，可能出现死锁</a:t>
              </a:r>
              <a:endParaRPr lang="en-US" altLang="zh-CN" dirty="0"/>
            </a:p>
          </p:txBody>
        </p:sp>
        <p:sp>
          <p:nvSpPr>
            <p:cNvPr id="13" name="TextBox 12"/>
            <p:cNvSpPr txBox="1"/>
            <p:nvPr/>
          </p:nvSpPr>
          <p:spPr>
            <a:xfrm>
              <a:off x="683568" y="4136526"/>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2987978" y="1628675"/>
            <a:ext cx="2890800" cy="2928958"/>
            <a:chOff x="3837778" y="1071552"/>
            <a:chExt cx="2890800" cy="2928958"/>
          </a:xfrm>
        </p:grpSpPr>
        <p:sp>
          <p:nvSpPr>
            <p:cNvPr id="26" name="矩形 25"/>
            <p:cNvSpPr/>
            <p:nvPr/>
          </p:nvSpPr>
          <p:spPr>
            <a:xfrm>
              <a:off x="3838570" y="1071552"/>
              <a:ext cx="2880000" cy="2928958"/>
            </a:xfrm>
            <a:prstGeom prst="rect">
              <a:avLst/>
            </a:prstGeom>
            <a:gradFill>
              <a:gsLst>
                <a:gs pos="100000">
                  <a:srgbClr val="339900"/>
                </a:gs>
                <a:gs pos="0">
                  <a:srgbClr val="CCFF99"/>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cxnSp>
          <p:nvCxnSpPr>
            <p:cNvPr id="32" name="直接连接符 31"/>
            <p:cNvCxnSpPr/>
            <p:nvPr/>
          </p:nvCxnSpPr>
          <p:spPr>
            <a:xfrm rot="10800000" flipH="1">
              <a:off x="3839903" y="1964526"/>
              <a:ext cx="2880000" cy="678661"/>
            </a:xfrm>
            <a:prstGeom prst="line">
              <a:avLst/>
            </a:prstGeom>
            <a:ln w="38100">
              <a:solidFill>
                <a:srgbClr val="11576A"/>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3837778" y="1071552"/>
              <a:ext cx="2890800" cy="1568450"/>
              <a:chOff x="3844920" y="1071552"/>
              <a:chExt cx="2880000" cy="1568450"/>
            </a:xfrm>
          </p:grpSpPr>
          <p:sp>
            <p:nvSpPr>
              <p:cNvPr id="35" name="任意多边形 34"/>
              <p:cNvSpPr/>
              <p:nvPr/>
            </p:nvSpPr>
            <p:spPr>
              <a:xfrm>
                <a:off x="3844920" y="1071552"/>
                <a:ext cx="2880000" cy="1568450"/>
              </a:xfrm>
              <a:custGeom>
                <a:avLst/>
                <a:gdLst>
                  <a:gd name="connsiteX0" fmla="*/ 12700 w 2863850"/>
                  <a:gd name="connsiteY0" fmla="*/ 0 h 1568450"/>
                  <a:gd name="connsiteX1" fmla="*/ 2863850 w 2863850"/>
                  <a:gd name="connsiteY1" fmla="*/ 6350 h 1568450"/>
                  <a:gd name="connsiteX2" fmla="*/ 2851150 w 2863850"/>
                  <a:gd name="connsiteY2" fmla="*/ 895350 h 1568450"/>
                  <a:gd name="connsiteX3" fmla="*/ 0 w 2863850"/>
                  <a:gd name="connsiteY3" fmla="*/ 1568450 h 1568450"/>
                  <a:gd name="connsiteX4" fmla="*/ 12700 w 2863850"/>
                  <a:gd name="connsiteY4" fmla="*/ 0 h 1568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3850" h="1568450">
                    <a:moveTo>
                      <a:pt x="12700" y="0"/>
                    </a:moveTo>
                    <a:lnTo>
                      <a:pt x="2863850" y="6350"/>
                    </a:lnTo>
                    <a:lnTo>
                      <a:pt x="2851150" y="895350"/>
                    </a:lnTo>
                    <a:lnTo>
                      <a:pt x="0" y="1568450"/>
                    </a:lnTo>
                    <a:lnTo>
                      <a:pt x="12700" y="0"/>
                    </a:lnTo>
                    <a:close/>
                  </a:path>
                </a:pathLst>
              </a:cu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34" name="矩形 33"/>
              <p:cNvSpPr/>
              <p:nvPr/>
            </p:nvSpPr>
            <p:spPr>
              <a:xfrm>
                <a:off x="4071934" y="1357304"/>
                <a:ext cx="1285884" cy="642942"/>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grpSp>
        <p:sp>
          <p:nvSpPr>
            <p:cNvPr id="37" name="TextBox 36"/>
            <p:cNvSpPr txBox="1"/>
            <p:nvPr/>
          </p:nvSpPr>
          <p:spPr>
            <a:xfrm>
              <a:off x="4387519" y="1500180"/>
              <a:ext cx="646331" cy="369332"/>
            </a:xfrm>
            <a:prstGeom prst="rect">
              <a:avLst/>
            </a:prstGeom>
            <a:noFill/>
          </p:spPr>
          <p:txBody>
            <a:bodyPr wrap="none" rtlCol="0">
              <a:spAutoFit/>
            </a:bodyPr>
            <a:lstStyle/>
            <a:p>
              <a:pPr eaLnBrk="1" fontAlgn="auto" hangingPunct="1">
                <a:spcBef>
                  <a:spcPts val="0"/>
                </a:spcBef>
                <a:spcAft>
                  <a:spcPts val="0"/>
                </a:spcAft>
              </a:pPr>
              <a:r>
                <a:rPr lang="zh-CN" altLang="en-US" b="1" dirty="0">
                  <a:solidFill>
                    <a:srgbClr val="11576A"/>
                  </a:solidFill>
                  <a:latin typeface="微软雅黑"/>
                  <a:ea typeface="微软雅黑"/>
                </a:rPr>
                <a:t>死锁</a:t>
              </a:r>
            </a:p>
          </p:txBody>
        </p:sp>
        <p:sp>
          <p:nvSpPr>
            <p:cNvPr id="38" name="TextBox 37"/>
            <p:cNvSpPr txBox="1"/>
            <p:nvPr/>
          </p:nvSpPr>
          <p:spPr>
            <a:xfrm>
              <a:off x="5753064" y="1214428"/>
              <a:ext cx="889987" cy="369332"/>
            </a:xfrm>
            <a:prstGeom prst="rect">
              <a:avLst/>
            </a:prstGeom>
            <a:noFill/>
          </p:spPr>
          <p:txBody>
            <a:bodyPr wrap="none" rtlCol="0">
              <a:spAutoFit/>
            </a:bodyPr>
            <a:lstStyle/>
            <a:p>
              <a:pPr eaLnBrk="1" fontAlgn="auto" hangingPunct="1">
                <a:spcBef>
                  <a:spcPts val="0"/>
                </a:spcBef>
                <a:spcAft>
                  <a:spcPts val="0"/>
                </a:spcAft>
              </a:pPr>
              <a:r>
                <a:rPr lang="zh-CN" altLang="en-US" b="1" dirty="0">
                  <a:solidFill>
                    <a:srgbClr val="11576A"/>
                  </a:solidFill>
                  <a:latin typeface="微软雅黑"/>
                  <a:ea typeface="微软雅黑"/>
                </a:rPr>
                <a:t>不安全</a:t>
              </a:r>
            </a:p>
          </p:txBody>
        </p:sp>
        <p:sp>
          <p:nvSpPr>
            <p:cNvPr id="39" name="TextBox 38"/>
            <p:cNvSpPr txBox="1"/>
            <p:nvPr/>
          </p:nvSpPr>
          <p:spPr>
            <a:xfrm>
              <a:off x="6046460" y="2285998"/>
              <a:ext cx="659155" cy="369332"/>
            </a:xfrm>
            <a:prstGeom prst="rect">
              <a:avLst/>
            </a:prstGeom>
            <a:noFill/>
          </p:spPr>
          <p:txBody>
            <a:bodyPr wrap="none" rtlCol="0">
              <a:spAutoFit/>
            </a:bodyPr>
            <a:lstStyle/>
            <a:p>
              <a:pPr eaLnBrk="1" fontAlgn="auto" hangingPunct="1">
                <a:spcBef>
                  <a:spcPts val="0"/>
                </a:spcBef>
                <a:spcAft>
                  <a:spcPts val="0"/>
                </a:spcAft>
              </a:pPr>
              <a:r>
                <a:rPr lang="zh-CN" altLang="en-US" b="1" dirty="0">
                  <a:solidFill>
                    <a:srgbClr val="11576A"/>
                  </a:solidFill>
                  <a:latin typeface="微软雅黑"/>
                  <a:ea typeface="微软雅黑"/>
                </a:rPr>
                <a:t>安全</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a:extLst>
              <a:ext uri="{FF2B5EF4-FFF2-40B4-BE49-F238E27FC236}">
                <a16:creationId xmlns:a16="http://schemas.microsoft.com/office/drawing/2014/main" id="{4835F3BE-28ED-4137-B07B-D940C45C38AD}"/>
              </a:ext>
            </a:extLst>
          </p:cNvPr>
          <p:cNvSpPr>
            <a:spLocks noGrp="1" noChangeArrowheads="1"/>
          </p:cNvSpPr>
          <p:nvPr>
            <p:ph type="title"/>
          </p:nvPr>
        </p:nvSpPr>
        <p:spPr>
          <a:xfrm>
            <a:off x="468313" y="188913"/>
            <a:ext cx="8229600" cy="911225"/>
          </a:xfrm>
        </p:spPr>
        <p:txBody>
          <a:bodyPr/>
          <a:lstStyle/>
          <a:p>
            <a:pPr eaLnBrk="1" hangingPunct="1">
              <a:defRPr/>
            </a:pPr>
            <a:r>
              <a:rPr lang="zh-CN" altLang="en-US" b="1">
                <a:solidFill>
                  <a:srgbClr val="CC0000"/>
                </a:solidFill>
                <a:ea typeface="黑体" panose="02010609060101010101" pitchFamily="49" charset="-122"/>
              </a:rPr>
              <a:t>银行家算法</a:t>
            </a:r>
          </a:p>
        </p:txBody>
      </p:sp>
      <p:sp>
        <p:nvSpPr>
          <p:cNvPr id="157699" name="Rectangle 3">
            <a:extLst>
              <a:ext uri="{FF2B5EF4-FFF2-40B4-BE49-F238E27FC236}">
                <a16:creationId xmlns:a16="http://schemas.microsoft.com/office/drawing/2014/main" id="{2C584A0A-BD3E-4E7B-900D-FE543D5F2AFA}"/>
              </a:ext>
            </a:extLst>
          </p:cNvPr>
          <p:cNvSpPr>
            <a:spLocks noGrp="1" noChangeArrowheads="1"/>
          </p:cNvSpPr>
          <p:nvPr>
            <p:ph type="body" idx="1"/>
          </p:nvPr>
        </p:nvSpPr>
        <p:spPr>
          <a:xfrm>
            <a:off x="34925" y="1125538"/>
            <a:ext cx="8991600" cy="5732462"/>
          </a:xfrm>
        </p:spPr>
        <p:txBody>
          <a:bodyPr/>
          <a:lstStyle/>
          <a:p>
            <a:pPr marL="609600" indent="-609600" eaLnBrk="1" hangingPunct="1">
              <a:lnSpc>
                <a:spcPct val="120000"/>
              </a:lnSpc>
            </a:pPr>
            <a:r>
              <a:rPr lang="zh-CN" altLang="en-US" b="1" dirty="0">
                <a:solidFill>
                  <a:srgbClr val="FFFF00"/>
                </a:solidFill>
                <a:effectLst/>
                <a:latin typeface="黑体" panose="02010609060101010101" pitchFamily="49" charset="-122"/>
                <a:ea typeface="黑体" panose="02010609060101010101" pitchFamily="49" charset="-122"/>
              </a:rPr>
              <a:t>银行家算法是最有代表性的避免死锁算法，是</a:t>
            </a:r>
            <a:r>
              <a:rPr lang="en-US" altLang="zh-CN" b="1" dirty="0">
                <a:solidFill>
                  <a:srgbClr val="FFFF00"/>
                </a:solidFill>
                <a:effectLst/>
                <a:latin typeface="黑体" panose="02010609060101010101" pitchFamily="49" charset="-122"/>
                <a:ea typeface="黑体" panose="02010609060101010101" pitchFamily="49" charset="-122"/>
              </a:rPr>
              <a:t>Dijkstra</a:t>
            </a:r>
            <a:r>
              <a:rPr lang="zh-CN" altLang="en-US" b="1" dirty="0">
                <a:solidFill>
                  <a:srgbClr val="FFFF00"/>
                </a:solidFill>
                <a:effectLst/>
                <a:latin typeface="黑体" panose="02010609060101010101" pitchFamily="49" charset="-122"/>
                <a:ea typeface="黑体" panose="02010609060101010101" pitchFamily="49" charset="-122"/>
              </a:rPr>
              <a:t>提出的。其模型基于一个小城镇的银行家，他向一群客户分别承诺了一定金额的贷款，而他知道不可能所有客户同时都需要最大的贷款额。在这里，我们可将客户比作进程，银行家比作操作系统。银行家算法就是对每一个客户的请求进行检查，检查如果满足它是否会引起不安全状态。假如是，那么不满足该请求；否，那么便满足。</a:t>
            </a:r>
          </a:p>
        </p:txBody>
      </p:sp>
    </p:spTree>
  </p:cSld>
  <p:clrMapOvr>
    <a:masterClrMapping/>
  </p:clrMapOvr>
  <p:transition spd="slow">
    <p:cover dir="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a:extLst>
              <a:ext uri="{FF2B5EF4-FFF2-40B4-BE49-F238E27FC236}">
                <a16:creationId xmlns:a16="http://schemas.microsoft.com/office/drawing/2014/main" id="{0155C4D3-70BA-4365-B6B6-09AC6CB125CE}"/>
              </a:ext>
            </a:extLst>
          </p:cNvPr>
          <p:cNvSpPr>
            <a:spLocks noGrp="1" noChangeArrowheads="1"/>
          </p:cNvSpPr>
          <p:nvPr>
            <p:ph type="title"/>
          </p:nvPr>
        </p:nvSpPr>
        <p:spPr>
          <a:xfrm>
            <a:off x="914400" y="0"/>
            <a:ext cx="7772400" cy="1143000"/>
          </a:xfrm>
        </p:spPr>
        <p:txBody>
          <a:bodyPr/>
          <a:lstStyle/>
          <a:p>
            <a:pPr eaLnBrk="1" hangingPunct="1">
              <a:defRPr/>
            </a:pPr>
            <a:r>
              <a:rPr lang="zh-CN" altLang="en-US" sz="4800">
                <a:latin typeface="隶书" panose="02010509060101010101" pitchFamily="49" charset="-122"/>
                <a:ea typeface="隶书" panose="02010509060101010101" pitchFamily="49" charset="-122"/>
              </a:rPr>
              <a:t>银行家算法的基本思想</a:t>
            </a:r>
          </a:p>
        </p:txBody>
      </p:sp>
      <p:sp>
        <p:nvSpPr>
          <p:cNvPr id="158723" name="Rectangle 3">
            <a:extLst>
              <a:ext uri="{FF2B5EF4-FFF2-40B4-BE49-F238E27FC236}">
                <a16:creationId xmlns:a16="http://schemas.microsoft.com/office/drawing/2014/main" id="{7D6215CC-25DE-47FC-828D-C5C1BC362D15}"/>
              </a:ext>
            </a:extLst>
          </p:cNvPr>
          <p:cNvSpPr>
            <a:spLocks noGrp="1" noChangeArrowheads="1"/>
          </p:cNvSpPr>
          <p:nvPr>
            <p:ph type="body" idx="1"/>
          </p:nvPr>
        </p:nvSpPr>
        <p:spPr>
          <a:xfrm>
            <a:off x="684213" y="1268413"/>
            <a:ext cx="7981950" cy="5437187"/>
          </a:xfrm>
        </p:spPr>
        <p:txBody>
          <a:bodyPr/>
          <a:lstStyle/>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系统中的所有进程进入进程集合</a:t>
            </a:r>
            <a:r>
              <a:rPr lang="en-US" altLang="zh-CN" sz="3600" b="1" dirty="0">
                <a:solidFill>
                  <a:srgbClr val="FFFF00"/>
                </a:solidFill>
                <a:effectLst/>
                <a:latin typeface="黑体" panose="02010609060101010101" pitchFamily="49" charset="-122"/>
                <a:ea typeface="黑体" panose="02010609060101010101" pitchFamily="49" charset="-122"/>
              </a:rPr>
              <a:t>,</a:t>
            </a: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在系统收到进程的资源请求后</a:t>
            </a:r>
            <a:r>
              <a:rPr lang="en-US" altLang="zh-CN" sz="3600" b="1" dirty="0">
                <a:solidFill>
                  <a:srgbClr val="FFFF00"/>
                </a:solidFill>
                <a:effectLst/>
                <a:latin typeface="黑体" panose="02010609060101010101" pitchFamily="49" charset="-122"/>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先把资源试探性分配给它。</a:t>
            </a:r>
          </a:p>
          <a:p>
            <a:pPr eaLnBrk="1" hangingPunct="1"/>
            <a:r>
              <a:rPr lang="zh-CN" altLang="en-US" sz="3600" b="1" dirty="0">
                <a:solidFill>
                  <a:srgbClr val="FFFF00"/>
                </a:solidFill>
                <a:effectLst/>
                <a:latin typeface="黑体" panose="02010609060101010101" pitchFamily="49" charset="-122"/>
                <a:ea typeface="黑体" panose="02010609060101010101" pitchFamily="49" charset="-122"/>
              </a:rPr>
              <a:t>系统用剩下的可用资源和进程集合中其他进程还要的资源数作比较，在进程集合中找到剩余资源能满足最大需求量的进程</a:t>
            </a:r>
            <a:r>
              <a:rPr lang="en-US" altLang="zh-CN" sz="3600" b="1" dirty="0">
                <a:solidFill>
                  <a:srgbClr val="FFFF00"/>
                </a:solidFill>
                <a:effectLst/>
                <a:latin typeface="黑体" panose="02010609060101010101" pitchFamily="49" charset="-122"/>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从而</a:t>
            </a:r>
            <a:r>
              <a:rPr lang="en-US" altLang="zh-CN" sz="3600" b="1" dirty="0">
                <a:solidFill>
                  <a:srgbClr val="FFFF00"/>
                </a:solidFill>
                <a:effectLst/>
                <a:latin typeface="黑体" panose="02010609060101010101" pitchFamily="49" charset="-122"/>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保证这个进程运行完毕并归还全部资源。</a:t>
            </a:r>
          </a:p>
        </p:txBody>
      </p:sp>
    </p:spTree>
  </p:cSld>
  <p:clrMapOvr>
    <a:masterClrMapping/>
  </p:clrMapOvr>
  <p:transition>
    <p:blinds dir="vert"/>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B464AE96-1D33-468A-A77B-93046FB310EB}"/>
              </a:ext>
            </a:extLst>
          </p:cNvPr>
          <p:cNvSpPr>
            <a:spLocks noGrp="1" noChangeArrowheads="1"/>
          </p:cNvSpPr>
          <p:nvPr>
            <p:ph type="body" idx="1"/>
          </p:nvPr>
        </p:nvSpPr>
        <p:spPr>
          <a:xfrm>
            <a:off x="539750" y="1066800"/>
            <a:ext cx="8147050" cy="5026025"/>
          </a:xfrm>
        </p:spPr>
        <p:txBody>
          <a:bodyPr/>
          <a:lstStyle/>
          <a:p>
            <a:pPr eaLnBrk="1" hangingPunct="1"/>
            <a:r>
              <a:rPr lang="zh-CN" altLang="en-US" sz="3600" b="1">
                <a:solidFill>
                  <a:srgbClr val="FFFF00"/>
                </a:solidFill>
                <a:effectLst/>
                <a:latin typeface="黑体" panose="02010609060101010101" pitchFamily="49" charset="-122"/>
                <a:ea typeface="黑体" panose="02010609060101010101" pitchFamily="49" charset="-122"/>
              </a:rPr>
              <a:t>把这个进程从集合中去掉</a:t>
            </a:r>
            <a:r>
              <a:rPr lang="en-US" altLang="zh-CN" sz="3600" b="1">
                <a:solidFill>
                  <a:srgbClr val="FFFF00"/>
                </a:solidFill>
                <a:effectLst/>
                <a:latin typeface="黑体" panose="02010609060101010101" pitchFamily="49" charset="-122"/>
                <a:ea typeface="黑体" panose="02010609060101010101" pitchFamily="49" charset="-122"/>
              </a:rPr>
              <a:t>, </a:t>
            </a:r>
            <a:r>
              <a:rPr lang="zh-CN" altLang="en-US" sz="3600" b="1">
                <a:solidFill>
                  <a:srgbClr val="FFFF00"/>
                </a:solidFill>
                <a:effectLst/>
                <a:latin typeface="黑体" panose="02010609060101010101" pitchFamily="49" charset="-122"/>
                <a:ea typeface="黑体" panose="02010609060101010101" pitchFamily="49" charset="-122"/>
              </a:rPr>
              <a:t>系统的剩余资源更多了</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反复执行上述步骤。</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最后</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检查进程集合</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若为空表明本次申请可行</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系统处于安全状态</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可实施本次分配</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否则</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有进程执行不完，系统处于不安全状态</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本次资源分配暂不实施</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让申请进程等待。 </a:t>
            </a:r>
          </a:p>
        </p:txBody>
      </p:sp>
    </p:spTree>
  </p:cSld>
  <p:clrMapOvr>
    <a:masterClrMapping/>
  </p:clrMapOvr>
  <p:transition>
    <p:blinds dir="vert"/>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5F1FA18D-F892-468C-9D91-7E299BF4D9ED}"/>
              </a:ext>
            </a:extLst>
          </p:cNvPr>
          <p:cNvSpPr>
            <a:spLocks noGrp="1" noChangeArrowheads="1"/>
          </p:cNvSpPr>
          <p:nvPr>
            <p:ph type="title"/>
          </p:nvPr>
        </p:nvSpPr>
        <p:spPr/>
        <p:txBody>
          <a:bodyPr/>
          <a:lstStyle/>
          <a:p>
            <a:pPr eaLnBrk="1" hangingPunct="1">
              <a:defRPr/>
            </a:pPr>
            <a:r>
              <a:rPr lang="zh-CN" altLang="en-US" b="1">
                <a:solidFill>
                  <a:schemeClr val="tx1"/>
                </a:solidFill>
                <a:effectLst>
                  <a:outerShdw blurRad="38100" dist="38100" dir="2700000" algn="tl">
                    <a:srgbClr val="010199"/>
                  </a:outerShdw>
                </a:effectLst>
              </a:rPr>
              <a:t>可以看出：</a:t>
            </a:r>
          </a:p>
        </p:txBody>
      </p:sp>
      <p:sp>
        <p:nvSpPr>
          <p:cNvPr id="160771" name="Rectangle 3">
            <a:extLst>
              <a:ext uri="{FF2B5EF4-FFF2-40B4-BE49-F238E27FC236}">
                <a16:creationId xmlns:a16="http://schemas.microsoft.com/office/drawing/2014/main" id="{41E9EAFE-A380-494C-8062-F8EA0429C941}"/>
              </a:ext>
            </a:extLst>
          </p:cNvPr>
          <p:cNvSpPr>
            <a:spLocks noGrp="1" noChangeArrowheads="1"/>
          </p:cNvSpPr>
          <p:nvPr>
            <p:ph type="body" idx="1"/>
          </p:nvPr>
        </p:nvSpPr>
        <p:spPr>
          <a:xfrm>
            <a:off x="457200" y="1268413"/>
            <a:ext cx="8435975" cy="4824883"/>
          </a:xfrm>
        </p:spPr>
        <p:txBody>
          <a:bodyPr/>
          <a:lstStyle/>
          <a:p>
            <a:pPr eaLnBrk="1" hangingPunct="1">
              <a:lnSpc>
                <a:spcPct val="115000"/>
              </a:lnSpc>
            </a:pPr>
            <a:r>
              <a:rPr lang="zh-CN" altLang="en-US" b="1" dirty="0">
                <a:solidFill>
                  <a:srgbClr val="FFFF00"/>
                </a:solidFill>
                <a:effectLst/>
                <a:latin typeface="黑体" panose="02010609060101010101" pitchFamily="49" charset="-122"/>
                <a:ea typeface="黑体" panose="02010609060101010101" pitchFamily="49" charset="-122"/>
              </a:rPr>
              <a:t>银行家算法从避免死锁的角度上说是非常有效的，但是，从某种意义上说，它缺乏实用价值，因为很少有进程能够在运行前就知道其所需资源的最大值，而且进程数也不是固定的，往往在不断地变化（如新用户登录或退出）。</a:t>
            </a: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162D52A0-1598-4478-BE02-D679ED9DA40D}"/>
              </a:ext>
            </a:extLst>
          </p:cNvPr>
          <p:cNvSpPr>
            <a:spLocks noGrp="1" noChangeArrowheads="1"/>
          </p:cNvSpPr>
          <p:nvPr>
            <p:ph type="body" idx="1"/>
          </p:nvPr>
        </p:nvSpPr>
        <p:spPr>
          <a:xfrm>
            <a:off x="468313" y="1484313"/>
            <a:ext cx="8353425" cy="5184775"/>
          </a:xfrm>
        </p:spPr>
        <p:txBody>
          <a:bodyPr/>
          <a:lstStyle/>
          <a:p>
            <a:pPr eaLnBrk="1" hangingPunct="1"/>
            <a:r>
              <a:rPr lang="zh-CN" altLang="en-US" b="1" dirty="0">
                <a:solidFill>
                  <a:srgbClr val="FFFF00"/>
                </a:solidFill>
                <a:effectLst/>
                <a:latin typeface="黑体" panose="02010609060101010101" pitchFamily="49" charset="-122"/>
                <a:ea typeface="黑体" panose="02010609060101010101" pitchFamily="49" charset="-122"/>
              </a:rPr>
              <a:t>一般而言，由于操作系统的并行与共享以及随机性等特点，通过预防和避免的手段达到排除死锁的目的是一件十分困难的事。这需要较大的系统开销，甚至不能充分利用资源。死锁的检测和恢复则与此相反，不必花费多少执行时间就能发现死锁和从死锁中恢复出来。因此，在实际操作系统中大都使用检测与恢复法排除死锁。</a:t>
            </a:r>
          </a:p>
        </p:txBody>
      </p:sp>
      <p:sp>
        <p:nvSpPr>
          <p:cNvPr id="162819" name="Rectangle 3">
            <a:extLst>
              <a:ext uri="{FF2B5EF4-FFF2-40B4-BE49-F238E27FC236}">
                <a16:creationId xmlns:a16="http://schemas.microsoft.com/office/drawing/2014/main" id="{5AC2717C-40C3-4F4A-AB5A-706FF7EB32F8}"/>
              </a:ext>
            </a:extLst>
          </p:cNvPr>
          <p:cNvSpPr>
            <a:spLocks noGrp="1" noChangeArrowheads="1"/>
          </p:cNvSpPr>
          <p:nvPr>
            <p:ph type="title"/>
          </p:nvPr>
        </p:nvSpPr>
        <p:spPr>
          <a:xfrm>
            <a:off x="179388" y="333375"/>
            <a:ext cx="8480425" cy="803275"/>
          </a:xfrm>
          <a:noFill/>
          <a:extLst>
            <a:ext uri="{909E8E84-426E-40DD-AFC4-6F175D3DCCD1}">
              <a14:hiddenFill xmlns:a14="http://schemas.microsoft.com/office/drawing/2010/main">
                <a:solidFill>
                  <a:schemeClr val="accent1"/>
                </a:solidFill>
              </a14:hiddenFill>
            </a:ext>
          </a:extLst>
        </p:spPr>
        <p:txBody>
          <a:bodyPr anchor="b" anchorCtr="0"/>
          <a:lstStyle/>
          <a:p>
            <a:pPr eaLnBrk="1" hangingPunct="1"/>
            <a:r>
              <a:rPr lang="en-US" altLang="zh-CN" sz="4800" b="1">
                <a:solidFill>
                  <a:schemeClr val="tx1"/>
                </a:solidFill>
                <a:effectLst/>
                <a:latin typeface="楷体_GB2312" pitchFamily="49" charset="-122"/>
                <a:ea typeface="楷体_GB2312" pitchFamily="49" charset="-122"/>
              </a:rPr>
              <a:t>3.6.2</a:t>
            </a:r>
            <a:r>
              <a:rPr lang="zh-CN" altLang="en-US" sz="4800" b="1">
                <a:solidFill>
                  <a:schemeClr val="tx1"/>
                </a:solidFill>
                <a:effectLst/>
                <a:latin typeface="楷体_GB2312" pitchFamily="49" charset="-122"/>
                <a:ea typeface="楷体_GB2312" pitchFamily="49" charset="-122"/>
              </a:rPr>
              <a:t>死锁的处理策略</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58BBAE39-581D-4ECC-BD27-25F8CBB0D238}"/>
              </a:ext>
            </a:extLst>
          </p:cNvPr>
          <p:cNvSpPr>
            <a:spLocks noGrp="1" noChangeArrowheads="1"/>
          </p:cNvSpPr>
          <p:nvPr>
            <p:ph type="body" idx="1"/>
          </p:nvPr>
        </p:nvSpPr>
        <p:spPr>
          <a:xfrm>
            <a:off x="611188" y="981075"/>
            <a:ext cx="7921625" cy="4746625"/>
          </a:xfrm>
        </p:spPr>
        <p:txBody>
          <a:bodyPr/>
          <a:lstStyle/>
          <a:p>
            <a:pPr algn="just"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3</a:t>
            </a:r>
            <a:r>
              <a:rPr lang="zh-CN" altLang="en-US" sz="3600" b="1">
                <a:solidFill>
                  <a:srgbClr val="FFFF00"/>
                </a:solidFill>
                <a:effectLst/>
                <a:latin typeface="黑体" panose="02010609060101010101" pitchFamily="49" charset="-122"/>
                <a:ea typeface="黑体" panose="02010609060101010101" pitchFamily="49" charset="-122"/>
              </a:rPr>
              <a:t>、死锁检测和解除：</a:t>
            </a:r>
          </a:p>
          <a:p>
            <a:pPr algn="just"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  事先并不采取任何限制，也不检查系统是否进入不安全区，允许死锁发生，但可通过检测机构及时检测出死锁的发生，并精确确定与死锁有关的进程和资源，然后采取适当措施，将系统中已发生的死锁清除掉</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260984" y="364167"/>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algn="ctr" eaLnBrk="1" fontAlgn="auto" hangingPunct="1">
              <a:spcBef>
                <a:spcPts val="0"/>
              </a:spcBef>
              <a:spcAft>
                <a:spcPts val="0"/>
              </a:spcAft>
            </a:pPr>
            <a:r>
              <a:rPr lang="zh-CN" altLang="en-US" dirty="0"/>
              <a:t>（</a:t>
            </a:r>
            <a:r>
              <a:rPr lang="en-US" altLang="zh-CN" dirty="0"/>
              <a:t>1</a:t>
            </a:r>
            <a:r>
              <a:rPr lang="zh-CN" altLang="en-US" dirty="0"/>
              <a:t>）资源分配图</a:t>
            </a:r>
            <a:endParaRPr lang="en-US" altLang="zh-CN" dirty="0"/>
          </a:p>
        </p:txBody>
      </p:sp>
      <p:sp>
        <p:nvSpPr>
          <p:cNvPr id="26" name="内容占位符 2"/>
          <p:cNvSpPr txBox="1"/>
          <p:nvPr/>
        </p:nvSpPr>
        <p:spPr>
          <a:xfrm>
            <a:off x="222435" y="1397813"/>
            <a:ext cx="5357850"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algn="ctr" eaLnBrk="1" fontAlgn="auto" hangingPunct="1">
              <a:spcBef>
                <a:spcPct val="50000"/>
              </a:spcBef>
              <a:spcAft>
                <a:spcPts val="0"/>
              </a:spcAft>
            </a:pPr>
            <a:r>
              <a:rPr lang="zh-CN" altLang="en-US" dirty="0">
                <a:solidFill>
                  <a:srgbClr val="C00000"/>
                </a:solidFill>
              </a:rPr>
              <a:t>描述资源和进程间的分配和占用关系的有向图</a:t>
            </a:r>
            <a:endParaRPr lang="en-US" altLang="zh-CN" dirty="0">
              <a:solidFill>
                <a:srgbClr val="C00000"/>
              </a:solidFill>
            </a:endParaRPr>
          </a:p>
        </p:txBody>
      </p:sp>
      <p:grpSp>
        <p:nvGrpSpPr>
          <p:cNvPr id="6" name="组合 5"/>
          <p:cNvGrpSpPr/>
          <p:nvPr/>
        </p:nvGrpSpPr>
        <p:grpSpPr>
          <a:xfrm>
            <a:off x="260984" y="1979603"/>
            <a:ext cx="3584231" cy="998545"/>
            <a:chOff x="260983" y="1122352"/>
            <a:chExt cx="3584231" cy="998545"/>
          </a:xfrm>
        </p:grpSpPr>
        <p:sp>
          <p:nvSpPr>
            <p:cNvPr id="9" name="内容占位符 2"/>
            <p:cNvSpPr txBox="1"/>
            <p:nvPr/>
          </p:nvSpPr>
          <p:spPr>
            <a:xfrm>
              <a:off x="559066" y="1122352"/>
              <a:ext cx="1285884"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ct val="20000"/>
                </a:spcBef>
                <a:spcAft>
                  <a:spcPts val="0"/>
                </a:spcAft>
              </a:pPr>
              <a:r>
                <a:rPr lang="zh-CN" altLang="en-US" dirty="0"/>
                <a:t>两类顶点</a:t>
              </a:r>
            </a:p>
          </p:txBody>
        </p:sp>
        <p:sp>
          <p:nvSpPr>
            <p:cNvPr id="12" name="TextBox 11"/>
            <p:cNvSpPr txBox="1"/>
            <p:nvPr/>
          </p:nvSpPr>
          <p:spPr>
            <a:xfrm>
              <a:off x="260983" y="1122352"/>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pic>
          <p:nvPicPr>
            <p:cNvPr id="14" name="图片 13" descr="小点1.png"/>
            <p:cNvPicPr>
              <a:picLocks noChangeAspect="1"/>
            </p:cNvPicPr>
            <p:nvPr/>
          </p:nvPicPr>
          <p:blipFill>
            <a:blip r:embed="rId2" cstate="print"/>
            <a:stretch>
              <a:fillRect/>
            </a:stretch>
          </p:blipFill>
          <p:spPr>
            <a:xfrm>
              <a:off x="678512" y="1558918"/>
              <a:ext cx="151066" cy="148997"/>
            </a:xfrm>
            <a:prstGeom prst="rect">
              <a:avLst/>
            </a:prstGeom>
            <a:effectLst/>
          </p:spPr>
        </p:pic>
        <p:sp>
          <p:nvSpPr>
            <p:cNvPr id="17" name="内容占位符 2"/>
            <p:cNvSpPr txBox="1"/>
            <p:nvPr/>
          </p:nvSpPr>
          <p:spPr>
            <a:xfrm>
              <a:off x="811075" y="1454142"/>
              <a:ext cx="2319759"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t>系统中的所有进程</a:t>
              </a:r>
            </a:p>
          </p:txBody>
        </p:sp>
        <p:sp>
          <p:nvSpPr>
            <p:cNvPr id="33" name="内容占位符 2"/>
            <p:cNvSpPr txBox="1"/>
            <p:nvPr/>
          </p:nvSpPr>
          <p:spPr>
            <a:xfrm>
              <a:off x="1046027" y="1765299"/>
              <a:ext cx="2799187"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en-US" altLang="zh-CN" dirty="0"/>
                <a:t>P = {P</a:t>
              </a:r>
              <a:r>
                <a:rPr lang="en-US" altLang="zh-CN" baseline="-25000" dirty="0"/>
                <a:t>1</a:t>
              </a:r>
              <a:r>
                <a:rPr lang="en-US" altLang="zh-CN" dirty="0"/>
                <a:t>, P</a:t>
              </a:r>
              <a:r>
                <a:rPr lang="en-US" altLang="zh-CN" baseline="-25000" dirty="0"/>
                <a:t>2</a:t>
              </a:r>
              <a:r>
                <a:rPr lang="en-US" altLang="zh-CN" dirty="0"/>
                <a:t>, …, </a:t>
              </a:r>
              <a:r>
                <a:rPr lang="en-US" altLang="zh-CN" dirty="0" err="1"/>
                <a:t>P</a:t>
              </a:r>
              <a:r>
                <a:rPr lang="en-US" altLang="zh-CN" baseline="-25000" dirty="0" err="1"/>
                <a:t>n</a:t>
              </a:r>
              <a:r>
                <a:rPr lang="en-US" altLang="zh-CN" dirty="0"/>
                <a:t>}</a:t>
              </a:r>
              <a:endParaRPr lang="zh-CN" altLang="en-US" dirty="0"/>
            </a:p>
          </p:txBody>
        </p:sp>
      </p:grpSp>
      <p:grpSp>
        <p:nvGrpSpPr>
          <p:cNvPr id="7" name="组合 6"/>
          <p:cNvGrpSpPr/>
          <p:nvPr/>
        </p:nvGrpSpPr>
        <p:grpSpPr>
          <a:xfrm>
            <a:off x="678512" y="2940049"/>
            <a:ext cx="3166702" cy="666755"/>
            <a:chOff x="678512" y="2082798"/>
            <a:chExt cx="3166702" cy="666755"/>
          </a:xfrm>
        </p:grpSpPr>
        <p:pic>
          <p:nvPicPr>
            <p:cNvPr id="35" name="图片 34" descr="小点1.png"/>
            <p:cNvPicPr>
              <a:picLocks noChangeAspect="1"/>
            </p:cNvPicPr>
            <p:nvPr/>
          </p:nvPicPr>
          <p:blipFill>
            <a:blip r:embed="rId2" cstate="print"/>
            <a:stretch>
              <a:fillRect/>
            </a:stretch>
          </p:blipFill>
          <p:spPr>
            <a:xfrm>
              <a:off x="678512" y="2187574"/>
              <a:ext cx="151066" cy="148997"/>
            </a:xfrm>
            <a:prstGeom prst="rect">
              <a:avLst/>
            </a:prstGeom>
            <a:effectLst/>
          </p:spPr>
        </p:pic>
        <p:sp>
          <p:nvSpPr>
            <p:cNvPr id="36" name="内容占位符 2"/>
            <p:cNvSpPr txBox="1"/>
            <p:nvPr/>
          </p:nvSpPr>
          <p:spPr>
            <a:xfrm>
              <a:off x="811075" y="2082798"/>
              <a:ext cx="2319759"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t>系统中的所有资源</a:t>
              </a:r>
            </a:p>
          </p:txBody>
        </p:sp>
        <p:sp>
          <p:nvSpPr>
            <p:cNvPr id="37" name="内容占位符 2"/>
            <p:cNvSpPr txBox="1"/>
            <p:nvPr/>
          </p:nvSpPr>
          <p:spPr>
            <a:xfrm>
              <a:off x="1046027" y="2393955"/>
              <a:ext cx="2799187"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en-US" altLang="zh-CN" dirty="0"/>
                <a:t>R = {R</a:t>
              </a:r>
              <a:r>
                <a:rPr lang="en-US" altLang="zh-CN" baseline="-25000" dirty="0"/>
                <a:t>1</a:t>
              </a:r>
              <a:r>
                <a:rPr lang="en-US" altLang="zh-CN" dirty="0"/>
                <a:t>, R</a:t>
              </a:r>
              <a:r>
                <a:rPr lang="en-US" altLang="zh-CN" baseline="-25000" dirty="0"/>
                <a:t>2</a:t>
              </a:r>
              <a:r>
                <a:rPr lang="en-US" altLang="zh-CN" dirty="0"/>
                <a:t>, …, P</a:t>
              </a:r>
              <a:r>
                <a:rPr lang="en-US" altLang="zh-CN" baseline="-25000" dirty="0"/>
                <a:t>m</a:t>
              </a:r>
              <a:r>
                <a:rPr lang="en-US" altLang="zh-CN" dirty="0"/>
                <a:t>}</a:t>
              </a:r>
              <a:endParaRPr lang="zh-CN" altLang="en-US" dirty="0"/>
            </a:p>
          </p:txBody>
        </p:sp>
      </p:grpSp>
      <p:grpSp>
        <p:nvGrpSpPr>
          <p:cNvPr id="2" name="组合 1"/>
          <p:cNvGrpSpPr/>
          <p:nvPr/>
        </p:nvGrpSpPr>
        <p:grpSpPr>
          <a:xfrm>
            <a:off x="5945418" y="2416169"/>
            <a:ext cx="1409185" cy="519131"/>
            <a:chOff x="5945417" y="1558918"/>
            <a:chExt cx="1409185" cy="519131"/>
          </a:xfrm>
        </p:grpSpPr>
        <p:sp>
          <p:nvSpPr>
            <p:cNvPr id="69" name="内容占位符 2"/>
            <p:cNvSpPr txBox="1"/>
            <p:nvPr/>
          </p:nvSpPr>
          <p:spPr>
            <a:xfrm>
              <a:off x="6497346" y="1649421"/>
              <a:ext cx="85725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eaLnBrk="1" fontAlgn="auto" hangingPunct="1">
                <a:spcBef>
                  <a:spcPct val="20000"/>
                </a:spcBef>
                <a:spcAft>
                  <a:spcPts val="0"/>
                </a:spcAft>
                <a:defRPr/>
              </a:pPr>
              <a:r>
                <a:rPr lang="zh-CN" altLang="en-US" sz="1400" dirty="0"/>
                <a:t>进程</a:t>
              </a:r>
            </a:p>
          </p:txBody>
        </p:sp>
        <p:sp>
          <p:nvSpPr>
            <p:cNvPr id="73" name="Oval 4"/>
            <p:cNvSpPr>
              <a:spLocks noChangeArrowheads="1"/>
            </p:cNvSpPr>
            <p:nvPr/>
          </p:nvSpPr>
          <p:spPr bwMode="auto">
            <a:xfrm>
              <a:off x="5945417" y="1558918"/>
              <a:ext cx="495300" cy="495300"/>
            </a:xfrm>
            <a:prstGeom prst="ellipse">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roun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nvGrpSpPr>
          <p:cNvPr id="5" name="组合 4"/>
          <p:cNvGrpSpPr/>
          <p:nvPr/>
        </p:nvGrpSpPr>
        <p:grpSpPr>
          <a:xfrm>
            <a:off x="5161192" y="4724896"/>
            <a:ext cx="3265918" cy="821770"/>
            <a:chOff x="5161192" y="3867646"/>
            <a:chExt cx="3265918" cy="821770"/>
          </a:xfrm>
        </p:grpSpPr>
        <p:grpSp>
          <p:nvGrpSpPr>
            <p:cNvPr id="68" name="组 62"/>
            <p:cNvGrpSpPr/>
            <p:nvPr/>
          </p:nvGrpSpPr>
          <p:grpSpPr>
            <a:xfrm>
              <a:off x="5987188" y="3939654"/>
              <a:ext cx="438150" cy="419100"/>
              <a:chOff x="1808218" y="1873238"/>
              <a:chExt cx="438150" cy="419100"/>
            </a:xfrm>
          </p:grpSpPr>
          <p:sp>
            <p:nvSpPr>
              <p:cNvPr id="96" name="Rectangle 6"/>
              <p:cNvSpPr>
                <a:spLocks noChangeArrowheads="1"/>
              </p:cNvSpPr>
              <p:nvPr/>
            </p:nvSpPr>
            <p:spPr bwMode="auto">
              <a:xfrm>
                <a:off x="1808218" y="1873238"/>
                <a:ext cx="438150" cy="4191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nvGrpSpPr>
              <p:cNvPr id="97" name="组 64"/>
              <p:cNvGrpSpPr/>
              <p:nvPr/>
            </p:nvGrpSpPr>
            <p:grpSpPr>
              <a:xfrm>
                <a:off x="1907704" y="1959694"/>
                <a:ext cx="252016" cy="252016"/>
                <a:chOff x="683568" y="1707654"/>
                <a:chExt cx="252016" cy="252016"/>
              </a:xfrm>
            </p:grpSpPr>
            <p:sp>
              <p:nvSpPr>
                <p:cNvPr id="98" name="椭圆 97"/>
                <p:cNvSpPr>
                  <a:spLocks noChangeAspect="1"/>
                </p:cNvSpPr>
                <p:nvPr/>
              </p:nvSpPr>
              <p:spPr>
                <a:xfrm>
                  <a:off x="683568" y="1707654"/>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99" name="椭圆 98"/>
                <p:cNvSpPr>
                  <a:spLocks noChangeAspect="1"/>
                </p:cNvSpPr>
                <p:nvPr/>
              </p:nvSpPr>
              <p:spPr>
                <a:xfrm>
                  <a:off x="827584" y="1851670"/>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100" name="椭圆 99"/>
                <p:cNvSpPr>
                  <a:spLocks noChangeAspect="1"/>
                </p:cNvSpPr>
                <p:nvPr/>
              </p:nvSpPr>
              <p:spPr>
                <a:xfrm>
                  <a:off x="827584" y="1707654"/>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101" name="椭圆 100"/>
                <p:cNvSpPr>
                  <a:spLocks noChangeAspect="1"/>
                </p:cNvSpPr>
                <p:nvPr/>
              </p:nvSpPr>
              <p:spPr>
                <a:xfrm>
                  <a:off x="683568" y="1851670"/>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grpSp>
        </p:grpSp>
        <p:sp>
          <p:nvSpPr>
            <p:cNvPr id="72" name="内容占位符 2"/>
            <p:cNvSpPr txBox="1"/>
            <p:nvPr/>
          </p:nvSpPr>
          <p:spPr>
            <a:xfrm>
              <a:off x="6498284" y="4018102"/>
              <a:ext cx="192882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eaLnBrk="1" fontAlgn="auto" hangingPunct="1">
                <a:spcBef>
                  <a:spcPct val="20000"/>
                </a:spcBef>
                <a:spcAft>
                  <a:spcPts val="0"/>
                </a:spcAft>
              </a:pPr>
              <a:r>
                <a:rPr lang="en-US" altLang="zh-CN" sz="1400" dirty="0"/>
                <a:t>P</a:t>
              </a:r>
              <a:r>
                <a:rPr lang="en-US" altLang="zh-CN" sz="1400" baseline="-25000" dirty="0"/>
                <a:t>i</a:t>
              </a:r>
              <a:r>
                <a:rPr lang="zh-CN" altLang="en-US" sz="1400" dirty="0"/>
                <a:t>已占用</a:t>
              </a:r>
              <a:r>
                <a:rPr lang="en-US" altLang="zh-CN" sz="1400" dirty="0" err="1"/>
                <a:t>R</a:t>
              </a:r>
              <a:r>
                <a:rPr lang="en-US" altLang="zh-CN" sz="1400" baseline="-25000" dirty="0" err="1"/>
                <a:t>j</a:t>
              </a:r>
              <a:r>
                <a:rPr lang="zh-CN" altLang="en-US" sz="1400" dirty="0"/>
                <a:t>的一个实例</a:t>
              </a:r>
            </a:p>
          </p:txBody>
        </p:sp>
        <p:grpSp>
          <p:nvGrpSpPr>
            <p:cNvPr id="75" name="组合 53"/>
            <p:cNvGrpSpPr/>
            <p:nvPr/>
          </p:nvGrpSpPr>
          <p:grpSpPr>
            <a:xfrm>
              <a:off x="5161192" y="3867646"/>
              <a:ext cx="1237606" cy="821770"/>
              <a:chOff x="4610100" y="3495682"/>
              <a:chExt cx="1237606" cy="821770"/>
            </a:xfrm>
          </p:grpSpPr>
          <p:sp>
            <p:nvSpPr>
              <p:cNvPr id="90" name="Oval 22"/>
              <p:cNvSpPr>
                <a:spLocks noChangeArrowheads="1"/>
              </p:cNvSpPr>
              <p:nvPr/>
            </p:nvSpPr>
            <p:spPr bwMode="auto">
              <a:xfrm>
                <a:off x="4610100" y="3495682"/>
                <a:ext cx="495300" cy="495300"/>
              </a:xfrm>
              <a:prstGeom prst="ellipse">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round/>
              </a:ln>
            </p:spPr>
            <p:txBody>
              <a:bodyPr wrap="none" anchor="ctr"/>
              <a:lstStyle/>
              <a:p>
                <a:pPr algn="ctr" eaLnBrk="1" fontAlgn="auto" hangingPunct="1">
                  <a:spcBef>
                    <a:spcPts val="0"/>
                  </a:spcBef>
                  <a:spcAft>
                    <a:spcPts val="0"/>
                  </a:spcAft>
                </a:pPr>
                <a:r>
                  <a:rPr lang="en-US" altLang="zh-CN" b="1" dirty="0">
                    <a:solidFill>
                      <a:srgbClr val="11576A"/>
                    </a:solidFill>
                    <a:latin typeface="微软雅黑"/>
                    <a:ea typeface="微软雅黑"/>
                  </a:rPr>
                  <a:t>P</a:t>
                </a:r>
                <a:r>
                  <a:rPr lang="en-US" altLang="zh-CN" b="1" baseline="-25000" dirty="0">
                    <a:solidFill>
                      <a:srgbClr val="11576A"/>
                    </a:solidFill>
                    <a:latin typeface="微软雅黑"/>
                    <a:ea typeface="微软雅黑"/>
                  </a:rPr>
                  <a:t>i</a:t>
                </a:r>
              </a:p>
            </p:txBody>
          </p:sp>
          <p:sp>
            <p:nvSpPr>
              <p:cNvPr id="91" name="Text Box 30"/>
              <p:cNvSpPr txBox="1">
                <a:spLocks noChangeArrowheads="1"/>
              </p:cNvSpPr>
              <p:nvPr/>
            </p:nvSpPr>
            <p:spPr bwMode="auto">
              <a:xfrm>
                <a:off x="5454650" y="3948120"/>
                <a:ext cx="393056" cy="369332"/>
              </a:xfrm>
              <a:prstGeom prst="rect">
                <a:avLst/>
              </a:prstGeom>
              <a:noFill/>
              <a:ln w="28575">
                <a:noFill/>
              </a:ln>
            </p:spPr>
            <p:txBody>
              <a:bodyPr wrap="none" anchor="ctr">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algn="ctr" eaLnBrk="1" fontAlgn="auto" hangingPunct="1">
                  <a:spcBef>
                    <a:spcPct val="50000"/>
                  </a:spcBef>
                  <a:spcAft>
                    <a:spcPts val="0"/>
                  </a:spcAft>
                </a:pPr>
                <a:r>
                  <a:rPr lang="en-US" altLang="zh-CN" sz="1800" b="1" dirty="0" err="1">
                    <a:solidFill>
                      <a:srgbClr val="11576A"/>
                    </a:solidFill>
                    <a:latin typeface="微软雅黑"/>
                    <a:ea typeface="微软雅黑"/>
                    <a:cs typeface="+mn-cs"/>
                  </a:rPr>
                  <a:t>R</a:t>
                </a:r>
                <a:r>
                  <a:rPr lang="en-US" altLang="zh-CN" sz="1800" b="1" baseline="-25000" dirty="0" err="1">
                    <a:solidFill>
                      <a:srgbClr val="11576A"/>
                    </a:solidFill>
                    <a:latin typeface="微软雅黑"/>
                    <a:ea typeface="微软雅黑"/>
                    <a:cs typeface="+mn-cs"/>
                  </a:rPr>
                  <a:t>j</a:t>
                </a:r>
                <a:endParaRPr lang="en-US" altLang="zh-CN" sz="1800" b="1" baseline="-25000" dirty="0">
                  <a:solidFill>
                    <a:srgbClr val="11576A"/>
                  </a:solidFill>
                  <a:latin typeface="微软雅黑"/>
                  <a:ea typeface="微软雅黑"/>
                  <a:cs typeface="+mn-cs"/>
                </a:endParaRPr>
              </a:p>
            </p:txBody>
          </p:sp>
          <p:sp>
            <p:nvSpPr>
              <p:cNvPr id="92" name="Line 29"/>
              <p:cNvSpPr>
                <a:spLocks noChangeShapeType="1"/>
              </p:cNvSpPr>
              <p:nvPr/>
            </p:nvSpPr>
            <p:spPr bwMode="auto">
              <a:xfrm flipH="1">
                <a:off x="5076825" y="3705232"/>
                <a:ext cx="476250" cy="104775"/>
              </a:xfrm>
              <a:prstGeom prst="line">
                <a:avLst/>
              </a:prstGeom>
              <a:gradFill>
                <a:gsLst>
                  <a:gs pos="100000">
                    <a:srgbClr val="FDD000"/>
                  </a:gs>
                  <a:gs pos="0">
                    <a:srgbClr val="FFF9B1"/>
                  </a:gs>
                  <a:gs pos="100000">
                    <a:schemeClr val="accent1">
                      <a:tint val="23500"/>
                      <a:satMod val="160000"/>
                    </a:schemeClr>
                  </a:gs>
                </a:gsLst>
                <a:lin ang="5400000" scaled="0"/>
              </a:gradFill>
              <a:ln w="38100">
                <a:solidFill>
                  <a:srgbClr val="11576A"/>
                </a:solidFill>
                <a:round/>
                <a:tailEnd type="triangle" w="med" len="me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grpSp>
      <p:grpSp>
        <p:nvGrpSpPr>
          <p:cNvPr id="3" name="组合 2"/>
          <p:cNvGrpSpPr/>
          <p:nvPr/>
        </p:nvGrpSpPr>
        <p:grpSpPr>
          <a:xfrm>
            <a:off x="5959710" y="3162289"/>
            <a:ext cx="2680776" cy="474631"/>
            <a:chOff x="5959710" y="2305038"/>
            <a:chExt cx="2680776" cy="474631"/>
          </a:xfrm>
        </p:grpSpPr>
        <p:sp>
          <p:nvSpPr>
            <p:cNvPr id="70" name="内容占位符 2"/>
            <p:cNvSpPr txBox="1"/>
            <p:nvPr/>
          </p:nvSpPr>
          <p:spPr>
            <a:xfrm>
              <a:off x="6497346" y="2351041"/>
              <a:ext cx="214314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eaLnBrk="1" fontAlgn="auto" hangingPunct="1">
                <a:spcBef>
                  <a:spcPct val="20000"/>
                </a:spcBef>
                <a:spcAft>
                  <a:spcPts val="0"/>
                </a:spcAft>
              </a:pPr>
              <a:r>
                <a:rPr lang="zh-CN" altLang="en-US" sz="1400" dirty="0"/>
                <a:t>有</a:t>
              </a:r>
              <a:r>
                <a:rPr lang="en-US" altLang="zh-CN" sz="1400" dirty="0"/>
                <a:t>4</a:t>
              </a:r>
              <a:r>
                <a:rPr lang="zh-CN" altLang="en-US" sz="1400" dirty="0"/>
                <a:t>个实例的资源</a:t>
              </a:r>
            </a:p>
          </p:txBody>
        </p:sp>
        <p:grpSp>
          <p:nvGrpSpPr>
            <p:cNvPr id="76" name="组 9"/>
            <p:cNvGrpSpPr/>
            <p:nvPr/>
          </p:nvGrpSpPr>
          <p:grpSpPr>
            <a:xfrm>
              <a:off x="5959710" y="2305038"/>
              <a:ext cx="438150" cy="419100"/>
              <a:chOff x="1808218" y="1873238"/>
              <a:chExt cx="438150" cy="419100"/>
            </a:xfrm>
          </p:grpSpPr>
          <p:sp>
            <p:nvSpPr>
              <p:cNvPr id="84" name="Rectangle 6"/>
              <p:cNvSpPr>
                <a:spLocks noChangeArrowheads="1"/>
              </p:cNvSpPr>
              <p:nvPr/>
            </p:nvSpPr>
            <p:spPr bwMode="auto">
              <a:xfrm>
                <a:off x="1808218" y="1873238"/>
                <a:ext cx="438150" cy="4191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nvGrpSpPr>
              <p:cNvPr id="85" name="组 6"/>
              <p:cNvGrpSpPr/>
              <p:nvPr/>
            </p:nvGrpSpPr>
            <p:grpSpPr>
              <a:xfrm>
                <a:off x="1907704" y="1959694"/>
                <a:ext cx="252016" cy="252016"/>
                <a:chOff x="683568" y="1707654"/>
                <a:chExt cx="252016" cy="252016"/>
              </a:xfrm>
            </p:grpSpPr>
            <p:sp>
              <p:nvSpPr>
                <p:cNvPr id="86" name="椭圆 85"/>
                <p:cNvSpPr>
                  <a:spLocks noChangeAspect="1"/>
                </p:cNvSpPr>
                <p:nvPr/>
              </p:nvSpPr>
              <p:spPr>
                <a:xfrm>
                  <a:off x="683568" y="1707654"/>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87" name="椭圆 86"/>
                <p:cNvSpPr>
                  <a:spLocks noChangeAspect="1"/>
                </p:cNvSpPr>
                <p:nvPr/>
              </p:nvSpPr>
              <p:spPr>
                <a:xfrm>
                  <a:off x="827584" y="1851670"/>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88" name="椭圆 87"/>
                <p:cNvSpPr>
                  <a:spLocks noChangeAspect="1"/>
                </p:cNvSpPr>
                <p:nvPr/>
              </p:nvSpPr>
              <p:spPr>
                <a:xfrm>
                  <a:off x="827584" y="1707654"/>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89" name="椭圆 88"/>
                <p:cNvSpPr>
                  <a:spLocks noChangeAspect="1"/>
                </p:cNvSpPr>
                <p:nvPr/>
              </p:nvSpPr>
              <p:spPr>
                <a:xfrm>
                  <a:off x="683568" y="1851670"/>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grpSp>
        </p:grpSp>
      </p:grpSp>
      <p:grpSp>
        <p:nvGrpSpPr>
          <p:cNvPr id="4" name="组合 3"/>
          <p:cNvGrpSpPr/>
          <p:nvPr/>
        </p:nvGrpSpPr>
        <p:grpSpPr>
          <a:xfrm>
            <a:off x="5123092" y="3797300"/>
            <a:ext cx="3304018" cy="850344"/>
            <a:chOff x="5123092" y="2940050"/>
            <a:chExt cx="3304018" cy="850344"/>
          </a:xfrm>
        </p:grpSpPr>
        <p:sp>
          <p:nvSpPr>
            <p:cNvPr id="71" name="内容占位符 2"/>
            <p:cNvSpPr txBox="1"/>
            <p:nvPr/>
          </p:nvSpPr>
          <p:spPr>
            <a:xfrm>
              <a:off x="6498284" y="3087652"/>
              <a:ext cx="192882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eaLnBrk="1" fontAlgn="auto" hangingPunct="1">
                <a:spcBef>
                  <a:spcPct val="20000"/>
                </a:spcBef>
                <a:spcAft>
                  <a:spcPts val="0"/>
                </a:spcAft>
              </a:pPr>
              <a:r>
                <a:rPr lang="en-US" altLang="zh-CN" sz="1400" dirty="0"/>
                <a:t>P</a:t>
              </a:r>
              <a:r>
                <a:rPr lang="en-US" altLang="zh-CN" sz="1400" baseline="-25000" dirty="0"/>
                <a:t>i</a:t>
              </a:r>
              <a:r>
                <a:rPr lang="zh-CN" altLang="en-US" sz="1400" dirty="0"/>
                <a:t>请求</a:t>
              </a:r>
              <a:r>
                <a:rPr lang="en-US" altLang="zh-CN" sz="1400" dirty="0" err="1"/>
                <a:t>R</a:t>
              </a:r>
              <a:r>
                <a:rPr lang="en-US" altLang="zh-CN" sz="1400" baseline="-25000" dirty="0" err="1"/>
                <a:t>j</a:t>
              </a:r>
              <a:r>
                <a:rPr lang="zh-CN" altLang="en-US" sz="1400" dirty="0"/>
                <a:t>实例</a:t>
              </a:r>
            </a:p>
          </p:txBody>
        </p:sp>
        <p:grpSp>
          <p:nvGrpSpPr>
            <p:cNvPr id="74" name="组合 54"/>
            <p:cNvGrpSpPr/>
            <p:nvPr/>
          </p:nvGrpSpPr>
          <p:grpSpPr>
            <a:xfrm>
              <a:off x="5123092" y="2940050"/>
              <a:ext cx="1285231" cy="850344"/>
              <a:chOff x="4572000" y="2508250"/>
              <a:chExt cx="1285231" cy="850344"/>
            </a:xfrm>
          </p:grpSpPr>
          <p:sp>
            <p:nvSpPr>
              <p:cNvPr id="93" name="Oval 12"/>
              <p:cNvSpPr>
                <a:spLocks noChangeArrowheads="1"/>
              </p:cNvSpPr>
              <p:nvPr/>
            </p:nvSpPr>
            <p:spPr bwMode="auto">
              <a:xfrm>
                <a:off x="4572000" y="2508250"/>
                <a:ext cx="495300" cy="495300"/>
              </a:xfrm>
              <a:prstGeom prst="ellipse">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round/>
              </a:ln>
            </p:spPr>
            <p:txBody>
              <a:bodyPr wrap="none" anchor="ctr"/>
              <a:lstStyle/>
              <a:p>
                <a:pPr algn="ctr" eaLnBrk="1" fontAlgn="auto" hangingPunct="1">
                  <a:spcBef>
                    <a:spcPts val="0"/>
                  </a:spcBef>
                  <a:spcAft>
                    <a:spcPts val="0"/>
                  </a:spcAft>
                </a:pPr>
                <a:r>
                  <a:rPr lang="en-US" altLang="zh-CN" b="1" dirty="0">
                    <a:solidFill>
                      <a:srgbClr val="11576A"/>
                    </a:solidFill>
                    <a:latin typeface="微软雅黑"/>
                    <a:ea typeface="微软雅黑"/>
                  </a:rPr>
                  <a:t>P</a:t>
                </a:r>
                <a:r>
                  <a:rPr lang="en-US" altLang="zh-CN" b="1" baseline="-25000" dirty="0">
                    <a:solidFill>
                      <a:srgbClr val="11576A"/>
                    </a:solidFill>
                    <a:latin typeface="微软雅黑"/>
                    <a:ea typeface="微软雅黑"/>
                  </a:rPr>
                  <a:t>i</a:t>
                </a:r>
                <a:endParaRPr lang="en-US" altLang="zh-CN" b="1" dirty="0">
                  <a:solidFill>
                    <a:srgbClr val="11576A"/>
                  </a:solidFill>
                  <a:latin typeface="微软雅黑"/>
                  <a:ea typeface="微软雅黑"/>
                </a:endParaRPr>
              </a:p>
            </p:txBody>
          </p:sp>
          <p:sp>
            <p:nvSpPr>
              <p:cNvPr id="94" name="Line 19"/>
              <p:cNvSpPr>
                <a:spLocks noChangeShapeType="1"/>
              </p:cNvSpPr>
              <p:nvPr/>
            </p:nvSpPr>
            <p:spPr bwMode="auto">
              <a:xfrm>
                <a:off x="5076825" y="2774950"/>
                <a:ext cx="304800" cy="0"/>
              </a:xfrm>
              <a:prstGeom prst="line">
                <a:avLst/>
              </a:prstGeom>
              <a:gradFill>
                <a:gsLst>
                  <a:gs pos="100000">
                    <a:srgbClr val="FDD000"/>
                  </a:gs>
                  <a:gs pos="0">
                    <a:srgbClr val="FFF9B1"/>
                  </a:gs>
                  <a:gs pos="100000">
                    <a:schemeClr val="accent1">
                      <a:tint val="23500"/>
                      <a:satMod val="160000"/>
                    </a:schemeClr>
                  </a:gs>
                </a:gsLst>
                <a:lin ang="5400000" scaled="0"/>
              </a:gradFill>
              <a:ln w="38100">
                <a:solidFill>
                  <a:srgbClr val="11576A"/>
                </a:solidFill>
                <a:round/>
                <a:tailEnd type="triangle" w="med" len="med"/>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sp>
            <p:nvSpPr>
              <p:cNvPr id="95" name="Text Box 20"/>
              <p:cNvSpPr txBox="1">
                <a:spLocks noChangeArrowheads="1"/>
              </p:cNvSpPr>
              <p:nvPr/>
            </p:nvSpPr>
            <p:spPr bwMode="auto">
              <a:xfrm>
                <a:off x="5464175" y="2989262"/>
                <a:ext cx="393056" cy="369332"/>
              </a:xfrm>
              <a:prstGeom prst="rect">
                <a:avLst/>
              </a:prstGeom>
              <a:noFill/>
              <a:ln w="28575">
                <a:noFill/>
              </a:ln>
            </p:spPr>
            <p:txBody>
              <a:bodyPr wrap="none" anchor="ctr">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algn="ctr" eaLnBrk="1" fontAlgn="auto" hangingPunct="1">
                  <a:spcBef>
                    <a:spcPct val="50000"/>
                  </a:spcBef>
                  <a:spcAft>
                    <a:spcPts val="0"/>
                  </a:spcAft>
                </a:pPr>
                <a:r>
                  <a:rPr lang="en-US" altLang="zh-CN" sz="1800" b="1" dirty="0" err="1">
                    <a:solidFill>
                      <a:srgbClr val="11576A"/>
                    </a:solidFill>
                    <a:latin typeface="微软雅黑"/>
                    <a:ea typeface="微软雅黑"/>
                    <a:cs typeface="+mn-cs"/>
                  </a:rPr>
                  <a:t>R</a:t>
                </a:r>
                <a:r>
                  <a:rPr lang="en-US" altLang="zh-CN" sz="1800" b="1" baseline="-25000" dirty="0" err="1">
                    <a:solidFill>
                      <a:srgbClr val="11576A"/>
                    </a:solidFill>
                    <a:latin typeface="微软雅黑"/>
                    <a:ea typeface="微软雅黑"/>
                    <a:cs typeface="+mn-cs"/>
                  </a:rPr>
                  <a:t>j</a:t>
                </a:r>
                <a:endParaRPr lang="en-US" altLang="zh-CN" sz="1800" b="1" baseline="-25000" dirty="0">
                  <a:solidFill>
                    <a:srgbClr val="11576A"/>
                  </a:solidFill>
                  <a:latin typeface="微软雅黑"/>
                  <a:ea typeface="微软雅黑"/>
                  <a:cs typeface="+mn-cs"/>
                </a:endParaRPr>
              </a:p>
            </p:txBody>
          </p:sp>
        </p:grpSp>
        <p:grpSp>
          <p:nvGrpSpPr>
            <p:cNvPr id="77" name="组 55"/>
            <p:cNvGrpSpPr/>
            <p:nvPr/>
          </p:nvGrpSpPr>
          <p:grpSpPr>
            <a:xfrm>
              <a:off x="5987188" y="3003550"/>
              <a:ext cx="438150" cy="419100"/>
              <a:chOff x="1808218" y="1873238"/>
              <a:chExt cx="438150" cy="419100"/>
            </a:xfrm>
          </p:grpSpPr>
          <p:sp>
            <p:nvSpPr>
              <p:cNvPr id="78" name="Rectangle 6"/>
              <p:cNvSpPr>
                <a:spLocks noChangeArrowheads="1"/>
              </p:cNvSpPr>
              <p:nvPr/>
            </p:nvSpPr>
            <p:spPr bwMode="auto">
              <a:xfrm>
                <a:off x="1808218" y="1873238"/>
                <a:ext cx="438150" cy="4191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ln>
            </p:spPr>
            <p:txBody>
              <a:bodyPr wrap="none" anchor="ctr"/>
              <a:lstStyle/>
              <a:p>
                <a:pPr eaLnBrk="1" fontAlgn="auto" hangingPunct="1">
                  <a:spcBef>
                    <a:spcPts val="0"/>
                  </a:spcBef>
                  <a:spcAft>
                    <a:spcPts val="0"/>
                  </a:spcAft>
                </a:pPr>
                <a:endParaRPr lang="zh-CN" altLang="en-US">
                  <a:solidFill>
                    <a:prstClr val="black"/>
                  </a:solidFill>
                  <a:latin typeface="MS PGothic"/>
                  <a:ea typeface="微软雅黑"/>
                </a:endParaRPr>
              </a:p>
            </p:txBody>
          </p:sp>
          <p:grpSp>
            <p:nvGrpSpPr>
              <p:cNvPr id="79" name="组 57"/>
              <p:cNvGrpSpPr/>
              <p:nvPr/>
            </p:nvGrpSpPr>
            <p:grpSpPr>
              <a:xfrm>
                <a:off x="1907704" y="1959694"/>
                <a:ext cx="252016" cy="252016"/>
                <a:chOff x="683568" y="1707654"/>
                <a:chExt cx="252016" cy="252016"/>
              </a:xfrm>
            </p:grpSpPr>
            <p:sp>
              <p:nvSpPr>
                <p:cNvPr id="80" name="椭圆 79"/>
                <p:cNvSpPr>
                  <a:spLocks noChangeAspect="1"/>
                </p:cNvSpPr>
                <p:nvPr/>
              </p:nvSpPr>
              <p:spPr>
                <a:xfrm>
                  <a:off x="683568" y="1707654"/>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81" name="椭圆 80"/>
                <p:cNvSpPr>
                  <a:spLocks noChangeAspect="1"/>
                </p:cNvSpPr>
                <p:nvPr/>
              </p:nvSpPr>
              <p:spPr>
                <a:xfrm>
                  <a:off x="827584" y="1851670"/>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82" name="椭圆 81"/>
                <p:cNvSpPr>
                  <a:spLocks noChangeAspect="1"/>
                </p:cNvSpPr>
                <p:nvPr/>
              </p:nvSpPr>
              <p:spPr>
                <a:xfrm>
                  <a:off x="827584" y="1707654"/>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83" name="椭圆 82"/>
                <p:cNvSpPr>
                  <a:spLocks noChangeAspect="1"/>
                </p:cNvSpPr>
                <p:nvPr/>
              </p:nvSpPr>
              <p:spPr>
                <a:xfrm>
                  <a:off x="683568" y="1851670"/>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grpSp>
        </p:grpSp>
      </p:grpSp>
      <p:grpSp>
        <p:nvGrpSpPr>
          <p:cNvPr id="18" name="组合 17"/>
          <p:cNvGrpSpPr/>
          <p:nvPr/>
        </p:nvGrpSpPr>
        <p:grpSpPr>
          <a:xfrm>
            <a:off x="260984" y="3537748"/>
            <a:ext cx="4870115" cy="1013623"/>
            <a:chOff x="260983" y="2680497"/>
            <a:chExt cx="4870115" cy="1013623"/>
          </a:xfrm>
        </p:grpSpPr>
        <p:grpSp>
          <p:nvGrpSpPr>
            <p:cNvPr id="10" name="组合 9"/>
            <p:cNvGrpSpPr/>
            <p:nvPr/>
          </p:nvGrpSpPr>
          <p:grpSpPr>
            <a:xfrm>
              <a:off x="260983" y="2680497"/>
              <a:ext cx="4870115" cy="1013623"/>
              <a:chOff x="260983" y="2680497"/>
              <a:chExt cx="4870115" cy="1013623"/>
            </a:xfrm>
          </p:grpSpPr>
          <p:pic>
            <p:nvPicPr>
              <p:cNvPr id="29" name="图片 28" descr="小点1.png"/>
              <p:cNvPicPr>
                <a:picLocks noChangeAspect="1"/>
              </p:cNvPicPr>
              <p:nvPr/>
            </p:nvPicPr>
            <p:blipFill>
              <a:blip r:embed="rId2" cstate="print"/>
              <a:stretch>
                <a:fillRect/>
              </a:stretch>
            </p:blipFill>
            <p:spPr>
              <a:xfrm>
                <a:off x="678512" y="3101984"/>
                <a:ext cx="151066" cy="148997"/>
              </a:xfrm>
              <a:prstGeom prst="rect">
                <a:avLst/>
              </a:prstGeom>
              <a:effectLst/>
            </p:spPr>
          </p:pic>
          <p:sp>
            <p:nvSpPr>
              <p:cNvPr id="30" name="内容占位符 2"/>
              <p:cNvSpPr txBox="1"/>
              <p:nvPr/>
            </p:nvSpPr>
            <p:spPr>
              <a:xfrm>
                <a:off x="811075" y="3008240"/>
                <a:ext cx="1462503" cy="35559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t>资源请求边</a:t>
                </a:r>
              </a:p>
            </p:txBody>
          </p:sp>
          <p:sp>
            <p:nvSpPr>
              <p:cNvPr id="28" name="内容占位符 2"/>
              <p:cNvSpPr txBox="1"/>
              <p:nvPr/>
            </p:nvSpPr>
            <p:spPr>
              <a:xfrm>
                <a:off x="1058728" y="3306768"/>
                <a:ext cx="4072370" cy="3873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2" eaLnBrk="1" fontAlgn="auto" hangingPunct="1">
                  <a:spcBef>
                    <a:spcPts val="0"/>
                  </a:spcBef>
                  <a:spcAft>
                    <a:spcPts val="0"/>
                  </a:spcAft>
                </a:pPr>
                <a:r>
                  <a:rPr lang="zh-CN" altLang="en-US" sz="2000" dirty="0"/>
                  <a:t>进程</a:t>
                </a:r>
                <a:r>
                  <a:rPr lang="en-US" altLang="zh-CN" sz="2000" dirty="0"/>
                  <a:t>P</a:t>
                </a:r>
                <a:r>
                  <a:rPr lang="en-US" altLang="zh-CN" sz="2000" baseline="-25000" dirty="0"/>
                  <a:t>i</a:t>
                </a:r>
                <a:r>
                  <a:rPr lang="zh-CN" altLang="en-US" sz="2000" dirty="0"/>
                  <a:t>请求资源</a:t>
                </a:r>
                <a:r>
                  <a:rPr lang="en-US" altLang="zh-CN" sz="2000" dirty="0" err="1"/>
                  <a:t>R</a:t>
                </a:r>
                <a:r>
                  <a:rPr lang="en-US" altLang="zh-CN" sz="2000" baseline="-25000" dirty="0" err="1"/>
                  <a:t>j</a:t>
                </a:r>
                <a:r>
                  <a:rPr lang="zh-CN" altLang="en-US" sz="2000" dirty="0"/>
                  <a:t>：</a:t>
                </a:r>
                <a:r>
                  <a:rPr lang="en-US" altLang="zh-CN" sz="2000" dirty="0"/>
                  <a:t>P</a:t>
                </a:r>
                <a:r>
                  <a:rPr lang="en-US" altLang="zh-CN" sz="2000" baseline="-25000" dirty="0"/>
                  <a:t>i</a:t>
                </a:r>
                <a:r>
                  <a:rPr lang="en-US" altLang="zh-CN" sz="2000" spc="-150" dirty="0"/>
                  <a:t>      </a:t>
                </a:r>
                <a:r>
                  <a:rPr lang="en-US" altLang="zh-CN" sz="2000" dirty="0" err="1">
                    <a:sym typeface="Symbol" panose="05050102010706020507" charset="0"/>
                  </a:rPr>
                  <a:t>R</a:t>
                </a:r>
                <a:r>
                  <a:rPr lang="en-US" altLang="zh-CN" sz="2000" baseline="-25000" dirty="0" err="1">
                    <a:sym typeface="Symbol" panose="05050102010706020507" charset="0"/>
                  </a:rPr>
                  <a:t>j</a:t>
                </a:r>
                <a:endParaRPr lang="en-US" altLang="zh-CN" sz="2000" baseline="-25000" dirty="0">
                  <a:sym typeface="Symbol" panose="05050102010706020507" charset="0"/>
                </a:endParaRPr>
              </a:p>
            </p:txBody>
          </p:sp>
          <p:sp>
            <p:nvSpPr>
              <p:cNvPr id="20" name="内容占位符 2"/>
              <p:cNvSpPr txBox="1"/>
              <p:nvPr/>
            </p:nvSpPr>
            <p:spPr>
              <a:xfrm>
                <a:off x="559066" y="2680497"/>
                <a:ext cx="1714512" cy="35719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ct val="20000"/>
                  </a:spcBef>
                  <a:spcAft>
                    <a:spcPts val="0"/>
                  </a:spcAft>
                </a:pPr>
                <a:r>
                  <a:rPr lang="zh-CN" altLang="en-US" dirty="0"/>
                  <a:t>两类有向边</a:t>
                </a:r>
              </a:p>
            </p:txBody>
          </p:sp>
          <p:sp>
            <p:nvSpPr>
              <p:cNvPr id="21" name="TextBox 20"/>
              <p:cNvSpPr txBox="1"/>
              <p:nvPr/>
            </p:nvSpPr>
            <p:spPr>
              <a:xfrm>
                <a:off x="260983" y="2680497"/>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cxnSp>
          <p:nvCxnSpPr>
            <p:cNvPr id="15" name="直接箭头连接符 14"/>
            <p:cNvCxnSpPr/>
            <p:nvPr/>
          </p:nvCxnSpPr>
          <p:spPr>
            <a:xfrm>
              <a:off x="3635896" y="3533089"/>
              <a:ext cx="288032"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678512" y="4524562"/>
            <a:ext cx="4381148" cy="706442"/>
            <a:chOff x="678512" y="3667312"/>
            <a:chExt cx="4381148" cy="706442"/>
          </a:xfrm>
        </p:grpSpPr>
        <p:grpSp>
          <p:nvGrpSpPr>
            <p:cNvPr id="11" name="组合 10"/>
            <p:cNvGrpSpPr/>
            <p:nvPr/>
          </p:nvGrpSpPr>
          <p:grpSpPr>
            <a:xfrm>
              <a:off x="678512" y="3667312"/>
              <a:ext cx="4381148" cy="706442"/>
              <a:chOff x="678512" y="3589344"/>
              <a:chExt cx="4381148" cy="706442"/>
            </a:xfrm>
          </p:grpSpPr>
          <p:pic>
            <p:nvPicPr>
              <p:cNvPr id="31" name="图片 30" descr="小点1.png"/>
              <p:cNvPicPr>
                <a:picLocks noChangeAspect="1"/>
              </p:cNvPicPr>
              <p:nvPr/>
            </p:nvPicPr>
            <p:blipFill>
              <a:blip r:embed="rId2" cstate="print"/>
              <a:stretch>
                <a:fillRect/>
              </a:stretch>
            </p:blipFill>
            <p:spPr>
              <a:xfrm>
                <a:off x="678512" y="3681420"/>
                <a:ext cx="151066" cy="148997"/>
              </a:xfrm>
              <a:prstGeom prst="rect">
                <a:avLst/>
              </a:prstGeom>
              <a:effectLst/>
            </p:spPr>
          </p:pic>
          <p:sp>
            <p:nvSpPr>
              <p:cNvPr id="32" name="内容占位符 2"/>
              <p:cNvSpPr txBox="1"/>
              <p:nvPr/>
            </p:nvSpPr>
            <p:spPr>
              <a:xfrm>
                <a:off x="811076" y="3589344"/>
                <a:ext cx="1462502" cy="3905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t>资源分配边</a:t>
                </a:r>
              </a:p>
            </p:txBody>
          </p:sp>
          <p:sp>
            <p:nvSpPr>
              <p:cNvPr id="22" name="内容占位符 2"/>
              <p:cNvSpPr txBox="1"/>
              <p:nvPr/>
            </p:nvSpPr>
            <p:spPr>
              <a:xfrm>
                <a:off x="1058728" y="3908434"/>
                <a:ext cx="4000932" cy="38735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lvl="1" indent="0" eaLnBrk="1" fontAlgn="auto" hangingPunct="1">
                  <a:lnSpc>
                    <a:spcPct val="90000"/>
                  </a:lnSpc>
                  <a:spcBef>
                    <a:spcPts val="0"/>
                  </a:spcBef>
                  <a:spcAft>
                    <a:spcPts val="0"/>
                  </a:spcAft>
                </a:pPr>
                <a:r>
                  <a:rPr lang="zh-CN" altLang="en-US" dirty="0">
                    <a:sym typeface="Symbol" panose="05050102010706020507" charset="0"/>
                  </a:rPr>
                  <a:t>资源</a:t>
                </a:r>
                <a:r>
                  <a:rPr lang="en-US" altLang="zh-CN" dirty="0" err="1">
                    <a:sym typeface="Symbol" panose="05050102010706020507" charset="0"/>
                  </a:rPr>
                  <a:t>R</a:t>
                </a:r>
                <a:r>
                  <a:rPr lang="en-US" altLang="zh-CN" baseline="-25000" dirty="0" err="1">
                    <a:sym typeface="Symbol" panose="05050102010706020507" charset="0"/>
                  </a:rPr>
                  <a:t>j</a:t>
                </a:r>
                <a:r>
                  <a:rPr lang="zh-CN" altLang="en-US" dirty="0">
                    <a:sym typeface="Symbol" panose="05050102010706020507" charset="0"/>
                  </a:rPr>
                  <a:t>已分配给进程</a:t>
                </a:r>
                <a:r>
                  <a:rPr lang="en-US" altLang="zh-CN" dirty="0">
                    <a:sym typeface="Symbol" panose="05050102010706020507" charset="0"/>
                  </a:rPr>
                  <a:t>P</a:t>
                </a:r>
                <a:r>
                  <a:rPr lang="en-US" altLang="zh-CN" baseline="-25000" dirty="0">
                    <a:sym typeface="Symbol" panose="05050102010706020507" charset="0"/>
                  </a:rPr>
                  <a:t>i</a:t>
                </a:r>
                <a:r>
                  <a:rPr lang="zh-CN" altLang="en-US" dirty="0">
                    <a:sym typeface="Symbol" panose="05050102010706020507" charset="0"/>
                  </a:rPr>
                  <a:t>：</a:t>
                </a:r>
                <a:r>
                  <a:rPr lang="en-US" altLang="zh-CN" dirty="0" err="1"/>
                  <a:t>R</a:t>
                </a:r>
                <a:r>
                  <a:rPr lang="en-US" altLang="zh-CN" baseline="-25000" dirty="0" err="1"/>
                  <a:t>j</a:t>
                </a:r>
                <a:r>
                  <a:rPr lang="zh-CN" altLang="en-US" dirty="0"/>
                  <a:t>     </a:t>
                </a:r>
                <a:r>
                  <a:rPr lang="en-US" altLang="zh-CN" dirty="0"/>
                  <a:t>P</a:t>
                </a:r>
                <a:r>
                  <a:rPr lang="en-US" altLang="zh-CN" baseline="-25000" dirty="0"/>
                  <a:t>i</a:t>
                </a:r>
                <a:endParaRPr lang="zh-CN" altLang="en-US" baseline="-25000" dirty="0"/>
              </a:p>
            </p:txBody>
          </p:sp>
        </p:grpSp>
        <p:cxnSp>
          <p:nvCxnSpPr>
            <p:cNvPr id="65" name="直接箭头连接符 64"/>
            <p:cNvCxnSpPr/>
            <p:nvPr/>
          </p:nvCxnSpPr>
          <p:spPr>
            <a:xfrm>
              <a:off x="4170710" y="4170126"/>
              <a:ext cx="288032"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left)">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063230"/>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algn="ctr" eaLnBrk="1" fontAlgn="auto" hangingPunct="1">
              <a:spcAft>
                <a:spcPts val="0"/>
              </a:spcAft>
              <a:defRPr/>
            </a:pPr>
            <a:r>
              <a:rPr lang="zh-CN" altLang="en-US" dirty="0">
                <a:cs typeface="+mj-cs"/>
              </a:rPr>
              <a:t>资源分配图示例</a:t>
            </a:r>
          </a:p>
        </p:txBody>
      </p:sp>
      <p:sp>
        <p:nvSpPr>
          <p:cNvPr id="58" name="Oval 12"/>
          <p:cNvSpPr>
            <a:spLocks noChangeArrowheads="1"/>
          </p:cNvSpPr>
          <p:nvPr/>
        </p:nvSpPr>
        <p:spPr bwMode="auto">
          <a:xfrm>
            <a:off x="878580" y="2941076"/>
            <a:ext cx="495300" cy="495300"/>
          </a:xfrm>
          <a:prstGeom prst="ellipse">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round/>
          </a:ln>
        </p:spPr>
        <p:txBody>
          <a:bodyPr wrap="none" anchor="ctr"/>
          <a:lstStyle/>
          <a:p>
            <a:pPr algn="ctr">
              <a:buFont typeface="Monotype Sorts" charset="0"/>
              <a:buNone/>
            </a:pPr>
            <a:r>
              <a:rPr lang="en-US" altLang="zh-CN" b="1" dirty="0">
                <a:solidFill>
                  <a:srgbClr val="11576A"/>
                </a:solidFill>
                <a:latin typeface="+mn-ea"/>
              </a:rPr>
              <a:t>P</a:t>
            </a:r>
            <a:r>
              <a:rPr lang="en-US" altLang="zh-CN" b="1" baseline="-25000" dirty="0">
                <a:solidFill>
                  <a:srgbClr val="11576A"/>
                </a:solidFill>
                <a:latin typeface="+mn-ea"/>
              </a:rPr>
              <a:t>1</a:t>
            </a:r>
            <a:endParaRPr lang="en-US" altLang="zh-CN" b="1" dirty="0">
              <a:solidFill>
                <a:srgbClr val="11576A"/>
              </a:solidFill>
              <a:latin typeface="+mn-ea"/>
            </a:endParaRPr>
          </a:p>
        </p:txBody>
      </p:sp>
      <p:sp>
        <p:nvSpPr>
          <p:cNvPr id="59" name="Oval 12"/>
          <p:cNvSpPr>
            <a:spLocks noChangeArrowheads="1"/>
          </p:cNvSpPr>
          <p:nvPr/>
        </p:nvSpPr>
        <p:spPr bwMode="auto">
          <a:xfrm>
            <a:off x="2067308" y="2952217"/>
            <a:ext cx="495300" cy="495300"/>
          </a:xfrm>
          <a:prstGeom prst="ellipse">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round/>
          </a:ln>
        </p:spPr>
        <p:txBody>
          <a:bodyPr wrap="none" anchor="ctr"/>
          <a:lstStyle/>
          <a:p>
            <a:pPr algn="ctr">
              <a:buFont typeface="Monotype Sorts" charset="0"/>
              <a:buNone/>
            </a:pPr>
            <a:r>
              <a:rPr lang="en-US" altLang="zh-CN" b="1" dirty="0">
                <a:solidFill>
                  <a:srgbClr val="11576A"/>
                </a:solidFill>
                <a:latin typeface="+mn-ea"/>
              </a:rPr>
              <a:t>P</a:t>
            </a:r>
            <a:r>
              <a:rPr lang="en-US" altLang="zh-CN" b="1" baseline="-25000" dirty="0">
                <a:solidFill>
                  <a:srgbClr val="11576A"/>
                </a:solidFill>
                <a:latin typeface="+mn-ea"/>
              </a:rPr>
              <a:t>2</a:t>
            </a:r>
            <a:endParaRPr lang="en-US" altLang="zh-CN" b="1" dirty="0">
              <a:solidFill>
                <a:srgbClr val="11576A"/>
              </a:solidFill>
              <a:latin typeface="+mn-ea"/>
            </a:endParaRPr>
          </a:p>
        </p:txBody>
      </p:sp>
      <p:sp>
        <p:nvSpPr>
          <p:cNvPr id="60" name="Oval 12"/>
          <p:cNvSpPr>
            <a:spLocks noChangeArrowheads="1"/>
          </p:cNvSpPr>
          <p:nvPr/>
        </p:nvSpPr>
        <p:spPr bwMode="auto">
          <a:xfrm>
            <a:off x="3284612" y="2941076"/>
            <a:ext cx="495300" cy="495300"/>
          </a:xfrm>
          <a:prstGeom prst="ellipse">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round/>
          </a:ln>
        </p:spPr>
        <p:txBody>
          <a:bodyPr wrap="none" anchor="ctr"/>
          <a:lstStyle/>
          <a:p>
            <a:pPr algn="ctr">
              <a:buFont typeface="Monotype Sorts" charset="0"/>
              <a:buNone/>
            </a:pPr>
            <a:r>
              <a:rPr lang="en-US" altLang="zh-CN" b="1" dirty="0">
                <a:solidFill>
                  <a:srgbClr val="11576A"/>
                </a:solidFill>
                <a:latin typeface="+mn-ea"/>
              </a:rPr>
              <a:t>P</a:t>
            </a:r>
            <a:r>
              <a:rPr lang="en-US" altLang="zh-CN" b="1" baseline="-25000" dirty="0">
                <a:solidFill>
                  <a:srgbClr val="11576A"/>
                </a:solidFill>
                <a:latin typeface="+mn-ea"/>
              </a:rPr>
              <a:t>3</a:t>
            </a:r>
            <a:endParaRPr lang="en-US" altLang="zh-CN" b="1" dirty="0">
              <a:solidFill>
                <a:srgbClr val="11576A"/>
              </a:solidFill>
              <a:latin typeface="+mn-ea"/>
            </a:endParaRPr>
          </a:p>
        </p:txBody>
      </p:sp>
      <p:sp>
        <p:nvSpPr>
          <p:cNvPr id="61" name="Text Box 20"/>
          <p:cNvSpPr txBox="1">
            <a:spLocks noChangeArrowheads="1"/>
          </p:cNvSpPr>
          <p:nvPr/>
        </p:nvSpPr>
        <p:spPr bwMode="auto">
          <a:xfrm>
            <a:off x="1521522" y="1571612"/>
            <a:ext cx="441146" cy="369332"/>
          </a:xfrm>
          <a:prstGeom prst="rect">
            <a:avLst/>
          </a:prstGeom>
          <a:noFill/>
          <a:ln w="28575">
            <a:noFill/>
          </a:ln>
        </p:spPr>
        <p:txBody>
          <a:bodyPr wrap="none" anchor="ctr">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algn="ctr">
              <a:spcBef>
                <a:spcPct val="50000"/>
              </a:spcBef>
            </a:pPr>
            <a:r>
              <a:rPr lang="en-US" altLang="zh-CN" sz="1800" b="1" dirty="0">
                <a:solidFill>
                  <a:srgbClr val="11576A"/>
                </a:solidFill>
                <a:latin typeface="+mn-ea"/>
                <a:ea typeface="+mn-ea"/>
                <a:cs typeface="+mn-cs"/>
              </a:rPr>
              <a:t>R</a:t>
            </a:r>
            <a:r>
              <a:rPr lang="en-US" altLang="zh-CN" sz="1800" b="1" baseline="-25000" dirty="0">
                <a:solidFill>
                  <a:srgbClr val="11576A"/>
                </a:solidFill>
                <a:latin typeface="+mn-ea"/>
                <a:ea typeface="+mn-ea"/>
                <a:cs typeface="+mn-cs"/>
              </a:rPr>
              <a:t>1</a:t>
            </a:r>
          </a:p>
        </p:txBody>
      </p:sp>
      <p:sp>
        <p:nvSpPr>
          <p:cNvPr id="62" name="Text Box 20"/>
          <p:cNvSpPr txBox="1">
            <a:spLocks noChangeArrowheads="1"/>
          </p:cNvSpPr>
          <p:nvPr/>
        </p:nvSpPr>
        <p:spPr bwMode="auto">
          <a:xfrm>
            <a:off x="1521522" y="4727026"/>
            <a:ext cx="441146" cy="369332"/>
          </a:xfrm>
          <a:prstGeom prst="rect">
            <a:avLst/>
          </a:prstGeom>
          <a:noFill/>
          <a:ln w="28575">
            <a:noFill/>
          </a:ln>
        </p:spPr>
        <p:txBody>
          <a:bodyPr wrap="none" anchor="ctr">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algn="ctr">
              <a:spcBef>
                <a:spcPct val="50000"/>
              </a:spcBef>
            </a:pPr>
            <a:r>
              <a:rPr lang="en-US" altLang="zh-CN" sz="1800" b="1" dirty="0">
                <a:solidFill>
                  <a:srgbClr val="11576A"/>
                </a:solidFill>
                <a:latin typeface="+mn-ea"/>
                <a:ea typeface="+mn-ea"/>
                <a:cs typeface="+mn-cs"/>
              </a:rPr>
              <a:t>R</a:t>
            </a:r>
            <a:r>
              <a:rPr lang="en-US" altLang="zh-CN" sz="1800" b="1" baseline="-25000" dirty="0">
                <a:solidFill>
                  <a:srgbClr val="11576A"/>
                </a:solidFill>
                <a:latin typeface="+mn-ea"/>
                <a:ea typeface="+mn-ea"/>
                <a:cs typeface="+mn-cs"/>
              </a:rPr>
              <a:t>2</a:t>
            </a:r>
          </a:p>
        </p:txBody>
      </p:sp>
      <p:sp>
        <p:nvSpPr>
          <p:cNvPr id="63" name="Text Box 20"/>
          <p:cNvSpPr txBox="1">
            <a:spLocks noChangeArrowheads="1"/>
          </p:cNvSpPr>
          <p:nvPr/>
        </p:nvSpPr>
        <p:spPr bwMode="auto">
          <a:xfrm>
            <a:off x="2735968" y="1583754"/>
            <a:ext cx="441146" cy="369332"/>
          </a:xfrm>
          <a:prstGeom prst="rect">
            <a:avLst/>
          </a:prstGeom>
          <a:noFill/>
          <a:ln w="28575">
            <a:noFill/>
          </a:ln>
        </p:spPr>
        <p:txBody>
          <a:bodyPr wrap="none" anchor="ctr">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algn="ctr">
              <a:spcBef>
                <a:spcPct val="50000"/>
              </a:spcBef>
            </a:pPr>
            <a:r>
              <a:rPr lang="en-US" altLang="zh-CN" sz="1800" b="1" dirty="0">
                <a:solidFill>
                  <a:srgbClr val="11576A"/>
                </a:solidFill>
                <a:latin typeface="+mn-ea"/>
                <a:ea typeface="+mn-ea"/>
                <a:cs typeface="+mn-cs"/>
              </a:rPr>
              <a:t>R</a:t>
            </a:r>
            <a:r>
              <a:rPr lang="en-US" altLang="zh-CN" sz="1800" b="1" baseline="-25000" dirty="0">
                <a:solidFill>
                  <a:srgbClr val="11576A"/>
                </a:solidFill>
                <a:latin typeface="+mn-ea"/>
                <a:ea typeface="+mn-ea"/>
                <a:cs typeface="+mn-cs"/>
              </a:rPr>
              <a:t>3</a:t>
            </a:r>
          </a:p>
        </p:txBody>
      </p:sp>
      <p:sp>
        <p:nvSpPr>
          <p:cNvPr id="64" name="Text Box 20"/>
          <p:cNvSpPr txBox="1">
            <a:spLocks noChangeArrowheads="1"/>
          </p:cNvSpPr>
          <p:nvPr/>
        </p:nvSpPr>
        <p:spPr bwMode="auto">
          <a:xfrm>
            <a:off x="2729593" y="5155654"/>
            <a:ext cx="441146" cy="369332"/>
          </a:xfrm>
          <a:prstGeom prst="rect">
            <a:avLst/>
          </a:prstGeom>
          <a:noFill/>
          <a:ln w="28575">
            <a:noFill/>
          </a:ln>
        </p:spPr>
        <p:txBody>
          <a:bodyPr wrap="none" anchor="ctr">
            <a:spAutoFit/>
          </a:bodyPr>
          <a:lstStyle>
            <a:lvl1pPr>
              <a:defRPr sz="2400">
                <a:solidFill>
                  <a:schemeClr val="tx1"/>
                </a:solidFill>
                <a:latin typeface="Times New Roman" panose="02020603050405020304" charset="0"/>
                <a:ea typeface="MS PGothic" panose="020B0600070205080204" charset="-128"/>
                <a:cs typeface="MS PGothic" panose="020B0600070205080204" charset="-128"/>
              </a:defRPr>
            </a:lvl1pPr>
            <a:lvl2pPr>
              <a:defRPr sz="2000">
                <a:solidFill>
                  <a:schemeClr val="folHlink"/>
                </a:solidFill>
                <a:latin typeface="Times New Roman" panose="02020603050405020304" charset="0"/>
                <a:ea typeface="MS PGothic" panose="020B0600070205080204" charset="-128"/>
                <a:cs typeface="MS PGothic" panose="020B0600070205080204" charset="-128"/>
              </a:defRPr>
            </a:lvl2pPr>
            <a:lvl3pPr>
              <a:defRPr sz="2400">
                <a:solidFill>
                  <a:schemeClr val="tx1"/>
                </a:solidFill>
                <a:latin typeface="Times New Roman" panose="02020603050405020304" charset="0"/>
                <a:ea typeface="MS PGothic" panose="020B0600070205080204" charset="-128"/>
                <a:cs typeface="MS PGothic" panose="020B0600070205080204" charset="-128"/>
              </a:defRPr>
            </a:lvl3pPr>
            <a:lvl4pPr>
              <a:defRPr sz="1600">
                <a:solidFill>
                  <a:schemeClr val="tx1"/>
                </a:solidFill>
                <a:latin typeface="Times New Roman" panose="02020603050405020304" charset="0"/>
                <a:ea typeface="MS PGothic" panose="020B0600070205080204" charset="-128"/>
                <a:cs typeface="MS PGothic" panose="020B0600070205080204" charset="-128"/>
              </a:defRPr>
            </a:lvl4pPr>
            <a:lvl5pPr>
              <a:defRPr sz="1400">
                <a:solidFill>
                  <a:schemeClr val="tx1"/>
                </a:solidFill>
                <a:latin typeface="Times New Roman" panose="02020603050405020304" charset="0"/>
                <a:ea typeface="MS PGothic" panose="020B0600070205080204" charset="-128"/>
                <a:cs typeface="MS PGothic" panose="020B0600070205080204" charset="-128"/>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panose="02020603050405020304" charset="0"/>
                <a:ea typeface="MS PGothic" panose="020B0600070205080204" charset="-128"/>
                <a:cs typeface="MS PGothic" panose="020B0600070205080204" charset="-128"/>
              </a:defRPr>
            </a:lvl9pPr>
          </a:lstStyle>
          <a:p>
            <a:pPr algn="ctr">
              <a:spcBef>
                <a:spcPct val="50000"/>
              </a:spcBef>
            </a:pPr>
            <a:r>
              <a:rPr lang="en-US" altLang="zh-CN" sz="1800" b="1" dirty="0">
                <a:solidFill>
                  <a:srgbClr val="11576A"/>
                </a:solidFill>
                <a:latin typeface="+mn-ea"/>
                <a:ea typeface="+mn-ea"/>
                <a:cs typeface="+mn-cs"/>
              </a:rPr>
              <a:t>R</a:t>
            </a:r>
            <a:r>
              <a:rPr lang="en-US" altLang="zh-CN" sz="1800" b="1" baseline="-25000" dirty="0">
                <a:solidFill>
                  <a:srgbClr val="11576A"/>
                </a:solidFill>
                <a:latin typeface="+mn-ea"/>
                <a:ea typeface="+mn-ea"/>
                <a:cs typeface="+mn-cs"/>
              </a:rPr>
              <a:t>4</a:t>
            </a:r>
          </a:p>
        </p:txBody>
      </p:sp>
      <p:grpSp>
        <p:nvGrpSpPr>
          <p:cNvPr id="2" name="组合 66"/>
          <p:cNvGrpSpPr/>
          <p:nvPr/>
        </p:nvGrpSpPr>
        <p:grpSpPr>
          <a:xfrm>
            <a:off x="1378646" y="1940944"/>
            <a:ext cx="714380" cy="500066"/>
            <a:chOff x="3571868" y="1142990"/>
            <a:chExt cx="714380" cy="500066"/>
          </a:xfrm>
        </p:grpSpPr>
        <p:sp>
          <p:nvSpPr>
            <p:cNvPr id="65" name="矩形 64"/>
            <p:cNvSpPr/>
            <p:nvPr/>
          </p:nvSpPr>
          <p:spPr>
            <a:xfrm>
              <a:off x="3571868" y="1142990"/>
              <a:ext cx="714380" cy="50006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 name="椭圆 65"/>
            <p:cNvSpPr>
              <a:spLocks noChangeAspect="1"/>
            </p:cNvSpPr>
            <p:nvPr/>
          </p:nvSpPr>
          <p:spPr>
            <a:xfrm>
              <a:off x="3875058" y="1339023"/>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 name="组合 67"/>
          <p:cNvGrpSpPr/>
          <p:nvPr/>
        </p:nvGrpSpPr>
        <p:grpSpPr>
          <a:xfrm>
            <a:off x="2593092" y="1940944"/>
            <a:ext cx="714380" cy="500066"/>
            <a:chOff x="3571868" y="1142990"/>
            <a:chExt cx="714380" cy="500066"/>
          </a:xfrm>
        </p:grpSpPr>
        <p:sp>
          <p:nvSpPr>
            <p:cNvPr id="69" name="矩形 68"/>
            <p:cNvSpPr/>
            <p:nvPr/>
          </p:nvSpPr>
          <p:spPr>
            <a:xfrm>
              <a:off x="3571868" y="1142990"/>
              <a:ext cx="714380" cy="50006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椭圆 69"/>
            <p:cNvSpPr>
              <a:spLocks noChangeAspect="1"/>
            </p:cNvSpPr>
            <p:nvPr/>
          </p:nvSpPr>
          <p:spPr>
            <a:xfrm>
              <a:off x="3875058" y="1339023"/>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71" name="矩形 70"/>
          <p:cNvSpPr/>
          <p:nvPr/>
        </p:nvSpPr>
        <p:spPr>
          <a:xfrm>
            <a:off x="1378646" y="4012646"/>
            <a:ext cx="714380" cy="71438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椭圆 71"/>
          <p:cNvSpPr>
            <a:spLocks noChangeAspect="1"/>
          </p:cNvSpPr>
          <p:nvPr/>
        </p:nvSpPr>
        <p:spPr>
          <a:xfrm>
            <a:off x="1664398" y="4190398"/>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椭圆 72"/>
          <p:cNvSpPr>
            <a:spLocks noChangeAspect="1"/>
          </p:cNvSpPr>
          <p:nvPr/>
        </p:nvSpPr>
        <p:spPr>
          <a:xfrm>
            <a:off x="1664398" y="4441274"/>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矩形 73"/>
          <p:cNvSpPr/>
          <p:nvPr/>
        </p:nvSpPr>
        <p:spPr>
          <a:xfrm>
            <a:off x="2593092" y="4226960"/>
            <a:ext cx="714380" cy="928694"/>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椭圆 74"/>
          <p:cNvSpPr>
            <a:spLocks noChangeAspect="1"/>
          </p:cNvSpPr>
          <p:nvPr/>
        </p:nvSpPr>
        <p:spPr>
          <a:xfrm>
            <a:off x="2886464" y="4363754"/>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 name="椭圆 75"/>
          <p:cNvSpPr>
            <a:spLocks noChangeAspect="1"/>
          </p:cNvSpPr>
          <p:nvPr/>
        </p:nvSpPr>
        <p:spPr>
          <a:xfrm>
            <a:off x="2886464" y="4622250"/>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 name="椭圆 76"/>
          <p:cNvSpPr>
            <a:spLocks noChangeAspect="1"/>
          </p:cNvSpPr>
          <p:nvPr/>
        </p:nvSpPr>
        <p:spPr>
          <a:xfrm>
            <a:off x="2886464" y="4885142"/>
            <a:ext cx="108000" cy="108000"/>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9" name="直接箭头连接符 78"/>
          <p:cNvCxnSpPr>
            <a:cxnSpLocks/>
          </p:cNvCxnSpPr>
          <p:nvPr/>
        </p:nvCxnSpPr>
        <p:spPr>
          <a:xfrm rot="5400000" flipH="1" flipV="1">
            <a:off x="1077770" y="2565080"/>
            <a:ext cx="507688" cy="283832"/>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cxnSpLocks/>
          </p:cNvCxnSpPr>
          <p:nvPr/>
        </p:nvCxnSpPr>
        <p:spPr>
          <a:xfrm rot="5400000" flipH="1" flipV="1">
            <a:off x="2290296" y="2565080"/>
            <a:ext cx="507688" cy="283832"/>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a:cxnSpLocks/>
          </p:cNvCxnSpPr>
          <p:nvPr/>
        </p:nvCxnSpPr>
        <p:spPr>
          <a:xfrm rot="16200000" flipH="1">
            <a:off x="1623703" y="2379479"/>
            <a:ext cx="724059" cy="442473"/>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cxnSpLocks/>
          </p:cNvCxnSpPr>
          <p:nvPr/>
        </p:nvCxnSpPr>
        <p:spPr>
          <a:xfrm rot="16200000" flipH="1">
            <a:off x="2851659" y="2379479"/>
            <a:ext cx="724059" cy="442473"/>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cxnSpLocks/>
          </p:cNvCxnSpPr>
          <p:nvPr/>
        </p:nvCxnSpPr>
        <p:spPr>
          <a:xfrm rot="5400000" flipH="1" flipV="1">
            <a:off x="1601765" y="3603853"/>
            <a:ext cx="750277" cy="410307"/>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cxnSpLocks/>
          </p:cNvCxnSpPr>
          <p:nvPr/>
        </p:nvCxnSpPr>
        <p:spPr>
          <a:xfrm rot="16200000" flipV="1">
            <a:off x="910104" y="3709359"/>
            <a:ext cx="984739" cy="48064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29" name="内容占位符 2"/>
          <p:cNvSpPr txBox="1"/>
          <p:nvPr/>
        </p:nvSpPr>
        <p:spPr>
          <a:xfrm>
            <a:off x="3937896" y="5126006"/>
            <a:ext cx="1214446"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dirty="0"/>
              <a:t>存在死锁</a:t>
            </a:r>
          </a:p>
        </p:txBody>
      </p:sp>
      <p:cxnSp>
        <p:nvCxnSpPr>
          <p:cNvPr id="30" name="直接箭头连接符 29"/>
          <p:cNvCxnSpPr/>
          <p:nvPr/>
        </p:nvCxnSpPr>
        <p:spPr>
          <a:xfrm flipH="1">
            <a:off x="2095885" y="3390012"/>
            <a:ext cx="1303871" cy="724059"/>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31" name="内容占位符 2"/>
          <p:cNvSpPr txBox="1"/>
          <p:nvPr/>
        </p:nvSpPr>
        <p:spPr>
          <a:xfrm>
            <a:off x="3937896" y="5126006"/>
            <a:ext cx="1620120" cy="428628"/>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lvl="0">
              <a:spcBef>
                <a:spcPct val="20000"/>
              </a:spcBef>
            </a:pPr>
            <a:r>
              <a:rPr lang="zh-CN" altLang="en-US" dirty="0"/>
              <a:t>不存在死锁</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right)">
                                      <p:cBhvr>
                                        <p:cTn id="12" dur="500"/>
                                        <p:tgtEl>
                                          <p:spTgt spid="30"/>
                                        </p:tgtEl>
                                      </p:cBhvr>
                                    </p:animEffect>
                                  </p:childTnLst>
                                </p:cTn>
                              </p:par>
                              <p:par>
                                <p:cTn id="13" presetID="10" presetClass="exit" presetSubtype="0" fill="hold" grpId="1" nodeType="withEffect">
                                  <p:stCondLst>
                                    <p:cond delay="0"/>
                                  </p:stCondLst>
                                  <p:childTnLst>
                                    <p:animEffect transition="out" filter="fade">
                                      <p:cBhvr>
                                        <p:cTn id="14" dur="500"/>
                                        <p:tgtEl>
                                          <p:spTgt spid="31"/>
                                        </p:tgtEl>
                                      </p:cBhvr>
                                    </p:animEffect>
                                    <p:set>
                                      <p:cBhvr>
                                        <p:cTn id="15" dur="1" fill="hold">
                                          <p:stCondLst>
                                            <p:cond delay="499"/>
                                          </p:stCondLst>
                                        </p:cTn>
                                        <p:tgtEl>
                                          <p:spTgt spid="3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1" grpId="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28596" y="1084929"/>
            <a:ext cx="8229600" cy="508383"/>
          </a:xfrm>
          <a:prstGeom prst="rect">
            <a:avLst/>
          </a:prstGeom>
        </p:spPr>
        <p:txBody>
          <a:bodyPr/>
          <a:lstStyle>
            <a:lvl1pPr>
              <a:defRPr sz="3000" b="1">
                <a:solidFill>
                  <a:srgbClr val="11576A"/>
                </a:solidFill>
                <a:latin typeface="微软雅黑" panose="020B0503020204020204" pitchFamily="34" charset="-122"/>
                <a:ea typeface="微软雅黑" panose="020B0503020204020204" pitchFamily="34" charset="-122"/>
              </a:defRPr>
            </a:lvl1pPr>
          </a:lstStyle>
          <a:p>
            <a:pPr algn="ctr" eaLnBrk="1" fontAlgn="auto" hangingPunct="1">
              <a:spcBef>
                <a:spcPts val="0"/>
              </a:spcBef>
              <a:spcAft>
                <a:spcPts val="0"/>
              </a:spcAft>
            </a:pPr>
            <a:r>
              <a:rPr lang="zh-CN" altLang="en-US" dirty="0"/>
              <a:t>死锁检测</a:t>
            </a:r>
            <a:endParaRPr lang="en-US" altLang="zh-CN" dirty="0"/>
          </a:p>
        </p:txBody>
      </p:sp>
      <p:grpSp>
        <p:nvGrpSpPr>
          <p:cNvPr id="3" name="组合 2"/>
          <p:cNvGrpSpPr/>
          <p:nvPr/>
        </p:nvGrpSpPr>
        <p:grpSpPr>
          <a:xfrm>
            <a:off x="844894" y="1857364"/>
            <a:ext cx="3151043" cy="642942"/>
            <a:chOff x="844893" y="1000114"/>
            <a:chExt cx="3151043" cy="642942"/>
          </a:xfrm>
        </p:grpSpPr>
        <p:sp>
          <p:nvSpPr>
            <p:cNvPr id="9" name="内容占位符 2"/>
            <p:cNvSpPr txBox="1"/>
            <p:nvPr/>
          </p:nvSpPr>
          <p:spPr>
            <a:xfrm>
              <a:off x="1142976" y="1000114"/>
              <a:ext cx="2852960" cy="64294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ts val="0"/>
                </a:spcBef>
                <a:spcAft>
                  <a:spcPts val="0"/>
                </a:spcAft>
              </a:pPr>
              <a:r>
                <a:rPr lang="zh-CN" altLang="en-US" dirty="0"/>
                <a:t>允许系统进入死锁状态</a:t>
              </a:r>
              <a:endParaRPr lang="en-US" altLang="zh-CN" dirty="0"/>
            </a:p>
          </p:txBody>
        </p:sp>
        <p:sp>
          <p:nvSpPr>
            <p:cNvPr id="12" name="TextBox 11"/>
            <p:cNvSpPr txBox="1"/>
            <p:nvPr/>
          </p:nvSpPr>
          <p:spPr>
            <a:xfrm>
              <a:off x="844893" y="1000114"/>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844894" y="2487606"/>
            <a:ext cx="3223051" cy="727080"/>
            <a:chOff x="844893" y="1630356"/>
            <a:chExt cx="3223051" cy="727080"/>
          </a:xfrm>
        </p:grpSpPr>
        <p:sp>
          <p:nvSpPr>
            <p:cNvPr id="11" name="内容占位符 2"/>
            <p:cNvSpPr txBox="1"/>
            <p:nvPr/>
          </p:nvSpPr>
          <p:spPr>
            <a:xfrm>
              <a:off x="1142976" y="1630356"/>
              <a:ext cx="2924968" cy="727080"/>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ts val="0"/>
                </a:spcBef>
                <a:spcAft>
                  <a:spcPts val="0"/>
                </a:spcAft>
              </a:pPr>
              <a:r>
                <a:rPr lang="zh-CN" altLang="en-US" dirty="0"/>
                <a:t>维护系统的资源分配图</a:t>
              </a:r>
              <a:endParaRPr lang="en-US" altLang="zh-CN" dirty="0"/>
            </a:p>
          </p:txBody>
        </p:sp>
        <p:sp>
          <p:nvSpPr>
            <p:cNvPr id="13" name="TextBox 12"/>
            <p:cNvSpPr txBox="1"/>
            <p:nvPr/>
          </p:nvSpPr>
          <p:spPr>
            <a:xfrm>
              <a:off x="844893" y="1630356"/>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844894" y="3143248"/>
            <a:ext cx="3365925" cy="1000132"/>
            <a:chOff x="844893" y="2285998"/>
            <a:chExt cx="3365925" cy="1000132"/>
          </a:xfrm>
        </p:grpSpPr>
        <p:sp>
          <p:nvSpPr>
            <p:cNvPr id="18" name="内容占位符 2"/>
            <p:cNvSpPr txBox="1"/>
            <p:nvPr/>
          </p:nvSpPr>
          <p:spPr>
            <a:xfrm>
              <a:off x="1142975" y="2285998"/>
              <a:ext cx="3067843" cy="100013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ts val="0"/>
                </a:spcBef>
                <a:spcAft>
                  <a:spcPts val="0"/>
                </a:spcAft>
              </a:pPr>
              <a:r>
                <a:rPr lang="zh-CN" altLang="en-US" dirty="0"/>
                <a:t>定期调用死锁检测算法来搜索图中是否存在死锁</a:t>
              </a:r>
              <a:endParaRPr lang="en-US" altLang="zh-CN" dirty="0"/>
            </a:p>
          </p:txBody>
        </p:sp>
        <p:sp>
          <p:nvSpPr>
            <p:cNvPr id="19" name="TextBox 18"/>
            <p:cNvSpPr txBox="1"/>
            <p:nvPr/>
          </p:nvSpPr>
          <p:spPr>
            <a:xfrm>
              <a:off x="844893" y="2285998"/>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844894" y="4078292"/>
            <a:ext cx="3365925" cy="993782"/>
            <a:chOff x="844893" y="3221042"/>
            <a:chExt cx="3365925" cy="993782"/>
          </a:xfrm>
        </p:grpSpPr>
        <p:sp>
          <p:nvSpPr>
            <p:cNvPr id="20" name="内容占位符 2"/>
            <p:cNvSpPr txBox="1"/>
            <p:nvPr/>
          </p:nvSpPr>
          <p:spPr>
            <a:xfrm>
              <a:off x="1142976" y="3221042"/>
              <a:ext cx="3067842" cy="993782"/>
            </a:xfrm>
            <a:prstGeom prst="rect">
              <a:avLst/>
            </a:prstGeom>
          </p:spPr>
          <p:txBody>
            <a:bodyPr/>
            <a:lstStyle>
              <a:lvl1pPr marL="269875" indent="-269875">
                <a:buNone/>
                <a:defRPr sz="2000" b="1" baseline="0">
                  <a:solidFill>
                    <a:srgbClr val="11576A"/>
                  </a:solidFill>
                  <a:latin typeface="微软雅黑" panose="020B0503020204020204" pitchFamily="34" charset="-122"/>
                  <a:ea typeface="微软雅黑" panose="020B0503020204020204" pitchFamily="34" charset="-122"/>
                </a:defRPr>
              </a:lvl1pPr>
              <a:lvl2pPr marL="269875" indent="-93980">
                <a:buNone/>
                <a:defRPr sz="2000" b="1">
                  <a:solidFill>
                    <a:srgbClr val="11576A"/>
                  </a:solidFill>
                  <a:latin typeface="微软雅黑" panose="020B0503020204020204" pitchFamily="34" charset="-122"/>
                  <a:ea typeface="微软雅黑" panose="020B0503020204020204" pitchFamily="34" charset="-122"/>
                </a:defRPr>
              </a:lvl2pPr>
              <a:lvl3pPr>
                <a:buNone/>
                <a:defRPr sz="1800" b="1">
                  <a:solidFill>
                    <a:srgbClr val="11576A"/>
                  </a:solidFill>
                  <a:latin typeface="微软雅黑" panose="020B0503020204020204" pitchFamily="34" charset="-122"/>
                  <a:ea typeface="微软雅黑" panose="020B0503020204020204" pitchFamily="34" charset="-122"/>
                </a:defRPr>
              </a:lvl3pPr>
            </a:lstStyle>
            <a:p>
              <a:pPr marL="0" indent="0" eaLnBrk="1" fontAlgn="auto" hangingPunct="1">
                <a:spcBef>
                  <a:spcPts val="0"/>
                </a:spcBef>
                <a:spcAft>
                  <a:spcPts val="0"/>
                </a:spcAft>
              </a:pPr>
              <a:r>
                <a:rPr lang="zh-CN" altLang="en-US" dirty="0"/>
                <a:t>出现死锁时，用死锁恢复机制进行恢复</a:t>
              </a:r>
              <a:endParaRPr lang="en-US" altLang="zh-CN" dirty="0"/>
            </a:p>
          </p:txBody>
        </p:sp>
        <p:sp>
          <p:nvSpPr>
            <p:cNvPr id="21" name="TextBox 20"/>
            <p:cNvSpPr txBox="1"/>
            <p:nvPr/>
          </p:nvSpPr>
          <p:spPr>
            <a:xfrm>
              <a:off x="844893" y="3221042"/>
              <a:ext cx="433390" cy="400110"/>
            </a:xfrm>
            <a:prstGeom prst="rect">
              <a:avLst/>
            </a:prstGeom>
            <a:noFill/>
            <a:effectLst/>
          </p:spPr>
          <p:txBody>
            <a:bodyPr wrap="square" rtlCol="0">
              <a:spAutoFit/>
            </a:bodyPr>
            <a:lstStyle/>
            <a:p>
              <a:pPr marL="342900" indent="-342900" eaLnBrk="1" fontAlgn="auto" hangingPunct="1">
                <a:spcBef>
                  <a:spcPct val="20000"/>
                </a:spcBef>
                <a:spcAft>
                  <a:spcPts val="0"/>
                </a:spcAft>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4527046" y="1772817"/>
            <a:ext cx="2565235" cy="3393541"/>
            <a:chOff x="3878973" y="915566"/>
            <a:chExt cx="2565235" cy="3393541"/>
          </a:xfrm>
        </p:grpSpPr>
        <p:grpSp>
          <p:nvGrpSpPr>
            <p:cNvPr id="55" name="组合 54"/>
            <p:cNvGrpSpPr/>
            <p:nvPr/>
          </p:nvGrpSpPr>
          <p:grpSpPr>
            <a:xfrm>
              <a:off x="3891355" y="2666759"/>
              <a:ext cx="439938" cy="432000"/>
              <a:chOff x="8135962" y="3143254"/>
              <a:chExt cx="439938" cy="432000"/>
            </a:xfrm>
          </p:grpSpPr>
          <p:sp>
            <p:nvSpPr>
              <p:cNvPr id="56" name="椭圆 55"/>
              <p:cNvSpPr/>
              <p:nvPr/>
            </p:nvSpPr>
            <p:spPr>
              <a:xfrm>
                <a:off x="8143900" y="3143254"/>
                <a:ext cx="432000" cy="432000"/>
              </a:xfrm>
              <a:prstGeom prst="ellipse">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57" name="TextBox 56"/>
              <p:cNvSpPr txBox="1"/>
              <p:nvPr/>
            </p:nvSpPr>
            <p:spPr>
              <a:xfrm>
                <a:off x="8135962" y="3194054"/>
                <a:ext cx="431528" cy="369332"/>
              </a:xfrm>
              <a:prstGeom prst="rect">
                <a:avLst/>
              </a:prstGeom>
              <a:noFill/>
            </p:spPr>
            <p:txBody>
              <a:bodyPr wrap="none" rtlCol="0">
                <a:spAutoFit/>
              </a:bodyPr>
              <a:lstStyle/>
              <a:p>
                <a:pPr eaLnBrk="1" fontAlgn="auto" hangingPunct="1">
                  <a:spcBef>
                    <a:spcPts val="0"/>
                  </a:spcBef>
                  <a:spcAft>
                    <a:spcPts val="0"/>
                  </a:spcAft>
                </a:pPr>
                <a:r>
                  <a:rPr lang="en-US" altLang="zh-CN" b="1" dirty="0">
                    <a:solidFill>
                      <a:prstClr val="white"/>
                    </a:solidFill>
                    <a:latin typeface="微软雅黑"/>
                    <a:ea typeface="微软雅黑"/>
                  </a:rPr>
                  <a:t>P</a:t>
                </a:r>
                <a:r>
                  <a:rPr lang="en-US" altLang="zh-CN" b="1" baseline="-25000" dirty="0">
                    <a:solidFill>
                      <a:prstClr val="white"/>
                    </a:solidFill>
                    <a:latin typeface="微软雅黑"/>
                    <a:ea typeface="微软雅黑"/>
                  </a:rPr>
                  <a:t>1</a:t>
                </a:r>
                <a:endParaRPr lang="zh-CN" altLang="en-US" b="1" baseline="-25000" dirty="0">
                  <a:solidFill>
                    <a:prstClr val="white"/>
                  </a:solidFill>
                  <a:latin typeface="微软雅黑"/>
                  <a:ea typeface="微软雅黑"/>
                </a:endParaRPr>
              </a:p>
            </p:txBody>
          </p:sp>
        </p:grpSp>
        <p:grpSp>
          <p:nvGrpSpPr>
            <p:cNvPr id="58" name="组合 57"/>
            <p:cNvGrpSpPr/>
            <p:nvPr/>
          </p:nvGrpSpPr>
          <p:grpSpPr>
            <a:xfrm>
              <a:off x="4760994" y="2666759"/>
              <a:ext cx="439938" cy="432000"/>
              <a:chOff x="8135962" y="3143254"/>
              <a:chExt cx="439938" cy="432000"/>
            </a:xfrm>
          </p:grpSpPr>
          <p:sp>
            <p:nvSpPr>
              <p:cNvPr id="59" name="椭圆 58"/>
              <p:cNvSpPr/>
              <p:nvPr/>
            </p:nvSpPr>
            <p:spPr>
              <a:xfrm>
                <a:off x="8143900" y="3143254"/>
                <a:ext cx="432000" cy="432000"/>
              </a:xfrm>
              <a:prstGeom prst="ellipse">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60" name="TextBox 59"/>
              <p:cNvSpPr txBox="1"/>
              <p:nvPr/>
            </p:nvSpPr>
            <p:spPr>
              <a:xfrm>
                <a:off x="8135962" y="3194054"/>
                <a:ext cx="431528" cy="369332"/>
              </a:xfrm>
              <a:prstGeom prst="rect">
                <a:avLst/>
              </a:prstGeom>
              <a:noFill/>
            </p:spPr>
            <p:txBody>
              <a:bodyPr wrap="none" rtlCol="0">
                <a:spAutoFit/>
              </a:bodyPr>
              <a:lstStyle/>
              <a:p>
                <a:pPr eaLnBrk="1" fontAlgn="auto" hangingPunct="1">
                  <a:spcBef>
                    <a:spcPts val="0"/>
                  </a:spcBef>
                  <a:spcAft>
                    <a:spcPts val="0"/>
                  </a:spcAft>
                </a:pPr>
                <a:r>
                  <a:rPr lang="en-US" altLang="zh-CN" b="1" dirty="0">
                    <a:solidFill>
                      <a:prstClr val="white"/>
                    </a:solidFill>
                    <a:latin typeface="微软雅黑"/>
                    <a:ea typeface="微软雅黑"/>
                  </a:rPr>
                  <a:t>P</a:t>
                </a:r>
                <a:r>
                  <a:rPr lang="en-US" altLang="zh-CN" b="1" baseline="-25000" dirty="0">
                    <a:solidFill>
                      <a:prstClr val="white"/>
                    </a:solidFill>
                    <a:latin typeface="微软雅黑"/>
                    <a:ea typeface="微软雅黑"/>
                  </a:rPr>
                  <a:t>2</a:t>
                </a:r>
                <a:endParaRPr lang="zh-CN" altLang="en-US" b="1" baseline="-25000" dirty="0">
                  <a:solidFill>
                    <a:prstClr val="white"/>
                  </a:solidFill>
                  <a:latin typeface="微软雅黑"/>
                  <a:ea typeface="微软雅黑"/>
                </a:endParaRPr>
              </a:p>
            </p:txBody>
          </p:sp>
        </p:grpSp>
        <p:grpSp>
          <p:nvGrpSpPr>
            <p:cNvPr id="61" name="组合 60"/>
            <p:cNvGrpSpPr/>
            <p:nvPr/>
          </p:nvGrpSpPr>
          <p:grpSpPr>
            <a:xfrm>
              <a:off x="5653810" y="2666759"/>
              <a:ext cx="439938" cy="432000"/>
              <a:chOff x="8135962" y="3143254"/>
              <a:chExt cx="439938" cy="432000"/>
            </a:xfrm>
          </p:grpSpPr>
          <p:sp>
            <p:nvSpPr>
              <p:cNvPr id="62" name="椭圆 61"/>
              <p:cNvSpPr/>
              <p:nvPr/>
            </p:nvSpPr>
            <p:spPr>
              <a:xfrm>
                <a:off x="8143900" y="3143254"/>
                <a:ext cx="432000" cy="432000"/>
              </a:xfrm>
              <a:prstGeom prst="ellipse">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63" name="TextBox 62"/>
              <p:cNvSpPr txBox="1"/>
              <p:nvPr/>
            </p:nvSpPr>
            <p:spPr>
              <a:xfrm>
                <a:off x="8135962" y="3194054"/>
                <a:ext cx="431528" cy="369332"/>
              </a:xfrm>
              <a:prstGeom prst="rect">
                <a:avLst/>
              </a:prstGeom>
              <a:noFill/>
            </p:spPr>
            <p:txBody>
              <a:bodyPr wrap="none" rtlCol="0">
                <a:spAutoFit/>
              </a:bodyPr>
              <a:lstStyle/>
              <a:p>
                <a:pPr eaLnBrk="1" fontAlgn="auto" hangingPunct="1">
                  <a:spcBef>
                    <a:spcPts val="0"/>
                  </a:spcBef>
                  <a:spcAft>
                    <a:spcPts val="0"/>
                  </a:spcAft>
                </a:pPr>
                <a:r>
                  <a:rPr lang="en-US" altLang="zh-CN" b="1" dirty="0">
                    <a:solidFill>
                      <a:prstClr val="white"/>
                    </a:solidFill>
                    <a:latin typeface="微软雅黑"/>
                    <a:ea typeface="微软雅黑"/>
                  </a:rPr>
                  <a:t>P</a:t>
                </a:r>
                <a:r>
                  <a:rPr lang="en-US" altLang="zh-CN" b="1" baseline="-25000" dirty="0">
                    <a:solidFill>
                      <a:prstClr val="white"/>
                    </a:solidFill>
                    <a:latin typeface="微软雅黑"/>
                    <a:ea typeface="微软雅黑"/>
                  </a:rPr>
                  <a:t>3</a:t>
                </a:r>
                <a:endParaRPr lang="zh-CN" altLang="en-US" b="1" baseline="-25000" dirty="0">
                  <a:solidFill>
                    <a:prstClr val="white"/>
                  </a:solidFill>
                  <a:latin typeface="微软雅黑"/>
                  <a:ea typeface="微软雅黑"/>
                </a:endParaRPr>
              </a:p>
            </p:txBody>
          </p:sp>
        </p:grpSp>
        <p:sp>
          <p:nvSpPr>
            <p:cNvPr id="64" name="矩形 63"/>
            <p:cNvSpPr>
              <a:spLocks noChangeAspect="1"/>
            </p:cNvSpPr>
            <p:nvPr/>
          </p:nvSpPr>
          <p:spPr>
            <a:xfrm>
              <a:off x="3888497" y="1812923"/>
              <a:ext cx="396000" cy="396000"/>
            </a:xfrm>
            <a:prstGeom prst="rect">
              <a:avLst/>
            </a:prstGeom>
            <a:gradFill>
              <a:gsLst>
                <a:gs pos="99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65" name="矩形 64"/>
            <p:cNvSpPr>
              <a:spLocks noChangeAspect="1"/>
            </p:cNvSpPr>
            <p:nvPr/>
          </p:nvSpPr>
          <p:spPr>
            <a:xfrm>
              <a:off x="4793378" y="1812923"/>
              <a:ext cx="396000" cy="396000"/>
            </a:xfrm>
            <a:prstGeom prst="rect">
              <a:avLst/>
            </a:prstGeom>
            <a:gradFill>
              <a:gsLst>
                <a:gs pos="99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66" name="矩形 65"/>
            <p:cNvSpPr>
              <a:spLocks noChangeAspect="1"/>
            </p:cNvSpPr>
            <p:nvPr/>
          </p:nvSpPr>
          <p:spPr>
            <a:xfrm>
              <a:off x="5674447" y="1812923"/>
              <a:ext cx="396000" cy="396000"/>
            </a:xfrm>
            <a:prstGeom prst="rect">
              <a:avLst/>
            </a:prstGeom>
            <a:gradFill>
              <a:gsLst>
                <a:gs pos="99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68" name="矩形 67"/>
            <p:cNvSpPr>
              <a:spLocks noChangeAspect="1"/>
            </p:cNvSpPr>
            <p:nvPr/>
          </p:nvSpPr>
          <p:spPr>
            <a:xfrm>
              <a:off x="3888497" y="3598825"/>
              <a:ext cx="396000" cy="396000"/>
            </a:xfrm>
            <a:prstGeom prst="rect">
              <a:avLst/>
            </a:prstGeom>
            <a:gradFill>
              <a:gsLst>
                <a:gs pos="99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69" name="矩形 68"/>
            <p:cNvSpPr>
              <a:spLocks noChangeAspect="1"/>
            </p:cNvSpPr>
            <p:nvPr/>
          </p:nvSpPr>
          <p:spPr>
            <a:xfrm>
              <a:off x="5674447" y="3598825"/>
              <a:ext cx="396000" cy="396000"/>
            </a:xfrm>
            <a:prstGeom prst="rect">
              <a:avLst/>
            </a:prstGeom>
            <a:gradFill>
              <a:gsLst>
                <a:gs pos="99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grpSp>
          <p:nvGrpSpPr>
            <p:cNvPr id="70" name="组合 69"/>
            <p:cNvGrpSpPr/>
            <p:nvPr/>
          </p:nvGrpSpPr>
          <p:grpSpPr>
            <a:xfrm>
              <a:off x="4760994" y="3567392"/>
              <a:ext cx="439938" cy="432000"/>
              <a:chOff x="8135962" y="3143254"/>
              <a:chExt cx="439938" cy="432000"/>
            </a:xfrm>
          </p:grpSpPr>
          <p:sp>
            <p:nvSpPr>
              <p:cNvPr id="71" name="椭圆 70"/>
              <p:cNvSpPr/>
              <p:nvPr/>
            </p:nvSpPr>
            <p:spPr>
              <a:xfrm>
                <a:off x="8143900" y="3143254"/>
                <a:ext cx="432000" cy="432000"/>
              </a:xfrm>
              <a:prstGeom prst="ellipse">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72" name="TextBox 71"/>
              <p:cNvSpPr txBox="1"/>
              <p:nvPr/>
            </p:nvSpPr>
            <p:spPr>
              <a:xfrm>
                <a:off x="8135962" y="3194054"/>
                <a:ext cx="431528" cy="369332"/>
              </a:xfrm>
              <a:prstGeom prst="rect">
                <a:avLst/>
              </a:prstGeom>
              <a:noFill/>
            </p:spPr>
            <p:txBody>
              <a:bodyPr wrap="none" rtlCol="0">
                <a:spAutoFit/>
              </a:bodyPr>
              <a:lstStyle/>
              <a:p>
                <a:pPr eaLnBrk="1" fontAlgn="auto" hangingPunct="1">
                  <a:spcBef>
                    <a:spcPts val="0"/>
                  </a:spcBef>
                  <a:spcAft>
                    <a:spcPts val="0"/>
                  </a:spcAft>
                </a:pPr>
                <a:r>
                  <a:rPr lang="en-US" altLang="zh-CN" b="1" dirty="0">
                    <a:solidFill>
                      <a:prstClr val="white"/>
                    </a:solidFill>
                    <a:latin typeface="微软雅黑"/>
                    <a:ea typeface="微软雅黑"/>
                  </a:rPr>
                  <a:t>P</a:t>
                </a:r>
                <a:r>
                  <a:rPr lang="en-US" altLang="zh-CN" b="1" baseline="-25000" dirty="0">
                    <a:solidFill>
                      <a:prstClr val="white"/>
                    </a:solidFill>
                    <a:latin typeface="微软雅黑"/>
                    <a:ea typeface="微软雅黑"/>
                  </a:rPr>
                  <a:t>4</a:t>
                </a:r>
                <a:endParaRPr lang="zh-CN" altLang="en-US" b="1" baseline="-25000" dirty="0">
                  <a:solidFill>
                    <a:prstClr val="white"/>
                  </a:solidFill>
                  <a:latin typeface="微软雅黑"/>
                  <a:ea typeface="微软雅黑"/>
                </a:endParaRPr>
              </a:p>
            </p:txBody>
          </p:sp>
        </p:grpSp>
        <p:grpSp>
          <p:nvGrpSpPr>
            <p:cNvPr id="73" name="组合 72"/>
            <p:cNvGrpSpPr/>
            <p:nvPr/>
          </p:nvGrpSpPr>
          <p:grpSpPr>
            <a:xfrm>
              <a:off x="4760994" y="915566"/>
              <a:ext cx="439938" cy="432000"/>
              <a:chOff x="8135962" y="3143254"/>
              <a:chExt cx="439938" cy="432000"/>
            </a:xfrm>
          </p:grpSpPr>
          <p:sp>
            <p:nvSpPr>
              <p:cNvPr id="74" name="椭圆 73"/>
              <p:cNvSpPr/>
              <p:nvPr/>
            </p:nvSpPr>
            <p:spPr>
              <a:xfrm>
                <a:off x="8143900" y="3143254"/>
                <a:ext cx="432000" cy="432000"/>
              </a:xfrm>
              <a:prstGeom prst="ellipse">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eaLnBrk="1" fontAlgn="auto" hangingPunct="1">
                  <a:spcBef>
                    <a:spcPts val="0"/>
                  </a:spcBef>
                  <a:spcAft>
                    <a:spcPts val="0"/>
                  </a:spcAft>
                </a:pPr>
                <a:endParaRPr lang="zh-CN" altLang="en-US">
                  <a:solidFill>
                    <a:prstClr val="black"/>
                  </a:solidFill>
                  <a:latin typeface="MS PGothic"/>
                  <a:ea typeface="微软雅黑"/>
                </a:endParaRPr>
              </a:p>
            </p:txBody>
          </p:sp>
          <p:sp>
            <p:nvSpPr>
              <p:cNvPr id="75" name="TextBox 74"/>
              <p:cNvSpPr txBox="1"/>
              <p:nvPr/>
            </p:nvSpPr>
            <p:spPr>
              <a:xfrm>
                <a:off x="8135962" y="3194054"/>
                <a:ext cx="431528" cy="369332"/>
              </a:xfrm>
              <a:prstGeom prst="rect">
                <a:avLst/>
              </a:prstGeom>
              <a:noFill/>
            </p:spPr>
            <p:txBody>
              <a:bodyPr wrap="none" rtlCol="0">
                <a:spAutoFit/>
              </a:bodyPr>
              <a:lstStyle/>
              <a:p>
                <a:pPr eaLnBrk="1" fontAlgn="auto" hangingPunct="1">
                  <a:spcBef>
                    <a:spcPts val="0"/>
                  </a:spcBef>
                  <a:spcAft>
                    <a:spcPts val="0"/>
                  </a:spcAft>
                </a:pPr>
                <a:r>
                  <a:rPr lang="en-US" altLang="zh-CN" b="1" dirty="0">
                    <a:solidFill>
                      <a:prstClr val="white"/>
                    </a:solidFill>
                    <a:latin typeface="微软雅黑"/>
                    <a:ea typeface="微软雅黑"/>
                  </a:rPr>
                  <a:t>P</a:t>
                </a:r>
                <a:r>
                  <a:rPr lang="en-US" altLang="zh-CN" b="1" baseline="-25000" dirty="0">
                    <a:solidFill>
                      <a:prstClr val="white"/>
                    </a:solidFill>
                    <a:latin typeface="微软雅黑"/>
                    <a:ea typeface="微软雅黑"/>
                  </a:rPr>
                  <a:t>5</a:t>
                </a:r>
                <a:endParaRPr lang="zh-CN" altLang="en-US" b="1" baseline="-25000" dirty="0">
                  <a:solidFill>
                    <a:prstClr val="white"/>
                  </a:solidFill>
                  <a:latin typeface="微软雅黑"/>
                  <a:ea typeface="微软雅黑"/>
                </a:endParaRPr>
              </a:p>
            </p:txBody>
          </p:sp>
        </p:grpSp>
        <p:cxnSp>
          <p:nvCxnSpPr>
            <p:cNvPr id="92" name="直接箭头连接符 91"/>
            <p:cNvCxnSpPr/>
            <p:nvPr/>
          </p:nvCxnSpPr>
          <p:spPr>
            <a:xfrm rot="5400000" flipH="1" flipV="1">
              <a:off x="3850588" y="3338891"/>
              <a:ext cx="504000"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rot="5400000" flipH="1" flipV="1">
              <a:off x="3886588" y="2441263"/>
              <a:ext cx="432000"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rot="5400000" flipH="1" flipV="1">
              <a:off x="5636761" y="3338891"/>
              <a:ext cx="504000" cy="0"/>
            </a:xfrm>
            <a:prstGeom prst="straightConnector1">
              <a:avLst/>
            </a:prstGeom>
            <a:ln w="38100">
              <a:solidFill>
                <a:srgbClr val="11576A"/>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a:xfrm rot="5400000" flipH="1" flipV="1">
              <a:off x="5672761" y="2441263"/>
              <a:ext cx="432000" cy="0"/>
            </a:xfrm>
            <a:prstGeom prst="straightConnector1">
              <a:avLst/>
            </a:prstGeom>
            <a:ln w="38100">
              <a:solidFill>
                <a:srgbClr val="11576A"/>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rot="5400000" flipH="1" flipV="1">
              <a:off x="4777405" y="2441263"/>
              <a:ext cx="432000"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p:nvPr/>
          </p:nvCxnSpPr>
          <p:spPr>
            <a:xfrm rot="5400000" flipH="1" flipV="1">
              <a:off x="4777405" y="1584007"/>
              <a:ext cx="432000"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69" idx="1"/>
            </p:cNvCxnSpPr>
            <p:nvPr/>
          </p:nvCxnSpPr>
          <p:spPr>
            <a:xfrm rot="10800000" flipV="1">
              <a:off x="5192523" y="3802856"/>
              <a:ext cx="481925"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p:nvPr/>
          </p:nvCxnSpPr>
          <p:spPr>
            <a:xfrm rot="10800000" flipV="1">
              <a:off x="4287642" y="3802856"/>
              <a:ext cx="481925" cy="0"/>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rot="16200000" flipH="1">
              <a:off x="4307600" y="2234788"/>
              <a:ext cx="500066" cy="50006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p:nvPr/>
          </p:nvCxnSpPr>
          <p:spPr>
            <a:xfrm rot="16200000" flipH="1">
              <a:off x="5136281" y="3082519"/>
              <a:ext cx="500066" cy="50006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rot="5400000" flipH="1" flipV="1">
              <a:off x="5136281" y="2225263"/>
              <a:ext cx="500066" cy="500066"/>
            </a:xfrm>
            <a:prstGeom prst="straightConnector1">
              <a:avLst/>
            </a:prstGeom>
            <a:ln w="38100">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4217113" y="1813068"/>
              <a:ext cx="441146" cy="369332"/>
            </a:xfrm>
            <a:prstGeom prst="rect">
              <a:avLst/>
            </a:prstGeom>
            <a:noFill/>
          </p:spPr>
          <p:txBody>
            <a:bodyPr wrap="none" rtlCol="0">
              <a:spAutoFit/>
            </a:bodyPr>
            <a:lstStyle/>
            <a:p>
              <a:pPr eaLnBrk="1" fontAlgn="auto" hangingPunct="1">
                <a:spcBef>
                  <a:spcPts val="0"/>
                </a:spcBef>
                <a:spcAft>
                  <a:spcPts val="0"/>
                </a:spcAft>
              </a:pPr>
              <a:r>
                <a:rPr lang="en-US" altLang="zh-CN" b="1" dirty="0">
                  <a:solidFill>
                    <a:srgbClr val="11576A"/>
                  </a:solidFill>
                  <a:latin typeface="微软雅黑"/>
                  <a:ea typeface="微软雅黑"/>
                </a:rPr>
                <a:t>R</a:t>
              </a:r>
              <a:r>
                <a:rPr lang="en-US" altLang="zh-CN" b="1" baseline="-25000" dirty="0">
                  <a:solidFill>
                    <a:srgbClr val="11576A"/>
                  </a:solidFill>
                  <a:latin typeface="微软雅黑"/>
                  <a:ea typeface="微软雅黑"/>
                </a:rPr>
                <a:t>1</a:t>
              </a:r>
              <a:endParaRPr lang="zh-CN" altLang="en-US" b="1" baseline="-25000" dirty="0">
                <a:solidFill>
                  <a:srgbClr val="11576A"/>
                </a:solidFill>
                <a:latin typeface="微软雅黑"/>
                <a:ea typeface="微软雅黑"/>
              </a:endParaRPr>
            </a:p>
          </p:txBody>
        </p:sp>
        <p:sp>
          <p:nvSpPr>
            <p:cNvPr id="108" name="TextBox 107"/>
            <p:cNvSpPr txBox="1"/>
            <p:nvPr/>
          </p:nvSpPr>
          <p:spPr>
            <a:xfrm>
              <a:off x="5126756" y="1813068"/>
              <a:ext cx="441146" cy="369332"/>
            </a:xfrm>
            <a:prstGeom prst="rect">
              <a:avLst/>
            </a:prstGeom>
            <a:noFill/>
          </p:spPr>
          <p:txBody>
            <a:bodyPr wrap="square" rtlCol="0">
              <a:spAutoFit/>
            </a:bodyPr>
            <a:lstStyle/>
            <a:p>
              <a:pPr eaLnBrk="1" fontAlgn="auto" hangingPunct="1">
                <a:spcBef>
                  <a:spcPts val="0"/>
                </a:spcBef>
                <a:spcAft>
                  <a:spcPts val="0"/>
                </a:spcAft>
              </a:pPr>
              <a:r>
                <a:rPr lang="en-US" altLang="zh-CN" b="1" dirty="0">
                  <a:solidFill>
                    <a:srgbClr val="11576A"/>
                  </a:solidFill>
                  <a:latin typeface="微软雅黑"/>
                  <a:ea typeface="微软雅黑"/>
                </a:rPr>
                <a:t>R</a:t>
              </a:r>
              <a:r>
                <a:rPr lang="en-US" altLang="zh-CN" b="1" baseline="-25000" dirty="0">
                  <a:solidFill>
                    <a:srgbClr val="11576A"/>
                  </a:solidFill>
                  <a:latin typeface="微软雅黑"/>
                  <a:ea typeface="微软雅黑"/>
                </a:rPr>
                <a:t>3</a:t>
              </a:r>
              <a:endParaRPr lang="zh-CN" altLang="en-US" b="1" baseline="-25000" dirty="0">
                <a:solidFill>
                  <a:srgbClr val="11576A"/>
                </a:solidFill>
                <a:latin typeface="微软雅黑"/>
                <a:ea typeface="微软雅黑"/>
              </a:endParaRPr>
            </a:p>
          </p:txBody>
        </p:sp>
        <p:sp>
          <p:nvSpPr>
            <p:cNvPr id="109" name="TextBox 108"/>
            <p:cNvSpPr txBox="1"/>
            <p:nvPr/>
          </p:nvSpPr>
          <p:spPr>
            <a:xfrm>
              <a:off x="6003062" y="1813068"/>
              <a:ext cx="441146" cy="369332"/>
            </a:xfrm>
            <a:prstGeom prst="rect">
              <a:avLst/>
            </a:prstGeom>
            <a:noFill/>
          </p:spPr>
          <p:txBody>
            <a:bodyPr wrap="square" rtlCol="0">
              <a:spAutoFit/>
            </a:bodyPr>
            <a:lstStyle/>
            <a:p>
              <a:pPr eaLnBrk="1" fontAlgn="auto" hangingPunct="1">
                <a:spcBef>
                  <a:spcPts val="0"/>
                </a:spcBef>
                <a:spcAft>
                  <a:spcPts val="0"/>
                </a:spcAft>
              </a:pPr>
              <a:r>
                <a:rPr lang="en-US" altLang="zh-CN" b="1" dirty="0">
                  <a:solidFill>
                    <a:srgbClr val="11576A"/>
                  </a:solidFill>
                  <a:latin typeface="微软雅黑"/>
                  <a:ea typeface="微软雅黑"/>
                </a:rPr>
                <a:t>R</a:t>
              </a:r>
              <a:r>
                <a:rPr lang="en-US" altLang="zh-CN" b="1" baseline="-25000" dirty="0">
                  <a:solidFill>
                    <a:srgbClr val="11576A"/>
                  </a:solidFill>
                  <a:latin typeface="微软雅黑"/>
                  <a:ea typeface="微软雅黑"/>
                </a:rPr>
                <a:t>4</a:t>
              </a:r>
              <a:endParaRPr lang="zh-CN" altLang="en-US" b="1" baseline="-25000" dirty="0">
                <a:solidFill>
                  <a:srgbClr val="11576A"/>
                </a:solidFill>
                <a:latin typeface="微软雅黑"/>
                <a:ea typeface="微软雅黑"/>
              </a:endParaRPr>
            </a:p>
          </p:txBody>
        </p:sp>
        <p:sp>
          <p:nvSpPr>
            <p:cNvPr id="110" name="TextBox 109"/>
            <p:cNvSpPr txBox="1"/>
            <p:nvPr/>
          </p:nvSpPr>
          <p:spPr>
            <a:xfrm>
              <a:off x="3878973" y="3939775"/>
              <a:ext cx="441146" cy="369332"/>
            </a:xfrm>
            <a:prstGeom prst="rect">
              <a:avLst/>
            </a:prstGeom>
            <a:noFill/>
          </p:spPr>
          <p:txBody>
            <a:bodyPr wrap="none" rtlCol="0">
              <a:spAutoFit/>
            </a:bodyPr>
            <a:lstStyle/>
            <a:p>
              <a:pPr eaLnBrk="1" fontAlgn="auto" hangingPunct="1">
                <a:spcBef>
                  <a:spcPts val="0"/>
                </a:spcBef>
                <a:spcAft>
                  <a:spcPts val="0"/>
                </a:spcAft>
              </a:pPr>
              <a:r>
                <a:rPr lang="en-US" altLang="zh-CN" b="1" dirty="0">
                  <a:solidFill>
                    <a:srgbClr val="11576A"/>
                  </a:solidFill>
                  <a:latin typeface="微软雅黑"/>
                  <a:ea typeface="微软雅黑"/>
                </a:rPr>
                <a:t>R</a:t>
              </a:r>
              <a:r>
                <a:rPr lang="en-US" altLang="zh-CN" b="1" baseline="-25000" dirty="0">
                  <a:solidFill>
                    <a:srgbClr val="11576A"/>
                  </a:solidFill>
                  <a:latin typeface="微软雅黑"/>
                  <a:ea typeface="微软雅黑"/>
                </a:rPr>
                <a:t>2</a:t>
              </a:r>
              <a:endParaRPr lang="zh-CN" altLang="en-US" b="1" baseline="-25000" dirty="0">
                <a:solidFill>
                  <a:srgbClr val="11576A"/>
                </a:solidFill>
                <a:latin typeface="微软雅黑"/>
                <a:ea typeface="微软雅黑"/>
              </a:endParaRPr>
            </a:p>
          </p:txBody>
        </p:sp>
        <p:sp>
          <p:nvSpPr>
            <p:cNvPr id="111" name="TextBox 110"/>
            <p:cNvSpPr txBox="1"/>
            <p:nvPr/>
          </p:nvSpPr>
          <p:spPr>
            <a:xfrm>
              <a:off x="5636347" y="3939775"/>
              <a:ext cx="441146" cy="369332"/>
            </a:xfrm>
            <a:prstGeom prst="rect">
              <a:avLst/>
            </a:prstGeom>
            <a:noFill/>
          </p:spPr>
          <p:txBody>
            <a:bodyPr wrap="none" rtlCol="0">
              <a:spAutoFit/>
            </a:bodyPr>
            <a:lstStyle/>
            <a:p>
              <a:pPr eaLnBrk="1" fontAlgn="auto" hangingPunct="1">
                <a:spcBef>
                  <a:spcPts val="0"/>
                </a:spcBef>
                <a:spcAft>
                  <a:spcPts val="0"/>
                </a:spcAft>
              </a:pPr>
              <a:r>
                <a:rPr lang="en-US" altLang="zh-CN" b="1" dirty="0">
                  <a:solidFill>
                    <a:srgbClr val="11576A"/>
                  </a:solidFill>
                  <a:latin typeface="微软雅黑"/>
                  <a:ea typeface="微软雅黑"/>
                </a:rPr>
                <a:t>R</a:t>
              </a:r>
              <a:r>
                <a:rPr lang="en-US" altLang="zh-CN" b="1" baseline="-25000" dirty="0">
                  <a:solidFill>
                    <a:srgbClr val="11576A"/>
                  </a:solidFill>
                  <a:latin typeface="微软雅黑"/>
                  <a:ea typeface="微软雅黑"/>
                </a:rPr>
                <a:t>5</a:t>
              </a:r>
              <a:endParaRPr lang="zh-CN" altLang="en-US" b="1" baseline="-25000" dirty="0">
                <a:solidFill>
                  <a:srgbClr val="11576A"/>
                </a:solidFill>
                <a:latin typeface="微软雅黑"/>
                <a:ea typeface="微软雅黑"/>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6C83B751-91F5-41F0-BA68-9B8BD91ABB2F}"/>
              </a:ext>
            </a:extLst>
          </p:cNvPr>
          <p:cNvSpPr>
            <a:spLocks noGrp="1" noChangeArrowheads="1"/>
          </p:cNvSpPr>
          <p:nvPr>
            <p:ph type="body" idx="1"/>
          </p:nvPr>
        </p:nvSpPr>
        <p:spPr>
          <a:xfrm>
            <a:off x="468313" y="836712"/>
            <a:ext cx="7921625" cy="5545038"/>
          </a:xfrm>
        </p:spPr>
        <p:txBody>
          <a:bodyPr/>
          <a:lstStyle/>
          <a:p>
            <a:pPr algn="just"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a:t>
            </a:r>
            <a:r>
              <a:rPr lang="en-US" altLang="zh-CN" sz="2800" b="1" dirty="0">
                <a:solidFill>
                  <a:srgbClr val="FFFF00"/>
                </a:solidFill>
                <a:effectLst/>
                <a:latin typeface="黑体" panose="02010609060101010101" pitchFamily="49" charset="-122"/>
                <a:ea typeface="黑体" panose="02010609060101010101" pitchFamily="49" charset="-122"/>
              </a:rPr>
              <a:t>2</a:t>
            </a:r>
            <a:r>
              <a:rPr lang="zh-CN" altLang="en-US" sz="2800" b="1" dirty="0">
                <a:solidFill>
                  <a:srgbClr val="FFFF00"/>
                </a:solidFill>
                <a:effectLst/>
                <a:latin typeface="黑体" panose="02010609060101010101" pitchFamily="49" charset="-122"/>
                <a:ea typeface="黑体" panose="02010609060101010101" pitchFamily="49" charset="-122"/>
              </a:rPr>
              <a:t>）死锁定理：</a:t>
            </a:r>
          </a:p>
          <a:p>
            <a:pPr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可以通过将资源分配图简化的方法来检测系统状态</a:t>
            </a:r>
            <a:r>
              <a:rPr lang="en-US" altLang="zh-CN" sz="2800" b="1" dirty="0">
                <a:solidFill>
                  <a:srgbClr val="FFFF00"/>
                </a:solidFill>
                <a:effectLst/>
                <a:latin typeface="黑体" panose="02010609060101010101" pitchFamily="49" charset="-122"/>
                <a:ea typeface="黑体" panose="02010609060101010101" pitchFamily="49" charset="-122"/>
              </a:rPr>
              <a:t>S</a:t>
            </a:r>
            <a:r>
              <a:rPr lang="zh-CN" altLang="en-US" sz="2800" b="1" dirty="0">
                <a:solidFill>
                  <a:srgbClr val="FFFF00"/>
                </a:solidFill>
                <a:effectLst/>
                <a:latin typeface="黑体" panose="02010609060101010101" pitchFamily="49" charset="-122"/>
                <a:ea typeface="黑体" panose="02010609060101010101" pitchFamily="49" charset="-122"/>
              </a:rPr>
              <a:t>是否为死锁状态</a:t>
            </a:r>
          </a:p>
          <a:p>
            <a:pPr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①在资源分配图中，找出既不阻塞又不是孤点的进程</a:t>
            </a:r>
            <a:r>
              <a:rPr lang="en-US" altLang="zh-CN" sz="2800" b="1" dirty="0">
                <a:solidFill>
                  <a:srgbClr val="FFFF00"/>
                </a:solidFill>
                <a:effectLst/>
                <a:latin typeface="黑体" panose="02010609060101010101" pitchFamily="49" charset="-122"/>
                <a:ea typeface="黑体" panose="02010609060101010101" pitchFamily="49" charset="-122"/>
              </a:rPr>
              <a:t>Pi(</a:t>
            </a:r>
            <a:r>
              <a:rPr lang="zh-CN" altLang="en-US" sz="2800" b="1" dirty="0">
                <a:solidFill>
                  <a:srgbClr val="FFFF00"/>
                </a:solidFill>
                <a:effectLst/>
                <a:latin typeface="黑体" panose="02010609060101010101" pitchFamily="49" charset="-122"/>
                <a:ea typeface="黑体" panose="02010609060101010101" pitchFamily="49" charset="-122"/>
              </a:rPr>
              <a:t>即找出一条有向边与它相连，且该有向边对应资源的申请数量小于系统中已有空闲资源数量。若所有的连接该进程的边均满足上述条件，则这个进程能继续运行直至完成，然后释放它所占有的所有资源</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。消去它所有的请求边和分配边，使之成为孤立的节点。</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6C83B751-91F5-41F0-BA68-9B8BD91ABB2F}"/>
              </a:ext>
            </a:extLst>
          </p:cNvPr>
          <p:cNvSpPr>
            <a:spLocks noGrp="1" noChangeArrowheads="1"/>
          </p:cNvSpPr>
          <p:nvPr>
            <p:ph type="body" idx="1"/>
          </p:nvPr>
        </p:nvSpPr>
        <p:spPr>
          <a:xfrm>
            <a:off x="468313" y="240908"/>
            <a:ext cx="8280151" cy="6119961"/>
          </a:xfrm>
        </p:spPr>
        <p:txBody>
          <a:bodyPr/>
          <a:lstStyle/>
          <a:p>
            <a:pPr algn="just"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在图</a:t>
            </a:r>
            <a:r>
              <a:rPr lang="en-US" altLang="zh-CN" sz="2800" b="1" dirty="0">
                <a:solidFill>
                  <a:srgbClr val="FFFF00"/>
                </a:solidFill>
                <a:effectLst/>
                <a:latin typeface="黑体" panose="02010609060101010101" pitchFamily="49" charset="-122"/>
                <a:ea typeface="黑体" panose="02010609060101010101" pitchFamily="49" charset="-122"/>
              </a:rPr>
              <a:t>a</a:t>
            </a:r>
            <a:r>
              <a:rPr lang="zh-CN" altLang="en-US" sz="2800" b="1" dirty="0">
                <a:solidFill>
                  <a:srgbClr val="FFFF00"/>
                </a:solidFill>
                <a:effectLst/>
                <a:latin typeface="黑体" panose="02010609060101010101" pitchFamily="49" charset="-122"/>
                <a:ea typeface="黑体" panose="02010609060101010101" pitchFamily="49" charset="-122"/>
              </a:rPr>
              <a:t>中，</a:t>
            </a:r>
            <a:r>
              <a:rPr lang="en-US" altLang="zh-CN" sz="2800" b="1" dirty="0">
                <a:solidFill>
                  <a:srgbClr val="FFFF00"/>
                </a:solidFill>
                <a:effectLst/>
                <a:latin typeface="黑体" panose="02010609060101010101" pitchFamily="49" charset="-122"/>
                <a:ea typeface="黑体" panose="02010609060101010101" pitchFamily="49" charset="-122"/>
              </a:rPr>
              <a:t>Pl</a:t>
            </a:r>
            <a:r>
              <a:rPr lang="zh-CN" altLang="en-US" sz="2800" b="1" dirty="0">
                <a:solidFill>
                  <a:srgbClr val="FFFF00"/>
                </a:solidFill>
                <a:effectLst/>
                <a:latin typeface="黑体" panose="02010609060101010101" pitchFamily="49" charset="-122"/>
                <a:ea typeface="黑体" panose="02010609060101010101" pitchFamily="49" charset="-122"/>
              </a:rPr>
              <a:t>是满足这一条件的进程节点，将</a:t>
            </a:r>
            <a:r>
              <a:rPr lang="en-US" altLang="zh-CN" sz="2800" b="1" dirty="0">
                <a:solidFill>
                  <a:srgbClr val="FFFF00"/>
                </a:solidFill>
                <a:effectLst/>
                <a:latin typeface="黑体" panose="02010609060101010101" pitchFamily="49" charset="-122"/>
                <a:ea typeface="黑体" panose="02010609060101010101" pitchFamily="49" charset="-122"/>
              </a:rPr>
              <a:t>P1</a:t>
            </a:r>
            <a:r>
              <a:rPr lang="zh-CN" altLang="en-US" sz="2800" b="1" dirty="0">
                <a:solidFill>
                  <a:srgbClr val="FFFF00"/>
                </a:solidFill>
                <a:effectLst/>
                <a:latin typeface="黑体" panose="02010609060101010101" pitchFamily="49" charset="-122"/>
                <a:ea typeface="黑体" panose="02010609060101010101" pitchFamily="49" charset="-122"/>
              </a:rPr>
              <a:t>的所有边消去，便得到图</a:t>
            </a:r>
            <a:r>
              <a:rPr lang="en-US" altLang="zh-CN" sz="2800" b="1" dirty="0">
                <a:solidFill>
                  <a:srgbClr val="FFFF00"/>
                </a:solidFill>
                <a:effectLst/>
                <a:latin typeface="黑体" panose="02010609060101010101" pitchFamily="49" charset="-122"/>
                <a:ea typeface="黑体" panose="02010609060101010101" pitchFamily="49" charset="-122"/>
              </a:rPr>
              <a:t>b</a:t>
            </a:r>
            <a:r>
              <a:rPr lang="zh-CN" altLang="en-US" sz="2800" b="1" dirty="0">
                <a:solidFill>
                  <a:srgbClr val="FFFF00"/>
                </a:solidFill>
                <a:effectLst/>
                <a:latin typeface="黑体" panose="02010609060101010101" pitchFamily="49" charset="-122"/>
                <a:ea typeface="黑体" panose="02010609060101010101" pitchFamily="49" charset="-122"/>
              </a:rPr>
              <a:t>所示的情况。</a:t>
            </a:r>
          </a:p>
        </p:txBody>
      </p:sp>
      <p:pic>
        <p:nvPicPr>
          <p:cNvPr id="3" name="图片 2">
            <a:extLst>
              <a:ext uri="{FF2B5EF4-FFF2-40B4-BE49-F238E27FC236}">
                <a16:creationId xmlns:a16="http://schemas.microsoft.com/office/drawing/2014/main" id="{C09AF85A-4B9F-4C9F-A9E0-B39FCC523CB1}"/>
              </a:ext>
            </a:extLst>
          </p:cNvPr>
          <p:cNvPicPr>
            <a:picLocks noChangeAspect="1"/>
          </p:cNvPicPr>
          <p:nvPr/>
        </p:nvPicPr>
        <p:blipFill rotWithShape="1">
          <a:blip r:embed="rId2"/>
          <a:srcRect l="6688" t="20602" r="6679" b="29305"/>
          <a:stretch/>
        </p:blipFill>
        <p:spPr>
          <a:xfrm>
            <a:off x="253034" y="1916832"/>
            <a:ext cx="8280151" cy="3456384"/>
          </a:xfrm>
          <a:prstGeom prst="rect">
            <a:avLst/>
          </a:prstGeom>
        </p:spPr>
      </p:pic>
    </p:spTree>
    <p:extLst>
      <p:ext uri="{BB962C8B-B14F-4D97-AF65-F5344CB8AC3E}">
        <p14:creationId xmlns:p14="http://schemas.microsoft.com/office/powerpoint/2010/main" val="364142199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D6571F7F-3829-4790-8583-CA2D2C09F683}"/>
              </a:ext>
            </a:extLst>
          </p:cNvPr>
          <p:cNvSpPr>
            <a:spLocks noGrp="1" noChangeArrowheads="1"/>
          </p:cNvSpPr>
          <p:nvPr>
            <p:ph type="body" idx="1"/>
          </p:nvPr>
        </p:nvSpPr>
        <p:spPr>
          <a:xfrm>
            <a:off x="468313" y="476250"/>
            <a:ext cx="7921625" cy="6192838"/>
          </a:xfrm>
        </p:spPr>
        <p:txBody>
          <a:bodyPr/>
          <a:lstStyle/>
          <a:p>
            <a:pPr algn="just"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2</a:t>
            </a:r>
            <a:r>
              <a:rPr lang="zh-CN" altLang="en-US" b="1" dirty="0">
                <a:solidFill>
                  <a:srgbClr val="FFFF00"/>
                </a:solidFill>
                <a:effectLst/>
                <a:latin typeface="黑体" panose="02010609060101010101" pitchFamily="49" charset="-122"/>
                <a:ea typeface="黑体" panose="02010609060101010101" pitchFamily="49" charset="-122"/>
              </a:rPr>
              <a:t>）死锁定理：</a:t>
            </a:r>
          </a:p>
          <a:p>
            <a:pPr algn="just" eaLnBrk="1" hangingPunct="1">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②进程</a:t>
            </a:r>
            <a:r>
              <a:rPr lang="en-US" altLang="zh-CN" b="1" dirty="0">
                <a:solidFill>
                  <a:srgbClr val="FFFF00"/>
                </a:solidFill>
                <a:effectLst/>
                <a:latin typeface="黑体" panose="02010609060101010101" pitchFamily="49" charset="-122"/>
                <a:ea typeface="黑体" panose="02010609060101010101" pitchFamily="49" charset="-122"/>
              </a:rPr>
              <a:t>Pi</a:t>
            </a:r>
            <a:r>
              <a:rPr lang="zh-CN" altLang="en-US" b="1" dirty="0">
                <a:solidFill>
                  <a:srgbClr val="FFFF00"/>
                </a:solidFill>
                <a:effectLst/>
                <a:latin typeface="黑体" panose="02010609060101010101" pitchFamily="49" charset="-122"/>
                <a:ea typeface="黑体" panose="02010609060101010101" pitchFamily="49" charset="-122"/>
              </a:rPr>
              <a:t>所释放的资源，可以唤醒某些因等待这些资源而阻塞的进程，原来的阻塞进程可能变为非阻塞进程。在图中，进程</a:t>
            </a:r>
            <a:r>
              <a:rPr lang="en-US" altLang="zh-CN" b="1" dirty="0">
                <a:solidFill>
                  <a:srgbClr val="FFFF00"/>
                </a:solidFill>
                <a:effectLst/>
                <a:latin typeface="黑体" panose="02010609060101010101" pitchFamily="49" charset="-122"/>
                <a:ea typeface="黑体" panose="02010609060101010101" pitchFamily="49" charset="-122"/>
              </a:rPr>
              <a:t>P2</a:t>
            </a:r>
            <a:r>
              <a:rPr lang="zh-CN" altLang="en-US" b="1" dirty="0">
                <a:solidFill>
                  <a:srgbClr val="FFFF00"/>
                </a:solidFill>
                <a:effectLst/>
                <a:latin typeface="黑体" panose="02010609060101010101" pitchFamily="49" charset="-122"/>
                <a:ea typeface="黑体" panose="02010609060101010101" pitchFamily="49" charset="-122"/>
              </a:rPr>
              <a:t>就满足这样的条件。根据①中的方法进行一系列简化后，若能消去图中所有的边，则称该图是可完全简化的，如图</a:t>
            </a:r>
            <a:r>
              <a:rPr lang="en-US" altLang="zh-CN" b="1" dirty="0">
                <a:solidFill>
                  <a:srgbClr val="FFFF00"/>
                </a:solidFill>
                <a:effectLst/>
                <a:latin typeface="黑体" panose="02010609060101010101" pitchFamily="49" charset="-122"/>
                <a:ea typeface="黑体" panose="02010609060101010101" pitchFamily="49" charset="-122"/>
              </a:rPr>
              <a:t>c</a:t>
            </a:r>
            <a:r>
              <a:rPr lang="zh-CN" altLang="en-US" b="1" dirty="0">
                <a:solidFill>
                  <a:srgbClr val="FFFF00"/>
                </a:solidFill>
                <a:effectLst/>
                <a:latin typeface="黑体" panose="02010609060101010101" pitchFamily="49" charset="-122"/>
                <a:ea typeface="黑体" panose="02010609060101010101" pitchFamily="49" charset="-122"/>
              </a:rPr>
              <a:t>所示。</a:t>
            </a:r>
          </a:p>
        </p:txBody>
      </p:sp>
      <p:pic>
        <p:nvPicPr>
          <p:cNvPr id="4" name="图片 3">
            <a:extLst>
              <a:ext uri="{FF2B5EF4-FFF2-40B4-BE49-F238E27FC236}">
                <a16:creationId xmlns:a16="http://schemas.microsoft.com/office/drawing/2014/main" id="{7B53735B-214D-4394-8A79-5D52785A0014}"/>
              </a:ext>
            </a:extLst>
          </p:cNvPr>
          <p:cNvPicPr>
            <a:picLocks noChangeAspect="1"/>
          </p:cNvPicPr>
          <p:nvPr/>
        </p:nvPicPr>
        <p:blipFill rotWithShape="1">
          <a:blip r:embed="rId2"/>
          <a:srcRect l="6688" t="20601" r="6679" b="22000"/>
          <a:stretch/>
        </p:blipFill>
        <p:spPr>
          <a:xfrm>
            <a:off x="289049" y="4509120"/>
            <a:ext cx="8280151" cy="2159968"/>
          </a:xfrm>
          <a:prstGeom prst="rect">
            <a:avLst/>
          </a:prstGeom>
        </p:spPr>
      </p:pic>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D6571F7F-3829-4790-8583-CA2D2C09F683}"/>
              </a:ext>
            </a:extLst>
          </p:cNvPr>
          <p:cNvSpPr>
            <a:spLocks noGrp="1" noChangeArrowheads="1"/>
          </p:cNvSpPr>
          <p:nvPr>
            <p:ph type="body" idx="1"/>
          </p:nvPr>
        </p:nvSpPr>
        <p:spPr>
          <a:xfrm>
            <a:off x="468313" y="836712"/>
            <a:ext cx="7921625" cy="5832376"/>
          </a:xfrm>
        </p:spPr>
        <p:txBody>
          <a:bodyPr/>
          <a:lstStyle/>
          <a:p>
            <a:pPr algn="just" eaLnBrk="1" hangingPunct="1">
              <a:buFont typeface="Wingdings" panose="05000000000000000000" pitchFamily="2" charset="2"/>
              <a:buNone/>
            </a:pPr>
            <a:r>
              <a:rPr lang="zh-CN" altLang="en-US" b="1" dirty="0">
                <a:solidFill>
                  <a:srgbClr val="FFFF00"/>
                </a:solidFill>
                <a:effectLst/>
                <a:latin typeface="黑体" panose="02010609060101010101" pitchFamily="49" charset="-122"/>
                <a:ea typeface="黑体" panose="02010609060101010101" pitchFamily="49" charset="-122"/>
              </a:rPr>
              <a:t>（</a:t>
            </a:r>
            <a:r>
              <a:rPr lang="en-US" altLang="zh-CN" b="1" dirty="0">
                <a:solidFill>
                  <a:srgbClr val="FFFF00"/>
                </a:solidFill>
                <a:effectLst/>
                <a:latin typeface="黑体" panose="02010609060101010101" pitchFamily="49" charset="-122"/>
                <a:ea typeface="黑体" panose="02010609060101010101" pitchFamily="49" charset="-122"/>
              </a:rPr>
              <a:t>2</a:t>
            </a:r>
            <a:r>
              <a:rPr lang="zh-CN" altLang="en-US" b="1" dirty="0">
                <a:solidFill>
                  <a:srgbClr val="FFFF00"/>
                </a:solidFill>
                <a:effectLst/>
                <a:latin typeface="黑体" panose="02010609060101010101" pitchFamily="49" charset="-122"/>
                <a:ea typeface="黑体" panose="02010609060101010101" pitchFamily="49" charset="-122"/>
              </a:rPr>
              <a:t>）死锁定理：</a:t>
            </a:r>
          </a:p>
          <a:p>
            <a:pPr algn="just" eaLnBrk="1" hangingPunct="1">
              <a:buFont typeface="Wingdings" panose="05000000000000000000" pitchFamily="2" charset="2"/>
              <a:buChar char="ü"/>
            </a:pPr>
            <a:endParaRPr lang="en-US" altLang="zh-CN" b="1" dirty="0">
              <a:solidFill>
                <a:srgbClr val="FFFF00"/>
              </a:solidFill>
              <a:effectLst/>
              <a:latin typeface="黑体" panose="02010609060101010101" pitchFamily="49" charset="-122"/>
              <a:ea typeface="黑体" panose="02010609060101010101" pitchFamily="49" charset="-122"/>
            </a:endParaRPr>
          </a:p>
          <a:p>
            <a:pPr algn="just" eaLnBrk="1" hangingPunct="1">
              <a:buFont typeface="Wingdings" panose="05000000000000000000" pitchFamily="2" charset="2"/>
              <a:buChar char="ü"/>
            </a:pPr>
            <a:r>
              <a:rPr lang="en-US" altLang="zh-CN" b="1" dirty="0">
                <a:solidFill>
                  <a:srgbClr val="FFFF00"/>
                </a:solidFill>
                <a:effectLst/>
                <a:latin typeface="黑体" panose="02010609060101010101" pitchFamily="49" charset="-122"/>
                <a:ea typeface="黑体" panose="02010609060101010101" pitchFamily="49" charset="-122"/>
              </a:rPr>
              <a:t>S</a:t>
            </a:r>
            <a:r>
              <a:rPr lang="zh-CN" altLang="en-US" b="1" dirty="0">
                <a:solidFill>
                  <a:srgbClr val="FFFF00"/>
                </a:solidFill>
                <a:effectLst/>
                <a:latin typeface="黑体" panose="02010609060101010101" pitchFamily="49" charset="-122"/>
                <a:ea typeface="黑体" panose="02010609060101010101" pitchFamily="49" charset="-122"/>
              </a:rPr>
              <a:t>为死锁的条件是当且仅当</a:t>
            </a:r>
            <a:r>
              <a:rPr lang="en-US" altLang="zh-CN" b="1" dirty="0">
                <a:solidFill>
                  <a:srgbClr val="FFFF00"/>
                </a:solidFill>
                <a:effectLst/>
                <a:latin typeface="黑体" panose="02010609060101010101" pitchFamily="49" charset="-122"/>
                <a:ea typeface="黑体" panose="02010609060101010101" pitchFamily="49" charset="-122"/>
              </a:rPr>
              <a:t>S</a:t>
            </a:r>
            <a:r>
              <a:rPr lang="zh-CN" altLang="en-US" b="1" dirty="0">
                <a:solidFill>
                  <a:srgbClr val="FFFF00"/>
                </a:solidFill>
                <a:effectLst/>
                <a:latin typeface="黑体" panose="02010609060101010101" pitchFamily="49" charset="-122"/>
                <a:ea typeface="黑体" panose="02010609060101010101" pitchFamily="49" charset="-122"/>
              </a:rPr>
              <a:t>状态的资源分配图是不可完全简化的，该条件为死锁定理</a:t>
            </a:r>
            <a:endParaRPr lang="en-US" altLang="zh-CN" b="1" dirty="0">
              <a:solidFill>
                <a:srgbClr val="FFFF00"/>
              </a:solidFill>
              <a:effectLst/>
              <a:latin typeface="黑体" panose="02010609060101010101" pitchFamily="49" charset="-122"/>
              <a:ea typeface="黑体" panose="02010609060101010101" pitchFamily="49" charset="-122"/>
            </a:endParaRPr>
          </a:p>
          <a:p>
            <a:pPr algn="just" eaLnBrk="1" hangingPunct="1">
              <a:buFont typeface="Wingdings" panose="05000000000000000000" pitchFamily="2" charset="2"/>
              <a:buChar char="ü"/>
            </a:pPr>
            <a:endParaRPr lang="en-US" altLang="zh-CN" b="1" dirty="0">
              <a:solidFill>
                <a:srgbClr val="FFFF00"/>
              </a:solidFill>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67497172"/>
      </p:ext>
    </p:extLst>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C220D16B-E50F-40FA-86E2-712019B37D20}"/>
              </a:ext>
            </a:extLst>
          </p:cNvPr>
          <p:cNvSpPr>
            <a:spLocks noGrp="1" noChangeArrowheads="1"/>
          </p:cNvSpPr>
          <p:nvPr>
            <p:ph type="body" idx="1"/>
          </p:nvPr>
        </p:nvSpPr>
        <p:spPr>
          <a:xfrm>
            <a:off x="827088" y="1268413"/>
            <a:ext cx="7772400" cy="4746625"/>
          </a:xfrm>
          <a:noFill/>
          <a:extLst>
            <a:ext uri="{909E8E84-426E-40DD-AFC4-6F175D3DCCD1}">
              <a14:hiddenFill xmlns:a14="http://schemas.microsoft.com/office/drawing/2010/main">
                <a:solidFill>
                  <a:schemeClr val="accent1"/>
                </a:solidFill>
              </a14:hiddenFill>
            </a:ext>
          </a:extLst>
        </p:spPr>
        <p:txBody>
          <a:bodyPr/>
          <a:lstStyle/>
          <a:p>
            <a:pPr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检测时机：</a:t>
            </a:r>
          </a:p>
          <a:p>
            <a:pPr eaLnBrk="1" hangingPunct="1">
              <a:buFont typeface="Wingdings" panose="05000000000000000000" pitchFamily="2" charset="2"/>
              <a:buNone/>
            </a:pPr>
            <a:endParaRPr lang="zh-CN" altLang="en-US" sz="3600" b="1">
              <a:solidFill>
                <a:srgbClr val="FFFF00"/>
              </a:solidFill>
              <a:effectLst/>
              <a:latin typeface="黑体" panose="02010609060101010101" pitchFamily="49" charset="-122"/>
              <a:ea typeface="黑体" panose="02010609060101010101" pitchFamily="49" charset="-122"/>
            </a:endParaRPr>
          </a:p>
          <a:p>
            <a:pPr eaLnBrk="1" hangingPunct="1">
              <a:buSzPct val="70000"/>
              <a:buFont typeface="Wingdings" panose="05000000000000000000" pitchFamily="2" charset="2"/>
              <a:buChar char="Ø"/>
            </a:pPr>
            <a:r>
              <a:rPr lang="zh-CN" altLang="en-US" sz="3600" b="1">
                <a:solidFill>
                  <a:srgbClr val="FFFF00"/>
                </a:solidFill>
                <a:effectLst/>
                <a:latin typeface="黑体" panose="02010609060101010101" pitchFamily="49" charset="-122"/>
                <a:ea typeface="黑体" panose="02010609060101010101" pitchFamily="49" charset="-122"/>
              </a:rPr>
              <a:t> 当进程等待时检测死锁   </a:t>
            </a:r>
          </a:p>
          <a:p>
            <a:pPr eaLnBrk="1" hangingPunct="1">
              <a:buSzPct val="70000"/>
              <a:buFont typeface="Wingdings" panose="05000000000000000000" pitchFamily="2" charset="2"/>
              <a:buChar char="Ø"/>
            </a:pPr>
            <a:r>
              <a:rPr lang="zh-CN" altLang="en-US" sz="3600" b="1">
                <a:solidFill>
                  <a:srgbClr val="FFFF00"/>
                </a:solidFill>
                <a:effectLst/>
                <a:latin typeface="黑体" panose="02010609060101010101" pitchFamily="49" charset="-122"/>
                <a:ea typeface="黑体" panose="02010609060101010101" pitchFamily="49" charset="-122"/>
              </a:rPr>
              <a:t> 定时检测</a:t>
            </a:r>
          </a:p>
          <a:p>
            <a:pPr eaLnBrk="1" hangingPunct="1">
              <a:buSzPct val="70000"/>
              <a:buFont typeface="Wingdings" panose="05000000000000000000" pitchFamily="2" charset="2"/>
              <a:buChar char="Ø"/>
            </a:pPr>
            <a:r>
              <a:rPr lang="zh-CN" altLang="en-US" sz="3600" b="1">
                <a:solidFill>
                  <a:srgbClr val="FFFF00"/>
                </a:solidFill>
                <a:effectLst/>
                <a:latin typeface="黑体" panose="02010609060101010101" pitchFamily="49" charset="-122"/>
                <a:ea typeface="黑体" panose="02010609060101010101" pitchFamily="49" charset="-122"/>
              </a:rPr>
              <a:t> 系统资源利用率下降时检测死锁</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379DC1BA-6555-4EB2-B9D2-0F6074DDB845}"/>
              </a:ext>
            </a:extLst>
          </p:cNvPr>
          <p:cNvSpPr>
            <a:spLocks noGrp="1" noChangeArrowheads="1"/>
          </p:cNvSpPr>
          <p:nvPr>
            <p:ph type="body" idx="1"/>
          </p:nvPr>
        </p:nvSpPr>
        <p:spPr>
          <a:xfrm>
            <a:off x="468313" y="476250"/>
            <a:ext cx="7921625" cy="6192838"/>
          </a:xfrm>
        </p:spPr>
        <p:txBody>
          <a:bodyPr/>
          <a:lstStyle/>
          <a:p>
            <a:pPr algn="just" eaLnBrk="1" hangingPunct="1">
              <a:buFont typeface="Wingdings" panose="05000000000000000000" pitchFamily="2" charset="2"/>
              <a:buNone/>
            </a:pPr>
            <a:r>
              <a:rPr lang="zh-CN" altLang="en-US" sz="2800" b="1" dirty="0">
                <a:solidFill>
                  <a:srgbClr val="FFFF00"/>
                </a:solidFill>
                <a:effectLst/>
                <a:latin typeface="黑体" panose="02010609060101010101" pitchFamily="49" charset="-122"/>
                <a:ea typeface="黑体" panose="02010609060101010101" pitchFamily="49" charset="-122"/>
              </a:rPr>
              <a:t>（</a:t>
            </a:r>
            <a:r>
              <a:rPr lang="en-US" altLang="zh-CN" sz="2800" b="1" dirty="0">
                <a:solidFill>
                  <a:srgbClr val="FFFF00"/>
                </a:solidFill>
                <a:effectLst/>
                <a:latin typeface="黑体" panose="02010609060101010101" pitchFamily="49" charset="-122"/>
                <a:ea typeface="黑体" panose="02010609060101010101" pitchFamily="49" charset="-122"/>
              </a:rPr>
              <a:t>3</a:t>
            </a:r>
            <a:r>
              <a:rPr lang="zh-CN" altLang="en-US" sz="2800" b="1" dirty="0">
                <a:solidFill>
                  <a:srgbClr val="FFFF00"/>
                </a:solidFill>
                <a:effectLst/>
                <a:latin typeface="黑体" panose="02010609060101010101" pitchFamily="49" charset="-122"/>
                <a:ea typeface="黑体" panose="02010609060101010101" pitchFamily="49" charset="-122"/>
              </a:rPr>
              <a:t>）死锁的解除</a:t>
            </a:r>
          </a:p>
          <a:p>
            <a:pPr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一旦检测出死锁，则应立即采取相应的措施解除死锁。死锁解除的主要方法有：</a:t>
            </a:r>
          </a:p>
          <a:p>
            <a:pPr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①资源剥夺法。挂起某些死锁进程，并抢占它的资源，将这些资源分配给其他的死锁进程。</a:t>
            </a:r>
          </a:p>
          <a:p>
            <a:pPr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②撤销进程法。强制撤销一个或一部分死锁进程并剥夺这些进程的资源。撤销的原则可以按进程优先级和撤销进程代价的高低进行。</a:t>
            </a:r>
          </a:p>
          <a:p>
            <a:pPr algn="just" eaLnBrk="1" hangingPunct="1">
              <a:buFont typeface="Wingdings" panose="05000000000000000000" pitchFamily="2" charset="2"/>
              <a:buChar char="ü"/>
            </a:pPr>
            <a:r>
              <a:rPr lang="zh-CN" altLang="en-US" sz="2800" b="1" dirty="0">
                <a:solidFill>
                  <a:srgbClr val="FFFF00"/>
                </a:solidFill>
                <a:effectLst/>
                <a:latin typeface="黑体" panose="02010609060101010101" pitchFamily="49" charset="-122"/>
                <a:ea typeface="黑体" panose="02010609060101010101" pitchFamily="49" charset="-122"/>
              </a:rPr>
              <a:t>③进程回退法。让一</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多</a:t>
            </a:r>
            <a:r>
              <a:rPr lang="en-US" altLang="zh-CN" sz="2800" b="1" dirty="0">
                <a:solidFill>
                  <a:srgbClr val="FFFF00"/>
                </a:solidFill>
                <a:effectLst/>
                <a:latin typeface="黑体" panose="02010609060101010101" pitchFamily="49" charset="-122"/>
                <a:ea typeface="黑体" panose="02010609060101010101" pitchFamily="49" charset="-122"/>
              </a:rPr>
              <a:t>)</a:t>
            </a:r>
            <a:r>
              <a:rPr lang="zh-CN" altLang="en-US" sz="2800" b="1" dirty="0">
                <a:solidFill>
                  <a:srgbClr val="FFFF00"/>
                </a:solidFill>
                <a:effectLst/>
                <a:latin typeface="黑体" panose="02010609060101010101" pitchFamily="49" charset="-122"/>
                <a:ea typeface="黑体" panose="02010609060101010101" pitchFamily="49" charset="-122"/>
              </a:rPr>
              <a:t>个进程回退到足以回避死锁的地步，进程回退时自愿释放资源而不是被剥夺。要求系统保持进程的历史信息，设置还原点。</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949F7225-6B3D-4544-81DD-48F468EC8180}"/>
              </a:ext>
            </a:extLst>
          </p:cNvPr>
          <p:cNvSpPr>
            <a:spLocks noGrp="1" noChangeArrowheads="1"/>
          </p:cNvSpPr>
          <p:nvPr>
            <p:ph type="body" idx="1"/>
          </p:nvPr>
        </p:nvSpPr>
        <p:spPr>
          <a:xfrm>
            <a:off x="468313" y="836613"/>
            <a:ext cx="7921625" cy="5832475"/>
          </a:xfrm>
        </p:spPr>
        <p:txBody>
          <a:bodyPr/>
          <a:lstStyle/>
          <a:p>
            <a:pPr algn="just"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a:t>
            </a:r>
            <a:r>
              <a:rPr lang="en-US" altLang="zh-CN" sz="3600" b="1">
                <a:solidFill>
                  <a:srgbClr val="FFFF00"/>
                </a:solidFill>
                <a:effectLst/>
                <a:latin typeface="黑体" panose="02010609060101010101" pitchFamily="49" charset="-122"/>
                <a:ea typeface="黑体" panose="02010609060101010101" pitchFamily="49" charset="-122"/>
              </a:rPr>
              <a:t>3</a:t>
            </a:r>
            <a:r>
              <a:rPr lang="zh-CN" altLang="en-US" sz="3600" b="1">
                <a:solidFill>
                  <a:srgbClr val="FFFF00"/>
                </a:solidFill>
                <a:effectLst/>
                <a:latin typeface="黑体" panose="02010609060101010101" pitchFamily="49" charset="-122"/>
                <a:ea typeface="黑体" panose="02010609060101010101" pitchFamily="49" charset="-122"/>
              </a:rPr>
              <a:t>）死锁的解除</a:t>
            </a:r>
          </a:p>
          <a:p>
            <a:pPr algn="just" eaLnBrk="1" hangingPunct="1">
              <a:buFont typeface="Wingdings" panose="05000000000000000000" pitchFamily="2" charset="2"/>
              <a:buChar char="ü"/>
            </a:pPr>
            <a:endParaRPr lang="zh-CN" altLang="en-US" sz="3600" b="1">
              <a:solidFill>
                <a:srgbClr val="FFFF00"/>
              </a:solidFill>
              <a:effectLst/>
              <a:latin typeface="黑体" panose="02010609060101010101" pitchFamily="49" charset="-122"/>
              <a:ea typeface="黑体" panose="02010609060101010101" pitchFamily="49" charset="-122"/>
            </a:endParaRPr>
          </a:p>
          <a:p>
            <a:pPr algn="just" eaLnBrk="1" hangingPunct="1">
              <a:buFont typeface="Wingdings" panose="05000000000000000000" pitchFamily="2" charset="2"/>
              <a:buChar char="ü"/>
            </a:pPr>
            <a:r>
              <a:rPr lang="zh-CN" altLang="en-US" sz="3600" b="1">
                <a:solidFill>
                  <a:srgbClr val="FFFF00"/>
                </a:solidFill>
                <a:effectLst/>
                <a:latin typeface="黑体" panose="02010609060101010101" pitchFamily="49" charset="-122"/>
                <a:ea typeface="黑体" panose="02010609060101010101" pitchFamily="49" charset="-122"/>
              </a:rPr>
              <a:t>无论哪一种解除死锁的方法，都需要很大的开销。但是死锁的检测与解除办法不对系统的资源分配加任何限制，因此是对付死锁的诸办法中资源利用率最高的一种办法</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6">
            <a:extLst>
              <a:ext uri="{FF2B5EF4-FFF2-40B4-BE49-F238E27FC236}">
                <a16:creationId xmlns:a16="http://schemas.microsoft.com/office/drawing/2014/main" id="{9BF8268D-A846-4CFC-95FD-A53AB9974CEE}"/>
              </a:ext>
            </a:extLst>
          </p:cNvPr>
          <p:cNvSpPr>
            <a:spLocks noGrp="1"/>
          </p:cNvSpPr>
          <p:nvPr>
            <p:ph type="sldNum" sz="quarter" idx="12"/>
          </p:nvPr>
        </p:nvSpPr>
        <p:spPr/>
        <p:txBody>
          <a:bodyPr/>
          <a:lstStyle/>
          <a:p>
            <a:pPr>
              <a:defRPr/>
            </a:pPr>
            <a:fld id="{E547E2EC-4EFA-49FA-A0DA-FD61EBE5F001}" type="slidenum">
              <a:rPr lang="en-US" altLang="zh-CN"/>
              <a:pPr>
                <a:defRPr/>
              </a:pPr>
              <a:t>163</a:t>
            </a:fld>
            <a:endParaRPr lang="en-US" altLang="zh-CN"/>
          </a:p>
        </p:txBody>
      </p:sp>
      <p:sp>
        <p:nvSpPr>
          <p:cNvPr id="102403" name="Rectangle 2">
            <a:extLst>
              <a:ext uri="{FF2B5EF4-FFF2-40B4-BE49-F238E27FC236}">
                <a16:creationId xmlns:a16="http://schemas.microsoft.com/office/drawing/2014/main" id="{2A0D2CC1-8B5F-4928-BE37-6EADE2A61CCD}"/>
              </a:ext>
            </a:extLst>
          </p:cNvPr>
          <p:cNvSpPr>
            <a:spLocks noGrp="1" noChangeArrowheads="1"/>
          </p:cNvSpPr>
          <p:nvPr>
            <p:ph type="title"/>
          </p:nvPr>
        </p:nvSpPr>
        <p:spPr>
          <a:xfrm>
            <a:off x="468313" y="260350"/>
            <a:ext cx="8229600" cy="1296988"/>
          </a:xfr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lnSpc>
                <a:spcPct val="70000"/>
              </a:lnSpc>
            </a:pPr>
            <a:r>
              <a:rPr kumimoji="1" lang="zh-CN" altLang="en-US" b="1">
                <a:solidFill>
                  <a:schemeClr val="tx1"/>
                </a:solidFill>
                <a:effectLst/>
              </a:rPr>
              <a:t>第三章  进程管理</a:t>
            </a:r>
          </a:p>
        </p:txBody>
      </p:sp>
      <p:sp>
        <p:nvSpPr>
          <p:cNvPr id="102404" name="Rectangle 5">
            <a:extLst>
              <a:ext uri="{FF2B5EF4-FFF2-40B4-BE49-F238E27FC236}">
                <a16:creationId xmlns:a16="http://schemas.microsoft.com/office/drawing/2014/main" id="{E0E8B063-C273-42C1-8C5E-8971EDE512F4}"/>
              </a:ext>
            </a:extLst>
          </p:cNvPr>
          <p:cNvSpPr>
            <a:spLocks noGrp="1" noChangeArrowheads="1"/>
          </p:cNvSpPr>
          <p:nvPr>
            <p:ph type="body" sz="half" idx="1"/>
          </p:nvPr>
        </p:nvSpPr>
        <p:spPr>
          <a:xfrm>
            <a:off x="1835150" y="1628775"/>
            <a:ext cx="5807075" cy="4679950"/>
          </a:xfrm>
        </p:spPr>
        <p:txBody>
          <a:bodyPr/>
          <a:lstStyle/>
          <a:p>
            <a:pPr eaLnBrk="1" hangingPunct="1"/>
            <a:r>
              <a:rPr lang="en-US" altLang="zh-CN" sz="3600" b="1">
                <a:solidFill>
                  <a:srgbClr val="FFFF00"/>
                </a:solidFill>
                <a:effectLst/>
                <a:ea typeface="黑体" panose="02010609060101010101" pitchFamily="49" charset="-122"/>
              </a:rPr>
              <a:t>3.1</a:t>
            </a:r>
            <a:r>
              <a:rPr lang="zh-CN" altLang="en-US" sz="3600" b="1">
                <a:solidFill>
                  <a:srgbClr val="FFFF00"/>
                </a:solidFill>
                <a:effectLst/>
                <a:ea typeface="黑体" panose="02010609060101010101" pitchFamily="49" charset="-122"/>
              </a:rPr>
              <a:t>进程的概念</a:t>
            </a:r>
          </a:p>
          <a:p>
            <a:pPr eaLnBrk="1" hangingPunct="1"/>
            <a:r>
              <a:rPr lang="en-US" altLang="zh-CN" sz="3600" b="1">
                <a:solidFill>
                  <a:srgbClr val="FFFF00"/>
                </a:solidFill>
                <a:effectLst/>
                <a:ea typeface="黑体" panose="02010609060101010101" pitchFamily="49" charset="-122"/>
              </a:rPr>
              <a:t>3.2</a:t>
            </a:r>
            <a:r>
              <a:rPr lang="zh-CN" altLang="en-US" sz="3600" b="1">
                <a:solidFill>
                  <a:srgbClr val="FFFF00"/>
                </a:solidFill>
                <a:effectLst/>
                <a:ea typeface="黑体" panose="02010609060101010101" pitchFamily="49" charset="-122"/>
              </a:rPr>
              <a:t>进程状态及其转换</a:t>
            </a:r>
          </a:p>
          <a:p>
            <a:pPr eaLnBrk="1" hangingPunct="1"/>
            <a:r>
              <a:rPr lang="en-US" altLang="zh-CN" sz="3600" b="1">
                <a:solidFill>
                  <a:srgbClr val="FFFF00"/>
                </a:solidFill>
                <a:effectLst/>
                <a:ea typeface="黑体" panose="02010609060101010101" pitchFamily="49" charset="-122"/>
              </a:rPr>
              <a:t>3.3</a:t>
            </a:r>
            <a:r>
              <a:rPr lang="zh-CN" altLang="en-US" sz="3600" b="1">
                <a:solidFill>
                  <a:srgbClr val="FFFF00"/>
                </a:solidFill>
                <a:effectLst/>
                <a:ea typeface="黑体" panose="02010609060101010101" pitchFamily="49" charset="-122"/>
              </a:rPr>
              <a:t>进程控制</a:t>
            </a:r>
          </a:p>
          <a:p>
            <a:pPr eaLnBrk="1" hangingPunct="1"/>
            <a:r>
              <a:rPr lang="en-US" altLang="zh-CN" sz="3600" b="1">
                <a:solidFill>
                  <a:srgbClr val="FFFF00"/>
                </a:solidFill>
                <a:effectLst/>
                <a:ea typeface="黑体" panose="02010609060101010101" pitchFamily="49" charset="-122"/>
              </a:rPr>
              <a:t>3.4</a:t>
            </a:r>
            <a:r>
              <a:rPr lang="zh-CN" altLang="en-US" sz="3600" b="1">
                <a:solidFill>
                  <a:srgbClr val="FFFF00"/>
                </a:solidFill>
                <a:effectLst/>
                <a:ea typeface="黑体" panose="02010609060101010101" pitchFamily="49" charset="-122"/>
              </a:rPr>
              <a:t>进程的同步与互斥</a:t>
            </a:r>
          </a:p>
          <a:p>
            <a:pPr eaLnBrk="1" hangingPunct="1"/>
            <a:r>
              <a:rPr lang="en-US" altLang="zh-CN" sz="3600" b="1">
                <a:solidFill>
                  <a:srgbClr val="FFFF00"/>
                </a:solidFill>
                <a:effectLst/>
                <a:ea typeface="黑体" panose="02010609060101010101" pitchFamily="49" charset="-122"/>
              </a:rPr>
              <a:t>3.5</a:t>
            </a:r>
            <a:r>
              <a:rPr lang="zh-CN" altLang="en-US" sz="3600" b="1">
                <a:solidFill>
                  <a:srgbClr val="FFFF00"/>
                </a:solidFill>
                <a:effectLst/>
                <a:ea typeface="黑体" panose="02010609060101010101" pitchFamily="49" charset="-122"/>
              </a:rPr>
              <a:t>进程通信</a:t>
            </a:r>
          </a:p>
          <a:p>
            <a:pPr eaLnBrk="1" hangingPunct="1"/>
            <a:r>
              <a:rPr lang="en-US" altLang="zh-CN" sz="3600" b="1">
                <a:solidFill>
                  <a:srgbClr val="FFFF00"/>
                </a:solidFill>
                <a:effectLst/>
                <a:ea typeface="黑体" panose="02010609060101010101" pitchFamily="49" charset="-122"/>
              </a:rPr>
              <a:t>3.6</a:t>
            </a:r>
            <a:r>
              <a:rPr lang="zh-CN" altLang="en-US" sz="3600" b="1">
                <a:solidFill>
                  <a:srgbClr val="FFFF00"/>
                </a:solidFill>
                <a:effectLst/>
                <a:ea typeface="黑体" panose="02010609060101010101" pitchFamily="49" charset="-122"/>
              </a:rPr>
              <a:t>死锁</a:t>
            </a:r>
          </a:p>
          <a:p>
            <a:pPr eaLnBrk="1" hangingPunct="1"/>
            <a:r>
              <a:rPr lang="en-US" altLang="zh-CN" sz="3600" b="1">
                <a:solidFill>
                  <a:srgbClr val="FFFF00"/>
                </a:solidFill>
                <a:effectLst/>
                <a:ea typeface="黑体" panose="02010609060101010101" pitchFamily="49" charset="-122"/>
              </a:rPr>
              <a:t>3.7</a:t>
            </a:r>
            <a:r>
              <a:rPr lang="zh-CN" altLang="en-US" sz="3600" b="1">
                <a:solidFill>
                  <a:srgbClr val="FFFF00"/>
                </a:solidFill>
                <a:effectLst/>
                <a:ea typeface="黑体" panose="02010609060101010101" pitchFamily="49" charset="-122"/>
              </a:rPr>
              <a:t>线程</a:t>
            </a:r>
          </a:p>
        </p:txBody>
      </p:sp>
    </p:spTree>
    <p:extLst>
      <p:ext uri="{BB962C8B-B14F-4D97-AF65-F5344CB8AC3E}">
        <p14:creationId xmlns:p14="http://schemas.microsoft.com/office/powerpoint/2010/main" val="3793865182"/>
      </p:ext>
    </p:extLst>
  </p:cSld>
  <p:clrMapOvr>
    <a:masterClrMapping/>
  </p:clrMapOvr>
  <p:transition spd="slow"/>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9E51AB4C-6B81-4E87-89F1-62F7E6742A6A}"/>
              </a:ext>
            </a:extLst>
          </p:cNvPr>
          <p:cNvSpPr>
            <a:spLocks noGrp="1" noChangeArrowheads="1"/>
          </p:cNvSpPr>
          <p:nvPr>
            <p:ph type="title"/>
          </p:nvPr>
        </p:nvSpPr>
        <p:spPr>
          <a:xfrm>
            <a:off x="0" y="620713"/>
            <a:ext cx="8229600" cy="922337"/>
          </a:xfrm>
        </p:spPr>
        <p:txBody>
          <a:bodyPr/>
          <a:lstStyle/>
          <a:p>
            <a:pPr eaLnBrk="1" hangingPunct="1"/>
            <a:r>
              <a:rPr lang="en-US" altLang="zh-CN" b="1">
                <a:solidFill>
                  <a:schemeClr val="tx1"/>
                </a:solidFill>
                <a:effectLst/>
                <a:latin typeface="Times New Roman" panose="02020603050405020304" pitchFamily="18" charset="0"/>
                <a:cs typeface="Times New Roman" panose="02020603050405020304" pitchFamily="18" charset="0"/>
              </a:rPr>
              <a:t>3.7  </a:t>
            </a:r>
            <a:r>
              <a:rPr lang="zh-CN" altLang="en-US" b="1">
                <a:solidFill>
                  <a:schemeClr val="tx1"/>
                </a:solidFill>
                <a:effectLst/>
                <a:latin typeface="Times New Roman" panose="02020603050405020304" pitchFamily="18" charset="0"/>
                <a:cs typeface="Times New Roman" panose="02020603050405020304" pitchFamily="18" charset="0"/>
              </a:rPr>
              <a:t>线 程</a:t>
            </a:r>
            <a:r>
              <a:rPr lang="zh-CN" altLang="en-US" b="1">
                <a:solidFill>
                  <a:schemeClr val="tx1"/>
                </a:solidFill>
                <a:effectLst/>
              </a:rPr>
              <a:t> </a:t>
            </a:r>
          </a:p>
        </p:txBody>
      </p:sp>
      <p:sp>
        <p:nvSpPr>
          <p:cNvPr id="171011" name="Rectangle 3">
            <a:extLst>
              <a:ext uri="{FF2B5EF4-FFF2-40B4-BE49-F238E27FC236}">
                <a16:creationId xmlns:a16="http://schemas.microsoft.com/office/drawing/2014/main" id="{9A4D0A7A-5FFA-4CD5-A1C7-F98166F2558C}"/>
              </a:ext>
            </a:extLst>
          </p:cNvPr>
          <p:cNvSpPr>
            <a:spLocks noGrp="1" noChangeArrowheads="1"/>
          </p:cNvSpPr>
          <p:nvPr>
            <p:ph type="body" idx="1"/>
          </p:nvPr>
        </p:nvSpPr>
        <p:spPr>
          <a:xfrm>
            <a:off x="827088" y="1484313"/>
            <a:ext cx="7885112" cy="4530725"/>
          </a:xfrm>
        </p:spPr>
        <p:txBody>
          <a:bodyPr/>
          <a:lstStyle/>
          <a:p>
            <a:pPr algn="just" eaLnBrk="1" hangingPunct="1">
              <a:buFont typeface="Wingdings" panose="05000000000000000000" pitchFamily="2" charset="2"/>
              <a:buNone/>
            </a:pPr>
            <a:endParaRPr lang="en-US" altLang="zh-CN" sz="4400" b="1">
              <a:solidFill>
                <a:srgbClr val="FFFF00"/>
              </a:solidFill>
              <a:effectLst/>
              <a:latin typeface="楷体_GB2312" pitchFamily="49" charset="-122"/>
              <a:ea typeface="楷体_GB2312" pitchFamily="49" charset="-122"/>
            </a:endParaRPr>
          </a:p>
          <a:p>
            <a:pPr algn="just" eaLnBrk="1" hangingPunct="1"/>
            <a:r>
              <a:rPr lang="en-US" altLang="zh-CN" sz="4400" b="1">
                <a:solidFill>
                  <a:srgbClr val="FFFF00"/>
                </a:solidFill>
                <a:effectLst/>
                <a:latin typeface="楷体_GB2312" pitchFamily="49" charset="-122"/>
                <a:ea typeface="楷体_GB2312" pitchFamily="49" charset="-122"/>
              </a:rPr>
              <a:t>3.7.1 </a:t>
            </a:r>
            <a:r>
              <a:rPr lang="zh-CN" altLang="en-US" sz="4400" b="1">
                <a:solidFill>
                  <a:srgbClr val="FFFF00"/>
                </a:solidFill>
                <a:effectLst/>
                <a:latin typeface="楷体_GB2312" pitchFamily="49" charset="-122"/>
                <a:ea typeface="楷体_GB2312" pitchFamily="49" charset="-122"/>
              </a:rPr>
              <a:t>线程的概念</a:t>
            </a:r>
          </a:p>
          <a:p>
            <a:pPr algn="just" eaLnBrk="1" hangingPunct="1"/>
            <a:r>
              <a:rPr lang="en-US" altLang="zh-CN" sz="4400" b="1">
                <a:solidFill>
                  <a:srgbClr val="FFFF00"/>
                </a:solidFill>
                <a:effectLst/>
                <a:latin typeface="楷体_GB2312" pitchFamily="49" charset="-122"/>
                <a:ea typeface="楷体_GB2312" pitchFamily="49" charset="-122"/>
              </a:rPr>
              <a:t>3.7.2 </a:t>
            </a:r>
            <a:r>
              <a:rPr lang="zh-CN" altLang="en-US" sz="4400" b="1">
                <a:solidFill>
                  <a:srgbClr val="FFFF00"/>
                </a:solidFill>
                <a:effectLst/>
                <a:latin typeface="楷体_GB2312" pitchFamily="49" charset="-122"/>
                <a:ea typeface="楷体_GB2312" pitchFamily="49" charset="-122"/>
              </a:rPr>
              <a:t>线程与进程</a:t>
            </a:r>
          </a:p>
          <a:p>
            <a:pPr algn="just" eaLnBrk="1" hangingPunct="1"/>
            <a:r>
              <a:rPr lang="en-US" altLang="zh-CN" sz="4400" b="1">
                <a:solidFill>
                  <a:srgbClr val="FFFF00"/>
                </a:solidFill>
                <a:effectLst/>
                <a:latin typeface="楷体_GB2312" pitchFamily="49" charset="-122"/>
                <a:ea typeface="楷体_GB2312" pitchFamily="49" charset="-122"/>
              </a:rPr>
              <a:t>3.7.3 </a:t>
            </a:r>
            <a:r>
              <a:rPr lang="zh-CN" altLang="en-US" sz="4400" b="1">
                <a:solidFill>
                  <a:srgbClr val="FFFF00"/>
                </a:solidFill>
                <a:effectLst/>
                <a:latin typeface="楷体_GB2312" pitchFamily="49" charset="-122"/>
                <a:ea typeface="楷体_GB2312" pitchFamily="49" charset="-122"/>
              </a:rPr>
              <a:t>线程的实现方式</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3">
            <a:extLst>
              <a:ext uri="{FF2B5EF4-FFF2-40B4-BE49-F238E27FC236}">
                <a16:creationId xmlns:a16="http://schemas.microsoft.com/office/drawing/2014/main" id="{ABDA0B7E-1585-4A48-B900-F0E3532F7F6C}"/>
              </a:ext>
            </a:extLst>
          </p:cNvPr>
          <p:cNvSpPr>
            <a:spLocks noGrp="1" noChangeArrowheads="1"/>
          </p:cNvSpPr>
          <p:nvPr>
            <p:ph type="body" idx="1"/>
          </p:nvPr>
        </p:nvSpPr>
        <p:spPr>
          <a:xfrm>
            <a:off x="539750" y="1700213"/>
            <a:ext cx="7920038" cy="4681537"/>
          </a:xfrm>
        </p:spPr>
        <p:txBody>
          <a:bodyPr/>
          <a:lstStyle/>
          <a:p>
            <a:pPr marL="609600" indent="-609600" algn="just" eaLnBrk="1" hangingPunct="1">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进程是一个可拥有资源的基本单位</a:t>
            </a:r>
          </a:p>
          <a:p>
            <a:pPr marL="609600" indent="-609600" algn="just" eaLnBrk="1" hangingPunct="1">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进程又是一个可独立调度的基本单位</a:t>
            </a:r>
          </a:p>
          <a:p>
            <a:pPr marL="609600" indent="-609600" algn="just" eaLnBrk="1" hangingPunct="1">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进程作为一个资源拥有者，在创建、撤消、切换中，系统必须为之付出较大时空开销。所以系统中进程的数量不宜过多，进程切换的频率不宜过高，但这也就限制了并发程度的进一步提高。</a:t>
            </a:r>
            <a:endParaRPr lang="en-US" altLang="zh-CN" b="1" dirty="0">
              <a:solidFill>
                <a:srgbClr val="FFFF00"/>
              </a:solidFill>
              <a:effectLst/>
              <a:latin typeface="黑体" panose="02010609060101010101" pitchFamily="49" charset="-122"/>
              <a:ea typeface="黑体" panose="02010609060101010101" pitchFamily="49" charset="-122"/>
            </a:endParaRPr>
          </a:p>
          <a:p>
            <a:pPr marL="609600" indent="-609600" algn="just" eaLnBrk="1" hangingPunct="1">
              <a:buFont typeface="Wingdings" panose="05000000000000000000" pitchFamily="2" charset="2"/>
              <a:buChar char="ü"/>
            </a:pPr>
            <a:r>
              <a:rPr lang="zh-CN" altLang="en-US" b="1" dirty="0">
                <a:solidFill>
                  <a:srgbClr val="FFFF00"/>
                </a:solidFill>
                <a:effectLst/>
                <a:latin typeface="黑体" panose="02010609060101010101" pitchFamily="49" charset="-122"/>
                <a:ea typeface="黑体" panose="02010609060101010101" pitchFamily="49" charset="-122"/>
              </a:rPr>
              <a:t>进程内部的并发需求</a:t>
            </a:r>
          </a:p>
        </p:txBody>
      </p:sp>
      <p:sp>
        <p:nvSpPr>
          <p:cNvPr id="172035" name="Rectangle 4">
            <a:extLst>
              <a:ext uri="{FF2B5EF4-FFF2-40B4-BE49-F238E27FC236}">
                <a16:creationId xmlns:a16="http://schemas.microsoft.com/office/drawing/2014/main" id="{6D40E24D-A9C5-4DF1-B64A-4AACA732E8B3}"/>
              </a:ext>
            </a:extLst>
          </p:cNvPr>
          <p:cNvSpPr>
            <a:spLocks noGrp="1" noChangeArrowheads="1"/>
          </p:cNvSpPr>
          <p:nvPr>
            <p:ph type="title"/>
          </p:nvPr>
        </p:nvSpPr>
        <p:spPr>
          <a:xfrm>
            <a:off x="323850" y="404813"/>
            <a:ext cx="8229600" cy="630237"/>
          </a:xfrm>
        </p:spPr>
        <p:txBody>
          <a:bodyPr/>
          <a:lstStyle/>
          <a:p>
            <a:pPr eaLnBrk="1" hangingPunct="1"/>
            <a:r>
              <a:rPr lang="en-US" altLang="zh-CN" sz="3600" b="1">
                <a:solidFill>
                  <a:schemeClr val="tx1"/>
                </a:solidFill>
                <a:effectLst/>
                <a:latin typeface="楷体_GB2312" pitchFamily="49" charset="-122"/>
                <a:ea typeface="楷体_GB2312" pitchFamily="49" charset="-122"/>
              </a:rPr>
              <a:t>3.7.1 </a:t>
            </a:r>
            <a:r>
              <a:rPr lang="zh-CN" altLang="en-US" sz="3600" b="1">
                <a:solidFill>
                  <a:schemeClr val="tx1"/>
                </a:solidFill>
                <a:effectLst/>
                <a:latin typeface="楷体_GB2312" pitchFamily="49" charset="-122"/>
                <a:ea typeface="楷体_GB2312" pitchFamily="49" charset="-122"/>
              </a:rPr>
              <a:t>线程的概念</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9002D787-BEA5-4EC8-B168-24CF150B2DC3}"/>
              </a:ext>
            </a:extLst>
          </p:cNvPr>
          <p:cNvSpPr>
            <a:spLocks noGrp="1" noChangeArrowheads="1"/>
          </p:cNvSpPr>
          <p:nvPr>
            <p:ph type="body" idx="1"/>
          </p:nvPr>
        </p:nvSpPr>
        <p:spPr>
          <a:xfrm>
            <a:off x="468313" y="765175"/>
            <a:ext cx="8424167" cy="5780088"/>
          </a:xfrm>
        </p:spPr>
        <p:txBody>
          <a:bodyPr/>
          <a:lstStyle/>
          <a:p>
            <a:pPr eaLnBrk="1" hangingPunct="1">
              <a:buFont typeface="Wingdings" panose="05000000000000000000" pitchFamily="2" charset="2"/>
              <a:buNone/>
            </a:pPr>
            <a:r>
              <a:rPr lang="en-US" altLang="zh-CN" sz="3600" b="1" dirty="0">
                <a:solidFill>
                  <a:srgbClr val="FFFF00"/>
                </a:solidFill>
                <a:effectLst/>
                <a:latin typeface="黑体" panose="02010609060101010101" pitchFamily="49" charset="-122"/>
                <a:ea typeface="黑体" panose="02010609060101010101" pitchFamily="49" charset="-122"/>
              </a:rPr>
              <a:t>       </a:t>
            </a:r>
            <a:r>
              <a:rPr lang="zh-CN" altLang="en-US" sz="3600" b="1" dirty="0">
                <a:solidFill>
                  <a:srgbClr val="FFFF00"/>
                </a:solidFill>
                <a:effectLst/>
                <a:latin typeface="黑体" panose="02010609060101010101" pitchFamily="49" charset="-122"/>
                <a:ea typeface="黑体" panose="02010609060101010101" pitchFamily="49" charset="-122"/>
              </a:rPr>
              <a:t>解决问题的基本思路：</a:t>
            </a:r>
          </a:p>
          <a:p>
            <a:pPr eaLnBrk="1" hangingPunct="1">
              <a:buFont typeface="Wingdings" panose="05000000000000000000" pitchFamily="2" charset="2"/>
              <a:buNone/>
            </a:pPr>
            <a:r>
              <a:rPr lang="zh-CN" altLang="en-US" sz="3600" b="1" dirty="0">
                <a:solidFill>
                  <a:srgbClr val="FFFF00"/>
                </a:solidFill>
                <a:effectLst/>
                <a:latin typeface="黑体" panose="02010609060101010101" pitchFamily="49" charset="-122"/>
                <a:ea typeface="黑体" panose="02010609060101010101" pitchFamily="49" charset="-122"/>
              </a:rPr>
              <a:t> </a:t>
            </a:r>
            <a:r>
              <a:rPr lang="en-US" altLang="zh-CN" sz="3600" b="1" dirty="0">
                <a:solidFill>
                  <a:srgbClr val="FFFF00"/>
                </a:solidFill>
                <a:effectLst/>
                <a:ea typeface="黑体" panose="02010609060101010101" pitchFamily="49" charset="-122"/>
                <a:cs typeface="Times New Roman" panose="02020603050405020304" pitchFamily="18" charset="0"/>
              </a:rPr>
              <a:t>•</a:t>
            </a:r>
            <a:r>
              <a:rPr lang="zh-CN" altLang="en-US" sz="3600" b="1" dirty="0">
                <a:solidFill>
                  <a:srgbClr val="FFFF00"/>
                </a:solidFill>
                <a:effectLst/>
                <a:latin typeface="黑体" panose="02010609060101010101" pitchFamily="49" charset="-122"/>
                <a:ea typeface="黑体" panose="02010609060101010101" pitchFamily="49" charset="-122"/>
              </a:rPr>
              <a:t>把进程的两项功能－－</a:t>
            </a:r>
            <a:r>
              <a:rPr lang="zh-CN" altLang="en-US" sz="3600" b="1" dirty="0">
                <a:solidFill>
                  <a:srgbClr val="FFFF00"/>
                </a:solidFill>
                <a:effectLst/>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独立分配资源</a:t>
            </a:r>
            <a:r>
              <a:rPr lang="zh-CN" altLang="en-US" sz="3600" b="1" dirty="0">
                <a:solidFill>
                  <a:srgbClr val="FFFF00"/>
                </a:solidFill>
                <a:effectLst/>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与</a:t>
            </a:r>
            <a:r>
              <a:rPr lang="zh-CN" altLang="en-US" sz="3600" b="1" dirty="0">
                <a:solidFill>
                  <a:srgbClr val="FFFF00"/>
                </a:solidFill>
                <a:effectLst/>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被调度执行</a:t>
            </a:r>
            <a:r>
              <a:rPr lang="zh-CN" altLang="en-US" sz="3600" b="1" dirty="0">
                <a:solidFill>
                  <a:srgbClr val="FFFF00"/>
                </a:solidFill>
                <a:effectLst/>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分离开来，</a:t>
            </a:r>
          </a:p>
          <a:p>
            <a:pPr eaLnBrk="1" hangingPunct="1">
              <a:buFont typeface="Wingdings" panose="05000000000000000000" pitchFamily="2" charset="2"/>
              <a:buNone/>
            </a:pPr>
            <a:r>
              <a:rPr lang="zh-CN" altLang="en-US" sz="3600" b="1" dirty="0">
                <a:solidFill>
                  <a:srgbClr val="FFFF00"/>
                </a:solidFill>
                <a:effectLst/>
                <a:latin typeface="黑体" panose="02010609060101010101" pitchFamily="49" charset="-122"/>
                <a:ea typeface="黑体" panose="02010609060101010101" pitchFamily="49" charset="-122"/>
              </a:rPr>
              <a:t> </a:t>
            </a:r>
            <a:r>
              <a:rPr lang="en-US" altLang="zh-CN" sz="3600" b="1" dirty="0">
                <a:solidFill>
                  <a:srgbClr val="FFFF00"/>
                </a:solidFill>
                <a:effectLst/>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进程作为系统资源分配和保护的独立单位，不需要频繁地切换；</a:t>
            </a:r>
          </a:p>
          <a:p>
            <a:pPr eaLnBrk="1" hangingPunct="1">
              <a:buFont typeface="Wingdings" panose="05000000000000000000" pitchFamily="2" charset="2"/>
              <a:buNone/>
            </a:pPr>
            <a:r>
              <a:rPr lang="zh-CN" altLang="en-US" sz="3600" b="1" dirty="0">
                <a:solidFill>
                  <a:srgbClr val="FFFF00"/>
                </a:solidFill>
                <a:effectLst/>
                <a:latin typeface="黑体" panose="02010609060101010101" pitchFamily="49" charset="-122"/>
                <a:ea typeface="黑体" panose="02010609060101010101" pitchFamily="49" charset="-122"/>
              </a:rPr>
              <a:t> </a:t>
            </a:r>
            <a:r>
              <a:rPr lang="en-US" altLang="zh-CN" sz="3600" b="1" dirty="0">
                <a:solidFill>
                  <a:srgbClr val="FFFF00"/>
                </a:solidFill>
                <a:effectLst/>
                <a:ea typeface="黑体" panose="02010609060101010101" pitchFamily="49" charset="-122"/>
              </a:rPr>
              <a:t>•</a:t>
            </a:r>
            <a:r>
              <a:rPr lang="zh-CN" altLang="en-US" sz="3600" b="1" dirty="0">
                <a:solidFill>
                  <a:srgbClr val="FFFF00"/>
                </a:solidFill>
                <a:effectLst/>
                <a:latin typeface="黑体" panose="02010609060101010101" pitchFamily="49" charset="-122"/>
                <a:ea typeface="黑体" panose="02010609060101010101" pitchFamily="49" charset="-122"/>
              </a:rPr>
              <a:t>线程作为系统调度和分派的基本单位，能轻装运行，被频繁地调度和切换，在这种指导思想下，产生了线程的概念</a:t>
            </a:r>
          </a:p>
        </p:txBody>
      </p:sp>
    </p:spTree>
  </p:cSld>
  <p:clrMapOvr>
    <a:masterClrMapping/>
  </p:clrMapOvr>
  <p:transition>
    <p:zoom/>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a:extLst>
              <a:ext uri="{FF2B5EF4-FFF2-40B4-BE49-F238E27FC236}">
                <a16:creationId xmlns:a16="http://schemas.microsoft.com/office/drawing/2014/main" id="{8562D6CD-059B-49C6-A787-AB3B33EC0C46}"/>
              </a:ext>
            </a:extLst>
          </p:cNvPr>
          <p:cNvSpPr>
            <a:spLocks noGrp="1" noChangeArrowheads="1"/>
          </p:cNvSpPr>
          <p:nvPr>
            <p:ph type="title"/>
          </p:nvPr>
        </p:nvSpPr>
        <p:spPr/>
        <p:txBody>
          <a:bodyPr/>
          <a:lstStyle/>
          <a:p>
            <a:pPr eaLnBrk="1" hangingPunct="1">
              <a:defRPr/>
            </a:pPr>
            <a:r>
              <a:rPr lang="zh-CN" altLang="en-US" b="1">
                <a:solidFill>
                  <a:schemeClr val="tx1"/>
                </a:solidFill>
                <a:effectLst>
                  <a:outerShdw blurRad="38100" dist="38100" dir="2700000" algn="tl">
                    <a:srgbClr val="010199"/>
                  </a:outerShdw>
                </a:effectLst>
                <a:ea typeface="黑体" panose="02010609060101010101" pitchFamily="49" charset="-122"/>
              </a:rPr>
              <a:t>线程</a:t>
            </a:r>
            <a:r>
              <a:rPr lang="en-US" altLang="zh-CN" b="1">
                <a:solidFill>
                  <a:schemeClr val="tx1"/>
                </a:solidFill>
                <a:effectLst>
                  <a:outerShdw blurRad="38100" dist="38100" dir="2700000" algn="tl">
                    <a:srgbClr val="010199"/>
                  </a:outerShdw>
                </a:effectLst>
                <a:ea typeface="黑体" panose="02010609060101010101" pitchFamily="49" charset="-122"/>
              </a:rPr>
              <a:t>(</a:t>
            </a:r>
            <a:r>
              <a:rPr lang="en-US" altLang="zh-CN">
                <a:solidFill>
                  <a:schemeClr val="tx1"/>
                </a:solidFill>
                <a:effectLst>
                  <a:outerShdw blurRad="38100" dist="38100" dir="2700000" algn="tl">
                    <a:srgbClr val="010199"/>
                  </a:outerShdw>
                </a:effectLst>
                <a:latin typeface="Tahoma" panose="020B0604030504040204" pitchFamily="34" charset="0"/>
                <a:cs typeface="Tahoma" panose="020B0604030504040204" pitchFamily="34" charset="0"/>
              </a:rPr>
              <a:t>Thread)</a:t>
            </a:r>
            <a:endParaRPr lang="en-US" altLang="zh-CN">
              <a:solidFill>
                <a:schemeClr val="tx1"/>
              </a:solidFill>
              <a:effectLst>
                <a:outerShdw blurRad="38100" dist="38100" dir="2700000" algn="tl">
                  <a:srgbClr val="010199"/>
                </a:outerShdw>
              </a:effectLst>
            </a:endParaRPr>
          </a:p>
        </p:txBody>
      </p:sp>
      <p:sp>
        <p:nvSpPr>
          <p:cNvPr id="174083" name="Rectangle 3">
            <a:extLst>
              <a:ext uri="{FF2B5EF4-FFF2-40B4-BE49-F238E27FC236}">
                <a16:creationId xmlns:a16="http://schemas.microsoft.com/office/drawing/2014/main" id="{BDE78C8A-7778-4801-AA57-F80943ED37AF}"/>
              </a:ext>
            </a:extLst>
          </p:cNvPr>
          <p:cNvSpPr>
            <a:spLocks noGrp="1" noChangeArrowheads="1"/>
          </p:cNvSpPr>
          <p:nvPr>
            <p:ph type="body" idx="1"/>
          </p:nvPr>
        </p:nvSpPr>
        <p:spPr>
          <a:xfrm>
            <a:off x="457200" y="1600200"/>
            <a:ext cx="8002588" cy="4637088"/>
          </a:xfrm>
        </p:spPr>
        <p:txBody>
          <a:bodyPr/>
          <a:lstStyle/>
          <a:p>
            <a:pPr eaLnBrk="1" hangingPunct="1">
              <a:lnSpc>
                <a:spcPct val="115000"/>
              </a:lnSpc>
            </a:pPr>
            <a:r>
              <a:rPr lang="en-US" altLang="zh-CN" sz="3600" b="1">
                <a:solidFill>
                  <a:srgbClr val="FFFF00"/>
                </a:solidFill>
                <a:effectLst/>
                <a:latin typeface="黑体" panose="02010609060101010101" pitchFamily="49" charset="-122"/>
                <a:ea typeface="黑体" panose="02010609060101010101" pitchFamily="49" charset="-122"/>
              </a:rPr>
              <a:t> </a:t>
            </a:r>
            <a:r>
              <a:rPr lang="zh-CN" altLang="en-US" sz="3600" b="1">
                <a:solidFill>
                  <a:srgbClr val="FFFF00"/>
                </a:solidFill>
                <a:effectLst/>
                <a:latin typeface="黑体" panose="02010609060101010101" pitchFamily="49" charset="-122"/>
                <a:ea typeface="黑体" panose="02010609060101010101" pitchFamily="49" charset="-122"/>
              </a:rPr>
              <a:t>自</a:t>
            </a:r>
            <a:r>
              <a:rPr lang="en-US" altLang="zh-CN" sz="3600" b="1">
                <a:solidFill>
                  <a:srgbClr val="FFFF00"/>
                </a:solidFill>
                <a:effectLst/>
                <a:latin typeface="黑体" panose="02010609060101010101" pitchFamily="49" charset="-122"/>
                <a:ea typeface="黑体" panose="02010609060101010101" pitchFamily="49" charset="-122"/>
              </a:rPr>
              <a:t>20</a:t>
            </a:r>
            <a:r>
              <a:rPr lang="zh-CN" altLang="en-US" sz="3600" b="1">
                <a:solidFill>
                  <a:srgbClr val="FFFF00"/>
                </a:solidFill>
                <a:effectLst/>
                <a:latin typeface="黑体" panose="02010609060101010101" pitchFamily="49" charset="-122"/>
                <a:ea typeface="黑体" panose="02010609060101010101" pitchFamily="49" charset="-122"/>
              </a:rPr>
              <a:t>世纪</a:t>
            </a:r>
            <a:r>
              <a:rPr lang="en-US" altLang="zh-CN" sz="3600" b="1">
                <a:solidFill>
                  <a:srgbClr val="FFFF00"/>
                </a:solidFill>
                <a:effectLst/>
                <a:latin typeface="黑体" panose="02010609060101010101" pitchFamily="49" charset="-122"/>
                <a:ea typeface="黑体" panose="02010609060101010101" pitchFamily="49" charset="-122"/>
              </a:rPr>
              <a:t>60</a:t>
            </a:r>
            <a:r>
              <a:rPr lang="zh-CN" altLang="en-US" sz="3600" b="1">
                <a:solidFill>
                  <a:srgbClr val="FFFF00"/>
                </a:solidFill>
                <a:effectLst/>
                <a:latin typeface="黑体" panose="02010609060101010101" pitchFamily="49" charset="-122"/>
                <a:ea typeface="黑体" panose="02010609060101010101" pitchFamily="49" charset="-122"/>
              </a:rPr>
              <a:t>年代提出进程概念后，在操作系统中一直以进程作为能独立运行的基本单位。直到</a:t>
            </a:r>
            <a:r>
              <a:rPr lang="en-US" altLang="zh-CN" sz="3600" b="1">
                <a:solidFill>
                  <a:srgbClr val="FFFF00"/>
                </a:solidFill>
                <a:effectLst/>
                <a:latin typeface="黑体" panose="02010609060101010101" pitchFamily="49" charset="-122"/>
                <a:ea typeface="黑体" panose="02010609060101010101" pitchFamily="49" charset="-122"/>
              </a:rPr>
              <a:t>20</a:t>
            </a:r>
            <a:r>
              <a:rPr lang="zh-CN" altLang="en-US" sz="3600" b="1">
                <a:solidFill>
                  <a:srgbClr val="FFFF00"/>
                </a:solidFill>
                <a:effectLst/>
                <a:latin typeface="黑体" panose="02010609060101010101" pitchFamily="49" charset="-122"/>
                <a:ea typeface="黑体" panose="02010609060101010101" pitchFamily="49" charset="-122"/>
              </a:rPr>
              <a:t>世纪</a:t>
            </a:r>
            <a:r>
              <a:rPr lang="en-US" altLang="zh-CN" sz="3600" b="1">
                <a:solidFill>
                  <a:srgbClr val="FFFF00"/>
                </a:solidFill>
                <a:effectLst/>
                <a:latin typeface="黑体" panose="02010609060101010101" pitchFamily="49" charset="-122"/>
                <a:ea typeface="黑体" panose="02010609060101010101" pitchFamily="49" charset="-122"/>
              </a:rPr>
              <a:t>80</a:t>
            </a:r>
            <a:r>
              <a:rPr lang="zh-CN" altLang="en-US" sz="3600" b="1">
                <a:solidFill>
                  <a:srgbClr val="FFFF00"/>
                </a:solidFill>
                <a:effectLst/>
                <a:latin typeface="黑体" panose="02010609060101010101" pitchFamily="49" charset="-122"/>
                <a:ea typeface="黑体" panose="02010609060101010101" pitchFamily="49" charset="-122"/>
              </a:rPr>
              <a:t>年代中期，人们为了进一步提高并发执行程度，进而提高系统的吞吐量，提出了比进程更小的能独立运行的基本单位</a:t>
            </a:r>
            <a:r>
              <a:rPr lang="en-US" altLang="zh-CN" sz="3600" b="1">
                <a:solidFill>
                  <a:srgbClr val="FFFF00"/>
                </a:solidFill>
                <a:effectLst/>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线程。 </a:t>
            </a:r>
          </a:p>
        </p:txBody>
      </p:sp>
    </p:spTree>
  </p:cSld>
  <p:clrMapOvr>
    <a:masterClrMapping/>
  </p:clrMapOvr>
  <p:transition spd="slow">
    <p:randomBa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DB2255A5-0E8A-404D-954A-292C8EF4742F}"/>
              </a:ext>
            </a:extLst>
          </p:cNvPr>
          <p:cNvSpPr>
            <a:spLocks noGrp="1" noChangeArrowheads="1"/>
          </p:cNvSpPr>
          <p:nvPr>
            <p:ph type="body" idx="1"/>
          </p:nvPr>
        </p:nvSpPr>
        <p:spPr>
          <a:xfrm>
            <a:off x="468313" y="1268413"/>
            <a:ext cx="8135937" cy="4968875"/>
          </a:xfrm>
        </p:spPr>
        <p:txBody>
          <a:bodyPr/>
          <a:lstStyle/>
          <a:p>
            <a:pPr algn="just" eaLnBrk="1" hangingPunct="1">
              <a:buFont typeface="Wingdings" panose="05000000000000000000" pitchFamily="2" charset="2"/>
              <a:buNone/>
            </a:pPr>
            <a:r>
              <a:rPr lang="en-US" altLang="zh-CN" sz="3600" b="1" dirty="0">
                <a:solidFill>
                  <a:srgbClr val="FFFF00"/>
                </a:solidFill>
                <a:effectLst/>
                <a:latin typeface="黑体" panose="02010609060101010101" pitchFamily="49" charset="-122"/>
                <a:ea typeface="黑体" panose="02010609060101010101" pitchFamily="49" charset="-122"/>
              </a:rPr>
              <a:t>  </a:t>
            </a:r>
            <a:r>
              <a:rPr lang="zh-CN" altLang="en-US" sz="3600" b="1" dirty="0">
                <a:solidFill>
                  <a:srgbClr val="FFFF00"/>
                </a:solidFill>
                <a:effectLst/>
                <a:latin typeface="黑体" panose="02010609060101010101" pitchFamily="49" charset="-122"/>
                <a:ea typeface="黑体" panose="02010609060101010101" pitchFamily="49" charset="-122"/>
              </a:rPr>
              <a:t>引入线程是为了提高系统的执行效率，减少处理机的空转时间和调度切换（保护现场信息）的时间和空间，提高操作系统的并发性能</a:t>
            </a:r>
          </a:p>
          <a:p>
            <a:pPr algn="just" eaLnBrk="1" hangingPunct="1"/>
            <a:r>
              <a:rPr lang="zh-CN" altLang="en-US" sz="3600" b="1" dirty="0">
                <a:solidFill>
                  <a:srgbClr val="FFFF00"/>
                </a:solidFill>
                <a:effectLst/>
                <a:latin typeface="黑体" panose="02010609060101010101" pitchFamily="49" charset="-122"/>
                <a:ea typeface="黑体" panose="02010609060101010101" pitchFamily="49" charset="-122"/>
              </a:rPr>
              <a:t>一个进程内的基本调度单位称为线程</a:t>
            </a:r>
            <a:r>
              <a:rPr lang="en-US" altLang="zh-CN" sz="3600" b="1" dirty="0">
                <a:solidFill>
                  <a:srgbClr val="FFFF00"/>
                </a:solidFill>
                <a:effectLst/>
                <a:latin typeface="黑体" panose="02010609060101010101" pitchFamily="49" charset="-122"/>
                <a:ea typeface="黑体" panose="02010609060101010101" pitchFamily="49" charset="-122"/>
              </a:rPr>
              <a:t>thread</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586DC4FF-A0B4-455B-AD3E-26F53D781BE6}"/>
              </a:ext>
            </a:extLst>
          </p:cNvPr>
          <p:cNvSpPr>
            <a:spLocks noGrp="1" noChangeArrowheads="1"/>
          </p:cNvSpPr>
          <p:nvPr>
            <p:ph type="body" idx="1"/>
          </p:nvPr>
        </p:nvSpPr>
        <p:spPr>
          <a:xfrm>
            <a:off x="323850" y="1124744"/>
            <a:ext cx="8496300" cy="5733256"/>
          </a:xfrm>
        </p:spPr>
        <p:txBody>
          <a:bodyPr/>
          <a:lstStyle/>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在引入线程的</a:t>
            </a:r>
            <a:r>
              <a:rPr lang="en-US" altLang="zh-CN" sz="2800" b="1" dirty="0">
                <a:solidFill>
                  <a:srgbClr val="FFFF00"/>
                </a:solidFill>
                <a:effectLst/>
                <a:latin typeface="黑体" panose="02010609060101010101" pitchFamily="49" charset="-122"/>
                <a:ea typeface="黑体" panose="02010609060101010101" pitchFamily="49" charset="-122"/>
              </a:rPr>
              <a:t>OS</a:t>
            </a:r>
            <a:r>
              <a:rPr lang="zh-CN" altLang="en-US" sz="2800" b="1" dirty="0">
                <a:solidFill>
                  <a:srgbClr val="FFFF00"/>
                </a:solidFill>
                <a:effectLst/>
                <a:latin typeface="黑体" panose="02010609060101010101" pitchFamily="49" charset="-122"/>
                <a:ea typeface="黑体" panose="02010609060101010101" pitchFamily="49" charset="-122"/>
              </a:rPr>
              <a:t>中，线程是进程中的一个实体，是被系统独立调度的基本单位</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线程自己基本不拥有系统资源，只拥有少量必不可少的资源：程序计数器、一组寄存器、栈。</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它可与同属一个进程的其它线程共享进程所拥有的全部资源。</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同一进程中的多个线程之间可以并发执行</a:t>
            </a:r>
          </a:p>
          <a:p>
            <a:pPr eaLnBrk="1" hangingPunct="1"/>
            <a:r>
              <a:rPr lang="zh-CN" altLang="en-US" sz="2800" b="1" dirty="0">
                <a:solidFill>
                  <a:srgbClr val="FFFF00"/>
                </a:solidFill>
                <a:effectLst/>
                <a:latin typeface="黑体" panose="02010609060101010101" pitchFamily="49" charset="-122"/>
                <a:ea typeface="黑体" panose="02010609060101010101" pitchFamily="49" charset="-122"/>
              </a:rPr>
              <a:t>由于线程之间的相互制约，致使线程在运行中呈现出间断性，因此线程也有就绪、阻塞和运行三种基本状态，在线程并发中也存在同步和互斥机制。</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8C51A8C8-E844-46B3-A78B-F30F1F2A0FFE}"/>
              </a:ext>
            </a:extLst>
          </p:cNvPr>
          <p:cNvSpPr>
            <a:spLocks noChangeArrowheads="1"/>
          </p:cNvSpPr>
          <p:nvPr/>
        </p:nvSpPr>
        <p:spPr bwMode="auto">
          <a:xfrm>
            <a:off x="3048000" y="2895600"/>
            <a:ext cx="900113" cy="5397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a:solidFill>
                  <a:srgbClr val="FFFF00"/>
                </a:solidFill>
                <a:latin typeface="Times New Roman" panose="02020603050405020304" pitchFamily="18" charset="0"/>
              </a:rPr>
              <a:t>寄存器</a:t>
            </a:r>
          </a:p>
        </p:txBody>
      </p:sp>
      <p:sp>
        <p:nvSpPr>
          <p:cNvPr id="177155" name="Rectangle 3">
            <a:extLst>
              <a:ext uri="{FF2B5EF4-FFF2-40B4-BE49-F238E27FC236}">
                <a16:creationId xmlns:a16="http://schemas.microsoft.com/office/drawing/2014/main" id="{BB6684FD-372D-49DE-BF38-454EF53161BE}"/>
              </a:ext>
            </a:extLst>
          </p:cNvPr>
          <p:cNvSpPr>
            <a:spLocks noChangeArrowheads="1"/>
          </p:cNvSpPr>
          <p:nvPr/>
        </p:nvSpPr>
        <p:spPr bwMode="auto">
          <a:xfrm>
            <a:off x="4787900" y="1700213"/>
            <a:ext cx="3962400" cy="449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grpSp>
        <p:nvGrpSpPr>
          <p:cNvPr id="177156" name="Group 4">
            <a:extLst>
              <a:ext uri="{FF2B5EF4-FFF2-40B4-BE49-F238E27FC236}">
                <a16:creationId xmlns:a16="http://schemas.microsoft.com/office/drawing/2014/main" id="{0A1DF9A4-CED7-4F0B-93E3-8793EB43564E}"/>
              </a:ext>
            </a:extLst>
          </p:cNvPr>
          <p:cNvGrpSpPr>
            <a:grpSpLocks/>
          </p:cNvGrpSpPr>
          <p:nvPr/>
        </p:nvGrpSpPr>
        <p:grpSpPr bwMode="auto">
          <a:xfrm>
            <a:off x="5092700" y="2005013"/>
            <a:ext cx="3429000" cy="3962400"/>
            <a:chOff x="3216" y="1488"/>
            <a:chExt cx="2160" cy="2496"/>
          </a:xfrm>
        </p:grpSpPr>
        <p:sp>
          <p:nvSpPr>
            <p:cNvPr id="177170" name="Rectangle 5">
              <a:extLst>
                <a:ext uri="{FF2B5EF4-FFF2-40B4-BE49-F238E27FC236}">
                  <a16:creationId xmlns:a16="http://schemas.microsoft.com/office/drawing/2014/main" id="{9A7E89C7-84A4-4415-BCD7-ED18F968D953}"/>
                </a:ext>
              </a:extLst>
            </p:cNvPr>
            <p:cNvSpPr>
              <a:spLocks noChangeArrowheads="1"/>
            </p:cNvSpPr>
            <p:nvPr/>
          </p:nvSpPr>
          <p:spPr bwMode="auto">
            <a:xfrm>
              <a:off x="3216" y="2496"/>
              <a:ext cx="2160" cy="1488"/>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7171" name="Rectangle 6">
              <a:extLst>
                <a:ext uri="{FF2B5EF4-FFF2-40B4-BE49-F238E27FC236}">
                  <a16:creationId xmlns:a16="http://schemas.microsoft.com/office/drawing/2014/main" id="{47206ABA-52CE-4B38-859F-FAA9EDD08463}"/>
                </a:ext>
              </a:extLst>
            </p:cNvPr>
            <p:cNvSpPr>
              <a:spLocks noChangeArrowheads="1"/>
            </p:cNvSpPr>
            <p:nvPr/>
          </p:nvSpPr>
          <p:spPr bwMode="auto">
            <a:xfrm>
              <a:off x="4308" y="1728"/>
              <a:ext cx="924" cy="2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7172" name="Text Box 7">
              <a:extLst>
                <a:ext uri="{FF2B5EF4-FFF2-40B4-BE49-F238E27FC236}">
                  <a16:creationId xmlns:a16="http://schemas.microsoft.com/office/drawing/2014/main" id="{4EEC4244-ACA8-45F6-B340-6E5F8F066DE5}"/>
                </a:ext>
              </a:extLst>
            </p:cNvPr>
            <p:cNvSpPr txBox="1">
              <a:spLocks noChangeArrowheads="1"/>
            </p:cNvSpPr>
            <p:nvPr/>
          </p:nvSpPr>
          <p:spPr bwMode="auto">
            <a:xfrm>
              <a:off x="3312" y="3072"/>
              <a:ext cx="907" cy="2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静态数据</a:t>
              </a:r>
            </a:p>
          </p:txBody>
        </p:sp>
        <p:sp>
          <p:nvSpPr>
            <p:cNvPr id="177173" name="Text Box 8">
              <a:extLst>
                <a:ext uri="{FF2B5EF4-FFF2-40B4-BE49-F238E27FC236}">
                  <a16:creationId xmlns:a16="http://schemas.microsoft.com/office/drawing/2014/main" id="{9D67C53E-9E83-4B68-8957-24BACB56917C}"/>
                </a:ext>
              </a:extLst>
            </p:cNvPr>
            <p:cNvSpPr txBox="1">
              <a:spLocks noChangeArrowheads="1"/>
            </p:cNvSpPr>
            <p:nvPr/>
          </p:nvSpPr>
          <p:spPr bwMode="auto">
            <a:xfrm>
              <a:off x="3312" y="3456"/>
              <a:ext cx="907" cy="2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程序代码     </a:t>
              </a:r>
            </a:p>
          </p:txBody>
        </p:sp>
        <p:sp>
          <p:nvSpPr>
            <p:cNvPr id="177174" name="Rectangle 9">
              <a:extLst>
                <a:ext uri="{FF2B5EF4-FFF2-40B4-BE49-F238E27FC236}">
                  <a16:creationId xmlns:a16="http://schemas.microsoft.com/office/drawing/2014/main" id="{CA224A89-4908-496A-9B9B-84CB0A8E243A}"/>
                </a:ext>
              </a:extLst>
            </p:cNvPr>
            <p:cNvSpPr>
              <a:spLocks noChangeArrowheads="1"/>
            </p:cNvSpPr>
            <p:nvPr/>
          </p:nvSpPr>
          <p:spPr bwMode="auto">
            <a:xfrm>
              <a:off x="4512" y="2741"/>
              <a:ext cx="567" cy="90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FF00"/>
                  </a:solidFill>
                  <a:latin typeface="Times New Roman" panose="02020603050405020304" pitchFamily="18" charset="0"/>
                </a:rPr>
                <a:t>栈</a:t>
              </a:r>
            </a:p>
          </p:txBody>
        </p:sp>
        <p:sp>
          <p:nvSpPr>
            <p:cNvPr id="177175" name="Rectangle 10">
              <a:extLst>
                <a:ext uri="{FF2B5EF4-FFF2-40B4-BE49-F238E27FC236}">
                  <a16:creationId xmlns:a16="http://schemas.microsoft.com/office/drawing/2014/main" id="{CC96340B-3965-401E-8E98-7A7AC792AF7E}"/>
                </a:ext>
              </a:extLst>
            </p:cNvPr>
            <p:cNvSpPr>
              <a:spLocks noChangeArrowheads="1"/>
            </p:cNvSpPr>
            <p:nvPr/>
          </p:nvSpPr>
          <p:spPr bwMode="auto">
            <a:xfrm>
              <a:off x="4512" y="1964"/>
              <a:ext cx="567" cy="3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FF00"/>
                  </a:solidFill>
                  <a:latin typeface="Times New Roman" panose="02020603050405020304" pitchFamily="18" charset="0"/>
                </a:rPr>
                <a:t>寄存器</a:t>
              </a:r>
            </a:p>
          </p:txBody>
        </p:sp>
        <p:sp>
          <p:nvSpPr>
            <p:cNvPr id="177176" name="Text Box 11">
              <a:extLst>
                <a:ext uri="{FF2B5EF4-FFF2-40B4-BE49-F238E27FC236}">
                  <a16:creationId xmlns:a16="http://schemas.microsoft.com/office/drawing/2014/main" id="{F4291139-C36D-4C76-BDC7-17443F1CAF20}"/>
                </a:ext>
              </a:extLst>
            </p:cNvPr>
            <p:cNvSpPr txBox="1">
              <a:spLocks noChangeArrowheads="1"/>
            </p:cNvSpPr>
            <p:nvPr/>
          </p:nvSpPr>
          <p:spPr bwMode="auto">
            <a:xfrm>
              <a:off x="3216" y="148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进程</a:t>
              </a:r>
              <a:r>
                <a:rPr kumimoji="1" lang="en-US" altLang="zh-CN" sz="2400" b="1">
                  <a:solidFill>
                    <a:srgbClr val="FFFF00"/>
                  </a:solidFill>
                  <a:latin typeface="Times New Roman" panose="02020603050405020304" pitchFamily="18" charset="0"/>
                </a:rPr>
                <a:t>2</a:t>
              </a:r>
            </a:p>
          </p:txBody>
        </p:sp>
        <p:sp>
          <p:nvSpPr>
            <p:cNvPr id="177177" name="Text Box 12">
              <a:extLst>
                <a:ext uri="{FF2B5EF4-FFF2-40B4-BE49-F238E27FC236}">
                  <a16:creationId xmlns:a16="http://schemas.microsoft.com/office/drawing/2014/main" id="{971D3FBB-6A85-4F7A-B30B-F855D6EA8183}"/>
                </a:ext>
              </a:extLst>
            </p:cNvPr>
            <p:cNvSpPr txBox="1">
              <a:spLocks noChangeArrowheads="1"/>
            </p:cNvSpPr>
            <p:nvPr/>
          </p:nvSpPr>
          <p:spPr bwMode="auto">
            <a:xfrm>
              <a:off x="3312" y="2688"/>
              <a:ext cx="907" cy="2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动  态  堆</a:t>
              </a:r>
            </a:p>
          </p:txBody>
        </p:sp>
        <p:sp>
          <p:nvSpPr>
            <p:cNvPr id="177178" name="Line 13">
              <a:extLst>
                <a:ext uri="{FF2B5EF4-FFF2-40B4-BE49-F238E27FC236}">
                  <a16:creationId xmlns:a16="http://schemas.microsoft.com/office/drawing/2014/main" id="{7D9CBC05-F2CC-481B-97CA-DC0371346329}"/>
                </a:ext>
              </a:extLst>
            </p:cNvPr>
            <p:cNvSpPr>
              <a:spLocks noChangeShapeType="1"/>
            </p:cNvSpPr>
            <p:nvPr/>
          </p:nvSpPr>
          <p:spPr bwMode="auto">
            <a:xfrm>
              <a:off x="4320" y="2496"/>
              <a:ext cx="100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79" name="AutoShape 14">
              <a:extLst>
                <a:ext uri="{FF2B5EF4-FFF2-40B4-BE49-F238E27FC236}">
                  <a16:creationId xmlns:a16="http://schemas.microsoft.com/office/drawing/2014/main" id="{C8885462-4AE0-47AD-8E19-1D7DFA074129}"/>
                </a:ext>
              </a:extLst>
            </p:cNvPr>
            <p:cNvSpPr>
              <a:spLocks noChangeArrowheads="1"/>
            </p:cNvSpPr>
            <p:nvPr/>
          </p:nvSpPr>
          <p:spPr bwMode="auto">
            <a:xfrm flipH="1">
              <a:off x="3264" y="2112"/>
              <a:ext cx="576" cy="288"/>
            </a:xfrm>
            <a:prstGeom prst="wedgeRectCallout">
              <a:avLst>
                <a:gd name="adj1" fmla="val -43750"/>
                <a:gd name="adj2" fmla="val 70000"/>
              </a:avLst>
            </a:prstGeom>
            <a:solidFill>
              <a:srgbClr val="00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SzTx/>
                <a:buNone/>
              </a:pPr>
              <a:r>
                <a:rPr kumimoji="1" lang="zh-CN" altLang="en-US" sz="2400" b="1">
                  <a:solidFill>
                    <a:srgbClr val="FFFF00"/>
                  </a:solidFill>
                  <a:latin typeface="Times New Roman" panose="02020603050405020304" pitchFamily="18" charset="0"/>
                </a:rPr>
                <a:t>内存</a:t>
              </a:r>
            </a:p>
          </p:txBody>
        </p:sp>
      </p:grpSp>
      <p:sp>
        <p:nvSpPr>
          <p:cNvPr id="177157" name="Text Box 15">
            <a:extLst>
              <a:ext uri="{FF2B5EF4-FFF2-40B4-BE49-F238E27FC236}">
                <a16:creationId xmlns:a16="http://schemas.microsoft.com/office/drawing/2014/main" id="{D890E8F1-7A23-4669-A2F6-AC47220C9885}"/>
              </a:ext>
            </a:extLst>
          </p:cNvPr>
          <p:cNvSpPr txBox="1">
            <a:spLocks noChangeArrowheads="1"/>
          </p:cNvSpPr>
          <p:nvPr/>
        </p:nvSpPr>
        <p:spPr bwMode="auto">
          <a:xfrm>
            <a:off x="395288" y="404813"/>
            <a:ext cx="60483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b="1">
                <a:solidFill>
                  <a:srgbClr val="FFFF00"/>
                </a:solidFill>
                <a:latin typeface="Times New Roman" panose="02020603050405020304" pitchFamily="18" charset="0"/>
                <a:ea typeface="黑体" panose="02010609060101010101" pitchFamily="49" charset="-122"/>
              </a:rPr>
              <a:t>多进程结构（用户视图）</a:t>
            </a:r>
          </a:p>
        </p:txBody>
      </p:sp>
      <p:grpSp>
        <p:nvGrpSpPr>
          <p:cNvPr id="177158" name="Group 16">
            <a:extLst>
              <a:ext uri="{FF2B5EF4-FFF2-40B4-BE49-F238E27FC236}">
                <a16:creationId xmlns:a16="http://schemas.microsoft.com/office/drawing/2014/main" id="{2410A3B4-D0EB-4D24-86B4-3D76CF2CA64C}"/>
              </a:ext>
            </a:extLst>
          </p:cNvPr>
          <p:cNvGrpSpPr>
            <a:grpSpLocks/>
          </p:cNvGrpSpPr>
          <p:nvPr/>
        </p:nvGrpSpPr>
        <p:grpSpPr bwMode="auto">
          <a:xfrm>
            <a:off x="468313" y="1700213"/>
            <a:ext cx="3962400" cy="4495800"/>
            <a:chOff x="384" y="1296"/>
            <a:chExt cx="2496" cy="2832"/>
          </a:xfrm>
        </p:grpSpPr>
        <p:sp>
          <p:nvSpPr>
            <p:cNvPr id="177159" name="Rectangle 17">
              <a:extLst>
                <a:ext uri="{FF2B5EF4-FFF2-40B4-BE49-F238E27FC236}">
                  <a16:creationId xmlns:a16="http://schemas.microsoft.com/office/drawing/2014/main" id="{B9C53147-CDD6-4FF8-86A2-5A6FA56C781D}"/>
                </a:ext>
              </a:extLst>
            </p:cNvPr>
            <p:cNvSpPr>
              <a:spLocks noChangeArrowheads="1"/>
            </p:cNvSpPr>
            <p:nvPr/>
          </p:nvSpPr>
          <p:spPr bwMode="auto">
            <a:xfrm>
              <a:off x="384" y="1296"/>
              <a:ext cx="2496" cy="283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7160" name="Rectangle 18">
              <a:extLst>
                <a:ext uri="{FF2B5EF4-FFF2-40B4-BE49-F238E27FC236}">
                  <a16:creationId xmlns:a16="http://schemas.microsoft.com/office/drawing/2014/main" id="{9355D15E-1E74-41AE-BDEE-4265DABED6F6}"/>
                </a:ext>
              </a:extLst>
            </p:cNvPr>
            <p:cNvSpPr>
              <a:spLocks noChangeArrowheads="1"/>
            </p:cNvSpPr>
            <p:nvPr/>
          </p:nvSpPr>
          <p:spPr bwMode="auto">
            <a:xfrm>
              <a:off x="576" y="2496"/>
              <a:ext cx="2160" cy="1488"/>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7161" name="Rectangle 19">
              <a:extLst>
                <a:ext uri="{FF2B5EF4-FFF2-40B4-BE49-F238E27FC236}">
                  <a16:creationId xmlns:a16="http://schemas.microsoft.com/office/drawing/2014/main" id="{C77C698C-CA55-4B16-B619-76547CDC7A03}"/>
                </a:ext>
              </a:extLst>
            </p:cNvPr>
            <p:cNvSpPr>
              <a:spLocks noChangeArrowheads="1"/>
            </p:cNvSpPr>
            <p:nvPr/>
          </p:nvSpPr>
          <p:spPr bwMode="auto">
            <a:xfrm>
              <a:off x="1668" y="1728"/>
              <a:ext cx="924" cy="2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7162" name="Text Box 20">
              <a:extLst>
                <a:ext uri="{FF2B5EF4-FFF2-40B4-BE49-F238E27FC236}">
                  <a16:creationId xmlns:a16="http://schemas.microsoft.com/office/drawing/2014/main" id="{31DD1465-578D-4B0F-A660-D706B92FFED6}"/>
                </a:ext>
              </a:extLst>
            </p:cNvPr>
            <p:cNvSpPr txBox="1">
              <a:spLocks noChangeArrowheads="1"/>
            </p:cNvSpPr>
            <p:nvPr/>
          </p:nvSpPr>
          <p:spPr bwMode="auto">
            <a:xfrm>
              <a:off x="672" y="3072"/>
              <a:ext cx="907" cy="2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a:solidFill>
                    <a:srgbClr val="FFFF00"/>
                  </a:solidFill>
                  <a:latin typeface="Times New Roman" panose="02020603050405020304" pitchFamily="18" charset="0"/>
                </a:rPr>
                <a:t>静态数据</a:t>
              </a:r>
            </a:p>
          </p:txBody>
        </p:sp>
        <p:sp>
          <p:nvSpPr>
            <p:cNvPr id="177163" name="Text Box 21">
              <a:extLst>
                <a:ext uri="{FF2B5EF4-FFF2-40B4-BE49-F238E27FC236}">
                  <a16:creationId xmlns:a16="http://schemas.microsoft.com/office/drawing/2014/main" id="{17E79FD0-8C88-432F-98B4-BA45CA6839F9}"/>
                </a:ext>
              </a:extLst>
            </p:cNvPr>
            <p:cNvSpPr txBox="1">
              <a:spLocks noChangeArrowheads="1"/>
            </p:cNvSpPr>
            <p:nvPr/>
          </p:nvSpPr>
          <p:spPr bwMode="auto">
            <a:xfrm>
              <a:off x="672" y="3456"/>
              <a:ext cx="907" cy="2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a:solidFill>
                    <a:srgbClr val="FFFF00"/>
                  </a:solidFill>
                  <a:latin typeface="Times New Roman" panose="02020603050405020304" pitchFamily="18" charset="0"/>
                </a:rPr>
                <a:t>程序代码     </a:t>
              </a:r>
            </a:p>
          </p:txBody>
        </p:sp>
        <p:sp>
          <p:nvSpPr>
            <p:cNvPr id="177164" name="Rectangle 22">
              <a:extLst>
                <a:ext uri="{FF2B5EF4-FFF2-40B4-BE49-F238E27FC236}">
                  <a16:creationId xmlns:a16="http://schemas.microsoft.com/office/drawing/2014/main" id="{9E9E7B38-97C3-473E-9D68-86C26ACC13F8}"/>
                </a:ext>
              </a:extLst>
            </p:cNvPr>
            <p:cNvSpPr>
              <a:spLocks noChangeArrowheads="1"/>
            </p:cNvSpPr>
            <p:nvPr/>
          </p:nvSpPr>
          <p:spPr bwMode="auto">
            <a:xfrm>
              <a:off x="1872" y="2741"/>
              <a:ext cx="567" cy="90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a:solidFill>
                    <a:srgbClr val="FFFF00"/>
                  </a:solidFill>
                  <a:latin typeface="Times New Roman" panose="02020603050405020304" pitchFamily="18" charset="0"/>
                </a:rPr>
                <a:t>栈</a:t>
              </a:r>
            </a:p>
          </p:txBody>
        </p:sp>
        <p:sp>
          <p:nvSpPr>
            <p:cNvPr id="177165" name="Text Box 23">
              <a:extLst>
                <a:ext uri="{FF2B5EF4-FFF2-40B4-BE49-F238E27FC236}">
                  <a16:creationId xmlns:a16="http://schemas.microsoft.com/office/drawing/2014/main" id="{2326C613-9BF3-49D7-B925-5727C9743A70}"/>
                </a:ext>
              </a:extLst>
            </p:cNvPr>
            <p:cNvSpPr txBox="1">
              <a:spLocks noChangeArrowheads="1"/>
            </p:cNvSpPr>
            <p:nvPr/>
          </p:nvSpPr>
          <p:spPr bwMode="auto">
            <a:xfrm>
              <a:off x="576" y="148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a:solidFill>
                    <a:srgbClr val="FFFF00"/>
                  </a:solidFill>
                  <a:latin typeface="Times New Roman" panose="02020603050405020304" pitchFamily="18" charset="0"/>
                </a:rPr>
                <a:t>进程</a:t>
              </a:r>
              <a:r>
                <a:rPr kumimoji="1" lang="en-US" altLang="zh-CN" sz="2400">
                  <a:solidFill>
                    <a:srgbClr val="FFFF00"/>
                  </a:solidFill>
                  <a:latin typeface="Times New Roman" panose="02020603050405020304" pitchFamily="18" charset="0"/>
                </a:rPr>
                <a:t>1</a:t>
              </a:r>
            </a:p>
          </p:txBody>
        </p:sp>
        <p:sp>
          <p:nvSpPr>
            <p:cNvPr id="177166" name="Text Box 24">
              <a:extLst>
                <a:ext uri="{FF2B5EF4-FFF2-40B4-BE49-F238E27FC236}">
                  <a16:creationId xmlns:a16="http://schemas.microsoft.com/office/drawing/2014/main" id="{8554DF6A-CC4C-422E-893F-E660156EC35E}"/>
                </a:ext>
              </a:extLst>
            </p:cNvPr>
            <p:cNvSpPr txBox="1">
              <a:spLocks noChangeArrowheads="1"/>
            </p:cNvSpPr>
            <p:nvPr/>
          </p:nvSpPr>
          <p:spPr bwMode="auto">
            <a:xfrm>
              <a:off x="672" y="2688"/>
              <a:ext cx="907" cy="27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a:solidFill>
                    <a:srgbClr val="FFFF00"/>
                  </a:solidFill>
                  <a:latin typeface="Times New Roman" panose="02020603050405020304" pitchFamily="18" charset="0"/>
                </a:rPr>
                <a:t>动  态  堆</a:t>
              </a:r>
            </a:p>
          </p:txBody>
        </p:sp>
        <p:sp>
          <p:nvSpPr>
            <p:cNvPr id="177167" name="Line 25">
              <a:extLst>
                <a:ext uri="{FF2B5EF4-FFF2-40B4-BE49-F238E27FC236}">
                  <a16:creationId xmlns:a16="http://schemas.microsoft.com/office/drawing/2014/main" id="{3D3F45CD-BA9E-4DEA-84DD-ADDCF2621854}"/>
                </a:ext>
              </a:extLst>
            </p:cNvPr>
            <p:cNvSpPr>
              <a:spLocks noChangeShapeType="1"/>
            </p:cNvSpPr>
            <p:nvPr/>
          </p:nvSpPr>
          <p:spPr bwMode="auto">
            <a:xfrm>
              <a:off x="1680" y="2496"/>
              <a:ext cx="100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168" name="AutoShape 26">
              <a:extLst>
                <a:ext uri="{FF2B5EF4-FFF2-40B4-BE49-F238E27FC236}">
                  <a16:creationId xmlns:a16="http://schemas.microsoft.com/office/drawing/2014/main" id="{8DDF0444-43B5-4DB0-A94B-E6C7E86229F7}"/>
                </a:ext>
              </a:extLst>
            </p:cNvPr>
            <p:cNvSpPr>
              <a:spLocks noChangeArrowheads="1"/>
            </p:cNvSpPr>
            <p:nvPr/>
          </p:nvSpPr>
          <p:spPr bwMode="auto">
            <a:xfrm flipH="1">
              <a:off x="624" y="2112"/>
              <a:ext cx="576" cy="288"/>
            </a:xfrm>
            <a:prstGeom prst="wedgeRectCallout">
              <a:avLst>
                <a:gd name="adj1" fmla="val -43750"/>
                <a:gd name="adj2" fmla="val 70000"/>
              </a:avLst>
            </a:prstGeom>
            <a:solidFill>
              <a:srgbClr val="00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SzTx/>
                <a:buNone/>
              </a:pPr>
              <a:r>
                <a:rPr kumimoji="1" lang="zh-CN" altLang="en-US" sz="2400">
                  <a:solidFill>
                    <a:srgbClr val="FFFF00"/>
                  </a:solidFill>
                  <a:latin typeface="Times New Roman" panose="02020603050405020304" pitchFamily="18" charset="0"/>
                </a:rPr>
                <a:t>内存</a:t>
              </a:r>
            </a:p>
          </p:txBody>
        </p:sp>
        <p:sp>
          <p:nvSpPr>
            <p:cNvPr id="177169" name="Rectangle 27">
              <a:extLst>
                <a:ext uri="{FF2B5EF4-FFF2-40B4-BE49-F238E27FC236}">
                  <a16:creationId xmlns:a16="http://schemas.microsoft.com/office/drawing/2014/main" id="{2D17D284-44C3-496B-A11F-86CE8523F396}"/>
                </a:ext>
              </a:extLst>
            </p:cNvPr>
            <p:cNvSpPr>
              <a:spLocks noChangeArrowheads="1"/>
            </p:cNvSpPr>
            <p:nvPr/>
          </p:nvSpPr>
          <p:spPr bwMode="auto">
            <a:xfrm>
              <a:off x="1833" y="1920"/>
              <a:ext cx="567" cy="3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a:solidFill>
                    <a:srgbClr val="FFFF00"/>
                  </a:solidFill>
                  <a:latin typeface="Times New Roman" panose="02020603050405020304" pitchFamily="18" charset="0"/>
                </a:rPr>
                <a:t>寄存器</a:t>
              </a:r>
            </a:p>
          </p:txBody>
        </p:sp>
      </p:gr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9EB855E4-3231-4F0C-8388-95EE6FC0C0F9}"/>
              </a:ext>
            </a:extLst>
          </p:cNvPr>
          <p:cNvSpPr>
            <a:spLocks noChangeArrowheads="1"/>
          </p:cNvSpPr>
          <p:nvPr/>
        </p:nvSpPr>
        <p:spPr bwMode="auto">
          <a:xfrm>
            <a:off x="684213" y="1628775"/>
            <a:ext cx="7620000" cy="449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8179" name="Rectangle 3">
            <a:extLst>
              <a:ext uri="{FF2B5EF4-FFF2-40B4-BE49-F238E27FC236}">
                <a16:creationId xmlns:a16="http://schemas.microsoft.com/office/drawing/2014/main" id="{66F37704-3309-42C6-9421-EFCE91825145}"/>
              </a:ext>
            </a:extLst>
          </p:cNvPr>
          <p:cNvSpPr>
            <a:spLocks noChangeArrowheads="1"/>
          </p:cNvSpPr>
          <p:nvPr/>
        </p:nvSpPr>
        <p:spPr bwMode="auto">
          <a:xfrm>
            <a:off x="989013" y="3457575"/>
            <a:ext cx="7010400" cy="236220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8180" name="Rectangle 4">
            <a:extLst>
              <a:ext uri="{FF2B5EF4-FFF2-40B4-BE49-F238E27FC236}">
                <a16:creationId xmlns:a16="http://schemas.microsoft.com/office/drawing/2014/main" id="{AA60C07E-983C-46C3-91FF-A7006C46F0D7}"/>
              </a:ext>
            </a:extLst>
          </p:cNvPr>
          <p:cNvSpPr>
            <a:spLocks noChangeArrowheads="1"/>
          </p:cNvSpPr>
          <p:nvPr/>
        </p:nvSpPr>
        <p:spPr bwMode="auto">
          <a:xfrm>
            <a:off x="5999163" y="1916113"/>
            <a:ext cx="1619250" cy="35988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8181" name="Rectangle 5">
            <a:extLst>
              <a:ext uri="{FF2B5EF4-FFF2-40B4-BE49-F238E27FC236}">
                <a16:creationId xmlns:a16="http://schemas.microsoft.com/office/drawing/2014/main" id="{F5B38E5F-361C-472D-8613-2DD0506FFF9D}"/>
              </a:ext>
            </a:extLst>
          </p:cNvPr>
          <p:cNvSpPr>
            <a:spLocks noChangeArrowheads="1"/>
          </p:cNvSpPr>
          <p:nvPr/>
        </p:nvSpPr>
        <p:spPr bwMode="auto">
          <a:xfrm>
            <a:off x="3808413" y="1992313"/>
            <a:ext cx="1619250" cy="35988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78182" name="Text Box 6">
            <a:extLst>
              <a:ext uri="{FF2B5EF4-FFF2-40B4-BE49-F238E27FC236}">
                <a16:creationId xmlns:a16="http://schemas.microsoft.com/office/drawing/2014/main" id="{B3BA4D0A-D6BD-47CD-872D-8CCE17E23012}"/>
              </a:ext>
            </a:extLst>
          </p:cNvPr>
          <p:cNvSpPr txBox="1">
            <a:spLocks noChangeArrowheads="1"/>
          </p:cNvSpPr>
          <p:nvPr/>
        </p:nvSpPr>
        <p:spPr bwMode="auto">
          <a:xfrm>
            <a:off x="2132013" y="4371975"/>
            <a:ext cx="1439862"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静态数据</a:t>
            </a:r>
          </a:p>
        </p:txBody>
      </p:sp>
      <p:sp>
        <p:nvSpPr>
          <p:cNvPr id="178183" name="Text Box 7">
            <a:extLst>
              <a:ext uri="{FF2B5EF4-FFF2-40B4-BE49-F238E27FC236}">
                <a16:creationId xmlns:a16="http://schemas.microsoft.com/office/drawing/2014/main" id="{AB764ECA-B31F-4567-ABA7-EF6BC8EA9BE0}"/>
              </a:ext>
            </a:extLst>
          </p:cNvPr>
          <p:cNvSpPr txBox="1">
            <a:spLocks noChangeArrowheads="1"/>
          </p:cNvSpPr>
          <p:nvPr/>
        </p:nvSpPr>
        <p:spPr bwMode="auto">
          <a:xfrm>
            <a:off x="2132013" y="4981575"/>
            <a:ext cx="1439862"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程序代码     </a:t>
            </a:r>
          </a:p>
        </p:txBody>
      </p:sp>
      <p:sp>
        <p:nvSpPr>
          <p:cNvPr id="178184" name="Rectangle 8">
            <a:extLst>
              <a:ext uri="{FF2B5EF4-FFF2-40B4-BE49-F238E27FC236}">
                <a16:creationId xmlns:a16="http://schemas.microsoft.com/office/drawing/2014/main" id="{80840989-3753-4166-9A52-3E51385CD61E}"/>
              </a:ext>
            </a:extLst>
          </p:cNvPr>
          <p:cNvSpPr>
            <a:spLocks noChangeArrowheads="1"/>
          </p:cNvSpPr>
          <p:nvPr/>
        </p:nvSpPr>
        <p:spPr bwMode="auto">
          <a:xfrm>
            <a:off x="4189413" y="3770313"/>
            <a:ext cx="900112" cy="14398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FF00"/>
                </a:solidFill>
                <a:latin typeface="Times New Roman" panose="02020603050405020304" pitchFamily="18" charset="0"/>
              </a:rPr>
              <a:t>栈</a:t>
            </a:r>
          </a:p>
        </p:txBody>
      </p:sp>
      <p:sp>
        <p:nvSpPr>
          <p:cNvPr id="178185" name="Rectangle 9">
            <a:extLst>
              <a:ext uri="{FF2B5EF4-FFF2-40B4-BE49-F238E27FC236}">
                <a16:creationId xmlns:a16="http://schemas.microsoft.com/office/drawing/2014/main" id="{E6DE2936-B147-4272-BCDB-55584C84734C}"/>
              </a:ext>
            </a:extLst>
          </p:cNvPr>
          <p:cNvSpPr>
            <a:spLocks noChangeArrowheads="1"/>
          </p:cNvSpPr>
          <p:nvPr/>
        </p:nvSpPr>
        <p:spPr bwMode="auto">
          <a:xfrm>
            <a:off x="6413500" y="3762375"/>
            <a:ext cx="900113" cy="14398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FF00"/>
                </a:solidFill>
                <a:latin typeface="Times New Roman" panose="02020603050405020304" pitchFamily="18" charset="0"/>
              </a:rPr>
              <a:t>栈</a:t>
            </a:r>
          </a:p>
        </p:txBody>
      </p:sp>
      <p:sp>
        <p:nvSpPr>
          <p:cNvPr id="178186" name="Rectangle 10">
            <a:extLst>
              <a:ext uri="{FF2B5EF4-FFF2-40B4-BE49-F238E27FC236}">
                <a16:creationId xmlns:a16="http://schemas.microsoft.com/office/drawing/2014/main" id="{C860FEEE-160B-4B2E-9683-23A5BFD8B74E}"/>
              </a:ext>
            </a:extLst>
          </p:cNvPr>
          <p:cNvSpPr>
            <a:spLocks noChangeArrowheads="1"/>
          </p:cNvSpPr>
          <p:nvPr/>
        </p:nvSpPr>
        <p:spPr bwMode="auto">
          <a:xfrm>
            <a:off x="4189413" y="2695575"/>
            <a:ext cx="900112" cy="5397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FF00"/>
                </a:solidFill>
                <a:latin typeface="Times New Roman" panose="02020603050405020304" pitchFamily="18" charset="0"/>
              </a:rPr>
              <a:t>寄存器</a:t>
            </a:r>
          </a:p>
        </p:txBody>
      </p:sp>
      <p:sp>
        <p:nvSpPr>
          <p:cNvPr id="178187" name="Rectangle 11">
            <a:extLst>
              <a:ext uri="{FF2B5EF4-FFF2-40B4-BE49-F238E27FC236}">
                <a16:creationId xmlns:a16="http://schemas.microsoft.com/office/drawing/2014/main" id="{00B8D86B-774F-49AD-B475-85CA38CFECA6}"/>
              </a:ext>
            </a:extLst>
          </p:cNvPr>
          <p:cNvSpPr>
            <a:spLocks noChangeArrowheads="1"/>
          </p:cNvSpPr>
          <p:nvPr/>
        </p:nvSpPr>
        <p:spPr bwMode="auto">
          <a:xfrm>
            <a:off x="6399213" y="2695575"/>
            <a:ext cx="900112" cy="5397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2400" b="1">
                <a:solidFill>
                  <a:srgbClr val="FFFF00"/>
                </a:solidFill>
                <a:latin typeface="Times New Roman" panose="02020603050405020304" pitchFamily="18" charset="0"/>
              </a:rPr>
              <a:t>寄存器</a:t>
            </a:r>
          </a:p>
        </p:txBody>
      </p:sp>
      <p:sp>
        <p:nvSpPr>
          <p:cNvPr id="178188" name="Text Box 12">
            <a:extLst>
              <a:ext uri="{FF2B5EF4-FFF2-40B4-BE49-F238E27FC236}">
                <a16:creationId xmlns:a16="http://schemas.microsoft.com/office/drawing/2014/main" id="{AC4B5FDB-60ED-42BB-98F9-964DFB262C08}"/>
              </a:ext>
            </a:extLst>
          </p:cNvPr>
          <p:cNvSpPr txBox="1">
            <a:spLocks noChangeArrowheads="1"/>
          </p:cNvSpPr>
          <p:nvPr/>
        </p:nvSpPr>
        <p:spPr bwMode="auto">
          <a:xfrm>
            <a:off x="4113213" y="2085975"/>
            <a:ext cx="990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线程</a:t>
            </a:r>
            <a:r>
              <a:rPr kumimoji="1" lang="en-US" altLang="zh-CN" sz="2400" b="1">
                <a:solidFill>
                  <a:srgbClr val="FFFF00"/>
                </a:solidFill>
                <a:latin typeface="Times New Roman" panose="02020603050405020304" pitchFamily="18" charset="0"/>
              </a:rPr>
              <a:t>1</a:t>
            </a:r>
            <a:r>
              <a:rPr kumimoji="1" lang="zh-CN" altLang="en-US" sz="2400" b="1">
                <a:solidFill>
                  <a:srgbClr val="FFFF00"/>
                </a:solidFill>
                <a:latin typeface="Times New Roman" panose="02020603050405020304" pitchFamily="18" charset="0"/>
              </a:rPr>
              <a:t>：</a:t>
            </a:r>
          </a:p>
        </p:txBody>
      </p:sp>
      <p:sp>
        <p:nvSpPr>
          <p:cNvPr id="178189" name="Text Box 13">
            <a:extLst>
              <a:ext uri="{FF2B5EF4-FFF2-40B4-BE49-F238E27FC236}">
                <a16:creationId xmlns:a16="http://schemas.microsoft.com/office/drawing/2014/main" id="{B13DFAAE-EB32-4434-9BA3-B923C0A6E25C}"/>
              </a:ext>
            </a:extLst>
          </p:cNvPr>
          <p:cNvSpPr txBox="1">
            <a:spLocks noChangeArrowheads="1"/>
          </p:cNvSpPr>
          <p:nvPr/>
        </p:nvSpPr>
        <p:spPr bwMode="auto">
          <a:xfrm>
            <a:off x="6323013" y="2085975"/>
            <a:ext cx="990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线程</a:t>
            </a:r>
            <a:r>
              <a:rPr kumimoji="1" lang="en-US" altLang="zh-CN" sz="2400" b="1">
                <a:solidFill>
                  <a:srgbClr val="FFFF00"/>
                </a:solidFill>
                <a:latin typeface="Times New Roman" panose="02020603050405020304" pitchFamily="18" charset="0"/>
              </a:rPr>
              <a:t>2</a:t>
            </a:r>
            <a:r>
              <a:rPr kumimoji="1" lang="zh-CN" altLang="en-US" sz="2400" b="1">
                <a:solidFill>
                  <a:srgbClr val="FFFF00"/>
                </a:solidFill>
                <a:latin typeface="Times New Roman" panose="02020603050405020304" pitchFamily="18" charset="0"/>
              </a:rPr>
              <a:t>：</a:t>
            </a:r>
          </a:p>
        </p:txBody>
      </p:sp>
      <p:sp>
        <p:nvSpPr>
          <p:cNvPr id="178190" name="Text Box 14">
            <a:extLst>
              <a:ext uri="{FF2B5EF4-FFF2-40B4-BE49-F238E27FC236}">
                <a16:creationId xmlns:a16="http://schemas.microsoft.com/office/drawing/2014/main" id="{20EA0FB6-857F-46DE-ADA1-20AC8E35EC7A}"/>
              </a:ext>
            </a:extLst>
          </p:cNvPr>
          <p:cNvSpPr txBox="1">
            <a:spLocks noChangeArrowheads="1"/>
          </p:cNvSpPr>
          <p:nvPr/>
        </p:nvSpPr>
        <p:spPr bwMode="auto">
          <a:xfrm>
            <a:off x="1370013" y="1857375"/>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进程</a:t>
            </a:r>
          </a:p>
        </p:txBody>
      </p:sp>
      <p:sp>
        <p:nvSpPr>
          <p:cNvPr id="178191" name="Text Box 15">
            <a:extLst>
              <a:ext uri="{FF2B5EF4-FFF2-40B4-BE49-F238E27FC236}">
                <a16:creationId xmlns:a16="http://schemas.microsoft.com/office/drawing/2014/main" id="{0E7F1F9F-AE24-41C9-A937-218C1DB83259}"/>
              </a:ext>
            </a:extLst>
          </p:cNvPr>
          <p:cNvSpPr txBox="1">
            <a:spLocks noChangeArrowheads="1"/>
          </p:cNvSpPr>
          <p:nvPr/>
        </p:nvSpPr>
        <p:spPr bwMode="auto">
          <a:xfrm>
            <a:off x="2132013" y="3762375"/>
            <a:ext cx="1439862"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sz="2400" b="1">
                <a:solidFill>
                  <a:srgbClr val="FFFF00"/>
                </a:solidFill>
                <a:latin typeface="Times New Roman" panose="02020603050405020304" pitchFamily="18" charset="0"/>
              </a:rPr>
              <a:t>动  态  堆</a:t>
            </a:r>
          </a:p>
        </p:txBody>
      </p:sp>
      <p:sp>
        <p:nvSpPr>
          <p:cNvPr id="178192" name="Line 16">
            <a:extLst>
              <a:ext uri="{FF2B5EF4-FFF2-40B4-BE49-F238E27FC236}">
                <a16:creationId xmlns:a16="http://schemas.microsoft.com/office/drawing/2014/main" id="{DC9A387A-6555-46EA-8644-00B3760C551F}"/>
              </a:ext>
            </a:extLst>
          </p:cNvPr>
          <p:cNvSpPr>
            <a:spLocks noChangeShapeType="1"/>
          </p:cNvSpPr>
          <p:nvPr/>
        </p:nvSpPr>
        <p:spPr bwMode="auto">
          <a:xfrm>
            <a:off x="3808413" y="3457575"/>
            <a:ext cx="16002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193" name="Line 17">
            <a:extLst>
              <a:ext uri="{FF2B5EF4-FFF2-40B4-BE49-F238E27FC236}">
                <a16:creationId xmlns:a16="http://schemas.microsoft.com/office/drawing/2014/main" id="{67267D8E-841F-4E6A-A0B3-D9533951F9CF}"/>
              </a:ext>
            </a:extLst>
          </p:cNvPr>
          <p:cNvSpPr>
            <a:spLocks noChangeShapeType="1"/>
          </p:cNvSpPr>
          <p:nvPr/>
        </p:nvSpPr>
        <p:spPr bwMode="auto">
          <a:xfrm>
            <a:off x="6018213" y="3457575"/>
            <a:ext cx="160020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8194" name="AutoShape 18">
            <a:extLst>
              <a:ext uri="{FF2B5EF4-FFF2-40B4-BE49-F238E27FC236}">
                <a16:creationId xmlns:a16="http://schemas.microsoft.com/office/drawing/2014/main" id="{C05B4B07-9D65-4AF0-8D8D-13D9CF6DF07D}"/>
              </a:ext>
            </a:extLst>
          </p:cNvPr>
          <p:cNvSpPr>
            <a:spLocks noChangeArrowheads="1"/>
          </p:cNvSpPr>
          <p:nvPr/>
        </p:nvSpPr>
        <p:spPr bwMode="auto">
          <a:xfrm flipH="1">
            <a:off x="1065213" y="2847975"/>
            <a:ext cx="914400" cy="457200"/>
          </a:xfrm>
          <a:prstGeom prst="wedgeRectCallout">
            <a:avLst>
              <a:gd name="adj1" fmla="val -43750"/>
              <a:gd name="adj2" fmla="val 70000"/>
            </a:avLst>
          </a:prstGeom>
          <a:solidFill>
            <a:srgbClr val="00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lvl="0" algn="ctr" eaLnBrk="1" hangingPunct="1">
              <a:spcBef>
                <a:spcPct val="0"/>
              </a:spcBef>
              <a:buClrTx/>
              <a:buSzTx/>
              <a:buNone/>
            </a:pPr>
            <a:r>
              <a:rPr kumimoji="1" lang="zh-CN" altLang="en-US" sz="2400" b="1">
                <a:solidFill>
                  <a:srgbClr val="FFFF00"/>
                </a:solidFill>
                <a:latin typeface="Times New Roman" panose="02020603050405020304" pitchFamily="18" charset="0"/>
              </a:rPr>
              <a:t>内存</a:t>
            </a:r>
          </a:p>
        </p:txBody>
      </p:sp>
      <p:sp>
        <p:nvSpPr>
          <p:cNvPr id="178195" name="Text Box 19">
            <a:extLst>
              <a:ext uri="{FF2B5EF4-FFF2-40B4-BE49-F238E27FC236}">
                <a16:creationId xmlns:a16="http://schemas.microsoft.com/office/drawing/2014/main" id="{07699655-7FF3-442A-87C8-E1FFA85F2BE8}"/>
              </a:ext>
            </a:extLst>
          </p:cNvPr>
          <p:cNvSpPr txBox="1">
            <a:spLocks noChangeArrowheads="1"/>
          </p:cNvSpPr>
          <p:nvPr/>
        </p:nvSpPr>
        <p:spPr bwMode="auto">
          <a:xfrm>
            <a:off x="611188" y="549275"/>
            <a:ext cx="55451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1" lang="zh-CN" altLang="en-US" b="1">
                <a:solidFill>
                  <a:srgbClr val="FFFF00"/>
                </a:solidFill>
                <a:latin typeface="Times New Roman" panose="02020603050405020304" pitchFamily="18" charset="0"/>
                <a:ea typeface="黑体" panose="02010609060101010101" pitchFamily="49" charset="-122"/>
              </a:rPr>
              <a:t>多线程结构（用户视图）</a:t>
            </a:r>
          </a:p>
        </p:txBody>
      </p:sp>
    </p:spTree>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878D1209-3EEB-4A79-AA53-FAFA878611F3}"/>
              </a:ext>
            </a:extLst>
          </p:cNvPr>
          <p:cNvSpPr>
            <a:spLocks noChangeArrowheads="1"/>
          </p:cNvSpPr>
          <p:nvPr/>
        </p:nvSpPr>
        <p:spPr bwMode="auto">
          <a:xfrm>
            <a:off x="250825" y="333375"/>
            <a:ext cx="381635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3600" b="1">
                <a:solidFill>
                  <a:srgbClr val="FFFF00"/>
                </a:solidFill>
                <a:latin typeface="楷体_GB2312" pitchFamily="49" charset="-122"/>
                <a:ea typeface="黑体" panose="02010609060101010101" pitchFamily="49" charset="-122"/>
              </a:rPr>
              <a:t>引入线程的好处</a:t>
            </a:r>
          </a:p>
        </p:txBody>
      </p:sp>
      <p:sp>
        <p:nvSpPr>
          <p:cNvPr id="179203" name="Rectangle 3">
            <a:extLst>
              <a:ext uri="{FF2B5EF4-FFF2-40B4-BE49-F238E27FC236}">
                <a16:creationId xmlns:a16="http://schemas.microsoft.com/office/drawing/2014/main" id="{0AD99A79-AB38-4D5B-A966-EBC228CD3134}"/>
              </a:ext>
            </a:extLst>
          </p:cNvPr>
          <p:cNvSpPr>
            <a:spLocks noChangeArrowheads="1"/>
          </p:cNvSpPr>
          <p:nvPr/>
        </p:nvSpPr>
        <p:spPr bwMode="auto">
          <a:xfrm>
            <a:off x="395288" y="1268413"/>
            <a:ext cx="8281168"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FFFF00"/>
                </a:solidFill>
                <a:latin typeface="楷体_GB2312" pitchFamily="49" charset="-122"/>
                <a:ea typeface="黑体" panose="02010609060101010101" pitchFamily="49" charset="-122"/>
              </a:rPr>
              <a:t>(1)</a:t>
            </a:r>
            <a:r>
              <a:rPr lang="zh-CN" altLang="en-US" sz="2800" b="1" dirty="0">
                <a:solidFill>
                  <a:srgbClr val="FFFF00"/>
                </a:solidFill>
                <a:latin typeface="楷体_GB2312" pitchFamily="49" charset="-122"/>
                <a:ea typeface="黑体" panose="02010609060101010101" pitchFamily="49" charset="-122"/>
              </a:rPr>
              <a:t>并发执行发生在线程实体上，因而系统对处理机的分配也发生在线程之间，而同一进程内的线程间的切换改善了系统时空开销。</a:t>
            </a:r>
          </a:p>
          <a:p>
            <a:pPr eaLnBrk="1" hangingPunct="1"/>
            <a:r>
              <a:rPr lang="en-US" altLang="zh-CN" sz="2800" b="1" dirty="0">
                <a:solidFill>
                  <a:srgbClr val="FFFF00"/>
                </a:solidFill>
                <a:latin typeface="楷体_GB2312" pitchFamily="49" charset="-122"/>
                <a:ea typeface="黑体" panose="02010609060101010101" pitchFamily="49" charset="-122"/>
              </a:rPr>
              <a:t>(2)</a:t>
            </a:r>
            <a:r>
              <a:rPr lang="zh-CN" altLang="en-US" sz="2800" b="1" dirty="0">
                <a:solidFill>
                  <a:srgbClr val="FFFF00"/>
                </a:solidFill>
                <a:latin typeface="楷体_GB2312" pitchFamily="49" charset="-122"/>
                <a:ea typeface="黑体" panose="02010609060101010101" pitchFamily="49" charset="-122"/>
              </a:rPr>
              <a:t>系统创建或终止一个线程的开销要比创建或终止一个进程的开销少得多。</a:t>
            </a:r>
          </a:p>
          <a:p>
            <a:pPr eaLnBrk="1" hangingPunct="1"/>
            <a:r>
              <a:rPr lang="en-US" altLang="zh-CN" sz="2800" b="1" dirty="0">
                <a:solidFill>
                  <a:srgbClr val="FFFF00"/>
                </a:solidFill>
                <a:latin typeface="楷体_GB2312" pitchFamily="49" charset="-122"/>
                <a:ea typeface="黑体" panose="02010609060101010101" pitchFamily="49" charset="-122"/>
              </a:rPr>
              <a:t>(3)</a:t>
            </a:r>
            <a:r>
              <a:rPr lang="zh-CN" altLang="en-US" sz="2800" b="1" dirty="0">
                <a:solidFill>
                  <a:srgbClr val="FFFF00"/>
                </a:solidFill>
                <a:latin typeface="楷体_GB2312" pitchFamily="49" charset="-122"/>
                <a:ea typeface="黑体" panose="02010609060101010101" pitchFamily="49" charset="-122"/>
              </a:rPr>
              <a:t>线程之间通信的效率要高于进程之间的通信效率。进程间通信要内核介入，而同个进程的多个线程由于共享同一地址空间，所以通信时无须内核介入。</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0AC8CCF7-FA2C-4276-88A4-485E759BBA31}"/>
              </a:ext>
            </a:extLst>
          </p:cNvPr>
          <p:cNvSpPr>
            <a:spLocks noChangeArrowheads="1"/>
          </p:cNvSpPr>
          <p:nvPr/>
        </p:nvSpPr>
        <p:spPr bwMode="auto">
          <a:xfrm>
            <a:off x="539750" y="1412875"/>
            <a:ext cx="7993063" cy="482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rgbClr val="FFFF00"/>
                </a:solidFill>
                <a:latin typeface="宋体" panose="02010600030101010101" pitchFamily="2" charset="-122"/>
                <a:ea typeface="黑体" panose="02010609060101010101" pitchFamily="49" charset="-122"/>
              </a:rPr>
              <a:t>尽管线程可以提高系统的执行效率，但并不是适用于所有的系统中。在那些很少做进程调度和切换的实时系统、个人系统中，由于任务的单一性，设置线程反而会占用更多的内存空间和寄存器</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DFDD464F-6EBA-45B5-8044-ACD682CCA12A}"/>
              </a:ext>
            </a:extLst>
          </p:cNvPr>
          <p:cNvSpPr>
            <a:spLocks noChangeArrowheads="1"/>
          </p:cNvSpPr>
          <p:nvPr/>
        </p:nvSpPr>
        <p:spPr bwMode="auto">
          <a:xfrm>
            <a:off x="250825" y="882650"/>
            <a:ext cx="8893175" cy="542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SzPct val="75000"/>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7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folHlink"/>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rgbClr val="FF0000"/>
                </a:solidFill>
                <a:latin typeface="楷体_GB2312" pitchFamily="49" charset="-122"/>
                <a:ea typeface="黑体" panose="02010609060101010101" pitchFamily="49" charset="-122"/>
              </a:rPr>
              <a:t>最适合多处理机系统、网络或分布式系统</a:t>
            </a:r>
          </a:p>
          <a:p>
            <a:pPr eaLnBrk="1" hangingPunct="1"/>
            <a:r>
              <a:rPr lang="zh-CN" altLang="en-US" sz="3600" b="1" dirty="0">
                <a:solidFill>
                  <a:srgbClr val="FFFF00"/>
                </a:solidFill>
                <a:latin typeface="楷体_GB2312" pitchFamily="49" charset="-122"/>
                <a:ea typeface="黑体" panose="02010609060101010101" pitchFamily="49" charset="-122"/>
              </a:rPr>
              <a:t>同一用户程序可以根据不同的功能划分为不同的线程，放在不同的处理机上执行</a:t>
            </a:r>
          </a:p>
          <a:p>
            <a:pPr eaLnBrk="1" hangingPunct="1"/>
            <a:r>
              <a:rPr lang="zh-CN" altLang="en-US" sz="3600" b="1" dirty="0">
                <a:solidFill>
                  <a:srgbClr val="FFFF00"/>
                </a:solidFill>
                <a:latin typeface="楷体_GB2312" pitchFamily="49" charset="-122"/>
                <a:ea typeface="黑体" panose="02010609060101010101" pitchFamily="49" charset="-122"/>
              </a:rPr>
              <a:t>服务器可对多个不同用户的请求按不同的线程进行处理，从而提高系统的处理速度和效率</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5474A258-5C23-47BA-A541-6B24BDB22D0A}"/>
              </a:ext>
            </a:extLst>
          </p:cNvPr>
          <p:cNvSpPr>
            <a:spLocks noGrp="1" noChangeArrowheads="1"/>
          </p:cNvSpPr>
          <p:nvPr>
            <p:ph type="body" idx="1"/>
          </p:nvPr>
        </p:nvSpPr>
        <p:spPr>
          <a:xfrm>
            <a:off x="395288" y="1557338"/>
            <a:ext cx="8435975" cy="4103687"/>
          </a:xfrm>
        </p:spPr>
        <p:txBody>
          <a:bodyPr/>
          <a:lstStyle/>
          <a:p>
            <a:pPr algn="just"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  </a:t>
            </a:r>
            <a:r>
              <a:rPr lang="zh-CN" altLang="en-US" sz="3600" b="1">
                <a:solidFill>
                  <a:srgbClr val="FFFF00"/>
                </a:solidFill>
                <a:effectLst/>
                <a:latin typeface="黑体" panose="02010609060101010101" pitchFamily="49" charset="-122"/>
                <a:ea typeface="黑体" panose="02010609060101010101" pitchFamily="49" charset="-122"/>
              </a:rPr>
              <a:t>在多线程操作系统中，把线程作为独立运行</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或调度</a:t>
            </a:r>
            <a:r>
              <a:rPr lang="en-US" altLang="zh-CN" sz="3600" b="1">
                <a:solidFill>
                  <a:srgbClr val="FFFF00"/>
                </a:solidFill>
                <a:effectLst/>
                <a:latin typeface="黑体" panose="02010609060101010101" pitchFamily="49" charset="-122"/>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的基本单位，此时的进程，己不再是一个基本的可执行实体。但进程仍具有与执行相关的状态，所谓进程处于</a:t>
            </a:r>
            <a:r>
              <a:rPr lang="zh-CN" altLang="en-US" sz="3600" b="1">
                <a:solidFill>
                  <a:srgbClr val="FFFF00"/>
                </a:solidFill>
                <a:effectLst/>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执行</a:t>
            </a:r>
            <a:r>
              <a:rPr lang="zh-CN" altLang="en-US" sz="3600" b="1">
                <a:solidFill>
                  <a:srgbClr val="FFFF00"/>
                </a:solidFill>
                <a:effectLst/>
                <a:ea typeface="黑体" panose="02010609060101010101" pitchFamily="49" charset="-122"/>
              </a:rPr>
              <a:t>”</a:t>
            </a:r>
            <a:r>
              <a:rPr lang="zh-CN" altLang="en-US" sz="3600" b="1">
                <a:solidFill>
                  <a:srgbClr val="FFFF00"/>
                </a:solidFill>
                <a:effectLst/>
                <a:latin typeface="黑体" panose="02010609060101010101" pitchFamily="49" charset="-122"/>
                <a:ea typeface="黑体" panose="02010609060101010101" pitchFamily="49" charset="-122"/>
              </a:rPr>
              <a:t>状态实际上是指该进程中某线程正在执行。</a:t>
            </a:r>
          </a:p>
        </p:txBody>
      </p:sp>
      <p:sp>
        <p:nvSpPr>
          <p:cNvPr id="630787" name="Rectangle 3">
            <a:extLst>
              <a:ext uri="{FF2B5EF4-FFF2-40B4-BE49-F238E27FC236}">
                <a16:creationId xmlns:a16="http://schemas.microsoft.com/office/drawing/2014/main" id="{B10D9EBE-11B6-4D14-8A34-28159F68851A}"/>
              </a:ext>
            </a:extLst>
          </p:cNvPr>
          <p:cNvSpPr>
            <a:spLocks noGrp="1" noChangeArrowheads="1"/>
          </p:cNvSpPr>
          <p:nvPr>
            <p:ph type="title"/>
          </p:nvPr>
        </p:nvSpPr>
        <p:spPr>
          <a:xfrm>
            <a:off x="468313" y="260350"/>
            <a:ext cx="8229600" cy="950913"/>
          </a:xfrm>
        </p:spPr>
        <p:txBody>
          <a:bodyPr/>
          <a:lstStyle/>
          <a:p>
            <a:pPr eaLnBrk="1" hangingPunct="1">
              <a:defRPr/>
            </a:pPr>
            <a:r>
              <a:rPr lang="en-US" altLang="zh-CN" b="1">
                <a:solidFill>
                  <a:schemeClr val="tx1"/>
                </a:solidFill>
                <a:effectLst>
                  <a:outerShdw blurRad="38100" dist="38100" dir="2700000" algn="tl">
                    <a:srgbClr val="010199"/>
                  </a:outerShdw>
                </a:effectLst>
              </a:rPr>
              <a:t>3.7.2 </a:t>
            </a:r>
            <a:r>
              <a:rPr lang="zh-CN" altLang="en-US" b="1">
                <a:solidFill>
                  <a:schemeClr val="tx1"/>
                </a:solidFill>
                <a:effectLst>
                  <a:outerShdw blurRad="38100" dist="38100" dir="2700000" algn="tl">
                    <a:srgbClr val="010199"/>
                  </a:outerShdw>
                </a:effectLst>
              </a:rPr>
              <a:t>线程与进程</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C615D425-3063-47E6-89FE-5FD5267E17CD}"/>
              </a:ext>
            </a:extLst>
          </p:cNvPr>
          <p:cNvSpPr>
            <a:spLocks noGrp="1" noChangeArrowheads="1"/>
          </p:cNvSpPr>
          <p:nvPr>
            <p:ph type="body" idx="1"/>
          </p:nvPr>
        </p:nvSpPr>
        <p:spPr>
          <a:xfrm>
            <a:off x="395288" y="1312863"/>
            <a:ext cx="8435975" cy="5545137"/>
          </a:xfrm>
        </p:spPr>
        <p:txBody>
          <a:bodyPr/>
          <a:lstStyle/>
          <a:p>
            <a:pPr algn="just" eaLnBrk="1" hangingPunct="1">
              <a:buFont typeface="Wingdings" panose="05000000000000000000" pitchFamily="2" charset="2"/>
              <a:buChar char="Ø"/>
            </a:pP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线程是一个轻型实体，它不拥有系统资源，但每个线程都应有一个唯一的标识符和一个线程控制块，线程控制块记录了线程执行的寄存器和栈等现场状态。</a:t>
            </a:r>
          </a:p>
          <a:p>
            <a:pPr algn="just" eaLnBrk="1" hangingPunct="1">
              <a:buFont typeface="Wingdings" panose="05000000000000000000" pitchFamily="2" charset="2"/>
              <a:buChar char="Ø"/>
            </a:pPr>
            <a:r>
              <a:rPr lang="en-US" altLang="zh-CN" sz="3600" b="1">
                <a:solidFill>
                  <a:srgbClr val="FFFF00"/>
                </a:solidFill>
                <a:effectLst/>
                <a:latin typeface="黑体" panose="02010609060101010101" pitchFamily="49" charset="-122"/>
                <a:ea typeface="黑体" panose="02010609060101010101" pitchFamily="49" charset="-122"/>
              </a:rPr>
              <a:t>(2)</a:t>
            </a:r>
            <a:r>
              <a:rPr lang="zh-CN" altLang="en-US" sz="3600" b="1">
                <a:solidFill>
                  <a:srgbClr val="FFFF00"/>
                </a:solidFill>
                <a:effectLst/>
                <a:latin typeface="黑体" panose="02010609060101010101" pitchFamily="49" charset="-122"/>
                <a:ea typeface="黑体" panose="02010609060101010101" pitchFamily="49" charset="-122"/>
              </a:rPr>
              <a:t>不同的线程可以执行相同的程序，即同一个服务程序被不同的用户调用时，操作系统为它们创建成不同的线程</a:t>
            </a:r>
          </a:p>
        </p:txBody>
      </p:sp>
      <p:sp>
        <p:nvSpPr>
          <p:cNvPr id="631811" name="Rectangle 3">
            <a:extLst>
              <a:ext uri="{FF2B5EF4-FFF2-40B4-BE49-F238E27FC236}">
                <a16:creationId xmlns:a16="http://schemas.microsoft.com/office/drawing/2014/main" id="{EDD1A07F-33C1-4398-8523-CB5FCF7727E9}"/>
              </a:ext>
            </a:extLst>
          </p:cNvPr>
          <p:cNvSpPr>
            <a:spLocks noGrp="1" noChangeArrowheads="1"/>
          </p:cNvSpPr>
          <p:nvPr>
            <p:ph type="title"/>
          </p:nvPr>
        </p:nvSpPr>
        <p:spPr>
          <a:xfrm>
            <a:off x="468313" y="549275"/>
            <a:ext cx="8229600" cy="590550"/>
          </a:xfrm>
        </p:spPr>
        <p:txBody>
          <a:bodyPr/>
          <a:lstStyle/>
          <a:p>
            <a:pPr eaLnBrk="1" hangingPunct="1">
              <a:defRPr/>
            </a:pPr>
            <a:r>
              <a:rPr lang="zh-CN" altLang="en-US" sz="4000" b="1">
                <a:solidFill>
                  <a:schemeClr val="tx1"/>
                </a:solidFill>
                <a:effectLst>
                  <a:outerShdw blurRad="38100" dist="38100" dir="2700000" algn="tl">
                    <a:srgbClr val="010199"/>
                  </a:outerShdw>
                </a:effectLst>
              </a:rPr>
              <a:t>线程的主要属性</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9FC2E8B9-5D2E-4DA4-9A74-2436BD589D83}"/>
              </a:ext>
            </a:extLst>
          </p:cNvPr>
          <p:cNvSpPr>
            <a:spLocks noGrp="1" noChangeArrowheads="1"/>
          </p:cNvSpPr>
          <p:nvPr>
            <p:ph type="body" idx="1"/>
          </p:nvPr>
        </p:nvSpPr>
        <p:spPr>
          <a:xfrm>
            <a:off x="395288" y="1312863"/>
            <a:ext cx="8435975" cy="5545137"/>
          </a:xfrm>
        </p:spPr>
        <p:txBody>
          <a:bodyPr/>
          <a:lstStyle/>
          <a:p>
            <a:pPr algn="just" eaLnBrk="1" hangingPunct="1">
              <a:buFont typeface="Wingdings" panose="05000000000000000000" pitchFamily="2" charset="2"/>
              <a:buChar char="Ø"/>
            </a:pPr>
            <a:r>
              <a:rPr lang="en-US" altLang="zh-CN" sz="3600" b="1">
                <a:solidFill>
                  <a:srgbClr val="FFFF00"/>
                </a:solidFill>
                <a:effectLst/>
                <a:latin typeface="黑体" panose="02010609060101010101" pitchFamily="49" charset="-122"/>
                <a:ea typeface="黑体" panose="02010609060101010101" pitchFamily="49" charset="-122"/>
              </a:rPr>
              <a:t>(3)</a:t>
            </a:r>
            <a:r>
              <a:rPr lang="zh-CN" altLang="en-US" sz="3600" b="1">
                <a:solidFill>
                  <a:srgbClr val="FFFF00"/>
                </a:solidFill>
                <a:effectLst/>
                <a:latin typeface="黑体" panose="02010609060101010101" pitchFamily="49" charset="-122"/>
                <a:ea typeface="黑体" panose="02010609060101010101" pitchFamily="49" charset="-122"/>
              </a:rPr>
              <a:t>同一进程中的各个线程共享该进程所拥有的资源。</a:t>
            </a:r>
          </a:p>
          <a:p>
            <a:pPr algn="just" eaLnBrk="1" hangingPunct="1">
              <a:buFont typeface="Wingdings" panose="05000000000000000000" pitchFamily="2" charset="2"/>
              <a:buChar char="Ø"/>
            </a:pPr>
            <a:r>
              <a:rPr lang="en-US" altLang="zh-CN" sz="3600" b="1">
                <a:solidFill>
                  <a:srgbClr val="FFFF00"/>
                </a:solidFill>
                <a:effectLst/>
                <a:latin typeface="黑体" panose="02010609060101010101" pitchFamily="49" charset="-122"/>
                <a:ea typeface="黑体" panose="02010609060101010101" pitchFamily="49" charset="-122"/>
              </a:rPr>
              <a:t>(4)</a:t>
            </a:r>
            <a:r>
              <a:rPr lang="zh-CN" altLang="en-US" sz="3600" b="1">
                <a:solidFill>
                  <a:srgbClr val="FFFF00"/>
                </a:solidFill>
                <a:effectLst/>
                <a:latin typeface="黑体" panose="02010609060101010101" pitchFamily="49" charset="-122"/>
                <a:ea typeface="黑体" panose="02010609060101010101" pitchFamily="49" charset="-122"/>
              </a:rPr>
              <a:t>线程是处理器的独立调度单位，多个线程是可以并发执行的。在单</a:t>
            </a:r>
            <a:r>
              <a:rPr lang="en-US" altLang="zh-CN" sz="3600" b="1">
                <a:solidFill>
                  <a:srgbClr val="FFFF00"/>
                </a:solidFill>
                <a:effectLst/>
                <a:latin typeface="黑体" panose="02010609060101010101" pitchFamily="49" charset="-122"/>
                <a:ea typeface="黑体" panose="02010609060101010101" pitchFamily="49" charset="-122"/>
              </a:rPr>
              <a:t>CPU</a:t>
            </a:r>
            <a:r>
              <a:rPr lang="zh-CN" altLang="en-US" sz="3600" b="1">
                <a:solidFill>
                  <a:srgbClr val="FFFF00"/>
                </a:solidFill>
                <a:effectLst/>
                <a:latin typeface="黑体" panose="02010609060101010101" pitchFamily="49" charset="-122"/>
                <a:ea typeface="黑体" panose="02010609060101010101" pitchFamily="49" charset="-122"/>
              </a:rPr>
              <a:t>的计算机统中，各线程可交替地占用</a:t>
            </a:r>
            <a:r>
              <a:rPr lang="en-US" altLang="zh-CN" sz="3600" b="1">
                <a:solidFill>
                  <a:srgbClr val="FFFF00"/>
                </a:solidFill>
                <a:effectLst/>
                <a:latin typeface="黑体" panose="02010609060101010101" pitchFamily="49" charset="-122"/>
                <a:ea typeface="黑体" panose="02010609060101010101" pitchFamily="49" charset="-122"/>
              </a:rPr>
              <a:t>CPU</a:t>
            </a:r>
            <a:r>
              <a:rPr lang="zh-CN" altLang="en-US" sz="3600" b="1">
                <a:solidFill>
                  <a:srgbClr val="FFFF00"/>
                </a:solidFill>
                <a:effectLst/>
                <a:latin typeface="黑体" panose="02010609060101010101" pitchFamily="49" charset="-122"/>
                <a:ea typeface="黑体" panose="02010609060101010101" pitchFamily="49" charset="-122"/>
              </a:rPr>
              <a:t>；在多</a:t>
            </a:r>
            <a:r>
              <a:rPr lang="en-US" altLang="zh-CN" sz="3600" b="1">
                <a:solidFill>
                  <a:srgbClr val="FFFF00"/>
                </a:solidFill>
                <a:effectLst/>
                <a:latin typeface="黑体" panose="02010609060101010101" pitchFamily="49" charset="-122"/>
                <a:ea typeface="黑体" panose="02010609060101010101" pitchFamily="49" charset="-122"/>
              </a:rPr>
              <a:t>CPU</a:t>
            </a:r>
            <a:r>
              <a:rPr lang="zh-CN" altLang="en-US" sz="3600" b="1">
                <a:solidFill>
                  <a:srgbClr val="FFFF00"/>
                </a:solidFill>
                <a:effectLst/>
                <a:latin typeface="黑体" panose="02010609060101010101" pitchFamily="49" charset="-122"/>
                <a:ea typeface="黑体" panose="02010609060101010101" pitchFamily="49" charset="-122"/>
              </a:rPr>
              <a:t>的计算机系统中，各线程可同时占用不同的</a:t>
            </a:r>
            <a:r>
              <a:rPr lang="en-US" altLang="zh-CN" sz="3600" b="1">
                <a:solidFill>
                  <a:srgbClr val="FFFF00"/>
                </a:solidFill>
                <a:effectLst/>
                <a:latin typeface="黑体" panose="02010609060101010101" pitchFamily="49" charset="-122"/>
                <a:ea typeface="黑体" panose="02010609060101010101" pitchFamily="49" charset="-122"/>
              </a:rPr>
              <a:t>CPU</a:t>
            </a:r>
            <a:r>
              <a:rPr lang="zh-CN" altLang="en-US" sz="3600" b="1">
                <a:solidFill>
                  <a:srgbClr val="FFFF00"/>
                </a:solidFill>
                <a:effectLst/>
                <a:latin typeface="黑体" panose="02010609060101010101" pitchFamily="49" charset="-122"/>
                <a:ea typeface="黑体" panose="02010609060101010101" pitchFamily="49" charset="-122"/>
              </a:rPr>
              <a:t>，若各个</a:t>
            </a:r>
            <a:r>
              <a:rPr lang="en-US" altLang="zh-CN" sz="3600" b="1">
                <a:solidFill>
                  <a:srgbClr val="FFFF00"/>
                </a:solidFill>
                <a:effectLst/>
                <a:latin typeface="黑体" panose="02010609060101010101" pitchFamily="49" charset="-122"/>
                <a:ea typeface="黑体" panose="02010609060101010101" pitchFamily="49" charset="-122"/>
              </a:rPr>
              <a:t>CPU</a:t>
            </a:r>
            <a:r>
              <a:rPr lang="zh-CN" altLang="en-US" sz="3600" b="1">
                <a:solidFill>
                  <a:srgbClr val="FFFF00"/>
                </a:solidFill>
                <a:effectLst/>
                <a:latin typeface="黑体" panose="02010609060101010101" pitchFamily="49" charset="-122"/>
                <a:ea typeface="黑体" panose="02010609060101010101" pitchFamily="49" charset="-122"/>
              </a:rPr>
              <a:t>同时为一个进程内的各线程服务则可缩短进程的处理时间。</a:t>
            </a:r>
          </a:p>
        </p:txBody>
      </p:sp>
      <p:sp>
        <p:nvSpPr>
          <p:cNvPr id="632835" name="Rectangle 3">
            <a:extLst>
              <a:ext uri="{FF2B5EF4-FFF2-40B4-BE49-F238E27FC236}">
                <a16:creationId xmlns:a16="http://schemas.microsoft.com/office/drawing/2014/main" id="{CD0D3AAA-43D4-4EF1-BC73-E638A2E0547D}"/>
              </a:ext>
            </a:extLst>
          </p:cNvPr>
          <p:cNvSpPr>
            <a:spLocks noGrp="1" noChangeArrowheads="1"/>
          </p:cNvSpPr>
          <p:nvPr>
            <p:ph type="title"/>
          </p:nvPr>
        </p:nvSpPr>
        <p:spPr>
          <a:xfrm>
            <a:off x="468313" y="549275"/>
            <a:ext cx="8229600" cy="590550"/>
          </a:xfrm>
        </p:spPr>
        <p:txBody>
          <a:bodyPr/>
          <a:lstStyle/>
          <a:p>
            <a:pPr eaLnBrk="1" hangingPunct="1">
              <a:defRPr/>
            </a:pPr>
            <a:r>
              <a:rPr lang="zh-CN" altLang="en-US" sz="4000" b="1">
                <a:solidFill>
                  <a:schemeClr val="tx1"/>
                </a:solidFill>
                <a:effectLst>
                  <a:outerShdw blurRad="38100" dist="38100" dir="2700000" algn="tl">
                    <a:srgbClr val="010199"/>
                  </a:outerShdw>
                </a:effectLst>
              </a:rPr>
              <a:t>线程的主要属性</a:t>
            </a:r>
          </a:p>
        </p:txBody>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C0BEADCC-DE79-4A2C-BD1B-ECFF8946BC2D}"/>
              </a:ext>
            </a:extLst>
          </p:cNvPr>
          <p:cNvSpPr>
            <a:spLocks noGrp="1" noChangeArrowheads="1"/>
          </p:cNvSpPr>
          <p:nvPr>
            <p:ph type="body" idx="1"/>
          </p:nvPr>
        </p:nvSpPr>
        <p:spPr>
          <a:xfrm>
            <a:off x="395288" y="1312863"/>
            <a:ext cx="8435975" cy="5545137"/>
          </a:xfrm>
        </p:spPr>
        <p:txBody>
          <a:bodyPr/>
          <a:lstStyle/>
          <a:p>
            <a:pPr algn="just"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1</a:t>
            </a:r>
            <a:r>
              <a:rPr lang="zh-CN" altLang="en-US" sz="3600" b="1">
                <a:solidFill>
                  <a:srgbClr val="FFFF00"/>
                </a:solidFill>
                <a:effectLst/>
                <a:latin typeface="黑体" panose="02010609060101010101" pitchFamily="49" charset="-122"/>
                <a:ea typeface="黑体" panose="02010609060101010101" pitchFamily="49" charset="-122"/>
              </a:rPr>
              <a:t>、调度</a:t>
            </a:r>
          </a:p>
          <a:p>
            <a:pPr algn="just" eaLnBrk="1" hangingPunct="1"/>
            <a:r>
              <a:rPr lang="zh-CN" altLang="en-US" sz="3600" b="1">
                <a:solidFill>
                  <a:srgbClr val="FFFF00"/>
                </a:solidFill>
                <a:effectLst/>
                <a:latin typeface="黑体" panose="02010609060101010101" pitchFamily="49" charset="-122"/>
                <a:ea typeface="黑体" panose="02010609060101010101" pitchFamily="49" charset="-122"/>
              </a:rPr>
              <a:t>在传统</a:t>
            </a:r>
            <a:r>
              <a:rPr lang="en-US" altLang="zh-CN" sz="3600" b="1">
                <a:solidFill>
                  <a:srgbClr val="FFFF00"/>
                </a:solidFill>
                <a:effectLst/>
                <a:latin typeface="黑体" panose="02010609060101010101" pitchFamily="49" charset="-122"/>
                <a:ea typeface="黑体" panose="02010609060101010101" pitchFamily="49" charset="-122"/>
              </a:rPr>
              <a:t>OS</a:t>
            </a:r>
            <a:r>
              <a:rPr lang="zh-CN" altLang="en-US" sz="3600" b="1">
                <a:solidFill>
                  <a:srgbClr val="FFFF00"/>
                </a:solidFill>
                <a:effectLst/>
                <a:latin typeface="黑体" panose="02010609060101010101" pitchFamily="49" charset="-122"/>
                <a:ea typeface="黑体" panose="02010609060101010101" pitchFamily="49" charset="-122"/>
              </a:rPr>
              <a:t>中，拥有资源、独立调度和分派的基本单位都是进程，在引入线程的系统中，线程是调度和分派的基本单位，而进程是拥有资源的基本单位。</a:t>
            </a:r>
          </a:p>
          <a:p>
            <a:pPr algn="just" eaLnBrk="1" hangingPunct="1"/>
            <a:r>
              <a:rPr lang="zh-CN" altLang="en-US" sz="3600" b="1">
                <a:solidFill>
                  <a:srgbClr val="FFFF00"/>
                </a:solidFill>
                <a:effectLst/>
                <a:latin typeface="黑体" panose="02010609060101010101" pitchFamily="49" charset="-122"/>
                <a:ea typeface="黑体" panose="02010609060101010101" pitchFamily="49" charset="-122"/>
              </a:rPr>
              <a:t>在同一个进程内线程切换不会产生进程切换，由一个进程内的线程切换到另一个进程内的线程时，将会引起进程切换</a:t>
            </a:r>
          </a:p>
        </p:txBody>
      </p:sp>
      <p:sp>
        <p:nvSpPr>
          <p:cNvPr id="604163" name="Rectangle 3">
            <a:extLst>
              <a:ext uri="{FF2B5EF4-FFF2-40B4-BE49-F238E27FC236}">
                <a16:creationId xmlns:a16="http://schemas.microsoft.com/office/drawing/2014/main" id="{D69E2C94-A126-4601-AA7D-104219D8B176}"/>
              </a:ext>
            </a:extLst>
          </p:cNvPr>
          <p:cNvSpPr>
            <a:spLocks noGrp="1" noChangeArrowheads="1"/>
          </p:cNvSpPr>
          <p:nvPr>
            <p:ph type="title"/>
          </p:nvPr>
        </p:nvSpPr>
        <p:spPr>
          <a:xfrm>
            <a:off x="468313" y="549275"/>
            <a:ext cx="8229600" cy="590550"/>
          </a:xfrm>
        </p:spPr>
        <p:txBody>
          <a:bodyPr/>
          <a:lstStyle/>
          <a:p>
            <a:pPr eaLnBrk="1" hangingPunct="1">
              <a:defRPr/>
            </a:pPr>
            <a:r>
              <a:rPr lang="zh-CN" altLang="en-US" sz="4000" b="1">
                <a:solidFill>
                  <a:schemeClr val="tx1"/>
                </a:solidFill>
                <a:effectLst>
                  <a:outerShdw blurRad="38100" dist="38100" dir="2700000" algn="tl">
                    <a:srgbClr val="010199"/>
                  </a:outerShdw>
                </a:effectLst>
              </a:rPr>
              <a:t>线程与进程的比较</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FBFE9B9F-E0F6-41E2-A709-2DC95F8A8B27}"/>
              </a:ext>
            </a:extLst>
          </p:cNvPr>
          <p:cNvSpPr>
            <a:spLocks noGrp="1" noChangeArrowheads="1"/>
          </p:cNvSpPr>
          <p:nvPr>
            <p:ph type="body" idx="1"/>
          </p:nvPr>
        </p:nvSpPr>
        <p:spPr>
          <a:xfrm>
            <a:off x="827088" y="1196975"/>
            <a:ext cx="7351712" cy="4454525"/>
          </a:xfrm>
        </p:spPr>
        <p:txBody>
          <a:bodyPr/>
          <a:lstStyle/>
          <a:p>
            <a:pPr algn="just"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2</a:t>
            </a:r>
            <a:r>
              <a:rPr lang="zh-CN" altLang="en-US" sz="3600" b="1">
                <a:solidFill>
                  <a:srgbClr val="FFFF00"/>
                </a:solidFill>
                <a:effectLst/>
                <a:latin typeface="黑体" panose="02010609060101010101" pitchFamily="49" charset="-122"/>
                <a:ea typeface="黑体" panose="02010609060101010101" pitchFamily="49" charset="-122"/>
              </a:rPr>
              <a:t>、并发性</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在引入线程的系统中，进程之间可并发，同一进程内的各线程之间也能并发执行。因而系统具有更好的并发性。 </a:t>
            </a:r>
          </a:p>
          <a:p>
            <a:pPr algn="just" eaLnBrk="1" hangingPunct="1">
              <a:buFont typeface="Wingdings" panose="05000000000000000000" pitchFamily="2" charset="2"/>
              <a:buNone/>
            </a:pPr>
            <a:endParaRPr lang="en-US" altLang="zh-CN" sz="3600" b="1">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9C0044AB-27EB-405C-AA05-406B36CEE5D8}"/>
              </a:ext>
            </a:extLst>
          </p:cNvPr>
          <p:cNvSpPr>
            <a:spLocks noGrp="1" noChangeArrowheads="1"/>
          </p:cNvSpPr>
          <p:nvPr>
            <p:ph type="body" idx="1"/>
          </p:nvPr>
        </p:nvSpPr>
        <p:spPr>
          <a:xfrm>
            <a:off x="539750" y="1268413"/>
            <a:ext cx="8229600" cy="4530725"/>
          </a:xfrm>
        </p:spPr>
        <p:txBody>
          <a:bodyPr/>
          <a:lstStyle/>
          <a:p>
            <a:pPr algn="just"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3</a:t>
            </a:r>
            <a:r>
              <a:rPr lang="zh-CN" altLang="en-US" sz="3600" b="1">
                <a:solidFill>
                  <a:srgbClr val="FFFF00"/>
                </a:solidFill>
                <a:effectLst/>
                <a:latin typeface="黑体" panose="02010609060101010101" pitchFamily="49" charset="-122"/>
                <a:ea typeface="黑体" panose="02010609060101010101" pitchFamily="49" charset="-122"/>
              </a:rPr>
              <a:t>、拥有资源</a:t>
            </a:r>
          </a:p>
          <a:p>
            <a:pPr algn="just" eaLnBrk="1" hangingPunct="1"/>
            <a:r>
              <a:rPr lang="zh-CN" altLang="en-US" sz="3600" b="1">
                <a:solidFill>
                  <a:srgbClr val="FFFF00"/>
                </a:solidFill>
                <a:effectLst/>
                <a:latin typeface="黑体" panose="02010609060101010101" pitchFamily="49" charset="-122"/>
                <a:ea typeface="黑体" panose="02010609060101010101" pitchFamily="49" charset="-122"/>
              </a:rPr>
              <a:t>无论是传统</a:t>
            </a:r>
            <a:r>
              <a:rPr lang="en-US" altLang="zh-CN" sz="3600" b="1">
                <a:solidFill>
                  <a:srgbClr val="FFFF00"/>
                </a:solidFill>
                <a:effectLst/>
                <a:latin typeface="黑体" panose="02010609060101010101" pitchFamily="49" charset="-122"/>
                <a:ea typeface="黑体" panose="02010609060101010101" pitchFamily="49" charset="-122"/>
              </a:rPr>
              <a:t>OS</a:t>
            </a:r>
            <a:r>
              <a:rPr lang="zh-CN" altLang="en-US" sz="3600" b="1">
                <a:solidFill>
                  <a:srgbClr val="FFFF00"/>
                </a:solidFill>
                <a:effectLst/>
                <a:latin typeface="黑体" panose="02010609060101010101" pitchFamily="49" charset="-122"/>
                <a:ea typeface="黑体" panose="02010609060101010101" pitchFamily="49" charset="-122"/>
              </a:rPr>
              <a:t>，还是引入线程的</a:t>
            </a:r>
            <a:r>
              <a:rPr lang="en-US" altLang="zh-CN" sz="3600" b="1">
                <a:solidFill>
                  <a:srgbClr val="FFFF00"/>
                </a:solidFill>
                <a:effectLst/>
                <a:latin typeface="黑体" panose="02010609060101010101" pitchFamily="49" charset="-122"/>
                <a:ea typeface="黑体" panose="02010609060101010101" pitchFamily="49" charset="-122"/>
              </a:rPr>
              <a:t>OS</a:t>
            </a:r>
            <a:r>
              <a:rPr lang="zh-CN" altLang="en-US" sz="3600" b="1">
                <a:solidFill>
                  <a:srgbClr val="FFFF00"/>
                </a:solidFill>
                <a:effectLst/>
                <a:latin typeface="黑体" panose="02010609060101010101" pitchFamily="49" charset="-122"/>
                <a:ea typeface="黑体" panose="02010609060101010101" pitchFamily="49" charset="-122"/>
              </a:rPr>
              <a:t>，进程都是拥有资源的独立单位，线程一般不拥有系统资源，但它可以访问隶属进程的资源。即一个进程的所有资源可供进程内的所有线程共享。</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3C701DE9-0955-4905-AA66-794880BD4C76}"/>
              </a:ext>
            </a:extLst>
          </p:cNvPr>
          <p:cNvSpPr>
            <a:spLocks noGrp="1" noChangeArrowheads="1"/>
          </p:cNvSpPr>
          <p:nvPr>
            <p:ph type="body" idx="1"/>
          </p:nvPr>
        </p:nvSpPr>
        <p:spPr>
          <a:xfrm>
            <a:off x="352425" y="980728"/>
            <a:ext cx="8562975" cy="5543897"/>
          </a:xfrm>
        </p:spPr>
        <p:txBody>
          <a:bodyPr/>
          <a:lstStyle/>
          <a:p>
            <a:pPr algn="just" eaLnBrk="1" hangingPunct="1">
              <a:buFont typeface="Wingdings" panose="05000000000000000000" pitchFamily="2" charset="2"/>
              <a:buNone/>
            </a:pPr>
            <a:r>
              <a:rPr lang="en-US" altLang="zh-CN" b="1" dirty="0">
                <a:solidFill>
                  <a:srgbClr val="FFFF00"/>
                </a:solidFill>
                <a:effectLst/>
                <a:latin typeface="黑体" panose="02010609060101010101" pitchFamily="49" charset="-122"/>
                <a:ea typeface="黑体" panose="02010609060101010101" pitchFamily="49" charset="-122"/>
              </a:rPr>
              <a:t>4</a:t>
            </a:r>
            <a:r>
              <a:rPr lang="zh-CN" altLang="en-US" b="1" dirty="0">
                <a:solidFill>
                  <a:srgbClr val="FFFF00"/>
                </a:solidFill>
                <a:effectLst/>
                <a:latin typeface="黑体" panose="02010609060101010101" pitchFamily="49" charset="-122"/>
                <a:ea typeface="黑体" panose="02010609060101010101" pitchFamily="49" charset="-122"/>
              </a:rPr>
              <a:t>、系统开销</a:t>
            </a:r>
          </a:p>
          <a:p>
            <a:pPr algn="just" eaLnBrk="1" hangingPunct="1"/>
            <a:r>
              <a:rPr lang="zh-CN" altLang="en-US" b="1" dirty="0">
                <a:solidFill>
                  <a:srgbClr val="FFFF00"/>
                </a:solidFill>
                <a:effectLst/>
                <a:latin typeface="黑体" panose="02010609060101010101" pitchFamily="49" charset="-122"/>
                <a:ea typeface="黑体" panose="02010609060101010101" pitchFamily="49" charset="-122"/>
              </a:rPr>
              <a:t>进程的创建和撤消的开销要远大于线程创建和撤消的开销，进程切换时，当前进程的</a:t>
            </a:r>
            <a:r>
              <a:rPr lang="en-US" altLang="zh-CN" b="1" dirty="0">
                <a:solidFill>
                  <a:srgbClr val="FFFF00"/>
                </a:solidFill>
                <a:effectLst/>
                <a:latin typeface="黑体" panose="02010609060101010101" pitchFamily="49" charset="-122"/>
                <a:ea typeface="黑体" panose="02010609060101010101" pitchFamily="49" charset="-122"/>
              </a:rPr>
              <a:t>CPU</a:t>
            </a:r>
            <a:r>
              <a:rPr lang="zh-CN" altLang="en-US" b="1" dirty="0">
                <a:solidFill>
                  <a:srgbClr val="FFFF00"/>
                </a:solidFill>
                <a:effectLst/>
                <a:latin typeface="黑体" panose="02010609060101010101" pitchFamily="49" charset="-122"/>
                <a:ea typeface="黑体" panose="02010609060101010101" pitchFamily="49" charset="-122"/>
              </a:rPr>
              <a:t>环境要保存，新进程的</a:t>
            </a:r>
            <a:r>
              <a:rPr lang="en-US" altLang="zh-CN" b="1" dirty="0">
                <a:solidFill>
                  <a:srgbClr val="FFFF00"/>
                </a:solidFill>
                <a:effectLst/>
                <a:latin typeface="黑体" panose="02010609060101010101" pitchFamily="49" charset="-122"/>
                <a:ea typeface="黑体" panose="02010609060101010101" pitchFamily="49" charset="-122"/>
              </a:rPr>
              <a:t>CPU</a:t>
            </a:r>
            <a:r>
              <a:rPr lang="zh-CN" altLang="en-US" b="1" dirty="0">
                <a:solidFill>
                  <a:srgbClr val="FFFF00"/>
                </a:solidFill>
                <a:effectLst/>
                <a:latin typeface="黑体" panose="02010609060101010101" pitchFamily="49" charset="-122"/>
                <a:ea typeface="黑体" panose="02010609060101010101" pitchFamily="49" charset="-122"/>
              </a:rPr>
              <a:t>环境要设置，线程切换时只须保存和设置少量寄存器，并不涉及存储管理方面的操作</a:t>
            </a:r>
          </a:p>
          <a:p>
            <a:pPr algn="just" eaLnBrk="1" hangingPunct="1"/>
            <a:r>
              <a:rPr lang="zh-CN" altLang="en-US" b="1" dirty="0">
                <a:solidFill>
                  <a:srgbClr val="FFFF00"/>
                </a:solidFill>
                <a:effectLst/>
                <a:latin typeface="黑体" panose="02010609060101010101" pitchFamily="49" charset="-122"/>
                <a:ea typeface="黑体" panose="02010609060101010101" pitchFamily="49" charset="-122"/>
              </a:rPr>
              <a:t>同时，同一进程内的各线程由于它们拥有相同的地址空间，它们之间的同步和通信的实现也变得比较容易。</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2">
            <a:extLst>
              <a:ext uri="{FF2B5EF4-FFF2-40B4-BE49-F238E27FC236}">
                <a16:creationId xmlns:a16="http://schemas.microsoft.com/office/drawing/2014/main" id="{0DCE3CDC-8C02-4FD0-BC61-FD4B13433ADF}"/>
              </a:ext>
            </a:extLst>
          </p:cNvPr>
          <p:cNvSpPr>
            <a:spLocks noGrp="1" noChangeArrowheads="1"/>
          </p:cNvSpPr>
          <p:nvPr>
            <p:ph type="title"/>
          </p:nvPr>
        </p:nvSpPr>
        <p:spPr>
          <a:xfrm>
            <a:off x="270895" y="188640"/>
            <a:ext cx="8480425" cy="803275"/>
          </a:xfrm>
        </p:spPr>
        <p:txBody>
          <a:bodyPr anchor="b" anchorCtr="0"/>
          <a:lstStyle/>
          <a:p>
            <a:pPr eaLnBrk="1" hangingPunct="1">
              <a:defRPr/>
            </a:pPr>
            <a:r>
              <a:rPr lang="en-US" altLang="en-US" sz="4800" b="1" dirty="0">
                <a:solidFill>
                  <a:schemeClr val="tx1"/>
                </a:solidFill>
                <a:effectLst>
                  <a:outerShdw blurRad="38100" dist="38100" dir="2700000" algn="tl">
                    <a:srgbClr val="010199"/>
                  </a:outerShdw>
                </a:effectLst>
                <a:latin typeface="楷体_GB2312" pitchFamily="49" charset="-122"/>
                <a:ea typeface="楷体_GB2312" pitchFamily="49" charset="-122"/>
              </a:rPr>
              <a:t>3.</a:t>
            </a:r>
            <a:r>
              <a:rPr lang="en-US" altLang="zh-CN" sz="4800" b="1" dirty="0">
                <a:solidFill>
                  <a:schemeClr val="tx1"/>
                </a:solidFill>
                <a:effectLst>
                  <a:outerShdw blurRad="38100" dist="38100" dir="2700000" algn="tl">
                    <a:srgbClr val="010199"/>
                  </a:outerShdw>
                </a:effectLst>
                <a:latin typeface="楷体_GB2312" pitchFamily="49" charset="-122"/>
                <a:ea typeface="楷体_GB2312" pitchFamily="49" charset="-122"/>
              </a:rPr>
              <a:t>7</a:t>
            </a:r>
            <a:r>
              <a:rPr lang="en-US" altLang="en-US" sz="4800" b="1" dirty="0">
                <a:solidFill>
                  <a:schemeClr val="tx1"/>
                </a:solidFill>
                <a:effectLst>
                  <a:outerShdw blurRad="38100" dist="38100" dir="2700000" algn="tl">
                    <a:srgbClr val="010199"/>
                  </a:outerShdw>
                </a:effectLst>
                <a:latin typeface="楷体_GB2312" pitchFamily="49" charset="-122"/>
                <a:ea typeface="楷体_GB2312" pitchFamily="49" charset="-122"/>
              </a:rPr>
              <a:t>.</a:t>
            </a:r>
            <a:r>
              <a:rPr lang="en-US" altLang="zh-CN" sz="4800" b="1" dirty="0">
                <a:solidFill>
                  <a:schemeClr val="tx1"/>
                </a:solidFill>
                <a:effectLst>
                  <a:outerShdw blurRad="38100" dist="38100" dir="2700000" algn="tl">
                    <a:srgbClr val="010199"/>
                  </a:outerShdw>
                </a:effectLst>
                <a:latin typeface="楷体_GB2312" pitchFamily="49" charset="-122"/>
                <a:ea typeface="楷体_GB2312" pitchFamily="49" charset="-122"/>
              </a:rPr>
              <a:t>3</a:t>
            </a:r>
            <a:r>
              <a:rPr lang="en-US" altLang="en-US" sz="4800" b="1" dirty="0">
                <a:solidFill>
                  <a:schemeClr val="tx1"/>
                </a:solidFill>
                <a:effectLst>
                  <a:outerShdw blurRad="38100" dist="38100" dir="2700000" algn="tl">
                    <a:srgbClr val="010199"/>
                  </a:outerShdw>
                </a:effectLst>
                <a:latin typeface="楷体_GB2312" pitchFamily="49" charset="-122"/>
                <a:ea typeface="楷体_GB2312" pitchFamily="49" charset="-122"/>
              </a:rPr>
              <a:t> </a:t>
            </a:r>
            <a:r>
              <a:rPr lang="en-US" altLang="en-US" sz="4800" b="1" dirty="0" err="1">
                <a:solidFill>
                  <a:schemeClr val="tx1"/>
                </a:solidFill>
                <a:effectLst>
                  <a:outerShdw blurRad="38100" dist="38100" dir="2700000" algn="tl">
                    <a:srgbClr val="010199"/>
                  </a:outerShdw>
                </a:effectLst>
                <a:latin typeface="楷体_GB2312" pitchFamily="49" charset="-122"/>
                <a:ea typeface="楷体_GB2312" pitchFamily="49" charset="-122"/>
              </a:rPr>
              <a:t>线程的</a:t>
            </a:r>
            <a:r>
              <a:rPr lang="zh-CN" altLang="en-US" sz="4800" b="1" dirty="0">
                <a:solidFill>
                  <a:schemeClr val="tx1"/>
                </a:solidFill>
                <a:effectLst>
                  <a:outerShdw blurRad="38100" dist="38100" dir="2700000" algn="tl">
                    <a:srgbClr val="010199"/>
                  </a:outerShdw>
                </a:effectLst>
                <a:latin typeface="楷体_GB2312" pitchFamily="49" charset="-122"/>
                <a:ea typeface="楷体_GB2312" pitchFamily="49" charset="-122"/>
              </a:rPr>
              <a:t>实现方式</a:t>
            </a:r>
          </a:p>
        </p:txBody>
      </p:sp>
      <p:sp>
        <p:nvSpPr>
          <p:cNvPr id="189443" name="Rectangle 3">
            <a:extLst>
              <a:ext uri="{FF2B5EF4-FFF2-40B4-BE49-F238E27FC236}">
                <a16:creationId xmlns:a16="http://schemas.microsoft.com/office/drawing/2014/main" id="{01C994A0-7B29-4F7C-A22B-94F6C828412E}"/>
              </a:ext>
            </a:extLst>
          </p:cNvPr>
          <p:cNvSpPr>
            <a:spLocks noGrp="1" noChangeArrowheads="1"/>
          </p:cNvSpPr>
          <p:nvPr>
            <p:ph type="body" idx="1"/>
          </p:nvPr>
        </p:nvSpPr>
        <p:spPr>
          <a:xfrm>
            <a:off x="270895" y="1196752"/>
            <a:ext cx="8734636" cy="4895850"/>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eaLnBrk="1" hangingPunct="1">
              <a:buFont typeface="Wingdings" panose="05000000000000000000" pitchFamily="2" charset="2"/>
              <a:buChar char="ü"/>
            </a:pPr>
            <a:r>
              <a:rPr lang="zh-CN" altLang="en-US" sz="3600" b="1" dirty="0">
                <a:solidFill>
                  <a:srgbClr val="FFFF00"/>
                </a:solidFill>
                <a:effectLst/>
                <a:latin typeface="黑体" panose="02010609060101010101" pitchFamily="49" charset="-122"/>
                <a:ea typeface="黑体" panose="02010609060101010101" pitchFamily="49" charset="-122"/>
              </a:rPr>
              <a:t>线程实现的两种方式（也是线程的两个基本类型）是：用户级线程和核心级线程。</a:t>
            </a:r>
            <a:endParaRPr lang="en-US" altLang="zh-CN" sz="3600" b="1" dirty="0">
              <a:solidFill>
                <a:srgbClr val="FFFF00"/>
              </a:solidFill>
              <a:effectLst/>
              <a:latin typeface="黑体" panose="02010609060101010101" pitchFamily="49" charset="-122"/>
              <a:ea typeface="黑体" panose="02010609060101010101" pitchFamily="49" charset="-122"/>
            </a:endParaRPr>
          </a:p>
          <a:p>
            <a:r>
              <a:rPr lang="en-US" altLang="zh-CN" b="1" dirty="0">
                <a:effectLst/>
              </a:rPr>
              <a:t>Windows</a:t>
            </a:r>
            <a:r>
              <a:rPr lang="zh-CN" altLang="en-US" b="1" dirty="0">
                <a:effectLst/>
              </a:rPr>
              <a:t>、</a:t>
            </a:r>
            <a:r>
              <a:rPr lang="en-US" altLang="zh-CN" b="1" dirty="0">
                <a:effectLst/>
              </a:rPr>
              <a:t>Linux</a:t>
            </a:r>
            <a:r>
              <a:rPr lang="zh-CN" altLang="en-US" b="1" dirty="0">
                <a:effectLst/>
              </a:rPr>
              <a:t>、</a:t>
            </a:r>
            <a:r>
              <a:rPr lang="en-US" altLang="zh-CN" b="1" dirty="0">
                <a:effectLst/>
              </a:rPr>
              <a:t>macOS</a:t>
            </a:r>
            <a:r>
              <a:rPr lang="zh-CN" altLang="en-US" b="1" dirty="0">
                <a:effectLst/>
              </a:rPr>
              <a:t>等主流系统实现的是内核级线程</a:t>
            </a:r>
            <a:r>
              <a:rPr lang="zh-CN" altLang="en-US" dirty="0">
                <a:effectLst/>
              </a:rPr>
              <a:t>。</a:t>
            </a:r>
          </a:p>
          <a:p>
            <a:r>
              <a:rPr lang="en-US" altLang="zh-CN" b="1" dirty="0">
                <a:effectLst/>
              </a:rPr>
              <a:t>Go</a:t>
            </a:r>
            <a:r>
              <a:rPr lang="zh-CN" altLang="en-US" b="1" dirty="0">
                <a:effectLst/>
              </a:rPr>
              <a:t>、</a:t>
            </a:r>
            <a:r>
              <a:rPr lang="en-US" altLang="zh-CN" b="1" dirty="0">
                <a:effectLst/>
              </a:rPr>
              <a:t>Erlang</a:t>
            </a:r>
            <a:r>
              <a:rPr lang="zh-CN" altLang="en-US" b="1" dirty="0">
                <a:effectLst/>
              </a:rPr>
              <a:t>以及</a:t>
            </a:r>
            <a:r>
              <a:rPr lang="en-US" altLang="zh-CN" b="1" dirty="0">
                <a:effectLst/>
              </a:rPr>
              <a:t>Java</a:t>
            </a:r>
            <a:r>
              <a:rPr lang="zh-CN" altLang="en-US" b="1" dirty="0">
                <a:effectLst/>
              </a:rPr>
              <a:t>（</a:t>
            </a:r>
            <a:r>
              <a:rPr lang="en-US" altLang="zh-CN" b="1" dirty="0">
                <a:effectLst/>
              </a:rPr>
              <a:t>Loom</a:t>
            </a:r>
            <a:r>
              <a:rPr lang="zh-CN" altLang="en-US" b="1" dirty="0">
                <a:effectLst/>
              </a:rPr>
              <a:t>）等现代语言，通过其运行时在用户空间实现了更轻量级的“用户级线程”概念</a:t>
            </a:r>
            <a:r>
              <a:rPr lang="zh-CN" altLang="en-US" dirty="0">
                <a:effectLst/>
              </a:rPr>
              <a:t>，并高效地映射到操作系统的内核线程上。</a:t>
            </a:r>
          </a:p>
          <a:p>
            <a:pPr marL="0" indent="0" eaLnBrk="1" hangingPunct="1">
              <a:buNone/>
            </a:pPr>
            <a:endParaRPr lang="zh-CN" altLang="en-US" sz="3600" b="1" dirty="0">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a:extLst>
              <a:ext uri="{FF2B5EF4-FFF2-40B4-BE49-F238E27FC236}">
                <a16:creationId xmlns:a16="http://schemas.microsoft.com/office/drawing/2014/main" id="{CF6FAEF0-02E6-4439-8B9A-8E6004D34313}"/>
              </a:ext>
            </a:extLst>
          </p:cNvPr>
          <p:cNvSpPr>
            <a:spLocks noGrp="1" noChangeArrowheads="1"/>
          </p:cNvSpPr>
          <p:nvPr>
            <p:ph type="title"/>
          </p:nvPr>
        </p:nvSpPr>
        <p:spPr>
          <a:xfrm>
            <a:off x="304800" y="404813"/>
            <a:ext cx="8839200" cy="669925"/>
          </a:xfrm>
        </p:spPr>
        <p:txBody>
          <a:bodyPr/>
          <a:lstStyle/>
          <a:p>
            <a:pPr eaLnBrk="1" hangingPunct="1">
              <a:defRPr/>
            </a:pPr>
            <a:r>
              <a:rPr lang="zh-CN" altLang="en-US" sz="3600" b="1">
                <a:latin typeface="楷体_GB2312" pitchFamily="49" charset="-122"/>
              </a:rPr>
              <a:t>用户级线程（</a:t>
            </a:r>
            <a:r>
              <a:rPr lang="en-US" altLang="zh-CN" sz="3600" b="1">
                <a:latin typeface="楷体_GB2312" pitchFamily="49" charset="-122"/>
              </a:rPr>
              <a:t>User Level Thread</a:t>
            </a:r>
            <a:r>
              <a:rPr lang="zh-CN" altLang="en-US" sz="3600" b="1">
                <a:latin typeface="楷体_GB2312" pitchFamily="49" charset="-122"/>
              </a:rPr>
              <a:t>）</a:t>
            </a:r>
          </a:p>
        </p:txBody>
      </p:sp>
      <p:sp>
        <p:nvSpPr>
          <p:cNvPr id="190467" name="Rectangle 3">
            <a:extLst>
              <a:ext uri="{FF2B5EF4-FFF2-40B4-BE49-F238E27FC236}">
                <a16:creationId xmlns:a16="http://schemas.microsoft.com/office/drawing/2014/main" id="{F0783942-A6EE-42B0-9B41-E0724870D558}"/>
              </a:ext>
            </a:extLst>
          </p:cNvPr>
          <p:cNvSpPr>
            <a:spLocks noGrp="1" noChangeArrowheads="1"/>
          </p:cNvSpPr>
          <p:nvPr>
            <p:ph type="body" idx="1"/>
          </p:nvPr>
        </p:nvSpPr>
        <p:spPr>
          <a:xfrm>
            <a:off x="755650" y="1700213"/>
            <a:ext cx="7920038" cy="4897437"/>
          </a:xfrm>
          <a:noFill/>
          <a:extLst>
            <a:ext uri="{909E8E84-426E-40DD-AFC4-6F175D3DCCD1}">
              <a14:hiddenFill xmlns:a14="http://schemas.microsoft.com/office/drawing/2010/main">
                <a:solidFill>
                  <a:schemeClr val="accent1"/>
                </a:solidFill>
              </a14:hiddenFill>
            </a:ext>
          </a:extLst>
        </p:spPr>
        <p:txBody>
          <a:bodyPr/>
          <a:lstStyle/>
          <a:p>
            <a:pPr eaLnBrk="1" hangingPunct="1"/>
            <a:r>
              <a:rPr lang="zh-CN" altLang="en-US" sz="3600" b="1">
                <a:solidFill>
                  <a:srgbClr val="FFFF00"/>
                </a:solidFill>
                <a:effectLst/>
                <a:latin typeface="黑体" panose="02010609060101010101" pitchFamily="49" charset="-122"/>
                <a:ea typeface="黑体" panose="02010609060101010101" pitchFamily="49" charset="-122"/>
              </a:rPr>
              <a:t>对于这种线程的创建、撤消、和切换全部由用户进程来完成，</a:t>
            </a:r>
            <a:r>
              <a:rPr lang="en-US" altLang="zh-CN" sz="3600" b="1">
                <a:solidFill>
                  <a:srgbClr val="FFFF00"/>
                </a:solidFill>
                <a:effectLst/>
                <a:latin typeface="黑体" panose="02010609060101010101" pitchFamily="49" charset="-122"/>
                <a:ea typeface="黑体" panose="02010609060101010101" pitchFamily="49" charset="-122"/>
              </a:rPr>
              <a:t>OS</a:t>
            </a:r>
            <a:r>
              <a:rPr lang="zh-CN" altLang="en-US" sz="3600" b="1">
                <a:solidFill>
                  <a:srgbClr val="FFFF00"/>
                </a:solidFill>
                <a:effectLst/>
                <a:latin typeface="黑体" panose="02010609060101010101" pitchFamily="49" charset="-122"/>
                <a:ea typeface="黑体" panose="02010609060101010101" pitchFamily="49" charset="-122"/>
              </a:rPr>
              <a:t>内核只对进程进行管理</a:t>
            </a:r>
          </a:p>
          <a:p>
            <a:pPr eaLnBrk="1" hangingPunct="1"/>
            <a:r>
              <a:rPr lang="en-US" altLang="zh-CN" sz="3600" b="1">
                <a:solidFill>
                  <a:srgbClr val="FFFF00"/>
                </a:solidFill>
                <a:effectLst/>
                <a:latin typeface="黑体" panose="02010609060101010101" pitchFamily="49" charset="-122"/>
                <a:ea typeface="黑体" panose="02010609060101010101" pitchFamily="49" charset="-122"/>
              </a:rPr>
              <a:t>OS</a:t>
            </a:r>
            <a:r>
              <a:rPr lang="zh-CN" altLang="en-US" sz="3600" b="1">
                <a:solidFill>
                  <a:srgbClr val="FFFF00"/>
                </a:solidFill>
                <a:effectLst/>
                <a:latin typeface="黑体" panose="02010609060101010101" pitchFamily="49" charset="-122"/>
                <a:ea typeface="黑体" panose="02010609060101010101" pitchFamily="49" charset="-122"/>
              </a:rPr>
              <a:t>提供一个在用户空间执行的线程库供用户实现对线程的管理。</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线程库提供一组管理线程的函数（创建、调度、撤销、通信等）</a:t>
            </a:r>
          </a:p>
          <a:p>
            <a:pPr eaLnBrk="1" hangingPunct="1">
              <a:buFont typeface="Wingdings" panose="05000000000000000000" pitchFamily="2" charset="2"/>
              <a:buNone/>
            </a:pPr>
            <a:r>
              <a:rPr lang="zh-CN" altLang="en-US" sz="3600" b="1">
                <a:solidFill>
                  <a:srgbClr val="FFFF00"/>
                </a:solidFill>
                <a:effectLst/>
                <a:latin typeface="黑体" panose="02010609060101010101" pitchFamily="49" charset="-122"/>
                <a:ea typeface="黑体" panose="02010609060101010101" pitchFamily="49" charset="-122"/>
              </a:rPr>
              <a:t>  </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a:extLst>
              <a:ext uri="{FF2B5EF4-FFF2-40B4-BE49-F238E27FC236}">
                <a16:creationId xmlns:a16="http://schemas.microsoft.com/office/drawing/2014/main" id="{35A47F8D-C356-48BF-A08E-8A443C75DEB4}"/>
              </a:ext>
            </a:extLst>
          </p:cNvPr>
          <p:cNvSpPr>
            <a:spLocks noGrp="1" noChangeArrowheads="1"/>
          </p:cNvSpPr>
          <p:nvPr>
            <p:ph type="title"/>
          </p:nvPr>
        </p:nvSpPr>
        <p:spPr>
          <a:xfrm>
            <a:off x="304800" y="692150"/>
            <a:ext cx="8839200" cy="669925"/>
          </a:xfrm>
        </p:spPr>
        <p:txBody>
          <a:bodyPr/>
          <a:lstStyle/>
          <a:p>
            <a:pPr eaLnBrk="1" hangingPunct="1">
              <a:defRPr/>
            </a:pPr>
            <a:r>
              <a:rPr lang="zh-CN" altLang="en-US" sz="3600" b="1">
                <a:latin typeface="楷体_GB2312" pitchFamily="49" charset="-122"/>
              </a:rPr>
              <a:t>用户级线程（</a:t>
            </a:r>
            <a:r>
              <a:rPr lang="en-US" altLang="zh-CN" sz="3600" b="1">
                <a:latin typeface="楷体_GB2312" pitchFamily="49" charset="-122"/>
              </a:rPr>
              <a:t>User Level Thread</a:t>
            </a:r>
            <a:r>
              <a:rPr lang="zh-CN" altLang="en-US" sz="3600" b="1">
                <a:latin typeface="楷体_GB2312" pitchFamily="49" charset="-122"/>
              </a:rPr>
              <a:t>）</a:t>
            </a:r>
          </a:p>
        </p:txBody>
      </p:sp>
      <p:sp>
        <p:nvSpPr>
          <p:cNvPr id="191491" name="Rectangle 3">
            <a:extLst>
              <a:ext uri="{FF2B5EF4-FFF2-40B4-BE49-F238E27FC236}">
                <a16:creationId xmlns:a16="http://schemas.microsoft.com/office/drawing/2014/main" id="{59CD1FE4-9E85-495E-A8AA-49E2DAFF9DE1}"/>
              </a:ext>
            </a:extLst>
          </p:cNvPr>
          <p:cNvSpPr>
            <a:spLocks noGrp="1" noChangeArrowheads="1"/>
          </p:cNvSpPr>
          <p:nvPr>
            <p:ph type="body" idx="1"/>
          </p:nvPr>
        </p:nvSpPr>
        <p:spPr>
          <a:xfrm>
            <a:off x="539750" y="1341438"/>
            <a:ext cx="7993063" cy="5184775"/>
          </a:xfrm>
          <a:noFill/>
          <a:extLst>
            <a:ext uri="{909E8E84-426E-40DD-AFC4-6F175D3DCCD1}">
              <a14:hiddenFill xmlns:a14="http://schemas.microsoft.com/office/drawing/2010/main">
                <a:solidFill>
                  <a:schemeClr val="accent1"/>
                </a:solidFill>
              </a14:hiddenFill>
            </a:ext>
          </a:extLst>
        </p:spPr>
        <p:txBody>
          <a:bodyPr/>
          <a:lstStyle/>
          <a:p>
            <a:pPr eaLnBrk="1" hangingPunct="1">
              <a:buFont typeface="Wingdings" panose="05000000000000000000" pitchFamily="2" charset="2"/>
              <a:buNone/>
            </a:pPr>
            <a:r>
              <a:rPr lang="en-US" altLang="zh-CN" sz="3600" b="1">
                <a:solidFill>
                  <a:srgbClr val="FFFF00"/>
                </a:solidFill>
                <a:effectLst/>
                <a:latin typeface="黑体" panose="02010609060101010101" pitchFamily="49" charset="-122"/>
                <a:ea typeface="黑体" panose="02010609060101010101" pitchFamily="49" charset="-122"/>
              </a:rPr>
              <a:t>  </a:t>
            </a:r>
          </a:p>
          <a:p>
            <a:pPr eaLnBrk="1" hangingPunct="1"/>
            <a:r>
              <a:rPr lang="en-US" altLang="zh-CN" sz="3600" b="1">
                <a:solidFill>
                  <a:srgbClr val="FFFF00"/>
                </a:solidFill>
                <a:effectLst/>
                <a:latin typeface="黑体" panose="02010609060101010101" pitchFamily="49" charset="-122"/>
                <a:ea typeface="黑体" panose="02010609060101010101" pitchFamily="49" charset="-122"/>
              </a:rPr>
              <a:t>OS</a:t>
            </a:r>
            <a:r>
              <a:rPr lang="zh-CN" altLang="en-US" sz="3600" b="1">
                <a:solidFill>
                  <a:srgbClr val="FFFF00"/>
                </a:solidFill>
                <a:effectLst/>
                <a:latin typeface="黑体" panose="02010609060101010101" pitchFamily="49" charset="-122"/>
                <a:ea typeface="黑体" panose="02010609060101010101" pitchFamily="49" charset="-122"/>
              </a:rPr>
              <a:t>内核不知道线程的存在，在用户级线程系统中，</a:t>
            </a:r>
            <a:r>
              <a:rPr lang="en-US" altLang="zh-CN" sz="3600" b="1">
                <a:solidFill>
                  <a:srgbClr val="FFFF00"/>
                </a:solidFill>
                <a:effectLst/>
                <a:latin typeface="黑体" panose="02010609060101010101" pitchFamily="49" charset="-122"/>
                <a:ea typeface="黑体" panose="02010609060101010101" pitchFamily="49" charset="-122"/>
              </a:rPr>
              <a:t>OS</a:t>
            </a:r>
            <a:r>
              <a:rPr lang="zh-CN" altLang="en-US" sz="3600" b="1">
                <a:solidFill>
                  <a:srgbClr val="FFFF00"/>
                </a:solidFill>
                <a:effectLst/>
                <a:latin typeface="黑体" panose="02010609060101010101" pitchFamily="49" charset="-122"/>
                <a:ea typeface="黑体" panose="02010609060101010101" pitchFamily="49" charset="-122"/>
              </a:rPr>
              <a:t>内核的调度单位仍是进程</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线程切换不需要内核参与</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用户级线程的调度只进行线程上下文切换而不进行处理机切换，不涉及处理机的状态</a:t>
            </a:r>
          </a:p>
        </p:txBody>
      </p:sp>
    </p:spTree>
  </p:cSld>
  <p:clrMapOvr>
    <a:masterClrMapping/>
  </p:clrMapOvr>
  <p:transition spd="slow"/>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a:extLst>
              <a:ext uri="{FF2B5EF4-FFF2-40B4-BE49-F238E27FC236}">
                <a16:creationId xmlns:a16="http://schemas.microsoft.com/office/drawing/2014/main" id="{943E389D-4399-4413-8441-08558B92C6B4}"/>
              </a:ext>
            </a:extLst>
          </p:cNvPr>
          <p:cNvSpPr>
            <a:spLocks noGrp="1" noChangeArrowheads="1"/>
          </p:cNvSpPr>
          <p:nvPr>
            <p:ph type="title"/>
          </p:nvPr>
        </p:nvSpPr>
        <p:spPr>
          <a:xfrm>
            <a:off x="323850" y="620713"/>
            <a:ext cx="8623300" cy="688975"/>
          </a:xfrm>
        </p:spPr>
        <p:txBody>
          <a:bodyPr/>
          <a:lstStyle/>
          <a:p>
            <a:pPr eaLnBrk="1" hangingPunct="1">
              <a:defRPr/>
            </a:pPr>
            <a:r>
              <a:rPr lang="zh-CN" altLang="en-US" b="1">
                <a:latin typeface="楷体_GB2312" pitchFamily="49" charset="-122"/>
              </a:rPr>
              <a:t>核心级线程</a:t>
            </a:r>
            <a:r>
              <a:rPr lang="zh-CN" altLang="en-US" sz="3600" b="1">
                <a:latin typeface="楷体_GB2312" pitchFamily="49" charset="-122"/>
              </a:rPr>
              <a:t>（</a:t>
            </a:r>
            <a:r>
              <a:rPr lang="en-US" altLang="zh-CN" sz="3600" b="1">
                <a:latin typeface="楷体_GB2312" pitchFamily="49" charset="-122"/>
              </a:rPr>
              <a:t>Kernel Level Thread</a:t>
            </a:r>
            <a:r>
              <a:rPr lang="zh-CN" altLang="en-US" sz="3600" b="1">
                <a:latin typeface="楷体_GB2312" pitchFamily="49" charset="-122"/>
              </a:rPr>
              <a:t>）</a:t>
            </a:r>
            <a:endParaRPr lang="zh-CN" altLang="en-US" b="1">
              <a:latin typeface="楷体_GB2312" pitchFamily="49" charset="-122"/>
            </a:endParaRPr>
          </a:p>
        </p:txBody>
      </p:sp>
      <p:sp>
        <p:nvSpPr>
          <p:cNvPr id="192515" name="Rectangle 3">
            <a:extLst>
              <a:ext uri="{FF2B5EF4-FFF2-40B4-BE49-F238E27FC236}">
                <a16:creationId xmlns:a16="http://schemas.microsoft.com/office/drawing/2014/main" id="{DB66CFA1-B233-4155-B6E1-6DB8C1D08ADF}"/>
              </a:ext>
            </a:extLst>
          </p:cNvPr>
          <p:cNvSpPr>
            <a:spLocks noGrp="1" noChangeArrowheads="1"/>
          </p:cNvSpPr>
          <p:nvPr>
            <p:ph type="body" idx="1"/>
          </p:nvPr>
        </p:nvSpPr>
        <p:spPr>
          <a:xfrm>
            <a:off x="611188" y="1916113"/>
            <a:ext cx="8064500" cy="3960812"/>
          </a:xfrm>
          <a:noFill/>
          <a:extLst>
            <a:ext uri="{909E8E84-426E-40DD-AFC4-6F175D3DCCD1}">
              <a14:hiddenFill xmlns:a14="http://schemas.microsoft.com/office/drawing/2010/main">
                <a:solidFill>
                  <a:schemeClr val="accent1"/>
                </a:solidFill>
              </a14:hiddenFill>
            </a:ext>
          </a:extLst>
        </p:spPr>
        <p:txBody>
          <a:bodyPr/>
          <a:lstStyle/>
          <a:p>
            <a:pPr eaLnBrk="1" hangingPunct="1"/>
            <a:r>
              <a:rPr lang="zh-CN" altLang="en-US" sz="3600" b="1">
                <a:solidFill>
                  <a:srgbClr val="FFFF00"/>
                </a:solidFill>
                <a:effectLst/>
                <a:latin typeface="黑体" panose="02010609060101010101" pitchFamily="49" charset="-122"/>
                <a:ea typeface="黑体" panose="02010609060101010101" pitchFamily="49" charset="-122"/>
              </a:rPr>
              <a:t>所有线程管理由操作系统内核完成</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没有线程库，但内核提供</a:t>
            </a:r>
            <a:r>
              <a:rPr lang="en-US" altLang="zh-CN" sz="3600" b="1">
                <a:solidFill>
                  <a:srgbClr val="FFFF00"/>
                </a:solidFill>
                <a:effectLst/>
                <a:latin typeface="黑体" panose="02010609060101010101" pitchFamily="49" charset="-122"/>
                <a:ea typeface="黑体" panose="02010609060101010101" pitchFamily="49" charset="-122"/>
              </a:rPr>
              <a:t>API</a:t>
            </a:r>
          </a:p>
          <a:p>
            <a:pPr eaLnBrk="1" hangingPunct="1"/>
            <a:r>
              <a:rPr lang="en-US" altLang="zh-CN" sz="3600" b="1">
                <a:solidFill>
                  <a:srgbClr val="FFFF00"/>
                </a:solidFill>
                <a:effectLst/>
                <a:latin typeface="黑体" panose="02010609060101010101" pitchFamily="49" charset="-122"/>
                <a:ea typeface="黑体" panose="02010609060101010101" pitchFamily="49" charset="-122"/>
              </a:rPr>
              <a:t>OS</a:t>
            </a:r>
            <a:r>
              <a:rPr lang="zh-CN" altLang="en-US" sz="3600" b="1">
                <a:solidFill>
                  <a:srgbClr val="FFFF00"/>
                </a:solidFill>
                <a:effectLst/>
                <a:latin typeface="黑体" panose="02010609060101010101" pitchFamily="49" charset="-122"/>
                <a:ea typeface="黑体" panose="02010609060101010101" pitchFamily="49" charset="-122"/>
              </a:rPr>
              <a:t>内核维护进程和线程的上下文</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线程之间的切换需要内核支持</a:t>
            </a:r>
          </a:p>
          <a:p>
            <a:pPr eaLnBrk="1" hangingPunct="1"/>
            <a:r>
              <a:rPr lang="zh-CN" altLang="en-US" sz="3600" b="1">
                <a:solidFill>
                  <a:srgbClr val="FFFF00"/>
                </a:solidFill>
                <a:effectLst/>
                <a:latin typeface="黑体" panose="02010609060101010101" pitchFamily="49" charset="-122"/>
                <a:ea typeface="黑体" panose="02010609060101010101" pitchFamily="49" charset="-122"/>
              </a:rPr>
              <a:t>以线程为基础进行调度</a:t>
            </a:r>
          </a:p>
          <a:p>
            <a:pPr eaLnBrk="1" hangingPunct="1"/>
            <a:endParaRPr lang="en-US" altLang="zh-CN" sz="3600" b="1">
              <a:solidFill>
                <a:srgbClr val="FFFF00"/>
              </a:solidFill>
              <a:effectLst/>
              <a:latin typeface="黑体" panose="02010609060101010101" pitchFamily="49" charset="-122"/>
              <a:ea typeface="黑体" panose="02010609060101010101" pitchFamily="49" charset="-122"/>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a:extLst>
              <a:ext uri="{FF2B5EF4-FFF2-40B4-BE49-F238E27FC236}">
                <a16:creationId xmlns:a16="http://schemas.microsoft.com/office/drawing/2014/main" id="{CC524BFF-870D-4F63-A8CA-41472FCFEE05}"/>
              </a:ext>
            </a:extLst>
          </p:cNvPr>
          <p:cNvSpPr>
            <a:spLocks noGrp="1" noChangeArrowheads="1"/>
          </p:cNvSpPr>
          <p:nvPr>
            <p:ph type="title"/>
          </p:nvPr>
        </p:nvSpPr>
        <p:spPr>
          <a:xfrm>
            <a:off x="323850" y="476250"/>
            <a:ext cx="8623300" cy="688975"/>
          </a:xfrm>
        </p:spPr>
        <p:txBody>
          <a:bodyPr/>
          <a:lstStyle/>
          <a:p>
            <a:pPr eaLnBrk="1" hangingPunct="1">
              <a:defRPr/>
            </a:pPr>
            <a:r>
              <a:rPr lang="zh-CN" altLang="en-US" b="1">
                <a:latin typeface="楷体_GB2312" pitchFamily="49" charset="-122"/>
              </a:rPr>
              <a:t>比较</a:t>
            </a:r>
          </a:p>
        </p:txBody>
      </p:sp>
      <p:pic>
        <p:nvPicPr>
          <p:cNvPr id="4" name="图片 3">
            <a:extLst>
              <a:ext uri="{FF2B5EF4-FFF2-40B4-BE49-F238E27FC236}">
                <a16:creationId xmlns:a16="http://schemas.microsoft.com/office/drawing/2014/main" id="{F5901C2E-13A4-B2DA-510F-71AA1DAC186E}"/>
              </a:ext>
            </a:extLst>
          </p:cNvPr>
          <p:cNvPicPr>
            <a:picLocks noChangeAspect="1"/>
          </p:cNvPicPr>
          <p:nvPr/>
        </p:nvPicPr>
        <p:blipFill>
          <a:blip r:embed="rId2"/>
          <a:stretch>
            <a:fillRect/>
          </a:stretch>
        </p:blipFill>
        <p:spPr>
          <a:xfrm>
            <a:off x="389941" y="1819050"/>
            <a:ext cx="8364117" cy="3986214"/>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6364B3-C856-352B-75D7-4FBE243A98CB}"/>
              </a:ext>
            </a:extLst>
          </p:cNvPr>
          <p:cNvSpPr>
            <a:spLocks noGrp="1"/>
          </p:cNvSpPr>
          <p:nvPr>
            <p:ph idx="1"/>
          </p:nvPr>
        </p:nvSpPr>
        <p:spPr>
          <a:xfrm>
            <a:off x="457200" y="548680"/>
            <a:ext cx="8229600" cy="5256584"/>
          </a:xfrm>
        </p:spPr>
        <p:txBody>
          <a:bodyPr/>
          <a:lstStyle/>
          <a:p>
            <a:r>
              <a:rPr lang="zh-CN" altLang="en-US" sz="2800" b="1" dirty="0"/>
              <a:t>线程库是为程序员提供创建和管理线程的</a:t>
            </a:r>
            <a:r>
              <a:rPr lang="en-US" altLang="zh-CN" sz="2800" b="1" dirty="0"/>
              <a:t>API</a:t>
            </a:r>
            <a:r>
              <a:rPr lang="zh-CN" altLang="en-US" sz="2800" b="1" dirty="0"/>
              <a:t>。实现线程库主要的方法有如下两种</a:t>
            </a:r>
            <a:r>
              <a:rPr lang="en-US" altLang="zh-CN" sz="2800" b="1" dirty="0"/>
              <a:t>:①</a:t>
            </a:r>
            <a:r>
              <a:rPr lang="zh-CN" altLang="en-US" sz="2800" b="1" dirty="0"/>
              <a:t>在用户空间中提供一个没有内核支持的库。这种库的所有代码和数据结构都位于用户空间中。这意味着，调用库内的一个函数只导致用户空间中的一个本地函数的调用。</a:t>
            </a:r>
          </a:p>
          <a:p>
            <a:r>
              <a:rPr lang="zh-CN" altLang="en-US" sz="2800" b="1" dirty="0"/>
              <a:t>②实现由操作系统直接支持的内核级的一个库。对于这种情况，库内的代码和数据结构位于内核空间。调用库中的一个</a:t>
            </a:r>
            <a:r>
              <a:rPr lang="en-US" altLang="zh-CN" sz="2800" b="1" dirty="0"/>
              <a:t>API</a:t>
            </a:r>
            <a:r>
              <a:rPr lang="zh-CN" altLang="en-US" sz="2800" b="1" dirty="0"/>
              <a:t>函数通常会导致对内核的系统调用。</a:t>
            </a:r>
          </a:p>
        </p:txBody>
      </p:sp>
    </p:spTree>
    <p:extLst>
      <p:ext uri="{BB962C8B-B14F-4D97-AF65-F5344CB8AC3E}">
        <p14:creationId xmlns:p14="http://schemas.microsoft.com/office/powerpoint/2010/main" val="3473856064"/>
      </p:ext>
    </p:extLst>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45A58-982A-51F4-EBBB-1EA684EA5C06}"/>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5E87C8F7-C096-746C-6CEA-EC03E2B51EC7}"/>
              </a:ext>
            </a:extLst>
          </p:cNvPr>
          <p:cNvSpPr>
            <a:spLocks noGrp="1"/>
          </p:cNvSpPr>
          <p:nvPr>
            <p:ph idx="1"/>
          </p:nvPr>
        </p:nvSpPr>
        <p:spPr>
          <a:xfrm>
            <a:off x="457200" y="1268760"/>
            <a:ext cx="8229600" cy="3810645"/>
          </a:xfrm>
        </p:spPr>
        <p:txBody>
          <a:bodyPr/>
          <a:lstStyle/>
          <a:p>
            <a:r>
              <a:rPr lang="zh-CN" altLang="en-US" sz="2800" b="1" dirty="0"/>
              <a:t>目前使用的三种主要线程库是</a:t>
            </a:r>
            <a:r>
              <a:rPr lang="en-US" altLang="zh-CN" sz="2800" b="1" dirty="0"/>
              <a:t>:</a:t>
            </a:r>
          </a:p>
          <a:p>
            <a:r>
              <a:rPr lang="en-US" altLang="zh-CN" sz="2800" b="1" dirty="0"/>
              <a:t>POSIX </a:t>
            </a:r>
            <a:r>
              <a:rPr lang="en-US" altLang="zh-CN" sz="2800" b="1" dirty="0" err="1"/>
              <a:t>Pthreads</a:t>
            </a:r>
            <a:r>
              <a:rPr lang="zh-CN" altLang="en-US" sz="2800" b="1" dirty="0"/>
              <a:t>、</a:t>
            </a:r>
            <a:r>
              <a:rPr lang="en-US" altLang="zh-CN" sz="2800" b="1" dirty="0" err="1"/>
              <a:t>WindowsAPI</a:t>
            </a:r>
            <a:r>
              <a:rPr lang="zh-CN" altLang="en-US" sz="2800" b="1" dirty="0"/>
              <a:t>、</a:t>
            </a:r>
            <a:r>
              <a:rPr lang="en-US" altLang="zh-CN" sz="2800" b="1" dirty="0"/>
              <a:t>Java</a:t>
            </a:r>
          </a:p>
          <a:p>
            <a:r>
              <a:rPr lang="en-US" altLang="zh-CN" sz="2800" b="1" dirty="0" err="1"/>
              <a:t>Pthreads</a:t>
            </a:r>
            <a:r>
              <a:rPr lang="zh-CN" altLang="en-US" sz="2800" b="1" dirty="0"/>
              <a:t>作为</a:t>
            </a:r>
            <a:r>
              <a:rPr lang="en-US" altLang="zh-CN" sz="2800" b="1" dirty="0"/>
              <a:t>POSIX</a:t>
            </a:r>
            <a:r>
              <a:rPr lang="zh-CN" altLang="en-US" sz="2800" b="1" dirty="0"/>
              <a:t>标准的扩展，可以提供用户级或内核级的库。</a:t>
            </a:r>
            <a:endParaRPr lang="en-US" altLang="zh-CN" sz="2800" b="1" dirty="0"/>
          </a:p>
          <a:p>
            <a:r>
              <a:rPr lang="en-US" altLang="zh-CN" sz="2800" b="1" dirty="0"/>
              <a:t>Windows API</a:t>
            </a:r>
            <a:r>
              <a:rPr lang="zh-CN" altLang="en-US" sz="2800" b="1" dirty="0"/>
              <a:t>是用于</a:t>
            </a:r>
            <a:r>
              <a:rPr lang="en-US" altLang="zh-CN" sz="2800" b="1" dirty="0"/>
              <a:t>Windows</a:t>
            </a:r>
            <a:r>
              <a:rPr lang="zh-CN" altLang="en-US" sz="2800" b="1" dirty="0"/>
              <a:t>系统的内核级线程库。</a:t>
            </a:r>
            <a:endParaRPr lang="en-US" altLang="zh-CN" sz="2800" b="1" dirty="0"/>
          </a:p>
        </p:txBody>
      </p:sp>
    </p:spTree>
    <p:extLst>
      <p:ext uri="{BB962C8B-B14F-4D97-AF65-F5344CB8AC3E}">
        <p14:creationId xmlns:p14="http://schemas.microsoft.com/office/powerpoint/2010/main" val="74095419"/>
      </p:ext>
    </p:extLst>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4FB00-9BBE-3634-E91B-8DCE95D27A37}"/>
            </a:ext>
          </a:extLst>
        </p:cNvPr>
        <p:cNvGrpSpPr/>
        <p:nvPr/>
      </p:nvGrpSpPr>
      <p:grpSpPr>
        <a:xfrm>
          <a:off x="0" y="0"/>
          <a:ext cx="0" cy="0"/>
          <a:chOff x="0" y="0"/>
          <a:chExt cx="0" cy="0"/>
        </a:xfrm>
      </p:grpSpPr>
      <p:sp>
        <p:nvSpPr>
          <p:cNvPr id="4" name="灯片编号占位符 6">
            <a:extLst>
              <a:ext uri="{FF2B5EF4-FFF2-40B4-BE49-F238E27FC236}">
                <a16:creationId xmlns:a16="http://schemas.microsoft.com/office/drawing/2014/main" id="{20D5E282-AB45-AC4F-9AA8-5441C58253ED}"/>
              </a:ext>
            </a:extLst>
          </p:cNvPr>
          <p:cNvSpPr>
            <a:spLocks noGrp="1"/>
          </p:cNvSpPr>
          <p:nvPr>
            <p:ph type="sldNum" sz="quarter" idx="12"/>
          </p:nvPr>
        </p:nvSpPr>
        <p:spPr/>
        <p:txBody>
          <a:bodyPr/>
          <a:lstStyle/>
          <a:p>
            <a:pPr>
              <a:defRPr/>
            </a:pPr>
            <a:fld id="{E547E2EC-4EFA-49FA-A0DA-FD61EBE5F001}" type="slidenum">
              <a:rPr lang="en-US" altLang="zh-CN"/>
              <a:pPr>
                <a:defRPr/>
              </a:pPr>
              <a:t>189</a:t>
            </a:fld>
            <a:endParaRPr lang="en-US" altLang="zh-CN"/>
          </a:p>
        </p:txBody>
      </p:sp>
      <p:sp>
        <p:nvSpPr>
          <p:cNvPr id="102403" name="Rectangle 2">
            <a:extLst>
              <a:ext uri="{FF2B5EF4-FFF2-40B4-BE49-F238E27FC236}">
                <a16:creationId xmlns:a16="http://schemas.microsoft.com/office/drawing/2014/main" id="{1AF79C39-C593-4B3E-BA71-81DD2B0D65A6}"/>
              </a:ext>
            </a:extLst>
          </p:cNvPr>
          <p:cNvSpPr>
            <a:spLocks noGrp="1" noChangeArrowheads="1"/>
          </p:cNvSpPr>
          <p:nvPr>
            <p:ph type="title"/>
          </p:nvPr>
        </p:nvSpPr>
        <p:spPr>
          <a:xfrm>
            <a:off x="468313" y="260350"/>
            <a:ext cx="8229600" cy="1296988"/>
          </a:xfr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lnSpc>
                <a:spcPct val="70000"/>
              </a:lnSpc>
            </a:pPr>
            <a:r>
              <a:rPr kumimoji="1" lang="zh-CN" altLang="en-US" b="1">
                <a:solidFill>
                  <a:schemeClr val="tx1"/>
                </a:solidFill>
                <a:effectLst/>
              </a:rPr>
              <a:t>第三章  进程管理</a:t>
            </a:r>
          </a:p>
        </p:txBody>
      </p:sp>
      <p:sp>
        <p:nvSpPr>
          <p:cNvPr id="102404" name="Rectangle 5">
            <a:extLst>
              <a:ext uri="{FF2B5EF4-FFF2-40B4-BE49-F238E27FC236}">
                <a16:creationId xmlns:a16="http://schemas.microsoft.com/office/drawing/2014/main" id="{A72B38FE-52C2-6086-9DAB-3803E666BC23}"/>
              </a:ext>
            </a:extLst>
          </p:cNvPr>
          <p:cNvSpPr>
            <a:spLocks noGrp="1" noChangeArrowheads="1"/>
          </p:cNvSpPr>
          <p:nvPr>
            <p:ph type="body" sz="half" idx="1"/>
          </p:nvPr>
        </p:nvSpPr>
        <p:spPr>
          <a:xfrm>
            <a:off x="1835150" y="1628775"/>
            <a:ext cx="5807075" cy="4679950"/>
          </a:xfrm>
        </p:spPr>
        <p:txBody>
          <a:bodyPr/>
          <a:lstStyle/>
          <a:p>
            <a:pPr eaLnBrk="1" hangingPunct="1"/>
            <a:r>
              <a:rPr lang="en-US" altLang="zh-CN" sz="3600" b="1">
                <a:solidFill>
                  <a:srgbClr val="FFFF00"/>
                </a:solidFill>
                <a:effectLst/>
                <a:ea typeface="黑体" panose="02010609060101010101" pitchFamily="49" charset="-122"/>
              </a:rPr>
              <a:t>3.1</a:t>
            </a:r>
            <a:r>
              <a:rPr lang="zh-CN" altLang="en-US" sz="3600" b="1">
                <a:solidFill>
                  <a:srgbClr val="FFFF00"/>
                </a:solidFill>
                <a:effectLst/>
                <a:ea typeface="黑体" panose="02010609060101010101" pitchFamily="49" charset="-122"/>
              </a:rPr>
              <a:t>进程的概念</a:t>
            </a:r>
          </a:p>
          <a:p>
            <a:pPr eaLnBrk="1" hangingPunct="1"/>
            <a:r>
              <a:rPr lang="en-US" altLang="zh-CN" sz="3600" b="1">
                <a:solidFill>
                  <a:srgbClr val="FFFF00"/>
                </a:solidFill>
                <a:effectLst/>
                <a:ea typeface="黑体" panose="02010609060101010101" pitchFamily="49" charset="-122"/>
              </a:rPr>
              <a:t>3.2</a:t>
            </a:r>
            <a:r>
              <a:rPr lang="zh-CN" altLang="en-US" sz="3600" b="1">
                <a:solidFill>
                  <a:srgbClr val="FFFF00"/>
                </a:solidFill>
                <a:effectLst/>
                <a:ea typeface="黑体" panose="02010609060101010101" pitchFamily="49" charset="-122"/>
              </a:rPr>
              <a:t>进程状态及其转换</a:t>
            </a:r>
          </a:p>
          <a:p>
            <a:pPr eaLnBrk="1" hangingPunct="1"/>
            <a:r>
              <a:rPr lang="en-US" altLang="zh-CN" sz="3600" b="1">
                <a:solidFill>
                  <a:srgbClr val="FFFF00"/>
                </a:solidFill>
                <a:effectLst/>
                <a:ea typeface="黑体" panose="02010609060101010101" pitchFamily="49" charset="-122"/>
              </a:rPr>
              <a:t>3.3</a:t>
            </a:r>
            <a:r>
              <a:rPr lang="zh-CN" altLang="en-US" sz="3600" b="1">
                <a:solidFill>
                  <a:srgbClr val="FFFF00"/>
                </a:solidFill>
                <a:effectLst/>
                <a:ea typeface="黑体" panose="02010609060101010101" pitchFamily="49" charset="-122"/>
              </a:rPr>
              <a:t>进程控制</a:t>
            </a:r>
          </a:p>
          <a:p>
            <a:pPr eaLnBrk="1" hangingPunct="1"/>
            <a:r>
              <a:rPr lang="en-US" altLang="zh-CN" sz="3600" b="1">
                <a:solidFill>
                  <a:srgbClr val="FFFF00"/>
                </a:solidFill>
                <a:effectLst/>
                <a:ea typeface="黑体" panose="02010609060101010101" pitchFamily="49" charset="-122"/>
              </a:rPr>
              <a:t>3.4</a:t>
            </a:r>
            <a:r>
              <a:rPr lang="zh-CN" altLang="en-US" sz="3600" b="1">
                <a:solidFill>
                  <a:srgbClr val="FFFF00"/>
                </a:solidFill>
                <a:effectLst/>
                <a:ea typeface="黑体" panose="02010609060101010101" pitchFamily="49" charset="-122"/>
              </a:rPr>
              <a:t>进程的同步与互斥</a:t>
            </a:r>
          </a:p>
          <a:p>
            <a:pPr eaLnBrk="1" hangingPunct="1"/>
            <a:r>
              <a:rPr lang="en-US" altLang="zh-CN" sz="3600" b="1">
                <a:solidFill>
                  <a:srgbClr val="FFFF00"/>
                </a:solidFill>
                <a:effectLst/>
                <a:ea typeface="黑体" panose="02010609060101010101" pitchFamily="49" charset="-122"/>
              </a:rPr>
              <a:t>3.5</a:t>
            </a:r>
            <a:r>
              <a:rPr lang="zh-CN" altLang="en-US" sz="3600" b="1">
                <a:solidFill>
                  <a:srgbClr val="FFFF00"/>
                </a:solidFill>
                <a:effectLst/>
                <a:ea typeface="黑体" panose="02010609060101010101" pitchFamily="49" charset="-122"/>
              </a:rPr>
              <a:t>进程通信</a:t>
            </a:r>
          </a:p>
          <a:p>
            <a:pPr eaLnBrk="1" hangingPunct="1"/>
            <a:r>
              <a:rPr lang="en-US" altLang="zh-CN" sz="3600" b="1">
                <a:solidFill>
                  <a:srgbClr val="FFFF00"/>
                </a:solidFill>
                <a:effectLst/>
                <a:ea typeface="黑体" panose="02010609060101010101" pitchFamily="49" charset="-122"/>
              </a:rPr>
              <a:t>3.6</a:t>
            </a:r>
            <a:r>
              <a:rPr lang="zh-CN" altLang="en-US" sz="3600" b="1">
                <a:solidFill>
                  <a:srgbClr val="FFFF00"/>
                </a:solidFill>
                <a:effectLst/>
                <a:ea typeface="黑体" panose="02010609060101010101" pitchFamily="49" charset="-122"/>
              </a:rPr>
              <a:t>死锁</a:t>
            </a:r>
          </a:p>
          <a:p>
            <a:pPr eaLnBrk="1" hangingPunct="1"/>
            <a:r>
              <a:rPr lang="en-US" altLang="zh-CN" sz="3600" b="1">
                <a:solidFill>
                  <a:srgbClr val="FFFF00"/>
                </a:solidFill>
                <a:effectLst/>
                <a:ea typeface="黑体" panose="02010609060101010101" pitchFamily="49" charset="-122"/>
              </a:rPr>
              <a:t>3.7</a:t>
            </a:r>
            <a:r>
              <a:rPr lang="zh-CN" altLang="en-US" sz="3600" b="1">
                <a:solidFill>
                  <a:srgbClr val="FFFF00"/>
                </a:solidFill>
                <a:effectLst/>
                <a:ea typeface="黑体" panose="02010609060101010101" pitchFamily="49" charset="-122"/>
              </a:rPr>
              <a:t>线程</a:t>
            </a:r>
          </a:p>
        </p:txBody>
      </p:sp>
    </p:spTree>
    <p:extLst>
      <p:ext uri="{BB962C8B-B14F-4D97-AF65-F5344CB8AC3E}">
        <p14:creationId xmlns:p14="http://schemas.microsoft.com/office/powerpoint/2010/main" val="3796583781"/>
      </p:ext>
    </p:extLst>
  </p:cSld>
  <p:clrMapOvr>
    <a:masterClrMapping/>
  </p:clrMapOvr>
  <p:transition spd="slow"/>
</p:sld>
</file>

<file path=ppt/theme/theme1.xml><?xml version="1.0" encoding="utf-8"?>
<a:theme xmlns:a="http://schemas.openxmlformats.org/drawingml/2006/main" name="Orbit">
  <a:themeElements>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Orbit">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微软雅黑">
      <a:majorFont>
        <a:latin typeface="MS PGothic"/>
        <a:ea typeface="微软雅黑"/>
        <a:cs typeface=""/>
      </a:majorFont>
      <a:minorFont>
        <a:latin typeface="MS PGothic"/>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Orbit</Template>
  <TotalTime>8104</TotalTime>
  <Words>12012</Words>
  <Application>Microsoft Office PowerPoint</Application>
  <PresentationFormat>全屏显示(4:3)</PresentationFormat>
  <Paragraphs>1004</Paragraphs>
  <Slides>189</Slides>
  <Notes>15</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1</vt:i4>
      </vt:variant>
      <vt:variant>
        <vt:lpstr>幻灯片标题</vt:lpstr>
      </vt:variant>
      <vt:variant>
        <vt:i4>189</vt:i4>
      </vt:variant>
    </vt:vector>
  </HeadingPairs>
  <TitlesOfParts>
    <vt:vector size="207" baseType="lpstr">
      <vt:lpstr>Monotype Sorts</vt:lpstr>
      <vt:lpstr>MS PGothic</vt:lpstr>
      <vt:lpstr>黑体</vt:lpstr>
      <vt:lpstr>楷体_GB2312</vt:lpstr>
      <vt:lpstr>隶书</vt:lpstr>
      <vt:lpstr>宋体</vt:lpstr>
      <vt:lpstr>微软雅黑</vt:lpstr>
      <vt:lpstr>幼圆</vt:lpstr>
      <vt:lpstr>张海山锐谐体2.0-授权联系：Samtype@QQ.com</vt:lpstr>
      <vt:lpstr>Arial</vt:lpstr>
      <vt:lpstr>Comic Sans MS</vt:lpstr>
      <vt:lpstr>Symbol</vt:lpstr>
      <vt:lpstr>Tahoma</vt:lpstr>
      <vt:lpstr>Times New Roman</vt:lpstr>
      <vt:lpstr>Wingdings</vt:lpstr>
      <vt:lpstr>Orbit</vt:lpstr>
      <vt:lpstr>1_Office 主题</vt:lpstr>
      <vt:lpstr>位图图像</vt:lpstr>
      <vt:lpstr>第三章  进程管理</vt:lpstr>
      <vt:lpstr>PowerPoint 演示文稿</vt:lpstr>
      <vt:lpstr>3.4  进程的同步与互斥 </vt:lpstr>
      <vt:lpstr>3.4  进程的同步与互斥 </vt:lpstr>
      <vt:lpstr>3.4.1   进程间的制约关系 </vt:lpstr>
      <vt:lpstr>PowerPoint 演示文稿</vt:lpstr>
      <vt:lpstr>PowerPoint 演示文稿</vt:lpstr>
      <vt:lpstr>PowerPoint 演示文稿</vt:lpstr>
      <vt:lpstr>PowerPoint 演示文稿</vt:lpstr>
      <vt:lpstr>3.4.1   进程间的制约关系 </vt:lpstr>
      <vt:lpstr>3.4  进程的同步与互斥 </vt:lpstr>
      <vt:lpstr>3.4.2  进程互斥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3.4  进程的同步与互斥 </vt:lpstr>
      <vt:lpstr>3.4.3 进程同步</vt:lpstr>
      <vt:lpstr>共享缓冲区的进程的同步 </vt:lpstr>
      <vt:lpstr>分析</vt:lpstr>
      <vt:lpstr>PowerPoint 演示文稿</vt:lpstr>
      <vt:lpstr>PowerPoint 演示文稿</vt:lpstr>
      <vt:lpstr>PowerPoint 演示文稿</vt:lpstr>
      <vt:lpstr>3.4  进程的同步与互斥 </vt:lpstr>
      <vt:lpstr>3.4.4 信号量机制</vt:lpstr>
      <vt:lpstr>3.4.4 信号量机制</vt:lpstr>
      <vt:lpstr>PowerPoint 演示文稿</vt:lpstr>
      <vt:lpstr>PowerPoint 演示文稿</vt:lpstr>
      <vt:lpstr>信号量：semaphore</vt:lpstr>
      <vt:lpstr>信号量的使用</vt:lpstr>
      <vt:lpstr>PowerPoint 演示文稿</vt:lpstr>
      <vt:lpstr>PowerPoint 演示文稿</vt:lpstr>
      <vt:lpstr>PowerPoint 演示文稿</vt:lpstr>
      <vt:lpstr>P操作</vt:lpstr>
      <vt:lpstr>PowerPoint 演示文稿</vt:lpstr>
      <vt:lpstr>V操作</vt:lpstr>
      <vt:lpstr>PowerPoint 演示文稿</vt:lpstr>
      <vt:lpstr>互斥中信号量及P、V操作</vt:lpstr>
      <vt:lpstr>信号量的整型分量的物理含义： </vt:lpstr>
      <vt:lpstr>P、V操作的物理含义： </vt:lpstr>
      <vt:lpstr>PowerPoint 演示文稿</vt:lpstr>
      <vt:lpstr>思考</vt:lpstr>
      <vt:lpstr>3.信号量机制实现互斥</vt:lpstr>
      <vt:lpstr>PowerPoint 演示文稿</vt:lpstr>
      <vt:lpstr>PowerPoint 演示文稿</vt:lpstr>
      <vt:lpstr>例: 某小型超级市场，可容纳50人同时购物。入口处有篮子，每个购物者可拿一只篮子入内购物。出口处结帐，并归还篮子（出、入口禁止多人同时通过）。试用信号量机制实现购物者的同步算法。</vt:lpstr>
      <vt:lpstr>解答:</vt:lpstr>
      <vt:lpstr>购物者i进程</vt:lpstr>
      <vt:lpstr>4.信号量机制实现同步</vt:lpstr>
      <vt:lpstr>4.信号量机制实现同步</vt:lpstr>
      <vt:lpstr>PowerPoint 演示文稿</vt:lpstr>
      <vt:lpstr>PowerPoint 演示文稿</vt:lpstr>
      <vt:lpstr>PowerPoint 演示文稿</vt:lpstr>
      <vt:lpstr>PowerPoint 演示文稿</vt:lpstr>
      <vt:lpstr>PowerPoint 演示文稿</vt:lpstr>
      <vt:lpstr>【思考题】</vt:lpstr>
      <vt:lpstr>第三章  进程管理</vt:lpstr>
      <vt:lpstr>3.4  进程的同步与互斥 </vt:lpstr>
      <vt:lpstr>3.4.5经典同步互斥问题</vt:lpstr>
      <vt:lpstr>问题分析： </vt:lpstr>
      <vt:lpstr>问题解答</vt:lpstr>
      <vt:lpstr>PowerPoint 演示文稿</vt:lpstr>
      <vt:lpstr>问题的解</vt:lpstr>
      <vt:lpstr>如果将生产者的两个P操作对调？</vt:lpstr>
      <vt:lpstr>如果将消费者的两个P操作对调？</vt:lpstr>
      <vt:lpstr>如果将两个V操作对调？</vt:lpstr>
      <vt:lpstr>PowerPoint 演示文稿</vt:lpstr>
      <vt:lpstr>3.4.5经典同步互斥问题</vt:lpstr>
      <vt:lpstr>生产者－消费者问题是相互合作进程关系的一种抽象</vt:lpstr>
      <vt:lpstr>PowerPoint 演示文稿</vt:lpstr>
      <vt:lpstr>3.4.5经典同步互斥问题</vt:lpstr>
      <vt:lpstr>PowerPoint 演示文稿</vt:lpstr>
      <vt:lpstr>PowerPoint 演示文稿</vt:lpstr>
      <vt:lpstr>PowerPoint 演示文稿</vt:lpstr>
      <vt:lpstr>PowerPoint 演示文稿</vt:lpstr>
      <vt:lpstr>PowerPoint 演示文稿</vt:lpstr>
      <vt:lpstr>3.4.5经典同步互斥问题</vt:lpstr>
      <vt:lpstr>总结上述几个实例的解题过程，可以得出这样的结论：</vt:lpstr>
      <vt:lpstr>用信号量机制解题的三个步骤：</vt:lpstr>
      <vt:lpstr>PowerPoint 演示文稿</vt:lpstr>
      <vt:lpstr>思考</vt:lpstr>
      <vt:lpstr>3.4  进程的同步与互斥 </vt:lpstr>
      <vt:lpstr>3.4  进程的同步与互斥 </vt:lpstr>
      <vt:lpstr>第三章  进程管理</vt:lpstr>
      <vt:lpstr>3.5  进程通信 </vt:lpstr>
      <vt:lpstr>PowerPoint 演示文稿</vt:lpstr>
      <vt:lpstr>PowerPoint 演示文稿</vt:lpstr>
      <vt:lpstr>按通信交换的数据量多少划分为:</vt:lpstr>
      <vt:lpstr> 进程的同步与互斥  低级通信</vt:lpstr>
      <vt:lpstr>高级进程通信方式的主要优点是：</vt:lpstr>
      <vt:lpstr>3.5.1进程的通信方式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  进程通信 </vt:lpstr>
      <vt:lpstr>3.5.2 消息缓冲机制</vt:lpstr>
      <vt:lpstr>PowerPoint 演示文稿</vt:lpstr>
      <vt:lpstr>PowerPoint 演示文稿</vt:lpstr>
      <vt:lpstr>3.5.3 信箱通信</vt:lpstr>
      <vt:lpstr>3.5.3 信箱通信</vt:lpstr>
      <vt:lpstr>PowerPoint 演示文稿</vt:lpstr>
      <vt:lpstr>第三章  进程管理</vt:lpstr>
      <vt:lpstr>3.6  死锁问题 </vt:lpstr>
      <vt:lpstr>死锁举例</vt:lpstr>
      <vt:lpstr>PowerPoint 演示文稿</vt:lpstr>
      <vt:lpstr> </vt:lpstr>
      <vt:lpstr>PowerPoint 演示文稿</vt:lpstr>
      <vt:lpstr>PowerPoint 演示文稿</vt:lpstr>
      <vt:lpstr>3.8.1死锁的概念</vt:lpstr>
      <vt:lpstr>PowerPoint 演示文稿</vt:lpstr>
      <vt:lpstr>PowerPoint 演示文稿</vt:lpstr>
      <vt:lpstr>PowerPoint 演示文稿</vt:lpstr>
      <vt:lpstr>PowerPoint 演示文稿</vt:lpstr>
      <vt:lpstr>PowerPoint 演示文稿</vt:lpstr>
      <vt:lpstr>3.6.2死锁的处理策略</vt:lpstr>
      <vt:lpstr>3.6.2死锁的处理策略</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安全状态举例</vt:lpstr>
      <vt:lpstr>PowerPoint 演示文稿</vt:lpstr>
      <vt:lpstr>PowerPoint 演示文稿</vt:lpstr>
      <vt:lpstr>系统进入不安全状态</vt:lpstr>
      <vt:lpstr>由安全状态向不安全状态的转换</vt:lpstr>
      <vt:lpstr>PowerPoint 演示文稿</vt:lpstr>
      <vt:lpstr>银行家算法</vt:lpstr>
      <vt:lpstr>银行家算法的基本思想</vt:lpstr>
      <vt:lpstr>PowerPoint 演示文稿</vt:lpstr>
      <vt:lpstr>可以看出：</vt:lpstr>
      <vt:lpstr>3.6.2死锁的处理策略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第三章  进程管理</vt:lpstr>
      <vt:lpstr>3.7  线 程 </vt:lpstr>
      <vt:lpstr>3.7.1 线程的概念</vt:lpstr>
      <vt:lpstr>PowerPoint 演示文稿</vt:lpstr>
      <vt:lpstr>线程(Thread)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3.7.2 线程与进程</vt:lpstr>
      <vt:lpstr>线程的主要属性</vt:lpstr>
      <vt:lpstr>线程的主要属性</vt:lpstr>
      <vt:lpstr>线程与进程的比较</vt:lpstr>
      <vt:lpstr>PowerPoint 演示文稿</vt:lpstr>
      <vt:lpstr>PowerPoint 演示文稿</vt:lpstr>
      <vt:lpstr>PowerPoint 演示文稿</vt:lpstr>
      <vt:lpstr>3.7.3 线程的实现方式</vt:lpstr>
      <vt:lpstr>用户级线程（User Level Thread）</vt:lpstr>
      <vt:lpstr>用户级线程（User Level Thread）</vt:lpstr>
      <vt:lpstr>核心级线程（Kernel Level Thread）</vt:lpstr>
      <vt:lpstr>比较</vt:lpstr>
      <vt:lpstr>PowerPoint 演示文稿</vt:lpstr>
      <vt:lpstr>PowerPoint 演示文稿</vt:lpstr>
      <vt:lpstr>第三章  进程管理</vt:lpstr>
    </vt:vector>
  </TitlesOfParts>
  <Company>sxu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进程管理</dc:title>
  <dc:creator>zx</dc:creator>
  <cp:lastModifiedBy>霞 张</cp:lastModifiedBy>
  <cp:revision>82</cp:revision>
  <dcterms:created xsi:type="dcterms:W3CDTF">2004-09-14T05:20:49Z</dcterms:created>
  <dcterms:modified xsi:type="dcterms:W3CDTF">2025-10-12T09:17:18Z</dcterms:modified>
</cp:coreProperties>
</file>