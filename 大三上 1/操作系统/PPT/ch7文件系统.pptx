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 id="2147483665" r:id="rId3"/>
  </p:sldMasterIdLst>
  <p:notesMasterIdLst>
    <p:notesMasterId r:id="rId109"/>
  </p:notesMasterIdLst>
  <p:handoutMasterIdLst>
    <p:handoutMasterId r:id="rId110"/>
  </p:handoutMasterIdLst>
  <p:sldIdLst>
    <p:sldId id="668" r:id="rId4"/>
    <p:sldId id="273" r:id="rId5"/>
    <p:sldId id="670" r:id="rId6"/>
    <p:sldId id="274" r:id="rId7"/>
    <p:sldId id="275" r:id="rId8"/>
    <p:sldId id="277" r:id="rId9"/>
    <p:sldId id="679" r:id="rId10"/>
    <p:sldId id="729" r:id="rId11"/>
    <p:sldId id="730" r:id="rId12"/>
    <p:sldId id="1077" r:id="rId13"/>
    <p:sldId id="927" r:id="rId14"/>
    <p:sldId id="928" r:id="rId15"/>
    <p:sldId id="929" r:id="rId16"/>
    <p:sldId id="930" r:id="rId17"/>
    <p:sldId id="931" r:id="rId18"/>
    <p:sldId id="932" r:id="rId19"/>
    <p:sldId id="933" r:id="rId20"/>
    <p:sldId id="680" r:id="rId21"/>
    <p:sldId id="681" r:id="rId22"/>
    <p:sldId id="682" r:id="rId23"/>
    <p:sldId id="1069" r:id="rId24"/>
    <p:sldId id="672" r:id="rId25"/>
    <p:sldId id="739" r:id="rId26"/>
    <p:sldId id="745" r:id="rId27"/>
    <p:sldId id="740" r:id="rId28"/>
    <p:sldId id="741" r:id="rId29"/>
    <p:sldId id="742" r:id="rId30"/>
    <p:sldId id="743" r:id="rId31"/>
    <p:sldId id="744" r:id="rId32"/>
    <p:sldId id="926" r:id="rId33"/>
    <p:sldId id="749" r:id="rId34"/>
    <p:sldId id="748" r:id="rId35"/>
    <p:sldId id="1070" r:id="rId36"/>
    <p:sldId id="673" r:id="rId37"/>
    <p:sldId id="751" r:id="rId38"/>
    <p:sldId id="703" r:id="rId39"/>
    <p:sldId id="306" r:id="rId40"/>
    <p:sldId id="704" r:id="rId41"/>
    <p:sldId id="752" r:id="rId42"/>
    <p:sldId id="312" r:id="rId43"/>
    <p:sldId id="705" r:id="rId44"/>
    <p:sldId id="314" r:id="rId45"/>
    <p:sldId id="315" r:id="rId46"/>
    <p:sldId id="316" r:id="rId47"/>
    <p:sldId id="318" r:id="rId48"/>
    <p:sldId id="317" r:id="rId49"/>
    <p:sldId id="706" r:id="rId50"/>
    <p:sldId id="754" r:id="rId51"/>
    <p:sldId id="707" r:id="rId52"/>
    <p:sldId id="1079" r:id="rId53"/>
    <p:sldId id="1078" r:id="rId54"/>
    <p:sldId id="1080" r:id="rId55"/>
    <p:sldId id="305" r:id="rId56"/>
    <p:sldId id="328" r:id="rId57"/>
    <p:sldId id="336" r:id="rId58"/>
    <p:sldId id="411" r:id="rId59"/>
    <p:sldId id="1071" r:id="rId60"/>
    <p:sldId id="674" r:id="rId61"/>
    <p:sldId id="699" r:id="rId62"/>
    <p:sldId id="755" r:id="rId63"/>
    <p:sldId id="756" r:id="rId64"/>
    <p:sldId id="701" r:id="rId65"/>
    <p:sldId id="700" r:id="rId66"/>
    <p:sldId id="758" r:id="rId67"/>
    <p:sldId id="761" r:id="rId68"/>
    <p:sldId id="1072" r:id="rId69"/>
    <p:sldId id="675" r:id="rId70"/>
    <p:sldId id="351" r:id="rId71"/>
    <p:sldId id="776" r:id="rId72"/>
    <p:sldId id="777" r:id="rId73"/>
    <p:sldId id="778" r:id="rId74"/>
    <p:sldId id="1034" r:id="rId75"/>
    <p:sldId id="356" r:id="rId76"/>
    <p:sldId id="1035" r:id="rId77"/>
    <p:sldId id="445" r:id="rId78"/>
    <p:sldId id="1037" r:id="rId79"/>
    <p:sldId id="1032" r:id="rId80"/>
    <p:sldId id="781" r:id="rId81"/>
    <p:sldId id="1033" r:id="rId82"/>
    <p:sldId id="783" r:id="rId83"/>
    <p:sldId id="1073" r:id="rId84"/>
    <p:sldId id="676" r:id="rId85"/>
    <p:sldId id="696" r:id="rId86"/>
    <p:sldId id="1038" r:id="rId87"/>
    <p:sldId id="1051" r:id="rId88"/>
    <p:sldId id="1054" r:id="rId89"/>
    <p:sldId id="1057" r:id="rId90"/>
    <p:sldId id="1059" r:id="rId91"/>
    <p:sldId id="1040" r:id="rId92"/>
    <p:sldId id="1042" r:id="rId93"/>
    <p:sldId id="1044" r:id="rId94"/>
    <p:sldId id="1045" r:id="rId95"/>
    <p:sldId id="1047" r:id="rId96"/>
    <p:sldId id="1048" r:id="rId97"/>
    <p:sldId id="1074" r:id="rId98"/>
    <p:sldId id="1068" r:id="rId99"/>
    <p:sldId id="762" r:id="rId100"/>
    <p:sldId id="763" r:id="rId101"/>
    <p:sldId id="764" r:id="rId102"/>
    <p:sldId id="793" r:id="rId103"/>
    <p:sldId id="794" r:id="rId104"/>
    <p:sldId id="1075" r:id="rId105"/>
    <p:sldId id="678" r:id="rId106"/>
    <p:sldId id="766" r:id="rId107"/>
    <p:sldId id="1076" r:id="rId108"/>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18">
          <p15:clr>
            <a:srgbClr val="A4A3A4"/>
          </p15:clr>
        </p15:guide>
        <p15:guide id="2" pos="2862">
          <p15:clr>
            <a:srgbClr val="A4A3A4"/>
          </p15:clr>
        </p15:guide>
        <p15:guide id="3" pos="669">
          <p15:clr>
            <a:srgbClr val="A4A3A4"/>
          </p15:clr>
        </p15:guide>
      </p15:sldGuideLst>
    </p:ext>
    <p:ext uri="{2D200454-40CA-4A62-9FC3-DE9A4176ACB9}">
      <p15:notesGuideLst xmlns:p15="http://schemas.microsoft.com/office/powerpoint/2012/main">
        <p15:guide id="1" orient="horz" pos="3055">
          <p15:clr>
            <a:srgbClr val="A4A3A4"/>
          </p15:clr>
        </p15:guide>
        <p15:guide id="2" pos="214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576A"/>
    <a:srgbClr val="0EB1C8"/>
    <a:srgbClr val="CCFFFF"/>
    <a:srgbClr val="33FFFF"/>
    <a:srgbClr val="FFF9B1"/>
    <a:srgbClr val="FDD000"/>
    <a:srgbClr val="CC66FF"/>
    <a:srgbClr val="330033"/>
    <a:srgbClr val="FFCC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176" autoAdjust="0"/>
    <p:restoredTop sz="83758" autoAdjust="0"/>
  </p:normalViewPr>
  <p:slideViewPr>
    <p:cSldViewPr>
      <p:cViewPr varScale="1">
        <p:scale>
          <a:sx n="64" d="100"/>
          <a:sy n="64" d="100"/>
        </p:scale>
        <p:origin x="86" y="638"/>
      </p:cViewPr>
      <p:guideLst>
        <p:guide orient="horz" pos="1718"/>
        <p:guide pos="2862"/>
        <p:guide pos="669"/>
      </p:guideLst>
    </p:cSldViewPr>
  </p:slideViewPr>
  <p:notesTextViewPr>
    <p:cViewPr>
      <p:scale>
        <a:sx n="150" d="100"/>
        <a:sy n="150" d="100"/>
      </p:scale>
      <p:origin x="0" y="0"/>
    </p:cViewPr>
  </p:notesTextViewPr>
  <p:sorterViewPr>
    <p:cViewPr>
      <p:scale>
        <a:sx n="66" d="100"/>
        <a:sy n="66" d="100"/>
      </p:scale>
      <p:origin x="0" y="492"/>
    </p:cViewPr>
  </p:sorterViewPr>
  <p:notesViewPr>
    <p:cSldViewPr showGuides="1">
      <p:cViewPr varScale="1">
        <p:scale>
          <a:sx n="52" d="100"/>
          <a:sy n="52" d="100"/>
        </p:scale>
        <p:origin x="-2844" y="-84"/>
      </p:cViewPr>
      <p:guideLst>
        <p:guide orient="horz" pos="3055"/>
        <p:guide pos="214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viewProps" Target="viewProps.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theme" Target="theme/theme1.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14"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notesMaster" Target="notesMasters/notesMaster1.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handoutMaster" Target="handoutMasters/handoutMaster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3903832-870B-4643-8505-26E0ADE03C8D}" type="datetimeFigureOut">
              <a:rPr lang="zh-CN" altLang="en-US" smtClean="0"/>
              <a:t>2025/11/17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8BBD128-3B8A-468C-AB86-A1A478E9457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36DA51D-4080-4BB4-AD44-5F30D51FDB3C}" type="datetimeFigureOut">
              <a:rPr lang="zh-CN" altLang="en-US" smtClean="0"/>
              <a:t>2025/11/17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079FEAC-2858-416F-A4F6-E1735B75229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sz="1200" b="0" strike="noStrike" noProof="1">
              <a:solidFill>
                <a:srgbClr val="FF0000"/>
              </a:solidFill>
              <a:latin typeface="Times New Roman" panose="02020603050405020304" charset="0"/>
            </a:endParaRPr>
          </a:p>
          <a:p>
            <a:pPr marL="0" marR="0" lvl="1" indent="0" algn="l" defTabSz="914400" rtl="0" eaLnBrk="1" fontAlgn="auto" latinLnBrk="0" hangingPunct="1">
              <a:lnSpc>
                <a:spcPct val="100000"/>
              </a:lnSpc>
              <a:spcBef>
                <a:spcPts val="0"/>
              </a:spcBef>
              <a:spcAft>
                <a:spcPts val="0"/>
              </a:spcAft>
              <a:buClrTx/>
              <a:buSzTx/>
              <a:buFontTx/>
              <a:buNone/>
              <a:defRPr/>
            </a:pPr>
            <a:r>
              <a:rPr lang="zh-CN" altLang="en-US" dirty="0"/>
              <a:t>数据库系统也是一个大型文件系统，</a:t>
            </a:r>
            <a:r>
              <a:rPr lang="zh-CN" altLang="en-US" sz="1200" dirty="0"/>
              <a:t>不必了解文件在什么地方，我只需要指出用什么数据。按内容存取。</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a:p>
            <a:endParaRPr lang="zh-CN" altLang="en-US" b="0"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7</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b="1" noProof="1">
                <a:solidFill>
                  <a:srgbClr val="11576A"/>
                </a:solidFill>
                <a:latin typeface="微软雅黑" panose="020B0503020204020204" pitchFamily="34" charset="-122"/>
                <a:ea typeface="微软雅黑" panose="020B0503020204020204" pitchFamily="34" charset="-122"/>
              </a:rPr>
              <a:t>文件的分类主要是便于系统对不同的文件进行不同的管理，从而提高处理速度和起到保护与共享的作用。</a:t>
            </a:r>
          </a:p>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9</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18</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21</a:t>
            </a:fld>
            <a:endParaRPr lang="zh-CN" altLang="en-US"/>
          </a:p>
        </p:txBody>
      </p:sp>
    </p:spTree>
    <p:extLst>
      <p:ext uri="{BB962C8B-B14F-4D97-AF65-F5344CB8AC3E}">
        <p14:creationId xmlns:p14="http://schemas.microsoft.com/office/powerpoint/2010/main" val="1406577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33</a:t>
            </a:fld>
            <a:endParaRPr lang="zh-CN" altLang="en-US"/>
          </a:p>
        </p:txBody>
      </p:sp>
    </p:spTree>
    <p:extLst>
      <p:ext uri="{BB962C8B-B14F-4D97-AF65-F5344CB8AC3E}">
        <p14:creationId xmlns:p14="http://schemas.microsoft.com/office/powerpoint/2010/main" val="16929980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36</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38</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41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47</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a:t>单一索引表结构已无法满足灵活性和节省内存的要求， 为此引出多重索引结构</a:t>
            </a:r>
            <a:r>
              <a:rPr lang="en-US" altLang="zh-CN" sz="1200" dirty="0"/>
              <a:t>(</a:t>
            </a:r>
            <a:r>
              <a:rPr lang="zh-CN" altLang="en-US" sz="1200" dirty="0"/>
              <a:t>又称多级索引结构</a:t>
            </a:r>
            <a:r>
              <a:rPr lang="en-US" altLang="zh-CN" sz="1200" dirty="0"/>
              <a:t>)</a:t>
            </a:r>
            <a:r>
              <a:rPr lang="zh-CN" altLang="en-US" sz="1200" dirty="0"/>
              <a:t>。 在这种结构中采用了间接索引方式，由最初索引项中得到某一盘块号，该块中存放的信息是另一组盘块号； 而后者每一块中又可存放下一组盘块号</a:t>
            </a:r>
            <a:r>
              <a:rPr lang="en-US" altLang="zh-CN" sz="1200" dirty="0"/>
              <a:t>(</a:t>
            </a:r>
            <a:r>
              <a:rPr lang="zh-CN" altLang="en-US" sz="1200" dirty="0"/>
              <a:t>或者是文件本身信息</a:t>
            </a:r>
            <a:r>
              <a:rPr lang="en-US" altLang="zh-CN" sz="1200" dirty="0"/>
              <a:t>)</a:t>
            </a:r>
            <a:r>
              <a:rPr lang="zh-CN" altLang="en-US" sz="1200" dirty="0"/>
              <a:t>， 这样间接几级</a:t>
            </a:r>
            <a:r>
              <a:rPr lang="en-US" altLang="zh-CN" sz="1200" dirty="0"/>
              <a:t>(</a:t>
            </a:r>
            <a:r>
              <a:rPr lang="zh-CN" altLang="en-US" sz="1200" dirty="0"/>
              <a:t>通常为</a:t>
            </a:r>
            <a:r>
              <a:rPr lang="en-US" altLang="zh-CN" sz="1200" dirty="0"/>
              <a:t>1</a:t>
            </a:r>
            <a:r>
              <a:rPr lang="zh-CN" altLang="en-US" sz="1200" dirty="0"/>
              <a:t>～</a:t>
            </a:r>
            <a:r>
              <a:rPr lang="en-US" altLang="zh-CN" sz="1200" dirty="0"/>
              <a:t>3</a:t>
            </a:r>
            <a:r>
              <a:rPr lang="zh-CN" altLang="en-US" sz="1200" dirty="0"/>
              <a:t>级</a:t>
            </a:r>
            <a:r>
              <a:rPr lang="en-US" altLang="zh-CN" sz="1200" dirty="0"/>
              <a:t>)</a:t>
            </a:r>
            <a:r>
              <a:rPr lang="zh-CN" altLang="en-US" sz="1200" dirty="0"/>
              <a:t>， 最末尾的盘块中存放的信息一定是文件内容。</a:t>
            </a:r>
            <a:endParaRPr lang="en-US" altLang="zh-CN" sz="1200" dirty="0"/>
          </a:p>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49</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79FEAC-2858-416F-A4F6-E1735B75229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76936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rgbClr val="11576A"/>
                </a:solidFill>
                <a:latin typeface="微软雅黑" panose="020B0503020204020204" pitchFamily="34" charset="-122"/>
                <a:ea typeface="微软雅黑" panose="020B0503020204020204" pitchFamily="34" charset="-122"/>
              </a:rPr>
              <a:t>用一种链结构把所有空闲块链接在一起</a:t>
            </a:r>
          </a:p>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61</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成组链法</a:t>
            </a:r>
          </a:p>
        </p:txBody>
      </p:sp>
      <p:sp>
        <p:nvSpPr>
          <p:cNvPr id="4" name="灯片编号占位符 3"/>
          <p:cNvSpPr>
            <a:spLocks noGrp="1"/>
          </p:cNvSpPr>
          <p:nvPr>
            <p:ph type="sldNum" sz="quarter" idx="10"/>
          </p:nvPr>
        </p:nvSpPr>
        <p:spPr/>
        <p:txBody>
          <a:bodyPr/>
          <a:lstStyle/>
          <a:p>
            <a:fld id="{9079FEAC-2858-416F-A4F6-E1735B752296}" type="slidenum">
              <a:rPr lang="zh-CN" altLang="en-US" smtClean="0"/>
              <a:t>62</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dirty="0"/>
              <a:t>前两种方法在分配和回收空闲块时，都需要在文件存储设备上查找空闲文件目录项或链接块号，必须经过设备管理程序启动外设才能完成，为了提高空闲块的分配回收速度，可以使用位示图的方法</a:t>
            </a:r>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63</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66</a:t>
            </a:fld>
            <a:endParaRPr lang="zh-CN" altLang="en-US"/>
          </a:p>
        </p:txBody>
      </p:sp>
    </p:spTree>
    <p:extLst>
      <p:ext uri="{BB962C8B-B14F-4D97-AF65-F5344CB8AC3E}">
        <p14:creationId xmlns:p14="http://schemas.microsoft.com/office/powerpoint/2010/main" val="42570920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zh-CN" altLang="en-US" b="1" dirty="0">
                <a:solidFill>
                  <a:srgbClr val="404040"/>
                </a:solidFill>
                <a:sym typeface="+mn-ea"/>
              </a:rPr>
              <a:t>为了有效地利用存储空间以及迅速准确地完成由文件名到文件物理块的转换，必须把文件名及其结构信息等按一定的组织结构排列，以方便文件的搜索。</a:t>
            </a:r>
            <a:endParaRPr lang="en-US"/>
          </a:p>
        </p:txBody>
      </p:sp>
      <p:sp>
        <p:nvSpPr>
          <p:cNvPr id="4" name="Slide Number Placeholder 3"/>
          <p:cNvSpPr>
            <a:spLocks noGrp="1"/>
          </p:cNvSpPr>
          <p:nvPr>
            <p:ph type="sldNum" sz="quarter" idx="5"/>
          </p:nvPr>
        </p:nvSpPr>
        <p:spPr/>
        <p:txBody>
          <a:bodyPr/>
          <a:lstStyle/>
          <a:p>
            <a:fld id="{9079FEAC-2858-416F-A4F6-E1735B752296}" type="slidenum">
              <a:rPr lang="zh-CN" altLang="en-US" smtClean="0"/>
              <a:t>69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9079FEAC-2858-416F-A4F6-E1735B752296}" type="slidenum">
              <a:rPr lang="zh-CN" altLang="en-US" smtClean="0"/>
              <a:t>74</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81</a:t>
            </a:fld>
            <a:endParaRPr lang="zh-CN" altLang="en-US"/>
          </a:p>
        </p:txBody>
      </p:sp>
    </p:spTree>
    <p:extLst>
      <p:ext uri="{BB962C8B-B14F-4D97-AF65-F5344CB8AC3E}">
        <p14:creationId xmlns:p14="http://schemas.microsoft.com/office/powerpoint/2010/main" val="2836201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a:t>对于某一个公用文件，如果每个用户都在文件系统内保留了一份该文件的副本，将浪费存储空间，如果系统提供了共享，则在存储设备上只需存储一个文件副本</a:t>
            </a:r>
            <a:endParaRPr lang="en-US" altLang="zh-CN" sz="1200" dirty="0"/>
          </a:p>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83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pPr eaLnBrk="1" hangingPunct="1"/>
            <a:r>
              <a:rPr lang="zh-CN" altLang="en-US" b="1" dirty="0">
                <a:solidFill>
                  <a:srgbClr val="11576A"/>
                </a:solidFill>
                <a:latin typeface="微软雅黑" panose="020B0503020204020204" pitchFamily="34" charset="-122"/>
                <a:ea typeface="微软雅黑" panose="020B0503020204020204" pitchFamily="34" charset="-122"/>
                <a:sym typeface="+mn-ea"/>
              </a:rPr>
              <a:t>如果用户要共享某个文件，则只需要给出被共享的文件名，系统就会自动在SDF的有关文件处生成与被共享文件相同的内部标示符id</a:t>
            </a:r>
            <a:endParaRPr lang="zh-CN" altLang="en-US" b="1" dirty="0">
              <a:solidFill>
                <a:srgbClr val="11576A"/>
              </a:solidFill>
              <a:latin typeface="微软雅黑" panose="020B0503020204020204" pitchFamily="34" charset="-122"/>
              <a:ea typeface="微软雅黑" panose="020B0503020204020204" pitchFamily="34" charset="-122"/>
            </a:endParaRPr>
          </a:p>
          <a:p>
            <a:pPr eaLnBrk="1" hangingPunct="1"/>
            <a:r>
              <a:rPr lang="zh-CN" altLang="en-US" b="1" dirty="0">
                <a:solidFill>
                  <a:srgbClr val="11576A"/>
                </a:solidFill>
                <a:latin typeface="微软雅黑" panose="020B0503020204020204" pitchFamily="34" charset="-122"/>
                <a:ea typeface="微软雅黑" panose="020B0503020204020204" pitchFamily="34" charset="-122"/>
                <a:sym typeface="+mn-ea"/>
              </a:rPr>
              <a:t>Zhang以符号名Alpha而Wang以符号名Beta共享具有惟一标志符ID=6的文件</a:t>
            </a:r>
            <a:endParaRPr lang="zh-CN" altLang="en-US" b="1" dirty="0">
              <a:solidFill>
                <a:srgbClr val="11576A"/>
              </a:solidFill>
              <a:latin typeface="微软雅黑" panose="020B0503020204020204" pitchFamily="34" charset="-122"/>
              <a:ea typeface="微软雅黑" panose="020B0503020204020204" pitchFamily="34" charset="-122"/>
            </a:endParaRPr>
          </a:p>
          <a:p>
            <a:endParaRPr lang="en-US"/>
          </a:p>
        </p:txBody>
      </p:sp>
      <p:sp>
        <p:nvSpPr>
          <p:cNvPr id="4" name="Slide Number Placeholder 3"/>
          <p:cNvSpPr>
            <a:spLocks noGrp="1"/>
          </p:cNvSpPr>
          <p:nvPr>
            <p:ph type="sldNum" sz="quarter" idx="5"/>
          </p:nvPr>
        </p:nvSpPr>
        <p:spPr/>
        <p:txBody>
          <a:bodyPr/>
          <a:lstStyle/>
          <a:p>
            <a:fld id="{9079FEAC-2858-416F-A4F6-E1735B752296}" type="slidenum">
              <a:rPr lang="zh-CN" altLang="en-US" smtClean="0"/>
              <a:t>85</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9079FEAC-2858-416F-A4F6-E1735B752296}" type="slidenum">
              <a:rPr lang="zh-CN" altLang="en-US" smtClean="0"/>
              <a:t>89</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95</a:t>
            </a:fld>
            <a:endParaRPr lang="zh-CN" altLang="en-US"/>
          </a:p>
        </p:txBody>
      </p:sp>
    </p:spTree>
    <p:extLst>
      <p:ext uri="{BB962C8B-B14F-4D97-AF65-F5344CB8AC3E}">
        <p14:creationId xmlns:p14="http://schemas.microsoft.com/office/powerpoint/2010/main" val="1590567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102</a:t>
            </a:fld>
            <a:endParaRPr lang="zh-CN" altLang="en-US"/>
          </a:p>
        </p:txBody>
      </p:sp>
    </p:spTree>
    <p:extLst>
      <p:ext uri="{BB962C8B-B14F-4D97-AF65-F5344CB8AC3E}">
        <p14:creationId xmlns:p14="http://schemas.microsoft.com/office/powerpoint/2010/main" val="25271332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t>105</a:t>
            </a:fld>
            <a:endParaRPr lang="zh-CN" altLang="en-US"/>
          </a:p>
        </p:txBody>
      </p:sp>
    </p:spTree>
    <p:extLst>
      <p:ext uri="{BB962C8B-B14F-4D97-AF65-F5344CB8AC3E}">
        <p14:creationId xmlns:p14="http://schemas.microsoft.com/office/powerpoint/2010/main" val="3376076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3级标题">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571472" y="3857634"/>
            <a:ext cx="720000" cy="720000"/>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矩形 3"/>
          <p:cNvSpPr/>
          <p:nvPr userDrawn="1"/>
        </p:nvSpPr>
        <p:spPr>
          <a:xfrm>
            <a:off x="928662" y="1643056"/>
            <a:ext cx="720000" cy="720000"/>
          </a:xfrm>
          <a:prstGeom prst="rect">
            <a:avLst/>
          </a:prstGeom>
          <a:gradFill>
            <a:gsLst>
              <a:gs pos="100000">
                <a:srgbClr val="11576A"/>
              </a:gs>
              <a:gs pos="0">
                <a:srgbClr val="0EB1C8"/>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矩形 4"/>
          <p:cNvSpPr/>
          <p:nvPr userDrawn="1"/>
        </p:nvSpPr>
        <p:spPr>
          <a:xfrm>
            <a:off x="1000100" y="785800"/>
            <a:ext cx="720000" cy="720000"/>
          </a:xfrm>
          <a:prstGeom prst="rect">
            <a:avLst/>
          </a:prstGeom>
          <a:gradFill>
            <a:gsLst>
              <a:gs pos="100000">
                <a:srgbClr val="005072"/>
              </a:gs>
              <a:gs pos="0">
                <a:srgbClr val="0093DD"/>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矩形 5"/>
          <p:cNvSpPr/>
          <p:nvPr userDrawn="1"/>
        </p:nvSpPr>
        <p:spPr>
          <a:xfrm>
            <a:off x="7500958" y="1851750"/>
            <a:ext cx="720000" cy="720000"/>
          </a:xfrm>
          <a:prstGeom prst="rect">
            <a:avLst/>
          </a:prstGeom>
          <a:gradFill>
            <a:gsLst>
              <a:gs pos="100000">
                <a:srgbClr val="FDD000"/>
              </a:gs>
              <a:gs pos="0">
                <a:srgbClr val="FFF9B1"/>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矩形 6"/>
          <p:cNvSpPr/>
          <p:nvPr userDrawn="1"/>
        </p:nvSpPr>
        <p:spPr>
          <a:xfrm>
            <a:off x="928662" y="2714626"/>
            <a:ext cx="720000" cy="720000"/>
          </a:xfrm>
          <a:prstGeom prst="rect">
            <a:avLst/>
          </a:prstGeom>
          <a:gradFill>
            <a:gsLst>
              <a:gs pos="100000">
                <a:srgbClr val="33FFFF"/>
              </a:gs>
              <a:gs pos="0">
                <a:srgbClr val="99FFFF"/>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矩形 7"/>
          <p:cNvSpPr/>
          <p:nvPr userDrawn="1"/>
        </p:nvSpPr>
        <p:spPr>
          <a:xfrm>
            <a:off x="2428860" y="785800"/>
            <a:ext cx="720000" cy="720000"/>
          </a:xfrm>
          <a:prstGeom prst="rect">
            <a:avLst/>
          </a:prstGeom>
          <a:gradFill>
            <a:gsLst>
              <a:gs pos="100000">
                <a:srgbClr val="339900"/>
              </a:gs>
              <a:gs pos="0">
                <a:srgbClr val="CCFF99"/>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矩形 8"/>
          <p:cNvSpPr/>
          <p:nvPr userDrawn="1"/>
        </p:nvSpPr>
        <p:spPr>
          <a:xfrm>
            <a:off x="7500958" y="785800"/>
            <a:ext cx="720000" cy="720000"/>
          </a:xfrm>
          <a:prstGeom prst="rect">
            <a:avLst/>
          </a:prstGeom>
          <a:gradFill>
            <a:gsLst>
              <a:gs pos="100000">
                <a:srgbClr val="FF9900"/>
              </a:gs>
              <a:gs pos="0">
                <a:srgbClr val="FFCC66"/>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矩形 9"/>
          <p:cNvSpPr/>
          <p:nvPr userDrawn="1"/>
        </p:nvSpPr>
        <p:spPr>
          <a:xfrm>
            <a:off x="6357950" y="785800"/>
            <a:ext cx="720000" cy="720000"/>
          </a:xfrm>
          <a:prstGeom prst="rect">
            <a:avLst/>
          </a:prstGeom>
          <a:gradFill>
            <a:gsLst>
              <a:gs pos="100000">
                <a:srgbClr val="330033"/>
              </a:gs>
              <a:gs pos="0">
                <a:srgbClr val="CC66FF"/>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矩形 10"/>
          <p:cNvSpPr/>
          <p:nvPr userDrawn="1"/>
        </p:nvSpPr>
        <p:spPr>
          <a:xfrm>
            <a:off x="4572000" y="2857502"/>
            <a:ext cx="720000" cy="720000"/>
          </a:xfrm>
          <a:prstGeom prst="rect">
            <a:avLst/>
          </a:prstGeom>
          <a:gradFill>
            <a:gsLst>
              <a:gs pos="100000">
                <a:srgbClr val="666666"/>
              </a:gs>
              <a:gs pos="0">
                <a:srgbClr val="CCCCCC"/>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矩形 12"/>
          <p:cNvSpPr/>
          <p:nvPr userDrawn="1"/>
        </p:nvSpPr>
        <p:spPr>
          <a:xfrm>
            <a:off x="6000760" y="2857502"/>
            <a:ext cx="720000" cy="720000"/>
          </a:xfrm>
          <a:prstGeom prst="rect">
            <a:avLst/>
          </a:prstGeom>
          <a:gradFill>
            <a:gsLst>
              <a:gs pos="100000">
                <a:srgbClr val="666666"/>
              </a:gs>
              <a:gs pos="0">
                <a:srgbClr val="CCCCCC"/>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41DCB41D-39A2-40DE-BFB0-A73B8E9A6724}" type="datetimeFigureOut">
              <a:rPr lang="zh-CN" altLang="en-US"/>
              <a:t>2025/11/17</a:t>
            </a:fld>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C1152445-1FD3-4E2A-A853-371A9F702701}" type="slidenum">
              <a:rPr lang="zh-CN" altLang="en-US"/>
              <a:t>‹#›</a:t>
            </a:fld>
            <a:endParaRPr lang="zh-CN" altLang="en-US"/>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25282" name="Group 2">
            <a:extLst>
              <a:ext uri="{FF2B5EF4-FFF2-40B4-BE49-F238E27FC236}">
                <a16:creationId xmlns:a16="http://schemas.microsoft.com/office/drawing/2014/main" id="{D44A0816-795B-49ED-8342-3D13C64EA166}"/>
              </a:ext>
            </a:extLst>
          </p:cNvPr>
          <p:cNvGrpSpPr>
            <a:grpSpLocks/>
          </p:cNvGrpSpPr>
          <p:nvPr/>
        </p:nvGrpSpPr>
        <p:grpSpPr bwMode="auto">
          <a:xfrm>
            <a:off x="0" y="0"/>
            <a:ext cx="9144000" cy="5142310"/>
            <a:chOff x="0" y="0"/>
            <a:chExt cx="5760" cy="4319"/>
          </a:xfrm>
        </p:grpSpPr>
        <p:sp>
          <p:nvSpPr>
            <p:cNvPr id="225283" name="Freeform 3">
              <a:extLst>
                <a:ext uri="{FF2B5EF4-FFF2-40B4-BE49-F238E27FC236}">
                  <a16:creationId xmlns:a16="http://schemas.microsoft.com/office/drawing/2014/main" id="{7080D728-0890-46CA-ABB1-FAFD00A8B32A}"/>
                </a:ext>
              </a:extLst>
            </p:cNvPr>
            <p:cNvSpPr>
              <a:spLocks/>
            </p:cNvSpPr>
            <p:nvPr/>
          </p:nvSpPr>
          <p:spPr bwMode="hidden">
            <a:xfrm>
              <a:off x="0" y="12"/>
              <a:ext cx="5758" cy="3273"/>
            </a:xfrm>
            <a:custGeom>
              <a:avLst/>
              <a:gdLst>
                <a:gd name="T0" fmla="*/ 3193 w 5740"/>
                <a:gd name="T1" fmla="*/ 1816 h 3273"/>
                <a:gd name="T2" fmla="*/ 0 w 5740"/>
                <a:gd name="T3" fmla="*/ 0 h 3273"/>
                <a:gd name="T4" fmla="*/ 0 w 5740"/>
                <a:gd name="T5" fmla="*/ 522 h 3273"/>
                <a:gd name="T6" fmla="*/ 3037 w 5740"/>
                <a:gd name="T7" fmla="*/ 1978 h 3273"/>
                <a:gd name="T8" fmla="*/ 5740 w 5740"/>
                <a:gd name="T9" fmla="*/ 3273 h 3273"/>
                <a:gd name="T10" fmla="*/ 5740 w 5740"/>
                <a:gd name="T11" fmla="*/ 3267 h 3273"/>
                <a:gd name="T12" fmla="*/ 3193 w 5740"/>
                <a:gd name="T13" fmla="*/ 1816 h 3273"/>
                <a:gd name="T14" fmla="*/ 3193 w 5740"/>
                <a:gd name="T15" fmla="*/ 1816 h 32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chemeClr val="bg2">
                    <a:gamma/>
                    <a:shade val="63529"/>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84" name="Freeform 4">
              <a:extLst>
                <a:ext uri="{FF2B5EF4-FFF2-40B4-BE49-F238E27FC236}">
                  <a16:creationId xmlns:a16="http://schemas.microsoft.com/office/drawing/2014/main" id="{830CB431-A0AD-48CA-A29D-048FD36672CA}"/>
                </a:ext>
              </a:extLst>
            </p:cNvPr>
            <p:cNvSpPr>
              <a:spLocks/>
            </p:cNvSpPr>
            <p:nvPr/>
          </p:nvSpPr>
          <p:spPr bwMode="hidden">
            <a:xfrm>
              <a:off x="149" y="0"/>
              <a:ext cx="5609" cy="3243"/>
            </a:xfrm>
            <a:custGeom>
              <a:avLst/>
              <a:gdLst>
                <a:gd name="T0" fmla="*/ 3163 w 5591"/>
                <a:gd name="T1" fmla="*/ 1714 h 3243"/>
                <a:gd name="T2" fmla="*/ 431 w 5591"/>
                <a:gd name="T3" fmla="*/ 0 h 3243"/>
                <a:gd name="T4" fmla="*/ 0 w 5591"/>
                <a:gd name="T5" fmla="*/ 0 h 3243"/>
                <a:gd name="T6" fmla="*/ 3086 w 5591"/>
                <a:gd name="T7" fmla="*/ 1786 h 3243"/>
                <a:gd name="T8" fmla="*/ 5591 w 5591"/>
                <a:gd name="T9" fmla="*/ 3243 h 3243"/>
                <a:gd name="T10" fmla="*/ 5591 w 5591"/>
                <a:gd name="T11" fmla="*/ 3237 h 3243"/>
                <a:gd name="T12" fmla="*/ 3163 w 5591"/>
                <a:gd name="T13" fmla="*/ 1714 h 3243"/>
                <a:gd name="T14" fmla="*/ 3163 w 5591"/>
                <a:gd name="T15" fmla="*/ 1714 h 32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chemeClr val="bg1">
                    <a:gamma/>
                    <a:shade val="6078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85" name="Freeform 5">
              <a:extLst>
                <a:ext uri="{FF2B5EF4-FFF2-40B4-BE49-F238E27FC236}">
                  <a16:creationId xmlns:a16="http://schemas.microsoft.com/office/drawing/2014/main" id="{6A6D6A89-E86A-49BE-BB4C-E7A1BD4D987F}"/>
                </a:ext>
              </a:extLst>
            </p:cNvPr>
            <p:cNvSpPr>
              <a:spLocks/>
            </p:cNvSpPr>
            <p:nvPr/>
          </p:nvSpPr>
          <p:spPr bwMode="hidden">
            <a:xfrm>
              <a:off x="0" y="3433"/>
              <a:ext cx="4038" cy="191"/>
            </a:xfrm>
            <a:custGeom>
              <a:avLst/>
              <a:gdLst>
                <a:gd name="T0" fmla="*/ 0 w 4042"/>
                <a:gd name="T1" fmla="*/ 156 h 192"/>
                <a:gd name="T2" fmla="*/ 4042 w 4042"/>
                <a:gd name="T3" fmla="*/ 192 h 192"/>
                <a:gd name="T4" fmla="*/ 4042 w 4042"/>
                <a:gd name="T5" fmla="*/ 144 h 192"/>
                <a:gd name="T6" fmla="*/ 0 w 4042"/>
                <a:gd name="T7" fmla="*/ 0 h 192"/>
                <a:gd name="T8" fmla="*/ 0 w 4042"/>
                <a:gd name="T9" fmla="*/ 156 h 192"/>
                <a:gd name="T10" fmla="*/ 0 w 4042"/>
                <a:gd name="T11" fmla="*/ 156 h 192"/>
              </a:gdLst>
              <a:ahLst/>
              <a:cxnLst>
                <a:cxn ang="0">
                  <a:pos x="T0" y="T1"/>
                </a:cxn>
                <a:cxn ang="0">
                  <a:pos x="T2" y="T3"/>
                </a:cxn>
                <a:cxn ang="0">
                  <a:pos x="T4" y="T5"/>
                </a:cxn>
                <a:cxn ang="0">
                  <a:pos x="T6" y="T7"/>
                </a:cxn>
                <a:cxn ang="0">
                  <a:pos x="T8" y="T9"/>
                </a:cxn>
                <a:cxn ang="0">
                  <a:pos x="T10" y="T11"/>
                </a:cxn>
              </a:cxnLst>
              <a:rect l="0" t="0" r="r" b="b"/>
              <a:pathLst>
                <a:path w="4042" h="192">
                  <a:moveTo>
                    <a:pt x="0" y="156"/>
                  </a:moveTo>
                  <a:lnTo>
                    <a:pt x="4042" y="192"/>
                  </a:lnTo>
                  <a:lnTo>
                    <a:pt x="4042" y="144"/>
                  </a:lnTo>
                  <a:lnTo>
                    <a:pt x="0" y="0"/>
                  </a:lnTo>
                  <a:lnTo>
                    <a:pt x="0" y="156"/>
                  </a:lnTo>
                  <a:lnTo>
                    <a:pt x="0" y="156"/>
                  </a:lnTo>
                  <a:close/>
                </a:path>
              </a:pathLst>
            </a:custGeom>
            <a:gradFill rotWithShape="0">
              <a:gsLst>
                <a:gs pos="0">
                  <a:schemeClr val="bg2">
                    <a:gamma/>
                    <a:shade val="75686"/>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86" name="Freeform 6">
              <a:extLst>
                <a:ext uri="{FF2B5EF4-FFF2-40B4-BE49-F238E27FC236}">
                  <a16:creationId xmlns:a16="http://schemas.microsoft.com/office/drawing/2014/main" id="{8633669B-8CD3-4850-A80F-A7F4FC9EC957}"/>
                </a:ext>
              </a:extLst>
            </p:cNvPr>
            <p:cNvSpPr>
              <a:spLocks/>
            </p:cNvSpPr>
            <p:nvPr/>
          </p:nvSpPr>
          <p:spPr bwMode="hidden">
            <a:xfrm>
              <a:off x="4038" y="3577"/>
              <a:ext cx="1720" cy="65"/>
            </a:xfrm>
            <a:custGeom>
              <a:avLst/>
              <a:gdLst>
                <a:gd name="T0" fmla="*/ 1722 w 1722"/>
                <a:gd name="T1" fmla="*/ 66 h 66"/>
                <a:gd name="T2" fmla="*/ 1722 w 1722"/>
                <a:gd name="T3" fmla="*/ 60 h 66"/>
                <a:gd name="T4" fmla="*/ 0 w 1722"/>
                <a:gd name="T5" fmla="*/ 0 h 66"/>
                <a:gd name="T6" fmla="*/ 0 w 1722"/>
                <a:gd name="T7" fmla="*/ 48 h 66"/>
                <a:gd name="T8" fmla="*/ 1722 w 1722"/>
                <a:gd name="T9" fmla="*/ 66 h 66"/>
                <a:gd name="T10" fmla="*/ 1722 w 1722"/>
                <a:gd name="T11" fmla="*/ 66 h 66"/>
              </a:gdLst>
              <a:ahLst/>
              <a:cxnLst>
                <a:cxn ang="0">
                  <a:pos x="T0" y="T1"/>
                </a:cxn>
                <a:cxn ang="0">
                  <a:pos x="T2" y="T3"/>
                </a:cxn>
                <a:cxn ang="0">
                  <a:pos x="T4" y="T5"/>
                </a:cxn>
                <a:cxn ang="0">
                  <a:pos x="T6" y="T7"/>
                </a:cxn>
                <a:cxn ang="0">
                  <a:pos x="T8" y="T9"/>
                </a:cxn>
                <a:cxn ang="0">
                  <a:pos x="T10" y="T11"/>
                </a:cxn>
              </a:cxnLst>
              <a:rect l="0" t="0" r="r" b="b"/>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87" name="Freeform 7">
              <a:extLst>
                <a:ext uri="{FF2B5EF4-FFF2-40B4-BE49-F238E27FC236}">
                  <a16:creationId xmlns:a16="http://schemas.microsoft.com/office/drawing/2014/main" id="{D4BA5AD2-C45A-4A17-BF48-05AC5730F880}"/>
                </a:ext>
              </a:extLst>
            </p:cNvPr>
            <p:cNvSpPr>
              <a:spLocks/>
            </p:cNvSpPr>
            <p:nvPr/>
          </p:nvSpPr>
          <p:spPr bwMode="hidden">
            <a:xfrm>
              <a:off x="0" y="3726"/>
              <a:ext cx="4784" cy="329"/>
            </a:xfrm>
            <a:custGeom>
              <a:avLst/>
              <a:gdLst>
                <a:gd name="T0" fmla="*/ 0 w 4789"/>
                <a:gd name="T1" fmla="*/ 329 h 329"/>
                <a:gd name="T2" fmla="*/ 4789 w 4789"/>
                <a:gd name="T3" fmla="*/ 77 h 329"/>
                <a:gd name="T4" fmla="*/ 4789 w 4789"/>
                <a:gd name="T5" fmla="*/ 0 h 329"/>
                <a:gd name="T6" fmla="*/ 0 w 4789"/>
                <a:gd name="T7" fmla="*/ 107 h 329"/>
                <a:gd name="T8" fmla="*/ 0 w 4789"/>
                <a:gd name="T9" fmla="*/ 329 h 329"/>
                <a:gd name="T10" fmla="*/ 0 w 4789"/>
                <a:gd name="T11" fmla="*/ 329 h 329"/>
              </a:gdLst>
              <a:ahLst/>
              <a:cxnLst>
                <a:cxn ang="0">
                  <a:pos x="T0" y="T1"/>
                </a:cxn>
                <a:cxn ang="0">
                  <a:pos x="T2" y="T3"/>
                </a:cxn>
                <a:cxn ang="0">
                  <a:pos x="T4" y="T5"/>
                </a:cxn>
                <a:cxn ang="0">
                  <a:pos x="T6" y="T7"/>
                </a:cxn>
                <a:cxn ang="0">
                  <a:pos x="T8" y="T9"/>
                </a:cxn>
                <a:cxn ang="0">
                  <a:pos x="T10" y="T11"/>
                </a:cxn>
              </a:cxnLst>
              <a:rect l="0" t="0" r="r" b="b"/>
              <a:pathLst>
                <a:path w="4789" h="329">
                  <a:moveTo>
                    <a:pt x="0" y="329"/>
                  </a:moveTo>
                  <a:lnTo>
                    <a:pt x="4789" y="77"/>
                  </a:lnTo>
                  <a:lnTo>
                    <a:pt x="4789" y="0"/>
                  </a:lnTo>
                  <a:lnTo>
                    <a:pt x="0" y="107"/>
                  </a:lnTo>
                  <a:lnTo>
                    <a:pt x="0" y="329"/>
                  </a:lnTo>
                  <a:lnTo>
                    <a:pt x="0" y="329"/>
                  </a:lnTo>
                  <a:close/>
                </a:path>
              </a:pathLst>
            </a:custGeom>
            <a:gradFill rotWithShape="0">
              <a:gsLst>
                <a:gs pos="0">
                  <a:schemeClr val="bg1">
                    <a:gamma/>
                    <a:shade val="81961"/>
                    <a:invGamma/>
                  </a:schemeClr>
                </a:gs>
                <a:gs pos="100000">
                  <a:schemeClr val="bg1"/>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225288" name="Freeform 8">
              <a:extLst>
                <a:ext uri="{FF2B5EF4-FFF2-40B4-BE49-F238E27FC236}">
                  <a16:creationId xmlns:a16="http://schemas.microsoft.com/office/drawing/2014/main" id="{EC1BE927-A907-4F02-9E7F-A665B76E0688}"/>
                </a:ext>
              </a:extLst>
            </p:cNvPr>
            <p:cNvSpPr>
              <a:spLocks/>
            </p:cNvSpPr>
            <p:nvPr/>
          </p:nvSpPr>
          <p:spPr bwMode="hidden">
            <a:xfrm>
              <a:off x="4784" y="3702"/>
              <a:ext cx="974" cy="101"/>
            </a:xfrm>
            <a:custGeom>
              <a:avLst/>
              <a:gdLst>
                <a:gd name="T0" fmla="*/ 975 w 975"/>
                <a:gd name="T1" fmla="*/ 48 h 101"/>
                <a:gd name="T2" fmla="*/ 975 w 975"/>
                <a:gd name="T3" fmla="*/ 0 h 101"/>
                <a:gd name="T4" fmla="*/ 0 w 975"/>
                <a:gd name="T5" fmla="*/ 24 h 101"/>
                <a:gd name="T6" fmla="*/ 0 w 975"/>
                <a:gd name="T7" fmla="*/ 101 h 101"/>
                <a:gd name="T8" fmla="*/ 975 w 975"/>
                <a:gd name="T9" fmla="*/ 48 h 101"/>
                <a:gd name="T10" fmla="*/ 975 w 975"/>
                <a:gd name="T11" fmla="*/ 48 h 101"/>
              </a:gdLst>
              <a:ahLst/>
              <a:cxnLst>
                <a:cxn ang="0">
                  <a:pos x="T0" y="T1"/>
                </a:cxn>
                <a:cxn ang="0">
                  <a:pos x="T2" y="T3"/>
                </a:cxn>
                <a:cxn ang="0">
                  <a:pos x="T4" y="T5"/>
                </a:cxn>
                <a:cxn ang="0">
                  <a:pos x="T6" y="T7"/>
                </a:cxn>
                <a:cxn ang="0">
                  <a:pos x="T8" y="T9"/>
                </a:cxn>
                <a:cxn ang="0">
                  <a:pos x="T10" y="T11"/>
                </a:cxn>
              </a:cxnLst>
              <a:rect l="0" t="0" r="r" b="b"/>
              <a:pathLst>
                <a:path w="975" h="101">
                  <a:moveTo>
                    <a:pt x="975" y="48"/>
                  </a:moveTo>
                  <a:lnTo>
                    <a:pt x="975" y="0"/>
                  </a:lnTo>
                  <a:lnTo>
                    <a:pt x="0" y="24"/>
                  </a:lnTo>
                  <a:lnTo>
                    <a:pt x="0" y="101"/>
                  </a:lnTo>
                  <a:lnTo>
                    <a:pt x="975" y="48"/>
                  </a:lnTo>
                  <a:lnTo>
                    <a:pt x="975"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89" name="Freeform 9">
              <a:extLst>
                <a:ext uri="{FF2B5EF4-FFF2-40B4-BE49-F238E27FC236}">
                  <a16:creationId xmlns:a16="http://schemas.microsoft.com/office/drawing/2014/main" id="{972471E6-AC44-4B61-85FF-E733DC1E7070}"/>
                </a:ext>
              </a:extLst>
            </p:cNvPr>
            <p:cNvSpPr>
              <a:spLocks/>
            </p:cNvSpPr>
            <p:nvPr/>
          </p:nvSpPr>
          <p:spPr bwMode="hidden">
            <a:xfrm>
              <a:off x="3619" y="3815"/>
              <a:ext cx="2139" cy="198"/>
            </a:xfrm>
            <a:custGeom>
              <a:avLst/>
              <a:gdLst>
                <a:gd name="T0" fmla="*/ 2141 w 2141"/>
                <a:gd name="T1" fmla="*/ 0 h 198"/>
                <a:gd name="T2" fmla="*/ 0 w 2141"/>
                <a:gd name="T3" fmla="*/ 156 h 198"/>
                <a:gd name="T4" fmla="*/ 0 w 2141"/>
                <a:gd name="T5" fmla="*/ 198 h 198"/>
                <a:gd name="T6" fmla="*/ 2141 w 2141"/>
                <a:gd name="T7" fmla="*/ 0 h 198"/>
                <a:gd name="T8" fmla="*/ 2141 w 2141"/>
                <a:gd name="T9" fmla="*/ 0 h 198"/>
              </a:gdLst>
              <a:ahLst/>
              <a:cxnLst>
                <a:cxn ang="0">
                  <a:pos x="T0" y="T1"/>
                </a:cxn>
                <a:cxn ang="0">
                  <a:pos x="T2" y="T3"/>
                </a:cxn>
                <a:cxn ang="0">
                  <a:pos x="T4" y="T5"/>
                </a:cxn>
                <a:cxn ang="0">
                  <a:pos x="T6" y="T7"/>
                </a:cxn>
                <a:cxn ang="0">
                  <a:pos x="T8" y="T9"/>
                </a:cxn>
              </a:cxnLst>
              <a:rect l="0" t="0" r="r" b="b"/>
              <a:pathLst>
                <a:path w="2141" h="198">
                  <a:moveTo>
                    <a:pt x="2141" y="0"/>
                  </a:moveTo>
                  <a:lnTo>
                    <a:pt x="0" y="156"/>
                  </a:lnTo>
                  <a:lnTo>
                    <a:pt x="0" y="198"/>
                  </a:lnTo>
                  <a:lnTo>
                    <a:pt x="2141" y="0"/>
                  </a:lnTo>
                  <a:lnTo>
                    <a:pt x="214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0" name="Freeform 10">
              <a:extLst>
                <a:ext uri="{FF2B5EF4-FFF2-40B4-BE49-F238E27FC236}">
                  <a16:creationId xmlns:a16="http://schemas.microsoft.com/office/drawing/2014/main" id="{602467B1-A88C-4EFD-AE6F-82C79684A47B}"/>
                </a:ext>
              </a:extLst>
            </p:cNvPr>
            <p:cNvSpPr>
              <a:spLocks/>
            </p:cNvSpPr>
            <p:nvPr/>
          </p:nvSpPr>
          <p:spPr bwMode="hidden">
            <a:xfrm>
              <a:off x="0" y="3971"/>
              <a:ext cx="3619" cy="348"/>
            </a:xfrm>
            <a:custGeom>
              <a:avLst/>
              <a:gdLst>
                <a:gd name="T0" fmla="*/ 0 w 3623"/>
                <a:gd name="T1" fmla="*/ 348 h 348"/>
                <a:gd name="T2" fmla="*/ 311 w 3623"/>
                <a:gd name="T3" fmla="*/ 348 h 348"/>
                <a:gd name="T4" fmla="*/ 3623 w 3623"/>
                <a:gd name="T5" fmla="*/ 42 h 348"/>
                <a:gd name="T6" fmla="*/ 3623 w 3623"/>
                <a:gd name="T7" fmla="*/ 0 h 348"/>
                <a:gd name="T8" fmla="*/ 0 w 3623"/>
                <a:gd name="T9" fmla="*/ 264 h 348"/>
                <a:gd name="T10" fmla="*/ 0 w 3623"/>
                <a:gd name="T11" fmla="*/ 348 h 348"/>
                <a:gd name="T12" fmla="*/ 0 w 3623"/>
                <a:gd name="T13" fmla="*/ 348 h 348"/>
              </a:gdLst>
              <a:ahLst/>
              <a:cxnLst>
                <a:cxn ang="0">
                  <a:pos x="T0" y="T1"/>
                </a:cxn>
                <a:cxn ang="0">
                  <a:pos x="T2" y="T3"/>
                </a:cxn>
                <a:cxn ang="0">
                  <a:pos x="T4" y="T5"/>
                </a:cxn>
                <a:cxn ang="0">
                  <a:pos x="T6" y="T7"/>
                </a:cxn>
                <a:cxn ang="0">
                  <a:pos x="T8" y="T9"/>
                </a:cxn>
                <a:cxn ang="0">
                  <a:pos x="T10" y="T11"/>
                </a:cxn>
                <a:cxn ang="0">
                  <a:pos x="T12" y="T13"/>
                </a:cxn>
              </a:cxnLst>
              <a:rect l="0" t="0"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chemeClr val="bg1">
                    <a:gamma/>
                    <a:shade val="72549"/>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1" name="Freeform 11">
              <a:extLst>
                <a:ext uri="{FF2B5EF4-FFF2-40B4-BE49-F238E27FC236}">
                  <a16:creationId xmlns:a16="http://schemas.microsoft.com/office/drawing/2014/main" id="{1A606819-8F8A-4E1C-94EF-5E95A4D9A33C}"/>
                </a:ext>
              </a:extLst>
            </p:cNvPr>
            <p:cNvSpPr>
              <a:spLocks/>
            </p:cNvSpPr>
            <p:nvPr/>
          </p:nvSpPr>
          <p:spPr bwMode="hidden">
            <a:xfrm>
              <a:off x="2097" y="4043"/>
              <a:ext cx="2514" cy="276"/>
            </a:xfrm>
            <a:custGeom>
              <a:avLst/>
              <a:gdLst>
                <a:gd name="T0" fmla="*/ 2182 w 2517"/>
                <a:gd name="T1" fmla="*/ 276 h 276"/>
                <a:gd name="T2" fmla="*/ 2517 w 2517"/>
                <a:gd name="T3" fmla="*/ 204 h 276"/>
                <a:gd name="T4" fmla="*/ 2260 w 2517"/>
                <a:gd name="T5" fmla="*/ 0 h 276"/>
                <a:gd name="T6" fmla="*/ 0 w 2517"/>
                <a:gd name="T7" fmla="*/ 276 h 276"/>
                <a:gd name="T8" fmla="*/ 2182 w 2517"/>
                <a:gd name="T9" fmla="*/ 276 h 276"/>
                <a:gd name="T10" fmla="*/ 2182 w 2517"/>
                <a:gd name="T11" fmla="*/ 276 h 276"/>
              </a:gdLst>
              <a:ahLst/>
              <a:cxnLst>
                <a:cxn ang="0">
                  <a:pos x="T0" y="T1"/>
                </a:cxn>
                <a:cxn ang="0">
                  <a:pos x="T2" y="T3"/>
                </a:cxn>
                <a:cxn ang="0">
                  <a:pos x="T4" y="T5"/>
                </a:cxn>
                <a:cxn ang="0">
                  <a:pos x="T6" y="T7"/>
                </a:cxn>
                <a:cxn ang="0">
                  <a:pos x="T8" y="T9"/>
                </a:cxn>
                <a:cxn ang="0">
                  <a:pos x="T10" y="T11"/>
                </a:cxn>
              </a:cxnLst>
              <a:rect l="0" t="0" r="r" b="b"/>
              <a:pathLst>
                <a:path w="2517" h="276">
                  <a:moveTo>
                    <a:pt x="2182" y="276"/>
                  </a:moveTo>
                  <a:lnTo>
                    <a:pt x="2517" y="204"/>
                  </a:lnTo>
                  <a:lnTo>
                    <a:pt x="2260" y="0"/>
                  </a:lnTo>
                  <a:lnTo>
                    <a:pt x="0" y="276"/>
                  </a:lnTo>
                  <a:lnTo>
                    <a:pt x="2182" y="276"/>
                  </a:lnTo>
                  <a:lnTo>
                    <a:pt x="2182" y="2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2" name="Freeform 12">
              <a:extLst>
                <a:ext uri="{FF2B5EF4-FFF2-40B4-BE49-F238E27FC236}">
                  <a16:creationId xmlns:a16="http://schemas.microsoft.com/office/drawing/2014/main" id="{12AAB819-47D9-4A7F-9AA6-B9EB786D12F8}"/>
                </a:ext>
              </a:extLst>
            </p:cNvPr>
            <p:cNvSpPr>
              <a:spLocks/>
            </p:cNvSpPr>
            <p:nvPr/>
          </p:nvSpPr>
          <p:spPr bwMode="hidden">
            <a:xfrm>
              <a:off x="4354" y="3869"/>
              <a:ext cx="1404" cy="378"/>
            </a:xfrm>
            <a:custGeom>
              <a:avLst/>
              <a:gdLst>
                <a:gd name="T0" fmla="*/ 1405 w 1405"/>
                <a:gd name="T1" fmla="*/ 126 h 378"/>
                <a:gd name="T2" fmla="*/ 1405 w 1405"/>
                <a:gd name="T3" fmla="*/ 0 h 378"/>
                <a:gd name="T4" fmla="*/ 0 w 1405"/>
                <a:gd name="T5" fmla="*/ 174 h 378"/>
                <a:gd name="T6" fmla="*/ 257 w 1405"/>
                <a:gd name="T7" fmla="*/ 378 h 378"/>
                <a:gd name="T8" fmla="*/ 1405 w 1405"/>
                <a:gd name="T9" fmla="*/ 126 h 378"/>
                <a:gd name="T10" fmla="*/ 1405 w 1405"/>
                <a:gd name="T11" fmla="*/ 126 h 378"/>
              </a:gdLst>
              <a:ahLst/>
              <a:cxnLst>
                <a:cxn ang="0">
                  <a:pos x="T0" y="T1"/>
                </a:cxn>
                <a:cxn ang="0">
                  <a:pos x="T2" y="T3"/>
                </a:cxn>
                <a:cxn ang="0">
                  <a:pos x="T4" y="T5"/>
                </a:cxn>
                <a:cxn ang="0">
                  <a:pos x="T6" y="T7"/>
                </a:cxn>
                <a:cxn ang="0">
                  <a:pos x="T8" y="T9"/>
                </a:cxn>
                <a:cxn ang="0">
                  <a:pos x="T10" y="T11"/>
                </a:cxn>
              </a:cxnLst>
              <a:rect l="0" t="0" r="r" b="b"/>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chemeClr val="bg1">
                    <a:gamma/>
                    <a:tint val="96863"/>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3" name="Freeform 13">
              <a:extLst>
                <a:ext uri="{FF2B5EF4-FFF2-40B4-BE49-F238E27FC236}">
                  <a16:creationId xmlns:a16="http://schemas.microsoft.com/office/drawing/2014/main" id="{F4F913DA-31A3-43CB-84C6-A45C6E0845CD}"/>
                </a:ext>
              </a:extLst>
            </p:cNvPr>
            <p:cNvSpPr>
              <a:spLocks/>
            </p:cNvSpPr>
            <p:nvPr/>
          </p:nvSpPr>
          <p:spPr bwMode="hidden">
            <a:xfrm>
              <a:off x="5030" y="3151"/>
              <a:ext cx="728" cy="240"/>
            </a:xfrm>
            <a:custGeom>
              <a:avLst/>
              <a:gdLst>
                <a:gd name="T0" fmla="*/ 729 w 729"/>
                <a:gd name="T1" fmla="*/ 240 h 240"/>
                <a:gd name="T2" fmla="*/ 0 w 729"/>
                <a:gd name="T3" fmla="*/ 0 h 240"/>
                <a:gd name="T4" fmla="*/ 0 w 729"/>
                <a:gd name="T5" fmla="*/ 6 h 240"/>
                <a:gd name="T6" fmla="*/ 729 w 729"/>
                <a:gd name="T7" fmla="*/ 240 h 240"/>
                <a:gd name="T8" fmla="*/ 729 w 729"/>
                <a:gd name="T9" fmla="*/ 240 h 240"/>
              </a:gdLst>
              <a:ahLst/>
              <a:cxnLst>
                <a:cxn ang="0">
                  <a:pos x="T0" y="T1"/>
                </a:cxn>
                <a:cxn ang="0">
                  <a:pos x="T2" y="T3"/>
                </a:cxn>
                <a:cxn ang="0">
                  <a:pos x="T4" y="T5"/>
                </a:cxn>
                <a:cxn ang="0">
                  <a:pos x="T6" y="T7"/>
                </a:cxn>
                <a:cxn ang="0">
                  <a:pos x="T8" y="T9"/>
                </a:cxn>
              </a:cxnLst>
              <a:rect l="0" t="0" r="r" b="b"/>
              <a:pathLst>
                <a:path w="729" h="240">
                  <a:moveTo>
                    <a:pt x="729" y="240"/>
                  </a:moveTo>
                  <a:lnTo>
                    <a:pt x="0" y="0"/>
                  </a:lnTo>
                  <a:lnTo>
                    <a:pt x="0" y="6"/>
                  </a:lnTo>
                  <a:lnTo>
                    <a:pt x="729" y="240"/>
                  </a:lnTo>
                  <a:lnTo>
                    <a:pt x="729" y="24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4" name="Freeform 14">
              <a:extLst>
                <a:ext uri="{FF2B5EF4-FFF2-40B4-BE49-F238E27FC236}">
                  <a16:creationId xmlns:a16="http://schemas.microsoft.com/office/drawing/2014/main" id="{A7F80B35-A8D5-4222-B027-D888EB56381E}"/>
                </a:ext>
              </a:extLst>
            </p:cNvPr>
            <p:cNvSpPr>
              <a:spLocks/>
            </p:cNvSpPr>
            <p:nvPr/>
          </p:nvSpPr>
          <p:spPr bwMode="hidden">
            <a:xfrm>
              <a:off x="0" y="1486"/>
              <a:ext cx="5030" cy="1671"/>
            </a:xfrm>
            <a:custGeom>
              <a:avLst/>
              <a:gdLst>
                <a:gd name="T0" fmla="*/ 0 w 5035"/>
                <a:gd name="T1" fmla="*/ 72 h 1672"/>
                <a:gd name="T2" fmla="*/ 5035 w 5035"/>
                <a:gd name="T3" fmla="*/ 1672 h 1672"/>
                <a:gd name="T4" fmla="*/ 5035 w 5035"/>
                <a:gd name="T5" fmla="*/ 1666 h 1672"/>
                <a:gd name="T6" fmla="*/ 0 w 5035"/>
                <a:gd name="T7" fmla="*/ 0 h 1672"/>
                <a:gd name="T8" fmla="*/ 0 w 5035"/>
                <a:gd name="T9" fmla="*/ 72 h 1672"/>
                <a:gd name="T10" fmla="*/ 0 w 5035"/>
                <a:gd name="T11" fmla="*/ 72 h 1672"/>
              </a:gdLst>
              <a:ahLst/>
              <a:cxnLst>
                <a:cxn ang="0">
                  <a:pos x="T0" y="T1"/>
                </a:cxn>
                <a:cxn ang="0">
                  <a:pos x="T2" y="T3"/>
                </a:cxn>
                <a:cxn ang="0">
                  <a:pos x="T4" y="T5"/>
                </a:cxn>
                <a:cxn ang="0">
                  <a:pos x="T6" y="T7"/>
                </a:cxn>
                <a:cxn ang="0">
                  <a:pos x="T8" y="T9"/>
                </a:cxn>
                <a:cxn ang="0">
                  <a:pos x="T10" y="T11"/>
                </a:cxn>
              </a:cxnLst>
              <a:rect l="0" t="0" r="r" b="b"/>
              <a:pathLst>
                <a:path w="5035" h="1672">
                  <a:moveTo>
                    <a:pt x="0" y="72"/>
                  </a:moveTo>
                  <a:lnTo>
                    <a:pt x="5035" y="1672"/>
                  </a:lnTo>
                  <a:lnTo>
                    <a:pt x="5035" y="1666"/>
                  </a:lnTo>
                  <a:lnTo>
                    <a:pt x="0" y="0"/>
                  </a:lnTo>
                  <a:lnTo>
                    <a:pt x="0" y="72"/>
                  </a:lnTo>
                  <a:lnTo>
                    <a:pt x="0" y="72"/>
                  </a:lnTo>
                  <a:close/>
                </a:path>
              </a:pathLst>
            </a:custGeom>
            <a:gradFill rotWithShape="0">
              <a:gsLst>
                <a:gs pos="0">
                  <a:schemeClr val="bg1">
                    <a:gamma/>
                    <a:shade val="54510"/>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5" name="Freeform 15">
              <a:extLst>
                <a:ext uri="{FF2B5EF4-FFF2-40B4-BE49-F238E27FC236}">
                  <a16:creationId xmlns:a16="http://schemas.microsoft.com/office/drawing/2014/main" id="{83FD5860-1C07-4266-AE1F-6CFFB8F4E997}"/>
                </a:ext>
              </a:extLst>
            </p:cNvPr>
            <p:cNvSpPr>
              <a:spLocks/>
            </p:cNvSpPr>
            <p:nvPr/>
          </p:nvSpPr>
          <p:spPr bwMode="hidden">
            <a:xfrm>
              <a:off x="5030" y="3049"/>
              <a:ext cx="728" cy="318"/>
            </a:xfrm>
            <a:custGeom>
              <a:avLst/>
              <a:gdLst>
                <a:gd name="T0" fmla="*/ 729 w 729"/>
                <a:gd name="T1" fmla="*/ 318 h 318"/>
                <a:gd name="T2" fmla="*/ 729 w 729"/>
                <a:gd name="T3" fmla="*/ 312 h 318"/>
                <a:gd name="T4" fmla="*/ 0 w 729"/>
                <a:gd name="T5" fmla="*/ 0 h 318"/>
                <a:gd name="T6" fmla="*/ 0 w 729"/>
                <a:gd name="T7" fmla="*/ 54 h 318"/>
                <a:gd name="T8" fmla="*/ 729 w 729"/>
                <a:gd name="T9" fmla="*/ 318 h 318"/>
                <a:gd name="T10" fmla="*/ 729 w 729"/>
                <a:gd name="T11" fmla="*/ 318 h 318"/>
              </a:gdLst>
              <a:ahLst/>
              <a:cxnLst>
                <a:cxn ang="0">
                  <a:pos x="T0" y="T1"/>
                </a:cxn>
                <a:cxn ang="0">
                  <a:pos x="T2" y="T3"/>
                </a:cxn>
                <a:cxn ang="0">
                  <a:pos x="T4" y="T5"/>
                </a:cxn>
                <a:cxn ang="0">
                  <a:pos x="T6" y="T7"/>
                </a:cxn>
                <a:cxn ang="0">
                  <a:pos x="T8" y="T9"/>
                </a:cxn>
                <a:cxn ang="0">
                  <a:pos x="T10" y="T11"/>
                </a:cxn>
              </a:cxnLst>
              <a:rect l="0" t="0" r="r" b="b"/>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6" name="Freeform 16">
              <a:extLst>
                <a:ext uri="{FF2B5EF4-FFF2-40B4-BE49-F238E27FC236}">
                  <a16:creationId xmlns:a16="http://schemas.microsoft.com/office/drawing/2014/main" id="{8456BF81-A0EF-43F4-8735-CFA76F5277BF}"/>
                </a:ext>
              </a:extLst>
            </p:cNvPr>
            <p:cNvSpPr>
              <a:spLocks/>
            </p:cNvSpPr>
            <p:nvPr/>
          </p:nvSpPr>
          <p:spPr bwMode="hidden">
            <a:xfrm>
              <a:off x="0" y="916"/>
              <a:ext cx="5030" cy="2187"/>
            </a:xfrm>
            <a:custGeom>
              <a:avLst/>
              <a:gdLst>
                <a:gd name="T0" fmla="*/ 0 w 5035"/>
                <a:gd name="T1" fmla="*/ 396 h 2188"/>
                <a:gd name="T2" fmla="*/ 5035 w 5035"/>
                <a:gd name="T3" fmla="*/ 2188 h 2188"/>
                <a:gd name="T4" fmla="*/ 5035 w 5035"/>
                <a:gd name="T5" fmla="*/ 2134 h 2188"/>
                <a:gd name="T6" fmla="*/ 0 w 5035"/>
                <a:gd name="T7" fmla="*/ 0 h 2188"/>
                <a:gd name="T8" fmla="*/ 0 w 5035"/>
                <a:gd name="T9" fmla="*/ 396 h 2188"/>
                <a:gd name="T10" fmla="*/ 0 w 5035"/>
                <a:gd name="T11" fmla="*/ 396 h 2188"/>
              </a:gdLst>
              <a:ahLst/>
              <a:cxnLst>
                <a:cxn ang="0">
                  <a:pos x="T0" y="T1"/>
                </a:cxn>
                <a:cxn ang="0">
                  <a:pos x="T2" y="T3"/>
                </a:cxn>
                <a:cxn ang="0">
                  <a:pos x="T4" y="T5"/>
                </a:cxn>
                <a:cxn ang="0">
                  <a:pos x="T6" y="T7"/>
                </a:cxn>
                <a:cxn ang="0">
                  <a:pos x="T8" y="T9"/>
                </a:cxn>
                <a:cxn ang="0">
                  <a:pos x="T10" y="T11"/>
                </a:cxn>
              </a:cxnLst>
              <a:rect l="0" t="0" r="r" b="b"/>
              <a:pathLst>
                <a:path w="5035" h="2188">
                  <a:moveTo>
                    <a:pt x="0" y="396"/>
                  </a:moveTo>
                  <a:lnTo>
                    <a:pt x="5035" y="2188"/>
                  </a:lnTo>
                  <a:lnTo>
                    <a:pt x="5035" y="2134"/>
                  </a:lnTo>
                  <a:lnTo>
                    <a:pt x="0" y="0"/>
                  </a:lnTo>
                  <a:lnTo>
                    <a:pt x="0" y="396"/>
                  </a:lnTo>
                  <a:lnTo>
                    <a:pt x="0" y="396"/>
                  </a:lnTo>
                  <a:close/>
                </a:path>
              </a:pathLst>
            </a:custGeom>
            <a:gradFill rotWithShape="0">
              <a:gsLst>
                <a:gs pos="0">
                  <a:schemeClr val="bg2">
                    <a:gamma/>
                    <a:shade val="66667"/>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7" name="Freeform 17">
              <a:extLst>
                <a:ext uri="{FF2B5EF4-FFF2-40B4-BE49-F238E27FC236}">
                  <a16:creationId xmlns:a16="http://schemas.microsoft.com/office/drawing/2014/main" id="{F9FF261E-506C-4DBA-80DB-365F84287A26}"/>
                </a:ext>
              </a:extLst>
            </p:cNvPr>
            <p:cNvSpPr>
              <a:spLocks/>
            </p:cNvSpPr>
            <p:nvPr/>
          </p:nvSpPr>
          <p:spPr bwMode="hidden">
            <a:xfrm>
              <a:off x="2294" y="0"/>
              <a:ext cx="3159" cy="2725"/>
            </a:xfrm>
            <a:custGeom>
              <a:avLst/>
              <a:gdLst>
                <a:gd name="T0" fmla="*/ 0 w 3163"/>
                <a:gd name="T1" fmla="*/ 0 h 2727"/>
                <a:gd name="T2" fmla="*/ 3145 w 3163"/>
                <a:gd name="T3" fmla="*/ 2727 h 2727"/>
                <a:gd name="T4" fmla="*/ 3163 w 3163"/>
                <a:gd name="T5" fmla="*/ 2704 h 2727"/>
                <a:gd name="T6" fmla="*/ 102 w 3163"/>
                <a:gd name="T7" fmla="*/ 0 h 2727"/>
                <a:gd name="T8" fmla="*/ 0 w 3163"/>
                <a:gd name="T9" fmla="*/ 0 h 2727"/>
                <a:gd name="T10" fmla="*/ 0 w 3163"/>
                <a:gd name="T11" fmla="*/ 0 h 2727"/>
              </a:gdLst>
              <a:ahLst/>
              <a:cxnLst>
                <a:cxn ang="0">
                  <a:pos x="T0" y="T1"/>
                </a:cxn>
                <a:cxn ang="0">
                  <a:pos x="T2" y="T3"/>
                </a:cxn>
                <a:cxn ang="0">
                  <a:pos x="T4" y="T5"/>
                </a:cxn>
                <a:cxn ang="0">
                  <a:pos x="T6" y="T7"/>
                </a:cxn>
                <a:cxn ang="0">
                  <a:pos x="T8" y="T9"/>
                </a:cxn>
                <a:cxn ang="0">
                  <a:pos x="T10" y="T11"/>
                </a:cxn>
              </a:cxnLst>
              <a:rect l="0" t="0" r="r" b="b"/>
              <a:pathLst>
                <a:path w="3163" h="2727">
                  <a:moveTo>
                    <a:pt x="0" y="0"/>
                  </a:moveTo>
                  <a:lnTo>
                    <a:pt x="3145" y="2727"/>
                  </a:lnTo>
                  <a:lnTo>
                    <a:pt x="3163" y="2704"/>
                  </a:lnTo>
                  <a:lnTo>
                    <a:pt x="102" y="0"/>
                  </a:lnTo>
                  <a:lnTo>
                    <a:pt x="0" y="0"/>
                  </a:lnTo>
                  <a:lnTo>
                    <a:pt x="0" y="0"/>
                  </a:lnTo>
                  <a:close/>
                </a:path>
              </a:pathLst>
            </a:custGeom>
            <a:gradFill rotWithShape="0">
              <a:gsLst>
                <a:gs pos="0">
                  <a:schemeClr val="bg1">
                    <a:gamma/>
                    <a:shade val="6980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8" name="Freeform 18">
              <a:extLst>
                <a:ext uri="{FF2B5EF4-FFF2-40B4-BE49-F238E27FC236}">
                  <a16:creationId xmlns:a16="http://schemas.microsoft.com/office/drawing/2014/main" id="{EEBBEF78-FE72-43F8-BA8F-9E6E9CA5F6DC}"/>
                </a:ext>
              </a:extLst>
            </p:cNvPr>
            <p:cNvSpPr>
              <a:spLocks/>
            </p:cNvSpPr>
            <p:nvPr/>
          </p:nvSpPr>
          <p:spPr bwMode="hidden">
            <a:xfrm>
              <a:off x="5435" y="2702"/>
              <a:ext cx="323" cy="299"/>
            </a:xfrm>
            <a:custGeom>
              <a:avLst/>
              <a:gdLst>
                <a:gd name="T0" fmla="*/ 323 w 323"/>
                <a:gd name="T1" fmla="*/ 299 h 299"/>
                <a:gd name="T2" fmla="*/ 323 w 323"/>
                <a:gd name="T3" fmla="*/ 263 h 299"/>
                <a:gd name="T4" fmla="*/ 18 w 323"/>
                <a:gd name="T5" fmla="*/ 0 h 299"/>
                <a:gd name="T6" fmla="*/ 0 w 323"/>
                <a:gd name="T7" fmla="*/ 23 h 299"/>
                <a:gd name="T8" fmla="*/ 323 w 323"/>
                <a:gd name="T9" fmla="*/ 299 h 299"/>
                <a:gd name="T10" fmla="*/ 323 w 323"/>
                <a:gd name="T11" fmla="*/ 299 h 299"/>
              </a:gdLst>
              <a:ahLst/>
              <a:cxnLst>
                <a:cxn ang="0">
                  <a:pos x="T0" y="T1"/>
                </a:cxn>
                <a:cxn ang="0">
                  <a:pos x="T2" y="T3"/>
                </a:cxn>
                <a:cxn ang="0">
                  <a:pos x="T4" y="T5"/>
                </a:cxn>
                <a:cxn ang="0">
                  <a:pos x="T6" y="T7"/>
                </a:cxn>
                <a:cxn ang="0">
                  <a:pos x="T8" y="T9"/>
                </a:cxn>
                <a:cxn ang="0">
                  <a:pos x="T10" y="T11"/>
                </a:cxn>
              </a:cxnLst>
              <a:rect l="0" t="0" r="r" b="b"/>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chemeClr val="bg1">
                    <a:gamma/>
                    <a:tint val="94118"/>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9" name="Freeform 19">
              <a:extLst>
                <a:ext uri="{FF2B5EF4-FFF2-40B4-BE49-F238E27FC236}">
                  <a16:creationId xmlns:a16="http://schemas.microsoft.com/office/drawing/2014/main" id="{3FDDD523-5561-4AFE-BE89-7AED02D0E12B}"/>
                </a:ext>
              </a:extLst>
            </p:cNvPr>
            <p:cNvSpPr>
              <a:spLocks/>
            </p:cNvSpPr>
            <p:nvPr/>
          </p:nvSpPr>
          <p:spPr bwMode="hidden">
            <a:xfrm>
              <a:off x="5477" y="2588"/>
              <a:ext cx="281" cy="335"/>
            </a:xfrm>
            <a:custGeom>
              <a:avLst/>
              <a:gdLst>
                <a:gd name="T0" fmla="*/ 281 w 281"/>
                <a:gd name="T1" fmla="*/ 335 h 335"/>
                <a:gd name="T2" fmla="*/ 281 w 281"/>
                <a:gd name="T3" fmla="*/ 173 h 335"/>
                <a:gd name="T4" fmla="*/ 96 w 281"/>
                <a:gd name="T5" fmla="*/ 0 h 335"/>
                <a:gd name="T6" fmla="*/ 0 w 281"/>
                <a:gd name="T7" fmla="*/ 90 h 335"/>
                <a:gd name="T8" fmla="*/ 281 w 281"/>
                <a:gd name="T9" fmla="*/ 335 h 335"/>
                <a:gd name="T10" fmla="*/ 281 w 281"/>
                <a:gd name="T11" fmla="*/ 335 h 335"/>
              </a:gdLst>
              <a:ahLst/>
              <a:cxnLst>
                <a:cxn ang="0">
                  <a:pos x="T0" y="T1"/>
                </a:cxn>
                <a:cxn ang="0">
                  <a:pos x="T2" y="T3"/>
                </a:cxn>
                <a:cxn ang="0">
                  <a:pos x="T4" y="T5"/>
                </a:cxn>
                <a:cxn ang="0">
                  <a:pos x="T6" y="T7"/>
                </a:cxn>
                <a:cxn ang="0">
                  <a:pos x="T8" y="T9"/>
                </a:cxn>
                <a:cxn ang="0">
                  <a:pos x="T10" y="T11"/>
                </a:cxn>
              </a:cxnLst>
              <a:rect l="0" t="0" r="r" b="b"/>
              <a:pathLst>
                <a:path w="281" h="335">
                  <a:moveTo>
                    <a:pt x="281" y="335"/>
                  </a:moveTo>
                  <a:lnTo>
                    <a:pt x="281" y="173"/>
                  </a:lnTo>
                  <a:lnTo>
                    <a:pt x="96" y="0"/>
                  </a:lnTo>
                  <a:lnTo>
                    <a:pt x="0" y="90"/>
                  </a:lnTo>
                  <a:lnTo>
                    <a:pt x="281" y="335"/>
                  </a:lnTo>
                  <a:lnTo>
                    <a:pt x="281" y="3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0" name="Freeform 20">
              <a:extLst>
                <a:ext uri="{FF2B5EF4-FFF2-40B4-BE49-F238E27FC236}">
                  <a16:creationId xmlns:a16="http://schemas.microsoft.com/office/drawing/2014/main" id="{2EDCA2E2-8F0E-4A72-8205-F44A3A177F5A}"/>
                </a:ext>
              </a:extLst>
            </p:cNvPr>
            <p:cNvSpPr>
              <a:spLocks/>
            </p:cNvSpPr>
            <p:nvPr/>
          </p:nvSpPr>
          <p:spPr bwMode="hidden">
            <a:xfrm>
              <a:off x="2454" y="0"/>
              <a:ext cx="3119" cy="2678"/>
            </a:xfrm>
            <a:custGeom>
              <a:avLst/>
              <a:gdLst>
                <a:gd name="T0" fmla="*/ 0 w 3122"/>
                <a:gd name="T1" fmla="*/ 0 h 2680"/>
                <a:gd name="T2" fmla="*/ 3026 w 3122"/>
                <a:gd name="T3" fmla="*/ 2680 h 2680"/>
                <a:gd name="T4" fmla="*/ 3122 w 3122"/>
                <a:gd name="T5" fmla="*/ 2590 h 2680"/>
                <a:gd name="T6" fmla="*/ 383 w 3122"/>
                <a:gd name="T7" fmla="*/ 0 h 2680"/>
                <a:gd name="T8" fmla="*/ 0 w 3122"/>
                <a:gd name="T9" fmla="*/ 0 h 2680"/>
                <a:gd name="T10" fmla="*/ 0 w 3122"/>
                <a:gd name="T11" fmla="*/ 0 h 2680"/>
              </a:gdLst>
              <a:ahLst/>
              <a:cxnLst>
                <a:cxn ang="0">
                  <a:pos x="T0" y="T1"/>
                </a:cxn>
                <a:cxn ang="0">
                  <a:pos x="T2" y="T3"/>
                </a:cxn>
                <a:cxn ang="0">
                  <a:pos x="T4" y="T5"/>
                </a:cxn>
                <a:cxn ang="0">
                  <a:pos x="T6" y="T7"/>
                </a:cxn>
                <a:cxn ang="0">
                  <a:pos x="T8" y="T9"/>
                </a:cxn>
                <a:cxn ang="0">
                  <a:pos x="T10" y="T11"/>
                </a:cxn>
              </a:cxnLst>
              <a:rect l="0" t="0" r="r" b="b"/>
              <a:pathLst>
                <a:path w="3122" h="2680">
                  <a:moveTo>
                    <a:pt x="0" y="0"/>
                  </a:moveTo>
                  <a:lnTo>
                    <a:pt x="3026" y="2680"/>
                  </a:lnTo>
                  <a:lnTo>
                    <a:pt x="3122" y="2590"/>
                  </a:lnTo>
                  <a:lnTo>
                    <a:pt x="383" y="0"/>
                  </a:lnTo>
                  <a:lnTo>
                    <a:pt x="0" y="0"/>
                  </a:lnTo>
                  <a:lnTo>
                    <a:pt x="0" y="0"/>
                  </a:lnTo>
                  <a:close/>
                </a:path>
              </a:pathLst>
            </a:custGeom>
            <a:gradFill rotWithShape="0">
              <a:gsLst>
                <a:gs pos="0">
                  <a:schemeClr val="bg1">
                    <a:gamma/>
                    <a:shade val="46275"/>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1" name="Freeform 21">
              <a:extLst>
                <a:ext uri="{FF2B5EF4-FFF2-40B4-BE49-F238E27FC236}">
                  <a16:creationId xmlns:a16="http://schemas.microsoft.com/office/drawing/2014/main" id="{7B7E0434-90FD-4548-96B0-16D6147D4394}"/>
                </a:ext>
              </a:extLst>
            </p:cNvPr>
            <p:cNvSpPr>
              <a:spLocks/>
            </p:cNvSpPr>
            <p:nvPr/>
          </p:nvSpPr>
          <p:spPr bwMode="hidden">
            <a:xfrm>
              <a:off x="5626" y="2534"/>
              <a:ext cx="132" cy="132"/>
            </a:xfrm>
            <a:custGeom>
              <a:avLst/>
              <a:gdLst>
                <a:gd name="T0" fmla="*/ 132 w 132"/>
                <a:gd name="T1" fmla="*/ 132 h 132"/>
                <a:gd name="T2" fmla="*/ 0 w 132"/>
                <a:gd name="T3" fmla="*/ 0 h 132"/>
                <a:gd name="T4" fmla="*/ 0 w 132"/>
                <a:gd name="T5" fmla="*/ 0 h 132"/>
                <a:gd name="T6" fmla="*/ 132 w 132"/>
                <a:gd name="T7" fmla="*/ 132 h 132"/>
                <a:gd name="T8" fmla="*/ 132 w 132"/>
                <a:gd name="T9" fmla="*/ 132 h 132"/>
              </a:gdLst>
              <a:ahLst/>
              <a:cxnLst>
                <a:cxn ang="0">
                  <a:pos x="T0" y="T1"/>
                </a:cxn>
                <a:cxn ang="0">
                  <a:pos x="T2" y="T3"/>
                </a:cxn>
                <a:cxn ang="0">
                  <a:pos x="T4" y="T5"/>
                </a:cxn>
                <a:cxn ang="0">
                  <a:pos x="T6" y="T7"/>
                </a:cxn>
                <a:cxn ang="0">
                  <a:pos x="T8" y="T9"/>
                </a:cxn>
              </a:cxnLst>
              <a:rect l="0" t="0" r="r" b="b"/>
              <a:pathLst>
                <a:path w="132" h="132">
                  <a:moveTo>
                    <a:pt x="132" y="132"/>
                  </a:moveTo>
                  <a:lnTo>
                    <a:pt x="0" y="0"/>
                  </a:lnTo>
                  <a:lnTo>
                    <a:pt x="0" y="0"/>
                  </a:lnTo>
                  <a:lnTo>
                    <a:pt x="132" y="132"/>
                  </a:lnTo>
                  <a:lnTo>
                    <a:pt x="132" y="132"/>
                  </a:lnTo>
                  <a:close/>
                </a:path>
              </a:pathLst>
            </a:custGeom>
            <a:solidFill>
              <a:srgbClr val="FF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2" name="Freeform 22">
              <a:extLst>
                <a:ext uri="{FF2B5EF4-FFF2-40B4-BE49-F238E27FC236}">
                  <a16:creationId xmlns:a16="http://schemas.microsoft.com/office/drawing/2014/main" id="{9D757584-47FB-4A80-9A27-BBCE702A576D}"/>
                </a:ext>
              </a:extLst>
            </p:cNvPr>
            <p:cNvSpPr>
              <a:spLocks/>
            </p:cNvSpPr>
            <p:nvPr/>
          </p:nvSpPr>
          <p:spPr bwMode="hidden">
            <a:xfrm>
              <a:off x="3112" y="0"/>
              <a:ext cx="2514" cy="2534"/>
            </a:xfrm>
            <a:custGeom>
              <a:avLst/>
              <a:gdLst>
                <a:gd name="T0" fmla="*/ 0 w 2517"/>
                <a:gd name="T1" fmla="*/ 0 h 2536"/>
                <a:gd name="T2" fmla="*/ 2517 w 2517"/>
                <a:gd name="T3" fmla="*/ 2536 h 2536"/>
                <a:gd name="T4" fmla="*/ 2517 w 2517"/>
                <a:gd name="T5" fmla="*/ 2536 h 2536"/>
                <a:gd name="T6" fmla="*/ 66 w 2517"/>
                <a:gd name="T7" fmla="*/ 0 h 2536"/>
                <a:gd name="T8" fmla="*/ 0 w 2517"/>
                <a:gd name="T9" fmla="*/ 0 h 2536"/>
                <a:gd name="T10" fmla="*/ 0 w 2517"/>
                <a:gd name="T11" fmla="*/ 0 h 2536"/>
              </a:gdLst>
              <a:ahLst/>
              <a:cxnLst>
                <a:cxn ang="0">
                  <a:pos x="T0" y="T1"/>
                </a:cxn>
                <a:cxn ang="0">
                  <a:pos x="T2" y="T3"/>
                </a:cxn>
                <a:cxn ang="0">
                  <a:pos x="T4" y="T5"/>
                </a:cxn>
                <a:cxn ang="0">
                  <a:pos x="T6" y="T7"/>
                </a:cxn>
                <a:cxn ang="0">
                  <a:pos x="T8" y="T9"/>
                </a:cxn>
                <a:cxn ang="0">
                  <a:pos x="T10" y="T11"/>
                </a:cxn>
              </a:cxnLst>
              <a:rect l="0" t="0" r="r" b="b"/>
              <a:pathLst>
                <a:path w="2517" h="2536">
                  <a:moveTo>
                    <a:pt x="0" y="0"/>
                  </a:moveTo>
                  <a:lnTo>
                    <a:pt x="2517" y="2536"/>
                  </a:lnTo>
                  <a:lnTo>
                    <a:pt x="2517" y="2536"/>
                  </a:lnTo>
                  <a:lnTo>
                    <a:pt x="66" y="0"/>
                  </a:lnTo>
                  <a:lnTo>
                    <a:pt x="0" y="0"/>
                  </a:lnTo>
                  <a:lnTo>
                    <a:pt x="0" y="0"/>
                  </a:lnTo>
                  <a:close/>
                </a:path>
              </a:pathLst>
            </a:custGeom>
            <a:gradFill rotWithShape="0">
              <a:gsLst>
                <a:gs pos="0">
                  <a:schemeClr val="bg1">
                    <a:gamma/>
                    <a:shade val="51373"/>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3" name="Freeform 23">
              <a:extLst>
                <a:ext uri="{FF2B5EF4-FFF2-40B4-BE49-F238E27FC236}">
                  <a16:creationId xmlns:a16="http://schemas.microsoft.com/office/drawing/2014/main" id="{EA6E6E6C-1E62-46D4-86DE-68FC528FC845}"/>
                </a:ext>
              </a:extLst>
            </p:cNvPr>
            <p:cNvSpPr>
              <a:spLocks/>
            </p:cNvSpPr>
            <p:nvPr/>
          </p:nvSpPr>
          <p:spPr bwMode="hidden">
            <a:xfrm>
              <a:off x="3488" y="0"/>
              <a:ext cx="2198" cy="2480"/>
            </a:xfrm>
            <a:custGeom>
              <a:avLst/>
              <a:gdLst>
                <a:gd name="T0" fmla="*/ 0 w 2200"/>
                <a:gd name="T1" fmla="*/ 0 h 2482"/>
                <a:gd name="T2" fmla="*/ 2188 w 2200"/>
                <a:gd name="T3" fmla="*/ 2482 h 2482"/>
                <a:gd name="T4" fmla="*/ 2200 w 2200"/>
                <a:gd name="T5" fmla="*/ 2476 h 2482"/>
                <a:gd name="T6" fmla="*/ 317 w 2200"/>
                <a:gd name="T7" fmla="*/ 0 h 2482"/>
                <a:gd name="T8" fmla="*/ 0 w 2200"/>
                <a:gd name="T9" fmla="*/ 0 h 2482"/>
                <a:gd name="T10" fmla="*/ 0 w 2200"/>
                <a:gd name="T11" fmla="*/ 0 h 2482"/>
              </a:gdLst>
              <a:ahLst/>
              <a:cxnLst>
                <a:cxn ang="0">
                  <a:pos x="T0" y="T1"/>
                </a:cxn>
                <a:cxn ang="0">
                  <a:pos x="T2" y="T3"/>
                </a:cxn>
                <a:cxn ang="0">
                  <a:pos x="T4" y="T5"/>
                </a:cxn>
                <a:cxn ang="0">
                  <a:pos x="T6" y="T7"/>
                </a:cxn>
                <a:cxn ang="0">
                  <a:pos x="T8" y="T9"/>
                </a:cxn>
                <a:cxn ang="0">
                  <a:pos x="T10" y="T11"/>
                </a:cxn>
              </a:cxnLst>
              <a:rect l="0" t="0" r="r" b="b"/>
              <a:pathLst>
                <a:path w="2200" h="2482">
                  <a:moveTo>
                    <a:pt x="0" y="0"/>
                  </a:moveTo>
                  <a:lnTo>
                    <a:pt x="2188" y="2482"/>
                  </a:lnTo>
                  <a:lnTo>
                    <a:pt x="2200" y="2476"/>
                  </a:lnTo>
                  <a:lnTo>
                    <a:pt x="317" y="0"/>
                  </a:lnTo>
                  <a:lnTo>
                    <a:pt x="0" y="0"/>
                  </a:lnTo>
                  <a:lnTo>
                    <a:pt x="0" y="0"/>
                  </a:lnTo>
                  <a:close/>
                </a:path>
              </a:pathLst>
            </a:custGeom>
            <a:gradFill rotWithShape="0">
              <a:gsLst>
                <a:gs pos="0">
                  <a:schemeClr val="bg2">
                    <a:gamma/>
                    <a:shade val="78824"/>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225304" name="Freeform 24">
              <a:extLst>
                <a:ext uri="{FF2B5EF4-FFF2-40B4-BE49-F238E27FC236}">
                  <a16:creationId xmlns:a16="http://schemas.microsoft.com/office/drawing/2014/main" id="{A021781E-A3B3-4AFF-B9F3-EA1A71B5C88D}"/>
                </a:ext>
              </a:extLst>
            </p:cNvPr>
            <p:cNvSpPr>
              <a:spLocks/>
            </p:cNvSpPr>
            <p:nvPr/>
          </p:nvSpPr>
          <p:spPr bwMode="hidden">
            <a:xfrm>
              <a:off x="5674" y="2474"/>
              <a:ext cx="84" cy="96"/>
            </a:xfrm>
            <a:custGeom>
              <a:avLst/>
              <a:gdLst>
                <a:gd name="T0" fmla="*/ 84 w 84"/>
                <a:gd name="T1" fmla="*/ 96 h 96"/>
                <a:gd name="T2" fmla="*/ 84 w 84"/>
                <a:gd name="T3" fmla="*/ 90 h 96"/>
                <a:gd name="T4" fmla="*/ 12 w 84"/>
                <a:gd name="T5" fmla="*/ 0 h 96"/>
                <a:gd name="T6" fmla="*/ 0 w 84"/>
                <a:gd name="T7" fmla="*/ 6 h 96"/>
                <a:gd name="T8" fmla="*/ 84 w 84"/>
                <a:gd name="T9" fmla="*/ 96 h 96"/>
                <a:gd name="T10" fmla="*/ 84 w 84"/>
                <a:gd name="T11" fmla="*/ 96 h 96"/>
              </a:gdLst>
              <a:ahLst/>
              <a:cxnLst>
                <a:cxn ang="0">
                  <a:pos x="T0" y="T1"/>
                </a:cxn>
                <a:cxn ang="0">
                  <a:pos x="T2" y="T3"/>
                </a:cxn>
                <a:cxn ang="0">
                  <a:pos x="T4" y="T5"/>
                </a:cxn>
                <a:cxn ang="0">
                  <a:pos x="T6" y="T7"/>
                </a:cxn>
                <a:cxn ang="0">
                  <a:pos x="T8" y="T9"/>
                </a:cxn>
                <a:cxn ang="0">
                  <a:pos x="T10" y="T11"/>
                </a:cxn>
              </a:cxnLst>
              <a:rect l="0" t="0" r="r" b="b"/>
              <a:pathLst>
                <a:path w="84" h="96">
                  <a:moveTo>
                    <a:pt x="84" y="96"/>
                  </a:moveTo>
                  <a:lnTo>
                    <a:pt x="84" y="90"/>
                  </a:lnTo>
                  <a:lnTo>
                    <a:pt x="12" y="0"/>
                  </a:lnTo>
                  <a:lnTo>
                    <a:pt x="0" y="6"/>
                  </a:lnTo>
                  <a:lnTo>
                    <a:pt x="84" y="96"/>
                  </a:lnTo>
                  <a:lnTo>
                    <a:pt x="84" y="96"/>
                  </a:lnTo>
                  <a:close/>
                </a:path>
              </a:pathLst>
            </a:custGeom>
            <a:gradFill rotWithShape="0">
              <a:gsLst>
                <a:gs pos="0">
                  <a:schemeClr val="bg1"/>
                </a:gs>
                <a:gs pos="100000">
                  <a:schemeClr val="bg1">
                    <a:gamma/>
                    <a:tint val="90980"/>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5" name="Freeform 25">
              <a:extLst>
                <a:ext uri="{FF2B5EF4-FFF2-40B4-BE49-F238E27FC236}">
                  <a16:creationId xmlns:a16="http://schemas.microsoft.com/office/drawing/2014/main" id="{ABC5281F-B70F-4E58-844E-F3A823D53B51}"/>
                </a:ext>
              </a:extLst>
            </p:cNvPr>
            <p:cNvSpPr>
              <a:spLocks/>
            </p:cNvSpPr>
            <p:nvPr/>
          </p:nvSpPr>
          <p:spPr bwMode="hidden">
            <a:xfrm>
              <a:off x="5603" y="850"/>
              <a:ext cx="155" cy="516"/>
            </a:xfrm>
            <a:custGeom>
              <a:avLst/>
              <a:gdLst>
                <a:gd name="T0" fmla="*/ 155 w 155"/>
                <a:gd name="T1" fmla="*/ 516 h 516"/>
                <a:gd name="T2" fmla="*/ 155 w 155"/>
                <a:gd name="T3" fmla="*/ 204 h 516"/>
                <a:gd name="T4" fmla="*/ 77 w 155"/>
                <a:gd name="T5" fmla="*/ 0 h 516"/>
                <a:gd name="T6" fmla="*/ 0 w 155"/>
                <a:gd name="T7" fmla="*/ 192 h 516"/>
                <a:gd name="T8" fmla="*/ 155 w 155"/>
                <a:gd name="T9" fmla="*/ 516 h 516"/>
                <a:gd name="T10" fmla="*/ 155 w 155"/>
                <a:gd name="T11" fmla="*/ 516 h 516"/>
              </a:gdLst>
              <a:ahLst/>
              <a:cxnLst>
                <a:cxn ang="0">
                  <a:pos x="T0" y="T1"/>
                </a:cxn>
                <a:cxn ang="0">
                  <a:pos x="T2" y="T3"/>
                </a:cxn>
                <a:cxn ang="0">
                  <a:pos x="T4" y="T5"/>
                </a:cxn>
                <a:cxn ang="0">
                  <a:pos x="T6" y="T7"/>
                </a:cxn>
                <a:cxn ang="0">
                  <a:pos x="T8" y="T9"/>
                </a:cxn>
                <a:cxn ang="0">
                  <a:pos x="T10" y="T11"/>
                </a:cxn>
              </a:cxnLst>
              <a:rect l="0" t="0" r="r" b="b"/>
              <a:pathLst>
                <a:path w="155" h="516">
                  <a:moveTo>
                    <a:pt x="155" y="516"/>
                  </a:moveTo>
                  <a:lnTo>
                    <a:pt x="155" y="204"/>
                  </a:lnTo>
                  <a:lnTo>
                    <a:pt x="77" y="0"/>
                  </a:lnTo>
                  <a:lnTo>
                    <a:pt x="0" y="192"/>
                  </a:lnTo>
                  <a:lnTo>
                    <a:pt x="155" y="516"/>
                  </a:lnTo>
                  <a:lnTo>
                    <a:pt x="155" y="51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6" name="Freeform 26">
              <a:extLst>
                <a:ext uri="{FF2B5EF4-FFF2-40B4-BE49-F238E27FC236}">
                  <a16:creationId xmlns:a16="http://schemas.microsoft.com/office/drawing/2014/main" id="{CD5AF1E4-AD2C-41B8-B017-528FCFBFF3CC}"/>
                </a:ext>
              </a:extLst>
            </p:cNvPr>
            <p:cNvSpPr>
              <a:spLocks/>
            </p:cNvSpPr>
            <p:nvPr/>
          </p:nvSpPr>
          <p:spPr bwMode="hidden">
            <a:xfrm>
              <a:off x="5107" y="0"/>
              <a:ext cx="573" cy="1042"/>
            </a:xfrm>
            <a:custGeom>
              <a:avLst/>
              <a:gdLst>
                <a:gd name="T0" fmla="*/ 0 w 574"/>
                <a:gd name="T1" fmla="*/ 0 h 1043"/>
                <a:gd name="T2" fmla="*/ 497 w 574"/>
                <a:gd name="T3" fmla="*/ 1043 h 1043"/>
                <a:gd name="T4" fmla="*/ 574 w 574"/>
                <a:gd name="T5" fmla="*/ 851 h 1043"/>
                <a:gd name="T6" fmla="*/ 251 w 574"/>
                <a:gd name="T7" fmla="*/ 0 h 1043"/>
                <a:gd name="T8" fmla="*/ 0 w 574"/>
                <a:gd name="T9" fmla="*/ 0 h 1043"/>
                <a:gd name="T10" fmla="*/ 0 w 574"/>
                <a:gd name="T11" fmla="*/ 0 h 1043"/>
              </a:gdLst>
              <a:ahLst/>
              <a:cxnLst>
                <a:cxn ang="0">
                  <a:pos x="T0" y="T1"/>
                </a:cxn>
                <a:cxn ang="0">
                  <a:pos x="T2" y="T3"/>
                </a:cxn>
                <a:cxn ang="0">
                  <a:pos x="T4" y="T5"/>
                </a:cxn>
                <a:cxn ang="0">
                  <a:pos x="T6" y="T7"/>
                </a:cxn>
                <a:cxn ang="0">
                  <a:pos x="T8" y="T9"/>
                </a:cxn>
                <a:cxn ang="0">
                  <a:pos x="T10" y="T11"/>
                </a:cxn>
              </a:cxnLst>
              <a:rect l="0" t="0" r="r" b="b"/>
              <a:pathLst>
                <a:path w="574" h="1043">
                  <a:moveTo>
                    <a:pt x="0" y="0"/>
                  </a:moveTo>
                  <a:lnTo>
                    <a:pt x="497" y="1043"/>
                  </a:lnTo>
                  <a:lnTo>
                    <a:pt x="574" y="851"/>
                  </a:lnTo>
                  <a:lnTo>
                    <a:pt x="251" y="0"/>
                  </a:lnTo>
                  <a:lnTo>
                    <a:pt x="0" y="0"/>
                  </a:lnTo>
                  <a:lnTo>
                    <a:pt x="0" y="0"/>
                  </a:lnTo>
                  <a:close/>
                </a:path>
              </a:pathLst>
            </a:custGeom>
            <a:gradFill rotWithShape="0">
              <a:gsLst>
                <a:gs pos="0">
                  <a:schemeClr val="bg2">
                    <a:gamma/>
                    <a:shade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7" name="Freeform 27">
              <a:extLst>
                <a:ext uri="{FF2B5EF4-FFF2-40B4-BE49-F238E27FC236}">
                  <a16:creationId xmlns:a16="http://schemas.microsoft.com/office/drawing/2014/main" id="{7ECF12D2-1BBB-4053-83B0-36C5E0EC7110}"/>
                </a:ext>
              </a:extLst>
            </p:cNvPr>
            <p:cNvSpPr>
              <a:spLocks/>
            </p:cNvSpPr>
            <p:nvPr/>
          </p:nvSpPr>
          <p:spPr bwMode="hidden">
            <a:xfrm>
              <a:off x="5411" y="0"/>
              <a:ext cx="341" cy="796"/>
            </a:xfrm>
            <a:custGeom>
              <a:avLst/>
              <a:gdLst>
                <a:gd name="T0" fmla="*/ 144 w 341"/>
                <a:gd name="T1" fmla="*/ 0 h 797"/>
                <a:gd name="T2" fmla="*/ 0 w 341"/>
                <a:gd name="T3" fmla="*/ 0 h 797"/>
                <a:gd name="T4" fmla="*/ 287 w 341"/>
                <a:gd name="T5" fmla="*/ 797 h 797"/>
                <a:gd name="T6" fmla="*/ 341 w 341"/>
                <a:gd name="T7" fmla="*/ 653 h 797"/>
                <a:gd name="T8" fmla="*/ 144 w 341"/>
                <a:gd name="T9" fmla="*/ 0 h 797"/>
                <a:gd name="T10" fmla="*/ 144 w 341"/>
                <a:gd name="T11" fmla="*/ 0 h 797"/>
              </a:gdLst>
              <a:ahLst/>
              <a:cxnLst>
                <a:cxn ang="0">
                  <a:pos x="T0" y="T1"/>
                </a:cxn>
                <a:cxn ang="0">
                  <a:pos x="T2" y="T3"/>
                </a:cxn>
                <a:cxn ang="0">
                  <a:pos x="T4" y="T5"/>
                </a:cxn>
                <a:cxn ang="0">
                  <a:pos x="T6" y="T7"/>
                </a:cxn>
                <a:cxn ang="0">
                  <a:pos x="T8" y="T9"/>
                </a:cxn>
                <a:cxn ang="0">
                  <a:pos x="T10" y="T11"/>
                </a:cxn>
              </a:cxnLst>
              <a:rect l="0" t="0" r="r" b="b"/>
              <a:pathLst>
                <a:path w="341" h="797">
                  <a:moveTo>
                    <a:pt x="144" y="0"/>
                  </a:moveTo>
                  <a:lnTo>
                    <a:pt x="0" y="0"/>
                  </a:lnTo>
                  <a:lnTo>
                    <a:pt x="287" y="797"/>
                  </a:lnTo>
                  <a:lnTo>
                    <a:pt x="341" y="653"/>
                  </a:lnTo>
                  <a:lnTo>
                    <a:pt x="144" y="0"/>
                  </a:lnTo>
                  <a:lnTo>
                    <a:pt x="144" y="0"/>
                  </a:lnTo>
                  <a:close/>
                </a:path>
              </a:pathLst>
            </a:custGeom>
            <a:gradFill rotWithShape="0">
              <a:gsLst>
                <a:gs pos="0">
                  <a:schemeClr val="bg2">
                    <a:gamma/>
                    <a:shade val="69804"/>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8" name="Freeform 28">
              <a:extLst>
                <a:ext uri="{FF2B5EF4-FFF2-40B4-BE49-F238E27FC236}">
                  <a16:creationId xmlns:a16="http://schemas.microsoft.com/office/drawing/2014/main" id="{484A5A3A-0E9F-4C2D-8D70-AF962B74DB1A}"/>
                </a:ext>
              </a:extLst>
            </p:cNvPr>
            <p:cNvSpPr>
              <a:spLocks/>
            </p:cNvSpPr>
            <p:nvPr/>
          </p:nvSpPr>
          <p:spPr bwMode="hidden">
            <a:xfrm>
              <a:off x="5698" y="653"/>
              <a:ext cx="60" cy="311"/>
            </a:xfrm>
            <a:custGeom>
              <a:avLst/>
              <a:gdLst>
                <a:gd name="T0" fmla="*/ 0 w 60"/>
                <a:gd name="T1" fmla="*/ 144 h 312"/>
                <a:gd name="T2" fmla="*/ 60 w 60"/>
                <a:gd name="T3" fmla="*/ 312 h 312"/>
                <a:gd name="T4" fmla="*/ 60 w 60"/>
                <a:gd name="T5" fmla="*/ 6 h 312"/>
                <a:gd name="T6" fmla="*/ 54 w 60"/>
                <a:gd name="T7" fmla="*/ 0 h 312"/>
                <a:gd name="T8" fmla="*/ 0 w 60"/>
                <a:gd name="T9" fmla="*/ 144 h 312"/>
                <a:gd name="T10" fmla="*/ 0 w 60"/>
                <a:gd name="T11" fmla="*/ 144 h 312"/>
              </a:gdLst>
              <a:ahLst/>
              <a:cxnLst>
                <a:cxn ang="0">
                  <a:pos x="T0" y="T1"/>
                </a:cxn>
                <a:cxn ang="0">
                  <a:pos x="T2" y="T3"/>
                </a:cxn>
                <a:cxn ang="0">
                  <a:pos x="T4" y="T5"/>
                </a:cxn>
                <a:cxn ang="0">
                  <a:pos x="T6" y="T7"/>
                </a:cxn>
                <a:cxn ang="0">
                  <a:pos x="T8" y="T9"/>
                </a:cxn>
                <a:cxn ang="0">
                  <a:pos x="T10" y="T11"/>
                </a:cxn>
              </a:cxnLst>
              <a:rect l="0" t="0" r="r" b="b"/>
              <a:pathLst>
                <a:path w="60" h="312">
                  <a:moveTo>
                    <a:pt x="0" y="144"/>
                  </a:moveTo>
                  <a:lnTo>
                    <a:pt x="60" y="312"/>
                  </a:lnTo>
                  <a:lnTo>
                    <a:pt x="60" y="6"/>
                  </a:lnTo>
                  <a:lnTo>
                    <a:pt x="54" y="0"/>
                  </a:lnTo>
                  <a:lnTo>
                    <a:pt x="0" y="144"/>
                  </a:lnTo>
                  <a:lnTo>
                    <a:pt x="0" y="14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9" name="Freeform 29">
              <a:extLst>
                <a:ext uri="{FF2B5EF4-FFF2-40B4-BE49-F238E27FC236}">
                  <a16:creationId xmlns:a16="http://schemas.microsoft.com/office/drawing/2014/main" id="{F6A5B8C8-2104-4023-8727-4EFDB285E57F}"/>
                </a:ext>
              </a:extLst>
            </p:cNvPr>
            <p:cNvSpPr>
              <a:spLocks/>
            </p:cNvSpPr>
            <p:nvPr/>
          </p:nvSpPr>
          <p:spPr bwMode="hidden">
            <a:xfrm>
              <a:off x="2" y="1601"/>
              <a:ext cx="5752" cy="1864"/>
            </a:xfrm>
            <a:custGeom>
              <a:avLst/>
              <a:gdLst>
                <a:gd name="T0" fmla="*/ 0 w 5740"/>
                <a:gd name="T1" fmla="*/ 371 h 1864"/>
                <a:gd name="T2" fmla="*/ 5740 w 5740"/>
                <a:gd name="T3" fmla="*/ 1864 h 1864"/>
                <a:gd name="T4" fmla="*/ 5740 w 5740"/>
                <a:gd name="T5" fmla="*/ 1834 h 1864"/>
                <a:gd name="T6" fmla="*/ 0 w 5740"/>
                <a:gd name="T7" fmla="*/ 0 h 1864"/>
                <a:gd name="T8" fmla="*/ 0 w 5740"/>
                <a:gd name="T9" fmla="*/ 371 h 1864"/>
                <a:gd name="T10" fmla="*/ 0 w 5740"/>
                <a:gd name="T11" fmla="*/ 371 h 1864"/>
              </a:gdLst>
              <a:ahLst/>
              <a:cxnLst>
                <a:cxn ang="0">
                  <a:pos x="T0" y="T1"/>
                </a:cxn>
                <a:cxn ang="0">
                  <a:pos x="T2" y="T3"/>
                </a:cxn>
                <a:cxn ang="0">
                  <a:pos x="T4" y="T5"/>
                </a:cxn>
                <a:cxn ang="0">
                  <a:pos x="T6" y="T7"/>
                </a:cxn>
                <a:cxn ang="0">
                  <a:pos x="T8" y="T9"/>
                </a:cxn>
                <a:cxn ang="0">
                  <a:pos x="T10" y="T11"/>
                </a:cxn>
              </a:cxnLst>
              <a:rect l="0" t="0" r="r" b="b"/>
              <a:pathLst>
                <a:path w="5740" h="1864">
                  <a:moveTo>
                    <a:pt x="0" y="371"/>
                  </a:moveTo>
                  <a:lnTo>
                    <a:pt x="5740" y="1864"/>
                  </a:lnTo>
                  <a:lnTo>
                    <a:pt x="5740" y="1834"/>
                  </a:lnTo>
                  <a:lnTo>
                    <a:pt x="0" y="0"/>
                  </a:lnTo>
                  <a:lnTo>
                    <a:pt x="0" y="371"/>
                  </a:lnTo>
                  <a:lnTo>
                    <a:pt x="0" y="371"/>
                  </a:lnTo>
                  <a:close/>
                </a:path>
              </a:pathLst>
            </a:custGeom>
            <a:gradFill rotWithShape="0">
              <a:gsLst>
                <a:gs pos="0">
                  <a:schemeClr val="bg1">
                    <a:gamma/>
                    <a:shade val="63529"/>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0" name="Freeform 30">
              <a:extLst>
                <a:ext uri="{FF2B5EF4-FFF2-40B4-BE49-F238E27FC236}">
                  <a16:creationId xmlns:a16="http://schemas.microsoft.com/office/drawing/2014/main" id="{C2370131-75EA-430C-A6CB-D12B075492BF}"/>
                </a:ext>
              </a:extLst>
            </p:cNvPr>
            <p:cNvSpPr>
              <a:spLocks/>
            </p:cNvSpPr>
            <p:nvPr/>
          </p:nvSpPr>
          <p:spPr bwMode="hidden">
            <a:xfrm>
              <a:off x="5754" y="3483"/>
              <a:ext cx="6" cy="6"/>
            </a:xfrm>
            <a:custGeom>
              <a:avLst/>
              <a:gdLst>
                <a:gd name="T0" fmla="*/ 6 w 6"/>
                <a:gd name="T1" fmla="*/ 6 h 6"/>
                <a:gd name="T2" fmla="*/ 0 w 6"/>
                <a:gd name="T3" fmla="*/ 0 h 6"/>
                <a:gd name="T4" fmla="*/ 0 w 6"/>
                <a:gd name="T5" fmla="*/ 6 h 6"/>
                <a:gd name="T6" fmla="*/ 6 w 6"/>
                <a:gd name="T7" fmla="*/ 6 h 6"/>
                <a:gd name="T8" fmla="*/ 6 w 6"/>
                <a:gd name="T9" fmla="*/ 6 h 6"/>
              </a:gdLst>
              <a:ahLst/>
              <a:cxnLst>
                <a:cxn ang="0">
                  <a:pos x="T0" y="T1"/>
                </a:cxn>
                <a:cxn ang="0">
                  <a:pos x="T2" y="T3"/>
                </a:cxn>
                <a:cxn ang="0">
                  <a:pos x="T4" y="T5"/>
                </a:cxn>
                <a:cxn ang="0">
                  <a:pos x="T6" y="T7"/>
                </a:cxn>
                <a:cxn ang="0">
                  <a:pos x="T8" y="T9"/>
                </a:cxn>
              </a:cxnLst>
              <a:rect l="0" t="0" r="r" b="b"/>
              <a:pathLst>
                <a:path w="6" h="6">
                  <a:moveTo>
                    <a:pt x="6" y="6"/>
                  </a:moveTo>
                  <a:lnTo>
                    <a:pt x="0" y="0"/>
                  </a:lnTo>
                  <a:lnTo>
                    <a:pt x="0" y="6"/>
                  </a:lnTo>
                  <a:lnTo>
                    <a:pt x="6" y="6"/>
                  </a:lnTo>
                  <a:lnTo>
                    <a:pt x="6" y="6"/>
                  </a:lnTo>
                  <a:close/>
                </a:path>
              </a:pathLst>
            </a:custGeom>
            <a:solidFill>
              <a:srgbClr val="18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1" name="Freeform 31">
              <a:extLst>
                <a:ext uri="{FF2B5EF4-FFF2-40B4-BE49-F238E27FC236}">
                  <a16:creationId xmlns:a16="http://schemas.microsoft.com/office/drawing/2014/main" id="{1BC54FCE-D4BA-4057-AB00-C0DC834005B9}"/>
                </a:ext>
              </a:extLst>
            </p:cNvPr>
            <p:cNvSpPr>
              <a:spLocks/>
            </p:cNvSpPr>
            <p:nvPr/>
          </p:nvSpPr>
          <p:spPr bwMode="hidden">
            <a:xfrm>
              <a:off x="2" y="2152"/>
              <a:ext cx="5752" cy="1337"/>
            </a:xfrm>
            <a:custGeom>
              <a:avLst/>
              <a:gdLst>
                <a:gd name="T0" fmla="*/ 0 w 5740"/>
                <a:gd name="T1" fmla="*/ 366 h 1337"/>
                <a:gd name="T2" fmla="*/ 5740 w 5740"/>
                <a:gd name="T3" fmla="*/ 1337 h 1337"/>
                <a:gd name="T4" fmla="*/ 5740 w 5740"/>
                <a:gd name="T5" fmla="*/ 1331 h 1337"/>
                <a:gd name="T6" fmla="*/ 0 w 5740"/>
                <a:gd name="T7" fmla="*/ 0 h 1337"/>
                <a:gd name="T8" fmla="*/ 0 w 5740"/>
                <a:gd name="T9" fmla="*/ 366 h 1337"/>
                <a:gd name="T10" fmla="*/ 0 w 5740"/>
                <a:gd name="T11" fmla="*/ 366 h 1337"/>
              </a:gdLst>
              <a:ahLst/>
              <a:cxnLst>
                <a:cxn ang="0">
                  <a:pos x="T0" y="T1"/>
                </a:cxn>
                <a:cxn ang="0">
                  <a:pos x="T2" y="T3"/>
                </a:cxn>
                <a:cxn ang="0">
                  <a:pos x="T4" y="T5"/>
                </a:cxn>
                <a:cxn ang="0">
                  <a:pos x="T6" y="T7"/>
                </a:cxn>
                <a:cxn ang="0">
                  <a:pos x="T8" y="T9"/>
                </a:cxn>
                <a:cxn ang="0">
                  <a:pos x="T10" y="T11"/>
                </a:cxn>
              </a:cxnLst>
              <a:rect l="0" t="0" r="r" b="b"/>
              <a:pathLst>
                <a:path w="5740" h="1337">
                  <a:moveTo>
                    <a:pt x="0" y="366"/>
                  </a:moveTo>
                  <a:lnTo>
                    <a:pt x="5740" y="1337"/>
                  </a:lnTo>
                  <a:lnTo>
                    <a:pt x="5740" y="1331"/>
                  </a:lnTo>
                  <a:lnTo>
                    <a:pt x="0" y="0"/>
                  </a:lnTo>
                  <a:lnTo>
                    <a:pt x="0" y="366"/>
                  </a:lnTo>
                  <a:lnTo>
                    <a:pt x="0" y="366"/>
                  </a:lnTo>
                  <a:close/>
                </a:path>
              </a:pathLst>
            </a:custGeom>
            <a:gradFill rotWithShape="0">
              <a:gsLst>
                <a:gs pos="0">
                  <a:schemeClr val="bg1">
                    <a:gamma/>
                    <a:shade val="6078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2" name="Freeform 32">
              <a:extLst>
                <a:ext uri="{FF2B5EF4-FFF2-40B4-BE49-F238E27FC236}">
                  <a16:creationId xmlns:a16="http://schemas.microsoft.com/office/drawing/2014/main" id="{A9CF0D36-E00C-4260-AD15-3904D4329ECA}"/>
                </a:ext>
              </a:extLst>
            </p:cNvPr>
            <p:cNvSpPr>
              <a:spLocks/>
            </p:cNvSpPr>
            <p:nvPr/>
          </p:nvSpPr>
          <p:spPr bwMode="hidden">
            <a:xfrm>
              <a:off x="2" y="3177"/>
              <a:ext cx="5752" cy="414"/>
            </a:xfrm>
            <a:custGeom>
              <a:avLst/>
              <a:gdLst>
                <a:gd name="T0" fmla="*/ 0 w 5740"/>
                <a:gd name="T1" fmla="*/ 48 h 414"/>
                <a:gd name="T2" fmla="*/ 5740 w 5740"/>
                <a:gd name="T3" fmla="*/ 414 h 414"/>
                <a:gd name="T4" fmla="*/ 5740 w 5740"/>
                <a:gd name="T5" fmla="*/ 402 h 414"/>
                <a:gd name="T6" fmla="*/ 0 w 5740"/>
                <a:gd name="T7" fmla="*/ 0 h 414"/>
                <a:gd name="T8" fmla="*/ 0 w 5740"/>
                <a:gd name="T9" fmla="*/ 48 h 414"/>
                <a:gd name="T10" fmla="*/ 0 w 5740"/>
                <a:gd name="T11" fmla="*/ 48 h 414"/>
              </a:gdLst>
              <a:ahLst/>
              <a:cxnLst>
                <a:cxn ang="0">
                  <a:pos x="T0" y="T1"/>
                </a:cxn>
                <a:cxn ang="0">
                  <a:pos x="T2" y="T3"/>
                </a:cxn>
                <a:cxn ang="0">
                  <a:pos x="T4" y="T5"/>
                </a:cxn>
                <a:cxn ang="0">
                  <a:pos x="T6" y="T7"/>
                </a:cxn>
                <a:cxn ang="0">
                  <a:pos x="T8" y="T9"/>
                </a:cxn>
                <a:cxn ang="0">
                  <a:pos x="T10" y="T11"/>
                </a:cxn>
              </a:cxnLst>
              <a:rect l="0" t="0" r="r" b="b"/>
              <a:pathLst>
                <a:path w="5740" h="414">
                  <a:moveTo>
                    <a:pt x="0" y="48"/>
                  </a:moveTo>
                  <a:lnTo>
                    <a:pt x="5740" y="414"/>
                  </a:lnTo>
                  <a:lnTo>
                    <a:pt x="5740" y="402"/>
                  </a:lnTo>
                  <a:lnTo>
                    <a:pt x="0" y="0"/>
                  </a:lnTo>
                  <a:lnTo>
                    <a:pt x="0" y="48"/>
                  </a:lnTo>
                  <a:lnTo>
                    <a:pt x="0" y="48"/>
                  </a:lnTo>
                  <a:close/>
                </a:path>
              </a:pathLst>
            </a:custGeom>
            <a:gradFill rotWithShape="0">
              <a:gsLst>
                <a:gs pos="0">
                  <a:schemeClr val="bg1">
                    <a:gamma/>
                    <a:shade val="84706"/>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3" name="Freeform 33">
              <a:extLst>
                <a:ext uri="{FF2B5EF4-FFF2-40B4-BE49-F238E27FC236}">
                  <a16:creationId xmlns:a16="http://schemas.microsoft.com/office/drawing/2014/main" id="{88F9ADEE-4073-45F3-AAEE-2BA210F8F9B6}"/>
                </a:ext>
              </a:extLst>
            </p:cNvPr>
            <p:cNvSpPr>
              <a:spLocks/>
            </p:cNvSpPr>
            <p:nvPr/>
          </p:nvSpPr>
          <p:spPr bwMode="hidden">
            <a:xfrm>
              <a:off x="1297" y="0"/>
              <a:ext cx="4457" cy="3177"/>
            </a:xfrm>
            <a:custGeom>
              <a:avLst/>
              <a:gdLst>
                <a:gd name="T0" fmla="*/ 0 w 4448"/>
                <a:gd name="T1" fmla="*/ 0 h 3177"/>
                <a:gd name="T2" fmla="*/ 4448 w 4448"/>
                <a:gd name="T3" fmla="*/ 3177 h 3177"/>
                <a:gd name="T4" fmla="*/ 4448 w 4448"/>
                <a:gd name="T5" fmla="*/ 3153 h 3177"/>
                <a:gd name="T6" fmla="*/ 125 w 4448"/>
                <a:gd name="T7" fmla="*/ 0 h 3177"/>
                <a:gd name="T8" fmla="*/ 0 w 4448"/>
                <a:gd name="T9" fmla="*/ 0 h 3177"/>
                <a:gd name="T10" fmla="*/ 0 w 4448"/>
                <a:gd name="T11" fmla="*/ 0 h 3177"/>
              </a:gdLst>
              <a:ahLst/>
              <a:cxnLst>
                <a:cxn ang="0">
                  <a:pos x="T0" y="T1"/>
                </a:cxn>
                <a:cxn ang="0">
                  <a:pos x="T2" y="T3"/>
                </a:cxn>
                <a:cxn ang="0">
                  <a:pos x="T4" y="T5"/>
                </a:cxn>
                <a:cxn ang="0">
                  <a:pos x="T6" y="T7"/>
                </a:cxn>
                <a:cxn ang="0">
                  <a:pos x="T8" y="T9"/>
                </a:cxn>
                <a:cxn ang="0">
                  <a:pos x="T10" y="T11"/>
                </a:cxn>
              </a:cxnLst>
              <a:rect l="0" t="0" r="r" b="b"/>
              <a:pathLst>
                <a:path w="4448" h="3177">
                  <a:moveTo>
                    <a:pt x="0" y="0"/>
                  </a:moveTo>
                  <a:lnTo>
                    <a:pt x="4448" y="3177"/>
                  </a:lnTo>
                  <a:lnTo>
                    <a:pt x="4448" y="3153"/>
                  </a:lnTo>
                  <a:lnTo>
                    <a:pt x="125" y="0"/>
                  </a:lnTo>
                  <a:lnTo>
                    <a:pt x="0" y="0"/>
                  </a:lnTo>
                  <a:lnTo>
                    <a:pt x="0" y="0"/>
                  </a:lnTo>
                  <a:close/>
                </a:path>
              </a:pathLst>
            </a:custGeom>
            <a:gradFill rotWithShape="0">
              <a:gsLst>
                <a:gs pos="0">
                  <a:schemeClr val="bg1">
                    <a:gamma/>
                    <a:shade val="48627"/>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4" name="Freeform 34">
              <a:extLst>
                <a:ext uri="{FF2B5EF4-FFF2-40B4-BE49-F238E27FC236}">
                  <a16:creationId xmlns:a16="http://schemas.microsoft.com/office/drawing/2014/main" id="{BDD022EB-18BB-40EA-91CF-AF35F241AC13}"/>
                </a:ext>
              </a:extLst>
            </p:cNvPr>
            <p:cNvSpPr>
              <a:spLocks/>
            </p:cNvSpPr>
            <p:nvPr/>
          </p:nvSpPr>
          <p:spPr bwMode="hidden">
            <a:xfrm>
              <a:off x="3321" y="0"/>
              <a:ext cx="2433" cy="2614"/>
            </a:xfrm>
            <a:custGeom>
              <a:avLst/>
              <a:gdLst>
                <a:gd name="T0" fmla="*/ 0 w 2428"/>
                <a:gd name="T1" fmla="*/ 0 h 2614"/>
                <a:gd name="T2" fmla="*/ 2428 w 2428"/>
                <a:gd name="T3" fmla="*/ 2614 h 2614"/>
                <a:gd name="T4" fmla="*/ 2428 w 2428"/>
                <a:gd name="T5" fmla="*/ 2608 h 2614"/>
                <a:gd name="T6" fmla="*/ 66 w 2428"/>
                <a:gd name="T7" fmla="*/ 0 h 2614"/>
                <a:gd name="T8" fmla="*/ 0 w 2428"/>
                <a:gd name="T9" fmla="*/ 0 h 2614"/>
                <a:gd name="T10" fmla="*/ 0 w 2428"/>
                <a:gd name="T11" fmla="*/ 0 h 2614"/>
              </a:gdLst>
              <a:ahLst/>
              <a:cxnLst>
                <a:cxn ang="0">
                  <a:pos x="T0" y="T1"/>
                </a:cxn>
                <a:cxn ang="0">
                  <a:pos x="T2" y="T3"/>
                </a:cxn>
                <a:cxn ang="0">
                  <a:pos x="T4" y="T5"/>
                </a:cxn>
                <a:cxn ang="0">
                  <a:pos x="T6" y="T7"/>
                </a:cxn>
                <a:cxn ang="0">
                  <a:pos x="T8" y="T9"/>
                </a:cxn>
                <a:cxn ang="0">
                  <a:pos x="T10" y="T11"/>
                </a:cxn>
              </a:cxnLst>
              <a:rect l="0" t="0" r="r" b="b"/>
              <a:pathLst>
                <a:path w="2428" h="2614">
                  <a:moveTo>
                    <a:pt x="0" y="0"/>
                  </a:moveTo>
                  <a:lnTo>
                    <a:pt x="2428" y="2614"/>
                  </a:lnTo>
                  <a:lnTo>
                    <a:pt x="2428" y="2608"/>
                  </a:lnTo>
                  <a:lnTo>
                    <a:pt x="66" y="0"/>
                  </a:lnTo>
                  <a:lnTo>
                    <a:pt x="0" y="0"/>
                  </a:lnTo>
                  <a:lnTo>
                    <a:pt x="0" y="0"/>
                  </a:lnTo>
                  <a:close/>
                </a:path>
              </a:pathLst>
            </a:custGeom>
            <a:gradFill rotWithShape="0">
              <a:gsLst>
                <a:gs pos="0">
                  <a:schemeClr val="bg1">
                    <a:gamma/>
                    <a:shade val="84706"/>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5" name="Freeform 35">
              <a:extLst>
                <a:ext uri="{FF2B5EF4-FFF2-40B4-BE49-F238E27FC236}">
                  <a16:creationId xmlns:a16="http://schemas.microsoft.com/office/drawing/2014/main" id="{92B44AD5-9D93-4681-8C5C-9155FC22000D}"/>
                </a:ext>
              </a:extLst>
            </p:cNvPr>
            <p:cNvSpPr>
              <a:spLocks/>
            </p:cNvSpPr>
            <p:nvPr/>
          </p:nvSpPr>
          <p:spPr bwMode="hidden">
            <a:xfrm>
              <a:off x="3950" y="0"/>
              <a:ext cx="1804" cy="2464"/>
            </a:xfrm>
            <a:custGeom>
              <a:avLst/>
              <a:gdLst>
                <a:gd name="T0" fmla="*/ 485 w 1800"/>
                <a:gd name="T1" fmla="*/ 0 h 2464"/>
                <a:gd name="T2" fmla="*/ 0 w 1800"/>
                <a:gd name="T3" fmla="*/ 0 h 2464"/>
                <a:gd name="T4" fmla="*/ 1800 w 1800"/>
                <a:gd name="T5" fmla="*/ 2464 h 2464"/>
                <a:gd name="T6" fmla="*/ 1800 w 1800"/>
                <a:gd name="T7" fmla="*/ 2248 h 2464"/>
                <a:gd name="T8" fmla="*/ 1794 w 1800"/>
                <a:gd name="T9" fmla="*/ 2248 h 2464"/>
                <a:gd name="T10" fmla="*/ 485 w 1800"/>
                <a:gd name="T11" fmla="*/ 0 h 2464"/>
                <a:gd name="T12" fmla="*/ 485 w 1800"/>
                <a:gd name="T13" fmla="*/ 0 h 2464"/>
              </a:gdLst>
              <a:ahLst/>
              <a:cxnLst>
                <a:cxn ang="0">
                  <a:pos x="T0" y="T1"/>
                </a:cxn>
                <a:cxn ang="0">
                  <a:pos x="T2" y="T3"/>
                </a:cxn>
                <a:cxn ang="0">
                  <a:pos x="T4" y="T5"/>
                </a:cxn>
                <a:cxn ang="0">
                  <a:pos x="T6" y="T7"/>
                </a:cxn>
                <a:cxn ang="0">
                  <a:pos x="T8" y="T9"/>
                </a:cxn>
                <a:cxn ang="0">
                  <a:pos x="T10" y="T11"/>
                </a:cxn>
                <a:cxn ang="0">
                  <a:pos x="T12" y="T13"/>
                </a:cxn>
              </a:cxnLst>
              <a:rect l="0" t="0"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chemeClr val="bg2">
                    <a:gamma/>
                    <a:shade val="78824"/>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6" name="Freeform 36">
              <a:extLst>
                <a:ext uri="{FF2B5EF4-FFF2-40B4-BE49-F238E27FC236}">
                  <a16:creationId xmlns:a16="http://schemas.microsoft.com/office/drawing/2014/main" id="{EFFD3233-B5C6-4D98-BEBA-0A6161F41B85}"/>
                </a:ext>
              </a:extLst>
            </p:cNvPr>
            <p:cNvSpPr>
              <a:spLocks/>
            </p:cNvSpPr>
            <p:nvPr/>
          </p:nvSpPr>
          <p:spPr bwMode="hidden">
            <a:xfrm>
              <a:off x="4519" y="0"/>
              <a:ext cx="1235" cy="2074"/>
            </a:xfrm>
            <a:custGeom>
              <a:avLst/>
              <a:gdLst>
                <a:gd name="T0" fmla="*/ 0 w 1232"/>
                <a:gd name="T1" fmla="*/ 0 h 2074"/>
                <a:gd name="T2" fmla="*/ 1232 w 1232"/>
                <a:gd name="T3" fmla="*/ 2074 h 2074"/>
                <a:gd name="T4" fmla="*/ 1232 w 1232"/>
                <a:gd name="T5" fmla="*/ 2038 h 2074"/>
                <a:gd name="T6" fmla="*/ 42 w 1232"/>
                <a:gd name="T7" fmla="*/ 0 h 2074"/>
                <a:gd name="T8" fmla="*/ 0 w 1232"/>
                <a:gd name="T9" fmla="*/ 0 h 2074"/>
                <a:gd name="T10" fmla="*/ 0 w 1232"/>
                <a:gd name="T11" fmla="*/ 0 h 2074"/>
              </a:gdLst>
              <a:ahLst/>
              <a:cxnLst>
                <a:cxn ang="0">
                  <a:pos x="T0" y="T1"/>
                </a:cxn>
                <a:cxn ang="0">
                  <a:pos x="T2" y="T3"/>
                </a:cxn>
                <a:cxn ang="0">
                  <a:pos x="T4" y="T5"/>
                </a:cxn>
                <a:cxn ang="0">
                  <a:pos x="T6" y="T7"/>
                </a:cxn>
                <a:cxn ang="0">
                  <a:pos x="T8" y="T9"/>
                </a:cxn>
                <a:cxn ang="0">
                  <a:pos x="T10" y="T11"/>
                </a:cxn>
              </a:cxnLst>
              <a:rect l="0" t="0" r="r" b="b"/>
              <a:pathLst>
                <a:path w="1232" h="2074">
                  <a:moveTo>
                    <a:pt x="0" y="0"/>
                  </a:moveTo>
                  <a:lnTo>
                    <a:pt x="1232" y="2074"/>
                  </a:lnTo>
                  <a:lnTo>
                    <a:pt x="1232" y="2038"/>
                  </a:lnTo>
                  <a:lnTo>
                    <a:pt x="42" y="0"/>
                  </a:lnTo>
                  <a:lnTo>
                    <a:pt x="0" y="0"/>
                  </a:lnTo>
                  <a:lnTo>
                    <a:pt x="0" y="0"/>
                  </a:lnTo>
                  <a:close/>
                </a:path>
              </a:pathLst>
            </a:custGeom>
            <a:gradFill rotWithShape="0">
              <a:gsLst>
                <a:gs pos="0">
                  <a:schemeClr val="bg1">
                    <a:gamma/>
                    <a:shade val="57647"/>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7" name="Freeform 37">
              <a:extLst>
                <a:ext uri="{FF2B5EF4-FFF2-40B4-BE49-F238E27FC236}">
                  <a16:creationId xmlns:a16="http://schemas.microsoft.com/office/drawing/2014/main" id="{642522C6-21F3-4E5A-B968-9859831B44AA}"/>
                </a:ext>
              </a:extLst>
            </p:cNvPr>
            <p:cNvSpPr>
              <a:spLocks/>
            </p:cNvSpPr>
            <p:nvPr/>
          </p:nvSpPr>
          <p:spPr bwMode="hidden">
            <a:xfrm>
              <a:off x="4694" y="0"/>
              <a:ext cx="1060" cy="1936"/>
            </a:xfrm>
            <a:custGeom>
              <a:avLst/>
              <a:gdLst>
                <a:gd name="T0" fmla="*/ 0 w 1058"/>
                <a:gd name="T1" fmla="*/ 0 h 1936"/>
                <a:gd name="T2" fmla="*/ 1058 w 1058"/>
                <a:gd name="T3" fmla="*/ 1936 h 1936"/>
                <a:gd name="T4" fmla="*/ 1058 w 1058"/>
                <a:gd name="T5" fmla="*/ 1930 h 1936"/>
                <a:gd name="T6" fmla="*/ 54 w 1058"/>
                <a:gd name="T7" fmla="*/ 0 h 1936"/>
                <a:gd name="T8" fmla="*/ 0 w 1058"/>
                <a:gd name="T9" fmla="*/ 0 h 1936"/>
                <a:gd name="T10" fmla="*/ 0 w 1058"/>
                <a:gd name="T11" fmla="*/ 0 h 1936"/>
              </a:gdLst>
              <a:ahLst/>
              <a:cxnLst>
                <a:cxn ang="0">
                  <a:pos x="T0" y="T1"/>
                </a:cxn>
                <a:cxn ang="0">
                  <a:pos x="T2" y="T3"/>
                </a:cxn>
                <a:cxn ang="0">
                  <a:pos x="T4" y="T5"/>
                </a:cxn>
                <a:cxn ang="0">
                  <a:pos x="T6" y="T7"/>
                </a:cxn>
                <a:cxn ang="0">
                  <a:pos x="T8" y="T9"/>
                </a:cxn>
                <a:cxn ang="0">
                  <a:pos x="T10" y="T11"/>
                </a:cxn>
              </a:cxnLst>
              <a:rect l="0" t="0" r="r" b="b"/>
              <a:pathLst>
                <a:path w="1058" h="1936">
                  <a:moveTo>
                    <a:pt x="0" y="0"/>
                  </a:moveTo>
                  <a:lnTo>
                    <a:pt x="1058" y="1936"/>
                  </a:lnTo>
                  <a:lnTo>
                    <a:pt x="1058" y="1930"/>
                  </a:lnTo>
                  <a:lnTo>
                    <a:pt x="54" y="0"/>
                  </a:lnTo>
                  <a:lnTo>
                    <a:pt x="0" y="0"/>
                  </a:lnTo>
                  <a:lnTo>
                    <a:pt x="0" y="0"/>
                  </a:lnTo>
                  <a:close/>
                </a:path>
              </a:pathLst>
            </a:custGeom>
            <a:gradFill rotWithShape="0">
              <a:gsLst>
                <a:gs pos="0">
                  <a:schemeClr val="bg1">
                    <a:gamma/>
                    <a:shade val="72549"/>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8" name="Freeform 38">
              <a:extLst>
                <a:ext uri="{FF2B5EF4-FFF2-40B4-BE49-F238E27FC236}">
                  <a16:creationId xmlns:a16="http://schemas.microsoft.com/office/drawing/2014/main" id="{6F56F781-22FF-47B2-9C01-20323887903D}"/>
                </a:ext>
              </a:extLst>
            </p:cNvPr>
            <p:cNvSpPr>
              <a:spLocks/>
            </p:cNvSpPr>
            <p:nvPr/>
          </p:nvSpPr>
          <p:spPr bwMode="hidden">
            <a:xfrm>
              <a:off x="4981" y="0"/>
              <a:ext cx="773" cy="1487"/>
            </a:xfrm>
            <a:custGeom>
              <a:avLst/>
              <a:gdLst>
                <a:gd name="T0" fmla="*/ 771 w 771"/>
                <a:gd name="T1" fmla="*/ 1433 h 1487"/>
                <a:gd name="T2" fmla="*/ 42 w 771"/>
                <a:gd name="T3" fmla="*/ 0 h 1487"/>
                <a:gd name="T4" fmla="*/ 0 w 771"/>
                <a:gd name="T5" fmla="*/ 0 h 1487"/>
                <a:gd name="T6" fmla="*/ 771 w 771"/>
                <a:gd name="T7" fmla="*/ 1487 h 1487"/>
                <a:gd name="T8" fmla="*/ 771 w 771"/>
                <a:gd name="T9" fmla="*/ 1433 h 1487"/>
                <a:gd name="T10" fmla="*/ 771 w 771"/>
                <a:gd name="T11" fmla="*/ 1433 h 1487"/>
              </a:gdLst>
              <a:ahLst/>
              <a:cxnLst>
                <a:cxn ang="0">
                  <a:pos x="T0" y="T1"/>
                </a:cxn>
                <a:cxn ang="0">
                  <a:pos x="T2" y="T3"/>
                </a:cxn>
                <a:cxn ang="0">
                  <a:pos x="T4" y="T5"/>
                </a:cxn>
                <a:cxn ang="0">
                  <a:pos x="T6" y="T7"/>
                </a:cxn>
                <a:cxn ang="0">
                  <a:pos x="T8" y="T9"/>
                </a:cxn>
                <a:cxn ang="0">
                  <a:pos x="T10" y="T11"/>
                </a:cxn>
              </a:cxnLst>
              <a:rect l="0" t="0" r="r" b="b"/>
              <a:pathLst>
                <a:path w="771" h="1487">
                  <a:moveTo>
                    <a:pt x="771" y="1433"/>
                  </a:moveTo>
                  <a:lnTo>
                    <a:pt x="42" y="0"/>
                  </a:lnTo>
                  <a:lnTo>
                    <a:pt x="0" y="0"/>
                  </a:lnTo>
                  <a:lnTo>
                    <a:pt x="771" y="1487"/>
                  </a:lnTo>
                  <a:lnTo>
                    <a:pt x="771" y="1433"/>
                  </a:lnTo>
                  <a:lnTo>
                    <a:pt x="771" y="1433"/>
                  </a:lnTo>
                  <a:close/>
                </a:path>
              </a:pathLst>
            </a:custGeom>
            <a:gradFill rotWithShape="0">
              <a:gsLst>
                <a:gs pos="0">
                  <a:schemeClr val="bg1">
                    <a:gamma/>
                    <a:shade val="7882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grpSp>
          <p:nvGrpSpPr>
            <p:cNvPr id="225319" name="Group 39">
              <a:extLst>
                <a:ext uri="{FF2B5EF4-FFF2-40B4-BE49-F238E27FC236}">
                  <a16:creationId xmlns:a16="http://schemas.microsoft.com/office/drawing/2014/main" id="{1DFC8FD7-D68E-4F78-AB7D-007493CDC946}"/>
                </a:ext>
              </a:extLst>
            </p:cNvPr>
            <p:cNvGrpSpPr>
              <a:grpSpLocks/>
            </p:cNvGrpSpPr>
            <p:nvPr userDrawn="1"/>
          </p:nvGrpSpPr>
          <p:grpSpPr bwMode="auto">
            <a:xfrm>
              <a:off x="0" y="1632"/>
              <a:ext cx="5758" cy="1858"/>
              <a:chOff x="0" y="1632"/>
              <a:chExt cx="5758" cy="1858"/>
            </a:xfrm>
          </p:grpSpPr>
          <p:sp>
            <p:nvSpPr>
              <p:cNvPr id="225320" name="Freeform 40">
                <a:extLst>
                  <a:ext uri="{FF2B5EF4-FFF2-40B4-BE49-F238E27FC236}">
                    <a16:creationId xmlns:a16="http://schemas.microsoft.com/office/drawing/2014/main" id="{81835026-1AD8-42C0-A7E8-65C76F192B37}"/>
                  </a:ext>
                </a:extLst>
              </p:cNvPr>
              <p:cNvSpPr>
                <a:spLocks/>
              </p:cNvSpPr>
              <p:nvPr/>
            </p:nvSpPr>
            <p:spPr bwMode="hidden">
              <a:xfrm>
                <a:off x="0" y="1632"/>
                <a:ext cx="3670" cy="1313"/>
              </a:xfrm>
              <a:custGeom>
                <a:avLst/>
                <a:gdLst>
                  <a:gd name="T0" fmla="*/ 0 w 3659"/>
                  <a:gd name="T1" fmla="*/ 0 h 1313"/>
                  <a:gd name="T2" fmla="*/ 0 w 3659"/>
                  <a:gd name="T3" fmla="*/ 366 h 1313"/>
                  <a:gd name="T4" fmla="*/ 3635 w 3659"/>
                  <a:gd name="T5" fmla="*/ 1313 h 1313"/>
                  <a:gd name="T6" fmla="*/ 3647 w 3659"/>
                  <a:gd name="T7" fmla="*/ 1235 h 1313"/>
                  <a:gd name="T8" fmla="*/ 3659 w 3659"/>
                  <a:gd name="T9" fmla="*/ 1163 h 1313"/>
                  <a:gd name="T10" fmla="*/ 0 w 3659"/>
                  <a:gd name="T11" fmla="*/ 0 h 1313"/>
                  <a:gd name="T12" fmla="*/ 0 w 3659"/>
                  <a:gd name="T13" fmla="*/ 0 h 1313"/>
                </a:gdLst>
                <a:ahLst/>
                <a:cxnLst>
                  <a:cxn ang="0">
                    <a:pos x="T0" y="T1"/>
                  </a:cxn>
                  <a:cxn ang="0">
                    <a:pos x="T2" y="T3"/>
                  </a:cxn>
                  <a:cxn ang="0">
                    <a:pos x="T4" y="T5"/>
                  </a:cxn>
                  <a:cxn ang="0">
                    <a:pos x="T6" y="T7"/>
                  </a:cxn>
                  <a:cxn ang="0">
                    <a:pos x="T8" y="T9"/>
                  </a:cxn>
                  <a:cxn ang="0">
                    <a:pos x="T10" y="T11"/>
                  </a:cxn>
                  <a:cxn ang="0">
                    <a:pos x="T12" y="T13"/>
                  </a:cxn>
                </a:cxnLst>
                <a:rect l="0" t="0"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chemeClr val="bg1">
                      <a:gamma/>
                      <a:shade val="72549"/>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21" name="Freeform 41">
                <a:extLst>
                  <a:ext uri="{FF2B5EF4-FFF2-40B4-BE49-F238E27FC236}">
                    <a16:creationId xmlns:a16="http://schemas.microsoft.com/office/drawing/2014/main" id="{5203CCEC-DC12-45AD-90AC-D6CF542E8292}"/>
                  </a:ext>
                </a:extLst>
              </p:cNvPr>
              <p:cNvSpPr>
                <a:spLocks/>
              </p:cNvSpPr>
              <p:nvPr/>
            </p:nvSpPr>
            <p:spPr bwMode="hidden">
              <a:xfrm>
                <a:off x="3646" y="2795"/>
                <a:ext cx="2112" cy="695"/>
              </a:xfrm>
              <a:custGeom>
                <a:avLst/>
                <a:gdLst>
                  <a:gd name="T0" fmla="*/ 2105 w 2105"/>
                  <a:gd name="T1" fmla="*/ 665 h 695"/>
                  <a:gd name="T2" fmla="*/ 24 w 2105"/>
                  <a:gd name="T3" fmla="*/ 0 h 695"/>
                  <a:gd name="T4" fmla="*/ 12 w 2105"/>
                  <a:gd name="T5" fmla="*/ 72 h 695"/>
                  <a:gd name="T6" fmla="*/ 0 w 2105"/>
                  <a:gd name="T7" fmla="*/ 150 h 695"/>
                  <a:gd name="T8" fmla="*/ 2105 w 2105"/>
                  <a:gd name="T9" fmla="*/ 695 h 695"/>
                  <a:gd name="T10" fmla="*/ 2105 w 2105"/>
                  <a:gd name="T11" fmla="*/ 665 h 695"/>
                  <a:gd name="T12" fmla="*/ 2105 w 2105"/>
                  <a:gd name="T13" fmla="*/ 665 h 695"/>
                </a:gdLst>
                <a:ahLst/>
                <a:cxnLst>
                  <a:cxn ang="0">
                    <a:pos x="T0" y="T1"/>
                  </a:cxn>
                  <a:cxn ang="0">
                    <a:pos x="T2" y="T3"/>
                  </a:cxn>
                  <a:cxn ang="0">
                    <a:pos x="T4" y="T5"/>
                  </a:cxn>
                  <a:cxn ang="0">
                    <a:pos x="T6" y="T7"/>
                  </a:cxn>
                  <a:cxn ang="0">
                    <a:pos x="T8" y="T9"/>
                  </a:cxn>
                  <a:cxn ang="0">
                    <a:pos x="T10" y="T11"/>
                  </a:cxn>
                  <a:cxn ang="0">
                    <a:pos x="T12" y="T13"/>
                  </a:cxn>
                </a:cxnLst>
                <a:rect l="0" t="0"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chemeClr val="bg1">
                      <a:gamma/>
                      <a:tint val="90980"/>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grpSp>
      </p:grpSp>
      <p:sp>
        <p:nvSpPr>
          <p:cNvPr id="225322" name="Rectangle 42">
            <a:extLst>
              <a:ext uri="{FF2B5EF4-FFF2-40B4-BE49-F238E27FC236}">
                <a16:creationId xmlns:a16="http://schemas.microsoft.com/office/drawing/2014/main" id="{37712F2C-55CB-48B8-AA1C-8F67B508F22E}"/>
              </a:ext>
            </a:extLst>
          </p:cNvPr>
          <p:cNvSpPr>
            <a:spLocks noGrp="1" noChangeArrowheads="1"/>
          </p:cNvSpPr>
          <p:nvPr>
            <p:ph type="ctrTitle" sz="quarter"/>
          </p:nvPr>
        </p:nvSpPr>
        <p:spPr>
          <a:xfrm>
            <a:off x="457200" y="1200150"/>
            <a:ext cx="8229600" cy="1371600"/>
          </a:xfrm>
        </p:spPr>
        <p:txBody>
          <a:bodyPr/>
          <a:lstStyle>
            <a:lvl1pPr>
              <a:defRPr sz="3600"/>
            </a:lvl1pPr>
          </a:lstStyle>
          <a:p>
            <a:pPr lvl="0"/>
            <a:r>
              <a:rPr lang="zh-CN" altLang="en-US" noProof="0"/>
              <a:t>单击此处编辑母版标题样式</a:t>
            </a:r>
          </a:p>
        </p:txBody>
      </p:sp>
      <p:sp>
        <p:nvSpPr>
          <p:cNvPr id="225323" name="Rectangle 43">
            <a:extLst>
              <a:ext uri="{FF2B5EF4-FFF2-40B4-BE49-F238E27FC236}">
                <a16:creationId xmlns:a16="http://schemas.microsoft.com/office/drawing/2014/main" id="{EF4EA43E-0D37-4023-8EDD-D7D315A94991}"/>
              </a:ext>
            </a:extLst>
          </p:cNvPr>
          <p:cNvSpPr>
            <a:spLocks noGrp="1" noChangeArrowheads="1"/>
          </p:cNvSpPr>
          <p:nvPr>
            <p:ph type="subTitle" sz="quarter" idx="1"/>
          </p:nvPr>
        </p:nvSpPr>
        <p:spPr>
          <a:xfrm>
            <a:off x="1371600" y="2914650"/>
            <a:ext cx="6400800" cy="1314450"/>
          </a:xfrm>
        </p:spPr>
        <p:txBody>
          <a:bodyPr/>
          <a:lstStyle>
            <a:lvl1pPr marL="0" indent="0" algn="ctr">
              <a:buFont typeface="Wingdings" panose="05000000000000000000" pitchFamily="2" charset="2"/>
              <a:buNone/>
              <a:defRPr sz="2700"/>
            </a:lvl1pPr>
          </a:lstStyle>
          <a:p>
            <a:pPr lvl="0"/>
            <a:r>
              <a:rPr lang="zh-CN" altLang="en-US" noProof="0"/>
              <a:t>单击此处编辑母版副标题样式</a:t>
            </a:r>
          </a:p>
        </p:txBody>
      </p:sp>
      <p:sp>
        <p:nvSpPr>
          <p:cNvPr id="225324" name="Rectangle 44">
            <a:extLst>
              <a:ext uri="{FF2B5EF4-FFF2-40B4-BE49-F238E27FC236}">
                <a16:creationId xmlns:a16="http://schemas.microsoft.com/office/drawing/2014/main" id="{D3516B4B-0E08-4A51-B034-81DAB9164644}"/>
              </a:ext>
            </a:extLst>
          </p:cNvPr>
          <p:cNvSpPr>
            <a:spLocks noGrp="1" noChangeArrowheads="1"/>
          </p:cNvSpPr>
          <p:nvPr>
            <p:ph type="dt" sz="quarter" idx="2"/>
          </p:nvPr>
        </p:nvSpPr>
        <p:spPr/>
        <p:txBody>
          <a:bodyPr/>
          <a:lstStyle>
            <a:lvl1pPr>
              <a:defRPr/>
            </a:lvl1pPr>
          </a:lstStyle>
          <a:p>
            <a:endParaRPr lang="en-US" altLang="zh-CN"/>
          </a:p>
        </p:txBody>
      </p:sp>
      <p:sp>
        <p:nvSpPr>
          <p:cNvPr id="225325" name="Rectangle 45">
            <a:extLst>
              <a:ext uri="{FF2B5EF4-FFF2-40B4-BE49-F238E27FC236}">
                <a16:creationId xmlns:a16="http://schemas.microsoft.com/office/drawing/2014/main" id="{57E5BB46-7ED0-4B0C-B8F7-9670D28B8CD5}"/>
              </a:ext>
            </a:extLst>
          </p:cNvPr>
          <p:cNvSpPr>
            <a:spLocks noGrp="1" noChangeArrowheads="1"/>
          </p:cNvSpPr>
          <p:nvPr>
            <p:ph type="ftr" sz="quarter" idx="3"/>
          </p:nvPr>
        </p:nvSpPr>
        <p:spPr/>
        <p:txBody>
          <a:bodyPr/>
          <a:lstStyle>
            <a:lvl1pPr>
              <a:defRPr/>
            </a:lvl1pPr>
          </a:lstStyle>
          <a:p>
            <a:endParaRPr lang="en-US" altLang="zh-CN"/>
          </a:p>
        </p:txBody>
      </p:sp>
      <p:sp>
        <p:nvSpPr>
          <p:cNvPr id="225326" name="Rectangle 46">
            <a:extLst>
              <a:ext uri="{FF2B5EF4-FFF2-40B4-BE49-F238E27FC236}">
                <a16:creationId xmlns:a16="http://schemas.microsoft.com/office/drawing/2014/main" id="{D1FCE6FC-50DC-4B2E-8422-674B40697E4E}"/>
              </a:ext>
            </a:extLst>
          </p:cNvPr>
          <p:cNvSpPr>
            <a:spLocks noGrp="1" noChangeArrowheads="1"/>
          </p:cNvSpPr>
          <p:nvPr>
            <p:ph type="sldNum" sz="quarter" idx="4"/>
          </p:nvPr>
        </p:nvSpPr>
        <p:spPr/>
        <p:txBody>
          <a:bodyPr/>
          <a:lstStyle>
            <a:lvl1pPr>
              <a:defRPr/>
            </a:lvl1pPr>
          </a:lstStyle>
          <a:p>
            <a:fld id="{B750A1C9-2334-4B5D-BB7E-26885BE2D089}" type="slidenum">
              <a:rPr lang="en-US" altLang="zh-CN"/>
              <a:pPr/>
              <a:t>‹#›</a:t>
            </a:fld>
            <a:endParaRPr lang="en-US" altLang="zh-CN"/>
          </a:p>
        </p:txBody>
      </p:sp>
    </p:spTree>
    <p:extLst>
      <p:ext uri="{BB962C8B-B14F-4D97-AF65-F5344CB8AC3E}">
        <p14:creationId xmlns:p14="http://schemas.microsoft.com/office/powerpoint/2010/main" val="1782218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AFA24A-E840-4261-9137-6701513E384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EC7F520-844C-43E6-8B8D-2DC77D9AD19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5AD27CA-6FDA-4814-A163-D4791E2254E8}"/>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2F341739-5452-469A-956E-A636A2C9ABB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4CE8FBC0-E232-4DBD-81BE-63B2F84E53BE}"/>
              </a:ext>
            </a:extLst>
          </p:cNvPr>
          <p:cNvSpPr>
            <a:spLocks noGrp="1"/>
          </p:cNvSpPr>
          <p:nvPr>
            <p:ph type="sldNum" sz="quarter" idx="12"/>
          </p:nvPr>
        </p:nvSpPr>
        <p:spPr/>
        <p:txBody>
          <a:bodyPr/>
          <a:lstStyle>
            <a:lvl1pPr>
              <a:defRPr/>
            </a:lvl1pPr>
          </a:lstStyle>
          <a:p>
            <a:fld id="{AE0B1568-62BD-43E0-BC46-FE698169907E}" type="slidenum">
              <a:rPr lang="en-US" altLang="zh-CN"/>
              <a:pPr/>
              <a:t>‹#›</a:t>
            </a:fld>
            <a:endParaRPr lang="en-US" altLang="zh-CN"/>
          </a:p>
        </p:txBody>
      </p:sp>
    </p:spTree>
    <p:extLst>
      <p:ext uri="{BB962C8B-B14F-4D97-AF65-F5344CB8AC3E}">
        <p14:creationId xmlns:p14="http://schemas.microsoft.com/office/powerpoint/2010/main" val="2266234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2599F2-F65B-4A66-9909-9F0E6DBD72E2}"/>
              </a:ext>
            </a:extLst>
          </p:cNvPr>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2F17C66E-8F95-4CEA-9831-9F099AC8B7E6}"/>
              </a:ext>
            </a:extLst>
          </p:cNvPr>
          <p:cNvSpPr>
            <a:spLocks noGrp="1"/>
          </p:cNvSpPr>
          <p:nvPr>
            <p:ph type="body" idx="1"/>
          </p:nvPr>
        </p:nvSpPr>
        <p:spPr>
          <a:xfrm>
            <a:off x="623888" y="3442098"/>
            <a:ext cx="7886700" cy="1125140"/>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7E3E7B3-B0E5-4585-9342-2DEBF9B25435}"/>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5A711ECE-12FA-49FE-83CD-7BA7E4ED6218}"/>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0D6173D0-819A-4CA9-A5C7-77E16B48C347}"/>
              </a:ext>
            </a:extLst>
          </p:cNvPr>
          <p:cNvSpPr>
            <a:spLocks noGrp="1"/>
          </p:cNvSpPr>
          <p:nvPr>
            <p:ph type="sldNum" sz="quarter" idx="12"/>
          </p:nvPr>
        </p:nvSpPr>
        <p:spPr/>
        <p:txBody>
          <a:bodyPr/>
          <a:lstStyle>
            <a:lvl1pPr>
              <a:defRPr/>
            </a:lvl1pPr>
          </a:lstStyle>
          <a:p>
            <a:fld id="{AB2116B8-F073-4F90-B14A-CC4D796E381D}" type="slidenum">
              <a:rPr lang="en-US" altLang="zh-CN"/>
              <a:pPr/>
              <a:t>‹#›</a:t>
            </a:fld>
            <a:endParaRPr lang="en-US" altLang="zh-CN"/>
          </a:p>
        </p:txBody>
      </p:sp>
    </p:spTree>
    <p:extLst>
      <p:ext uri="{BB962C8B-B14F-4D97-AF65-F5344CB8AC3E}">
        <p14:creationId xmlns:p14="http://schemas.microsoft.com/office/powerpoint/2010/main" val="1360641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951D03-9C29-4879-A2D5-846A2DE4767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B9DB889-BC84-4616-8110-EA3F11BF3856}"/>
              </a:ext>
            </a:extLst>
          </p:cNvPr>
          <p:cNvSpPr>
            <a:spLocks noGrp="1"/>
          </p:cNvSpPr>
          <p:nvPr>
            <p:ph sz="half" idx="1"/>
          </p:nvPr>
        </p:nvSpPr>
        <p:spPr>
          <a:xfrm>
            <a:off x="457200" y="1200150"/>
            <a:ext cx="4038600" cy="339804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58237EA-7DE4-42F3-BC55-4AE543070AC4}"/>
              </a:ext>
            </a:extLst>
          </p:cNvPr>
          <p:cNvSpPr>
            <a:spLocks noGrp="1"/>
          </p:cNvSpPr>
          <p:nvPr>
            <p:ph sz="half" idx="2"/>
          </p:nvPr>
        </p:nvSpPr>
        <p:spPr>
          <a:xfrm>
            <a:off x="4648200" y="1200150"/>
            <a:ext cx="4038600" cy="339804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46A9036-FD36-4BDF-9A3B-7E9774474FD2}"/>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A1B73A6C-760B-4FA2-958F-1CFD9999B51F}"/>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62BA3CF8-0E78-47B0-A1E0-52EA53406368}"/>
              </a:ext>
            </a:extLst>
          </p:cNvPr>
          <p:cNvSpPr>
            <a:spLocks noGrp="1"/>
          </p:cNvSpPr>
          <p:nvPr>
            <p:ph type="sldNum" sz="quarter" idx="12"/>
          </p:nvPr>
        </p:nvSpPr>
        <p:spPr/>
        <p:txBody>
          <a:bodyPr/>
          <a:lstStyle>
            <a:lvl1pPr>
              <a:defRPr/>
            </a:lvl1pPr>
          </a:lstStyle>
          <a:p>
            <a:fld id="{4BD60CF4-CA6B-4B6D-A6BC-4B9647E06E6E}" type="slidenum">
              <a:rPr lang="en-US" altLang="zh-CN"/>
              <a:pPr/>
              <a:t>‹#›</a:t>
            </a:fld>
            <a:endParaRPr lang="en-US" altLang="zh-CN"/>
          </a:p>
        </p:txBody>
      </p:sp>
    </p:spTree>
    <p:extLst>
      <p:ext uri="{BB962C8B-B14F-4D97-AF65-F5344CB8AC3E}">
        <p14:creationId xmlns:p14="http://schemas.microsoft.com/office/powerpoint/2010/main" val="2785880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E344A6-BA25-44D6-B273-7BA129098AA1}"/>
              </a:ext>
            </a:extLst>
          </p:cNvPr>
          <p:cNvSpPr>
            <a:spLocks noGrp="1"/>
          </p:cNvSpPr>
          <p:nvPr>
            <p:ph type="title"/>
          </p:nvPr>
        </p:nvSpPr>
        <p:spPr>
          <a:xfrm>
            <a:off x="630238" y="273844"/>
            <a:ext cx="7886700" cy="994172"/>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95DDE7A-A665-4AD9-8434-B04F67FE3CCE}"/>
              </a:ext>
            </a:extLst>
          </p:cNvPr>
          <p:cNvSpPr>
            <a:spLocks noGrp="1"/>
          </p:cNvSpPr>
          <p:nvPr>
            <p:ph type="body" idx="1"/>
          </p:nvPr>
        </p:nvSpPr>
        <p:spPr>
          <a:xfrm>
            <a:off x="630239" y="1260872"/>
            <a:ext cx="3868737"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8945074-C696-4D3B-9FC7-AFED8A35189B}"/>
              </a:ext>
            </a:extLst>
          </p:cNvPr>
          <p:cNvSpPr>
            <a:spLocks noGrp="1"/>
          </p:cNvSpPr>
          <p:nvPr>
            <p:ph sz="half" idx="2"/>
          </p:nvPr>
        </p:nvSpPr>
        <p:spPr>
          <a:xfrm>
            <a:off x="630239" y="1878806"/>
            <a:ext cx="3868737"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58D0260-8651-433B-8691-669359D1DD1A}"/>
              </a:ext>
            </a:extLst>
          </p:cNvPr>
          <p:cNvSpPr>
            <a:spLocks noGrp="1"/>
          </p:cNvSpPr>
          <p:nvPr>
            <p:ph type="body" sz="quarter" idx="3"/>
          </p:nvPr>
        </p:nvSpPr>
        <p:spPr>
          <a:xfrm>
            <a:off x="4629150" y="1260872"/>
            <a:ext cx="3887788"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EE03288-B5D1-4E72-809C-26A3EA862697}"/>
              </a:ext>
            </a:extLst>
          </p:cNvPr>
          <p:cNvSpPr>
            <a:spLocks noGrp="1"/>
          </p:cNvSpPr>
          <p:nvPr>
            <p:ph sz="quarter" idx="4"/>
          </p:nvPr>
        </p:nvSpPr>
        <p:spPr>
          <a:xfrm>
            <a:off x="4629150" y="1878806"/>
            <a:ext cx="3887788"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F986972-4436-483F-8307-AA7425426EA9}"/>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AF4A9ED3-88B9-492A-AEE1-569B9C26FA96}"/>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E2430BC6-5D15-481D-A51D-B5B443BBE8F8}"/>
              </a:ext>
            </a:extLst>
          </p:cNvPr>
          <p:cNvSpPr>
            <a:spLocks noGrp="1"/>
          </p:cNvSpPr>
          <p:nvPr>
            <p:ph type="sldNum" sz="quarter" idx="12"/>
          </p:nvPr>
        </p:nvSpPr>
        <p:spPr/>
        <p:txBody>
          <a:bodyPr/>
          <a:lstStyle>
            <a:lvl1pPr>
              <a:defRPr/>
            </a:lvl1pPr>
          </a:lstStyle>
          <a:p>
            <a:fld id="{433C46BA-25B6-4364-AAF9-B10DC5E2138F}" type="slidenum">
              <a:rPr lang="en-US" altLang="zh-CN"/>
              <a:pPr/>
              <a:t>‹#›</a:t>
            </a:fld>
            <a:endParaRPr lang="en-US" altLang="zh-CN"/>
          </a:p>
        </p:txBody>
      </p:sp>
    </p:spTree>
    <p:extLst>
      <p:ext uri="{BB962C8B-B14F-4D97-AF65-F5344CB8AC3E}">
        <p14:creationId xmlns:p14="http://schemas.microsoft.com/office/powerpoint/2010/main" val="414893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CE6503-2605-4036-90FE-369D58BD33B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EBF76C1-DADE-440B-9332-1C1D91A89B98}"/>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AFF8D30E-9CA4-43B1-A999-FC91018B6E69}"/>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5A26CCD7-6231-4BDE-9156-BC3A8F8BEA89}"/>
              </a:ext>
            </a:extLst>
          </p:cNvPr>
          <p:cNvSpPr>
            <a:spLocks noGrp="1"/>
          </p:cNvSpPr>
          <p:nvPr>
            <p:ph type="sldNum" sz="quarter" idx="12"/>
          </p:nvPr>
        </p:nvSpPr>
        <p:spPr/>
        <p:txBody>
          <a:bodyPr/>
          <a:lstStyle>
            <a:lvl1pPr>
              <a:defRPr/>
            </a:lvl1pPr>
          </a:lstStyle>
          <a:p>
            <a:fld id="{8A3CB3C6-7D6E-4033-9182-2127200A9316}" type="slidenum">
              <a:rPr lang="en-US" altLang="zh-CN"/>
              <a:pPr/>
              <a:t>‹#›</a:t>
            </a:fld>
            <a:endParaRPr lang="en-US" altLang="zh-CN"/>
          </a:p>
        </p:txBody>
      </p:sp>
    </p:spTree>
    <p:extLst>
      <p:ext uri="{BB962C8B-B14F-4D97-AF65-F5344CB8AC3E}">
        <p14:creationId xmlns:p14="http://schemas.microsoft.com/office/powerpoint/2010/main" val="3443891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49AD9A8-5E65-42F4-868C-BB007ECF4211}"/>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412CBC4E-573C-4B6C-8D32-BEF342F0663E}"/>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5FC62851-F3B5-4878-89C3-FD7B28EFBBA4}"/>
              </a:ext>
            </a:extLst>
          </p:cNvPr>
          <p:cNvSpPr>
            <a:spLocks noGrp="1"/>
          </p:cNvSpPr>
          <p:nvPr>
            <p:ph type="sldNum" sz="quarter" idx="12"/>
          </p:nvPr>
        </p:nvSpPr>
        <p:spPr/>
        <p:txBody>
          <a:bodyPr/>
          <a:lstStyle>
            <a:lvl1pPr>
              <a:defRPr/>
            </a:lvl1pPr>
          </a:lstStyle>
          <a:p>
            <a:fld id="{2482EA1F-143F-455B-954B-F120AFD50B80}" type="slidenum">
              <a:rPr lang="en-US" altLang="zh-CN"/>
              <a:pPr/>
              <a:t>‹#›</a:t>
            </a:fld>
            <a:endParaRPr lang="en-US" altLang="zh-CN"/>
          </a:p>
        </p:txBody>
      </p:sp>
    </p:spTree>
    <p:extLst>
      <p:ext uri="{BB962C8B-B14F-4D97-AF65-F5344CB8AC3E}">
        <p14:creationId xmlns:p14="http://schemas.microsoft.com/office/powerpoint/2010/main" val="10725679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FF7559-901C-4773-BBAE-81FE8DEEB262}"/>
              </a:ext>
            </a:extLst>
          </p:cNvPr>
          <p:cNvSpPr>
            <a:spLocks noGrp="1"/>
          </p:cNvSpPr>
          <p:nvPr>
            <p:ph type="title"/>
          </p:nvPr>
        </p:nvSpPr>
        <p:spPr>
          <a:xfrm>
            <a:off x="630239" y="342900"/>
            <a:ext cx="2949575" cy="120015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4378D9D9-DE17-4B64-8CAC-B3CA489E8390}"/>
              </a:ext>
            </a:extLst>
          </p:cNvPr>
          <p:cNvSpPr>
            <a:spLocks noGrp="1"/>
          </p:cNvSpPr>
          <p:nvPr>
            <p:ph idx="1"/>
          </p:nvPr>
        </p:nvSpPr>
        <p:spPr>
          <a:xfrm>
            <a:off x="3887788"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49C8BD4-93AD-4259-B23F-F300C9A1EA4F}"/>
              </a:ext>
            </a:extLst>
          </p:cNvPr>
          <p:cNvSpPr>
            <a:spLocks noGrp="1"/>
          </p:cNvSpPr>
          <p:nvPr>
            <p:ph type="body" sz="half" idx="2"/>
          </p:nvPr>
        </p:nvSpPr>
        <p:spPr>
          <a:xfrm>
            <a:off x="630239"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64A6B68-B4C4-48E8-B72F-C5534408EF93}"/>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C6535840-A8D4-4D09-A94F-917ADF287349}"/>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8DA5E3C4-37C6-429B-8C4A-A7D4AF024FC1}"/>
              </a:ext>
            </a:extLst>
          </p:cNvPr>
          <p:cNvSpPr>
            <a:spLocks noGrp="1"/>
          </p:cNvSpPr>
          <p:nvPr>
            <p:ph type="sldNum" sz="quarter" idx="12"/>
          </p:nvPr>
        </p:nvSpPr>
        <p:spPr/>
        <p:txBody>
          <a:bodyPr/>
          <a:lstStyle>
            <a:lvl1pPr>
              <a:defRPr/>
            </a:lvl1pPr>
          </a:lstStyle>
          <a:p>
            <a:fld id="{8D0645A5-DBBB-43E4-A65D-7C100BE3A18A}" type="slidenum">
              <a:rPr lang="en-US" altLang="zh-CN"/>
              <a:pPr/>
              <a:t>‹#›</a:t>
            </a:fld>
            <a:endParaRPr lang="en-US" altLang="zh-CN"/>
          </a:p>
        </p:txBody>
      </p:sp>
    </p:spTree>
    <p:extLst>
      <p:ext uri="{BB962C8B-B14F-4D97-AF65-F5344CB8AC3E}">
        <p14:creationId xmlns:p14="http://schemas.microsoft.com/office/powerpoint/2010/main" val="25300252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9051A0-1B6E-4CBE-8D9B-633C9E4CDC28}"/>
              </a:ext>
            </a:extLst>
          </p:cNvPr>
          <p:cNvSpPr>
            <a:spLocks noGrp="1"/>
          </p:cNvSpPr>
          <p:nvPr>
            <p:ph type="title"/>
          </p:nvPr>
        </p:nvSpPr>
        <p:spPr>
          <a:xfrm>
            <a:off x="630239" y="342900"/>
            <a:ext cx="2949575" cy="120015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0A9936A9-0B75-4914-8E00-4386260871E0}"/>
              </a:ext>
            </a:extLst>
          </p:cNvPr>
          <p:cNvSpPr>
            <a:spLocks noGrp="1"/>
          </p:cNvSpPr>
          <p:nvPr>
            <p:ph type="pic" idx="1"/>
          </p:nvPr>
        </p:nvSpPr>
        <p:spPr>
          <a:xfrm>
            <a:off x="3887788"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a:extLst>
              <a:ext uri="{FF2B5EF4-FFF2-40B4-BE49-F238E27FC236}">
                <a16:creationId xmlns:a16="http://schemas.microsoft.com/office/drawing/2014/main" id="{BC530013-1BF5-4172-8AE8-832527004616}"/>
              </a:ext>
            </a:extLst>
          </p:cNvPr>
          <p:cNvSpPr>
            <a:spLocks noGrp="1"/>
          </p:cNvSpPr>
          <p:nvPr>
            <p:ph type="body" sz="half" idx="2"/>
          </p:nvPr>
        </p:nvSpPr>
        <p:spPr>
          <a:xfrm>
            <a:off x="630239"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28EEDF3-65E4-4749-B94C-845EB2F932BD}"/>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F79EE02C-650C-495E-A007-A261289C0873}"/>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4EF34C94-BF94-4D23-8E41-F1C3C1318FF2}"/>
              </a:ext>
            </a:extLst>
          </p:cNvPr>
          <p:cNvSpPr>
            <a:spLocks noGrp="1"/>
          </p:cNvSpPr>
          <p:nvPr>
            <p:ph type="sldNum" sz="quarter" idx="12"/>
          </p:nvPr>
        </p:nvSpPr>
        <p:spPr/>
        <p:txBody>
          <a:bodyPr/>
          <a:lstStyle>
            <a:lvl1pPr>
              <a:defRPr/>
            </a:lvl1pPr>
          </a:lstStyle>
          <a:p>
            <a:fld id="{0E8F43CA-EA97-42A5-BC62-A2E70FA6883B}" type="slidenum">
              <a:rPr lang="en-US" altLang="zh-CN"/>
              <a:pPr/>
              <a:t>‹#›</a:t>
            </a:fld>
            <a:endParaRPr lang="en-US" altLang="zh-CN"/>
          </a:p>
        </p:txBody>
      </p:sp>
    </p:spTree>
    <p:extLst>
      <p:ext uri="{BB962C8B-B14F-4D97-AF65-F5344CB8AC3E}">
        <p14:creationId xmlns:p14="http://schemas.microsoft.com/office/powerpoint/2010/main" val="19958539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7B5F3A-1BBB-4848-A57D-7626CE14C2D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F2F27C3-27A8-4862-BC97-6E921DC7A4C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BE9D4B2-892C-453E-A0B8-29B7BC5EF639}"/>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E5190034-E15B-4D0B-BE12-3111F8B69CA6}"/>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FA26833C-F604-4B97-B124-DBBD8940466A}"/>
              </a:ext>
            </a:extLst>
          </p:cNvPr>
          <p:cNvSpPr>
            <a:spLocks noGrp="1"/>
          </p:cNvSpPr>
          <p:nvPr>
            <p:ph type="sldNum" sz="quarter" idx="12"/>
          </p:nvPr>
        </p:nvSpPr>
        <p:spPr/>
        <p:txBody>
          <a:bodyPr/>
          <a:lstStyle>
            <a:lvl1pPr>
              <a:defRPr/>
            </a:lvl1pPr>
          </a:lstStyle>
          <a:p>
            <a:fld id="{DD416A7F-CA92-4436-9C1E-DB506002AA7B}" type="slidenum">
              <a:rPr lang="en-US" altLang="zh-CN"/>
              <a:pPr/>
              <a:t>‹#›</a:t>
            </a:fld>
            <a:endParaRPr lang="en-US" altLang="zh-CN"/>
          </a:p>
        </p:txBody>
      </p:sp>
    </p:spTree>
    <p:extLst>
      <p:ext uri="{BB962C8B-B14F-4D97-AF65-F5344CB8AC3E}">
        <p14:creationId xmlns:p14="http://schemas.microsoft.com/office/powerpoint/2010/main" val="37707318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13FF7DB-DB5A-4A5F-8258-789D69BF285D}"/>
              </a:ext>
            </a:extLst>
          </p:cNvPr>
          <p:cNvSpPr>
            <a:spLocks noGrp="1"/>
          </p:cNvSpPr>
          <p:nvPr>
            <p:ph type="title" orient="vert"/>
          </p:nvPr>
        </p:nvSpPr>
        <p:spPr>
          <a:xfrm>
            <a:off x="6629400" y="208360"/>
            <a:ext cx="2057400" cy="4389834"/>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906300D-4CB7-4FD7-8304-AE260E499BA5}"/>
              </a:ext>
            </a:extLst>
          </p:cNvPr>
          <p:cNvSpPr>
            <a:spLocks noGrp="1"/>
          </p:cNvSpPr>
          <p:nvPr>
            <p:ph type="body" orient="vert" idx="1"/>
          </p:nvPr>
        </p:nvSpPr>
        <p:spPr>
          <a:xfrm>
            <a:off x="457200" y="208360"/>
            <a:ext cx="6019800" cy="4389834"/>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27B85D6-46B6-4862-BDBB-1B52D0A945D5}"/>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AB19B038-729A-4608-B734-863C5498ECDA}"/>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828CE08F-DC95-4E6C-97D8-BEB496B2FE73}"/>
              </a:ext>
            </a:extLst>
          </p:cNvPr>
          <p:cNvSpPr>
            <a:spLocks noGrp="1"/>
          </p:cNvSpPr>
          <p:nvPr>
            <p:ph type="sldNum" sz="quarter" idx="12"/>
          </p:nvPr>
        </p:nvSpPr>
        <p:spPr/>
        <p:txBody>
          <a:bodyPr/>
          <a:lstStyle>
            <a:lvl1pPr>
              <a:defRPr/>
            </a:lvl1pPr>
          </a:lstStyle>
          <a:p>
            <a:fld id="{0EC5DCA4-601B-49A5-B135-A02475E9B5CC}" type="slidenum">
              <a:rPr lang="en-US" altLang="zh-CN"/>
              <a:pPr/>
              <a:t>‹#›</a:t>
            </a:fld>
            <a:endParaRPr lang="en-US" altLang="zh-CN"/>
          </a:p>
        </p:txBody>
      </p:sp>
    </p:spTree>
    <p:extLst>
      <p:ext uri="{BB962C8B-B14F-4D97-AF65-F5344CB8AC3E}">
        <p14:creationId xmlns:p14="http://schemas.microsoft.com/office/powerpoint/2010/main" val="28518933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25282" name="Group 2">
            <a:extLst>
              <a:ext uri="{FF2B5EF4-FFF2-40B4-BE49-F238E27FC236}">
                <a16:creationId xmlns:a16="http://schemas.microsoft.com/office/drawing/2014/main" id="{759FC8A9-D295-4F27-8545-BEC7FF23BE93}"/>
              </a:ext>
            </a:extLst>
          </p:cNvPr>
          <p:cNvGrpSpPr>
            <a:grpSpLocks/>
          </p:cNvGrpSpPr>
          <p:nvPr/>
        </p:nvGrpSpPr>
        <p:grpSpPr bwMode="auto">
          <a:xfrm>
            <a:off x="0" y="0"/>
            <a:ext cx="9144000" cy="5142310"/>
            <a:chOff x="0" y="0"/>
            <a:chExt cx="5760" cy="4319"/>
          </a:xfrm>
        </p:grpSpPr>
        <p:sp>
          <p:nvSpPr>
            <p:cNvPr id="225283" name="Freeform 3">
              <a:extLst>
                <a:ext uri="{FF2B5EF4-FFF2-40B4-BE49-F238E27FC236}">
                  <a16:creationId xmlns:a16="http://schemas.microsoft.com/office/drawing/2014/main" id="{5778EA95-FE39-4B07-B84A-8E22E670543E}"/>
                </a:ext>
              </a:extLst>
            </p:cNvPr>
            <p:cNvSpPr>
              <a:spLocks/>
            </p:cNvSpPr>
            <p:nvPr/>
          </p:nvSpPr>
          <p:spPr bwMode="hidden">
            <a:xfrm>
              <a:off x="0" y="12"/>
              <a:ext cx="5758" cy="3273"/>
            </a:xfrm>
            <a:custGeom>
              <a:avLst/>
              <a:gdLst>
                <a:gd name="T0" fmla="*/ 3193 w 5740"/>
                <a:gd name="T1" fmla="*/ 1816 h 3273"/>
                <a:gd name="T2" fmla="*/ 0 w 5740"/>
                <a:gd name="T3" fmla="*/ 0 h 3273"/>
                <a:gd name="T4" fmla="*/ 0 w 5740"/>
                <a:gd name="T5" fmla="*/ 522 h 3273"/>
                <a:gd name="T6" fmla="*/ 3037 w 5740"/>
                <a:gd name="T7" fmla="*/ 1978 h 3273"/>
                <a:gd name="T8" fmla="*/ 5740 w 5740"/>
                <a:gd name="T9" fmla="*/ 3273 h 3273"/>
                <a:gd name="T10" fmla="*/ 5740 w 5740"/>
                <a:gd name="T11" fmla="*/ 3267 h 3273"/>
                <a:gd name="T12" fmla="*/ 3193 w 5740"/>
                <a:gd name="T13" fmla="*/ 1816 h 3273"/>
                <a:gd name="T14" fmla="*/ 3193 w 5740"/>
                <a:gd name="T15" fmla="*/ 1816 h 32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chemeClr val="bg2">
                    <a:gamma/>
                    <a:shade val="63529"/>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84" name="Freeform 4">
              <a:extLst>
                <a:ext uri="{FF2B5EF4-FFF2-40B4-BE49-F238E27FC236}">
                  <a16:creationId xmlns:a16="http://schemas.microsoft.com/office/drawing/2014/main" id="{C814EBCC-2808-44E1-BC3E-36B1A652548F}"/>
                </a:ext>
              </a:extLst>
            </p:cNvPr>
            <p:cNvSpPr>
              <a:spLocks/>
            </p:cNvSpPr>
            <p:nvPr/>
          </p:nvSpPr>
          <p:spPr bwMode="hidden">
            <a:xfrm>
              <a:off x="149" y="0"/>
              <a:ext cx="5609" cy="3243"/>
            </a:xfrm>
            <a:custGeom>
              <a:avLst/>
              <a:gdLst>
                <a:gd name="T0" fmla="*/ 3163 w 5591"/>
                <a:gd name="T1" fmla="*/ 1714 h 3243"/>
                <a:gd name="T2" fmla="*/ 431 w 5591"/>
                <a:gd name="T3" fmla="*/ 0 h 3243"/>
                <a:gd name="T4" fmla="*/ 0 w 5591"/>
                <a:gd name="T5" fmla="*/ 0 h 3243"/>
                <a:gd name="T6" fmla="*/ 3086 w 5591"/>
                <a:gd name="T7" fmla="*/ 1786 h 3243"/>
                <a:gd name="T8" fmla="*/ 5591 w 5591"/>
                <a:gd name="T9" fmla="*/ 3243 h 3243"/>
                <a:gd name="T10" fmla="*/ 5591 w 5591"/>
                <a:gd name="T11" fmla="*/ 3237 h 3243"/>
                <a:gd name="T12" fmla="*/ 3163 w 5591"/>
                <a:gd name="T13" fmla="*/ 1714 h 3243"/>
                <a:gd name="T14" fmla="*/ 3163 w 5591"/>
                <a:gd name="T15" fmla="*/ 1714 h 32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chemeClr val="bg1">
                    <a:gamma/>
                    <a:shade val="6078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85" name="Freeform 5">
              <a:extLst>
                <a:ext uri="{FF2B5EF4-FFF2-40B4-BE49-F238E27FC236}">
                  <a16:creationId xmlns:a16="http://schemas.microsoft.com/office/drawing/2014/main" id="{FBABD505-A3F8-4A71-8058-B68FD794AB6B}"/>
                </a:ext>
              </a:extLst>
            </p:cNvPr>
            <p:cNvSpPr>
              <a:spLocks/>
            </p:cNvSpPr>
            <p:nvPr/>
          </p:nvSpPr>
          <p:spPr bwMode="hidden">
            <a:xfrm>
              <a:off x="0" y="3433"/>
              <a:ext cx="4038" cy="191"/>
            </a:xfrm>
            <a:custGeom>
              <a:avLst/>
              <a:gdLst>
                <a:gd name="T0" fmla="*/ 0 w 4042"/>
                <a:gd name="T1" fmla="*/ 156 h 192"/>
                <a:gd name="T2" fmla="*/ 4042 w 4042"/>
                <a:gd name="T3" fmla="*/ 192 h 192"/>
                <a:gd name="T4" fmla="*/ 4042 w 4042"/>
                <a:gd name="T5" fmla="*/ 144 h 192"/>
                <a:gd name="T6" fmla="*/ 0 w 4042"/>
                <a:gd name="T7" fmla="*/ 0 h 192"/>
                <a:gd name="T8" fmla="*/ 0 w 4042"/>
                <a:gd name="T9" fmla="*/ 156 h 192"/>
                <a:gd name="T10" fmla="*/ 0 w 4042"/>
                <a:gd name="T11" fmla="*/ 156 h 192"/>
              </a:gdLst>
              <a:ahLst/>
              <a:cxnLst>
                <a:cxn ang="0">
                  <a:pos x="T0" y="T1"/>
                </a:cxn>
                <a:cxn ang="0">
                  <a:pos x="T2" y="T3"/>
                </a:cxn>
                <a:cxn ang="0">
                  <a:pos x="T4" y="T5"/>
                </a:cxn>
                <a:cxn ang="0">
                  <a:pos x="T6" y="T7"/>
                </a:cxn>
                <a:cxn ang="0">
                  <a:pos x="T8" y="T9"/>
                </a:cxn>
                <a:cxn ang="0">
                  <a:pos x="T10" y="T11"/>
                </a:cxn>
              </a:cxnLst>
              <a:rect l="0" t="0" r="r" b="b"/>
              <a:pathLst>
                <a:path w="4042" h="192">
                  <a:moveTo>
                    <a:pt x="0" y="156"/>
                  </a:moveTo>
                  <a:lnTo>
                    <a:pt x="4042" y="192"/>
                  </a:lnTo>
                  <a:lnTo>
                    <a:pt x="4042" y="144"/>
                  </a:lnTo>
                  <a:lnTo>
                    <a:pt x="0" y="0"/>
                  </a:lnTo>
                  <a:lnTo>
                    <a:pt x="0" y="156"/>
                  </a:lnTo>
                  <a:lnTo>
                    <a:pt x="0" y="156"/>
                  </a:lnTo>
                  <a:close/>
                </a:path>
              </a:pathLst>
            </a:custGeom>
            <a:gradFill rotWithShape="0">
              <a:gsLst>
                <a:gs pos="0">
                  <a:schemeClr val="bg2">
                    <a:gamma/>
                    <a:shade val="75686"/>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86" name="Freeform 6">
              <a:extLst>
                <a:ext uri="{FF2B5EF4-FFF2-40B4-BE49-F238E27FC236}">
                  <a16:creationId xmlns:a16="http://schemas.microsoft.com/office/drawing/2014/main" id="{4EBBA977-FB18-4D08-9787-7458D2811955}"/>
                </a:ext>
              </a:extLst>
            </p:cNvPr>
            <p:cNvSpPr>
              <a:spLocks/>
            </p:cNvSpPr>
            <p:nvPr/>
          </p:nvSpPr>
          <p:spPr bwMode="hidden">
            <a:xfrm>
              <a:off x="4038" y="3577"/>
              <a:ext cx="1720" cy="65"/>
            </a:xfrm>
            <a:custGeom>
              <a:avLst/>
              <a:gdLst>
                <a:gd name="T0" fmla="*/ 1722 w 1722"/>
                <a:gd name="T1" fmla="*/ 66 h 66"/>
                <a:gd name="T2" fmla="*/ 1722 w 1722"/>
                <a:gd name="T3" fmla="*/ 60 h 66"/>
                <a:gd name="T4" fmla="*/ 0 w 1722"/>
                <a:gd name="T5" fmla="*/ 0 h 66"/>
                <a:gd name="T6" fmla="*/ 0 w 1722"/>
                <a:gd name="T7" fmla="*/ 48 h 66"/>
                <a:gd name="T8" fmla="*/ 1722 w 1722"/>
                <a:gd name="T9" fmla="*/ 66 h 66"/>
                <a:gd name="T10" fmla="*/ 1722 w 1722"/>
                <a:gd name="T11" fmla="*/ 66 h 66"/>
              </a:gdLst>
              <a:ahLst/>
              <a:cxnLst>
                <a:cxn ang="0">
                  <a:pos x="T0" y="T1"/>
                </a:cxn>
                <a:cxn ang="0">
                  <a:pos x="T2" y="T3"/>
                </a:cxn>
                <a:cxn ang="0">
                  <a:pos x="T4" y="T5"/>
                </a:cxn>
                <a:cxn ang="0">
                  <a:pos x="T6" y="T7"/>
                </a:cxn>
                <a:cxn ang="0">
                  <a:pos x="T8" y="T9"/>
                </a:cxn>
                <a:cxn ang="0">
                  <a:pos x="T10" y="T11"/>
                </a:cxn>
              </a:cxnLst>
              <a:rect l="0" t="0" r="r" b="b"/>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87" name="Freeform 7">
              <a:extLst>
                <a:ext uri="{FF2B5EF4-FFF2-40B4-BE49-F238E27FC236}">
                  <a16:creationId xmlns:a16="http://schemas.microsoft.com/office/drawing/2014/main" id="{F514B383-513A-45CD-A90A-1E193933ED5C}"/>
                </a:ext>
              </a:extLst>
            </p:cNvPr>
            <p:cNvSpPr>
              <a:spLocks/>
            </p:cNvSpPr>
            <p:nvPr/>
          </p:nvSpPr>
          <p:spPr bwMode="hidden">
            <a:xfrm>
              <a:off x="0" y="3726"/>
              <a:ext cx="4784" cy="329"/>
            </a:xfrm>
            <a:custGeom>
              <a:avLst/>
              <a:gdLst>
                <a:gd name="T0" fmla="*/ 0 w 4789"/>
                <a:gd name="T1" fmla="*/ 329 h 329"/>
                <a:gd name="T2" fmla="*/ 4789 w 4789"/>
                <a:gd name="T3" fmla="*/ 77 h 329"/>
                <a:gd name="T4" fmla="*/ 4789 w 4789"/>
                <a:gd name="T5" fmla="*/ 0 h 329"/>
                <a:gd name="T6" fmla="*/ 0 w 4789"/>
                <a:gd name="T7" fmla="*/ 107 h 329"/>
                <a:gd name="T8" fmla="*/ 0 w 4789"/>
                <a:gd name="T9" fmla="*/ 329 h 329"/>
                <a:gd name="T10" fmla="*/ 0 w 4789"/>
                <a:gd name="T11" fmla="*/ 329 h 329"/>
              </a:gdLst>
              <a:ahLst/>
              <a:cxnLst>
                <a:cxn ang="0">
                  <a:pos x="T0" y="T1"/>
                </a:cxn>
                <a:cxn ang="0">
                  <a:pos x="T2" y="T3"/>
                </a:cxn>
                <a:cxn ang="0">
                  <a:pos x="T4" y="T5"/>
                </a:cxn>
                <a:cxn ang="0">
                  <a:pos x="T6" y="T7"/>
                </a:cxn>
                <a:cxn ang="0">
                  <a:pos x="T8" y="T9"/>
                </a:cxn>
                <a:cxn ang="0">
                  <a:pos x="T10" y="T11"/>
                </a:cxn>
              </a:cxnLst>
              <a:rect l="0" t="0" r="r" b="b"/>
              <a:pathLst>
                <a:path w="4789" h="329">
                  <a:moveTo>
                    <a:pt x="0" y="329"/>
                  </a:moveTo>
                  <a:lnTo>
                    <a:pt x="4789" y="77"/>
                  </a:lnTo>
                  <a:lnTo>
                    <a:pt x="4789" y="0"/>
                  </a:lnTo>
                  <a:lnTo>
                    <a:pt x="0" y="107"/>
                  </a:lnTo>
                  <a:lnTo>
                    <a:pt x="0" y="329"/>
                  </a:lnTo>
                  <a:lnTo>
                    <a:pt x="0" y="329"/>
                  </a:lnTo>
                  <a:close/>
                </a:path>
              </a:pathLst>
            </a:custGeom>
            <a:gradFill rotWithShape="0">
              <a:gsLst>
                <a:gs pos="0">
                  <a:schemeClr val="bg1">
                    <a:gamma/>
                    <a:shade val="81961"/>
                    <a:invGamma/>
                  </a:schemeClr>
                </a:gs>
                <a:gs pos="100000">
                  <a:schemeClr val="bg1"/>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225288" name="Freeform 8">
              <a:extLst>
                <a:ext uri="{FF2B5EF4-FFF2-40B4-BE49-F238E27FC236}">
                  <a16:creationId xmlns:a16="http://schemas.microsoft.com/office/drawing/2014/main" id="{A377ADA2-ADAA-481A-B4CF-100EE9C3EBE7}"/>
                </a:ext>
              </a:extLst>
            </p:cNvPr>
            <p:cNvSpPr>
              <a:spLocks/>
            </p:cNvSpPr>
            <p:nvPr/>
          </p:nvSpPr>
          <p:spPr bwMode="hidden">
            <a:xfrm>
              <a:off x="4784" y="3702"/>
              <a:ext cx="974" cy="101"/>
            </a:xfrm>
            <a:custGeom>
              <a:avLst/>
              <a:gdLst>
                <a:gd name="T0" fmla="*/ 975 w 975"/>
                <a:gd name="T1" fmla="*/ 48 h 101"/>
                <a:gd name="T2" fmla="*/ 975 w 975"/>
                <a:gd name="T3" fmla="*/ 0 h 101"/>
                <a:gd name="T4" fmla="*/ 0 w 975"/>
                <a:gd name="T5" fmla="*/ 24 h 101"/>
                <a:gd name="T6" fmla="*/ 0 w 975"/>
                <a:gd name="T7" fmla="*/ 101 h 101"/>
                <a:gd name="T8" fmla="*/ 975 w 975"/>
                <a:gd name="T9" fmla="*/ 48 h 101"/>
                <a:gd name="T10" fmla="*/ 975 w 975"/>
                <a:gd name="T11" fmla="*/ 48 h 101"/>
              </a:gdLst>
              <a:ahLst/>
              <a:cxnLst>
                <a:cxn ang="0">
                  <a:pos x="T0" y="T1"/>
                </a:cxn>
                <a:cxn ang="0">
                  <a:pos x="T2" y="T3"/>
                </a:cxn>
                <a:cxn ang="0">
                  <a:pos x="T4" y="T5"/>
                </a:cxn>
                <a:cxn ang="0">
                  <a:pos x="T6" y="T7"/>
                </a:cxn>
                <a:cxn ang="0">
                  <a:pos x="T8" y="T9"/>
                </a:cxn>
                <a:cxn ang="0">
                  <a:pos x="T10" y="T11"/>
                </a:cxn>
              </a:cxnLst>
              <a:rect l="0" t="0" r="r" b="b"/>
              <a:pathLst>
                <a:path w="975" h="101">
                  <a:moveTo>
                    <a:pt x="975" y="48"/>
                  </a:moveTo>
                  <a:lnTo>
                    <a:pt x="975" y="0"/>
                  </a:lnTo>
                  <a:lnTo>
                    <a:pt x="0" y="24"/>
                  </a:lnTo>
                  <a:lnTo>
                    <a:pt x="0" y="101"/>
                  </a:lnTo>
                  <a:lnTo>
                    <a:pt x="975" y="48"/>
                  </a:lnTo>
                  <a:lnTo>
                    <a:pt x="975"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89" name="Freeform 9">
              <a:extLst>
                <a:ext uri="{FF2B5EF4-FFF2-40B4-BE49-F238E27FC236}">
                  <a16:creationId xmlns:a16="http://schemas.microsoft.com/office/drawing/2014/main" id="{9270E2D8-A7C7-409F-B389-5C6130AFE8DD}"/>
                </a:ext>
              </a:extLst>
            </p:cNvPr>
            <p:cNvSpPr>
              <a:spLocks/>
            </p:cNvSpPr>
            <p:nvPr/>
          </p:nvSpPr>
          <p:spPr bwMode="hidden">
            <a:xfrm>
              <a:off x="3619" y="3815"/>
              <a:ext cx="2139" cy="198"/>
            </a:xfrm>
            <a:custGeom>
              <a:avLst/>
              <a:gdLst>
                <a:gd name="T0" fmla="*/ 2141 w 2141"/>
                <a:gd name="T1" fmla="*/ 0 h 198"/>
                <a:gd name="T2" fmla="*/ 0 w 2141"/>
                <a:gd name="T3" fmla="*/ 156 h 198"/>
                <a:gd name="T4" fmla="*/ 0 w 2141"/>
                <a:gd name="T5" fmla="*/ 198 h 198"/>
                <a:gd name="T6" fmla="*/ 2141 w 2141"/>
                <a:gd name="T7" fmla="*/ 0 h 198"/>
                <a:gd name="T8" fmla="*/ 2141 w 2141"/>
                <a:gd name="T9" fmla="*/ 0 h 198"/>
              </a:gdLst>
              <a:ahLst/>
              <a:cxnLst>
                <a:cxn ang="0">
                  <a:pos x="T0" y="T1"/>
                </a:cxn>
                <a:cxn ang="0">
                  <a:pos x="T2" y="T3"/>
                </a:cxn>
                <a:cxn ang="0">
                  <a:pos x="T4" y="T5"/>
                </a:cxn>
                <a:cxn ang="0">
                  <a:pos x="T6" y="T7"/>
                </a:cxn>
                <a:cxn ang="0">
                  <a:pos x="T8" y="T9"/>
                </a:cxn>
              </a:cxnLst>
              <a:rect l="0" t="0" r="r" b="b"/>
              <a:pathLst>
                <a:path w="2141" h="198">
                  <a:moveTo>
                    <a:pt x="2141" y="0"/>
                  </a:moveTo>
                  <a:lnTo>
                    <a:pt x="0" y="156"/>
                  </a:lnTo>
                  <a:lnTo>
                    <a:pt x="0" y="198"/>
                  </a:lnTo>
                  <a:lnTo>
                    <a:pt x="2141" y="0"/>
                  </a:lnTo>
                  <a:lnTo>
                    <a:pt x="214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0" name="Freeform 10">
              <a:extLst>
                <a:ext uri="{FF2B5EF4-FFF2-40B4-BE49-F238E27FC236}">
                  <a16:creationId xmlns:a16="http://schemas.microsoft.com/office/drawing/2014/main" id="{C5754F72-D020-45D9-81B1-6E8453861FFF}"/>
                </a:ext>
              </a:extLst>
            </p:cNvPr>
            <p:cNvSpPr>
              <a:spLocks/>
            </p:cNvSpPr>
            <p:nvPr/>
          </p:nvSpPr>
          <p:spPr bwMode="hidden">
            <a:xfrm>
              <a:off x="0" y="3971"/>
              <a:ext cx="3619" cy="348"/>
            </a:xfrm>
            <a:custGeom>
              <a:avLst/>
              <a:gdLst>
                <a:gd name="T0" fmla="*/ 0 w 3623"/>
                <a:gd name="T1" fmla="*/ 348 h 348"/>
                <a:gd name="T2" fmla="*/ 311 w 3623"/>
                <a:gd name="T3" fmla="*/ 348 h 348"/>
                <a:gd name="T4" fmla="*/ 3623 w 3623"/>
                <a:gd name="T5" fmla="*/ 42 h 348"/>
                <a:gd name="T6" fmla="*/ 3623 w 3623"/>
                <a:gd name="T7" fmla="*/ 0 h 348"/>
                <a:gd name="T8" fmla="*/ 0 w 3623"/>
                <a:gd name="T9" fmla="*/ 264 h 348"/>
                <a:gd name="T10" fmla="*/ 0 w 3623"/>
                <a:gd name="T11" fmla="*/ 348 h 348"/>
                <a:gd name="T12" fmla="*/ 0 w 3623"/>
                <a:gd name="T13" fmla="*/ 348 h 348"/>
              </a:gdLst>
              <a:ahLst/>
              <a:cxnLst>
                <a:cxn ang="0">
                  <a:pos x="T0" y="T1"/>
                </a:cxn>
                <a:cxn ang="0">
                  <a:pos x="T2" y="T3"/>
                </a:cxn>
                <a:cxn ang="0">
                  <a:pos x="T4" y="T5"/>
                </a:cxn>
                <a:cxn ang="0">
                  <a:pos x="T6" y="T7"/>
                </a:cxn>
                <a:cxn ang="0">
                  <a:pos x="T8" y="T9"/>
                </a:cxn>
                <a:cxn ang="0">
                  <a:pos x="T10" y="T11"/>
                </a:cxn>
                <a:cxn ang="0">
                  <a:pos x="T12" y="T13"/>
                </a:cxn>
              </a:cxnLst>
              <a:rect l="0" t="0"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chemeClr val="bg1">
                    <a:gamma/>
                    <a:shade val="72549"/>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1" name="Freeform 11">
              <a:extLst>
                <a:ext uri="{FF2B5EF4-FFF2-40B4-BE49-F238E27FC236}">
                  <a16:creationId xmlns:a16="http://schemas.microsoft.com/office/drawing/2014/main" id="{845C56D8-43B0-4480-AF24-8EE323DFA45C}"/>
                </a:ext>
              </a:extLst>
            </p:cNvPr>
            <p:cNvSpPr>
              <a:spLocks/>
            </p:cNvSpPr>
            <p:nvPr/>
          </p:nvSpPr>
          <p:spPr bwMode="hidden">
            <a:xfrm>
              <a:off x="2097" y="4043"/>
              <a:ext cx="2514" cy="276"/>
            </a:xfrm>
            <a:custGeom>
              <a:avLst/>
              <a:gdLst>
                <a:gd name="T0" fmla="*/ 2182 w 2517"/>
                <a:gd name="T1" fmla="*/ 276 h 276"/>
                <a:gd name="T2" fmla="*/ 2517 w 2517"/>
                <a:gd name="T3" fmla="*/ 204 h 276"/>
                <a:gd name="T4" fmla="*/ 2260 w 2517"/>
                <a:gd name="T5" fmla="*/ 0 h 276"/>
                <a:gd name="T6" fmla="*/ 0 w 2517"/>
                <a:gd name="T7" fmla="*/ 276 h 276"/>
                <a:gd name="T8" fmla="*/ 2182 w 2517"/>
                <a:gd name="T9" fmla="*/ 276 h 276"/>
                <a:gd name="T10" fmla="*/ 2182 w 2517"/>
                <a:gd name="T11" fmla="*/ 276 h 276"/>
              </a:gdLst>
              <a:ahLst/>
              <a:cxnLst>
                <a:cxn ang="0">
                  <a:pos x="T0" y="T1"/>
                </a:cxn>
                <a:cxn ang="0">
                  <a:pos x="T2" y="T3"/>
                </a:cxn>
                <a:cxn ang="0">
                  <a:pos x="T4" y="T5"/>
                </a:cxn>
                <a:cxn ang="0">
                  <a:pos x="T6" y="T7"/>
                </a:cxn>
                <a:cxn ang="0">
                  <a:pos x="T8" y="T9"/>
                </a:cxn>
                <a:cxn ang="0">
                  <a:pos x="T10" y="T11"/>
                </a:cxn>
              </a:cxnLst>
              <a:rect l="0" t="0" r="r" b="b"/>
              <a:pathLst>
                <a:path w="2517" h="276">
                  <a:moveTo>
                    <a:pt x="2182" y="276"/>
                  </a:moveTo>
                  <a:lnTo>
                    <a:pt x="2517" y="204"/>
                  </a:lnTo>
                  <a:lnTo>
                    <a:pt x="2260" y="0"/>
                  </a:lnTo>
                  <a:lnTo>
                    <a:pt x="0" y="276"/>
                  </a:lnTo>
                  <a:lnTo>
                    <a:pt x="2182" y="276"/>
                  </a:lnTo>
                  <a:lnTo>
                    <a:pt x="2182" y="2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2" name="Freeform 12">
              <a:extLst>
                <a:ext uri="{FF2B5EF4-FFF2-40B4-BE49-F238E27FC236}">
                  <a16:creationId xmlns:a16="http://schemas.microsoft.com/office/drawing/2014/main" id="{41FC1B83-4F5F-49E3-BF42-7D9B165C5AAB}"/>
                </a:ext>
              </a:extLst>
            </p:cNvPr>
            <p:cNvSpPr>
              <a:spLocks/>
            </p:cNvSpPr>
            <p:nvPr/>
          </p:nvSpPr>
          <p:spPr bwMode="hidden">
            <a:xfrm>
              <a:off x="4354" y="3869"/>
              <a:ext cx="1404" cy="378"/>
            </a:xfrm>
            <a:custGeom>
              <a:avLst/>
              <a:gdLst>
                <a:gd name="T0" fmla="*/ 1405 w 1405"/>
                <a:gd name="T1" fmla="*/ 126 h 378"/>
                <a:gd name="T2" fmla="*/ 1405 w 1405"/>
                <a:gd name="T3" fmla="*/ 0 h 378"/>
                <a:gd name="T4" fmla="*/ 0 w 1405"/>
                <a:gd name="T5" fmla="*/ 174 h 378"/>
                <a:gd name="T6" fmla="*/ 257 w 1405"/>
                <a:gd name="T7" fmla="*/ 378 h 378"/>
                <a:gd name="T8" fmla="*/ 1405 w 1405"/>
                <a:gd name="T9" fmla="*/ 126 h 378"/>
                <a:gd name="T10" fmla="*/ 1405 w 1405"/>
                <a:gd name="T11" fmla="*/ 126 h 378"/>
              </a:gdLst>
              <a:ahLst/>
              <a:cxnLst>
                <a:cxn ang="0">
                  <a:pos x="T0" y="T1"/>
                </a:cxn>
                <a:cxn ang="0">
                  <a:pos x="T2" y="T3"/>
                </a:cxn>
                <a:cxn ang="0">
                  <a:pos x="T4" y="T5"/>
                </a:cxn>
                <a:cxn ang="0">
                  <a:pos x="T6" y="T7"/>
                </a:cxn>
                <a:cxn ang="0">
                  <a:pos x="T8" y="T9"/>
                </a:cxn>
                <a:cxn ang="0">
                  <a:pos x="T10" y="T11"/>
                </a:cxn>
              </a:cxnLst>
              <a:rect l="0" t="0" r="r" b="b"/>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chemeClr val="bg1">
                    <a:gamma/>
                    <a:tint val="96863"/>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3" name="Freeform 13">
              <a:extLst>
                <a:ext uri="{FF2B5EF4-FFF2-40B4-BE49-F238E27FC236}">
                  <a16:creationId xmlns:a16="http://schemas.microsoft.com/office/drawing/2014/main" id="{D7843F98-1009-47EE-A092-1F2E1A61739D}"/>
                </a:ext>
              </a:extLst>
            </p:cNvPr>
            <p:cNvSpPr>
              <a:spLocks/>
            </p:cNvSpPr>
            <p:nvPr/>
          </p:nvSpPr>
          <p:spPr bwMode="hidden">
            <a:xfrm>
              <a:off x="5030" y="3151"/>
              <a:ext cx="728" cy="240"/>
            </a:xfrm>
            <a:custGeom>
              <a:avLst/>
              <a:gdLst>
                <a:gd name="T0" fmla="*/ 729 w 729"/>
                <a:gd name="T1" fmla="*/ 240 h 240"/>
                <a:gd name="T2" fmla="*/ 0 w 729"/>
                <a:gd name="T3" fmla="*/ 0 h 240"/>
                <a:gd name="T4" fmla="*/ 0 w 729"/>
                <a:gd name="T5" fmla="*/ 6 h 240"/>
                <a:gd name="T6" fmla="*/ 729 w 729"/>
                <a:gd name="T7" fmla="*/ 240 h 240"/>
                <a:gd name="T8" fmla="*/ 729 w 729"/>
                <a:gd name="T9" fmla="*/ 240 h 240"/>
              </a:gdLst>
              <a:ahLst/>
              <a:cxnLst>
                <a:cxn ang="0">
                  <a:pos x="T0" y="T1"/>
                </a:cxn>
                <a:cxn ang="0">
                  <a:pos x="T2" y="T3"/>
                </a:cxn>
                <a:cxn ang="0">
                  <a:pos x="T4" y="T5"/>
                </a:cxn>
                <a:cxn ang="0">
                  <a:pos x="T6" y="T7"/>
                </a:cxn>
                <a:cxn ang="0">
                  <a:pos x="T8" y="T9"/>
                </a:cxn>
              </a:cxnLst>
              <a:rect l="0" t="0" r="r" b="b"/>
              <a:pathLst>
                <a:path w="729" h="240">
                  <a:moveTo>
                    <a:pt x="729" y="240"/>
                  </a:moveTo>
                  <a:lnTo>
                    <a:pt x="0" y="0"/>
                  </a:lnTo>
                  <a:lnTo>
                    <a:pt x="0" y="6"/>
                  </a:lnTo>
                  <a:lnTo>
                    <a:pt x="729" y="240"/>
                  </a:lnTo>
                  <a:lnTo>
                    <a:pt x="729" y="24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4" name="Freeform 14">
              <a:extLst>
                <a:ext uri="{FF2B5EF4-FFF2-40B4-BE49-F238E27FC236}">
                  <a16:creationId xmlns:a16="http://schemas.microsoft.com/office/drawing/2014/main" id="{4CB4B593-8725-44FD-B1C5-DCFAA7F4C4AD}"/>
                </a:ext>
              </a:extLst>
            </p:cNvPr>
            <p:cNvSpPr>
              <a:spLocks/>
            </p:cNvSpPr>
            <p:nvPr/>
          </p:nvSpPr>
          <p:spPr bwMode="hidden">
            <a:xfrm>
              <a:off x="0" y="1486"/>
              <a:ext cx="5030" cy="1671"/>
            </a:xfrm>
            <a:custGeom>
              <a:avLst/>
              <a:gdLst>
                <a:gd name="T0" fmla="*/ 0 w 5035"/>
                <a:gd name="T1" fmla="*/ 72 h 1672"/>
                <a:gd name="T2" fmla="*/ 5035 w 5035"/>
                <a:gd name="T3" fmla="*/ 1672 h 1672"/>
                <a:gd name="T4" fmla="*/ 5035 w 5035"/>
                <a:gd name="T5" fmla="*/ 1666 h 1672"/>
                <a:gd name="T6" fmla="*/ 0 w 5035"/>
                <a:gd name="T7" fmla="*/ 0 h 1672"/>
                <a:gd name="T8" fmla="*/ 0 w 5035"/>
                <a:gd name="T9" fmla="*/ 72 h 1672"/>
                <a:gd name="T10" fmla="*/ 0 w 5035"/>
                <a:gd name="T11" fmla="*/ 72 h 1672"/>
              </a:gdLst>
              <a:ahLst/>
              <a:cxnLst>
                <a:cxn ang="0">
                  <a:pos x="T0" y="T1"/>
                </a:cxn>
                <a:cxn ang="0">
                  <a:pos x="T2" y="T3"/>
                </a:cxn>
                <a:cxn ang="0">
                  <a:pos x="T4" y="T5"/>
                </a:cxn>
                <a:cxn ang="0">
                  <a:pos x="T6" y="T7"/>
                </a:cxn>
                <a:cxn ang="0">
                  <a:pos x="T8" y="T9"/>
                </a:cxn>
                <a:cxn ang="0">
                  <a:pos x="T10" y="T11"/>
                </a:cxn>
              </a:cxnLst>
              <a:rect l="0" t="0" r="r" b="b"/>
              <a:pathLst>
                <a:path w="5035" h="1672">
                  <a:moveTo>
                    <a:pt x="0" y="72"/>
                  </a:moveTo>
                  <a:lnTo>
                    <a:pt x="5035" y="1672"/>
                  </a:lnTo>
                  <a:lnTo>
                    <a:pt x="5035" y="1666"/>
                  </a:lnTo>
                  <a:lnTo>
                    <a:pt x="0" y="0"/>
                  </a:lnTo>
                  <a:lnTo>
                    <a:pt x="0" y="72"/>
                  </a:lnTo>
                  <a:lnTo>
                    <a:pt x="0" y="72"/>
                  </a:lnTo>
                  <a:close/>
                </a:path>
              </a:pathLst>
            </a:custGeom>
            <a:gradFill rotWithShape="0">
              <a:gsLst>
                <a:gs pos="0">
                  <a:schemeClr val="bg1">
                    <a:gamma/>
                    <a:shade val="54510"/>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5" name="Freeform 15">
              <a:extLst>
                <a:ext uri="{FF2B5EF4-FFF2-40B4-BE49-F238E27FC236}">
                  <a16:creationId xmlns:a16="http://schemas.microsoft.com/office/drawing/2014/main" id="{07239FDB-82AA-4AA8-AD48-1C21FC5C1474}"/>
                </a:ext>
              </a:extLst>
            </p:cNvPr>
            <p:cNvSpPr>
              <a:spLocks/>
            </p:cNvSpPr>
            <p:nvPr/>
          </p:nvSpPr>
          <p:spPr bwMode="hidden">
            <a:xfrm>
              <a:off x="5030" y="3049"/>
              <a:ext cx="728" cy="318"/>
            </a:xfrm>
            <a:custGeom>
              <a:avLst/>
              <a:gdLst>
                <a:gd name="T0" fmla="*/ 729 w 729"/>
                <a:gd name="T1" fmla="*/ 318 h 318"/>
                <a:gd name="T2" fmla="*/ 729 w 729"/>
                <a:gd name="T3" fmla="*/ 312 h 318"/>
                <a:gd name="T4" fmla="*/ 0 w 729"/>
                <a:gd name="T5" fmla="*/ 0 h 318"/>
                <a:gd name="T6" fmla="*/ 0 w 729"/>
                <a:gd name="T7" fmla="*/ 54 h 318"/>
                <a:gd name="T8" fmla="*/ 729 w 729"/>
                <a:gd name="T9" fmla="*/ 318 h 318"/>
                <a:gd name="T10" fmla="*/ 729 w 729"/>
                <a:gd name="T11" fmla="*/ 318 h 318"/>
              </a:gdLst>
              <a:ahLst/>
              <a:cxnLst>
                <a:cxn ang="0">
                  <a:pos x="T0" y="T1"/>
                </a:cxn>
                <a:cxn ang="0">
                  <a:pos x="T2" y="T3"/>
                </a:cxn>
                <a:cxn ang="0">
                  <a:pos x="T4" y="T5"/>
                </a:cxn>
                <a:cxn ang="0">
                  <a:pos x="T6" y="T7"/>
                </a:cxn>
                <a:cxn ang="0">
                  <a:pos x="T8" y="T9"/>
                </a:cxn>
                <a:cxn ang="0">
                  <a:pos x="T10" y="T11"/>
                </a:cxn>
              </a:cxnLst>
              <a:rect l="0" t="0" r="r" b="b"/>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6" name="Freeform 16">
              <a:extLst>
                <a:ext uri="{FF2B5EF4-FFF2-40B4-BE49-F238E27FC236}">
                  <a16:creationId xmlns:a16="http://schemas.microsoft.com/office/drawing/2014/main" id="{68CBF3B3-06CD-40D7-AE69-93E77E054FC3}"/>
                </a:ext>
              </a:extLst>
            </p:cNvPr>
            <p:cNvSpPr>
              <a:spLocks/>
            </p:cNvSpPr>
            <p:nvPr/>
          </p:nvSpPr>
          <p:spPr bwMode="hidden">
            <a:xfrm>
              <a:off x="0" y="916"/>
              <a:ext cx="5030" cy="2187"/>
            </a:xfrm>
            <a:custGeom>
              <a:avLst/>
              <a:gdLst>
                <a:gd name="T0" fmla="*/ 0 w 5035"/>
                <a:gd name="T1" fmla="*/ 396 h 2188"/>
                <a:gd name="T2" fmla="*/ 5035 w 5035"/>
                <a:gd name="T3" fmla="*/ 2188 h 2188"/>
                <a:gd name="T4" fmla="*/ 5035 w 5035"/>
                <a:gd name="T5" fmla="*/ 2134 h 2188"/>
                <a:gd name="T6" fmla="*/ 0 w 5035"/>
                <a:gd name="T7" fmla="*/ 0 h 2188"/>
                <a:gd name="T8" fmla="*/ 0 w 5035"/>
                <a:gd name="T9" fmla="*/ 396 h 2188"/>
                <a:gd name="T10" fmla="*/ 0 w 5035"/>
                <a:gd name="T11" fmla="*/ 396 h 2188"/>
              </a:gdLst>
              <a:ahLst/>
              <a:cxnLst>
                <a:cxn ang="0">
                  <a:pos x="T0" y="T1"/>
                </a:cxn>
                <a:cxn ang="0">
                  <a:pos x="T2" y="T3"/>
                </a:cxn>
                <a:cxn ang="0">
                  <a:pos x="T4" y="T5"/>
                </a:cxn>
                <a:cxn ang="0">
                  <a:pos x="T6" y="T7"/>
                </a:cxn>
                <a:cxn ang="0">
                  <a:pos x="T8" y="T9"/>
                </a:cxn>
                <a:cxn ang="0">
                  <a:pos x="T10" y="T11"/>
                </a:cxn>
              </a:cxnLst>
              <a:rect l="0" t="0" r="r" b="b"/>
              <a:pathLst>
                <a:path w="5035" h="2188">
                  <a:moveTo>
                    <a:pt x="0" y="396"/>
                  </a:moveTo>
                  <a:lnTo>
                    <a:pt x="5035" y="2188"/>
                  </a:lnTo>
                  <a:lnTo>
                    <a:pt x="5035" y="2134"/>
                  </a:lnTo>
                  <a:lnTo>
                    <a:pt x="0" y="0"/>
                  </a:lnTo>
                  <a:lnTo>
                    <a:pt x="0" y="396"/>
                  </a:lnTo>
                  <a:lnTo>
                    <a:pt x="0" y="396"/>
                  </a:lnTo>
                  <a:close/>
                </a:path>
              </a:pathLst>
            </a:custGeom>
            <a:gradFill rotWithShape="0">
              <a:gsLst>
                <a:gs pos="0">
                  <a:schemeClr val="bg2">
                    <a:gamma/>
                    <a:shade val="66667"/>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7" name="Freeform 17">
              <a:extLst>
                <a:ext uri="{FF2B5EF4-FFF2-40B4-BE49-F238E27FC236}">
                  <a16:creationId xmlns:a16="http://schemas.microsoft.com/office/drawing/2014/main" id="{ABB5C1F9-71EA-44C3-8926-E64B6FFF7753}"/>
                </a:ext>
              </a:extLst>
            </p:cNvPr>
            <p:cNvSpPr>
              <a:spLocks/>
            </p:cNvSpPr>
            <p:nvPr/>
          </p:nvSpPr>
          <p:spPr bwMode="hidden">
            <a:xfrm>
              <a:off x="2294" y="0"/>
              <a:ext cx="3159" cy="2725"/>
            </a:xfrm>
            <a:custGeom>
              <a:avLst/>
              <a:gdLst>
                <a:gd name="T0" fmla="*/ 0 w 3163"/>
                <a:gd name="T1" fmla="*/ 0 h 2727"/>
                <a:gd name="T2" fmla="*/ 3145 w 3163"/>
                <a:gd name="T3" fmla="*/ 2727 h 2727"/>
                <a:gd name="T4" fmla="*/ 3163 w 3163"/>
                <a:gd name="T5" fmla="*/ 2704 h 2727"/>
                <a:gd name="T6" fmla="*/ 102 w 3163"/>
                <a:gd name="T7" fmla="*/ 0 h 2727"/>
                <a:gd name="T8" fmla="*/ 0 w 3163"/>
                <a:gd name="T9" fmla="*/ 0 h 2727"/>
                <a:gd name="T10" fmla="*/ 0 w 3163"/>
                <a:gd name="T11" fmla="*/ 0 h 2727"/>
              </a:gdLst>
              <a:ahLst/>
              <a:cxnLst>
                <a:cxn ang="0">
                  <a:pos x="T0" y="T1"/>
                </a:cxn>
                <a:cxn ang="0">
                  <a:pos x="T2" y="T3"/>
                </a:cxn>
                <a:cxn ang="0">
                  <a:pos x="T4" y="T5"/>
                </a:cxn>
                <a:cxn ang="0">
                  <a:pos x="T6" y="T7"/>
                </a:cxn>
                <a:cxn ang="0">
                  <a:pos x="T8" y="T9"/>
                </a:cxn>
                <a:cxn ang="0">
                  <a:pos x="T10" y="T11"/>
                </a:cxn>
              </a:cxnLst>
              <a:rect l="0" t="0" r="r" b="b"/>
              <a:pathLst>
                <a:path w="3163" h="2727">
                  <a:moveTo>
                    <a:pt x="0" y="0"/>
                  </a:moveTo>
                  <a:lnTo>
                    <a:pt x="3145" y="2727"/>
                  </a:lnTo>
                  <a:lnTo>
                    <a:pt x="3163" y="2704"/>
                  </a:lnTo>
                  <a:lnTo>
                    <a:pt x="102" y="0"/>
                  </a:lnTo>
                  <a:lnTo>
                    <a:pt x="0" y="0"/>
                  </a:lnTo>
                  <a:lnTo>
                    <a:pt x="0" y="0"/>
                  </a:lnTo>
                  <a:close/>
                </a:path>
              </a:pathLst>
            </a:custGeom>
            <a:gradFill rotWithShape="0">
              <a:gsLst>
                <a:gs pos="0">
                  <a:schemeClr val="bg1">
                    <a:gamma/>
                    <a:shade val="6980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8" name="Freeform 18">
              <a:extLst>
                <a:ext uri="{FF2B5EF4-FFF2-40B4-BE49-F238E27FC236}">
                  <a16:creationId xmlns:a16="http://schemas.microsoft.com/office/drawing/2014/main" id="{EECC7476-2B6B-44DD-B5D8-36208153816D}"/>
                </a:ext>
              </a:extLst>
            </p:cNvPr>
            <p:cNvSpPr>
              <a:spLocks/>
            </p:cNvSpPr>
            <p:nvPr/>
          </p:nvSpPr>
          <p:spPr bwMode="hidden">
            <a:xfrm>
              <a:off x="5435" y="2702"/>
              <a:ext cx="323" cy="299"/>
            </a:xfrm>
            <a:custGeom>
              <a:avLst/>
              <a:gdLst>
                <a:gd name="T0" fmla="*/ 323 w 323"/>
                <a:gd name="T1" fmla="*/ 299 h 299"/>
                <a:gd name="T2" fmla="*/ 323 w 323"/>
                <a:gd name="T3" fmla="*/ 263 h 299"/>
                <a:gd name="T4" fmla="*/ 18 w 323"/>
                <a:gd name="T5" fmla="*/ 0 h 299"/>
                <a:gd name="T6" fmla="*/ 0 w 323"/>
                <a:gd name="T7" fmla="*/ 23 h 299"/>
                <a:gd name="T8" fmla="*/ 323 w 323"/>
                <a:gd name="T9" fmla="*/ 299 h 299"/>
                <a:gd name="T10" fmla="*/ 323 w 323"/>
                <a:gd name="T11" fmla="*/ 299 h 299"/>
              </a:gdLst>
              <a:ahLst/>
              <a:cxnLst>
                <a:cxn ang="0">
                  <a:pos x="T0" y="T1"/>
                </a:cxn>
                <a:cxn ang="0">
                  <a:pos x="T2" y="T3"/>
                </a:cxn>
                <a:cxn ang="0">
                  <a:pos x="T4" y="T5"/>
                </a:cxn>
                <a:cxn ang="0">
                  <a:pos x="T6" y="T7"/>
                </a:cxn>
                <a:cxn ang="0">
                  <a:pos x="T8" y="T9"/>
                </a:cxn>
                <a:cxn ang="0">
                  <a:pos x="T10" y="T11"/>
                </a:cxn>
              </a:cxnLst>
              <a:rect l="0" t="0" r="r" b="b"/>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chemeClr val="bg1">
                    <a:gamma/>
                    <a:tint val="94118"/>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299" name="Freeform 19">
              <a:extLst>
                <a:ext uri="{FF2B5EF4-FFF2-40B4-BE49-F238E27FC236}">
                  <a16:creationId xmlns:a16="http://schemas.microsoft.com/office/drawing/2014/main" id="{8AF269E5-5087-4390-920B-FE012FD1859B}"/>
                </a:ext>
              </a:extLst>
            </p:cNvPr>
            <p:cNvSpPr>
              <a:spLocks/>
            </p:cNvSpPr>
            <p:nvPr/>
          </p:nvSpPr>
          <p:spPr bwMode="hidden">
            <a:xfrm>
              <a:off x="5477" y="2588"/>
              <a:ext cx="281" cy="335"/>
            </a:xfrm>
            <a:custGeom>
              <a:avLst/>
              <a:gdLst>
                <a:gd name="T0" fmla="*/ 281 w 281"/>
                <a:gd name="T1" fmla="*/ 335 h 335"/>
                <a:gd name="T2" fmla="*/ 281 w 281"/>
                <a:gd name="T3" fmla="*/ 173 h 335"/>
                <a:gd name="T4" fmla="*/ 96 w 281"/>
                <a:gd name="T5" fmla="*/ 0 h 335"/>
                <a:gd name="T6" fmla="*/ 0 w 281"/>
                <a:gd name="T7" fmla="*/ 90 h 335"/>
                <a:gd name="T8" fmla="*/ 281 w 281"/>
                <a:gd name="T9" fmla="*/ 335 h 335"/>
                <a:gd name="T10" fmla="*/ 281 w 281"/>
                <a:gd name="T11" fmla="*/ 335 h 335"/>
              </a:gdLst>
              <a:ahLst/>
              <a:cxnLst>
                <a:cxn ang="0">
                  <a:pos x="T0" y="T1"/>
                </a:cxn>
                <a:cxn ang="0">
                  <a:pos x="T2" y="T3"/>
                </a:cxn>
                <a:cxn ang="0">
                  <a:pos x="T4" y="T5"/>
                </a:cxn>
                <a:cxn ang="0">
                  <a:pos x="T6" y="T7"/>
                </a:cxn>
                <a:cxn ang="0">
                  <a:pos x="T8" y="T9"/>
                </a:cxn>
                <a:cxn ang="0">
                  <a:pos x="T10" y="T11"/>
                </a:cxn>
              </a:cxnLst>
              <a:rect l="0" t="0" r="r" b="b"/>
              <a:pathLst>
                <a:path w="281" h="335">
                  <a:moveTo>
                    <a:pt x="281" y="335"/>
                  </a:moveTo>
                  <a:lnTo>
                    <a:pt x="281" y="173"/>
                  </a:lnTo>
                  <a:lnTo>
                    <a:pt x="96" y="0"/>
                  </a:lnTo>
                  <a:lnTo>
                    <a:pt x="0" y="90"/>
                  </a:lnTo>
                  <a:lnTo>
                    <a:pt x="281" y="335"/>
                  </a:lnTo>
                  <a:lnTo>
                    <a:pt x="281" y="3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0" name="Freeform 20">
              <a:extLst>
                <a:ext uri="{FF2B5EF4-FFF2-40B4-BE49-F238E27FC236}">
                  <a16:creationId xmlns:a16="http://schemas.microsoft.com/office/drawing/2014/main" id="{36AD734E-974F-4844-8073-C90E3D4E193D}"/>
                </a:ext>
              </a:extLst>
            </p:cNvPr>
            <p:cNvSpPr>
              <a:spLocks/>
            </p:cNvSpPr>
            <p:nvPr/>
          </p:nvSpPr>
          <p:spPr bwMode="hidden">
            <a:xfrm>
              <a:off x="2454" y="0"/>
              <a:ext cx="3119" cy="2678"/>
            </a:xfrm>
            <a:custGeom>
              <a:avLst/>
              <a:gdLst>
                <a:gd name="T0" fmla="*/ 0 w 3122"/>
                <a:gd name="T1" fmla="*/ 0 h 2680"/>
                <a:gd name="T2" fmla="*/ 3026 w 3122"/>
                <a:gd name="T3" fmla="*/ 2680 h 2680"/>
                <a:gd name="T4" fmla="*/ 3122 w 3122"/>
                <a:gd name="T5" fmla="*/ 2590 h 2680"/>
                <a:gd name="T6" fmla="*/ 383 w 3122"/>
                <a:gd name="T7" fmla="*/ 0 h 2680"/>
                <a:gd name="T8" fmla="*/ 0 w 3122"/>
                <a:gd name="T9" fmla="*/ 0 h 2680"/>
                <a:gd name="T10" fmla="*/ 0 w 3122"/>
                <a:gd name="T11" fmla="*/ 0 h 2680"/>
              </a:gdLst>
              <a:ahLst/>
              <a:cxnLst>
                <a:cxn ang="0">
                  <a:pos x="T0" y="T1"/>
                </a:cxn>
                <a:cxn ang="0">
                  <a:pos x="T2" y="T3"/>
                </a:cxn>
                <a:cxn ang="0">
                  <a:pos x="T4" y="T5"/>
                </a:cxn>
                <a:cxn ang="0">
                  <a:pos x="T6" y="T7"/>
                </a:cxn>
                <a:cxn ang="0">
                  <a:pos x="T8" y="T9"/>
                </a:cxn>
                <a:cxn ang="0">
                  <a:pos x="T10" y="T11"/>
                </a:cxn>
              </a:cxnLst>
              <a:rect l="0" t="0" r="r" b="b"/>
              <a:pathLst>
                <a:path w="3122" h="2680">
                  <a:moveTo>
                    <a:pt x="0" y="0"/>
                  </a:moveTo>
                  <a:lnTo>
                    <a:pt x="3026" y="2680"/>
                  </a:lnTo>
                  <a:lnTo>
                    <a:pt x="3122" y="2590"/>
                  </a:lnTo>
                  <a:lnTo>
                    <a:pt x="383" y="0"/>
                  </a:lnTo>
                  <a:lnTo>
                    <a:pt x="0" y="0"/>
                  </a:lnTo>
                  <a:lnTo>
                    <a:pt x="0" y="0"/>
                  </a:lnTo>
                  <a:close/>
                </a:path>
              </a:pathLst>
            </a:custGeom>
            <a:gradFill rotWithShape="0">
              <a:gsLst>
                <a:gs pos="0">
                  <a:schemeClr val="bg1">
                    <a:gamma/>
                    <a:shade val="46275"/>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1" name="Freeform 21">
              <a:extLst>
                <a:ext uri="{FF2B5EF4-FFF2-40B4-BE49-F238E27FC236}">
                  <a16:creationId xmlns:a16="http://schemas.microsoft.com/office/drawing/2014/main" id="{60B36DDC-3EF9-46C8-B5D7-0A8501109211}"/>
                </a:ext>
              </a:extLst>
            </p:cNvPr>
            <p:cNvSpPr>
              <a:spLocks/>
            </p:cNvSpPr>
            <p:nvPr/>
          </p:nvSpPr>
          <p:spPr bwMode="hidden">
            <a:xfrm>
              <a:off x="5626" y="2534"/>
              <a:ext cx="132" cy="132"/>
            </a:xfrm>
            <a:custGeom>
              <a:avLst/>
              <a:gdLst>
                <a:gd name="T0" fmla="*/ 132 w 132"/>
                <a:gd name="T1" fmla="*/ 132 h 132"/>
                <a:gd name="T2" fmla="*/ 0 w 132"/>
                <a:gd name="T3" fmla="*/ 0 h 132"/>
                <a:gd name="T4" fmla="*/ 0 w 132"/>
                <a:gd name="T5" fmla="*/ 0 h 132"/>
                <a:gd name="T6" fmla="*/ 132 w 132"/>
                <a:gd name="T7" fmla="*/ 132 h 132"/>
                <a:gd name="T8" fmla="*/ 132 w 132"/>
                <a:gd name="T9" fmla="*/ 132 h 132"/>
              </a:gdLst>
              <a:ahLst/>
              <a:cxnLst>
                <a:cxn ang="0">
                  <a:pos x="T0" y="T1"/>
                </a:cxn>
                <a:cxn ang="0">
                  <a:pos x="T2" y="T3"/>
                </a:cxn>
                <a:cxn ang="0">
                  <a:pos x="T4" y="T5"/>
                </a:cxn>
                <a:cxn ang="0">
                  <a:pos x="T6" y="T7"/>
                </a:cxn>
                <a:cxn ang="0">
                  <a:pos x="T8" y="T9"/>
                </a:cxn>
              </a:cxnLst>
              <a:rect l="0" t="0" r="r" b="b"/>
              <a:pathLst>
                <a:path w="132" h="132">
                  <a:moveTo>
                    <a:pt x="132" y="132"/>
                  </a:moveTo>
                  <a:lnTo>
                    <a:pt x="0" y="0"/>
                  </a:lnTo>
                  <a:lnTo>
                    <a:pt x="0" y="0"/>
                  </a:lnTo>
                  <a:lnTo>
                    <a:pt x="132" y="132"/>
                  </a:lnTo>
                  <a:lnTo>
                    <a:pt x="132" y="132"/>
                  </a:lnTo>
                  <a:close/>
                </a:path>
              </a:pathLst>
            </a:custGeom>
            <a:solidFill>
              <a:srgbClr val="FF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2" name="Freeform 22">
              <a:extLst>
                <a:ext uri="{FF2B5EF4-FFF2-40B4-BE49-F238E27FC236}">
                  <a16:creationId xmlns:a16="http://schemas.microsoft.com/office/drawing/2014/main" id="{3894EAA2-99B1-43EA-92AF-F0CD8EE6686F}"/>
                </a:ext>
              </a:extLst>
            </p:cNvPr>
            <p:cNvSpPr>
              <a:spLocks/>
            </p:cNvSpPr>
            <p:nvPr/>
          </p:nvSpPr>
          <p:spPr bwMode="hidden">
            <a:xfrm>
              <a:off x="3112" y="0"/>
              <a:ext cx="2514" cy="2534"/>
            </a:xfrm>
            <a:custGeom>
              <a:avLst/>
              <a:gdLst>
                <a:gd name="T0" fmla="*/ 0 w 2517"/>
                <a:gd name="T1" fmla="*/ 0 h 2536"/>
                <a:gd name="T2" fmla="*/ 2517 w 2517"/>
                <a:gd name="T3" fmla="*/ 2536 h 2536"/>
                <a:gd name="T4" fmla="*/ 2517 w 2517"/>
                <a:gd name="T5" fmla="*/ 2536 h 2536"/>
                <a:gd name="T6" fmla="*/ 66 w 2517"/>
                <a:gd name="T7" fmla="*/ 0 h 2536"/>
                <a:gd name="T8" fmla="*/ 0 w 2517"/>
                <a:gd name="T9" fmla="*/ 0 h 2536"/>
                <a:gd name="T10" fmla="*/ 0 w 2517"/>
                <a:gd name="T11" fmla="*/ 0 h 2536"/>
              </a:gdLst>
              <a:ahLst/>
              <a:cxnLst>
                <a:cxn ang="0">
                  <a:pos x="T0" y="T1"/>
                </a:cxn>
                <a:cxn ang="0">
                  <a:pos x="T2" y="T3"/>
                </a:cxn>
                <a:cxn ang="0">
                  <a:pos x="T4" y="T5"/>
                </a:cxn>
                <a:cxn ang="0">
                  <a:pos x="T6" y="T7"/>
                </a:cxn>
                <a:cxn ang="0">
                  <a:pos x="T8" y="T9"/>
                </a:cxn>
                <a:cxn ang="0">
                  <a:pos x="T10" y="T11"/>
                </a:cxn>
              </a:cxnLst>
              <a:rect l="0" t="0" r="r" b="b"/>
              <a:pathLst>
                <a:path w="2517" h="2536">
                  <a:moveTo>
                    <a:pt x="0" y="0"/>
                  </a:moveTo>
                  <a:lnTo>
                    <a:pt x="2517" y="2536"/>
                  </a:lnTo>
                  <a:lnTo>
                    <a:pt x="2517" y="2536"/>
                  </a:lnTo>
                  <a:lnTo>
                    <a:pt x="66" y="0"/>
                  </a:lnTo>
                  <a:lnTo>
                    <a:pt x="0" y="0"/>
                  </a:lnTo>
                  <a:lnTo>
                    <a:pt x="0" y="0"/>
                  </a:lnTo>
                  <a:close/>
                </a:path>
              </a:pathLst>
            </a:custGeom>
            <a:gradFill rotWithShape="0">
              <a:gsLst>
                <a:gs pos="0">
                  <a:schemeClr val="bg1">
                    <a:gamma/>
                    <a:shade val="51373"/>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3" name="Freeform 23">
              <a:extLst>
                <a:ext uri="{FF2B5EF4-FFF2-40B4-BE49-F238E27FC236}">
                  <a16:creationId xmlns:a16="http://schemas.microsoft.com/office/drawing/2014/main" id="{69E176C6-7CE5-4793-9130-DB03345ECD02}"/>
                </a:ext>
              </a:extLst>
            </p:cNvPr>
            <p:cNvSpPr>
              <a:spLocks/>
            </p:cNvSpPr>
            <p:nvPr/>
          </p:nvSpPr>
          <p:spPr bwMode="hidden">
            <a:xfrm>
              <a:off x="3488" y="0"/>
              <a:ext cx="2198" cy="2480"/>
            </a:xfrm>
            <a:custGeom>
              <a:avLst/>
              <a:gdLst>
                <a:gd name="T0" fmla="*/ 0 w 2200"/>
                <a:gd name="T1" fmla="*/ 0 h 2482"/>
                <a:gd name="T2" fmla="*/ 2188 w 2200"/>
                <a:gd name="T3" fmla="*/ 2482 h 2482"/>
                <a:gd name="T4" fmla="*/ 2200 w 2200"/>
                <a:gd name="T5" fmla="*/ 2476 h 2482"/>
                <a:gd name="T6" fmla="*/ 317 w 2200"/>
                <a:gd name="T7" fmla="*/ 0 h 2482"/>
                <a:gd name="T8" fmla="*/ 0 w 2200"/>
                <a:gd name="T9" fmla="*/ 0 h 2482"/>
                <a:gd name="T10" fmla="*/ 0 w 2200"/>
                <a:gd name="T11" fmla="*/ 0 h 2482"/>
              </a:gdLst>
              <a:ahLst/>
              <a:cxnLst>
                <a:cxn ang="0">
                  <a:pos x="T0" y="T1"/>
                </a:cxn>
                <a:cxn ang="0">
                  <a:pos x="T2" y="T3"/>
                </a:cxn>
                <a:cxn ang="0">
                  <a:pos x="T4" y="T5"/>
                </a:cxn>
                <a:cxn ang="0">
                  <a:pos x="T6" y="T7"/>
                </a:cxn>
                <a:cxn ang="0">
                  <a:pos x="T8" y="T9"/>
                </a:cxn>
                <a:cxn ang="0">
                  <a:pos x="T10" y="T11"/>
                </a:cxn>
              </a:cxnLst>
              <a:rect l="0" t="0" r="r" b="b"/>
              <a:pathLst>
                <a:path w="2200" h="2482">
                  <a:moveTo>
                    <a:pt x="0" y="0"/>
                  </a:moveTo>
                  <a:lnTo>
                    <a:pt x="2188" y="2482"/>
                  </a:lnTo>
                  <a:lnTo>
                    <a:pt x="2200" y="2476"/>
                  </a:lnTo>
                  <a:lnTo>
                    <a:pt x="317" y="0"/>
                  </a:lnTo>
                  <a:lnTo>
                    <a:pt x="0" y="0"/>
                  </a:lnTo>
                  <a:lnTo>
                    <a:pt x="0" y="0"/>
                  </a:lnTo>
                  <a:close/>
                </a:path>
              </a:pathLst>
            </a:custGeom>
            <a:gradFill rotWithShape="0">
              <a:gsLst>
                <a:gs pos="0">
                  <a:schemeClr val="bg2">
                    <a:gamma/>
                    <a:shade val="78824"/>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225304" name="Freeform 24">
              <a:extLst>
                <a:ext uri="{FF2B5EF4-FFF2-40B4-BE49-F238E27FC236}">
                  <a16:creationId xmlns:a16="http://schemas.microsoft.com/office/drawing/2014/main" id="{2D393909-C309-4FEA-A852-508E20CEDA30}"/>
                </a:ext>
              </a:extLst>
            </p:cNvPr>
            <p:cNvSpPr>
              <a:spLocks/>
            </p:cNvSpPr>
            <p:nvPr/>
          </p:nvSpPr>
          <p:spPr bwMode="hidden">
            <a:xfrm>
              <a:off x="5674" y="2474"/>
              <a:ext cx="84" cy="96"/>
            </a:xfrm>
            <a:custGeom>
              <a:avLst/>
              <a:gdLst>
                <a:gd name="T0" fmla="*/ 84 w 84"/>
                <a:gd name="T1" fmla="*/ 96 h 96"/>
                <a:gd name="T2" fmla="*/ 84 w 84"/>
                <a:gd name="T3" fmla="*/ 90 h 96"/>
                <a:gd name="T4" fmla="*/ 12 w 84"/>
                <a:gd name="T5" fmla="*/ 0 h 96"/>
                <a:gd name="T6" fmla="*/ 0 w 84"/>
                <a:gd name="T7" fmla="*/ 6 h 96"/>
                <a:gd name="T8" fmla="*/ 84 w 84"/>
                <a:gd name="T9" fmla="*/ 96 h 96"/>
                <a:gd name="T10" fmla="*/ 84 w 84"/>
                <a:gd name="T11" fmla="*/ 96 h 96"/>
              </a:gdLst>
              <a:ahLst/>
              <a:cxnLst>
                <a:cxn ang="0">
                  <a:pos x="T0" y="T1"/>
                </a:cxn>
                <a:cxn ang="0">
                  <a:pos x="T2" y="T3"/>
                </a:cxn>
                <a:cxn ang="0">
                  <a:pos x="T4" y="T5"/>
                </a:cxn>
                <a:cxn ang="0">
                  <a:pos x="T6" y="T7"/>
                </a:cxn>
                <a:cxn ang="0">
                  <a:pos x="T8" y="T9"/>
                </a:cxn>
                <a:cxn ang="0">
                  <a:pos x="T10" y="T11"/>
                </a:cxn>
              </a:cxnLst>
              <a:rect l="0" t="0" r="r" b="b"/>
              <a:pathLst>
                <a:path w="84" h="96">
                  <a:moveTo>
                    <a:pt x="84" y="96"/>
                  </a:moveTo>
                  <a:lnTo>
                    <a:pt x="84" y="90"/>
                  </a:lnTo>
                  <a:lnTo>
                    <a:pt x="12" y="0"/>
                  </a:lnTo>
                  <a:lnTo>
                    <a:pt x="0" y="6"/>
                  </a:lnTo>
                  <a:lnTo>
                    <a:pt x="84" y="96"/>
                  </a:lnTo>
                  <a:lnTo>
                    <a:pt x="84" y="96"/>
                  </a:lnTo>
                  <a:close/>
                </a:path>
              </a:pathLst>
            </a:custGeom>
            <a:gradFill rotWithShape="0">
              <a:gsLst>
                <a:gs pos="0">
                  <a:schemeClr val="bg1"/>
                </a:gs>
                <a:gs pos="100000">
                  <a:schemeClr val="bg1">
                    <a:gamma/>
                    <a:tint val="90980"/>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5" name="Freeform 25">
              <a:extLst>
                <a:ext uri="{FF2B5EF4-FFF2-40B4-BE49-F238E27FC236}">
                  <a16:creationId xmlns:a16="http://schemas.microsoft.com/office/drawing/2014/main" id="{B2719DC2-7B4E-445F-B7ED-DBABFDCA65FB}"/>
                </a:ext>
              </a:extLst>
            </p:cNvPr>
            <p:cNvSpPr>
              <a:spLocks/>
            </p:cNvSpPr>
            <p:nvPr/>
          </p:nvSpPr>
          <p:spPr bwMode="hidden">
            <a:xfrm>
              <a:off x="5603" y="850"/>
              <a:ext cx="155" cy="516"/>
            </a:xfrm>
            <a:custGeom>
              <a:avLst/>
              <a:gdLst>
                <a:gd name="T0" fmla="*/ 155 w 155"/>
                <a:gd name="T1" fmla="*/ 516 h 516"/>
                <a:gd name="T2" fmla="*/ 155 w 155"/>
                <a:gd name="T3" fmla="*/ 204 h 516"/>
                <a:gd name="T4" fmla="*/ 77 w 155"/>
                <a:gd name="T5" fmla="*/ 0 h 516"/>
                <a:gd name="T6" fmla="*/ 0 w 155"/>
                <a:gd name="T7" fmla="*/ 192 h 516"/>
                <a:gd name="T8" fmla="*/ 155 w 155"/>
                <a:gd name="T9" fmla="*/ 516 h 516"/>
                <a:gd name="T10" fmla="*/ 155 w 155"/>
                <a:gd name="T11" fmla="*/ 516 h 516"/>
              </a:gdLst>
              <a:ahLst/>
              <a:cxnLst>
                <a:cxn ang="0">
                  <a:pos x="T0" y="T1"/>
                </a:cxn>
                <a:cxn ang="0">
                  <a:pos x="T2" y="T3"/>
                </a:cxn>
                <a:cxn ang="0">
                  <a:pos x="T4" y="T5"/>
                </a:cxn>
                <a:cxn ang="0">
                  <a:pos x="T6" y="T7"/>
                </a:cxn>
                <a:cxn ang="0">
                  <a:pos x="T8" y="T9"/>
                </a:cxn>
                <a:cxn ang="0">
                  <a:pos x="T10" y="T11"/>
                </a:cxn>
              </a:cxnLst>
              <a:rect l="0" t="0" r="r" b="b"/>
              <a:pathLst>
                <a:path w="155" h="516">
                  <a:moveTo>
                    <a:pt x="155" y="516"/>
                  </a:moveTo>
                  <a:lnTo>
                    <a:pt x="155" y="204"/>
                  </a:lnTo>
                  <a:lnTo>
                    <a:pt x="77" y="0"/>
                  </a:lnTo>
                  <a:lnTo>
                    <a:pt x="0" y="192"/>
                  </a:lnTo>
                  <a:lnTo>
                    <a:pt x="155" y="516"/>
                  </a:lnTo>
                  <a:lnTo>
                    <a:pt x="155" y="51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6" name="Freeform 26">
              <a:extLst>
                <a:ext uri="{FF2B5EF4-FFF2-40B4-BE49-F238E27FC236}">
                  <a16:creationId xmlns:a16="http://schemas.microsoft.com/office/drawing/2014/main" id="{2D890C8D-A250-423E-AC42-F6C7EE8248CC}"/>
                </a:ext>
              </a:extLst>
            </p:cNvPr>
            <p:cNvSpPr>
              <a:spLocks/>
            </p:cNvSpPr>
            <p:nvPr/>
          </p:nvSpPr>
          <p:spPr bwMode="hidden">
            <a:xfrm>
              <a:off x="5107" y="0"/>
              <a:ext cx="573" cy="1042"/>
            </a:xfrm>
            <a:custGeom>
              <a:avLst/>
              <a:gdLst>
                <a:gd name="T0" fmla="*/ 0 w 574"/>
                <a:gd name="T1" fmla="*/ 0 h 1043"/>
                <a:gd name="T2" fmla="*/ 497 w 574"/>
                <a:gd name="T3" fmla="*/ 1043 h 1043"/>
                <a:gd name="T4" fmla="*/ 574 w 574"/>
                <a:gd name="T5" fmla="*/ 851 h 1043"/>
                <a:gd name="T6" fmla="*/ 251 w 574"/>
                <a:gd name="T7" fmla="*/ 0 h 1043"/>
                <a:gd name="T8" fmla="*/ 0 w 574"/>
                <a:gd name="T9" fmla="*/ 0 h 1043"/>
                <a:gd name="T10" fmla="*/ 0 w 574"/>
                <a:gd name="T11" fmla="*/ 0 h 1043"/>
              </a:gdLst>
              <a:ahLst/>
              <a:cxnLst>
                <a:cxn ang="0">
                  <a:pos x="T0" y="T1"/>
                </a:cxn>
                <a:cxn ang="0">
                  <a:pos x="T2" y="T3"/>
                </a:cxn>
                <a:cxn ang="0">
                  <a:pos x="T4" y="T5"/>
                </a:cxn>
                <a:cxn ang="0">
                  <a:pos x="T6" y="T7"/>
                </a:cxn>
                <a:cxn ang="0">
                  <a:pos x="T8" y="T9"/>
                </a:cxn>
                <a:cxn ang="0">
                  <a:pos x="T10" y="T11"/>
                </a:cxn>
              </a:cxnLst>
              <a:rect l="0" t="0" r="r" b="b"/>
              <a:pathLst>
                <a:path w="574" h="1043">
                  <a:moveTo>
                    <a:pt x="0" y="0"/>
                  </a:moveTo>
                  <a:lnTo>
                    <a:pt x="497" y="1043"/>
                  </a:lnTo>
                  <a:lnTo>
                    <a:pt x="574" y="851"/>
                  </a:lnTo>
                  <a:lnTo>
                    <a:pt x="251" y="0"/>
                  </a:lnTo>
                  <a:lnTo>
                    <a:pt x="0" y="0"/>
                  </a:lnTo>
                  <a:lnTo>
                    <a:pt x="0" y="0"/>
                  </a:lnTo>
                  <a:close/>
                </a:path>
              </a:pathLst>
            </a:custGeom>
            <a:gradFill rotWithShape="0">
              <a:gsLst>
                <a:gs pos="0">
                  <a:schemeClr val="bg2">
                    <a:gamma/>
                    <a:shade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7" name="Freeform 27">
              <a:extLst>
                <a:ext uri="{FF2B5EF4-FFF2-40B4-BE49-F238E27FC236}">
                  <a16:creationId xmlns:a16="http://schemas.microsoft.com/office/drawing/2014/main" id="{8930ABAC-ECF3-4F35-8298-A1F4AC4C1E1A}"/>
                </a:ext>
              </a:extLst>
            </p:cNvPr>
            <p:cNvSpPr>
              <a:spLocks/>
            </p:cNvSpPr>
            <p:nvPr/>
          </p:nvSpPr>
          <p:spPr bwMode="hidden">
            <a:xfrm>
              <a:off x="5411" y="0"/>
              <a:ext cx="341" cy="796"/>
            </a:xfrm>
            <a:custGeom>
              <a:avLst/>
              <a:gdLst>
                <a:gd name="T0" fmla="*/ 144 w 341"/>
                <a:gd name="T1" fmla="*/ 0 h 797"/>
                <a:gd name="T2" fmla="*/ 0 w 341"/>
                <a:gd name="T3" fmla="*/ 0 h 797"/>
                <a:gd name="T4" fmla="*/ 287 w 341"/>
                <a:gd name="T5" fmla="*/ 797 h 797"/>
                <a:gd name="T6" fmla="*/ 341 w 341"/>
                <a:gd name="T7" fmla="*/ 653 h 797"/>
                <a:gd name="T8" fmla="*/ 144 w 341"/>
                <a:gd name="T9" fmla="*/ 0 h 797"/>
                <a:gd name="T10" fmla="*/ 144 w 341"/>
                <a:gd name="T11" fmla="*/ 0 h 797"/>
              </a:gdLst>
              <a:ahLst/>
              <a:cxnLst>
                <a:cxn ang="0">
                  <a:pos x="T0" y="T1"/>
                </a:cxn>
                <a:cxn ang="0">
                  <a:pos x="T2" y="T3"/>
                </a:cxn>
                <a:cxn ang="0">
                  <a:pos x="T4" y="T5"/>
                </a:cxn>
                <a:cxn ang="0">
                  <a:pos x="T6" y="T7"/>
                </a:cxn>
                <a:cxn ang="0">
                  <a:pos x="T8" y="T9"/>
                </a:cxn>
                <a:cxn ang="0">
                  <a:pos x="T10" y="T11"/>
                </a:cxn>
              </a:cxnLst>
              <a:rect l="0" t="0" r="r" b="b"/>
              <a:pathLst>
                <a:path w="341" h="797">
                  <a:moveTo>
                    <a:pt x="144" y="0"/>
                  </a:moveTo>
                  <a:lnTo>
                    <a:pt x="0" y="0"/>
                  </a:lnTo>
                  <a:lnTo>
                    <a:pt x="287" y="797"/>
                  </a:lnTo>
                  <a:lnTo>
                    <a:pt x="341" y="653"/>
                  </a:lnTo>
                  <a:lnTo>
                    <a:pt x="144" y="0"/>
                  </a:lnTo>
                  <a:lnTo>
                    <a:pt x="144" y="0"/>
                  </a:lnTo>
                  <a:close/>
                </a:path>
              </a:pathLst>
            </a:custGeom>
            <a:gradFill rotWithShape="0">
              <a:gsLst>
                <a:gs pos="0">
                  <a:schemeClr val="bg2">
                    <a:gamma/>
                    <a:shade val="69804"/>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8" name="Freeform 28">
              <a:extLst>
                <a:ext uri="{FF2B5EF4-FFF2-40B4-BE49-F238E27FC236}">
                  <a16:creationId xmlns:a16="http://schemas.microsoft.com/office/drawing/2014/main" id="{E609C24E-AC98-439B-A779-67AC4BB100AD}"/>
                </a:ext>
              </a:extLst>
            </p:cNvPr>
            <p:cNvSpPr>
              <a:spLocks/>
            </p:cNvSpPr>
            <p:nvPr/>
          </p:nvSpPr>
          <p:spPr bwMode="hidden">
            <a:xfrm>
              <a:off x="5698" y="653"/>
              <a:ext cx="60" cy="311"/>
            </a:xfrm>
            <a:custGeom>
              <a:avLst/>
              <a:gdLst>
                <a:gd name="T0" fmla="*/ 0 w 60"/>
                <a:gd name="T1" fmla="*/ 144 h 312"/>
                <a:gd name="T2" fmla="*/ 60 w 60"/>
                <a:gd name="T3" fmla="*/ 312 h 312"/>
                <a:gd name="T4" fmla="*/ 60 w 60"/>
                <a:gd name="T5" fmla="*/ 6 h 312"/>
                <a:gd name="T6" fmla="*/ 54 w 60"/>
                <a:gd name="T7" fmla="*/ 0 h 312"/>
                <a:gd name="T8" fmla="*/ 0 w 60"/>
                <a:gd name="T9" fmla="*/ 144 h 312"/>
                <a:gd name="T10" fmla="*/ 0 w 60"/>
                <a:gd name="T11" fmla="*/ 144 h 312"/>
              </a:gdLst>
              <a:ahLst/>
              <a:cxnLst>
                <a:cxn ang="0">
                  <a:pos x="T0" y="T1"/>
                </a:cxn>
                <a:cxn ang="0">
                  <a:pos x="T2" y="T3"/>
                </a:cxn>
                <a:cxn ang="0">
                  <a:pos x="T4" y="T5"/>
                </a:cxn>
                <a:cxn ang="0">
                  <a:pos x="T6" y="T7"/>
                </a:cxn>
                <a:cxn ang="0">
                  <a:pos x="T8" y="T9"/>
                </a:cxn>
                <a:cxn ang="0">
                  <a:pos x="T10" y="T11"/>
                </a:cxn>
              </a:cxnLst>
              <a:rect l="0" t="0" r="r" b="b"/>
              <a:pathLst>
                <a:path w="60" h="312">
                  <a:moveTo>
                    <a:pt x="0" y="144"/>
                  </a:moveTo>
                  <a:lnTo>
                    <a:pt x="60" y="312"/>
                  </a:lnTo>
                  <a:lnTo>
                    <a:pt x="60" y="6"/>
                  </a:lnTo>
                  <a:lnTo>
                    <a:pt x="54" y="0"/>
                  </a:lnTo>
                  <a:lnTo>
                    <a:pt x="0" y="144"/>
                  </a:lnTo>
                  <a:lnTo>
                    <a:pt x="0" y="14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09" name="Freeform 29">
              <a:extLst>
                <a:ext uri="{FF2B5EF4-FFF2-40B4-BE49-F238E27FC236}">
                  <a16:creationId xmlns:a16="http://schemas.microsoft.com/office/drawing/2014/main" id="{0267DEAC-A06B-4385-948F-6DD1F2EE74F7}"/>
                </a:ext>
              </a:extLst>
            </p:cNvPr>
            <p:cNvSpPr>
              <a:spLocks/>
            </p:cNvSpPr>
            <p:nvPr/>
          </p:nvSpPr>
          <p:spPr bwMode="hidden">
            <a:xfrm>
              <a:off x="2" y="1601"/>
              <a:ext cx="5752" cy="1864"/>
            </a:xfrm>
            <a:custGeom>
              <a:avLst/>
              <a:gdLst>
                <a:gd name="T0" fmla="*/ 0 w 5740"/>
                <a:gd name="T1" fmla="*/ 371 h 1864"/>
                <a:gd name="T2" fmla="*/ 5740 w 5740"/>
                <a:gd name="T3" fmla="*/ 1864 h 1864"/>
                <a:gd name="T4" fmla="*/ 5740 w 5740"/>
                <a:gd name="T5" fmla="*/ 1834 h 1864"/>
                <a:gd name="T6" fmla="*/ 0 w 5740"/>
                <a:gd name="T7" fmla="*/ 0 h 1864"/>
                <a:gd name="T8" fmla="*/ 0 w 5740"/>
                <a:gd name="T9" fmla="*/ 371 h 1864"/>
                <a:gd name="T10" fmla="*/ 0 w 5740"/>
                <a:gd name="T11" fmla="*/ 371 h 1864"/>
              </a:gdLst>
              <a:ahLst/>
              <a:cxnLst>
                <a:cxn ang="0">
                  <a:pos x="T0" y="T1"/>
                </a:cxn>
                <a:cxn ang="0">
                  <a:pos x="T2" y="T3"/>
                </a:cxn>
                <a:cxn ang="0">
                  <a:pos x="T4" y="T5"/>
                </a:cxn>
                <a:cxn ang="0">
                  <a:pos x="T6" y="T7"/>
                </a:cxn>
                <a:cxn ang="0">
                  <a:pos x="T8" y="T9"/>
                </a:cxn>
                <a:cxn ang="0">
                  <a:pos x="T10" y="T11"/>
                </a:cxn>
              </a:cxnLst>
              <a:rect l="0" t="0" r="r" b="b"/>
              <a:pathLst>
                <a:path w="5740" h="1864">
                  <a:moveTo>
                    <a:pt x="0" y="371"/>
                  </a:moveTo>
                  <a:lnTo>
                    <a:pt x="5740" y="1864"/>
                  </a:lnTo>
                  <a:lnTo>
                    <a:pt x="5740" y="1834"/>
                  </a:lnTo>
                  <a:lnTo>
                    <a:pt x="0" y="0"/>
                  </a:lnTo>
                  <a:lnTo>
                    <a:pt x="0" y="371"/>
                  </a:lnTo>
                  <a:lnTo>
                    <a:pt x="0" y="371"/>
                  </a:lnTo>
                  <a:close/>
                </a:path>
              </a:pathLst>
            </a:custGeom>
            <a:gradFill rotWithShape="0">
              <a:gsLst>
                <a:gs pos="0">
                  <a:schemeClr val="bg1">
                    <a:gamma/>
                    <a:shade val="63529"/>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0" name="Freeform 30">
              <a:extLst>
                <a:ext uri="{FF2B5EF4-FFF2-40B4-BE49-F238E27FC236}">
                  <a16:creationId xmlns:a16="http://schemas.microsoft.com/office/drawing/2014/main" id="{7A20045B-85B0-4A10-98E2-98CFE8B32E8A}"/>
                </a:ext>
              </a:extLst>
            </p:cNvPr>
            <p:cNvSpPr>
              <a:spLocks/>
            </p:cNvSpPr>
            <p:nvPr/>
          </p:nvSpPr>
          <p:spPr bwMode="hidden">
            <a:xfrm>
              <a:off x="5754" y="3483"/>
              <a:ext cx="6" cy="6"/>
            </a:xfrm>
            <a:custGeom>
              <a:avLst/>
              <a:gdLst>
                <a:gd name="T0" fmla="*/ 6 w 6"/>
                <a:gd name="T1" fmla="*/ 6 h 6"/>
                <a:gd name="T2" fmla="*/ 0 w 6"/>
                <a:gd name="T3" fmla="*/ 0 h 6"/>
                <a:gd name="T4" fmla="*/ 0 w 6"/>
                <a:gd name="T5" fmla="*/ 6 h 6"/>
                <a:gd name="T6" fmla="*/ 6 w 6"/>
                <a:gd name="T7" fmla="*/ 6 h 6"/>
                <a:gd name="T8" fmla="*/ 6 w 6"/>
                <a:gd name="T9" fmla="*/ 6 h 6"/>
              </a:gdLst>
              <a:ahLst/>
              <a:cxnLst>
                <a:cxn ang="0">
                  <a:pos x="T0" y="T1"/>
                </a:cxn>
                <a:cxn ang="0">
                  <a:pos x="T2" y="T3"/>
                </a:cxn>
                <a:cxn ang="0">
                  <a:pos x="T4" y="T5"/>
                </a:cxn>
                <a:cxn ang="0">
                  <a:pos x="T6" y="T7"/>
                </a:cxn>
                <a:cxn ang="0">
                  <a:pos x="T8" y="T9"/>
                </a:cxn>
              </a:cxnLst>
              <a:rect l="0" t="0" r="r" b="b"/>
              <a:pathLst>
                <a:path w="6" h="6">
                  <a:moveTo>
                    <a:pt x="6" y="6"/>
                  </a:moveTo>
                  <a:lnTo>
                    <a:pt x="0" y="0"/>
                  </a:lnTo>
                  <a:lnTo>
                    <a:pt x="0" y="6"/>
                  </a:lnTo>
                  <a:lnTo>
                    <a:pt x="6" y="6"/>
                  </a:lnTo>
                  <a:lnTo>
                    <a:pt x="6" y="6"/>
                  </a:lnTo>
                  <a:close/>
                </a:path>
              </a:pathLst>
            </a:custGeom>
            <a:solidFill>
              <a:srgbClr val="18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1" name="Freeform 31">
              <a:extLst>
                <a:ext uri="{FF2B5EF4-FFF2-40B4-BE49-F238E27FC236}">
                  <a16:creationId xmlns:a16="http://schemas.microsoft.com/office/drawing/2014/main" id="{9556A544-1211-4630-BD35-AAD9C6AEBB38}"/>
                </a:ext>
              </a:extLst>
            </p:cNvPr>
            <p:cNvSpPr>
              <a:spLocks/>
            </p:cNvSpPr>
            <p:nvPr/>
          </p:nvSpPr>
          <p:spPr bwMode="hidden">
            <a:xfrm>
              <a:off x="2" y="2152"/>
              <a:ext cx="5752" cy="1337"/>
            </a:xfrm>
            <a:custGeom>
              <a:avLst/>
              <a:gdLst>
                <a:gd name="T0" fmla="*/ 0 w 5740"/>
                <a:gd name="T1" fmla="*/ 366 h 1337"/>
                <a:gd name="T2" fmla="*/ 5740 w 5740"/>
                <a:gd name="T3" fmla="*/ 1337 h 1337"/>
                <a:gd name="T4" fmla="*/ 5740 w 5740"/>
                <a:gd name="T5" fmla="*/ 1331 h 1337"/>
                <a:gd name="T6" fmla="*/ 0 w 5740"/>
                <a:gd name="T7" fmla="*/ 0 h 1337"/>
                <a:gd name="T8" fmla="*/ 0 w 5740"/>
                <a:gd name="T9" fmla="*/ 366 h 1337"/>
                <a:gd name="T10" fmla="*/ 0 w 5740"/>
                <a:gd name="T11" fmla="*/ 366 h 1337"/>
              </a:gdLst>
              <a:ahLst/>
              <a:cxnLst>
                <a:cxn ang="0">
                  <a:pos x="T0" y="T1"/>
                </a:cxn>
                <a:cxn ang="0">
                  <a:pos x="T2" y="T3"/>
                </a:cxn>
                <a:cxn ang="0">
                  <a:pos x="T4" y="T5"/>
                </a:cxn>
                <a:cxn ang="0">
                  <a:pos x="T6" y="T7"/>
                </a:cxn>
                <a:cxn ang="0">
                  <a:pos x="T8" y="T9"/>
                </a:cxn>
                <a:cxn ang="0">
                  <a:pos x="T10" y="T11"/>
                </a:cxn>
              </a:cxnLst>
              <a:rect l="0" t="0" r="r" b="b"/>
              <a:pathLst>
                <a:path w="5740" h="1337">
                  <a:moveTo>
                    <a:pt x="0" y="366"/>
                  </a:moveTo>
                  <a:lnTo>
                    <a:pt x="5740" y="1337"/>
                  </a:lnTo>
                  <a:lnTo>
                    <a:pt x="5740" y="1331"/>
                  </a:lnTo>
                  <a:lnTo>
                    <a:pt x="0" y="0"/>
                  </a:lnTo>
                  <a:lnTo>
                    <a:pt x="0" y="366"/>
                  </a:lnTo>
                  <a:lnTo>
                    <a:pt x="0" y="366"/>
                  </a:lnTo>
                  <a:close/>
                </a:path>
              </a:pathLst>
            </a:custGeom>
            <a:gradFill rotWithShape="0">
              <a:gsLst>
                <a:gs pos="0">
                  <a:schemeClr val="bg1">
                    <a:gamma/>
                    <a:shade val="6078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2" name="Freeform 32">
              <a:extLst>
                <a:ext uri="{FF2B5EF4-FFF2-40B4-BE49-F238E27FC236}">
                  <a16:creationId xmlns:a16="http://schemas.microsoft.com/office/drawing/2014/main" id="{42CA6C8B-3711-4083-81FE-3C183317169C}"/>
                </a:ext>
              </a:extLst>
            </p:cNvPr>
            <p:cNvSpPr>
              <a:spLocks/>
            </p:cNvSpPr>
            <p:nvPr/>
          </p:nvSpPr>
          <p:spPr bwMode="hidden">
            <a:xfrm>
              <a:off x="2" y="3177"/>
              <a:ext cx="5752" cy="414"/>
            </a:xfrm>
            <a:custGeom>
              <a:avLst/>
              <a:gdLst>
                <a:gd name="T0" fmla="*/ 0 w 5740"/>
                <a:gd name="T1" fmla="*/ 48 h 414"/>
                <a:gd name="T2" fmla="*/ 5740 w 5740"/>
                <a:gd name="T3" fmla="*/ 414 h 414"/>
                <a:gd name="T4" fmla="*/ 5740 w 5740"/>
                <a:gd name="T5" fmla="*/ 402 h 414"/>
                <a:gd name="T6" fmla="*/ 0 w 5740"/>
                <a:gd name="T7" fmla="*/ 0 h 414"/>
                <a:gd name="T8" fmla="*/ 0 w 5740"/>
                <a:gd name="T9" fmla="*/ 48 h 414"/>
                <a:gd name="T10" fmla="*/ 0 w 5740"/>
                <a:gd name="T11" fmla="*/ 48 h 414"/>
              </a:gdLst>
              <a:ahLst/>
              <a:cxnLst>
                <a:cxn ang="0">
                  <a:pos x="T0" y="T1"/>
                </a:cxn>
                <a:cxn ang="0">
                  <a:pos x="T2" y="T3"/>
                </a:cxn>
                <a:cxn ang="0">
                  <a:pos x="T4" y="T5"/>
                </a:cxn>
                <a:cxn ang="0">
                  <a:pos x="T6" y="T7"/>
                </a:cxn>
                <a:cxn ang="0">
                  <a:pos x="T8" y="T9"/>
                </a:cxn>
                <a:cxn ang="0">
                  <a:pos x="T10" y="T11"/>
                </a:cxn>
              </a:cxnLst>
              <a:rect l="0" t="0" r="r" b="b"/>
              <a:pathLst>
                <a:path w="5740" h="414">
                  <a:moveTo>
                    <a:pt x="0" y="48"/>
                  </a:moveTo>
                  <a:lnTo>
                    <a:pt x="5740" y="414"/>
                  </a:lnTo>
                  <a:lnTo>
                    <a:pt x="5740" y="402"/>
                  </a:lnTo>
                  <a:lnTo>
                    <a:pt x="0" y="0"/>
                  </a:lnTo>
                  <a:lnTo>
                    <a:pt x="0" y="48"/>
                  </a:lnTo>
                  <a:lnTo>
                    <a:pt x="0" y="48"/>
                  </a:lnTo>
                  <a:close/>
                </a:path>
              </a:pathLst>
            </a:custGeom>
            <a:gradFill rotWithShape="0">
              <a:gsLst>
                <a:gs pos="0">
                  <a:schemeClr val="bg1">
                    <a:gamma/>
                    <a:shade val="84706"/>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3" name="Freeform 33">
              <a:extLst>
                <a:ext uri="{FF2B5EF4-FFF2-40B4-BE49-F238E27FC236}">
                  <a16:creationId xmlns:a16="http://schemas.microsoft.com/office/drawing/2014/main" id="{E7621C9D-5B6D-4456-A34B-3F7D0A001CC6}"/>
                </a:ext>
              </a:extLst>
            </p:cNvPr>
            <p:cNvSpPr>
              <a:spLocks/>
            </p:cNvSpPr>
            <p:nvPr/>
          </p:nvSpPr>
          <p:spPr bwMode="hidden">
            <a:xfrm>
              <a:off x="1297" y="0"/>
              <a:ext cx="4457" cy="3177"/>
            </a:xfrm>
            <a:custGeom>
              <a:avLst/>
              <a:gdLst>
                <a:gd name="T0" fmla="*/ 0 w 4448"/>
                <a:gd name="T1" fmla="*/ 0 h 3177"/>
                <a:gd name="T2" fmla="*/ 4448 w 4448"/>
                <a:gd name="T3" fmla="*/ 3177 h 3177"/>
                <a:gd name="T4" fmla="*/ 4448 w 4448"/>
                <a:gd name="T5" fmla="*/ 3153 h 3177"/>
                <a:gd name="T6" fmla="*/ 125 w 4448"/>
                <a:gd name="T7" fmla="*/ 0 h 3177"/>
                <a:gd name="T8" fmla="*/ 0 w 4448"/>
                <a:gd name="T9" fmla="*/ 0 h 3177"/>
                <a:gd name="T10" fmla="*/ 0 w 4448"/>
                <a:gd name="T11" fmla="*/ 0 h 3177"/>
              </a:gdLst>
              <a:ahLst/>
              <a:cxnLst>
                <a:cxn ang="0">
                  <a:pos x="T0" y="T1"/>
                </a:cxn>
                <a:cxn ang="0">
                  <a:pos x="T2" y="T3"/>
                </a:cxn>
                <a:cxn ang="0">
                  <a:pos x="T4" y="T5"/>
                </a:cxn>
                <a:cxn ang="0">
                  <a:pos x="T6" y="T7"/>
                </a:cxn>
                <a:cxn ang="0">
                  <a:pos x="T8" y="T9"/>
                </a:cxn>
                <a:cxn ang="0">
                  <a:pos x="T10" y="T11"/>
                </a:cxn>
              </a:cxnLst>
              <a:rect l="0" t="0" r="r" b="b"/>
              <a:pathLst>
                <a:path w="4448" h="3177">
                  <a:moveTo>
                    <a:pt x="0" y="0"/>
                  </a:moveTo>
                  <a:lnTo>
                    <a:pt x="4448" y="3177"/>
                  </a:lnTo>
                  <a:lnTo>
                    <a:pt x="4448" y="3153"/>
                  </a:lnTo>
                  <a:lnTo>
                    <a:pt x="125" y="0"/>
                  </a:lnTo>
                  <a:lnTo>
                    <a:pt x="0" y="0"/>
                  </a:lnTo>
                  <a:lnTo>
                    <a:pt x="0" y="0"/>
                  </a:lnTo>
                  <a:close/>
                </a:path>
              </a:pathLst>
            </a:custGeom>
            <a:gradFill rotWithShape="0">
              <a:gsLst>
                <a:gs pos="0">
                  <a:schemeClr val="bg1">
                    <a:gamma/>
                    <a:shade val="48627"/>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4" name="Freeform 34">
              <a:extLst>
                <a:ext uri="{FF2B5EF4-FFF2-40B4-BE49-F238E27FC236}">
                  <a16:creationId xmlns:a16="http://schemas.microsoft.com/office/drawing/2014/main" id="{9B5CC464-EE3B-4072-AB15-B822EB150811}"/>
                </a:ext>
              </a:extLst>
            </p:cNvPr>
            <p:cNvSpPr>
              <a:spLocks/>
            </p:cNvSpPr>
            <p:nvPr/>
          </p:nvSpPr>
          <p:spPr bwMode="hidden">
            <a:xfrm>
              <a:off x="3321" y="0"/>
              <a:ext cx="2433" cy="2614"/>
            </a:xfrm>
            <a:custGeom>
              <a:avLst/>
              <a:gdLst>
                <a:gd name="T0" fmla="*/ 0 w 2428"/>
                <a:gd name="T1" fmla="*/ 0 h 2614"/>
                <a:gd name="T2" fmla="*/ 2428 w 2428"/>
                <a:gd name="T3" fmla="*/ 2614 h 2614"/>
                <a:gd name="T4" fmla="*/ 2428 w 2428"/>
                <a:gd name="T5" fmla="*/ 2608 h 2614"/>
                <a:gd name="T6" fmla="*/ 66 w 2428"/>
                <a:gd name="T7" fmla="*/ 0 h 2614"/>
                <a:gd name="T8" fmla="*/ 0 w 2428"/>
                <a:gd name="T9" fmla="*/ 0 h 2614"/>
                <a:gd name="T10" fmla="*/ 0 w 2428"/>
                <a:gd name="T11" fmla="*/ 0 h 2614"/>
              </a:gdLst>
              <a:ahLst/>
              <a:cxnLst>
                <a:cxn ang="0">
                  <a:pos x="T0" y="T1"/>
                </a:cxn>
                <a:cxn ang="0">
                  <a:pos x="T2" y="T3"/>
                </a:cxn>
                <a:cxn ang="0">
                  <a:pos x="T4" y="T5"/>
                </a:cxn>
                <a:cxn ang="0">
                  <a:pos x="T6" y="T7"/>
                </a:cxn>
                <a:cxn ang="0">
                  <a:pos x="T8" y="T9"/>
                </a:cxn>
                <a:cxn ang="0">
                  <a:pos x="T10" y="T11"/>
                </a:cxn>
              </a:cxnLst>
              <a:rect l="0" t="0" r="r" b="b"/>
              <a:pathLst>
                <a:path w="2428" h="2614">
                  <a:moveTo>
                    <a:pt x="0" y="0"/>
                  </a:moveTo>
                  <a:lnTo>
                    <a:pt x="2428" y="2614"/>
                  </a:lnTo>
                  <a:lnTo>
                    <a:pt x="2428" y="2608"/>
                  </a:lnTo>
                  <a:lnTo>
                    <a:pt x="66" y="0"/>
                  </a:lnTo>
                  <a:lnTo>
                    <a:pt x="0" y="0"/>
                  </a:lnTo>
                  <a:lnTo>
                    <a:pt x="0" y="0"/>
                  </a:lnTo>
                  <a:close/>
                </a:path>
              </a:pathLst>
            </a:custGeom>
            <a:gradFill rotWithShape="0">
              <a:gsLst>
                <a:gs pos="0">
                  <a:schemeClr val="bg1">
                    <a:gamma/>
                    <a:shade val="84706"/>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5" name="Freeform 35">
              <a:extLst>
                <a:ext uri="{FF2B5EF4-FFF2-40B4-BE49-F238E27FC236}">
                  <a16:creationId xmlns:a16="http://schemas.microsoft.com/office/drawing/2014/main" id="{EE12565B-AF30-492E-95F4-50B6124F974D}"/>
                </a:ext>
              </a:extLst>
            </p:cNvPr>
            <p:cNvSpPr>
              <a:spLocks/>
            </p:cNvSpPr>
            <p:nvPr/>
          </p:nvSpPr>
          <p:spPr bwMode="hidden">
            <a:xfrm>
              <a:off x="3950" y="0"/>
              <a:ext cx="1804" cy="2464"/>
            </a:xfrm>
            <a:custGeom>
              <a:avLst/>
              <a:gdLst>
                <a:gd name="T0" fmla="*/ 485 w 1800"/>
                <a:gd name="T1" fmla="*/ 0 h 2464"/>
                <a:gd name="T2" fmla="*/ 0 w 1800"/>
                <a:gd name="T3" fmla="*/ 0 h 2464"/>
                <a:gd name="T4" fmla="*/ 1800 w 1800"/>
                <a:gd name="T5" fmla="*/ 2464 h 2464"/>
                <a:gd name="T6" fmla="*/ 1800 w 1800"/>
                <a:gd name="T7" fmla="*/ 2248 h 2464"/>
                <a:gd name="T8" fmla="*/ 1794 w 1800"/>
                <a:gd name="T9" fmla="*/ 2248 h 2464"/>
                <a:gd name="T10" fmla="*/ 485 w 1800"/>
                <a:gd name="T11" fmla="*/ 0 h 2464"/>
                <a:gd name="T12" fmla="*/ 485 w 1800"/>
                <a:gd name="T13" fmla="*/ 0 h 2464"/>
              </a:gdLst>
              <a:ahLst/>
              <a:cxnLst>
                <a:cxn ang="0">
                  <a:pos x="T0" y="T1"/>
                </a:cxn>
                <a:cxn ang="0">
                  <a:pos x="T2" y="T3"/>
                </a:cxn>
                <a:cxn ang="0">
                  <a:pos x="T4" y="T5"/>
                </a:cxn>
                <a:cxn ang="0">
                  <a:pos x="T6" y="T7"/>
                </a:cxn>
                <a:cxn ang="0">
                  <a:pos x="T8" y="T9"/>
                </a:cxn>
                <a:cxn ang="0">
                  <a:pos x="T10" y="T11"/>
                </a:cxn>
                <a:cxn ang="0">
                  <a:pos x="T12" y="T13"/>
                </a:cxn>
              </a:cxnLst>
              <a:rect l="0" t="0"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chemeClr val="bg2">
                    <a:gamma/>
                    <a:shade val="78824"/>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6" name="Freeform 36">
              <a:extLst>
                <a:ext uri="{FF2B5EF4-FFF2-40B4-BE49-F238E27FC236}">
                  <a16:creationId xmlns:a16="http://schemas.microsoft.com/office/drawing/2014/main" id="{559AB77B-F971-4603-8605-B15EA4C09C5E}"/>
                </a:ext>
              </a:extLst>
            </p:cNvPr>
            <p:cNvSpPr>
              <a:spLocks/>
            </p:cNvSpPr>
            <p:nvPr/>
          </p:nvSpPr>
          <p:spPr bwMode="hidden">
            <a:xfrm>
              <a:off x="4519" y="0"/>
              <a:ext cx="1235" cy="2074"/>
            </a:xfrm>
            <a:custGeom>
              <a:avLst/>
              <a:gdLst>
                <a:gd name="T0" fmla="*/ 0 w 1232"/>
                <a:gd name="T1" fmla="*/ 0 h 2074"/>
                <a:gd name="T2" fmla="*/ 1232 w 1232"/>
                <a:gd name="T3" fmla="*/ 2074 h 2074"/>
                <a:gd name="T4" fmla="*/ 1232 w 1232"/>
                <a:gd name="T5" fmla="*/ 2038 h 2074"/>
                <a:gd name="T6" fmla="*/ 42 w 1232"/>
                <a:gd name="T7" fmla="*/ 0 h 2074"/>
                <a:gd name="T8" fmla="*/ 0 w 1232"/>
                <a:gd name="T9" fmla="*/ 0 h 2074"/>
                <a:gd name="T10" fmla="*/ 0 w 1232"/>
                <a:gd name="T11" fmla="*/ 0 h 2074"/>
              </a:gdLst>
              <a:ahLst/>
              <a:cxnLst>
                <a:cxn ang="0">
                  <a:pos x="T0" y="T1"/>
                </a:cxn>
                <a:cxn ang="0">
                  <a:pos x="T2" y="T3"/>
                </a:cxn>
                <a:cxn ang="0">
                  <a:pos x="T4" y="T5"/>
                </a:cxn>
                <a:cxn ang="0">
                  <a:pos x="T6" y="T7"/>
                </a:cxn>
                <a:cxn ang="0">
                  <a:pos x="T8" y="T9"/>
                </a:cxn>
                <a:cxn ang="0">
                  <a:pos x="T10" y="T11"/>
                </a:cxn>
              </a:cxnLst>
              <a:rect l="0" t="0" r="r" b="b"/>
              <a:pathLst>
                <a:path w="1232" h="2074">
                  <a:moveTo>
                    <a:pt x="0" y="0"/>
                  </a:moveTo>
                  <a:lnTo>
                    <a:pt x="1232" y="2074"/>
                  </a:lnTo>
                  <a:lnTo>
                    <a:pt x="1232" y="2038"/>
                  </a:lnTo>
                  <a:lnTo>
                    <a:pt x="42" y="0"/>
                  </a:lnTo>
                  <a:lnTo>
                    <a:pt x="0" y="0"/>
                  </a:lnTo>
                  <a:lnTo>
                    <a:pt x="0" y="0"/>
                  </a:lnTo>
                  <a:close/>
                </a:path>
              </a:pathLst>
            </a:custGeom>
            <a:gradFill rotWithShape="0">
              <a:gsLst>
                <a:gs pos="0">
                  <a:schemeClr val="bg1">
                    <a:gamma/>
                    <a:shade val="57647"/>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7" name="Freeform 37">
              <a:extLst>
                <a:ext uri="{FF2B5EF4-FFF2-40B4-BE49-F238E27FC236}">
                  <a16:creationId xmlns:a16="http://schemas.microsoft.com/office/drawing/2014/main" id="{1AF1336A-4151-4A48-9944-A9654357DC47}"/>
                </a:ext>
              </a:extLst>
            </p:cNvPr>
            <p:cNvSpPr>
              <a:spLocks/>
            </p:cNvSpPr>
            <p:nvPr/>
          </p:nvSpPr>
          <p:spPr bwMode="hidden">
            <a:xfrm>
              <a:off x="4694" y="0"/>
              <a:ext cx="1060" cy="1936"/>
            </a:xfrm>
            <a:custGeom>
              <a:avLst/>
              <a:gdLst>
                <a:gd name="T0" fmla="*/ 0 w 1058"/>
                <a:gd name="T1" fmla="*/ 0 h 1936"/>
                <a:gd name="T2" fmla="*/ 1058 w 1058"/>
                <a:gd name="T3" fmla="*/ 1936 h 1936"/>
                <a:gd name="T4" fmla="*/ 1058 w 1058"/>
                <a:gd name="T5" fmla="*/ 1930 h 1936"/>
                <a:gd name="T6" fmla="*/ 54 w 1058"/>
                <a:gd name="T7" fmla="*/ 0 h 1936"/>
                <a:gd name="T8" fmla="*/ 0 w 1058"/>
                <a:gd name="T9" fmla="*/ 0 h 1936"/>
                <a:gd name="T10" fmla="*/ 0 w 1058"/>
                <a:gd name="T11" fmla="*/ 0 h 1936"/>
              </a:gdLst>
              <a:ahLst/>
              <a:cxnLst>
                <a:cxn ang="0">
                  <a:pos x="T0" y="T1"/>
                </a:cxn>
                <a:cxn ang="0">
                  <a:pos x="T2" y="T3"/>
                </a:cxn>
                <a:cxn ang="0">
                  <a:pos x="T4" y="T5"/>
                </a:cxn>
                <a:cxn ang="0">
                  <a:pos x="T6" y="T7"/>
                </a:cxn>
                <a:cxn ang="0">
                  <a:pos x="T8" y="T9"/>
                </a:cxn>
                <a:cxn ang="0">
                  <a:pos x="T10" y="T11"/>
                </a:cxn>
              </a:cxnLst>
              <a:rect l="0" t="0" r="r" b="b"/>
              <a:pathLst>
                <a:path w="1058" h="1936">
                  <a:moveTo>
                    <a:pt x="0" y="0"/>
                  </a:moveTo>
                  <a:lnTo>
                    <a:pt x="1058" y="1936"/>
                  </a:lnTo>
                  <a:lnTo>
                    <a:pt x="1058" y="1930"/>
                  </a:lnTo>
                  <a:lnTo>
                    <a:pt x="54" y="0"/>
                  </a:lnTo>
                  <a:lnTo>
                    <a:pt x="0" y="0"/>
                  </a:lnTo>
                  <a:lnTo>
                    <a:pt x="0" y="0"/>
                  </a:lnTo>
                  <a:close/>
                </a:path>
              </a:pathLst>
            </a:custGeom>
            <a:gradFill rotWithShape="0">
              <a:gsLst>
                <a:gs pos="0">
                  <a:schemeClr val="bg1">
                    <a:gamma/>
                    <a:shade val="72549"/>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18" name="Freeform 38">
              <a:extLst>
                <a:ext uri="{FF2B5EF4-FFF2-40B4-BE49-F238E27FC236}">
                  <a16:creationId xmlns:a16="http://schemas.microsoft.com/office/drawing/2014/main" id="{54A73B04-E7C8-4B33-AC1C-FBA609915C35}"/>
                </a:ext>
              </a:extLst>
            </p:cNvPr>
            <p:cNvSpPr>
              <a:spLocks/>
            </p:cNvSpPr>
            <p:nvPr/>
          </p:nvSpPr>
          <p:spPr bwMode="hidden">
            <a:xfrm>
              <a:off x="4981" y="0"/>
              <a:ext cx="773" cy="1487"/>
            </a:xfrm>
            <a:custGeom>
              <a:avLst/>
              <a:gdLst>
                <a:gd name="T0" fmla="*/ 771 w 771"/>
                <a:gd name="T1" fmla="*/ 1433 h 1487"/>
                <a:gd name="T2" fmla="*/ 42 w 771"/>
                <a:gd name="T3" fmla="*/ 0 h 1487"/>
                <a:gd name="T4" fmla="*/ 0 w 771"/>
                <a:gd name="T5" fmla="*/ 0 h 1487"/>
                <a:gd name="T6" fmla="*/ 771 w 771"/>
                <a:gd name="T7" fmla="*/ 1487 h 1487"/>
                <a:gd name="T8" fmla="*/ 771 w 771"/>
                <a:gd name="T9" fmla="*/ 1433 h 1487"/>
                <a:gd name="T10" fmla="*/ 771 w 771"/>
                <a:gd name="T11" fmla="*/ 1433 h 1487"/>
              </a:gdLst>
              <a:ahLst/>
              <a:cxnLst>
                <a:cxn ang="0">
                  <a:pos x="T0" y="T1"/>
                </a:cxn>
                <a:cxn ang="0">
                  <a:pos x="T2" y="T3"/>
                </a:cxn>
                <a:cxn ang="0">
                  <a:pos x="T4" y="T5"/>
                </a:cxn>
                <a:cxn ang="0">
                  <a:pos x="T6" y="T7"/>
                </a:cxn>
                <a:cxn ang="0">
                  <a:pos x="T8" y="T9"/>
                </a:cxn>
                <a:cxn ang="0">
                  <a:pos x="T10" y="T11"/>
                </a:cxn>
              </a:cxnLst>
              <a:rect l="0" t="0" r="r" b="b"/>
              <a:pathLst>
                <a:path w="771" h="1487">
                  <a:moveTo>
                    <a:pt x="771" y="1433"/>
                  </a:moveTo>
                  <a:lnTo>
                    <a:pt x="42" y="0"/>
                  </a:lnTo>
                  <a:lnTo>
                    <a:pt x="0" y="0"/>
                  </a:lnTo>
                  <a:lnTo>
                    <a:pt x="771" y="1487"/>
                  </a:lnTo>
                  <a:lnTo>
                    <a:pt x="771" y="1433"/>
                  </a:lnTo>
                  <a:lnTo>
                    <a:pt x="771" y="1433"/>
                  </a:lnTo>
                  <a:close/>
                </a:path>
              </a:pathLst>
            </a:custGeom>
            <a:gradFill rotWithShape="0">
              <a:gsLst>
                <a:gs pos="0">
                  <a:schemeClr val="bg1">
                    <a:gamma/>
                    <a:shade val="7882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grpSp>
          <p:nvGrpSpPr>
            <p:cNvPr id="225319" name="Group 39">
              <a:extLst>
                <a:ext uri="{FF2B5EF4-FFF2-40B4-BE49-F238E27FC236}">
                  <a16:creationId xmlns:a16="http://schemas.microsoft.com/office/drawing/2014/main" id="{AF9E3CA9-1959-46AB-BF75-A85CE88441F9}"/>
                </a:ext>
              </a:extLst>
            </p:cNvPr>
            <p:cNvGrpSpPr>
              <a:grpSpLocks/>
            </p:cNvGrpSpPr>
            <p:nvPr userDrawn="1"/>
          </p:nvGrpSpPr>
          <p:grpSpPr bwMode="auto">
            <a:xfrm>
              <a:off x="0" y="1632"/>
              <a:ext cx="5758" cy="1858"/>
              <a:chOff x="0" y="1632"/>
              <a:chExt cx="5758" cy="1858"/>
            </a:xfrm>
          </p:grpSpPr>
          <p:sp>
            <p:nvSpPr>
              <p:cNvPr id="225320" name="Freeform 40">
                <a:extLst>
                  <a:ext uri="{FF2B5EF4-FFF2-40B4-BE49-F238E27FC236}">
                    <a16:creationId xmlns:a16="http://schemas.microsoft.com/office/drawing/2014/main" id="{AC2C0309-C7B7-44C8-8809-03778C620B8F}"/>
                  </a:ext>
                </a:extLst>
              </p:cNvPr>
              <p:cNvSpPr>
                <a:spLocks/>
              </p:cNvSpPr>
              <p:nvPr/>
            </p:nvSpPr>
            <p:spPr bwMode="hidden">
              <a:xfrm>
                <a:off x="0" y="1632"/>
                <a:ext cx="3670" cy="1313"/>
              </a:xfrm>
              <a:custGeom>
                <a:avLst/>
                <a:gdLst>
                  <a:gd name="T0" fmla="*/ 0 w 3659"/>
                  <a:gd name="T1" fmla="*/ 0 h 1313"/>
                  <a:gd name="T2" fmla="*/ 0 w 3659"/>
                  <a:gd name="T3" fmla="*/ 366 h 1313"/>
                  <a:gd name="T4" fmla="*/ 3635 w 3659"/>
                  <a:gd name="T5" fmla="*/ 1313 h 1313"/>
                  <a:gd name="T6" fmla="*/ 3647 w 3659"/>
                  <a:gd name="T7" fmla="*/ 1235 h 1313"/>
                  <a:gd name="T8" fmla="*/ 3659 w 3659"/>
                  <a:gd name="T9" fmla="*/ 1163 h 1313"/>
                  <a:gd name="T10" fmla="*/ 0 w 3659"/>
                  <a:gd name="T11" fmla="*/ 0 h 1313"/>
                  <a:gd name="T12" fmla="*/ 0 w 3659"/>
                  <a:gd name="T13" fmla="*/ 0 h 1313"/>
                </a:gdLst>
                <a:ahLst/>
                <a:cxnLst>
                  <a:cxn ang="0">
                    <a:pos x="T0" y="T1"/>
                  </a:cxn>
                  <a:cxn ang="0">
                    <a:pos x="T2" y="T3"/>
                  </a:cxn>
                  <a:cxn ang="0">
                    <a:pos x="T4" y="T5"/>
                  </a:cxn>
                  <a:cxn ang="0">
                    <a:pos x="T6" y="T7"/>
                  </a:cxn>
                  <a:cxn ang="0">
                    <a:pos x="T8" y="T9"/>
                  </a:cxn>
                  <a:cxn ang="0">
                    <a:pos x="T10" y="T11"/>
                  </a:cxn>
                  <a:cxn ang="0">
                    <a:pos x="T12" y="T13"/>
                  </a:cxn>
                </a:cxnLst>
                <a:rect l="0" t="0"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chemeClr val="bg1">
                      <a:gamma/>
                      <a:shade val="72549"/>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5321" name="Freeform 41">
                <a:extLst>
                  <a:ext uri="{FF2B5EF4-FFF2-40B4-BE49-F238E27FC236}">
                    <a16:creationId xmlns:a16="http://schemas.microsoft.com/office/drawing/2014/main" id="{16F90946-CD9E-4DE8-BB42-D2967EBCE86C}"/>
                  </a:ext>
                </a:extLst>
              </p:cNvPr>
              <p:cNvSpPr>
                <a:spLocks/>
              </p:cNvSpPr>
              <p:nvPr/>
            </p:nvSpPr>
            <p:spPr bwMode="hidden">
              <a:xfrm>
                <a:off x="3646" y="2795"/>
                <a:ext cx="2112" cy="695"/>
              </a:xfrm>
              <a:custGeom>
                <a:avLst/>
                <a:gdLst>
                  <a:gd name="T0" fmla="*/ 2105 w 2105"/>
                  <a:gd name="T1" fmla="*/ 665 h 695"/>
                  <a:gd name="T2" fmla="*/ 24 w 2105"/>
                  <a:gd name="T3" fmla="*/ 0 h 695"/>
                  <a:gd name="T4" fmla="*/ 12 w 2105"/>
                  <a:gd name="T5" fmla="*/ 72 h 695"/>
                  <a:gd name="T6" fmla="*/ 0 w 2105"/>
                  <a:gd name="T7" fmla="*/ 150 h 695"/>
                  <a:gd name="T8" fmla="*/ 2105 w 2105"/>
                  <a:gd name="T9" fmla="*/ 695 h 695"/>
                  <a:gd name="T10" fmla="*/ 2105 w 2105"/>
                  <a:gd name="T11" fmla="*/ 665 h 695"/>
                  <a:gd name="T12" fmla="*/ 2105 w 2105"/>
                  <a:gd name="T13" fmla="*/ 665 h 695"/>
                </a:gdLst>
                <a:ahLst/>
                <a:cxnLst>
                  <a:cxn ang="0">
                    <a:pos x="T0" y="T1"/>
                  </a:cxn>
                  <a:cxn ang="0">
                    <a:pos x="T2" y="T3"/>
                  </a:cxn>
                  <a:cxn ang="0">
                    <a:pos x="T4" y="T5"/>
                  </a:cxn>
                  <a:cxn ang="0">
                    <a:pos x="T6" y="T7"/>
                  </a:cxn>
                  <a:cxn ang="0">
                    <a:pos x="T8" y="T9"/>
                  </a:cxn>
                  <a:cxn ang="0">
                    <a:pos x="T10" y="T11"/>
                  </a:cxn>
                  <a:cxn ang="0">
                    <a:pos x="T12" y="T13"/>
                  </a:cxn>
                </a:cxnLst>
                <a:rect l="0" t="0"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chemeClr val="bg1">
                      <a:gamma/>
                      <a:tint val="90980"/>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grpSp>
      </p:grpSp>
      <p:sp>
        <p:nvSpPr>
          <p:cNvPr id="225322" name="Rectangle 42">
            <a:extLst>
              <a:ext uri="{FF2B5EF4-FFF2-40B4-BE49-F238E27FC236}">
                <a16:creationId xmlns:a16="http://schemas.microsoft.com/office/drawing/2014/main" id="{E0BFDA13-B859-4A70-BF03-D2440940C45F}"/>
              </a:ext>
            </a:extLst>
          </p:cNvPr>
          <p:cNvSpPr>
            <a:spLocks noGrp="1" noChangeArrowheads="1"/>
          </p:cNvSpPr>
          <p:nvPr>
            <p:ph type="ctrTitle" sz="quarter"/>
          </p:nvPr>
        </p:nvSpPr>
        <p:spPr>
          <a:xfrm>
            <a:off x="457200" y="1200150"/>
            <a:ext cx="8229600" cy="1371600"/>
          </a:xfrm>
        </p:spPr>
        <p:txBody>
          <a:bodyPr/>
          <a:lstStyle>
            <a:lvl1pPr>
              <a:defRPr sz="3600"/>
            </a:lvl1pPr>
          </a:lstStyle>
          <a:p>
            <a:pPr lvl="0"/>
            <a:r>
              <a:rPr lang="zh-CN" altLang="en-US" noProof="0"/>
              <a:t>单击此处编辑母版标题样式</a:t>
            </a:r>
          </a:p>
        </p:txBody>
      </p:sp>
      <p:sp>
        <p:nvSpPr>
          <p:cNvPr id="225323" name="Rectangle 43">
            <a:extLst>
              <a:ext uri="{FF2B5EF4-FFF2-40B4-BE49-F238E27FC236}">
                <a16:creationId xmlns:a16="http://schemas.microsoft.com/office/drawing/2014/main" id="{403FD44A-790B-43EB-A874-A30DF06FCCDE}"/>
              </a:ext>
            </a:extLst>
          </p:cNvPr>
          <p:cNvSpPr>
            <a:spLocks noGrp="1" noChangeArrowheads="1"/>
          </p:cNvSpPr>
          <p:nvPr>
            <p:ph type="subTitle" sz="quarter" idx="1"/>
          </p:nvPr>
        </p:nvSpPr>
        <p:spPr>
          <a:xfrm>
            <a:off x="1371600" y="2914650"/>
            <a:ext cx="6400800" cy="1314450"/>
          </a:xfrm>
        </p:spPr>
        <p:txBody>
          <a:bodyPr/>
          <a:lstStyle>
            <a:lvl1pPr marL="0" indent="0" algn="ctr">
              <a:buFont typeface="Wingdings" panose="05000000000000000000" pitchFamily="2" charset="2"/>
              <a:buNone/>
              <a:defRPr sz="2700"/>
            </a:lvl1pPr>
          </a:lstStyle>
          <a:p>
            <a:pPr lvl="0"/>
            <a:r>
              <a:rPr lang="zh-CN" altLang="en-US" noProof="0"/>
              <a:t>单击此处编辑母版副标题样式</a:t>
            </a:r>
          </a:p>
        </p:txBody>
      </p:sp>
      <p:sp>
        <p:nvSpPr>
          <p:cNvPr id="225324" name="Rectangle 44">
            <a:extLst>
              <a:ext uri="{FF2B5EF4-FFF2-40B4-BE49-F238E27FC236}">
                <a16:creationId xmlns:a16="http://schemas.microsoft.com/office/drawing/2014/main" id="{B4CE5454-6F04-4CC5-91E7-70748E77D4AA}"/>
              </a:ext>
            </a:extLst>
          </p:cNvPr>
          <p:cNvSpPr>
            <a:spLocks noGrp="1" noChangeArrowheads="1"/>
          </p:cNvSpPr>
          <p:nvPr>
            <p:ph type="dt" sz="quarter" idx="2"/>
          </p:nvPr>
        </p:nvSpPr>
        <p:spPr/>
        <p:txBody>
          <a:bodyPr/>
          <a:lstStyle>
            <a:lvl1pPr>
              <a:defRPr/>
            </a:lvl1pPr>
          </a:lstStyle>
          <a:p>
            <a:endParaRPr lang="en-US" altLang="zh-CN"/>
          </a:p>
        </p:txBody>
      </p:sp>
      <p:sp>
        <p:nvSpPr>
          <p:cNvPr id="225325" name="Rectangle 45">
            <a:extLst>
              <a:ext uri="{FF2B5EF4-FFF2-40B4-BE49-F238E27FC236}">
                <a16:creationId xmlns:a16="http://schemas.microsoft.com/office/drawing/2014/main" id="{34849EC8-F78C-4BE8-86A5-73F775521C99}"/>
              </a:ext>
            </a:extLst>
          </p:cNvPr>
          <p:cNvSpPr>
            <a:spLocks noGrp="1" noChangeArrowheads="1"/>
          </p:cNvSpPr>
          <p:nvPr>
            <p:ph type="ftr" sz="quarter" idx="3"/>
          </p:nvPr>
        </p:nvSpPr>
        <p:spPr/>
        <p:txBody>
          <a:bodyPr/>
          <a:lstStyle>
            <a:lvl1pPr>
              <a:defRPr/>
            </a:lvl1pPr>
          </a:lstStyle>
          <a:p>
            <a:endParaRPr lang="en-US" altLang="zh-CN"/>
          </a:p>
        </p:txBody>
      </p:sp>
      <p:sp>
        <p:nvSpPr>
          <p:cNvPr id="225326" name="Rectangle 46">
            <a:extLst>
              <a:ext uri="{FF2B5EF4-FFF2-40B4-BE49-F238E27FC236}">
                <a16:creationId xmlns:a16="http://schemas.microsoft.com/office/drawing/2014/main" id="{17799226-C1C3-477B-AF62-BA8153BEBCB5}"/>
              </a:ext>
            </a:extLst>
          </p:cNvPr>
          <p:cNvSpPr>
            <a:spLocks noGrp="1" noChangeArrowheads="1"/>
          </p:cNvSpPr>
          <p:nvPr>
            <p:ph type="sldNum" sz="quarter" idx="4"/>
          </p:nvPr>
        </p:nvSpPr>
        <p:spPr/>
        <p:txBody>
          <a:bodyPr/>
          <a:lstStyle>
            <a:lvl1pPr>
              <a:defRPr/>
            </a:lvl1pPr>
          </a:lstStyle>
          <a:p>
            <a:fld id="{404859C1-F52E-4A2D-B922-EF8EE9A76A29}" type="slidenum">
              <a:rPr lang="en-US" altLang="zh-CN"/>
              <a:pPr/>
              <a:t>‹#›</a:t>
            </a:fld>
            <a:endParaRPr lang="en-US" altLang="zh-CN"/>
          </a:p>
        </p:txBody>
      </p:sp>
    </p:spTree>
    <p:extLst>
      <p:ext uri="{BB962C8B-B14F-4D97-AF65-F5344CB8AC3E}">
        <p14:creationId xmlns:p14="http://schemas.microsoft.com/office/powerpoint/2010/main" val="24910870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9126C5-ECF6-4F74-8D66-9BD284AD76A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905503F-2354-4BA3-9F11-6B6B28949D9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E949929-EC6B-4F8F-BF65-DF6C7CFBC151}"/>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D97EA547-74DD-4C22-96B4-C6FC8684D416}"/>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D6DCA18-11A7-44AE-B39E-31A8F362E5EF}"/>
              </a:ext>
            </a:extLst>
          </p:cNvPr>
          <p:cNvSpPr>
            <a:spLocks noGrp="1"/>
          </p:cNvSpPr>
          <p:nvPr>
            <p:ph type="sldNum" sz="quarter" idx="12"/>
          </p:nvPr>
        </p:nvSpPr>
        <p:spPr/>
        <p:txBody>
          <a:bodyPr/>
          <a:lstStyle>
            <a:lvl1pPr>
              <a:defRPr/>
            </a:lvl1pPr>
          </a:lstStyle>
          <a:p>
            <a:fld id="{34C92C56-9C4A-40F4-BBFB-D20B58BF0219}" type="slidenum">
              <a:rPr lang="en-US" altLang="zh-CN"/>
              <a:pPr/>
              <a:t>‹#›</a:t>
            </a:fld>
            <a:endParaRPr lang="en-US" altLang="zh-CN"/>
          </a:p>
        </p:txBody>
      </p:sp>
    </p:spTree>
    <p:extLst>
      <p:ext uri="{BB962C8B-B14F-4D97-AF65-F5344CB8AC3E}">
        <p14:creationId xmlns:p14="http://schemas.microsoft.com/office/powerpoint/2010/main" val="1156569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8A9B6F-70DD-40BC-BA76-FE47306C67C3}"/>
              </a:ext>
            </a:extLst>
          </p:cNvPr>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EF482A7E-E319-4AD2-82A5-55131B57A34C}"/>
              </a:ext>
            </a:extLst>
          </p:cNvPr>
          <p:cNvSpPr>
            <a:spLocks noGrp="1"/>
          </p:cNvSpPr>
          <p:nvPr>
            <p:ph type="body" idx="1"/>
          </p:nvPr>
        </p:nvSpPr>
        <p:spPr>
          <a:xfrm>
            <a:off x="623888" y="3442098"/>
            <a:ext cx="7886700" cy="1125140"/>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877FC62-61AB-4A38-BB4B-5912F40FB52E}"/>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0DF69F99-45F3-4339-8A60-C8B0EE41E7B0}"/>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22C320D-58BC-402A-819F-9893B9484990}"/>
              </a:ext>
            </a:extLst>
          </p:cNvPr>
          <p:cNvSpPr>
            <a:spLocks noGrp="1"/>
          </p:cNvSpPr>
          <p:nvPr>
            <p:ph type="sldNum" sz="quarter" idx="12"/>
          </p:nvPr>
        </p:nvSpPr>
        <p:spPr/>
        <p:txBody>
          <a:bodyPr/>
          <a:lstStyle>
            <a:lvl1pPr>
              <a:defRPr/>
            </a:lvl1pPr>
          </a:lstStyle>
          <a:p>
            <a:fld id="{32BDC32B-A338-45D5-9EE8-75A1C49FC117}" type="slidenum">
              <a:rPr lang="en-US" altLang="zh-CN"/>
              <a:pPr/>
              <a:t>‹#›</a:t>
            </a:fld>
            <a:endParaRPr lang="en-US" altLang="zh-CN"/>
          </a:p>
        </p:txBody>
      </p:sp>
    </p:spTree>
    <p:extLst>
      <p:ext uri="{BB962C8B-B14F-4D97-AF65-F5344CB8AC3E}">
        <p14:creationId xmlns:p14="http://schemas.microsoft.com/office/powerpoint/2010/main" val="33755222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AD141B-78C3-434A-8A7F-3CA391B6628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C43048A-FF73-427A-9847-B13549605770}"/>
              </a:ext>
            </a:extLst>
          </p:cNvPr>
          <p:cNvSpPr>
            <a:spLocks noGrp="1"/>
          </p:cNvSpPr>
          <p:nvPr>
            <p:ph sz="half" idx="1"/>
          </p:nvPr>
        </p:nvSpPr>
        <p:spPr>
          <a:xfrm>
            <a:off x="457200" y="1200150"/>
            <a:ext cx="4038600" cy="339804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448C075-2B9D-46AC-9EF2-E04DE7C3BBA6}"/>
              </a:ext>
            </a:extLst>
          </p:cNvPr>
          <p:cNvSpPr>
            <a:spLocks noGrp="1"/>
          </p:cNvSpPr>
          <p:nvPr>
            <p:ph sz="half" idx="2"/>
          </p:nvPr>
        </p:nvSpPr>
        <p:spPr>
          <a:xfrm>
            <a:off x="4648200" y="1200150"/>
            <a:ext cx="4038600" cy="339804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4941E75-DDDA-4742-9C3F-1665D9794872}"/>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FABBECFB-CF9C-4E35-9E50-DB241FD7CE19}"/>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AED37DDB-9DD2-4A99-815B-A0531CA0F4F9}"/>
              </a:ext>
            </a:extLst>
          </p:cNvPr>
          <p:cNvSpPr>
            <a:spLocks noGrp="1"/>
          </p:cNvSpPr>
          <p:nvPr>
            <p:ph type="sldNum" sz="quarter" idx="12"/>
          </p:nvPr>
        </p:nvSpPr>
        <p:spPr/>
        <p:txBody>
          <a:bodyPr/>
          <a:lstStyle>
            <a:lvl1pPr>
              <a:defRPr/>
            </a:lvl1pPr>
          </a:lstStyle>
          <a:p>
            <a:fld id="{2A6D9F56-CDC8-4172-9884-56CB232B087B}" type="slidenum">
              <a:rPr lang="en-US" altLang="zh-CN"/>
              <a:pPr/>
              <a:t>‹#›</a:t>
            </a:fld>
            <a:endParaRPr lang="en-US" altLang="zh-CN"/>
          </a:p>
        </p:txBody>
      </p:sp>
    </p:spTree>
    <p:extLst>
      <p:ext uri="{BB962C8B-B14F-4D97-AF65-F5344CB8AC3E}">
        <p14:creationId xmlns:p14="http://schemas.microsoft.com/office/powerpoint/2010/main" val="30535392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6B38AA-ECB1-41A3-A9FD-48E3468B2387}"/>
              </a:ext>
            </a:extLst>
          </p:cNvPr>
          <p:cNvSpPr>
            <a:spLocks noGrp="1"/>
          </p:cNvSpPr>
          <p:nvPr>
            <p:ph type="title"/>
          </p:nvPr>
        </p:nvSpPr>
        <p:spPr>
          <a:xfrm>
            <a:off x="630238" y="273844"/>
            <a:ext cx="7886700" cy="994172"/>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4FD8490-5557-42EC-8F30-ED75DE825430}"/>
              </a:ext>
            </a:extLst>
          </p:cNvPr>
          <p:cNvSpPr>
            <a:spLocks noGrp="1"/>
          </p:cNvSpPr>
          <p:nvPr>
            <p:ph type="body" idx="1"/>
          </p:nvPr>
        </p:nvSpPr>
        <p:spPr>
          <a:xfrm>
            <a:off x="630239" y="1260872"/>
            <a:ext cx="3868737"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C45986C-AF6C-40CE-A845-4ABF3700DF13}"/>
              </a:ext>
            </a:extLst>
          </p:cNvPr>
          <p:cNvSpPr>
            <a:spLocks noGrp="1"/>
          </p:cNvSpPr>
          <p:nvPr>
            <p:ph sz="half" idx="2"/>
          </p:nvPr>
        </p:nvSpPr>
        <p:spPr>
          <a:xfrm>
            <a:off x="630239" y="1878806"/>
            <a:ext cx="3868737"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D07A677-AD78-4C6E-8760-024AE7A4E13E}"/>
              </a:ext>
            </a:extLst>
          </p:cNvPr>
          <p:cNvSpPr>
            <a:spLocks noGrp="1"/>
          </p:cNvSpPr>
          <p:nvPr>
            <p:ph type="body" sz="quarter" idx="3"/>
          </p:nvPr>
        </p:nvSpPr>
        <p:spPr>
          <a:xfrm>
            <a:off x="4629150" y="1260872"/>
            <a:ext cx="3887788"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295D3D9-13A3-4FFC-A1B6-DEF1CC44A2AE}"/>
              </a:ext>
            </a:extLst>
          </p:cNvPr>
          <p:cNvSpPr>
            <a:spLocks noGrp="1"/>
          </p:cNvSpPr>
          <p:nvPr>
            <p:ph sz="quarter" idx="4"/>
          </p:nvPr>
        </p:nvSpPr>
        <p:spPr>
          <a:xfrm>
            <a:off x="4629150" y="1878806"/>
            <a:ext cx="3887788"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10CDB5F-3D0B-4834-BC2A-B1E5F427487F}"/>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F0AD416B-FDEB-4A6E-A7BF-C6A222F67A24}"/>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3D924ED8-4E0A-4844-A798-FD51E1334531}"/>
              </a:ext>
            </a:extLst>
          </p:cNvPr>
          <p:cNvSpPr>
            <a:spLocks noGrp="1"/>
          </p:cNvSpPr>
          <p:nvPr>
            <p:ph type="sldNum" sz="quarter" idx="12"/>
          </p:nvPr>
        </p:nvSpPr>
        <p:spPr/>
        <p:txBody>
          <a:bodyPr/>
          <a:lstStyle>
            <a:lvl1pPr>
              <a:defRPr/>
            </a:lvl1pPr>
          </a:lstStyle>
          <a:p>
            <a:fld id="{A7C432B0-2BDA-49A6-8014-2937FAB5F153}" type="slidenum">
              <a:rPr lang="en-US" altLang="zh-CN"/>
              <a:pPr/>
              <a:t>‹#›</a:t>
            </a:fld>
            <a:endParaRPr lang="en-US" altLang="zh-CN"/>
          </a:p>
        </p:txBody>
      </p:sp>
    </p:spTree>
    <p:extLst>
      <p:ext uri="{BB962C8B-B14F-4D97-AF65-F5344CB8AC3E}">
        <p14:creationId xmlns:p14="http://schemas.microsoft.com/office/powerpoint/2010/main" val="37169765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35DEBC-475E-4826-8C87-B5FC7814CF5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FBEB707-B60B-41A7-A1F2-E36ED7C475F4}"/>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9D8A82EF-7001-49C1-9230-DC7F4930E678}"/>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66B593DD-E61A-4CDF-A91E-1DD009FDE1C1}"/>
              </a:ext>
            </a:extLst>
          </p:cNvPr>
          <p:cNvSpPr>
            <a:spLocks noGrp="1"/>
          </p:cNvSpPr>
          <p:nvPr>
            <p:ph type="sldNum" sz="quarter" idx="12"/>
          </p:nvPr>
        </p:nvSpPr>
        <p:spPr/>
        <p:txBody>
          <a:bodyPr/>
          <a:lstStyle>
            <a:lvl1pPr>
              <a:defRPr/>
            </a:lvl1pPr>
          </a:lstStyle>
          <a:p>
            <a:fld id="{8B60D01A-C22C-4866-AA7D-B866B417306C}" type="slidenum">
              <a:rPr lang="en-US" altLang="zh-CN"/>
              <a:pPr/>
              <a:t>‹#›</a:t>
            </a:fld>
            <a:endParaRPr lang="en-US" altLang="zh-CN"/>
          </a:p>
        </p:txBody>
      </p:sp>
    </p:spTree>
    <p:extLst>
      <p:ext uri="{BB962C8B-B14F-4D97-AF65-F5344CB8AC3E}">
        <p14:creationId xmlns:p14="http://schemas.microsoft.com/office/powerpoint/2010/main" val="7284566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D0B1B6E-0048-4083-98C6-9C0B51EDE2E1}"/>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E88952F3-DDC4-4A64-ADE4-93C101E3CDA6}"/>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770B0D27-D244-4304-96F2-AB825715659E}"/>
              </a:ext>
            </a:extLst>
          </p:cNvPr>
          <p:cNvSpPr>
            <a:spLocks noGrp="1"/>
          </p:cNvSpPr>
          <p:nvPr>
            <p:ph type="sldNum" sz="quarter" idx="12"/>
          </p:nvPr>
        </p:nvSpPr>
        <p:spPr/>
        <p:txBody>
          <a:bodyPr/>
          <a:lstStyle>
            <a:lvl1pPr>
              <a:defRPr/>
            </a:lvl1pPr>
          </a:lstStyle>
          <a:p>
            <a:fld id="{3A5161B3-A71D-492A-80E6-8AA9F0C75277}" type="slidenum">
              <a:rPr lang="en-US" altLang="zh-CN"/>
              <a:pPr/>
              <a:t>‹#›</a:t>
            </a:fld>
            <a:endParaRPr lang="en-US" altLang="zh-CN"/>
          </a:p>
        </p:txBody>
      </p:sp>
    </p:spTree>
    <p:extLst>
      <p:ext uri="{BB962C8B-B14F-4D97-AF65-F5344CB8AC3E}">
        <p14:creationId xmlns:p14="http://schemas.microsoft.com/office/powerpoint/2010/main" val="42781704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FB3260-3A5F-4781-9C79-929D06ADED14}"/>
              </a:ext>
            </a:extLst>
          </p:cNvPr>
          <p:cNvSpPr>
            <a:spLocks noGrp="1"/>
          </p:cNvSpPr>
          <p:nvPr>
            <p:ph type="title"/>
          </p:nvPr>
        </p:nvSpPr>
        <p:spPr>
          <a:xfrm>
            <a:off x="630239" y="342900"/>
            <a:ext cx="2949575" cy="120015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35CE7E65-F74C-4AF1-BE5E-F891B48C51B4}"/>
              </a:ext>
            </a:extLst>
          </p:cNvPr>
          <p:cNvSpPr>
            <a:spLocks noGrp="1"/>
          </p:cNvSpPr>
          <p:nvPr>
            <p:ph idx="1"/>
          </p:nvPr>
        </p:nvSpPr>
        <p:spPr>
          <a:xfrm>
            <a:off x="3887788"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51860EE-B49D-4E4D-8B8E-85E006A49E64}"/>
              </a:ext>
            </a:extLst>
          </p:cNvPr>
          <p:cNvSpPr>
            <a:spLocks noGrp="1"/>
          </p:cNvSpPr>
          <p:nvPr>
            <p:ph type="body" sz="half" idx="2"/>
          </p:nvPr>
        </p:nvSpPr>
        <p:spPr>
          <a:xfrm>
            <a:off x="630239"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0D62A49-564A-403C-8B2D-F23AC9465EEA}"/>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D55F4A19-B19C-41E2-AB99-E4ABD2055EC5}"/>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EE3976DC-E61A-4DBB-B287-05A84E59CC88}"/>
              </a:ext>
            </a:extLst>
          </p:cNvPr>
          <p:cNvSpPr>
            <a:spLocks noGrp="1"/>
          </p:cNvSpPr>
          <p:nvPr>
            <p:ph type="sldNum" sz="quarter" idx="12"/>
          </p:nvPr>
        </p:nvSpPr>
        <p:spPr/>
        <p:txBody>
          <a:bodyPr/>
          <a:lstStyle>
            <a:lvl1pPr>
              <a:defRPr/>
            </a:lvl1pPr>
          </a:lstStyle>
          <a:p>
            <a:fld id="{D0C0F6B3-42A4-46BC-80E2-4A4993DD3750}" type="slidenum">
              <a:rPr lang="en-US" altLang="zh-CN"/>
              <a:pPr/>
              <a:t>‹#›</a:t>
            </a:fld>
            <a:endParaRPr lang="en-US" altLang="zh-CN"/>
          </a:p>
        </p:txBody>
      </p:sp>
    </p:spTree>
    <p:extLst>
      <p:ext uri="{BB962C8B-B14F-4D97-AF65-F5344CB8AC3E}">
        <p14:creationId xmlns:p14="http://schemas.microsoft.com/office/powerpoint/2010/main" val="35373521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0DD5EE-10CD-4165-935A-0E255A3AB68A}"/>
              </a:ext>
            </a:extLst>
          </p:cNvPr>
          <p:cNvSpPr>
            <a:spLocks noGrp="1"/>
          </p:cNvSpPr>
          <p:nvPr>
            <p:ph type="title"/>
          </p:nvPr>
        </p:nvSpPr>
        <p:spPr>
          <a:xfrm>
            <a:off x="630239" y="342900"/>
            <a:ext cx="2949575" cy="120015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54D461BF-85CB-4111-AEDA-363E22DD4643}"/>
              </a:ext>
            </a:extLst>
          </p:cNvPr>
          <p:cNvSpPr>
            <a:spLocks noGrp="1"/>
          </p:cNvSpPr>
          <p:nvPr>
            <p:ph type="pic" idx="1"/>
          </p:nvPr>
        </p:nvSpPr>
        <p:spPr>
          <a:xfrm>
            <a:off x="3887788"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a:extLst>
              <a:ext uri="{FF2B5EF4-FFF2-40B4-BE49-F238E27FC236}">
                <a16:creationId xmlns:a16="http://schemas.microsoft.com/office/drawing/2014/main" id="{A907660C-EE1C-44D7-8E63-1EDAB7846F47}"/>
              </a:ext>
            </a:extLst>
          </p:cNvPr>
          <p:cNvSpPr>
            <a:spLocks noGrp="1"/>
          </p:cNvSpPr>
          <p:nvPr>
            <p:ph type="body" sz="half" idx="2"/>
          </p:nvPr>
        </p:nvSpPr>
        <p:spPr>
          <a:xfrm>
            <a:off x="630239"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616BFE2-1099-41C9-9A83-26A6AFF0F938}"/>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86FBECEC-D56E-4E96-80AC-8F0E89FFC7A1}"/>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027C7450-83FA-4A16-8B24-5435A20FCF0F}"/>
              </a:ext>
            </a:extLst>
          </p:cNvPr>
          <p:cNvSpPr>
            <a:spLocks noGrp="1"/>
          </p:cNvSpPr>
          <p:nvPr>
            <p:ph type="sldNum" sz="quarter" idx="12"/>
          </p:nvPr>
        </p:nvSpPr>
        <p:spPr/>
        <p:txBody>
          <a:bodyPr/>
          <a:lstStyle>
            <a:lvl1pPr>
              <a:defRPr/>
            </a:lvl1pPr>
          </a:lstStyle>
          <a:p>
            <a:fld id="{2317CABB-2F67-4131-9116-4AC7E65D395D}" type="slidenum">
              <a:rPr lang="en-US" altLang="zh-CN"/>
              <a:pPr/>
              <a:t>‹#›</a:t>
            </a:fld>
            <a:endParaRPr lang="en-US" altLang="zh-CN"/>
          </a:p>
        </p:txBody>
      </p:sp>
    </p:spTree>
    <p:extLst>
      <p:ext uri="{BB962C8B-B14F-4D97-AF65-F5344CB8AC3E}">
        <p14:creationId xmlns:p14="http://schemas.microsoft.com/office/powerpoint/2010/main" val="19218639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5FBA8E-AB44-4BAE-9CF0-3AD91CE68CD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7337839-BADD-485B-A7DD-D3998E77DF7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F1CB77-80BA-4DBE-A56B-D2359A5965B3}"/>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F36A71C2-7E83-4F77-8D60-F5A21AA04D35}"/>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DB71686A-6358-442A-9F93-707B4426B206}"/>
              </a:ext>
            </a:extLst>
          </p:cNvPr>
          <p:cNvSpPr>
            <a:spLocks noGrp="1"/>
          </p:cNvSpPr>
          <p:nvPr>
            <p:ph type="sldNum" sz="quarter" idx="12"/>
          </p:nvPr>
        </p:nvSpPr>
        <p:spPr/>
        <p:txBody>
          <a:bodyPr/>
          <a:lstStyle>
            <a:lvl1pPr>
              <a:defRPr/>
            </a:lvl1pPr>
          </a:lstStyle>
          <a:p>
            <a:fld id="{C0E4544B-730B-41D3-8E76-BF2525C93337}" type="slidenum">
              <a:rPr lang="en-US" altLang="zh-CN"/>
              <a:pPr/>
              <a:t>‹#›</a:t>
            </a:fld>
            <a:endParaRPr lang="en-US" altLang="zh-CN"/>
          </a:p>
        </p:txBody>
      </p:sp>
    </p:spTree>
    <p:extLst>
      <p:ext uri="{BB962C8B-B14F-4D97-AF65-F5344CB8AC3E}">
        <p14:creationId xmlns:p14="http://schemas.microsoft.com/office/powerpoint/2010/main" val="23039247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12F1EAB-99E5-4617-B254-1D5B22D9DA2D}"/>
              </a:ext>
            </a:extLst>
          </p:cNvPr>
          <p:cNvSpPr>
            <a:spLocks noGrp="1"/>
          </p:cNvSpPr>
          <p:nvPr>
            <p:ph type="title" orient="vert"/>
          </p:nvPr>
        </p:nvSpPr>
        <p:spPr>
          <a:xfrm>
            <a:off x="6629400" y="208360"/>
            <a:ext cx="2057400" cy="4389834"/>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A6FCACB-8317-4287-B350-9F7AE4310510}"/>
              </a:ext>
            </a:extLst>
          </p:cNvPr>
          <p:cNvSpPr>
            <a:spLocks noGrp="1"/>
          </p:cNvSpPr>
          <p:nvPr>
            <p:ph type="body" orient="vert" idx="1"/>
          </p:nvPr>
        </p:nvSpPr>
        <p:spPr>
          <a:xfrm>
            <a:off x="457200" y="208360"/>
            <a:ext cx="6019800" cy="4389834"/>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8B2833A-D5DA-4905-BCB0-4D81396CE814}"/>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08A78DE-6375-4849-89C5-CACF783AB971}"/>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15D16531-0346-479E-BBD2-CD49B857FE79}"/>
              </a:ext>
            </a:extLst>
          </p:cNvPr>
          <p:cNvSpPr>
            <a:spLocks noGrp="1"/>
          </p:cNvSpPr>
          <p:nvPr>
            <p:ph type="sldNum" sz="quarter" idx="12"/>
          </p:nvPr>
        </p:nvSpPr>
        <p:spPr/>
        <p:txBody>
          <a:bodyPr/>
          <a:lstStyle>
            <a:lvl1pPr>
              <a:defRPr/>
            </a:lvl1pPr>
          </a:lstStyle>
          <a:p>
            <a:fld id="{8A9DC1A6-E18E-4A67-BDD7-5E1EDF04B269}" type="slidenum">
              <a:rPr lang="en-US" altLang="zh-CN"/>
              <a:pPr/>
              <a:t>‹#›</a:t>
            </a:fld>
            <a:endParaRPr lang="en-US" altLang="zh-CN"/>
          </a:p>
        </p:txBody>
      </p:sp>
    </p:spTree>
    <p:extLst>
      <p:ext uri="{BB962C8B-B14F-4D97-AF65-F5344CB8AC3E}">
        <p14:creationId xmlns:p14="http://schemas.microsoft.com/office/powerpoint/2010/main" val="32479976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2.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image" Target="../media/image4.png"/><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2.pn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image" Target="../media/image4.png"/><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背景1.jpg"/>
          <p:cNvPicPr>
            <a:picLocks noChangeAspect="1"/>
          </p:cNvPicPr>
          <p:nvPr/>
        </p:nvPicPr>
        <p:blipFill>
          <a:blip r:embed="rId6" cstate="print"/>
          <a:stretch>
            <a:fillRect/>
          </a:stretch>
        </p:blipFill>
        <p:spPr>
          <a:xfrm>
            <a:off x="244" y="0"/>
            <a:ext cx="9143756" cy="514193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wipe dir="r"/>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57647"/>
                <a:invGamma/>
              </a:schemeClr>
            </a:gs>
            <a:gs pos="100000">
              <a:schemeClr val="bg1"/>
            </a:gs>
          </a:gsLst>
          <a:lin ang="2700000" scaled="1"/>
        </a:gradFill>
        <a:effectLst/>
      </p:bgPr>
    </p:bg>
    <p:spTree>
      <p:nvGrpSpPr>
        <p:cNvPr id="1" name=""/>
        <p:cNvGrpSpPr/>
        <p:nvPr/>
      </p:nvGrpSpPr>
      <p:grpSpPr>
        <a:xfrm>
          <a:off x="0" y="0"/>
          <a:ext cx="0" cy="0"/>
          <a:chOff x="0" y="0"/>
          <a:chExt cx="0" cy="0"/>
        </a:xfrm>
      </p:grpSpPr>
      <p:grpSp>
        <p:nvGrpSpPr>
          <p:cNvPr id="224258" name="Group 2">
            <a:extLst>
              <a:ext uri="{FF2B5EF4-FFF2-40B4-BE49-F238E27FC236}">
                <a16:creationId xmlns:a16="http://schemas.microsoft.com/office/drawing/2014/main" id="{B1887BBD-BDCF-4ACB-822F-D348CB2DFBEE}"/>
              </a:ext>
            </a:extLst>
          </p:cNvPr>
          <p:cNvGrpSpPr>
            <a:grpSpLocks/>
          </p:cNvGrpSpPr>
          <p:nvPr/>
        </p:nvGrpSpPr>
        <p:grpSpPr bwMode="auto">
          <a:xfrm>
            <a:off x="0" y="0"/>
            <a:ext cx="9144000" cy="5142310"/>
            <a:chOff x="0" y="0"/>
            <a:chExt cx="5760" cy="4319"/>
          </a:xfrm>
        </p:grpSpPr>
        <p:sp>
          <p:nvSpPr>
            <p:cNvPr id="224259" name="Freeform 3">
              <a:extLst>
                <a:ext uri="{FF2B5EF4-FFF2-40B4-BE49-F238E27FC236}">
                  <a16:creationId xmlns:a16="http://schemas.microsoft.com/office/drawing/2014/main" id="{D711D01F-E9F4-471D-8CE9-09ACAED025E1}"/>
                </a:ext>
              </a:extLst>
            </p:cNvPr>
            <p:cNvSpPr>
              <a:spLocks/>
            </p:cNvSpPr>
            <p:nvPr/>
          </p:nvSpPr>
          <p:spPr bwMode="hidden">
            <a:xfrm>
              <a:off x="0" y="12"/>
              <a:ext cx="5758" cy="3273"/>
            </a:xfrm>
            <a:custGeom>
              <a:avLst/>
              <a:gdLst>
                <a:gd name="T0" fmla="*/ 3193 w 5740"/>
                <a:gd name="T1" fmla="*/ 1816 h 3273"/>
                <a:gd name="T2" fmla="*/ 0 w 5740"/>
                <a:gd name="T3" fmla="*/ 0 h 3273"/>
                <a:gd name="T4" fmla="*/ 0 w 5740"/>
                <a:gd name="T5" fmla="*/ 522 h 3273"/>
                <a:gd name="T6" fmla="*/ 3037 w 5740"/>
                <a:gd name="T7" fmla="*/ 1978 h 3273"/>
                <a:gd name="T8" fmla="*/ 5740 w 5740"/>
                <a:gd name="T9" fmla="*/ 3273 h 3273"/>
                <a:gd name="T10" fmla="*/ 5740 w 5740"/>
                <a:gd name="T11" fmla="*/ 3267 h 3273"/>
                <a:gd name="T12" fmla="*/ 3193 w 5740"/>
                <a:gd name="T13" fmla="*/ 1816 h 3273"/>
                <a:gd name="T14" fmla="*/ 3193 w 5740"/>
                <a:gd name="T15" fmla="*/ 1816 h 32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chemeClr val="bg2">
                    <a:gamma/>
                    <a:shade val="63529"/>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0" name="Freeform 4">
              <a:extLst>
                <a:ext uri="{FF2B5EF4-FFF2-40B4-BE49-F238E27FC236}">
                  <a16:creationId xmlns:a16="http://schemas.microsoft.com/office/drawing/2014/main" id="{E94E7F12-1F79-40F4-8395-A8FFA725D82E}"/>
                </a:ext>
              </a:extLst>
            </p:cNvPr>
            <p:cNvSpPr>
              <a:spLocks/>
            </p:cNvSpPr>
            <p:nvPr/>
          </p:nvSpPr>
          <p:spPr bwMode="hidden">
            <a:xfrm>
              <a:off x="149" y="0"/>
              <a:ext cx="5609" cy="3243"/>
            </a:xfrm>
            <a:custGeom>
              <a:avLst/>
              <a:gdLst>
                <a:gd name="T0" fmla="*/ 3163 w 5591"/>
                <a:gd name="T1" fmla="*/ 1714 h 3243"/>
                <a:gd name="T2" fmla="*/ 431 w 5591"/>
                <a:gd name="T3" fmla="*/ 0 h 3243"/>
                <a:gd name="T4" fmla="*/ 0 w 5591"/>
                <a:gd name="T5" fmla="*/ 0 h 3243"/>
                <a:gd name="T6" fmla="*/ 3086 w 5591"/>
                <a:gd name="T7" fmla="*/ 1786 h 3243"/>
                <a:gd name="T8" fmla="*/ 5591 w 5591"/>
                <a:gd name="T9" fmla="*/ 3243 h 3243"/>
                <a:gd name="T10" fmla="*/ 5591 w 5591"/>
                <a:gd name="T11" fmla="*/ 3237 h 3243"/>
                <a:gd name="T12" fmla="*/ 3163 w 5591"/>
                <a:gd name="T13" fmla="*/ 1714 h 3243"/>
                <a:gd name="T14" fmla="*/ 3163 w 5591"/>
                <a:gd name="T15" fmla="*/ 1714 h 32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chemeClr val="bg1">
                    <a:gamma/>
                    <a:shade val="6078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1" name="Freeform 5">
              <a:extLst>
                <a:ext uri="{FF2B5EF4-FFF2-40B4-BE49-F238E27FC236}">
                  <a16:creationId xmlns:a16="http://schemas.microsoft.com/office/drawing/2014/main" id="{9C7C38C7-F614-47DA-A1CC-C757AD356B4E}"/>
                </a:ext>
              </a:extLst>
            </p:cNvPr>
            <p:cNvSpPr>
              <a:spLocks/>
            </p:cNvSpPr>
            <p:nvPr/>
          </p:nvSpPr>
          <p:spPr bwMode="hidden">
            <a:xfrm>
              <a:off x="0" y="3433"/>
              <a:ext cx="4038" cy="191"/>
            </a:xfrm>
            <a:custGeom>
              <a:avLst/>
              <a:gdLst>
                <a:gd name="T0" fmla="*/ 0 w 4042"/>
                <a:gd name="T1" fmla="*/ 156 h 192"/>
                <a:gd name="T2" fmla="*/ 4042 w 4042"/>
                <a:gd name="T3" fmla="*/ 192 h 192"/>
                <a:gd name="T4" fmla="*/ 4042 w 4042"/>
                <a:gd name="T5" fmla="*/ 144 h 192"/>
                <a:gd name="T6" fmla="*/ 0 w 4042"/>
                <a:gd name="T7" fmla="*/ 0 h 192"/>
                <a:gd name="T8" fmla="*/ 0 w 4042"/>
                <a:gd name="T9" fmla="*/ 156 h 192"/>
                <a:gd name="T10" fmla="*/ 0 w 4042"/>
                <a:gd name="T11" fmla="*/ 156 h 192"/>
              </a:gdLst>
              <a:ahLst/>
              <a:cxnLst>
                <a:cxn ang="0">
                  <a:pos x="T0" y="T1"/>
                </a:cxn>
                <a:cxn ang="0">
                  <a:pos x="T2" y="T3"/>
                </a:cxn>
                <a:cxn ang="0">
                  <a:pos x="T4" y="T5"/>
                </a:cxn>
                <a:cxn ang="0">
                  <a:pos x="T6" y="T7"/>
                </a:cxn>
                <a:cxn ang="0">
                  <a:pos x="T8" y="T9"/>
                </a:cxn>
                <a:cxn ang="0">
                  <a:pos x="T10" y="T11"/>
                </a:cxn>
              </a:cxnLst>
              <a:rect l="0" t="0" r="r" b="b"/>
              <a:pathLst>
                <a:path w="4042" h="192">
                  <a:moveTo>
                    <a:pt x="0" y="156"/>
                  </a:moveTo>
                  <a:lnTo>
                    <a:pt x="4042" y="192"/>
                  </a:lnTo>
                  <a:lnTo>
                    <a:pt x="4042" y="144"/>
                  </a:lnTo>
                  <a:lnTo>
                    <a:pt x="0" y="0"/>
                  </a:lnTo>
                  <a:lnTo>
                    <a:pt x="0" y="156"/>
                  </a:lnTo>
                  <a:lnTo>
                    <a:pt x="0" y="156"/>
                  </a:lnTo>
                  <a:close/>
                </a:path>
              </a:pathLst>
            </a:custGeom>
            <a:gradFill rotWithShape="0">
              <a:gsLst>
                <a:gs pos="0">
                  <a:schemeClr val="bg2">
                    <a:gamma/>
                    <a:shade val="75686"/>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2" name="Freeform 6">
              <a:extLst>
                <a:ext uri="{FF2B5EF4-FFF2-40B4-BE49-F238E27FC236}">
                  <a16:creationId xmlns:a16="http://schemas.microsoft.com/office/drawing/2014/main" id="{BBB9AA9D-635F-4DB6-B563-14110F85DBD6}"/>
                </a:ext>
              </a:extLst>
            </p:cNvPr>
            <p:cNvSpPr>
              <a:spLocks/>
            </p:cNvSpPr>
            <p:nvPr/>
          </p:nvSpPr>
          <p:spPr bwMode="hidden">
            <a:xfrm>
              <a:off x="4038" y="3577"/>
              <a:ext cx="1720" cy="65"/>
            </a:xfrm>
            <a:custGeom>
              <a:avLst/>
              <a:gdLst>
                <a:gd name="T0" fmla="*/ 1722 w 1722"/>
                <a:gd name="T1" fmla="*/ 66 h 66"/>
                <a:gd name="T2" fmla="*/ 1722 w 1722"/>
                <a:gd name="T3" fmla="*/ 60 h 66"/>
                <a:gd name="T4" fmla="*/ 0 w 1722"/>
                <a:gd name="T5" fmla="*/ 0 h 66"/>
                <a:gd name="T6" fmla="*/ 0 w 1722"/>
                <a:gd name="T7" fmla="*/ 48 h 66"/>
                <a:gd name="T8" fmla="*/ 1722 w 1722"/>
                <a:gd name="T9" fmla="*/ 66 h 66"/>
                <a:gd name="T10" fmla="*/ 1722 w 1722"/>
                <a:gd name="T11" fmla="*/ 66 h 66"/>
              </a:gdLst>
              <a:ahLst/>
              <a:cxnLst>
                <a:cxn ang="0">
                  <a:pos x="T0" y="T1"/>
                </a:cxn>
                <a:cxn ang="0">
                  <a:pos x="T2" y="T3"/>
                </a:cxn>
                <a:cxn ang="0">
                  <a:pos x="T4" y="T5"/>
                </a:cxn>
                <a:cxn ang="0">
                  <a:pos x="T6" y="T7"/>
                </a:cxn>
                <a:cxn ang="0">
                  <a:pos x="T8" y="T9"/>
                </a:cxn>
                <a:cxn ang="0">
                  <a:pos x="T10" y="T11"/>
                </a:cxn>
              </a:cxnLst>
              <a:rect l="0" t="0" r="r" b="b"/>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3" name="Freeform 7">
              <a:extLst>
                <a:ext uri="{FF2B5EF4-FFF2-40B4-BE49-F238E27FC236}">
                  <a16:creationId xmlns:a16="http://schemas.microsoft.com/office/drawing/2014/main" id="{6CF1FD5E-8EA6-4A5C-98EB-E3763567B690}"/>
                </a:ext>
              </a:extLst>
            </p:cNvPr>
            <p:cNvSpPr>
              <a:spLocks/>
            </p:cNvSpPr>
            <p:nvPr/>
          </p:nvSpPr>
          <p:spPr bwMode="hidden">
            <a:xfrm>
              <a:off x="0" y="3726"/>
              <a:ext cx="4784" cy="329"/>
            </a:xfrm>
            <a:custGeom>
              <a:avLst/>
              <a:gdLst>
                <a:gd name="T0" fmla="*/ 0 w 4789"/>
                <a:gd name="T1" fmla="*/ 329 h 329"/>
                <a:gd name="T2" fmla="*/ 4789 w 4789"/>
                <a:gd name="T3" fmla="*/ 77 h 329"/>
                <a:gd name="T4" fmla="*/ 4789 w 4789"/>
                <a:gd name="T5" fmla="*/ 0 h 329"/>
                <a:gd name="T6" fmla="*/ 0 w 4789"/>
                <a:gd name="T7" fmla="*/ 107 h 329"/>
                <a:gd name="T8" fmla="*/ 0 w 4789"/>
                <a:gd name="T9" fmla="*/ 329 h 329"/>
                <a:gd name="T10" fmla="*/ 0 w 4789"/>
                <a:gd name="T11" fmla="*/ 329 h 329"/>
              </a:gdLst>
              <a:ahLst/>
              <a:cxnLst>
                <a:cxn ang="0">
                  <a:pos x="T0" y="T1"/>
                </a:cxn>
                <a:cxn ang="0">
                  <a:pos x="T2" y="T3"/>
                </a:cxn>
                <a:cxn ang="0">
                  <a:pos x="T4" y="T5"/>
                </a:cxn>
                <a:cxn ang="0">
                  <a:pos x="T6" y="T7"/>
                </a:cxn>
                <a:cxn ang="0">
                  <a:pos x="T8" y="T9"/>
                </a:cxn>
                <a:cxn ang="0">
                  <a:pos x="T10" y="T11"/>
                </a:cxn>
              </a:cxnLst>
              <a:rect l="0" t="0" r="r" b="b"/>
              <a:pathLst>
                <a:path w="4789" h="329">
                  <a:moveTo>
                    <a:pt x="0" y="329"/>
                  </a:moveTo>
                  <a:lnTo>
                    <a:pt x="4789" y="77"/>
                  </a:lnTo>
                  <a:lnTo>
                    <a:pt x="4789" y="0"/>
                  </a:lnTo>
                  <a:lnTo>
                    <a:pt x="0" y="107"/>
                  </a:lnTo>
                  <a:lnTo>
                    <a:pt x="0" y="329"/>
                  </a:lnTo>
                  <a:lnTo>
                    <a:pt x="0" y="329"/>
                  </a:lnTo>
                  <a:close/>
                </a:path>
              </a:pathLst>
            </a:custGeom>
            <a:gradFill rotWithShape="0">
              <a:gsLst>
                <a:gs pos="0">
                  <a:schemeClr val="bg1">
                    <a:gamma/>
                    <a:shade val="81961"/>
                    <a:invGamma/>
                  </a:schemeClr>
                </a:gs>
                <a:gs pos="100000">
                  <a:schemeClr val="bg1"/>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224264" name="Freeform 8">
              <a:extLst>
                <a:ext uri="{FF2B5EF4-FFF2-40B4-BE49-F238E27FC236}">
                  <a16:creationId xmlns:a16="http://schemas.microsoft.com/office/drawing/2014/main" id="{FC90883E-E1D5-40B1-BE51-667906751122}"/>
                </a:ext>
              </a:extLst>
            </p:cNvPr>
            <p:cNvSpPr>
              <a:spLocks/>
            </p:cNvSpPr>
            <p:nvPr/>
          </p:nvSpPr>
          <p:spPr bwMode="hidden">
            <a:xfrm>
              <a:off x="4784" y="3702"/>
              <a:ext cx="974" cy="101"/>
            </a:xfrm>
            <a:custGeom>
              <a:avLst/>
              <a:gdLst>
                <a:gd name="T0" fmla="*/ 975 w 975"/>
                <a:gd name="T1" fmla="*/ 48 h 101"/>
                <a:gd name="T2" fmla="*/ 975 w 975"/>
                <a:gd name="T3" fmla="*/ 0 h 101"/>
                <a:gd name="T4" fmla="*/ 0 w 975"/>
                <a:gd name="T5" fmla="*/ 24 h 101"/>
                <a:gd name="T6" fmla="*/ 0 w 975"/>
                <a:gd name="T7" fmla="*/ 101 h 101"/>
                <a:gd name="T8" fmla="*/ 975 w 975"/>
                <a:gd name="T9" fmla="*/ 48 h 101"/>
                <a:gd name="T10" fmla="*/ 975 w 975"/>
                <a:gd name="T11" fmla="*/ 48 h 101"/>
              </a:gdLst>
              <a:ahLst/>
              <a:cxnLst>
                <a:cxn ang="0">
                  <a:pos x="T0" y="T1"/>
                </a:cxn>
                <a:cxn ang="0">
                  <a:pos x="T2" y="T3"/>
                </a:cxn>
                <a:cxn ang="0">
                  <a:pos x="T4" y="T5"/>
                </a:cxn>
                <a:cxn ang="0">
                  <a:pos x="T6" y="T7"/>
                </a:cxn>
                <a:cxn ang="0">
                  <a:pos x="T8" y="T9"/>
                </a:cxn>
                <a:cxn ang="0">
                  <a:pos x="T10" y="T11"/>
                </a:cxn>
              </a:cxnLst>
              <a:rect l="0" t="0" r="r" b="b"/>
              <a:pathLst>
                <a:path w="975" h="101">
                  <a:moveTo>
                    <a:pt x="975" y="48"/>
                  </a:moveTo>
                  <a:lnTo>
                    <a:pt x="975" y="0"/>
                  </a:lnTo>
                  <a:lnTo>
                    <a:pt x="0" y="24"/>
                  </a:lnTo>
                  <a:lnTo>
                    <a:pt x="0" y="101"/>
                  </a:lnTo>
                  <a:lnTo>
                    <a:pt x="975" y="48"/>
                  </a:lnTo>
                  <a:lnTo>
                    <a:pt x="975"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5" name="Freeform 9">
              <a:extLst>
                <a:ext uri="{FF2B5EF4-FFF2-40B4-BE49-F238E27FC236}">
                  <a16:creationId xmlns:a16="http://schemas.microsoft.com/office/drawing/2014/main" id="{85B03300-A628-4ADA-9212-FDD83F22A1AB}"/>
                </a:ext>
              </a:extLst>
            </p:cNvPr>
            <p:cNvSpPr>
              <a:spLocks/>
            </p:cNvSpPr>
            <p:nvPr/>
          </p:nvSpPr>
          <p:spPr bwMode="hidden">
            <a:xfrm>
              <a:off x="3619" y="3815"/>
              <a:ext cx="2139" cy="198"/>
            </a:xfrm>
            <a:custGeom>
              <a:avLst/>
              <a:gdLst>
                <a:gd name="T0" fmla="*/ 2141 w 2141"/>
                <a:gd name="T1" fmla="*/ 0 h 198"/>
                <a:gd name="T2" fmla="*/ 0 w 2141"/>
                <a:gd name="T3" fmla="*/ 156 h 198"/>
                <a:gd name="T4" fmla="*/ 0 w 2141"/>
                <a:gd name="T5" fmla="*/ 198 h 198"/>
                <a:gd name="T6" fmla="*/ 2141 w 2141"/>
                <a:gd name="T7" fmla="*/ 0 h 198"/>
                <a:gd name="T8" fmla="*/ 2141 w 2141"/>
                <a:gd name="T9" fmla="*/ 0 h 198"/>
              </a:gdLst>
              <a:ahLst/>
              <a:cxnLst>
                <a:cxn ang="0">
                  <a:pos x="T0" y="T1"/>
                </a:cxn>
                <a:cxn ang="0">
                  <a:pos x="T2" y="T3"/>
                </a:cxn>
                <a:cxn ang="0">
                  <a:pos x="T4" y="T5"/>
                </a:cxn>
                <a:cxn ang="0">
                  <a:pos x="T6" y="T7"/>
                </a:cxn>
                <a:cxn ang="0">
                  <a:pos x="T8" y="T9"/>
                </a:cxn>
              </a:cxnLst>
              <a:rect l="0" t="0" r="r" b="b"/>
              <a:pathLst>
                <a:path w="2141" h="198">
                  <a:moveTo>
                    <a:pt x="2141" y="0"/>
                  </a:moveTo>
                  <a:lnTo>
                    <a:pt x="0" y="156"/>
                  </a:lnTo>
                  <a:lnTo>
                    <a:pt x="0" y="198"/>
                  </a:lnTo>
                  <a:lnTo>
                    <a:pt x="2141" y="0"/>
                  </a:lnTo>
                  <a:lnTo>
                    <a:pt x="214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6" name="Freeform 10">
              <a:extLst>
                <a:ext uri="{FF2B5EF4-FFF2-40B4-BE49-F238E27FC236}">
                  <a16:creationId xmlns:a16="http://schemas.microsoft.com/office/drawing/2014/main" id="{242C62A6-D52D-4D7D-87C9-4FDD7A5A8DA6}"/>
                </a:ext>
              </a:extLst>
            </p:cNvPr>
            <p:cNvSpPr>
              <a:spLocks/>
            </p:cNvSpPr>
            <p:nvPr/>
          </p:nvSpPr>
          <p:spPr bwMode="hidden">
            <a:xfrm>
              <a:off x="0" y="3971"/>
              <a:ext cx="3619" cy="348"/>
            </a:xfrm>
            <a:custGeom>
              <a:avLst/>
              <a:gdLst>
                <a:gd name="T0" fmla="*/ 0 w 3623"/>
                <a:gd name="T1" fmla="*/ 348 h 348"/>
                <a:gd name="T2" fmla="*/ 311 w 3623"/>
                <a:gd name="T3" fmla="*/ 348 h 348"/>
                <a:gd name="T4" fmla="*/ 3623 w 3623"/>
                <a:gd name="T5" fmla="*/ 42 h 348"/>
                <a:gd name="T6" fmla="*/ 3623 w 3623"/>
                <a:gd name="T7" fmla="*/ 0 h 348"/>
                <a:gd name="T8" fmla="*/ 0 w 3623"/>
                <a:gd name="T9" fmla="*/ 264 h 348"/>
                <a:gd name="T10" fmla="*/ 0 w 3623"/>
                <a:gd name="T11" fmla="*/ 348 h 348"/>
                <a:gd name="T12" fmla="*/ 0 w 3623"/>
                <a:gd name="T13" fmla="*/ 348 h 348"/>
              </a:gdLst>
              <a:ahLst/>
              <a:cxnLst>
                <a:cxn ang="0">
                  <a:pos x="T0" y="T1"/>
                </a:cxn>
                <a:cxn ang="0">
                  <a:pos x="T2" y="T3"/>
                </a:cxn>
                <a:cxn ang="0">
                  <a:pos x="T4" y="T5"/>
                </a:cxn>
                <a:cxn ang="0">
                  <a:pos x="T6" y="T7"/>
                </a:cxn>
                <a:cxn ang="0">
                  <a:pos x="T8" y="T9"/>
                </a:cxn>
                <a:cxn ang="0">
                  <a:pos x="T10" y="T11"/>
                </a:cxn>
                <a:cxn ang="0">
                  <a:pos x="T12" y="T13"/>
                </a:cxn>
              </a:cxnLst>
              <a:rect l="0" t="0"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chemeClr val="bg1">
                    <a:gamma/>
                    <a:shade val="72549"/>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7" name="Freeform 11">
              <a:extLst>
                <a:ext uri="{FF2B5EF4-FFF2-40B4-BE49-F238E27FC236}">
                  <a16:creationId xmlns:a16="http://schemas.microsoft.com/office/drawing/2014/main" id="{E7BCE235-5EC4-4784-9738-5CD4D309B49D}"/>
                </a:ext>
              </a:extLst>
            </p:cNvPr>
            <p:cNvSpPr>
              <a:spLocks/>
            </p:cNvSpPr>
            <p:nvPr/>
          </p:nvSpPr>
          <p:spPr bwMode="hidden">
            <a:xfrm>
              <a:off x="2097" y="4043"/>
              <a:ext cx="2514" cy="276"/>
            </a:xfrm>
            <a:custGeom>
              <a:avLst/>
              <a:gdLst>
                <a:gd name="T0" fmla="*/ 2182 w 2517"/>
                <a:gd name="T1" fmla="*/ 276 h 276"/>
                <a:gd name="T2" fmla="*/ 2517 w 2517"/>
                <a:gd name="T3" fmla="*/ 204 h 276"/>
                <a:gd name="T4" fmla="*/ 2260 w 2517"/>
                <a:gd name="T5" fmla="*/ 0 h 276"/>
                <a:gd name="T6" fmla="*/ 0 w 2517"/>
                <a:gd name="T7" fmla="*/ 276 h 276"/>
                <a:gd name="T8" fmla="*/ 2182 w 2517"/>
                <a:gd name="T9" fmla="*/ 276 h 276"/>
                <a:gd name="T10" fmla="*/ 2182 w 2517"/>
                <a:gd name="T11" fmla="*/ 276 h 276"/>
              </a:gdLst>
              <a:ahLst/>
              <a:cxnLst>
                <a:cxn ang="0">
                  <a:pos x="T0" y="T1"/>
                </a:cxn>
                <a:cxn ang="0">
                  <a:pos x="T2" y="T3"/>
                </a:cxn>
                <a:cxn ang="0">
                  <a:pos x="T4" y="T5"/>
                </a:cxn>
                <a:cxn ang="0">
                  <a:pos x="T6" y="T7"/>
                </a:cxn>
                <a:cxn ang="0">
                  <a:pos x="T8" y="T9"/>
                </a:cxn>
                <a:cxn ang="0">
                  <a:pos x="T10" y="T11"/>
                </a:cxn>
              </a:cxnLst>
              <a:rect l="0" t="0" r="r" b="b"/>
              <a:pathLst>
                <a:path w="2517" h="276">
                  <a:moveTo>
                    <a:pt x="2182" y="276"/>
                  </a:moveTo>
                  <a:lnTo>
                    <a:pt x="2517" y="204"/>
                  </a:lnTo>
                  <a:lnTo>
                    <a:pt x="2260" y="0"/>
                  </a:lnTo>
                  <a:lnTo>
                    <a:pt x="0" y="276"/>
                  </a:lnTo>
                  <a:lnTo>
                    <a:pt x="2182" y="276"/>
                  </a:lnTo>
                  <a:lnTo>
                    <a:pt x="2182" y="2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8" name="Freeform 12">
              <a:extLst>
                <a:ext uri="{FF2B5EF4-FFF2-40B4-BE49-F238E27FC236}">
                  <a16:creationId xmlns:a16="http://schemas.microsoft.com/office/drawing/2014/main" id="{01C33A88-3CD7-422F-A54D-9022380A9E91}"/>
                </a:ext>
              </a:extLst>
            </p:cNvPr>
            <p:cNvSpPr>
              <a:spLocks/>
            </p:cNvSpPr>
            <p:nvPr/>
          </p:nvSpPr>
          <p:spPr bwMode="hidden">
            <a:xfrm>
              <a:off x="4354" y="3869"/>
              <a:ext cx="1404" cy="378"/>
            </a:xfrm>
            <a:custGeom>
              <a:avLst/>
              <a:gdLst>
                <a:gd name="T0" fmla="*/ 1405 w 1405"/>
                <a:gd name="T1" fmla="*/ 126 h 378"/>
                <a:gd name="T2" fmla="*/ 1405 w 1405"/>
                <a:gd name="T3" fmla="*/ 0 h 378"/>
                <a:gd name="T4" fmla="*/ 0 w 1405"/>
                <a:gd name="T5" fmla="*/ 174 h 378"/>
                <a:gd name="T6" fmla="*/ 257 w 1405"/>
                <a:gd name="T7" fmla="*/ 378 h 378"/>
                <a:gd name="T8" fmla="*/ 1405 w 1405"/>
                <a:gd name="T9" fmla="*/ 126 h 378"/>
                <a:gd name="T10" fmla="*/ 1405 w 1405"/>
                <a:gd name="T11" fmla="*/ 126 h 378"/>
              </a:gdLst>
              <a:ahLst/>
              <a:cxnLst>
                <a:cxn ang="0">
                  <a:pos x="T0" y="T1"/>
                </a:cxn>
                <a:cxn ang="0">
                  <a:pos x="T2" y="T3"/>
                </a:cxn>
                <a:cxn ang="0">
                  <a:pos x="T4" y="T5"/>
                </a:cxn>
                <a:cxn ang="0">
                  <a:pos x="T6" y="T7"/>
                </a:cxn>
                <a:cxn ang="0">
                  <a:pos x="T8" y="T9"/>
                </a:cxn>
                <a:cxn ang="0">
                  <a:pos x="T10" y="T11"/>
                </a:cxn>
              </a:cxnLst>
              <a:rect l="0" t="0" r="r" b="b"/>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chemeClr val="bg1">
                    <a:gamma/>
                    <a:tint val="96863"/>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9" name="Freeform 13">
              <a:extLst>
                <a:ext uri="{FF2B5EF4-FFF2-40B4-BE49-F238E27FC236}">
                  <a16:creationId xmlns:a16="http://schemas.microsoft.com/office/drawing/2014/main" id="{B76D3D8F-56E2-4476-BBDE-746F5AA29E6D}"/>
                </a:ext>
              </a:extLst>
            </p:cNvPr>
            <p:cNvSpPr>
              <a:spLocks/>
            </p:cNvSpPr>
            <p:nvPr/>
          </p:nvSpPr>
          <p:spPr bwMode="hidden">
            <a:xfrm>
              <a:off x="5030" y="3151"/>
              <a:ext cx="728" cy="240"/>
            </a:xfrm>
            <a:custGeom>
              <a:avLst/>
              <a:gdLst>
                <a:gd name="T0" fmla="*/ 729 w 729"/>
                <a:gd name="T1" fmla="*/ 240 h 240"/>
                <a:gd name="T2" fmla="*/ 0 w 729"/>
                <a:gd name="T3" fmla="*/ 0 h 240"/>
                <a:gd name="T4" fmla="*/ 0 w 729"/>
                <a:gd name="T5" fmla="*/ 6 h 240"/>
                <a:gd name="T6" fmla="*/ 729 w 729"/>
                <a:gd name="T7" fmla="*/ 240 h 240"/>
                <a:gd name="T8" fmla="*/ 729 w 729"/>
                <a:gd name="T9" fmla="*/ 240 h 240"/>
              </a:gdLst>
              <a:ahLst/>
              <a:cxnLst>
                <a:cxn ang="0">
                  <a:pos x="T0" y="T1"/>
                </a:cxn>
                <a:cxn ang="0">
                  <a:pos x="T2" y="T3"/>
                </a:cxn>
                <a:cxn ang="0">
                  <a:pos x="T4" y="T5"/>
                </a:cxn>
                <a:cxn ang="0">
                  <a:pos x="T6" y="T7"/>
                </a:cxn>
                <a:cxn ang="0">
                  <a:pos x="T8" y="T9"/>
                </a:cxn>
              </a:cxnLst>
              <a:rect l="0" t="0" r="r" b="b"/>
              <a:pathLst>
                <a:path w="729" h="240">
                  <a:moveTo>
                    <a:pt x="729" y="240"/>
                  </a:moveTo>
                  <a:lnTo>
                    <a:pt x="0" y="0"/>
                  </a:lnTo>
                  <a:lnTo>
                    <a:pt x="0" y="6"/>
                  </a:lnTo>
                  <a:lnTo>
                    <a:pt x="729" y="240"/>
                  </a:lnTo>
                  <a:lnTo>
                    <a:pt x="729" y="24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0" name="Freeform 14">
              <a:extLst>
                <a:ext uri="{FF2B5EF4-FFF2-40B4-BE49-F238E27FC236}">
                  <a16:creationId xmlns:a16="http://schemas.microsoft.com/office/drawing/2014/main" id="{D0AD1299-5B8D-47DB-A126-842EF74DE13D}"/>
                </a:ext>
              </a:extLst>
            </p:cNvPr>
            <p:cNvSpPr>
              <a:spLocks/>
            </p:cNvSpPr>
            <p:nvPr/>
          </p:nvSpPr>
          <p:spPr bwMode="hidden">
            <a:xfrm>
              <a:off x="0" y="1486"/>
              <a:ext cx="5030" cy="1671"/>
            </a:xfrm>
            <a:custGeom>
              <a:avLst/>
              <a:gdLst>
                <a:gd name="T0" fmla="*/ 0 w 5035"/>
                <a:gd name="T1" fmla="*/ 72 h 1672"/>
                <a:gd name="T2" fmla="*/ 5035 w 5035"/>
                <a:gd name="T3" fmla="*/ 1672 h 1672"/>
                <a:gd name="T4" fmla="*/ 5035 w 5035"/>
                <a:gd name="T5" fmla="*/ 1666 h 1672"/>
                <a:gd name="T6" fmla="*/ 0 w 5035"/>
                <a:gd name="T7" fmla="*/ 0 h 1672"/>
                <a:gd name="T8" fmla="*/ 0 w 5035"/>
                <a:gd name="T9" fmla="*/ 72 h 1672"/>
                <a:gd name="T10" fmla="*/ 0 w 5035"/>
                <a:gd name="T11" fmla="*/ 72 h 1672"/>
              </a:gdLst>
              <a:ahLst/>
              <a:cxnLst>
                <a:cxn ang="0">
                  <a:pos x="T0" y="T1"/>
                </a:cxn>
                <a:cxn ang="0">
                  <a:pos x="T2" y="T3"/>
                </a:cxn>
                <a:cxn ang="0">
                  <a:pos x="T4" y="T5"/>
                </a:cxn>
                <a:cxn ang="0">
                  <a:pos x="T6" y="T7"/>
                </a:cxn>
                <a:cxn ang="0">
                  <a:pos x="T8" y="T9"/>
                </a:cxn>
                <a:cxn ang="0">
                  <a:pos x="T10" y="T11"/>
                </a:cxn>
              </a:cxnLst>
              <a:rect l="0" t="0" r="r" b="b"/>
              <a:pathLst>
                <a:path w="5035" h="1672">
                  <a:moveTo>
                    <a:pt x="0" y="72"/>
                  </a:moveTo>
                  <a:lnTo>
                    <a:pt x="5035" y="1672"/>
                  </a:lnTo>
                  <a:lnTo>
                    <a:pt x="5035" y="1666"/>
                  </a:lnTo>
                  <a:lnTo>
                    <a:pt x="0" y="0"/>
                  </a:lnTo>
                  <a:lnTo>
                    <a:pt x="0" y="72"/>
                  </a:lnTo>
                  <a:lnTo>
                    <a:pt x="0" y="72"/>
                  </a:lnTo>
                  <a:close/>
                </a:path>
              </a:pathLst>
            </a:custGeom>
            <a:gradFill rotWithShape="0">
              <a:gsLst>
                <a:gs pos="0">
                  <a:schemeClr val="bg1">
                    <a:gamma/>
                    <a:shade val="54510"/>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1" name="Freeform 15">
              <a:extLst>
                <a:ext uri="{FF2B5EF4-FFF2-40B4-BE49-F238E27FC236}">
                  <a16:creationId xmlns:a16="http://schemas.microsoft.com/office/drawing/2014/main" id="{F900F93C-6940-4062-9A0F-F80815DC9D74}"/>
                </a:ext>
              </a:extLst>
            </p:cNvPr>
            <p:cNvSpPr>
              <a:spLocks/>
            </p:cNvSpPr>
            <p:nvPr/>
          </p:nvSpPr>
          <p:spPr bwMode="hidden">
            <a:xfrm>
              <a:off x="5030" y="3049"/>
              <a:ext cx="728" cy="318"/>
            </a:xfrm>
            <a:custGeom>
              <a:avLst/>
              <a:gdLst>
                <a:gd name="T0" fmla="*/ 729 w 729"/>
                <a:gd name="T1" fmla="*/ 318 h 318"/>
                <a:gd name="T2" fmla="*/ 729 w 729"/>
                <a:gd name="T3" fmla="*/ 312 h 318"/>
                <a:gd name="T4" fmla="*/ 0 w 729"/>
                <a:gd name="T5" fmla="*/ 0 h 318"/>
                <a:gd name="T6" fmla="*/ 0 w 729"/>
                <a:gd name="T7" fmla="*/ 54 h 318"/>
                <a:gd name="T8" fmla="*/ 729 w 729"/>
                <a:gd name="T9" fmla="*/ 318 h 318"/>
                <a:gd name="T10" fmla="*/ 729 w 729"/>
                <a:gd name="T11" fmla="*/ 318 h 318"/>
              </a:gdLst>
              <a:ahLst/>
              <a:cxnLst>
                <a:cxn ang="0">
                  <a:pos x="T0" y="T1"/>
                </a:cxn>
                <a:cxn ang="0">
                  <a:pos x="T2" y="T3"/>
                </a:cxn>
                <a:cxn ang="0">
                  <a:pos x="T4" y="T5"/>
                </a:cxn>
                <a:cxn ang="0">
                  <a:pos x="T6" y="T7"/>
                </a:cxn>
                <a:cxn ang="0">
                  <a:pos x="T8" y="T9"/>
                </a:cxn>
                <a:cxn ang="0">
                  <a:pos x="T10" y="T11"/>
                </a:cxn>
              </a:cxnLst>
              <a:rect l="0" t="0" r="r" b="b"/>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2" name="Freeform 16">
              <a:extLst>
                <a:ext uri="{FF2B5EF4-FFF2-40B4-BE49-F238E27FC236}">
                  <a16:creationId xmlns:a16="http://schemas.microsoft.com/office/drawing/2014/main" id="{83236B4E-0660-4246-9B94-B827C2D4C024}"/>
                </a:ext>
              </a:extLst>
            </p:cNvPr>
            <p:cNvSpPr>
              <a:spLocks/>
            </p:cNvSpPr>
            <p:nvPr/>
          </p:nvSpPr>
          <p:spPr bwMode="hidden">
            <a:xfrm>
              <a:off x="0" y="916"/>
              <a:ext cx="5030" cy="2187"/>
            </a:xfrm>
            <a:custGeom>
              <a:avLst/>
              <a:gdLst>
                <a:gd name="T0" fmla="*/ 0 w 5035"/>
                <a:gd name="T1" fmla="*/ 396 h 2188"/>
                <a:gd name="T2" fmla="*/ 5035 w 5035"/>
                <a:gd name="T3" fmla="*/ 2188 h 2188"/>
                <a:gd name="T4" fmla="*/ 5035 w 5035"/>
                <a:gd name="T5" fmla="*/ 2134 h 2188"/>
                <a:gd name="T6" fmla="*/ 0 w 5035"/>
                <a:gd name="T7" fmla="*/ 0 h 2188"/>
                <a:gd name="T8" fmla="*/ 0 w 5035"/>
                <a:gd name="T9" fmla="*/ 396 h 2188"/>
                <a:gd name="T10" fmla="*/ 0 w 5035"/>
                <a:gd name="T11" fmla="*/ 396 h 2188"/>
              </a:gdLst>
              <a:ahLst/>
              <a:cxnLst>
                <a:cxn ang="0">
                  <a:pos x="T0" y="T1"/>
                </a:cxn>
                <a:cxn ang="0">
                  <a:pos x="T2" y="T3"/>
                </a:cxn>
                <a:cxn ang="0">
                  <a:pos x="T4" y="T5"/>
                </a:cxn>
                <a:cxn ang="0">
                  <a:pos x="T6" y="T7"/>
                </a:cxn>
                <a:cxn ang="0">
                  <a:pos x="T8" y="T9"/>
                </a:cxn>
                <a:cxn ang="0">
                  <a:pos x="T10" y="T11"/>
                </a:cxn>
              </a:cxnLst>
              <a:rect l="0" t="0" r="r" b="b"/>
              <a:pathLst>
                <a:path w="5035" h="2188">
                  <a:moveTo>
                    <a:pt x="0" y="396"/>
                  </a:moveTo>
                  <a:lnTo>
                    <a:pt x="5035" y="2188"/>
                  </a:lnTo>
                  <a:lnTo>
                    <a:pt x="5035" y="2134"/>
                  </a:lnTo>
                  <a:lnTo>
                    <a:pt x="0" y="0"/>
                  </a:lnTo>
                  <a:lnTo>
                    <a:pt x="0" y="396"/>
                  </a:lnTo>
                  <a:lnTo>
                    <a:pt x="0" y="396"/>
                  </a:lnTo>
                  <a:close/>
                </a:path>
              </a:pathLst>
            </a:custGeom>
            <a:gradFill rotWithShape="0">
              <a:gsLst>
                <a:gs pos="0">
                  <a:schemeClr val="bg2">
                    <a:gamma/>
                    <a:shade val="66667"/>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3" name="Freeform 17">
              <a:extLst>
                <a:ext uri="{FF2B5EF4-FFF2-40B4-BE49-F238E27FC236}">
                  <a16:creationId xmlns:a16="http://schemas.microsoft.com/office/drawing/2014/main" id="{280E7E7F-03EB-4A3D-B900-31C9FCB4248E}"/>
                </a:ext>
              </a:extLst>
            </p:cNvPr>
            <p:cNvSpPr>
              <a:spLocks/>
            </p:cNvSpPr>
            <p:nvPr/>
          </p:nvSpPr>
          <p:spPr bwMode="hidden">
            <a:xfrm>
              <a:off x="2294" y="0"/>
              <a:ext cx="3159" cy="2725"/>
            </a:xfrm>
            <a:custGeom>
              <a:avLst/>
              <a:gdLst>
                <a:gd name="T0" fmla="*/ 0 w 3163"/>
                <a:gd name="T1" fmla="*/ 0 h 2727"/>
                <a:gd name="T2" fmla="*/ 3145 w 3163"/>
                <a:gd name="T3" fmla="*/ 2727 h 2727"/>
                <a:gd name="T4" fmla="*/ 3163 w 3163"/>
                <a:gd name="T5" fmla="*/ 2704 h 2727"/>
                <a:gd name="T6" fmla="*/ 102 w 3163"/>
                <a:gd name="T7" fmla="*/ 0 h 2727"/>
                <a:gd name="T8" fmla="*/ 0 w 3163"/>
                <a:gd name="T9" fmla="*/ 0 h 2727"/>
                <a:gd name="T10" fmla="*/ 0 w 3163"/>
                <a:gd name="T11" fmla="*/ 0 h 2727"/>
              </a:gdLst>
              <a:ahLst/>
              <a:cxnLst>
                <a:cxn ang="0">
                  <a:pos x="T0" y="T1"/>
                </a:cxn>
                <a:cxn ang="0">
                  <a:pos x="T2" y="T3"/>
                </a:cxn>
                <a:cxn ang="0">
                  <a:pos x="T4" y="T5"/>
                </a:cxn>
                <a:cxn ang="0">
                  <a:pos x="T6" y="T7"/>
                </a:cxn>
                <a:cxn ang="0">
                  <a:pos x="T8" y="T9"/>
                </a:cxn>
                <a:cxn ang="0">
                  <a:pos x="T10" y="T11"/>
                </a:cxn>
              </a:cxnLst>
              <a:rect l="0" t="0" r="r" b="b"/>
              <a:pathLst>
                <a:path w="3163" h="2727">
                  <a:moveTo>
                    <a:pt x="0" y="0"/>
                  </a:moveTo>
                  <a:lnTo>
                    <a:pt x="3145" y="2727"/>
                  </a:lnTo>
                  <a:lnTo>
                    <a:pt x="3163" y="2704"/>
                  </a:lnTo>
                  <a:lnTo>
                    <a:pt x="102" y="0"/>
                  </a:lnTo>
                  <a:lnTo>
                    <a:pt x="0" y="0"/>
                  </a:lnTo>
                  <a:lnTo>
                    <a:pt x="0" y="0"/>
                  </a:lnTo>
                  <a:close/>
                </a:path>
              </a:pathLst>
            </a:custGeom>
            <a:gradFill rotWithShape="0">
              <a:gsLst>
                <a:gs pos="0">
                  <a:schemeClr val="bg1">
                    <a:gamma/>
                    <a:shade val="6980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4" name="Freeform 18">
              <a:extLst>
                <a:ext uri="{FF2B5EF4-FFF2-40B4-BE49-F238E27FC236}">
                  <a16:creationId xmlns:a16="http://schemas.microsoft.com/office/drawing/2014/main" id="{BD13009F-C0CC-40EC-8867-28DBB9866968}"/>
                </a:ext>
              </a:extLst>
            </p:cNvPr>
            <p:cNvSpPr>
              <a:spLocks/>
            </p:cNvSpPr>
            <p:nvPr/>
          </p:nvSpPr>
          <p:spPr bwMode="hidden">
            <a:xfrm>
              <a:off x="5435" y="2702"/>
              <a:ext cx="323" cy="299"/>
            </a:xfrm>
            <a:custGeom>
              <a:avLst/>
              <a:gdLst>
                <a:gd name="T0" fmla="*/ 323 w 323"/>
                <a:gd name="T1" fmla="*/ 299 h 299"/>
                <a:gd name="T2" fmla="*/ 323 w 323"/>
                <a:gd name="T3" fmla="*/ 263 h 299"/>
                <a:gd name="T4" fmla="*/ 18 w 323"/>
                <a:gd name="T5" fmla="*/ 0 h 299"/>
                <a:gd name="T6" fmla="*/ 0 w 323"/>
                <a:gd name="T7" fmla="*/ 23 h 299"/>
                <a:gd name="T8" fmla="*/ 323 w 323"/>
                <a:gd name="T9" fmla="*/ 299 h 299"/>
                <a:gd name="T10" fmla="*/ 323 w 323"/>
                <a:gd name="T11" fmla="*/ 299 h 299"/>
              </a:gdLst>
              <a:ahLst/>
              <a:cxnLst>
                <a:cxn ang="0">
                  <a:pos x="T0" y="T1"/>
                </a:cxn>
                <a:cxn ang="0">
                  <a:pos x="T2" y="T3"/>
                </a:cxn>
                <a:cxn ang="0">
                  <a:pos x="T4" y="T5"/>
                </a:cxn>
                <a:cxn ang="0">
                  <a:pos x="T6" y="T7"/>
                </a:cxn>
                <a:cxn ang="0">
                  <a:pos x="T8" y="T9"/>
                </a:cxn>
                <a:cxn ang="0">
                  <a:pos x="T10" y="T11"/>
                </a:cxn>
              </a:cxnLst>
              <a:rect l="0" t="0" r="r" b="b"/>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chemeClr val="bg1">
                    <a:gamma/>
                    <a:tint val="94118"/>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5" name="Freeform 19">
              <a:extLst>
                <a:ext uri="{FF2B5EF4-FFF2-40B4-BE49-F238E27FC236}">
                  <a16:creationId xmlns:a16="http://schemas.microsoft.com/office/drawing/2014/main" id="{6CB94012-21C8-43B1-851B-C6D0262ABAE1}"/>
                </a:ext>
              </a:extLst>
            </p:cNvPr>
            <p:cNvSpPr>
              <a:spLocks/>
            </p:cNvSpPr>
            <p:nvPr/>
          </p:nvSpPr>
          <p:spPr bwMode="hidden">
            <a:xfrm>
              <a:off x="5477" y="2588"/>
              <a:ext cx="281" cy="335"/>
            </a:xfrm>
            <a:custGeom>
              <a:avLst/>
              <a:gdLst>
                <a:gd name="T0" fmla="*/ 281 w 281"/>
                <a:gd name="T1" fmla="*/ 335 h 335"/>
                <a:gd name="T2" fmla="*/ 281 w 281"/>
                <a:gd name="T3" fmla="*/ 173 h 335"/>
                <a:gd name="T4" fmla="*/ 96 w 281"/>
                <a:gd name="T5" fmla="*/ 0 h 335"/>
                <a:gd name="T6" fmla="*/ 0 w 281"/>
                <a:gd name="T7" fmla="*/ 90 h 335"/>
                <a:gd name="T8" fmla="*/ 281 w 281"/>
                <a:gd name="T9" fmla="*/ 335 h 335"/>
                <a:gd name="T10" fmla="*/ 281 w 281"/>
                <a:gd name="T11" fmla="*/ 335 h 335"/>
              </a:gdLst>
              <a:ahLst/>
              <a:cxnLst>
                <a:cxn ang="0">
                  <a:pos x="T0" y="T1"/>
                </a:cxn>
                <a:cxn ang="0">
                  <a:pos x="T2" y="T3"/>
                </a:cxn>
                <a:cxn ang="0">
                  <a:pos x="T4" y="T5"/>
                </a:cxn>
                <a:cxn ang="0">
                  <a:pos x="T6" y="T7"/>
                </a:cxn>
                <a:cxn ang="0">
                  <a:pos x="T8" y="T9"/>
                </a:cxn>
                <a:cxn ang="0">
                  <a:pos x="T10" y="T11"/>
                </a:cxn>
              </a:cxnLst>
              <a:rect l="0" t="0" r="r" b="b"/>
              <a:pathLst>
                <a:path w="281" h="335">
                  <a:moveTo>
                    <a:pt x="281" y="335"/>
                  </a:moveTo>
                  <a:lnTo>
                    <a:pt x="281" y="173"/>
                  </a:lnTo>
                  <a:lnTo>
                    <a:pt x="96" y="0"/>
                  </a:lnTo>
                  <a:lnTo>
                    <a:pt x="0" y="90"/>
                  </a:lnTo>
                  <a:lnTo>
                    <a:pt x="281" y="335"/>
                  </a:lnTo>
                  <a:lnTo>
                    <a:pt x="281" y="3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6" name="Freeform 20">
              <a:extLst>
                <a:ext uri="{FF2B5EF4-FFF2-40B4-BE49-F238E27FC236}">
                  <a16:creationId xmlns:a16="http://schemas.microsoft.com/office/drawing/2014/main" id="{34801BE6-092B-400E-9B14-C865FB5FFDE5}"/>
                </a:ext>
              </a:extLst>
            </p:cNvPr>
            <p:cNvSpPr>
              <a:spLocks/>
            </p:cNvSpPr>
            <p:nvPr/>
          </p:nvSpPr>
          <p:spPr bwMode="hidden">
            <a:xfrm>
              <a:off x="2454" y="0"/>
              <a:ext cx="3119" cy="2678"/>
            </a:xfrm>
            <a:custGeom>
              <a:avLst/>
              <a:gdLst>
                <a:gd name="T0" fmla="*/ 0 w 3122"/>
                <a:gd name="T1" fmla="*/ 0 h 2680"/>
                <a:gd name="T2" fmla="*/ 3026 w 3122"/>
                <a:gd name="T3" fmla="*/ 2680 h 2680"/>
                <a:gd name="T4" fmla="*/ 3122 w 3122"/>
                <a:gd name="T5" fmla="*/ 2590 h 2680"/>
                <a:gd name="T6" fmla="*/ 383 w 3122"/>
                <a:gd name="T7" fmla="*/ 0 h 2680"/>
                <a:gd name="T8" fmla="*/ 0 w 3122"/>
                <a:gd name="T9" fmla="*/ 0 h 2680"/>
                <a:gd name="T10" fmla="*/ 0 w 3122"/>
                <a:gd name="T11" fmla="*/ 0 h 2680"/>
              </a:gdLst>
              <a:ahLst/>
              <a:cxnLst>
                <a:cxn ang="0">
                  <a:pos x="T0" y="T1"/>
                </a:cxn>
                <a:cxn ang="0">
                  <a:pos x="T2" y="T3"/>
                </a:cxn>
                <a:cxn ang="0">
                  <a:pos x="T4" y="T5"/>
                </a:cxn>
                <a:cxn ang="0">
                  <a:pos x="T6" y="T7"/>
                </a:cxn>
                <a:cxn ang="0">
                  <a:pos x="T8" y="T9"/>
                </a:cxn>
                <a:cxn ang="0">
                  <a:pos x="T10" y="T11"/>
                </a:cxn>
              </a:cxnLst>
              <a:rect l="0" t="0" r="r" b="b"/>
              <a:pathLst>
                <a:path w="3122" h="2680">
                  <a:moveTo>
                    <a:pt x="0" y="0"/>
                  </a:moveTo>
                  <a:lnTo>
                    <a:pt x="3026" y="2680"/>
                  </a:lnTo>
                  <a:lnTo>
                    <a:pt x="3122" y="2590"/>
                  </a:lnTo>
                  <a:lnTo>
                    <a:pt x="383" y="0"/>
                  </a:lnTo>
                  <a:lnTo>
                    <a:pt x="0" y="0"/>
                  </a:lnTo>
                  <a:lnTo>
                    <a:pt x="0" y="0"/>
                  </a:lnTo>
                  <a:close/>
                </a:path>
              </a:pathLst>
            </a:custGeom>
            <a:gradFill rotWithShape="0">
              <a:gsLst>
                <a:gs pos="0">
                  <a:schemeClr val="bg1">
                    <a:gamma/>
                    <a:shade val="46275"/>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7" name="Freeform 21">
              <a:extLst>
                <a:ext uri="{FF2B5EF4-FFF2-40B4-BE49-F238E27FC236}">
                  <a16:creationId xmlns:a16="http://schemas.microsoft.com/office/drawing/2014/main" id="{B6AB64A7-B16C-449F-AECB-1E01006A9B29}"/>
                </a:ext>
              </a:extLst>
            </p:cNvPr>
            <p:cNvSpPr>
              <a:spLocks/>
            </p:cNvSpPr>
            <p:nvPr/>
          </p:nvSpPr>
          <p:spPr bwMode="hidden">
            <a:xfrm>
              <a:off x="5626" y="2534"/>
              <a:ext cx="132" cy="132"/>
            </a:xfrm>
            <a:custGeom>
              <a:avLst/>
              <a:gdLst>
                <a:gd name="T0" fmla="*/ 132 w 132"/>
                <a:gd name="T1" fmla="*/ 132 h 132"/>
                <a:gd name="T2" fmla="*/ 0 w 132"/>
                <a:gd name="T3" fmla="*/ 0 h 132"/>
                <a:gd name="T4" fmla="*/ 0 w 132"/>
                <a:gd name="T5" fmla="*/ 0 h 132"/>
                <a:gd name="T6" fmla="*/ 132 w 132"/>
                <a:gd name="T7" fmla="*/ 132 h 132"/>
                <a:gd name="T8" fmla="*/ 132 w 132"/>
                <a:gd name="T9" fmla="*/ 132 h 132"/>
              </a:gdLst>
              <a:ahLst/>
              <a:cxnLst>
                <a:cxn ang="0">
                  <a:pos x="T0" y="T1"/>
                </a:cxn>
                <a:cxn ang="0">
                  <a:pos x="T2" y="T3"/>
                </a:cxn>
                <a:cxn ang="0">
                  <a:pos x="T4" y="T5"/>
                </a:cxn>
                <a:cxn ang="0">
                  <a:pos x="T6" y="T7"/>
                </a:cxn>
                <a:cxn ang="0">
                  <a:pos x="T8" y="T9"/>
                </a:cxn>
              </a:cxnLst>
              <a:rect l="0" t="0" r="r" b="b"/>
              <a:pathLst>
                <a:path w="132" h="132">
                  <a:moveTo>
                    <a:pt x="132" y="132"/>
                  </a:moveTo>
                  <a:lnTo>
                    <a:pt x="0" y="0"/>
                  </a:lnTo>
                  <a:lnTo>
                    <a:pt x="0" y="0"/>
                  </a:lnTo>
                  <a:lnTo>
                    <a:pt x="132" y="132"/>
                  </a:lnTo>
                  <a:lnTo>
                    <a:pt x="132" y="132"/>
                  </a:lnTo>
                  <a:close/>
                </a:path>
              </a:pathLst>
            </a:custGeom>
            <a:solidFill>
              <a:srgbClr val="FF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8" name="Freeform 22">
              <a:extLst>
                <a:ext uri="{FF2B5EF4-FFF2-40B4-BE49-F238E27FC236}">
                  <a16:creationId xmlns:a16="http://schemas.microsoft.com/office/drawing/2014/main" id="{F5FFDB93-806C-489C-8D33-F59B7214792C}"/>
                </a:ext>
              </a:extLst>
            </p:cNvPr>
            <p:cNvSpPr>
              <a:spLocks/>
            </p:cNvSpPr>
            <p:nvPr/>
          </p:nvSpPr>
          <p:spPr bwMode="hidden">
            <a:xfrm>
              <a:off x="3112" y="0"/>
              <a:ext cx="2514" cy="2534"/>
            </a:xfrm>
            <a:custGeom>
              <a:avLst/>
              <a:gdLst>
                <a:gd name="T0" fmla="*/ 0 w 2517"/>
                <a:gd name="T1" fmla="*/ 0 h 2536"/>
                <a:gd name="T2" fmla="*/ 2517 w 2517"/>
                <a:gd name="T3" fmla="*/ 2536 h 2536"/>
                <a:gd name="T4" fmla="*/ 2517 w 2517"/>
                <a:gd name="T5" fmla="*/ 2536 h 2536"/>
                <a:gd name="T6" fmla="*/ 66 w 2517"/>
                <a:gd name="T7" fmla="*/ 0 h 2536"/>
                <a:gd name="T8" fmla="*/ 0 w 2517"/>
                <a:gd name="T9" fmla="*/ 0 h 2536"/>
                <a:gd name="T10" fmla="*/ 0 w 2517"/>
                <a:gd name="T11" fmla="*/ 0 h 2536"/>
              </a:gdLst>
              <a:ahLst/>
              <a:cxnLst>
                <a:cxn ang="0">
                  <a:pos x="T0" y="T1"/>
                </a:cxn>
                <a:cxn ang="0">
                  <a:pos x="T2" y="T3"/>
                </a:cxn>
                <a:cxn ang="0">
                  <a:pos x="T4" y="T5"/>
                </a:cxn>
                <a:cxn ang="0">
                  <a:pos x="T6" y="T7"/>
                </a:cxn>
                <a:cxn ang="0">
                  <a:pos x="T8" y="T9"/>
                </a:cxn>
                <a:cxn ang="0">
                  <a:pos x="T10" y="T11"/>
                </a:cxn>
              </a:cxnLst>
              <a:rect l="0" t="0" r="r" b="b"/>
              <a:pathLst>
                <a:path w="2517" h="2536">
                  <a:moveTo>
                    <a:pt x="0" y="0"/>
                  </a:moveTo>
                  <a:lnTo>
                    <a:pt x="2517" y="2536"/>
                  </a:lnTo>
                  <a:lnTo>
                    <a:pt x="2517" y="2536"/>
                  </a:lnTo>
                  <a:lnTo>
                    <a:pt x="66" y="0"/>
                  </a:lnTo>
                  <a:lnTo>
                    <a:pt x="0" y="0"/>
                  </a:lnTo>
                  <a:lnTo>
                    <a:pt x="0" y="0"/>
                  </a:lnTo>
                  <a:close/>
                </a:path>
              </a:pathLst>
            </a:custGeom>
            <a:gradFill rotWithShape="0">
              <a:gsLst>
                <a:gs pos="0">
                  <a:schemeClr val="bg1">
                    <a:gamma/>
                    <a:shade val="51373"/>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9" name="Freeform 23">
              <a:extLst>
                <a:ext uri="{FF2B5EF4-FFF2-40B4-BE49-F238E27FC236}">
                  <a16:creationId xmlns:a16="http://schemas.microsoft.com/office/drawing/2014/main" id="{01BFBE45-6AAD-4991-B941-65EA6020B37D}"/>
                </a:ext>
              </a:extLst>
            </p:cNvPr>
            <p:cNvSpPr>
              <a:spLocks/>
            </p:cNvSpPr>
            <p:nvPr/>
          </p:nvSpPr>
          <p:spPr bwMode="hidden">
            <a:xfrm>
              <a:off x="3488" y="0"/>
              <a:ext cx="2198" cy="2480"/>
            </a:xfrm>
            <a:custGeom>
              <a:avLst/>
              <a:gdLst>
                <a:gd name="T0" fmla="*/ 0 w 2200"/>
                <a:gd name="T1" fmla="*/ 0 h 2482"/>
                <a:gd name="T2" fmla="*/ 2188 w 2200"/>
                <a:gd name="T3" fmla="*/ 2482 h 2482"/>
                <a:gd name="T4" fmla="*/ 2200 w 2200"/>
                <a:gd name="T5" fmla="*/ 2476 h 2482"/>
                <a:gd name="T6" fmla="*/ 317 w 2200"/>
                <a:gd name="T7" fmla="*/ 0 h 2482"/>
                <a:gd name="T8" fmla="*/ 0 w 2200"/>
                <a:gd name="T9" fmla="*/ 0 h 2482"/>
                <a:gd name="T10" fmla="*/ 0 w 2200"/>
                <a:gd name="T11" fmla="*/ 0 h 2482"/>
              </a:gdLst>
              <a:ahLst/>
              <a:cxnLst>
                <a:cxn ang="0">
                  <a:pos x="T0" y="T1"/>
                </a:cxn>
                <a:cxn ang="0">
                  <a:pos x="T2" y="T3"/>
                </a:cxn>
                <a:cxn ang="0">
                  <a:pos x="T4" y="T5"/>
                </a:cxn>
                <a:cxn ang="0">
                  <a:pos x="T6" y="T7"/>
                </a:cxn>
                <a:cxn ang="0">
                  <a:pos x="T8" y="T9"/>
                </a:cxn>
                <a:cxn ang="0">
                  <a:pos x="T10" y="T11"/>
                </a:cxn>
              </a:cxnLst>
              <a:rect l="0" t="0" r="r" b="b"/>
              <a:pathLst>
                <a:path w="2200" h="2482">
                  <a:moveTo>
                    <a:pt x="0" y="0"/>
                  </a:moveTo>
                  <a:lnTo>
                    <a:pt x="2188" y="2482"/>
                  </a:lnTo>
                  <a:lnTo>
                    <a:pt x="2200" y="2476"/>
                  </a:lnTo>
                  <a:lnTo>
                    <a:pt x="317" y="0"/>
                  </a:lnTo>
                  <a:lnTo>
                    <a:pt x="0" y="0"/>
                  </a:lnTo>
                  <a:lnTo>
                    <a:pt x="0" y="0"/>
                  </a:lnTo>
                  <a:close/>
                </a:path>
              </a:pathLst>
            </a:custGeom>
            <a:gradFill rotWithShape="0">
              <a:gsLst>
                <a:gs pos="0">
                  <a:schemeClr val="bg2">
                    <a:gamma/>
                    <a:shade val="78824"/>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224280" name="Freeform 24">
              <a:extLst>
                <a:ext uri="{FF2B5EF4-FFF2-40B4-BE49-F238E27FC236}">
                  <a16:creationId xmlns:a16="http://schemas.microsoft.com/office/drawing/2014/main" id="{792486DF-C59D-448A-BCCD-5B7662EFF8BB}"/>
                </a:ext>
              </a:extLst>
            </p:cNvPr>
            <p:cNvSpPr>
              <a:spLocks/>
            </p:cNvSpPr>
            <p:nvPr/>
          </p:nvSpPr>
          <p:spPr bwMode="hidden">
            <a:xfrm>
              <a:off x="5674" y="2474"/>
              <a:ext cx="84" cy="96"/>
            </a:xfrm>
            <a:custGeom>
              <a:avLst/>
              <a:gdLst>
                <a:gd name="T0" fmla="*/ 84 w 84"/>
                <a:gd name="T1" fmla="*/ 96 h 96"/>
                <a:gd name="T2" fmla="*/ 84 w 84"/>
                <a:gd name="T3" fmla="*/ 90 h 96"/>
                <a:gd name="T4" fmla="*/ 12 w 84"/>
                <a:gd name="T5" fmla="*/ 0 h 96"/>
                <a:gd name="T6" fmla="*/ 0 w 84"/>
                <a:gd name="T7" fmla="*/ 6 h 96"/>
                <a:gd name="T8" fmla="*/ 84 w 84"/>
                <a:gd name="T9" fmla="*/ 96 h 96"/>
                <a:gd name="T10" fmla="*/ 84 w 84"/>
                <a:gd name="T11" fmla="*/ 96 h 96"/>
              </a:gdLst>
              <a:ahLst/>
              <a:cxnLst>
                <a:cxn ang="0">
                  <a:pos x="T0" y="T1"/>
                </a:cxn>
                <a:cxn ang="0">
                  <a:pos x="T2" y="T3"/>
                </a:cxn>
                <a:cxn ang="0">
                  <a:pos x="T4" y="T5"/>
                </a:cxn>
                <a:cxn ang="0">
                  <a:pos x="T6" y="T7"/>
                </a:cxn>
                <a:cxn ang="0">
                  <a:pos x="T8" y="T9"/>
                </a:cxn>
                <a:cxn ang="0">
                  <a:pos x="T10" y="T11"/>
                </a:cxn>
              </a:cxnLst>
              <a:rect l="0" t="0" r="r" b="b"/>
              <a:pathLst>
                <a:path w="84" h="96">
                  <a:moveTo>
                    <a:pt x="84" y="96"/>
                  </a:moveTo>
                  <a:lnTo>
                    <a:pt x="84" y="90"/>
                  </a:lnTo>
                  <a:lnTo>
                    <a:pt x="12" y="0"/>
                  </a:lnTo>
                  <a:lnTo>
                    <a:pt x="0" y="6"/>
                  </a:lnTo>
                  <a:lnTo>
                    <a:pt x="84" y="96"/>
                  </a:lnTo>
                  <a:lnTo>
                    <a:pt x="84" y="96"/>
                  </a:lnTo>
                  <a:close/>
                </a:path>
              </a:pathLst>
            </a:custGeom>
            <a:gradFill rotWithShape="0">
              <a:gsLst>
                <a:gs pos="0">
                  <a:schemeClr val="bg1"/>
                </a:gs>
                <a:gs pos="100000">
                  <a:schemeClr val="bg1">
                    <a:gamma/>
                    <a:tint val="90980"/>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1" name="Freeform 25">
              <a:extLst>
                <a:ext uri="{FF2B5EF4-FFF2-40B4-BE49-F238E27FC236}">
                  <a16:creationId xmlns:a16="http://schemas.microsoft.com/office/drawing/2014/main" id="{53BCE5C4-9CC7-40FA-9198-A29E6459DCAD}"/>
                </a:ext>
              </a:extLst>
            </p:cNvPr>
            <p:cNvSpPr>
              <a:spLocks/>
            </p:cNvSpPr>
            <p:nvPr/>
          </p:nvSpPr>
          <p:spPr bwMode="hidden">
            <a:xfrm>
              <a:off x="5603" y="850"/>
              <a:ext cx="155" cy="516"/>
            </a:xfrm>
            <a:custGeom>
              <a:avLst/>
              <a:gdLst>
                <a:gd name="T0" fmla="*/ 155 w 155"/>
                <a:gd name="T1" fmla="*/ 516 h 516"/>
                <a:gd name="T2" fmla="*/ 155 w 155"/>
                <a:gd name="T3" fmla="*/ 204 h 516"/>
                <a:gd name="T4" fmla="*/ 77 w 155"/>
                <a:gd name="T5" fmla="*/ 0 h 516"/>
                <a:gd name="T6" fmla="*/ 0 w 155"/>
                <a:gd name="T7" fmla="*/ 192 h 516"/>
                <a:gd name="T8" fmla="*/ 155 w 155"/>
                <a:gd name="T9" fmla="*/ 516 h 516"/>
                <a:gd name="T10" fmla="*/ 155 w 155"/>
                <a:gd name="T11" fmla="*/ 516 h 516"/>
              </a:gdLst>
              <a:ahLst/>
              <a:cxnLst>
                <a:cxn ang="0">
                  <a:pos x="T0" y="T1"/>
                </a:cxn>
                <a:cxn ang="0">
                  <a:pos x="T2" y="T3"/>
                </a:cxn>
                <a:cxn ang="0">
                  <a:pos x="T4" y="T5"/>
                </a:cxn>
                <a:cxn ang="0">
                  <a:pos x="T6" y="T7"/>
                </a:cxn>
                <a:cxn ang="0">
                  <a:pos x="T8" y="T9"/>
                </a:cxn>
                <a:cxn ang="0">
                  <a:pos x="T10" y="T11"/>
                </a:cxn>
              </a:cxnLst>
              <a:rect l="0" t="0" r="r" b="b"/>
              <a:pathLst>
                <a:path w="155" h="516">
                  <a:moveTo>
                    <a:pt x="155" y="516"/>
                  </a:moveTo>
                  <a:lnTo>
                    <a:pt x="155" y="204"/>
                  </a:lnTo>
                  <a:lnTo>
                    <a:pt x="77" y="0"/>
                  </a:lnTo>
                  <a:lnTo>
                    <a:pt x="0" y="192"/>
                  </a:lnTo>
                  <a:lnTo>
                    <a:pt x="155" y="516"/>
                  </a:lnTo>
                  <a:lnTo>
                    <a:pt x="155" y="51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2" name="Freeform 26">
              <a:extLst>
                <a:ext uri="{FF2B5EF4-FFF2-40B4-BE49-F238E27FC236}">
                  <a16:creationId xmlns:a16="http://schemas.microsoft.com/office/drawing/2014/main" id="{5383C1A3-4745-4E8C-B585-9A3AA12AE118}"/>
                </a:ext>
              </a:extLst>
            </p:cNvPr>
            <p:cNvSpPr>
              <a:spLocks/>
            </p:cNvSpPr>
            <p:nvPr/>
          </p:nvSpPr>
          <p:spPr bwMode="hidden">
            <a:xfrm>
              <a:off x="5107" y="0"/>
              <a:ext cx="573" cy="1042"/>
            </a:xfrm>
            <a:custGeom>
              <a:avLst/>
              <a:gdLst>
                <a:gd name="T0" fmla="*/ 0 w 574"/>
                <a:gd name="T1" fmla="*/ 0 h 1043"/>
                <a:gd name="T2" fmla="*/ 497 w 574"/>
                <a:gd name="T3" fmla="*/ 1043 h 1043"/>
                <a:gd name="T4" fmla="*/ 574 w 574"/>
                <a:gd name="T5" fmla="*/ 851 h 1043"/>
                <a:gd name="T6" fmla="*/ 251 w 574"/>
                <a:gd name="T7" fmla="*/ 0 h 1043"/>
                <a:gd name="T8" fmla="*/ 0 w 574"/>
                <a:gd name="T9" fmla="*/ 0 h 1043"/>
                <a:gd name="T10" fmla="*/ 0 w 574"/>
                <a:gd name="T11" fmla="*/ 0 h 1043"/>
              </a:gdLst>
              <a:ahLst/>
              <a:cxnLst>
                <a:cxn ang="0">
                  <a:pos x="T0" y="T1"/>
                </a:cxn>
                <a:cxn ang="0">
                  <a:pos x="T2" y="T3"/>
                </a:cxn>
                <a:cxn ang="0">
                  <a:pos x="T4" y="T5"/>
                </a:cxn>
                <a:cxn ang="0">
                  <a:pos x="T6" y="T7"/>
                </a:cxn>
                <a:cxn ang="0">
                  <a:pos x="T8" y="T9"/>
                </a:cxn>
                <a:cxn ang="0">
                  <a:pos x="T10" y="T11"/>
                </a:cxn>
              </a:cxnLst>
              <a:rect l="0" t="0" r="r" b="b"/>
              <a:pathLst>
                <a:path w="574" h="1043">
                  <a:moveTo>
                    <a:pt x="0" y="0"/>
                  </a:moveTo>
                  <a:lnTo>
                    <a:pt x="497" y="1043"/>
                  </a:lnTo>
                  <a:lnTo>
                    <a:pt x="574" y="851"/>
                  </a:lnTo>
                  <a:lnTo>
                    <a:pt x="251" y="0"/>
                  </a:lnTo>
                  <a:lnTo>
                    <a:pt x="0" y="0"/>
                  </a:lnTo>
                  <a:lnTo>
                    <a:pt x="0" y="0"/>
                  </a:lnTo>
                  <a:close/>
                </a:path>
              </a:pathLst>
            </a:custGeom>
            <a:gradFill rotWithShape="0">
              <a:gsLst>
                <a:gs pos="0">
                  <a:schemeClr val="bg2">
                    <a:gamma/>
                    <a:shade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3" name="Freeform 27">
              <a:extLst>
                <a:ext uri="{FF2B5EF4-FFF2-40B4-BE49-F238E27FC236}">
                  <a16:creationId xmlns:a16="http://schemas.microsoft.com/office/drawing/2014/main" id="{28C1508E-0CB9-404A-AA94-CA8ED2C4C3EE}"/>
                </a:ext>
              </a:extLst>
            </p:cNvPr>
            <p:cNvSpPr>
              <a:spLocks/>
            </p:cNvSpPr>
            <p:nvPr/>
          </p:nvSpPr>
          <p:spPr bwMode="hidden">
            <a:xfrm>
              <a:off x="5411" y="0"/>
              <a:ext cx="341" cy="796"/>
            </a:xfrm>
            <a:custGeom>
              <a:avLst/>
              <a:gdLst>
                <a:gd name="T0" fmla="*/ 144 w 341"/>
                <a:gd name="T1" fmla="*/ 0 h 797"/>
                <a:gd name="T2" fmla="*/ 0 w 341"/>
                <a:gd name="T3" fmla="*/ 0 h 797"/>
                <a:gd name="T4" fmla="*/ 287 w 341"/>
                <a:gd name="T5" fmla="*/ 797 h 797"/>
                <a:gd name="T6" fmla="*/ 341 w 341"/>
                <a:gd name="T7" fmla="*/ 653 h 797"/>
                <a:gd name="T8" fmla="*/ 144 w 341"/>
                <a:gd name="T9" fmla="*/ 0 h 797"/>
                <a:gd name="T10" fmla="*/ 144 w 341"/>
                <a:gd name="T11" fmla="*/ 0 h 797"/>
              </a:gdLst>
              <a:ahLst/>
              <a:cxnLst>
                <a:cxn ang="0">
                  <a:pos x="T0" y="T1"/>
                </a:cxn>
                <a:cxn ang="0">
                  <a:pos x="T2" y="T3"/>
                </a:cxn>
                <a:cxn ang="0">
                  <a:pos x="T4" y="T5"/>
                </a:cxn>
                <a:cxn ang="0">
                  <a:pos x="T6" y="T7"/>
                </a:cxn>
                <a:cxn ang="0">
                  <a:pos x="T8" y="T9"/>
                </a:cxn>
                <a:cxn ang="0">
                  <a:pos x="T10" y="T11"/>
                </a:cxn>
              </a:cxnLst>
              <a:rect l="0" t="0" r="r" b="b"/>
              <a:pathLst>
                <a:path w="341" h="797">
                  <a:moveTo>
                    <a:pt x="144" y="0"/>
                  </a:moveTo>
                  <a:lnTo>
                    <a:pt x="0" y="0"/>
                  </a:lnTo>
                  <a:lnTo>
                    <a:pt x="287" y="797"/>
                  </a:lnTo>
                  <a:lnTo>
                    <a:pt x="341" y="653"/>
                  </a:lnTo>
                  <a:lnTo>
                    <a:pt x="144" y="0"/>
                  </a:lnTo>
                  <a:lnTo>
                    <a:pt x="144" y="0"/>
                  </a:lnTo>
                  <a:close/>
                </a:path>
              </a:pathLst>
            </a:custGeom>
            <a:gradFill rotWithShape="0">
              <a:gsLst>
                <a:gs pos="0">
                  <a:schemeClr val="bg2">
                    <a:gamma/>
                    <a:shade val="69804"/>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4" name="Freeform 28">
              <a:extLst>
                <a:ext uri="{FF2B5EF4-FFF2-40B4-BE49-F238E27FC236}">
                  <a16:creationId xmlns:a16="http://schemas.microsoft.com/office/drawing/2014/main" id="{06F7D304-2874-45F2-8BCA-352D986754E1}"/>
                </a:ext>
              </a:extLst>
            </p:cNvPr>
            <p:cNvSpPr>
              <a:spLocks/>
            </p:cNvSpPr>
            <p:nvPr/>
          </p:nvSpPr>
          <p:spPr bwMode="hidden">
            <a:xfrm>
              <a:off x="5698" y="653"/>
              <a:ext cx="60" cy="311"/>
            </a:xfrm>
            <a:custGeom>
              <a:avLst/>
              <a:gdLst>
                <a:gd name="T0" fmla="*/ 0 w 60"/>
                <a:gd name="T1" fmla="*/ 144 h 312"/>
                <a:gd name="T2" fmla="*/ 60 w 60"/>
                <a:gd name="T3" fmla="*/ 312 h 312"/>
                <a:gd name="T4" fmla="*/ 60 w 60"/>
                <a:gd name="T5" fmla="*/ 6 h 312"/>
                <a:gd name="T6" fmla="*/ 54 w 60"/>
                <a:gd name="T7" fmla="*/ 0 h 312"/>
                <a:gd name="T8" fmla="*/ 0 w 60"/>
                <a:gd name="T9" fmla="*/ 144 h 312"/>
                <a:gd name="T10" fmla="*/ 0 w 60"/>
                <a:gd name="T11" fmla="*/ 144 h 312"/>
              </a:gdLst>
              <a:ahLst/>
              <a:cxnLst>
                <a:cxn ang="0">
                  <a:pos x="T0" y="T1"/>
                </a:cxn>
                <a:cxn ang="0">
                  <a:pos x="T2" y="T3"/>
                </a:cxn>
                <a:cxn ang="0">
                  <a:pos x="T4" y="T5"/>
                </a:cxn>
                <a:cxn ang="0">
                  <a:pos x="T6" y="T7"/>
                </a:cxn>
                <a:cxn ang="0">
                  <a:pos x="T8" y="T9"/>
                </a:cxn>
                <a:cxn ang="0">
                  <a:pos x="T10" y="T11"/>
                </a:cxn>
              </a:cxnLst>
              <a:rect l="0" t="0" r="r" b="b"/>
              <a:pathLst>
                <a:path w="60" h="312">
                  <a:moveTo>
                    <a:pt x="0" y="144"/>
                  </a:moveTo>
                  <a:lnTo>
                    <a:pt x="60" y="312"/>
                  </a:lnTo>
                  <a:lnTo>
                    <a:pt x="60" y="6"/>
                  </a:lnTo>
                  <a:lnTo>
                    <a:pt x="54" y="0"/>
                  </a:lnTo>
                  <a:lnTo>
                    <a:pt x="0" y="144"/>
                  </a:lnTo>
                  <a:lnTo>
                    <a:pt x="0" y="14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5" name="Freeform 29">
              <a:extLst>
                <a:ext uri="{FF2B5EF4-FFF2-40B4-BE49-F238E27FC236}">
                  <a16:creationId xmlns:a16="http://schemas.microsoft.com/office/drawing/2014/main" id="{055C0F03-42EE-415D-90FD-A55AC0B23C16}"/>
                </a:ext>
              </a:extLst>
            </p:cNvPr>
            <p:cNvSpPr>
              <a:spLocks/>
            </p:cNvSpPr>
            <p:nvPr/>
          </p:nvSpPr>
          <p:spPr bwMode="hidden">
            <a:xfrm>
              <a:off x="2" y="1601"/>
              <a:ext cx="5752" cy="1864"/>
            </a:xfrm>
            <a:custGeom>
              <a:avLst/>
              <a:gdLst>
                <a:gd name="T0" fmla="*/ 0 w 5740"/>
                <a:gd name="T1" fmla="*/ 371 h 1864"/>
                <a:gd name="T2" fmla="*/ 5740 w 5740"/>
                <a:gd name="T3" fmla="*/ 1864 h 1864"/>
                <a:gd name="T4" fmla="*/ 5740 w 5740"/>
                <a:gd name="T5" fmla="*/ 1834 h 1864"/>
                <a:gd name="T6" fmla="*/ 0 w 5740"/>
                <a:gd name="T7" fmla="*/ 0 h 1864"/>
                <a:gd name="T8" fmla="*/ 0 w 5740"/>
                <a:gd name="T9" fmla="*/ 371 h 1864"/>
                <a:gd name="T10" fmla="*/ 0 w 5740"/>
                <a:gd name="T11" fmla="*/ 371 h 1864"/>
              </a:gdLst>
              <a:ahLst/>
              <a:cxnLst>
                <a:cxn ang="0">
                  <a:pos x="T0" y="T1"/>
                </a:cxn>
                <a:cxn ang="0">
                  <a:pos x="T2" y="T3"/>
                </a:cxn>
                <a:cxn ang="0">
                  <a:pos x="T4" y="T5"/>
                </a:cxn>
                <a:cxn ang="0">
                  <a:pos x="T6" y="T7"/>
                </a:cxn>
                <a:cxn ang="0">
                  <a:pos x="T8" y="T9"/>
                </a:cxn>
                <a:cxn ang="0">
                  <a:pos x="T10" y="T11"/>
                </a:cxn>
              </a:cxnLst>
              <a:rect l="0" t="0" r="r" b="b"/>
              <a:pathLst>
                <a:path w="5740" h="1864">
                  <a:moveTo>
                    <a:pt x="0" y="371"/>
                  </a:moveTo>
                  <a:lnTo>
                    <a:pt x="5740" y="1864"/>
                  </a:lnTo>
                  <a:lnTo>
                    <a:pt x="5740" y="1834"/>
                  </a:lnTo>
                  <a:lnTo>
                    <a:pt x="0" y="0"/>
                  </a:lnTo>
                  <a:lnTo>
                    <a:pt x="0" y="371"/>
                  </a:lnTo>
                  <a:lnTo>
                    <a:pt x="0" y="371"/>
                  </a:lnTo>
                  <a:close/>
                </a:path>
              </a:pathLst>
            </a:custGeom>
            <a:gradFill rotWithShape="0">
              <a:gsLst>
                <a:gs pos="0">
                  <a:schemeClr val="bg1">
                    <a:gamma/>
                    <a:shade val="63529"/>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6" name="Freeform 30">
              <a:extLst>
                <a:ext uri="{FF2B5EF4-FFF2-40B4-BE49-F238E27FC236}">
                  <a16:creationId xmlns:a16="http://schemas.microsoft.com/office/drawing/2014/main" id="{291917FF-0D7B-43AF-9C4B-FAB46BC98E04}"/>
                </a:ext>
              </a:extLst>
            </p:cNvPr>
            <p:cNvSpPr>
              <a:spLocks/>
            </p:cNvSpPr>
            <p:nvPr/>
          </p:nvSpPr>
          <p:spPr bwMode="hidden">
            <a:xfrm>
              <a:off x="5754" y="3483"/>
              <a:ext cx="6" cy="6"/>
            </a:xfrm>
            <a:custGeom>
              <a:avLst/>
              <a:gdLst>
                <a:gd name="T0" fmla="*/ 6 w 6"/>
                <a:gd name="T1" fmla="*/ 6 h 6"/>
                <a:gd name="T2" fmla="*/ 0 w 6"/>
                <a:gd name="T3" fmla="*/ 0 h 6"/>
                <a:gd name="T4" fmla="*/ 0 w 6"/>
                <a:gd name="T5" fmla="*/ 6 h 6"/>
                <a:gd name="T6" fmla="*/ 6 w 6"/>
                <a:gd name="T7" fmla="*/ 6 h 6"/>
                <a:gd name="T8" fmla="*/ 6 w 6"/>
                <a:gd name="T9" fmla="*/ 6 h 6"/>
              </a:gdLst>
              <a:ahLst/>
              <a:cxnLst>
                <a:cxn ang="0">
                  <a:pos x="T0" y="T1"/>
                </a:cxn>
                <a:cxn ang="0">
                  <a:pos x="T2" y="T3"/>
                </a:cxn>
                <a:cxn ang="0">
                  <a:pos x="T4" y="T5"/>
                </a:cxn>
                <a:cxn ang="0">
                  <a:pos x="T6" y="T7"/>
                </a:cxn>
                <a:cxn ang="0">
                  <a:pos x="T8" y="T9"/>
                </a:cxn>
              </a:cxnLst>
              <a:rect l="0" t="0" r="r" b="b"/>
              <a:pathLst>
                <a:path w="6" h="6">
                  <a:moveTo>
                    <a:pt x="6" y="6"/>
                  </a:moveTo>
                  <a:lnTo>
                    <a:pt x="0" y="0"/>
                  </a:lnTo>
                  <a:lnTo>
                    <a:pt x="0" y="6"/>
                  </a:lnTo>
                  <a:lnTo>
                    <a:pt x="6" y="6"/>
                  </a:lnTo>
                  <a:lnTo>
                    <a:pt x="6" y="6"/>
                  </a:lnTo>
                  <a:close/>
                </a:path>
              </a:pathLst>
            </a:custGeom>
            <a:solidFill>
              <a:srgbClr val="18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7" name="Freeform 31">
              <a:extLst>
                <a:ext uri="{FF2B5EF4-FFF2-40B4-BE49-F238E27FC236}">
                  <a16:creationId xmlns:a16="http://schemas.microsoft.com/office/drawing/2014/main" id="{95DFED7E-1457-4359-AE17-0052E50C67AA}"/>
                </a:ext>
              </a:extLst>
            </p:cNvPr>
            <p:cNvSpPr>
              <a:spLocks/>
            </p:cNvSpPr>
            <p:nvPr/>
          </p:nvSpPr>
          <p:spPr bwMode="hidden">
            <a:xfrm>
              <a:off x="2" y="2152"/>
              <a:ext cx="5752" cy="1337"/>
            </a:xfrm>
            <a:custGeom>
              <a:avLst/>
              <a:gdLst>
                <a:gd name="T0" fmla="*/ 0 w 5740"/>
                <a:gd name="T1" fmla="*/ 366 h 1337"/>
                <a:gd name="T2" fmla="*/ 5740 w 5740"/>
                <a:gd name="T3" fmla="*/ 1337 h 1337"/>
                <a:gd name="T4" fmla="*/ 5740 w 5740"/>
                <a:gd name="T5" fmla="*/ 1331 h 1337"/>
                <a:gd name="T6" fmla="*/ 0 w 5740"/>
                <a:gd name="T7" fmla="*/ 0 h 1337"/>
                <a:gd name="T8" fmla="*/ 0 w 5740"/>
                <a:gd name="T9" fmla="*/ 366 h 1337"/>
                <a:gd name="T10" fmla="*/ 0 w 5740"/>
                <a:gd name="T11" fmla="*/ 366 h 1337"/>
              </a:gdLst>
              <a:ahLst/>
              <a:cxnLst>
                <a:cxn ang="0">
                  <a:pos x="T0" y="T1"/>
                </a:cxn>
                <a:cxn ang="0">
                  <a:pos x="T2" y="T3"/>
                </a:cxn>
                <a:cxn ang="0">
                  <a:pos x="T4" y="T5"/>
                </a:cxn>
                <a:cxn ang="0">
                  <a:pos x="T6" y="T7"/>
                </a:cxn>
                <a:cxn ang="0">
                  <a:pos x="T8" y="T9"/>
                </a:cxn>
                <a:cxn ang="0">
                  <a:pos x="T10" y="T11"/>
                </a:cxn>
              </a:cxnLst>
              <a:rect l="0" t="0" r="r" b="b"/>
              <a:pathLst>
                <a:path w="5740" h="1337">
                  <a:moveTo>
                    <a:pt x="0" y="366"/>
                  </a:moveTo>
                  <a:lnTo>
                    <a:pt x="5740" y="1337"/>
                  </a:lnTo>
                  <a:lnTo>
                    <a:pt x="5740" y="1331"/>
                  </a:lnTo>
                  <a:lnTo>
                    <a:pt x="0" y="0"/>
                  </a:lnTo>
                  <a:lnTo>
                    <a:pt x="0" y="366"/>
                  </a:lnTo>
                  <a:lnTo>
                    <a:pt x="0" y="366"/>
                  </a:lnTo>
                  <a:close/>
                </a:path>
              </a:pathLst>
            </a:custGeom>
            <a:gradFill rotWithShape="0">
              <a:gsLst>
                <a:gs pos="0">
                  <a:schemeClr val="bg1">
                    <a:gamma/>
                    <a:shade val="6078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8" name="Freeform 32">
              <a:extLst>
                <a:ext uri="{FF2B5EF4-FFF2-40B4-BE49-F238E27FC236}">
                  <a16:creationId xmlns:a16="http://schemas.microsoft.com/office/drawing/2014/main" id="{7ED6F6FC-C9B9-4EA6-95AE-A54C027401CB}"/>
                </a:ext>
              </a:extLst>
            </p:cNvPr>
            <p:cNvSpPr>
              <a:spLocks/>
            </p:cNvSpPr>
            <p:nvPr/>
          </p:nvSpPr>
          <p:spPr bwMode="hidden">
            <a:xfrm>
              <a:off x="2" y="3177"/>
              <a:ext cx="5752" cy="414"/>
            </a:xfrm>
            <a:custGeom>
              <a:avLst/>
              <a:gdLst>
                <a:gd name="T0" fmla="*/ 0 w 5740"/>
                <a:gd name="T1" fmla="*/ 48 h 414"/>
                <a:gd name="T2" fmla="*/ 5740 w 5740"/>
                <a:gd name="T3" fmla="*/ 414 h 414"/>
                <a:gd name="T4" fmla="*/ 5740 w 5740"/>
                <a:gd name="T5" fmla="*/ 402 h 414"/>
                <a:gd name="T6" fmla="*/ 0 w 5740"/>
                <a:gd name="T7" fmla="*/ 0 h 414"/>
                <a:gd name="T8" fmla="*/ 0 w 5740"/>
                <a:gd name="T9" fmla="*/ 48 h 414"/>
                <a:gd name="T10" fmla="*/ 0 w 5740"/>
                <a:gd name="T11" fmla="*/ 48 h 414"/>
              </a:gdLst>
              <a:ahLst/>
              <a:cxnLst>
                <a:cxn ang="0">
                  <a:pos x="T0" y="T1"/>
                </a:cxn>
                <a:cxn ang="0">
                  <a:pos x="T2" y="T3"/>
                </a:cxn>
                <a:cxn ang="0">
                  <a:pos x="T4" y="T5"/>
                </a:cxn>
                <a:cxn ang="0">
                  <a:pos x="T6" y="T7"/>
                </a:cxn>
                <a:cxn ang="0">
                  <a:pos x="T8" y="T9"/>
                </a:cxn>
                <a:cxn ang="0">
                  <a:pos x="T10" y="T11"/>
                </a:cxn>
              </a:cxnLst>
              <a:rect l="0" t="0" r="r" b="b"/>
              <a:pathLst>
                <a:path w="5740" h="414">
                  <a:moveTo>
                    <a:pt x="0" y="48"/>
                  </a:moveTo>
                  <a:lnTo>
                    <a:pt x="5740" y="414"/>
                  </a:lnTo>
                  <a:lnTo>
                    <a:pt x="5740" y="402"/>
                  </a:lnTo>
                  <a:lnTo>
                    <a:pt x="0" y="0"/>
                  </a:lnTo>
                  <a:lnTo>
                    <a:pt x="0" y="48"/>
                  </a:lnTo>
                  <a:lnTo>
                    <a:pt x="0" y="48"/>
                  </a:lnTo>
                  <a:close/>
                </a:path>
              </a:pathLst>
            </a:custGeom>
            <a:gradFill rotWithShape="0">
              <a:gsLst>
                <a:gs pos="0">
                  <a:schemeClr val="bg1">
                    <a:gamma/>
                    <a:shade val="84706"/>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9" name="Freeform 33">
              <a:extLst>
                <a:ext uri="{FF2B5EF4-FFF2-40B4-BE49-F238E27FC236}">
                  <a16:creationId xmlns:a16="http://schemas.microsoft.com/office/drawing/2014/main" id="{026BE627-219C-4DFF-B296-7AA541C82542}"/>
                </a:ext>
              </a:extLst>
            </p:cNvPr>
            <p:cNvSpPr>
              <a:spLocks/>
            </p:cNvSpPr>
            <p:nvPr/>
          </p:nvSpPr>
          <p:spPr bwMode="hidden">
            <a:xfrm>
              <a:off x="1297" y="0"/>
              <a:ext cx="4457" cy="3177"/>
            </a:xfrm>
            <a:custGeom>
              <a:avLst/>
              <a:gdLst>
                <a:gd name="T0" fmla="*/ 0 w 4448"/>
                <a:gd name="T1" fmla="*/ 0 h 3177"/>
                <a:gd name="T2" fmla="*/ 4448 w 4448"/>
                <a:gd name="T3" fmla="*/ 3177 h 3177"/>
                <a:gd name="T4" fmla="*/ 4448 w 4448"/>
                <a:gd name="T5" fmla="*/ 3153 h 3177"/>
                <a:gd name="T6" fmla="*/ 125 w 4448"/>
                <a:gd name="T7" fmla="*/ 0 h 3177"/>
                <a:gd name="T8" fmla="*/ 0 w 4448"/>
                <a:gd name="T9" fmla="*/ 0 h 3177"/>
                <a:gd name="T10" fmla="*/ 0 w 4448"/>
                <a:gd name="T11" fmla="*/ 0 h 3177"/>
              </a:gdLst>
              <a:ahLst/>
              <a:cxnLst>
                <a:cxn ang="0">
                  <a:pos x="T0" y="T1"/>
                </a:cxn>
                <a:cxn ang="0">
                  <a:pos x="T2" y="T3"/>
                </a:cxn>
                <a:cxn ang="0">
                  <a:pos x="T4" y="T5"/>
                </a:cxn>
                <a:cxn ang="0">
                  <a:pos x="T6" y="T7"/>
                </a:cxn>
                <a:cxn ang="0">
                  <a:pos x="T8" y="T9"/>
                </a:cxn>
                <a:cxn ang="0">
                  <a:pos x="T10" y="T11"/>
                </a:cxn>
              </a:cxnLst>
              <a:rect l="0" t="0" r="r" b="b"/>
              <a:pathLst>
                <a:path w="4448" h="3177">
                  <a:moveTo>
                    <a:pt x="0" y="0"/>
                  </a:moveTo>
                  <a:lnTo>
                    <a:pt x="4448" y="3177"/>
                  </a:lnTo>
                  <a:lnTo>
                    <a:pt x="4448" y="3153"/>
                  </a:lnTo>
                  <a:lnTo>
                    <a:pt x="125" y="0"/>
                  </a:lnTo>
                  <a:lnTo>
                    <a:pt x="0" y="0"/>
                  </a:lnTo>
                  <a:lnTo>
                    <a:pt x="0" y="0"/>
                  </a:lnTo>
                  <a:close/>
                </a:path>
              </a:pathLst>
            </a:custGeom>
            <a:gradFill rotWithShape="0">
              <a:gsLst>
                <a:gs pos="0">
                  <a:schemeClr val="bg1">
                    <a:gamma/>
                    <a:shade val="48627"/>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90" name="Freeform 34">
              <a:extLst>
                <a:ext uri="{FF2B5EF4-FFF2-40B4-BE49-F238E27FC236}">
                  <a16:creationId xmlns:a16="http://schemas.microsoft.com/office/drawing/2014/main" id="{8D51F1C1-D626-41CA-A8E1-BE79EC425B98}"/>
                </a:ext>
              </a:extLst>
            </p:cNvPr>
            <p:cNvSpPr>
              <a:spLocks/>
            </p:cNvSpPr>
            <p:nvPr/>
          </p:nvSpPr>
          <p:spPr bwMode="hidden">
            <a:xfrm>
              <a:off x="3321" y="0"/>
              <a:ext cx="2433" cy="2614"/>
            </a:xfrm>
            <a:custGeom>
              <a:avLst/>
              <a:gdLst>
                <a:gd name="T0" fmla="*/ 0 w 2428"/>
                <a:gd name="T1" fmla="*/ 0 h 2614"/>
                <a:gd name="T2" fmla="*/ 2428 w 2428"/>
                <a:gd name="T3" fmla="*/ 2614 h 2614"/>
                <a:gd name="T4" fmla="*/ 2428 w 2428"/>
                <a:gd name="T5" fmla="*/ 2608 h 2614"/>
                <a:gd name="T6" fmla="*/ 66 w 2428"/>
                <a:gd name="T7" fmla="*/ 0 h 2614"/>
                <a:gd name="T8" fmla="*/ 0 w 2428"/>
                <a:gd name="T9" fmla="*/ 0 h 2614"/>
                <a:gd name="T10" fmla="*/ 0 w 2428"/>
                <a:gd name="T11" fmla="*/ 0 h 2614"/>
              </a:gdLst>
              <a:ahLst/>
              <a:cxnLst>
                <a:cxn ang="0">
                  <a:pos x="T0" y="T1"/>
                </a:cxn>
                <a:cxn ang="0">
                  <a:pos x="T2" y="T3"/>
                </a:cxn>
                <a:cxn ang="0">
                  <a:pos x="T4" y="T5"/>
                </a:cxn>
                <a:cxn ang="0">
                  <a:pos x="T6" y="T7"/>
                </a:cxn>
                <a:cxn ang="0">
                  <a:pos x="T8" y="T9"/>
                </a:cxn>
                <a:cxn ang="0">
                  <a:pos x="T10" y="T11"/>
                </a:cxn>
              </a:cxnLst>
              <a:rect l="0" t="0" r="r" b="b"/>
              <a:pathLst>
                <a:path w="2428" h="2614">
                  <a:moveTo>
                    <a:pt x="0" y="0"/>
                  </a:moveTo>
                  <a:lnTo>
                    <a:pt x="2428" y="2614"/>
                  </a:lnTo>
                  <a:lnTo>
                    <a:pt x="2428" y="2608"/>
                  </a:lnTo>
                  <a:lnTo>
                    <a:pt x="66" y="0"/>
                  </a:lnTo>
                  <a:lnTo>
                    <a:pt x="0" y="0"/>
                  </a:lnTo>
                  <a:lnTo>
                    <a:pt x="0" y="0"/>
                  </a:lnTo>
                  <a:close/>
                </a:path>
              </a:pathLst>
            </a:custGeom>
            <a:gradFill rotWithShape="0">
              <a:gsLst>
                <a:gs pos="0">
                  <a:schemeClr val="bg1">
                    <a:gamma/>
                    <a:shade val="84706"/>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91" name="Freeform 35">
              <a:extLst>
                <a:ext uri="{FF2B5EF4-FFF2-40B4-BE49-F238E27FC236}">
                  <a16:creationId xmlns:a16="http://schemas.microsoft.com/office/drawing/2014/main" id="{E1A3545F-E750-426C-AFC7-022EB17514FF}"/>
                </a:ext>
              </a:extLst>
            </p:cNvPr>
            <p:cNvSpPr>
              <a:spLocks/>
            </p:cNvSpPr>
            <p:nvPr/>
          </p:nvSpPr>
          <p:spPr bwMode="hidden">
            <a:xfrm>
              <a:off x="3950" y="0"/>
              <a:ext cx="1804" cy="2464"/>
            </a:xfrm>
            <a:custGeom>
              <a:avLst/>
              <a:gdLst>
                <a:gd name="T0" fmla="*/ 485 w 1800"/>
                <a:gd name="T1" fmla="*/ 0 h 2464"/>
                <a:gd name="T2" fmla="*/ 0 w 1800"/>
                <a:gd name="T3" fmla="*/ 0 h 2464"/>
                <a:gd name="T4" fmla="*/ 1800 w 1800"/>
                <a:gd name="T5" fmla="*/ 2464 h 2464"/>
                <a:gd name="T6" fmla="*/ 1800 w 1800"/>
                <a:gd name="T7" fmla="*/ 2248 h 2464"/>
                <a:gd name="T8" fmla="*/ 1794 w 1800"/>
                <a:gd name="T9" fmla="*/ 2248 h 2464"/>
                <a:gd name="T10" fmla="*/ 485 w 1800"/>
                <a:gd name="T11" fmla="*/ 0 h 2464"/>
                <a:gd name="T12" fmla="*/ 485 w 1800"/>
                <a:gd name="T13" fmla="*/ 0 h 2464"/>
              </a:gdLst>
              <a:ahLst/>
              <a:cxnLst>
                <a:cxn ang="0">
                  <a:pos x="T0" y="T1"/>
                </a:cxn>
                <a:cxn ang="0">
                  <a:pos x="T2" y="T3"/>
                </a:cxn>
                <a:cxn ang="0">
                  <a:pos x="T4" y="T5"/>
                </a:cxn>
                <a:cxn ang="0">
                  <a:pos x="T6" y="T7"/>
                </a:cxn>
                <a:cxn ang="0">
                  <a:pos x="T8" y="T9"/>
                </a:cxn>
                <a:cxn ang="0">
                  <a:pos x="T10" y="T11"/>
                </a:cxn>
                <a:cxn ang="0">
                  <a:pos x="T12" y="T13"/>
                </a:cxn>
              </a:cxnLst>
              <a:rect l="0" t="0"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chemeClr val="bg2">
                    <a:gamma/>
                    <a:shade val="78824"/>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92" name="Freeform 36">
              <a:extLst>
                <a:ext uri="{FF2B5EF4-FFF2-40B4-BE49-F238E27FC236}">
                  <a16:creationId xmlns:a16="http://schemas.microsoft.com/office/drawing/2014/main" id="{DC2B9160-3EC9-402E-89B6-53E8556A0129}"/>
                </a:ext>
              </a:extLst>
            </p:cNvPr>
            <p:cNvSpPr>
              <a:spLocks/>
            </p:cNvSpPr>
            <p:nvPr/>
          </p:nvSpPr>
          <p:spPr bwMode="hidden">
            <a:xfrm>
              <a:off x="4519" y="0"/>
              <a:ext cx="1235" cy="2074"/>
            </a:xfrm>
            <a:custGeom>
              <a:avLst/>
              <a:gdLst>
                <a:gd name="T0" fmla="*/ 0 w 1232"/>
                <a:gd name="T1" fmla="*/ 0 h 2074"/>
                <a:gd name="T2" fmla="*/ 1232 w 1232"/>
                <a:gd name="T3" fmla="*/ 2074 h 2074"/>
                <a:gd name="T4" fmla="*/ 1232 w 1232"/>
                <a:gd name="T5" fmla="*/ 2038 h 2074"/>
                <a:gd name="T6" fmla="*/ 42 w 1232"/>
                <a:gd name="T7" fmla="*/ 0 h 2074"/>
                <a:gd name="T8" fmla="*/ 0 w 1232"/>
                <a:gd name="T9" fmla="*/ 0 h 2074"/>
                <a:gd name="T10" fmla="*/ 0 w 1232"/>
                <a:gd name="T11" fmla="*/ 0 h 2074"/>
              </a:gdLst>
              <a:ahLst/>
              <a:cxnLst>
                <a:cxn ang="0">
                  <a:pos x="T0" y="T1"/>
                </a:cxn>
                <a:cxn ang="0">
                  <a:pos x="T2" y="T3"/>
                </a:cxn>
                <a:cxn ang="0">
                  <a:pos x="T4" y="T5"/>
                </a:cxn>
                <a:cxn ang="0">
                  <a:pos x="T6" y="T7"/>
                </a:cxn>
                <a:cxn ang="0">
                  <a:pos x="T8" y="T9"/>
                </a:cxn>
                <a:cxn ang="0">
                  <a:pos x="T10" y="T11"/>
                </a:cxn>
              </a:cxnLst>
              <a:rect l="0" t="0" r="r" b="b"/>
              <a:pathLst>
                <a:path w="1232" h="2074">
                  <a:moveTo>
                    <a:pt x="0" y="0"/>
                  </a:moveTo>
                  <a:lnTo>
                    <a:pt x="1232" y="2074"/>
                  </a:lnTo>
                  <a:lnTo>
                    <a:pt x="1232" y="2038"/>
                  </a:lnTo>
                  <a:lnTo>
                    <a:pt x="42" y="0"/>
                  </a:lnTo>
                  <a:lnTo>
                    <a:pt x="0" y="0"/>
                  </a:lnTo>
                  <a:lnTo>
                    <a:pt x="0" y="0"/>
                  </a:lnTo>
                  <a:close/>
                </a:path>
              </a:pathLst>
            </a:custGeom>
            <a:gradFill rotWithShape="0">
              <a:gsLst>
                <a:gs pos="0">
                  <a:schemeClr val="bg1">
                    <a:gamma/>
                    <a:shade val="57647"/>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93" name="Freeform 37">
              <a:extLst>
                <a:ext uri="{FF2B5EF4-FFF2-40B4-BE49-F238E27FC236}">
                  <a16:creationId xmlns:a16="http://schemas.microsoft.com/office/drawing/2014/main" id="{9D0237F1-B374-4C92-8FE4-C4F242472560}"/>
                </a:ext>
              </a:extLst>
            </p:cNvPr>
            <p:cNvSpPr>
              <a:spLocks/>
            </p:cNvSpPr>
            <p:nvPr/>
          </p:nvSpPr>
          <p:spPr bwMode="hidden">
            <a:xfrm>
              <a:off x="4694" y="0"/>
              <a:ext cx="1060" cy="1936"/>
            </a:xfrm>
            <a:custGeom>
              <a:avLst/>
              <a:gdLst>
                <a:gd name="T0" fmla="*/ 0 w 1058"/>
                <a:gd name="T1" fmla="*/ 0 h 1936"/>
                <a:gd name="T2" fmla="*/ 1058 w 1058"/>
                <a:gd name="T3" fmla="*/ 1936 h 1936"/>
                <a:gd name="T4" fmla="*/ 1058 w 1058"/>
                <a:gd name="T5" fmla="*/ 1930 h 1936"/>
                <a:gd name="T6" fmla="*/ 54 w 1058"/>
                <a:gd name="T7" fmla="*/ 0 h 1936"/>
                <a:gd name="T8" fmla="*/ 0 w 1058"/>
                <a:gd name="T9" fmla="*/ 0 h 1936"/>
                <a:gd name="T10" fmla="*/ 0 w 1058"/>
                <a:gd name="T11" fmla="*/ 0 h 1936"/>
              </a:gdLst>
              <a:ahLst/>
              <a:cxnLst>
                <a:cxn ang="0">
                  <a:pos x="T0" y="T1"/>
                </a:cxn>
                <a:cxn ang="0">
                  <a:pos x="T2" y="T3"/>
                </a:cxn>
                <a:cxn ang="0">
                  <a:pos x="T4" y="T5"/>
                </a:cxn>
                <a:cxn ang="0">
                  <a:pos x="T6" y="T7"/>
                </a:cxn>
                <a:cxn ang="0">
                  <a:pos x="T8" y="T9"/>
                </a:cxn>
                <a:cxn ang="0">
                  <a:pos x="T10" y="T11"/>
                </a:cxn>
              </a:cxnLst>
              <a:rect l="0" t="0" r="r" b="b"/>
              <a:pathLst>
                <a:path w="1058" h="1936">
                  <a:moveTo>
                    <a:pt x="0" y="0"/>
                  </a:moveTo>
                  <a:lnTo>
                    <a:pt x="1058" y="1936"/>
                  </a:lnTo>
                  <a:lnTo>
                    <a:pt x="1058" y="1930"/>
                  </a:lnTo>
                  <a:lnTo>
                    <a:pt x="54" y="0"/>
                  </a:lnTo>
                  <a:lnTo>
                    <a:pt x="0" y="0"/>
                  </a:lnTo>
                  <a:lnTo>
                    <a:pt x="0" y="0"/>
                  </a:lnTo>
                  <a:close/>
                </a:path>
              </a:pathLst>
            </a:custGeom>
            <a:gradFill rotWithShape="0">
              <a:gsLst>
                <a:gs pos="0">
                  <a:schemeClr val="bg1">
                    <a:gamma/>
                    <a:shade val="72549"/>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94" name="Freeform 38">
              <a:extLst>
                <a:ext uri="{FF2B5EF4-FFF2-40B4-BE49-F238E27FC236}">
                  <a16:creationId xmlns:a16="http://schemas.microsoft.com/office/drawing/2014/main" id="{5A0496E9-042D-4E09-B08E-6581FD01A3E9}"/>
                </a:ext>
              </a:extLst>
            </p:cNvPr>
            <p:cNvSpPr>
              <a:spLocks/>
            </p:cNvSpPr>
            <p:nvPr/>
          </p:nvSpPr>
          <p:spPr bwMode="hidden">
            <a:xfrm>
              <a:off x="4981" y="0"/>
              <a:ext cx="773" cy="1487"/>
            </a:xfrm>
            <a:custGeom>
              <a:avLst/>
              <a:gdLst>
                <a:gd name="T0" fmla="*/ 771 w 771"/>
                <a:gd name="T1" fmla="*/ 1433 h 1487"/>
                <a:gd name="T2" fmla="*/ 42 w 771"/>
                <a:gd name="T3" fmla="*/ 0 h 1487"/>
                <a:gd name="T4" fmla="*/ 0 w 771"/>
                <a:gd name="T5" fmla="*/ 0 h 1487"/>
                <a:gd name="T6" fmla="*/ 771 w 771"/>
                <a:gd name="T7" fmla="*/ 1487 h 1487"/>
                <a:gd name="T8" fmla="*/ 771 w 771"/>
                <a:gd name="T9" fmla="*/ 1433 h 1487"/>
                <a:gd name="T10" fmla="*/ 771 w 771"/>
                <a:gd name="T11" fmla="*/ 1433 h 1487"/>
              </a:gdLst>
              <a:ahLst/>
              <a:cxnLst>
                <a:cxn ang="0">
                  <a:pos x="T0" y="T1"/>
                </a:cxn>
                <a:cxn ang="0">
                  <a:pos x="T2" y="T3"/>
                </a:cxn>
                <a:cxn ang="0">
                  <a:pos x="T4" y="T5"/>
                </a:cxn>
                <a:cxn ang="0">
                  <a:pos x="T6" y="T7"/>
                </a:cxn>
                <a:cxn ang="0">
                  <a:pos x="T8" y="T9"/>
                </a:cxn>
                <a:cxn ang="0">
                  <a:pos x="T10" y="T11"/>
                </a:cxn>
              </a:cxnLst>
              <a:rect l="0" t="0" r="r" b="b"/>
              <a:pathLst>
                <a:path w="771" h="1487">
                  <a:moveTo>
                    <a:pt x="771" y="1433"/>
                  </a:moveTo>
                  <a:lnTo>
                    <a:pt x="42" y="0"/>
                  </a:lnTo>
                  <a:lnTo>
                    <a:pt x="0" y="0"/>
                  </a:lnTo>
                  <a:lnTo>
                    <a:pt x="771" y="1487"/>
                  </a:lnTo>
                  <a:lnTo>
                    <a:pt x="771" y="1433"/>
                  </a:lnTo>
                  <a:lnTo>
                    <a:pt x="771" y="1433"/>
                  </a:lnTo>
                  <a:close/>
                </a:path>
              </a:pathLst>
            </a:custGeom>
            <a:gradFill rotWithShape="0">
              <a:gsLst>
                <a:gs pos="0">
                  <a:schemeClr val="bg1">
                    <a:gamma/>
                    <a:shade val="7882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grpSp>
          <p:nvGrpSpPr>
            <p:cNvPr id="224295" name="Group 39">
              <a:extLst>
                <a:ext uri="{FF2B5EF4-FFF2-40B4-BE49-F238E27FC236}">
                  <a16:creationId xmlns:a16="http://schemas.microsoft.com/office/drawing/2014/main" id="{FC8F8137-115D-4E1C-84C3-FAB19685E8CF}"/>
                </a:ext>
              </a:extLst>
            </p:cNvPr>
            <p:cNvGrpSpPr>
              <a:grpSpLocks/>
            </p:cNvGrpSpPr>
            <p:nvPr userDrawn="1"/>
          </p:nvGrpSpPr>
          <p:grpSpPr bwMode="auto">
            <a:xfrm>
              <a:off x="0" y="1632"/>
              <a:ext cx="5758" cy="1858"/>
              <a:chOff x="0" y="1632"/>
              <a:chExt cx="5758" cy="1858"/>
            </a:xfrm>
          </p:grpSpPr>
          <p:sp>
            <p:nvSpPr>
              <p:cNvPr id="224296" name="Freeform 40">
                <a:extLst>
                  <a:ext uri="{FF2B5EF4-FFF2-40B4-BE49-F238E27FC236}">
                    <a16:creationId xmlns:a16="http://schemas.microsoft.com/office/drawing/2014/main" id="{F9DCBEE8-2F12-43AF-A2E2-F72293FA8EC8}"/>
                  </a:ext>
                </a:extLst>
              </p:cNvPr>
              <p:cNvSpPr>
                <a:spLocks/>
              </p:cNvSpPr>
              <p:nvPr/>
            </p:nvSpPr>
            <p:spPr bwMode="hidden">
              <a:xfrm>
                <a:off x="0" y="1632"/>
                <a:ext cx="3670" cy="1313"/>
              </a:xfrm>
              <a:custGeom>
                <a:avLst/>
                <a:gdLst>
                  <a:gd name="T0" fmla="*/ 0 w 3659"/>
                  <a:gd name="T1" fmla="*/ 0 h 1313"/>
                  <a:gd name="T2" fmla="*/ 0 w 3659"/>
                  <a:gd name="T3" fmla="*/ 366 h 1313"/>
                  <a:gd name="T4" fmla="*/ 3635 w 3659"/>
                  <a:gd name="T5" fmla="*/ 1313 h 1313"/>
                  <a:gd name="T6" fmla="*/ 3647 w 3659"/>
                  <a:gd name="T7" fmla="*/ 1235 h 1313"/>
                  <a:gd name="T8" fmla="*/ 3659 w 3659"/>
                  <a:gd name="T9" fmla="*/ 1163 h 1313"/>
                  <a:gd name="T10" fmla="*/ 0 w 3659"/>
                  <a:gd name="T11" fmla="*/ 0 h 1313"/>
                  <a:gd name="T12" fmla="*/ 0 w 3659"/>
                  <a:gd name="T13" fmla="*/ 0 h 1313"/>
                </a:gdLst>
                <a:ahLst/>
                <a:cxnLst>
                  <a:cxn ang="0">
                    <a:pos x="T0" y="T1"/>
                  </a:cxn>
                  <a:cxn ang="0">
                    <a:pos x="T2" y="T3"/>
                  </a:cxn>
                  <a:cxn ang="0">
                    <a:pos x="T4" y="T5"/>
                  </a:cxn>
                  <a:cxn ang="0">
                    <a:pos x="T6" y="T7"/>
                  </a:cxn>
                  <a:cxn ang="0">
                    <a:pos x="T8" y="T9"/>
                  </a:cxn>
                  <a:cxn ang="0">
                    <a:pos x="T10" y="T11"/>
                  </a:cxn>
                  <a:cxn ang="0">
                    <a:pos x="T12" y="T13"/>
                  </a:cxn>
                </a:cxnLst>
                <a:rect l="0" t="0"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chemeClr val="bg1">
                      <a:gamma/>
                      <a:shade val="72549"/>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97" name="Freeform 41">
                <a:extLst>
                  <a:ext uri="{FF2B5EF4-FFF2-40B4-BE49-F238E27FC236}">
                    <a16:creationId xmlns:a16="http://schemas.microsoft.com/office/drawing/2014/main" id="{1D34F53A-038E-4AF2-A501-5E4984664C01}"/>
                  </a:ext>
                </a:extLst>
              </p:cNvPr>
              <p:cNvSpPr>
                <a:spLocks/>
              </p:cNvSpPr>
              <p:nvPr/>
            </p:nvSpPr>
            <p:spPr bwMode="hidden">
              <a:xfrm>
                <a:off x="3646" y="2795"/>
                <a:ext cx="2112" cy="695"/>
              </a:xfrm>
              <a:custGeom>
                <a:avLst/>
                <a:gdLst>
                  <a:gd name="T0" fmla="*/ 2105 w 2105"/>
                  <a:gd name="T1" fmla="*/ 665 h 695"/>
                  <a:gd name="T2" fmla="*/ 24 w 2105"/>
                  <a:gd name="T3" fmla="*/ 0 h 695"/>
                  <a:gd name="T4" fmla="*/ 12 w 2105"/>
                  <a:gd name="T5" fmla="*/ 72 h 695"/>
                  <a:gd name="T6" fmla="*/ 0 w 2105"/>
                  <a:gd name="T7" fmla="*/ 150 h 695"/>
                  <a:gd name="T8" fmla="*/ 2105 w 2105"/>
                  <a:gd name="T9" fmla="*/ 695 h 695"/>
                  <a:gd name="T10" fmla="*/ 2105 w 2105"/>
                  <a:gd name="T11" fmla="*/ 665 h 695"/>
                  <a:gd name="T12" fmla="*/ 2105 w 2105"/>
                  <a:gd name="T13" fmla="*/ 665 h 695"/>
                </a:gdLst>
                <a:ahLst/>
                <a:cxnLst>
                  <a:cxn ang="0">
                    <a:pos x="T0" y="T1"/>
                  </a:cxn>
                  <a:cxn ang="0">
                    <a:pos x="T2" y="T3"/>
                  </a:cxn>
                  <a:cxn ang="0">
                    <a:pos x="T4" y="T5"/>
                  </a:cxn>
                  <a:cxn ang="0">
                    <a:pos x="T6" y="T7"/>
                  </a:cxn>
                  <a:cxn ang="0">
                    <a:pos x="T8" y="T9"/>
                  </a:cxn>
                  <a:cxn ang="0">
                    <a:pos x="T10" y="T11"/>
                  </a:cxn>
                  <a:cxn ang="0">
                    <a:pos x="T12" y="T13"/>
                  </a:cxn>
                </a:cxnLst>
                <a:rect l="0" t="0"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chemeClr val="bg1">
                      <a:gamma/>
                      <a:tint val="90980"/>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grpSp>
      </p:grpSp>
      <p:sp>
        <p:nvSpPr>
          <p:cNvPr id="224298" name="Rectangle 42">
            <a:extLst>
              <a:ext uri="{FF2B5EF4-FFF2-40B4-BE49-F238E27FC236}">
                <a16:creationId xmlns:a16="http://schemas.microsoft.com/office/drawing/2014/main" id="{04DEAA6E-2ABF-492C-B74C-3FD73BB26125}"/>
              </a:ext>
            </a:extLst>
          </p:cNvPr>
          <p:cNvSpPr>
            <a:spLocks noGrp="1" noChangeArrowheads="1"/>
          </p:cNvSpPr>
          <p:nvPr>
            <p:ph type="title"/>
          </p:nvPr>
        </p:nvSpPr>
        <p:spPr bwMode="auto">
          <a:xfrm>
            <a:off x="457200" y="208360"/>
            <a:ext cx="82296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24299" name="Rectangle 43">
            <a:extLst>
              <a:ext uri="{FF2B5EF4-FFF2-40B4-BE49-F238E27FC236}">
                <a16:creationId xmlns:a16="http://schemas.microsoft.com/office/drawing/2014/main" id="{9C8AE281-422D-427E-A9C2-B6B5629D8374}"/>
              </a:ext>
            </a:extLst>
          </p:cNvPr>
          <p:cNvSpPr>
            <a:spLocks noGrp="1" noChangeArrowheads="1"/>
          </p:cNvSpPr>
          <p:nvPr>
            <p:ph type="body" idx="1"/>
          </p:nvPr>
        </p:nvSpPr>
        <p:spPr bwMode="auto">
          <a:xfrm>
            <a:off x="457200" y="1200150"/>
            <a:ext cx="8229600" cy="3398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4300" name="Rectangle 44">
            <a:extLst>
              <a:ext uri="{FF2B5EF4-FFF2-40B4-BE49-F238E27FC236}">
                <a16:creationId xmlns:a16="http://schemas.microsoft.com/office/drawing/2014/main" id="{255C86AC-0FDA-4CBE-8041-D4471000958F}"/>
              </a:ext>
            </a:extLst>
          </p:cNvPr>
          <p:cNvSpPr>
            <a:spLocks noGrp="1" noChangeArrowheads="1"/>
          </p:cNvSpPr>
          <p:nvPr>
            <p:ph type="dt" sz="half" idx="2"/>
          </p:nvPr>
        </p:nvSpPr>
        <p:spPr bwMode="auto">
          <a:xfrm>
            <a:off x="457200" y="4682729"/>
            <a:ext cx="2133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900">
                <a:effectLst>
                  <a:outerShdw blurRad="38100" dist="38100" dir="2700000" algn="tl">
                    <a:srgbClr val="000000"/>
                  </a:outerShdw>
                </a:effectLst>
                <a:ea typeface="+mn-ea"/>
              </a:defRPr>
            </a:lvl1pPr>
          </a:lstStyle>
          <a:p>
            <a:endParaRPr lang="en-US" altLang="zh-CN"/>
          </a:p>
        </p:txBody>
      </p:sp>
      <p:sp>
        <p:nvSpPr>
          <p:cNvPr id="224301" name="Rectangle 45">
            <a:extLst>
              <a:ext uri="{FF2B5EF4-FFF2-40B4-BE49-F238E27FC236}">
                <a16:creationId xmlns:a16="http://schemas.microsoft.com/office/drawing/2014/main" id="{E308069E-E5FE-4BA7-8335-23FC7748D83E}"/>
              </a:ext>
            </a:extLst>
          </p:cNvPr>
          <p:cNvSpPr>
            <a:spLocks noGrp="1" noChangeArrowheads="1"/>
          </p:cNvSpPr>
          <p:nvPr>
            <p:ph type="ftr" sz="quarter" idx="3"/>
          </p:nvPr>
        </p:nvSpPr>
        <p:spPr bwMode="auto">
          <a:xfrm>
            <a:off x="3124200" y="4686300"/>
            <a:ext cx="2895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900">
                <a:effectLst>
                  <a:outerShdw blurRad="38100" dist="38100" dir="2700000" algn="tl">
                    <a:srgbClr val="000000"/>
                  </a:outerShdw>
                </a:effectLst>
                <a:ea typeface="+mn-ea"/>
              </a:defRPr>
            </a:lvl1pPr>
          </a:lstStyle>
          <a:p>
            <a:endParaRPr lang="en-US" altLang="zh-CN"/>
          </a:p>
        </p:txBody>
      </p:sp>
      <p:sp>
        <p:nvSpPr>
          <p:cNvPr id="224302" name="Rectangle 46">
            <a:extLst>
              <a:ext uri="{FF2B5EF4-FFF2-40B4-BE49-F238E27FC236}">
                <a16:creationId xmlns:a16="http://schemas.microsoft.com/office/drawing/2014/main" id="{240E37DB-31B5-43F9-9ADD-8CECE924C4AD}"/>
              </a:ext>
            </a:extLst>
          </p:cNvPr>
          <p:cNvSpPr>
            <a:spLocks noGrp="1" noChangeArrowheads="1"/>
          </p:cNvSpPr>
          <p:nvPr>
            <p:ph type="sldNum" sz="quarter" idx="4"/>
          </p:nvPr>
        </p:nvSpPr>
        <p:spPr bwMode="auto">
          <a:xfrm>
            <a:off x="6553200" y="4682729"/>
            <a:ext cx="2133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900">
                <a:effectLst>
                  <a:outerShdw blurRad="38100" dist="38100" dir="2700000" algn="tl">
                    <a:srgbClr val="000000"/>
                  </a:outerShdw>
                </a:effectLst>
                <a:ea typeface="+mn-ea"/>
              </a:defRPr>
            </a:lvl1pPr>
          </a:lstStyle>
          <a:p>
            <a:fld id="{C5BC8AE0-FDD8-4561-A6C6-3A3CA9360D70}" type="slidenum">
              <a:rPr lang="en-US" altLang="zh-CN"/>
              <a:pPr/>
              <a:t>‹#›</a:t>
            </a:fld>
            <a:endParaRPr lang="en-US" altLang="zh-CN"/>
          </a:p>
        </p:txBody>
      </p:sp>
    </p:spTree>
    <p:extLst>
      <p:ext uri="{BB962C8B-B14F-4D97-AF65-F5344CB8AC3E}">
        <p14:creationId xmlns:p14="http://schemas.microsoft.com/office/powerpoint/2010/main" val="3935519313"/>
      </p:ext>
    </p:extLst>
  </p:cSld>
  <p:clrMap bg1="dk2" tx1="lt1" bg2="dk1"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hf hdr="0" ftr="0" dt="0"/>
  <p:txStyles>
    <p:titleStyle>
      <a:lvl1pPr algn="ctr" rtl="0" fontAlgn="base">
        <a:spcBef>
          <a:spcPct val="0"/>
        </a:spcBef>
        <a:spcAft>
          <a:spcPct val="0"/>
        </a:spcAft>
        <a:defRPr sz="3300"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342900"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685800"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028700"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371600"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257175" indent="-257175" algn="l" rtl="0" fontAlgn="base">
        <a:spcBef>
          <a:spcPct val="20000"/>
        </a:spcBef>
        <a:spcAft>
          <a:spcPct val="0"/>
        </a:spcAft>
        <a:buClr>
          <a:schemeClr val="hlink"/>
        </a:buClr>
        <a:buSzPct val="90000"/>
        <a:buFont typeface="Wingdings" panose="05000000000000000000" pitchFamily="2" charset="2"/>
        <a:buBlip>
          <a:blip r:embed="rId13"/>
        </a:buBlip>
        <a:defRPr sz="2400" kern="1200">
          <a:solidFill>
            <a:schemeClr val="tx1"/>
          </a:solidFill>
          <a:effectLst>
            <a:outerShdw blurRad="38100" dist="38100" dir="2700000" algn="tl">
              <a:srgbClr val="000000"/>
            </a:outerShdw>
          </a:effectLst>
          <a:latin typeface="+mn-lt"/>
          <a:ea typeface="+mn-ea"/>
          <a:cs typeface="+mn-cs"/>
        </a:defRPr>
      </a:lvl1pPr>
      <a:lvl2pPr marL="557213" indent="-214313" algn="l" rtl="0" fontAlgn="base">
        <a:spcBef>
          <a:spcPct val="20000"/>
        </a:spcBef>
        <a:spcAft>
          <a:spcPct val="0"/>
        </a:spcAft>
        <a:buChar char="–"/>
        <a:defRPr sz="2100" kern="1200">
          <a:solidFill>
            <a:schemeClr val="tx1"/>
          </a:solidFill>
          <a:effectLst>
            <a:outerShdw blurRad="38100" dist="38100" dir="2700000" algn="tl">
              <a:srgbClr val="000000"/>
            </a:outerShdw>
          </a:effectLst>
          <a:latin typeface="+mn-lt"/>
          <a:ea typeface="+mn-ea"/>
          <a:cs typeface="+mn-cs"/>
        </a:defRPr>
      </a:lvl2pPr>
      <a:lvl3pPr marL="857250" indent="-171450" algn="l" rtl="0" fontAlgn="base">
        <a:spcBef>
          <a:spcPct val="20000"/>
        </a:spcBef>
        <a:spcAft>
          <a:spcPct val="0"/>
        </a:spcAft>
        <a:buClr>
          <a:schemeClr val="accent2"/>
        </a:buClr>
        <a:buSzPct val="90000"/>
        <a:buFont typeface="Wingdings" panose="05000000000000000000" pitchFamily="2" charset="2"/>
        <a:buBlip>
          <a:blip r:embed="rId14"/>
        </a:buBlip>
        <a:defRPr sz="1800" kern="1200">
          <a:solidFill>
            <a:schemeClr val="tx1"/>
          </a:solidFill>
          <a:effectLst>
            <a:outerShdw blurRad="38100" dist="38100" dir="2700000" algn="tl">
              <a:srgbClr val="000000"/>
            </a:outerShdw>
          </a:effectLst>
          <a:latin typeface="+mn-lt"/>
          <a:ea typeface="+mn-ea"/>
          <a:cs typeface="+mn-cs"/>
        </a:defRPr>
      </a:lvl3pPr>
      <a:lvl4pPr marL="1200150" indent="-171450" algn="l" rtl="0" fontAlgn="base">
        <a:spcBef>
          <a:spcPct val="20000"/>
        </a:spcBef>
        <a:spcAft>
          <a:spcPct val="0"/>
        </a:spcAft>
        <a:buChar char="–"/>
        <a:defRPr sz="1500" kern="1200">
          <a:solidFill>
            <a:schemeClr val="tx1"/>
          </a:solidFill>
          <a:effectLst>
            <a:outerShdw blurRad="38100" dist="38100" dir="2700000" algn="tl">
              <a:srgbClr val="000000"/>
            </a:outerShdw>
          </a:effectLst>
          <a:latin typeface="+mn-lt"/>
          <a:ea typeface="+mn-ea"/>
          <a:cs typeface="+mn-cs"/>
        </a:defRPr>
      </a:lvl4pPr>
      <a:lvl5pPr marL="1543050" indent="-171450" algn="l" rtl="0" fontAlgn="base">
        <a:spcBef>
          <a:spcPct val="20000"/>
        </a:spcBef>
        <a:spcAft>
          <a:spcPct val="0"/>
        </a:spcAft>
        <a:buClr>
          <a:schemeClr val="folHlink"/>
        </a:buClr>
        <a:buSzPct val="90000"/>
        <a:buFont typeface="Wingdings" panose="05000000000000000000" pitchFamily="2" charset="2"/>
        <a:buBlip>
          <a:blip r:embed="rId15"/>
        </a:buBlip>
        <a:defRPr sz="1500" kern="1200">
          <a:solidFill>
            <a:schemeClr val="tx1"/>
          </a:solidFill>
          <a:effectLst>
            <a:outerShdw blurRad="38100" dist="38100" dir="2700000" algn="tl">
              <a:srgbClr val="000000"/>
            </a:outerShdw>
          </a:effectLst>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57647"/>
                <a:invGamma/>
              </a:schemeClr>
            </a:gs>
            <a:gs pos="100000">
              <a:schemeClr val="bg1"/>
            </a:gs>
          </a:gsLst>
          <a:lin ang="2700000" scaled="1"/>
        </a:gradFill>
        <a:effectLst/>
      </p:bgPr>
    </p:bg>
    <p:spTree>
      <p:nvGrpSpPr>
        <p:cNvPr id="1" name=""/>
        <p:cNvGrpSpPr/>
        <p:nvPr/>
      </p:nvGrpSpPr>
      <p:grpSpPr>
        <a:xfrm>
          <a:off x="0" y="0"/>
          <a:ext cx="0" cy="0"/>
          <a:chOff x="0" y="0"/>
          <a:chExt cx="0" cy="0"/>
        </a:xfrm>
      </p:grpSpPr>
      <p:grpSp>
        <p:nvGrpSpPr>
          <p:cNvPr id="224258" name="Group 2">
            <a:extLst>
              <a:ext uri="{FF2B5EF4-FFF2-40B4-BE49-F238E27FC236}">
                <a16:creationId xmlns:a16="http://schemas.microsoft.com/office/drawing/2014/main" id="{1D2D598E-AA57-4F33-9186-1B9ABAB79596}"/>
              </a:ext>
            </a:extLst>
          </p:cNvPr>
          <p:cNvGrpSpPr>
            <a:grpSpLocks/>
          </p:cNvGrpSpPr>
          <p:nvPr/>
        </p:nvGrpSpPr>
        <p:grpSpPr bwMode="auto">
          <a:xfrm>
            <a:off x="0" y="0"/>
            <a:ext cx="9144000" cy="5142310"/>
            <a:chOff x="0" y="0"/>
            <a:chExt cx="5760" cy="4319"/>
          </a:xfrm>
        </p:grpSpPr>
        <p:sp>
          <p:nvSpPr>
            <p:cNvPr id="224259" name="Freeform 3">
              <a:extLst>
                <a:ext uri="{FF2B5EF4-FFF2-40B4-BE49-F238E27FC236}">
                  <a16:creationId xmlns:a16="http://schemas.microsoft.com/office/drawing/2014/main" id="{FC7BFBC8-98D9-4F4D-AF6C-EE9D9EAA7895}"/>
                </a:ext>
              </a:extLst>
            </p:cNvPr>
            <p:cNvSpPr>
              <a:spLocks/>
            </p:cNvSpPr>
            <p:nvPr/>
          </p:nvSpPr>
          <p:spPr bwMode="hidden">
            <a:xfrm>
              <a:off x="0" y="12"/>
              <a:ext cx="5758" cy="3273"/>
            </a:xfrm>
            <a:custGeom>
              <a:avLst/>
              <a:gdLst>
                <a:gd name="T0" fmla="*/ 3193 w 5740"/>
                <a:gd name="T1" fmla="*/ 1816 h 3273"/>
                <a:gd name="T2" fmla="*/ 0 w 5740"/>
                <a:gd name="T3" fmla="*/ 0 h 3273"/>
                <a:gd name="T4" fmla="*/ 0 w 5740"/>
                <a:gd name="T5" fmla="*/ 522 h 3273"/>
                <a:gd name="T6" fmla="*/ 3037 w 5740"/>
                <a:gd name="T7" fmla="*/ 1978 h 3273"/>
                <a:gd name="T8" fmla="*/ 5740 w 5740"/>
                <a:gd name="T9" fmla="*/ 3273 h 3273"/>
                <a:gd name="T10" fmla="*/ 5740 w 5740"/>
                <a:gd name="T11" fmla="*/ 3267 h 3273"/>
                <a:gd name="T12" fmla="*/ 3193 w 5740"/>
                <a:gd name="T13" fmla="*/ 1816 h 3273"/>
                <a:gd name="T14" fmla="*/ 3193 w 5740"/>
                <a:gd name="T15" fmla="*/ 1816 h 32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chemeClr val="bg2">
                    <a:gamma/>
                    <a:shade val="63529"/>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0" name="Freeform 4">
              <a:extLst>
                <a:ext uri="{FF2B5EF4-FFF2-40B4-BE49-F238E27FC236}">
                  <a16:creationId xmlns:a16="http://schemas.microsoft.com/office/drawing/2014/main" id="{09E96527-8603-4ECC-8BFD-6C8575A56B16}"/>
                </a:ext>
              </a:extLst>
            </p:cNvPr>
            <p:cNvSpPr>
              <a:spLocks/>
            </p:cNvSpPr>
            <p:nvPr/>
          </p:nvSpPr>
          <p:spPr bwMode="hidden">
            <a:xfrm>
              <a:off x="149" y="0"/>
              <a:ext cx="5609" cy="3243"/>
            </a:xfrm>
            <a:custGeom>
              <a:avLst/>
              <a:gdLst>
                <a:gd name="T0" fmla="*/ 3163 w 5591"/>
                <a:gd name="T1" fmla="*/ 1714 h 3243"/>
                <a:gd name="T2" fmla="*/ 431 w 5591"/>
                <a:gd name="T3" fmla="*/ 0 h 3243"/>
                <a:gd name="T4" fmla="*/ 0 w 5591"/>
                <a:gd name="T5" fmla="*/ 0 h 3243"/>
                <a:gd name="T6" fmla="*/ 3086 w 5591"/>
                <a:gd name="T7" fmla="*/ 1786 h 3243"/>
                <a:gd name="T8" fmla="*/ 5591 w 5591"/>
                <a:gd name="T9" fmla="*/ 3243 h 3243"/>
                <a:gd name="T10" fmla="*/ 5591 w 5591"/>
                <a:gd name="T11" fmla="*/ 3237 h 3243"/>
                <a:gd name="T12" fmla="*/ 3163 w 5591"/>
                <a:gd name="T13" fmla="*/ 1714 h 3243"/>
                <a:gd name="T14" fmla="*/ 3163 w 5591"/>
                <a:gd name="T15" fmla="*/ 1714 h 32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chemeClr val="bg1">
                    <a:gamma/>
                    <a:shade val="6078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1" name="Freeform 5">
              <a:extLst>
                <a:ext uri="{FF2B5EF4-FFF2-40B4-BE49-F238E27FC236}">
                  <a16:creationId xmlns:a16="http://schemas.microsoft.com/office/drawing/2014/main" id="{051B4778-DD44-4E7D-88A0-269E19AB7B3E}"/>
                </a:ext>
              </a:extLst>
            </p:cNvPr>
            <p:cNvSpPr>
              <a:spLocks/>
            </p:cNvSpPr>
            <p:nvPr/>
          </p:nvSpPr>
          <p:spPr bwMode="hidden">
            <a:xfrm>
              <a:off x="0" y="3433"/>
              <a:ext cx="4038" cy="191"/>
            </a:xfrm>
            <a:custGeom>
              <a:avLst/>
              <a:gdLst>
                <a:gd name="T0" fmla="*/ 0 w 4042"/>
                <a:gd name="T1" fmla="*/ 156 h 192"/>
                <a:gd name="T2" fmla="*/ 4042 w 4042"/>
                <a:gd name="T3" fmla="*/ 192 h 192"/>
                <a:gd name="T4" fmla="*/ 4042 w 4042"/>
                <a:gd name="T5" fmla="*/ 144 h 192"/>
                <a:gd name="T6" fmla="*/ 0 w 4042"/>
                <a:gd name="T7" fmla="*/ 0 h 192"/>
                <a:gd name="T8" fmla="*/ 0 w 4042"/>
                <a:gd name="T9" fmla="*/ 156 h 192"/>
                <a:gd name="T10" fmla="*/ 0 w 4042"/>
                <a:gd name="T11" fmla="*/ 156 h 192"/>
              </a:gdLst>
              <a:ahLst/>
              <a:cxnLst>
                <a:cxn ang="0">
                  <a:pos x="T0" y="T1"/>
                </a:cxn>
                <a:cxn ang="0">
                  <a:pos x="T2" y="T3"/>
                </a:cxn>
                <a:cxn ang="0">
                  <a:pos x="T4" y="T5"/>
                </a:cxn>
                <a:cxn ang="0">
                  <a:pos x="T6" y="T7"/>
                </a:cxn>
                <a:cxn ang="0">
                  <a:pos x="T8" y="T9"/>
                </a:cxn>
                <a:cxn ang="0">
                  <a:pos x="T10" y="T11"/>
                </a:cxn>
              </a:cxnLst>
              <a:rect l="0" t="0" r="r" b="b"/>
              <a:pathLst>
                <a:path w="4042" h="192">
                  <a:moveTo>
                    <a:pt x="0" y="156"/>
                  </a:moveTo>
                  <a:lnTo>
                    <a:pt x="4042" y="192"/>
                  </a:lnTo>
                  <a:lnTo>
                    <a:pt x="4042" y="144"/>
                  </a:lnTo>
                  <a:lnTo>
                    <a:pt x="0" y="0"/>
                  </a:lnTo>
                  <a:lnTo>
                    <a:pt x="0" y="156"/>
                  </a:lnTo>
                  <a:lnTo>
                    <a:pt x="0" y="156"/>
                  </a:lnTo>
                  <a:close/>
                </a:path>
              </a:pathLst>
            </a:custGeom>
            <a:gradFill rotWithShape="0">
              <a:gsLst>
                <a:gs pos="0">
                  <a:schemeClr val="bg2">
                    <a:gamma/>
                    <a:shade val="75686"/>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2" name="Freeform 6">
              <a:extLst>
                <a:ext uri="{FF2B5EF4-FFF2-40B4-BE49-F238E27FC236}">
                  <a16:creationId xmlns:a16="http://schemas.microsoft.com/office/drawing/2014/main" id="{2829813E-1116-40DC-9BC7-E68F8A12BB60}"/>
                </a:ext>
              </a:extLst>
            </p:cNvPr>
            <p:cNvSpPr>
              <a:spLocks/>
            </p:cNvSpPr>
            <p:nvPr/>
          </p:nvSpPr>
          <p:spPr bwMode="hidden">
            <a:xfrm>
              <a:off x="4038" y="3577"/>
              <a:ext cx="1720" cy="65"/>
            </a:xfrm>
            <a:custGeom>
              <a:avLst/>
              <a:gdLst>
                <a:gd name="T0" fmla="*/ 1722 w 1722"/>
                <a:gd name="T1" fmla="*/ 66 h 66"/>
                <a:gd name="T2" fmla="*/ 1722 w 1722"/>
                <a:gd name="T3" fmla="*/ 60 h 66"/>
                <a:gd name="T4" fmla="*/ 0 w 1722"/>
                <a:gd name="T5" fmla="*/ 0 h 66"/>
                <a:gd name="T6" fmla="*/ 0 w 1722"/>
                <a:gd name="T7" fmla="*/ 48 h 66"/>
                <a:gd name="T8" fmla="*/ 1722 w 1722"/>
                <a:gd name="T9" fmla="*/ 66 h 66"/>
                <a:gd name="T10" fmla="*/ 1722 w 1722"/>
                <a:gd name="T11" fmla="*/ 66 h 66"/>
              </a:gdLst>
              <a:ahLst/>
              <a:cxnLst>
                <a:cxn ang="0">
                  <a:pos x="T0" y="T1"/>
                </a:cxn>
                <a:cxn ang="0">
                  <a:pos x="T2" y="T3"/>
                </a:cxn>
                <a:cxn ang="0">
                  <a:pos x="T4" y="T5"/>
                </a:cxn>
                <a:cxn ang="0">
                  <a:pos x="T6" y="T7"/>
                </a:cxn>
                <a:cxn ang="0">
                  <a:pos x="T8" y="T9"/>
                </a:cxn>
                <a:cxn ang="0">
                  <a:pos x="T10" y="T11"/>
                </a:cxn>
              </a:cxnLst>
              <a:rect l="0" t="0" r="r" b="b"/>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3" name="Freeform 7">
              <a:extLst>
                <a:ext uri="{FF2B5EF4-FFF2-40B4-BE49-F238E27FC236}">
                  <a16:creationId xmlns:a16="http://schemas.microsoft.com/office/drawing/2014/main" id="{E0ADF6B1-57E1-417F-97F5-F09C4E5DE8D9}"/>
                </a:ext>
              </a:extLst>
            </p:cNvPr>
            <p:cNvSpPr>
              <a:spLocks/>
            </p:cNvSpPr>
            <p:nvPr/>
          </p:nvSpPr>
          <p:spPr bwMode="hidden">
            <a:xfrm>
              <a:off x="0" y="3726"/>
              <a:ext cx="4784" cy="329"/>
            </a:xfrm>
            <a:custGeom>
              <a:avLst/>
              <a:gdLst>
                <a:gd name="T0" fmla="*/ 0 w 4789"/>
                <a:gd name="T1" fmla="*/ 329 h 329"/>
                <a:gd name="T2" fmla="*/ 4789 w 4789"/>
                <a:gd name="T3" fmla="*/ 77 h 329"/>
                <a:gd name="T4" fmla="*/ 4789 w 4789"/>
                <a:gd name="T5" fmla="*/ 0 h 329"/>
                <a:gd name="T6" fmla="*/ 0 w 4789"/>
                <a:gd name="T7" fmla="*/ 107 h 329"/>
                <a:gd name="T8" fmla="*/ 0 w 4789"/>
                <a:gd name="T9" fmla="*/ 329 h 329"/>
                <a:gd name="T10" fmla="*/ 0 w 4789"/>
                <a:gd name="T11" fmla="*/ 329 h 329"/>
              </a:gdLst>
              <a:ahLst/>
              <a:cxnLst>
                <a:cxn ang="0">
                  <a:pos x="T0" y="T1"/>
                </a:cxn>
                <a:cxn ang="0">
                  <a:pos x="T2" y="T3"/>
                </a:cxn>
                <a:cxn ang="0">
                  <a:pos x="T4" y="T5"/>
                </a:cxn>
                <a:cxn ang="0">
                  <a:pos x="T6" y="T7"/>
                </a:cxn>
                <a:cxn ang="0">
                  <a:pos x="T8" y="T9"/>
                </a:cxn>
                <a:cxn ang="0">
                  <a:pos x="T10" y="T11"/>
                </a:cxn>
              </a:cxnLst>
              <a:rect l="0" t="0" r="r" b="b"/>
              <a:pathLst>
                <a:path w="4789" h="329">
                  <a:moveTo>
                    <a:pt x="0" y="329"/>
                  </a:moveTo>
                  <a:lnTo>
                    <a:pt x="4789" y="77"/>
                  </a:lnTo>
                  <a:lnTo>
                    <a:pt x="4789" y="0"/>
                  </a:lnTo>
                  <a:lnTo>
                    <a:pt x="0" y="107"/>
                  </a:lnTo>
                  <a:lnTo>
                    <a:pt x="0" y="329"/>
                  </a:lnTo>
                  <a:lnTo>
                    <a:pt x="0" y="329"/>
                  </a:lnTo>
                  <a:close/>
                </a:path>
              </a:pathLst>
            </a:custGeom>
            <a:gradFill rotWithShape="0">
              <a:gsLst>
                <a:gs pos="0">
                  <a:schemeClr val="bg1">
                    <a:gamma/>
                    <a:shade val="81961"/>
                    <a:invGamma/>
                  </a:schemeClr>
                </a:gs>
                <a:gs pos="100000">
                  <a:schemeClr val="bg1"/>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224264" name="Freeform 8">
              <a:extLst>
                <a:ext uri="{FF2B5EF4-FFF2-40B4-BE49-F238E27FC236}">
                  <a16:creationId xmlns:a16="http://schemas.microsoft.com/office/drawing/2014/main" id="{DCAD1412-198B-4BCD-8979-2ACD0ACB15F4}"/>
                </a:ext>
              </a:extLst>
            </p:cNvPr>
            <p:cNvSpPr>
              <a:spLocks/>
            </p:cNvSpPr>
            <p:nvPr/>
          </p:nvSpPr>
          <p:spPr bwMode="hidden">
            <a:xfrm>
              <a:off x="4784" y="3702"/>
              <a:ext cx="974" cy="101"/>
            </a:xfrm>
            <a:custGeom>
              <a:avLst/>
              <a:gdLst>
                <a:gd name="T0" fmla="*/ 975 w 975"/>
                <a:gd name="T1" fmla="*/ 48 h 101"/>
                <a:gd name="T2" fmla="*/ 975 w 975"/>
                <a:gd name="T3" fmla="*/ 0 h 101"/>
                <a:gd name="T4" fmla="*/ 0 w 975"/>
                <a:gd name="T5" fmla="*/ 24 h 101"/>
                <a:gd name="T6" fmla="*/ 0 w 975"/>
                <a:gd name="T7" fmla="*/ 101 h 101"/>
                <a:gd name="T8" fmla="*/ 975 w 975"/>
                <a:gd name="T9" fmla="*/ 48 h 101"/>
                <a:gd name="T10" fmla="*/ 975 w 975"/>
                <a:gd name="T11" fmla="*/ 48 h 101"/>
              </a:gdLst>
              <a:ahLst/>
              <a:cxnLst>
                <a:cxn ang="0">
                  <a:pos x="T0" y="T1"/>
                </a:cxn>
                <a:cxn ang="0">
                  <a:pos x="T2" y="T3"/>
                </a:cxn>
                <a:cxn ang="0">
                  <a:pos x="T4" y="T5"/>
                </a:cxn>
                <a:cxn ang="0">
                  <a:pos x="T6" y="T7"/>
                </a:cxn>
                <a:cxn ang="0">
                  <a:pos x="T8" y="T9"/>
                </a:cxn>
                <a:cxn ang="0">
                  <a:pos x="T10" y="T11"/>
                </a:cxn>
              </a:cxnLst>
              <a:rect l="0" t="0" r="r" b="b"/>
              <a:pathLst>
                <a:path w="975" h="101">
                  <a:moveTo>
                    <a:pt x="975" y="48"/>
                  </a:moveTo>
                  <a:lnTo>
                    <a:pt x="975" y="0"/>
                  </a:lnTo>
                  <a:lnTo>
                    <a:pt x="0" y="24"/>
                  </a:lnTo>
                  <a:lnTo>
                    <a:pt x="0" y="101"/>
                  </a:lnTo>
                  <a:lnTo>
                    <a:pt x="975" y="48"/>
                  </a:lnTo>
                  <a:lnTo>
                    <a:pt x="975"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5" name="Freeform 9">
              <a:extLst>
                <a:ext uri="{FF2B5EF4-FFF2-40B4-BE49-F238E27FC236}">
                  <a16:creationId xmlns:a16="http://schemas.microsoft.com/office/drawing/2014/main" id="{48E33010-6574-4BDF-B960-A326A4CB60A0}"/>
                </a:ext>
              </a:extLst>
            </p:cNvPr>
            <p:cNvSpPr>
              <a:spLocks/>
            </p:cNvSpPr>
            <p:nvPr/>
          </p:nvSpPr>
          <p:spPr bwMode="hidden">
            <a:xfrm>
              <a:off x="3619" y="3815"/>
              <a:ext cx="2139" cy="198"/>
            </a:xfrm>
            <a:custGeom>
              <a:avLst/>
              <a:gdLst>
                <a:gd name="T0" fmla="*/ 2141 w 2141"/>
                <a:gd name="T1" fmla="*/ 0 h 198"/>
                <a:gd name="T2" fmla="*/ 0 w 2141"/>
                <a:gd name="T3" fmla="*/ 156 h 198"/>
                <a:gd name="T4" fmla="*/ 0 w 2141"/>
                <a:gd name="T5" fmla="*/ 198 h 198"/>
                <a:gd name="T6" fmla="*/ 2141 w 2141"/>
                <a:gd name="T7" fmla="*/ 0 h 198"/>
                <a:gd name="T8" fmla="*/ 2141 w 2141"/>
                <a:gd name="T9" fmla="*/ 0 h 198"/>
              </a:gdLst>
              <a:ahLst/>
              <a:cxnLst>
                <a:cxn ang="0">
                  <a:pos x="T0" y="T1"/>
                </a:cxn>
                <a:cxn ang="0">
                  <a:pos x="T2" y="T3"/>
                </a:cxn>
                <a:cxn ang="0">
                  <a:pos x="T4" y="T5"/>
                </a:cxn>
                <a:cxn ang="0">
                  <a:pos x="T6" y="T7"/>
                </a:cxn>
                <a:cxn ang="0">
                  <a:pos x="T8" y="T9"/>
                </a:cxn>
              </a:cxnLst>
              <a:rect l="0" t="0" r="r" b="b"/>
              <a:pathLst>
                <a:path w="2141" h="198">
                  <a:moveTo>
                    <a:pt x="2141" y="0"/>
                  </a:moveTo>
                  <a:lnTo>
                    <a:pt x="0" y="156"/>
                  </a:lnTo>
                  <a:lnTo>
                    <a:pt x="0" y="198"/>
                  </a:lnTo>
                  <a:lnTo>
                    <a:pt x="2141" y="0"/>
                  </a:lnTo>
                  <a:lnTo>
                    <a:pt x="214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6" name="Freeform 10">
              <a:extLst>
                <a:ext uri="{FF2B5EF4-FFF2-40B4-BE49-F238E27FC236}">
                  <a16:creationId xmlns:a16="http://schemas.microsoft.com/office/drawing/2014/main" id="{E8C8FFD3-5638-4FB6-A77C-EFD9C0DB599D}"/>
                </a:ext>
              </a:extLst>
            </p:cNvPr>
            <p:cNvSpPr>
              <a:spLocks/>
            </p:cNvSpPr>
            <p:nvPr/>
          </p:nvSpPr>
          <p:spPr bwMode="hidden">
            <a:xfrm>
              <a:off x="0" y="3971"/>
              <a:ext cx="3619" cy="348"/>
            </a:xfrm>
            <a:custGeom>
              <a:avLst/>
              <a:gdLst>
                <a:gd name="T0" fmla="*/ 0 w 3623"/>
                <a:gd name="T1" fmla="*/ 348 h 348"/>
                <a:gd name="T2" fmla="*/ 311 w 3623"/>
                <a:gd name="T3" fmla="*/ 348 h 348"/>
                <a:gd name="T4" fmla="*/ 3623 w 3623"/>
                <a:gd name="T5" fmla="*/ 42 h 348"/>
                <a:gd name="T6" fmla="*/ 3623 w 3623"/>
                <a:gd name="T7" fmla="*/ 0 h 348"/>
                <a:gd name="T8" fmla="*/ 0 w 3623"/>
                <a:gd name="T9" fmla="*/ 264 h 348"/>
                <a:gd name="T10" fmla="*/ 0 w 3623"/>
                <a:gd name="T11" fmla="*/ 348 h 348"/>
                <a:gd name="T12" fmla="*/ 0 w 3623"/>
                <a:gd name="T13" fmla="*/ 348 h 348"/>
              </a:gdLst>
              <a:ahLst/>
              <a:cxnLst>
                <a:cxn ang="0">
                  <a:pos x="T0" y="T1"/>
                </a:cxn>
                <a:cxn ang="0">
                  <a:pos x="T2" y="T3"/>
                </a:cxn>
                <a:cxn ang="0">
                  <a:pos x="T4" y="T5"/>
                </a:cxn>
                <a:cxn ang="0">
                  <a:pos x="T6" y="T7"/>
                </a:cxn>
                <a:cxn ang="0">
                  <a:pos x="T8" y="T9"/>
                </a:cxn>
                <a:cxn ang="0">
                  <a:pos x="T10" y="T11"/>
                </a:cxn>
                <a:cxn ang="0">
                  <a:pos x="T12" y="T13"/>
                </a:cxn>
              </a:cxnLst>
              <a:rect l="0" t="0"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chemeClr val="bg1">
                    <a:gamma/>
                    <a:shade val="72549"/>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7" name="Freeform 11">
              <a:extLst>
                <a:ext uri="{FF2B5EF4-FFF2-40B4-BE49-F238E27FC236}">
                  <a16:creationId xmlns:a16="http://schemas.microsoft.com/office/drawing/2014/main" id="{398488A3-140C-445D-B77E-2B2BF9F6653F}"/>
                </a:ext>
              </a:extLst>
            </p:cNvPr>
            <p:cNvSpPr>
              <a:spLocks/>
            </p:cNvSpPr>
            <p:nvPr/>
          </p:nvSpPr>
          <p:spPr bwMode="hidden">
            <a:xfrm>
              <a:off x="2097" y="4043"/>
              <a:ext cx="2514" cy="276"/>
            </a:xfrm>
            <a:custGeom>
              <a:avLst/>
              <a:gdLst>
                <a:gd name="T0" fmla="*/ 2182 w 2517"/>
                <a:gd name="T1" fmla="*/ 276 h 276"/>
                <a:gd name="T2" fmla="*/ 2517 w 2517"/>
                <a:gd name="T3" fmla="*/ 204 h 276"/>
                <a:gd name="T4" fmla="*/ 2260 w 2517"/>
                <a:gd name="T5" fmla="*/ 0 h 276"/>
                <a:gd name="T6" fmla="*/ 0 w 2517"/>
                <a:gd name="T7" fmla="*/ 276 h 276"/>
                <a:gd name="T8" fmla="*/ 2182 w 2517"/>
                <a:gd name="T9" fmla="*/ 276 h 276"/>
                <a:gd name="T10" fmla="*/ 2182 w 2517"/>
                <a:gd name="T11" fmla="*/ 276 h 276"/>
              </a:gdLst>
              <a:ahLst/>
              <a:cxnLst>
                <a:cxn ang="0">
                  <a:pos x="T0" y="T1"/>
                </a:cxn>
                <a:cxn ang="0">
                  <a:pos x="T2" y="T3"/>
                </a:cxn>
                <a:cxn ang="0">
                  <a:pos x="T4" y="T5"/>
                </a:cxn>
                <a:cxn ang="0">
                  <a:pos x="T6" y="T7"/>
                </a:cxn>
                <a:cxn ang="0">
                  <a:pos x="T8" y="T9"/>
                </a:cxn>
                <a:cxn ang="0">
                  <a:pos x="T10" y="T11"/>
                </a:cxn>
              </a:cxnLst>
              <a:rect l="0" t="0" r="r" b="b"/>
              <a:pathLst>
                <a:path w="2517" h="276">
                  <a:moveTo>
                    <a:pt x="2182" y="276"/>
                  </a:moveTo>
                  <a:lnTo>
                    <a:pt x="2517" y="204"/>
                  </a:lnTo>
                  <a:lnTo>
                    <a:pt x="2260" y="0"/>
                  </a:lnTo>
                  <a:lnTo>
                    <a:pt x="0" y="276"/>
                  </a:lnTo>
                  <a:lnTo>
                    <a:pt x="2182" y="276"/>
                  </a:lnTo>
                  <a:lnTo>
                    <a:pt x="2182" y="2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8" name="Freeform 12">
              <a:extLst>
                <a:ext uri="{FF2B5EF4-FFF2-40B4-BE49-F238E27FC236}">
                  <a16:creationId xmlns:a16="http://schemas.microsoft.com/office/drawing/2014/main" id="{333C1BFB-BD6C-455E-804F-92F995643614}"/>
                </a:ext>
              </a:extLst>
            </p:cNvPr>
            <p:cNvSpPr>
              <a:spLocks/>
            </p:cNvSpPr>
            <p:nvPr/>
          </p:nvSpPr>
          <p:spPr bwMode="hidden">
            <a:xfrm>
              <a:off x="4354" y="3869"/>
              <a:ext cx="1404" cy="378"/>
            </a:xfrm>
            <a:custGeom>
              <a:avLst/>
              <a:gdLst>
                <a:gd name="T0" fmla="*/ 1405 w 1405"/>
                <a:gd name="T1" fmla="*/ 126 h 378"/>
                <a:gd name="T2" fmla="*/ 1405 w 1405"/>
                <a:gd name="T3" fmla="*/ 0 h 378"/>
                <a:gd name="T4" fmla="*/ 0 w 1405"/>
                <a:gd name="T5" fmla="*/ 174 h 378"/>
                <a:gd name="T6" fmla="*/ 257 w 1405"/>
                <a:gd name="T7" fmla="*/ 378 h 378"/>
                <a:gd name="T8" fmla="*/ 1405 w 1405"/>
                <a:gd name="T9" fmla="*/ 126 h 378"/>
                <a:gd name="T10" fmla="*/ 1405 w 1405"/>
                <a:gd name="T11" fmla="*/ 126 h 378"/>
              </a:gdLst>
              <a:ahLst/>
              <a:cxnLst>
                <a:cxn ang="0">
                  <a:pos x="T0" y="T1"/>
                </a:cxn>
                <a:cxn ang="0">
                  <a:pos x="T2" y="T3"/>
                </a:cxn>
                <a:cxn ang="0">
                  <a:pos x="T4" y="T5"/>
                </a:cxn>
                <a:cxn ang="0">
                  <a:pos x="T6" y="T7"/>
                </a:cxn>
                <a:cxn ang="0">
                  <a:pos x="T8" y="T9"/>
                </a:cxn>
                <a:cxn ang="0">
                  <a:pos x="T10" y="T11"/>
                </a:cxn>
              </a:cxnLst>
              <a:rect l="0" t="0" r="r" b="b"/>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chemeClr val="bg1">
                    <a:gamma/>
                    <a:tint val="96863"/>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69" name="Freeform 13">
              <a:extLst>
                <a:ext uri="{FF2B5EF4-FFF2-40B4-BE49-F238E27FC236}">
                  <a16:creationId xmlns:a16="http://schemas.microsoft.com/office/drawing/2014/main" id="{DBD55BBD-9CA1-45E1-A8B4-5C19DB926A8F}"/>
                </a:ext>
              </a:extLst>
            </p:cNvPr>
            <p:cNvSpPr>
              <a:spLocks/>
            </p:cNvSpPr>
            <p:nvPr/>
          </p:nvSpPr>
          <p:spPr bwMode="hidden">
            <a:xfrm>
              <a:off x="5030" y="3151"/>
              <a:ext cx="728" cy="240"/>
            </a:xfrm>
            <a:custGeom>
              <a:avLst/>
              <a:gdLst>
                <a:gd name="T0" fmla="*/ 729 w 729"/>
                <a:gd name="T1" fmla="*/ 240 h 240"/>
                <a:gd name="T2" fmla="*/ 0 w 729"/>
                <a:gd name="T3" fmla="*/ 0 h 240"/>
                <a:gd name="T4" fmla="*/ 0 w 729"/>
                <a:gd name="T5" fmla="*/ 6 h 240"/>
                <a:gd name="T6" fmla="*/ 729 w 729"/>
                <a:gd name="T7" fmla="*/ 240 h 240"/>
                <a:gd name="T8" fmla="*/ 729 w 729"/>
                <a:gd name="T9" fmla="*/ 240 h 240"/>
              </a:gdLst>
              <a:ahLst/>
              <a:cxnLst>
                <a:cxn ang="0">
                  <a:pos x="T0" y="T1"/>
                </a:cxn>
                <a:cxn ang="0">
                  <a:pos x="T2" y="T3"/>
                </a:cxn>
                <a:cxn ang="0">
                  <a:pos x="T4" y="T5"/>
                </a:cxn>
                <a:cxn ang="0">
                  <a:pos x="T6" y="T7"/>
                </a:cxn>
                <a:cxn ang="0">
                  <a:pos x="T8" y="T9"/>
                </a:cxn>
              </a:cxnLst>
              <a:rect l="0" t="0" r="r" b="b"/>
              <a:pathLst>
                <a:path w="729" h="240">
                  <a:moveTo>
                    <a:pt x="729" y="240"/>
                  </a:moveTo>
                  <a:lnTo>
                    <a:pt x="0" y="0"/>
                  </a:lnTo>
                  <a:lnTo>
                    <a:pt x="0" y="6"/>
                  </a:lnTo>
                  <a:lnTo>
                    <a:pt x="729" y="240"/>
                  </a:lnTo>
                  <a:lnTo>
                    <a:pt x="729" y="24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0" name="Freeform 14">
              <a:extLst>
                <a:ext uri="{FF2B5EF4-FFF2-40B4-BE49-F238E27FC236}">
                  <a16:creationId xmlns:a16="http://schemas.microsoft.com/office/drawing/2014/main" id="{6D0EB2FF-9159-46C9-ABD1-6EE9954C6FA0}"/>
                </a:ext>
              </a:extLst>
            </p:cNvPr>
            <p:cNvSpPr>
              <a:spLocks/>
            </p:cNvSpPr>
            <p:nvPr/>
          </p:nvSpPr>
          <p:spPr bwMode="hidden">
            <a:xfrm>
              <a:off x="0" y="1486"/>
              <a:ext cx="5030" cy="1671"/>
            </a:xfrm>
            <a:custGeom>
              <a:avLst/>
              <a:gdLst>
                <a:gd name="T0" fmla="*/ 0 w 5035"/>
                <a:gd name="T1" fmla="*/ 72 h 1672"/>
                <a:gd name="T2" fmla="*/ 5035 w 5035"/>
                <a:gd name="T3" fmla="*/ 1672 h 1672"/>
                <a:gd name="T4" fmla="*/ 5035 w 5035"/>
                <a:gd name="T5" fmla="*/ 1666 h 1672"/>
                <a:gd name="T6" fmla="*/ 0 w 5035"/>
                <a:gd name="T7" fmla="*/ 0 h 1672"/>
                <a:gd name="T8" fmla="*/ 0 w 5035"/>
                <a:gd name="T9" fmla="*/ 72 h 1672"/>
                <a:gd name="T10" fmla="*/ 0 w 5035"/>
                <a:gd name="T11" fmla="*/ 72 h 1672"/>
              </a:gdLst>
              <a:ahLst/>
              <a:cxnLst>
                <a:cxn ang="0">
                  <a:pos x="T0" y="T1"/>
                </a:cxn>
                <a:cxn ang="0">
                  <a:pos x="T2" y="T3"/>
                </a:cxn>
                <a:cxn ang="0">
                  <a:pos x="T4" y="T5"/>
                </a:cxn>
                <a:cxn ang="0">
                  <a:pos x="T6" y="T7"/>
                </a:cxn>
                <a:cxn ang="0">
                  <a:pos x="T8" y="T9"/>
                </a:cxn>
                <a:cxn ang="0">
                  <a:pos x="T10" y="T11"/>
                </a:cxn>
              </a:cxnLst>
              <a:rect l="0" t="0" r="r" b="b"/>
              <a:pathLst>
                <a:path w="5035" h="1672">
                  <a:moveTo>
                    <a:pt x="0" y="72"/>
                  </a:moveTo>
                  <a:lnTo>
                    <a:pt x="5035" y="1672"/>
                  </a:lnTo>
                  <a:lnTo>
                    <a:pt x="5035" y="1666"/>
                  </a:lnTo>
                  <a:lnTo>
                    <a:pt x="0" y="0"/>
                  </a:lnTo>
                  <a:lnTo>
                    <a:pt x="0" y="72"/>
                  </a:lnTo>
                  <a:lnTo>
                    <a:pt x="0" y="72"/>
                  </a:lnTo>
                  <a:close/>
                </a:path>
              </a:pathLst>
            </a:custGeom>
            <a:gradFill rotWithShape="0">
              <a:gsLst>
                <a:gs pos="0">
                  <a:schemeClr val="bg1">
                    <a:gamma/>
                    <a:shade val="54510"/>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1" name="Freeform 15">
              <a:extLst>
                <a:ext uri="{FF2B5EF4-FFF2-40B4-BE49-F238E27FC236}">
                  <a16:creationId xmlns:a16="http://schemas.microsoft.com/office/drawing/2014/main" id="{C34E1F3C-B8D4-4643-A572-3241B476A6F6}"/>
                </a:ext>
              </a:extLst>
            </p:cNvPr>
            <p:cNvSpPr>
              <a:spLocks/>
            </p:cNvSpPr>
            <p:nvPr/>
          </p:nvSpPr>
          <p:spPr bwMode="hidden">
            <a:xfrm>
              <a:off x="5030" y="3049"/>
              <a:ext cx="728" cy="318"/>
            </a:xfrm>
            <a:custGeom>
              <a:avLst/>
              <a:gdLst>
                <a:gd name="T0" fmla="*/ 729 w 729"/>
                <a:gd name="T1" fmla="*/ 318 h 318"/>
                <a:gd name="T2" fmla="*/ 729 w 729"/>
                <a:gd name="T3" fmla="*/ 312 h 318"/>
                <a:gd name="T4" fmla="*/ 0 w 729"/>
                <a:gd name="T5" fmla="*/ 0 h 318"/>
                <a:gd name="T6" fmla="*/ 0 w 729"/>
                <a:gd name="T7" fmla="*/ 54 h 318"/>
                <a:gd name="T8" fmla="*/ 729 w 729"/>
                <a:gd name="T9" fmla="*/ 318 h 318"/>
                <a:gd name="T10" fmla="*/ 729 w 729"/>
                <a:gd name="T11" fmla="*/ 318 h 318"/>
              </a:gdLst>
              <a:ahLst/>
              <a:cxnLst>
                <a:cxn ang="0">
                  <a:pos x="T0" y="T1"/>
                </a:cxn>
                <a:cxn ang="0">
                  <a:pos x="T2" y="T3"/>
                </a:cxn>
                <a:cxn ang="0">
                  <a:pos x="T4" y="T5"/>
                </a:cxn>
                <a:cxn ang="0">
                  <a:pos x="T6" y="T7"/>
                </a:cxn>
                <a:cxn ang="0">
                  <a:pos x="T8" y="T9"/>
                </a:cxn>
                <a:cxn ang="0">
                  <a:pos x="T10" y="T11"/>
                </a:cxn>
              </a:cxnLst>
              <a:rect l="0" t="0" r="r" b="b"/>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2" name="Freeform 16">
              <a:extLst>
                <a:ext uri="{FF2B5EF4-FFF2-40B4-BE49-F238E27FC236}">
                  <a16:creationId xmlns:a16="http://schemas.microsoft.com/office/drawing/2014/main" id="{48661CED-BA39-4A76-8520-D6647E9ED57B}"/>
                </a:ext>
              </a:extLst>
            </p:cNvPr>
            <p:cNvSpPr>
              <a:spLocks/>
            </p:cNvSpPr>
            <p:nvPr/>
          </p:nvSpPr>
          <p:spPr bwMode="hidden">
            <a:xfrm>
              <a:off x="0" y="916"/>
              <a:ext cx="5030" cy="2187"/>
            </a:xfrm>
            <a:custGeom>
              <a:avLst/>
              <a:gdLst>
                <a:gd name="T0" fmla="*/ 0 w 5035"/>
                <a:gd name="T1" fmla="*/ 396 h 2188"/>
                <a:gd name="T2" fmla="*/ 5035 w 5035"/>
                <a:gd name="T3" fmla="*/ 2188 h 2188"/>
                <a:gd name="T4" fmla="*/ 5035 w 5035"/>
                <a:gd name="T5" fmla="*/ 2134 h 2188"/>
                <a:gd name="T6" fmla="*/ 0 w 5035"/>
                <a:gd name="T7" fmla="*/ 0 h 2188"/>
                <a:gd name="T8" fmla="*/ 0 w 5035"/>
                <a:gd name="T9" fmla="*/ 396 h 2188"/>
                <a:gd name="T10" fmla="*/ 0 w 5035"/>
                <a:gd name="T11" fmla="*/ 396 h 2188"/>
              </a:gdLst>
              <a:ahLst/>
              <a:cxnLst>
                <a:cxn ang="0">
                  <a:pos x="T0" y="T1"/>
                </a:cxn>
                <a:cxn ang="0">
                  <a:pos x="T2" y="T3"/>
                </a:cxn>
                <a:cxn ang="0">
                  <a:pos x="T4" y="T5"/>
                </a:cxn>
                <a:cxn ang="0">
                  <a:pos x="T6" y="T7"/>
                </a:cxn>
                <a:cxn ang="0">
                  <a:pos x="T8" y="T9"/>
                </a:cxn>
                <a:cxn ang="0">
                  <a:pos x="T10" y="T11"/>
                </a:cxn>
              </a:cxnLst>
              <a:rect l="0" t="0" r="r" b="b"/>
              <a:pathLst>
                <a:path w="5035" h="2188">
                  <a:moveTo>
                    <a:pt x="0" y="396"/>
                  </a:moveTo>
                  <a:lnTo>
                    <a:pt x="5035" y="2188"/>
                  </a:lnTo>
                  <a:lnTo>
                    <a:pt x="5035" y="2134"/>
                  </a:lnTo>
                  <a:lnTo>
                    <a:pt x="0" y="0"/>
                  </a:lnTo>
                  <a:lnTo>
                    <a:pt x="0" y="396"/>
                  </a:lnTo>
                  <a:lnTo>
                    <a:pt x="0" y="396"/>
                  </a:lnTo>
                  <a:close/>
                </a:path>
              </a:pathLst>
            </a:custGeom>
            <a:gradFill rotWithShape="0">
              <a:gsLst>
                <a:gs pos="0">
                  <a:schemeClr val="bg2">
                    <a:gamma/>
                    <a:shade val="66667"/>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3" name="Freeform 17">
              <a:extLst>
                <a:ext uri="{FF2B5EF4-FFF2-40B4-BE49-F238E27FC236}">
                  <a16:creationId xmlns:a16="http://schemas.microsoft.com/office/drawing/2014/main" id="{4EEC99DF-BA32-4310-B24D-F6340EF012E1}"/>
                </a:ext>
              </a:extLst>
            </p:cNvPr>
            <p:cNvSpPr>
              <a:spLocks/>
            </p:cNvSpPr>
            <p:nvPr/>
          </p:nvSpPr>
          <p:spPr bwMode="hidden">
            <a:xfrm>
              <a:off x="2294" y="0"/>
              <a:ext cx="3159" cy="2725"/>
            </a:xfrm>
            <a:custGeom>
              <a:avLst/>
              <a:gdLst>
                <a:gd name="T0" fmla="*/ 0 w 3163"/>
                <a:gd name="T1" fmla="*/ 0 h 2727"/>
                <a:gd name="T2" fmla="*/ 3145 w 3163"/>
                <a:gd name="T3" fmla="*/ 2727 h 2727"/>
                <a:gd name="T4" fmla="*/ 3163 w 3163"/>
                <a:gd name="T5" fmla="*/ 2704 h 2727"/>
                <a:gd name="T6" fmla="*/ 102 w 3163"/>
                <a:gd name="T7" fmla="*/ 0 h 2727"/>
                <a:gd name="T8" fmla="*/ 0 w 3163"/>
                <a:gd name="T9" fmla="*/ 0 h 2727"/>
                <a:gd name="T10" fmla="*/ 0 w 3163"/>
                <a:gd name="T11" fmla="*/ 0 h 2727"/>
              </a:gdLst>
              <a:ahLst/>
              <a:cxnLst>
                <a:cxn ang="0">
                  <a:pos x="T0" y="T1"/>
                </a:cxn>
                <a:cxn ang="0">
                  <a:pos x="T2" y="T3"/>
                </a:cxn>
                <a:cxn ang="0">
                  <a:pos x="T4" y="T5"/>
                </a:cxn>
                <a:cxn ang="0">
                  <a:pos x="T6" y="T7"/>
                </a:cxn>
                <a:cxn ang="0">
                  <a:pos x="T8" y="T9"/>
                </a:cxn>
                <a:cxn ang="0">
                  <a:pos x="T10" y="T11"/>
                </a:cxn>
              </a:cxnLst>
              <a:rect l="0" t="0" r="r" b="b"/>
              <a:pathLst>
                <a:path w="3163" h="2727">
                  <a:moveTo>
                    <a:pt x="0" y="0"/>
                  </a:moveTo>
                  <a:lnTo>
                    <a:pt x="3145" y="2727"/>
                  </a:lnTo>
                  <a:lnTo>
                    <a:pt x="3163" y="2704"/>
                  </a:lnTo>
                  <a:lnTo>
                    <a:pt x="102" y="0"/>
                  </a:lnTo>
                  <a:lnTo>
                    <a:pt x="0" y="0"/>
                  </a:lnTo>
                  <a:lnTo>
                    <a:pt x="0" y="0"/>
                  </a:lnTo>
                  <a:close/>
                </a:path>
              </a:pathLst>
            </a:custGeom>
            <a:gradFill rotWithShape="0">
              <a:gsLst>
                <a:gs pos="0">
                  <a:schemeClr val="bg1">
                    <a:gamma/>
                    <a:shade val="6980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4" name="Freeform 18">
              <a:extLst>
                <a:ext uri="{FF2B5EF4-FFF2-40B4-BE49-F238E27FC236}">
                  <a16:creationId xmlns:a16="http://schemas.microsoft.com/office/drawing/2014/main" id="{0988954F-503E-49A5-91C9-287EF5181891}"/>
                </a:ext>
              </a:extLst>
            </p:cNvPr>
            <p:cNvSpPr>
              <a:spLocks/>
            </p:cNvSpPr>
            <p:nvPr/>
          </p:nvSpPr>
          <p:spPr bwMode="hidden">
            <a:xfrm>
              <a:off x="5435" y="2702"/>
              <a:ext cx="323" cy="299"/>
            </a:xfrm>
            <a:custGeom>
              <a:avLst/>
              <a:gdLst>
                <a:gd name="T0" fmla="*/ 323 w 323"/>
                <a:gd name="T1" fmla="*/ 299 h 299"/>
                <a:gd name="T2" fmla="*/ 323 w 323"/>
                <a:gd name="T3" fmla="*/ 263 h 299"/>
                <a:gd name="T4" fmla="*/ 18 w 323"/>
                <a:gd name="T5" fmla="*/ 0 h 299"/>
                <a:gd name="T6" fmla="*/ 0 w 323"/>
                <a:gd name="T7" fmla="*/ 23 h 299"/>
                <a:gd name="T8" fmla="*/ 323 w 323"/>
                <a:gd name="T9" fmla="*/ 299 h 299"/>
                <a:gd name="T10" fmla="*/ 323 w 323"/>
                <a:gd name="T11" fmla="*/ 299 h 299"/>
              </a:gdLst>
              <a:ahLst/>
              <a:cxnLst>
                <a:cxn ang="0">
                  <a:pos x="T0" y="T1"/>
                </a:cxn>
                <a:cxn ang="0">
                  <a:pos x="T2" y="T3"/>
                </a:cxn>
                <a:cxn ang="0">
                  <a:pos x="T4" y="T5"/>
                </a:cxn>
                <a:cxn ang="0">
                  <a:pos x="T6" y="T7"/>
                </a:cxn>
                <a:cxn ang="0">
                  <a:pos x="T8" y="T9"/>
                </a:cxn>
                <a:cxn ang="0">
                  <a:pos x="T10" y="T11"/>
                </a:cxn>
              </a:cxnLst>
              <a:rect l="0" t="0" r="r" b="b"/>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chemeClr val="bg1">
                    <a:gamma/>
                    <a:tint val="94118"/>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5" name="Freeform 19">
              <a:extLst>
                <a:ext uri="{FF2B5EF4-FFF2-40B4-BE49-F238E27FC236}">
                  <a16:creationId xmlns:a16="http://schemas.microsoft.com/office/drawing/2014/main" id="{C661BD6B-F2D2-4127-B569-67AC228220D6}"/>
                </a:ext>
              </a:extLst>
            </p:cNvPr>
            <p:cNvSpPr>
              <a:spLocks/>
            </p:cNvSpPr>
            <p:nvPr/>
          </p:nvSpPr>
          <p:spPr bwMode="hidden">
            <a:xfrm>
              <a:off x="5477" y="2588"/>
              <a:ext cx="281" cy="335"/>
            </a:xfrm>
            <a:custGeom>
              <a:avLst/>
              <a:gdLst>
                <a:gd name="T0" fmla="*/ 281 w 281"/>
                <a:gd name="T1" fmla="*/ 335 h 335"/>
                <a:gd name="T2" fmla="*/ 281 w 281"/>
                <a:gd name="T3" fmla="*/ 173 h 335"/>
                <a:gd name="T4" fmla="*/ 96 w 281"/>
                <a:gd name="T5" fmla="*/ 0 h 335"/>
                <a:gd name="T6" fmla="*/ 0 w 281"/>
                <a:gd name="T7" fmla="*/ 90 h 335"/>
                <a:gd name="T8" fmla="*/ 281 w 281"/>
                <a:gd name="T9" fmla="*/ 335 h 335"/>
                <a:gd name="T10" fmla="*/ 281 w 281"/>
                <a:gd name="T11" fmla="*/ 335 h 335"/>
              </a:gdLst>
              <a:ahLst/>
              <a:cxnLst>
                <a:cxn ang="0">
                  <a:pos x="T0" y="T1"/>
                </a:cxn>
                <a:cxn ang="0">
                  <a:pos x="T2" y="T3"/>
                </a:cxn>
                <a:cxn ang="0">
                  <a:pos x="T4" y="T5"/>
                </a:cxn>
                <a:cxn ang="0">
                  <a:pos x="T6" y="T7"/>
                </a:cxn>
                <a:cxn ang="0">
                  <a:pos x="T8" y="T9"/>
                </a:cxn>
                <a:cxn ang="0">
                  <a:pos x="T10" y="T11"/>
                </a:cxn>
              </a:cxnLst>
              <a:rect l="0" t="0" r="r" b="b"/>
              <a:pathLst>
                <a:path w="281" h="335">
                  <a:moveTo>
                    <a:pt x="281" y="335"/>
                  </a:moveTo>
                  <a:lnTo>
                    <a:pt x="281" y="173"/>
                  </a:lnTo>
                  <a:lnTo>
                    <a:pt x="96" y="0"/>
                  </a:lnTo>
                  <a:lnTo>
                    <a:pt x="0" y="90"/>
                  </a:lnTo>
                  <a:lnTo>
                    <a:pt x="281" y="335"/>
                  </a:lnTo>
                  <a:lnTo>
                    <a:pt x="281" y="3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6" name="Freeform 20">
              <a:extLst>
                <a:ext uri="{FF2B5EF4-FFF2-40B4-BE49-F238E27FC236}">
                  <a16:creationId xmlns:a16="http://schemas.microsoft.com/office/drawing/2014/main" id="{CF3C2FFC-80CF-472F-ACFB-2BF736B19969}"/>
                </a:ext>
              </a:extLst>
            </p:cNvPr>
            <p:cNvSpPr>
              <a:spLocks/>
            </p:cNvSpPr>
            <p:nvPr/>
          </p:nvSpPr>
          <p:spPr bwMode="hidden">
            <a:xfrm>
              <a:off x="2454" y="0"/>
              <a:ext cx="3119" cy="2678"/>
            </a:xfrm>
            <a:custGeom>
              <a:avLst/>
              <a:gdLst>
                <a:gd name="T0" fmla="*/ 0 w 3122"/>
                <a:gd name="T1" fmla="*/ 0 h 2680"/>
                <a:gd name="T2" fmla="*/ 3026 w 3122"/>
                <a:gd name="T3" fmla="*/ 2680 h 2680"/>
                <a:gd name="T4" fmla="*/ 3122 w 3122"/>
                <a:gd name="T5" fmla="*/ 2590 h 2680"/>
                <a:gd name="T6" fmla="*/ 383 w 3122"/>
                <a:gd name="T7" fmla="*/ 0 h 2680"/>
                <a:gd name="T8" fmla="*/ 0 w 3122"/>
                <a:gd name="T9" fmla="*/ 0 h 2680"/>
                <a:gd name="T10" fmla="*/ 0 w 3122"/>
                <a:gd name="T11" fmla="*/ 0 h 2680"/>
              </a:gdLst>
              <a:ahLst/>
              <a:cxnLst>
                <a:cxn ang="0">
                  <a:pos x="T0" y="T1"/>
                </a:cxn>
                <a:cxn ang="0">
                  <a:pos x="T2" y="T3"/>
                </a:cxn>
                <a:cxn ang="0">
                  <a:pos x="T4" y="T5"/>
                </a:cxn>
                <a:cxn ang="0">
                  <a:pos x="T6" y="T7"/>
                </a:cxn>
                <a:cxn ang="0">
                  <a:pos x="T8" y="T9"/>
                </a:cxn>
                <a:cxn ang="0">
                  <a:pos x="T10" y="T11"/>
                </a:cxn>
              </a:cxnLst>
              <a:rect l="0" t="0" r="r" b="b"/>
              <a:pathLst>
                <a:path w="3122" h="2680">
                  <a:moveTo>
                    <a:pt x="0" y="0"/>
                  </a:moveTo>
                  <a:lnTo>
                    <a:pt x="3026" y="2680"/>
                  </a:lnTo>
                  <a:lnTo>
                    <a:pt x="3122" y="2590"/>
                  </a:lnTo>
                  <a:lnTo>
                    <a:pt x="383" y="0"/>
                  </a:lnTo>
                  <a:lnTo>
                    <a:pt x="0" y="0"/>
                  </a:lnTo>
                  <a:lnTo>
                    <a:pt x="0" y="0"/>
                  </a:lnTo>
                  <a:close/>
                </a:path>
              </a:pathLst>
            </a:custGeom>
            <a:gradFill rotWithShape="0">
              <a:gsLst>
                <a:gs pos="0">
                  <a:schemeClr val="bg1">
                    <a:gamma/>
                    <a:shade val="46275"/>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7" name="Freeform 21">
              <a:extLst>
                <a:ext uri="{FF2B5EF4-FFF2-40B4-BE49-F238E27FC236}">
                  <a16:creationId xmlns:a16="http://schemas.microsoft.com/office/drawing/2014/main" id="{4E3D189A-65C1-4AC5-A345-6E6382C8CAA6}"/>
                </a:ext>
              </a:extLst>
            </p:cNvPr>
            <p:cNvSpPr>
              <a:spLocks/>
            </p:cNvSpPr>
            <p:nvPr/>
          </p:nvSpPr>
          <p:spPr bwMode="hidden">
            <a:xfrm>
              <a:off x="5626" y="2534"/>
              <a:ext cx="132" cy="132"/>
            </a:xfrm>
            <a:custGeom>
              <a:avLst/>
              <a:gdLst>
                <a:gd name="T0" fmla="*/ 132 w 132"/>
                <a:gd name="T1" fmla="*/ 132 h 132"/>
                <a:gd name="T2" fmla="*/ 0 w 132"/>
                <a:gd name="T3" fmla="*/ 0 h 132"/>
                <a:gd name="T4" fmla="*/ 0 w 132"/>
                <a:gd name="T5" fmla="*/ 0 h 132"/>
                <a:gd name="T6" fmla="*/ 132 w 132"/>
                <a:gd name="T7" fmla="*/ 132 h 132"/>
                <a:gd name="T8" fmla="*/ 132 w 132"/>
                <a:gd name="T9" fmla="*/ 132 h 132"/>
              </a:gdLst>
              <a:ahLst/>
              <a:cxnLst>
                <a:cxn ang="0">
                  <a:pos x="T0" y="T1"/>
                </a:cxn>
                <a:cxn ang="0">
                  <a:pos x="T2" y="T3"/>
                </a:cxn>
                <a:cxn ang="0">
                  <a:pos x="T4" y="T5"/>
                </a:cxn>
                <a:cxn ang="0">
                  <a:pos x="T6" y="T7"/>
                </a:cxn>
                <a:cxn ang="0">
                  <a:pos x="T8" y="T9"/>
                </a:cxn>
              </a:cxnLst>
              <a:rect l="0" t="0" r="r" b="b"/>
              <a:pathLst>
                <a:path w="132" h="132">
                  <a:moveTo>
                    <a:pt x="132" y="132"/>
                  </a:moveTo>
                  <a:lnTo>
                    <a:pt x="0" y="0"/>
                  </a:lnTo>
                  <a:lnTo>
                    <a:pt x="0" y="0"/>
                  </a:lnTo>
                  <a:lnTo>
                    <a:pt x="132" y="132"/>
                  </a:lnTo>
                  <a:lnTo>
                    <a:pt x="132" y="132"/>
                  </a:lnTo>
                  <a:close/>
                </a:path>
              </a:pathLst>
            </a:custGeom>
            <a:solidFill>
              <a:srgbClr val="FF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8" name="Freeform 22">
              <a:extLst>
                <a:ext uri="{FF2B5EF4-FFF2-40B4-BE49-F238E27FC236}">
                  <a16:creationId xmlns:a16="http://schemas.microsoft.com/office/drawing/2014/main" id="{448AF2E9-CEC7-4336-9771-0D7675B29604}"/>
                </a:ext>
              </a:extLst>
            </p:cNvPr>
            <p:cNvSpPr>
              <a:spLocks/>
            </p:cNvSpPr>
            <p:nvPr/>
          </p:nvSpPr>
          <p:spPr bwMode="hidden">
            <a:xfrm>
              <a:off x="3112" y="0"/>
              <a:ext cx="2514" cy="2534"/>
            </a:xfrm>
            <a:custGeom>
              <a:avLst/>
              <a:gdLst>
                <a:gd name="T0" fmla="*/ 0 w 2517"/>
                <a:gd name="T1" fmla="*/ 0 h 2536"/>
                <a:gd name="T2" fmla="*/ 2517 w 2517"/>
                <a:gd name="T3" fmla="*/ 2536 h 2536"/>
                <a:gd name="T4" fmla="*/ 2517 w 2517"/>
                <a:gd name="T5" fmla="*/ 2536 h 2536"/>
                <a:gd name="T6" fmla="*/ 66 w 2517"/>
                <a:gd name="T7" fmla="*/ 0 h 2536"/>
                <a:gd name="T8" fmla="*/ 0 w 2517"/>
                <a:gd name="T9" fmla="*/ 0 h 2536"/>
                <a:gd name="T10" fmla="*/ 0 w 2517"/>
                <a:gd name="T11" fmla="*/ 0 h 2536"/>
              </a:gdLst>
              <a:ahLst/>
              <a:cxnLst>
                <a:cxn ang="0">
                  <a:pos x="T0" y="T1"/>
                </a:cxn>
                <a:cxn ang="0">
                  <a:pos x="T2" y="T3"/>
                </a:cxn>
                <a:cxn ang="0">
                  <a:pos x="T4" y="T5"/>
                </a:cxn>
                <a:cxn ang="0">
                  <a:pos x="T6" y="T7"/>
                </a:cxn>
                <a:cxn ang="0">
                  <a:pos x="T8" y="T9"/>
                </a:cxn>
                <a:cxn ang="0">
                  <a:pos x="T10" y="T11"/>
                </a:cxn>
              </a:cxnLst>
              <a:rect l="0" t="0" r="r" b="b"/>
              <a:pathLst>
                <a:path w="2517" h="2536">
                  <a:moveTo>
                    <a:pt x="0" y="0"/>
                  </a:moveTo>
                  <a:lnTo>
                    <a:pt x="2517" y="2536"/>
                  </a:lnTo>
                  <a:lnTo>
                    <a:pt x="2517" y="2536"/>
                  </a:lnTo>
                  <a:lnTo>
                    <a:pt x="66" y="0"/>
                  </a:lnTo>
                  <a:lnTo>
                    <a:pt x="0" y="0"/>
                  </a:lnTo>
                  <a:lnTo>
                    <a:pt x="0" y="0"/>
                  </a:lnTo>
                  <a:close/>
                </a:path>
              </a:pathLst>
            </a:custGeom>
            <a:gradFill rotWithShape="0">
              <a:gsLst>
                <a:gs pos="0">
                  <a:schemeClr val="bg1">
                    <a:gamma/>
                    <a:shade val="51373"/>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79" name="Freeform 23">
              <a:extLst>
                <a:ext uri="{FF2B5EF4-FFF2-40B4-BE49-F238E27FC236}">
                  <a16:creationId xmlns:a16="http://schemas.microsoft.com/office/drawing/2014/main" id="{BD0C9EA7-7EB1-4B40-A9C1-B9AA29FE7770}"/>
                </a:ext>
              </a:extLst>
            </p:cNvPr>
            <p:cNvSpPr>
              <a:spLocks/>
            </p:cNvSpPr>
            <p:nvPr/>
          </p:nvSpPr>
          <p:spPr bwMode="hidden">
            <a:xfrm>
              <a:off x="3488" y="0"/>
              <a:ext cx="2198" cy="2480"/>
            </a:xfrm>
            <a:custGeom>
              <a:avLst/>
              <a:gdLst>
                <a:gd name="T0" fmla="*/ 0 w 2200"/>
                <a:gd name="T1" fmla="*/ 0 h 2482"/>
                <a:gd name="T2" fmla="*/ 2188 w 2200"/>
                <a:gd name="T3" fmla="*/ 2482 h 2482"/>
                <a:gd name="T4" fmla="*/ 2200 w 2200"/>
                <a:gd name="T5" fmla="*/ 2476 h 2482"/>
                <a:gd name="T6" fmla="*/ 317 w 2200"/>
                <a:gd name="T7" fmla="*/ 0 h 2482"/>
                <a:gd name="T8" fmla="*/ 0 w 2200"/>
                <a:gd name="T9" fmla="*/ 0 h 2482"/>
                <a:gd name="T10" fmla="*/ 0 w 2200"/>
                <a:gd name="T11" fmla="*/ 0 h 2482"/>
              </a:gdLst>
              <a:ahLst/>
              <a:cxnLst>
                <a:cxn ang="0">
                  <a:pos x="T0" y="T1"/>
                </a:cxn>
                <a:cxn ang="0">
                  <a:pos x="T2" y="T3"/>
                </a:cxn>
                <a:cxn ang="0">
                  <a:pos x="T4" y="T5"/>
                </a:cxn>
                <a:cxn ang="0">
                  <a:pos x="T6" y="T7"/>
                </a:cxn>
                <a:cxn ang="0">
                  <a:pos x="T8" y="T9"/>
                </a:cxn>
                <a:cxn ang="0">
                  <a:pos x="T10" y="T11"/>
                </a:cxn>
              </a:cxnLst>
              <a:rect l="0" t="0" r="r" b="b"/>
              <a:pathLst>
                <a:path w="2200" h="2482">
                  <a:moveTo>
                    <a:pt x="0" y="0"/>
                  </a:moveTo>
                  <a:lnTo>
                    <a:pt x="2188" y="2482"/>
                  </a:lnTo>
                  <a:lnTo>
                    <a:pt x="2200" y="2476"/>
                  </a:lnTo>
                  <a:lnTo>
                    <a:pt x="317" y="0"/>
                  </a:lnTo>
                  <a:lnTo>
                    <a:pt x="0" y="0"/>
                  </a:lnTo>
                  <a:lnTo>
                    <a:pt x="0" y="0"/>
                  </a:lnTo>
                  <a:close/>
                </a:path>
              </a:pathLst>
            </a:custGeom>
            <a:gradFill rotWithShape="0">
              <a:gsLst>
                <a:gs pos="0">
                  <a:schemeClr val="bg2">
                    <a:gamma/>
                    <a:shade val="78824"/>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224280" name="Freeform 24">
              <a:extLst>
                <a:ext uri="{FF2B5EF4-FFF2-40B4-BE49-F238E27FC236}">
                  <a16:creationId xmlns:a16="http://schemas.microsoft.com/office/drawing/2014/main" id="{55F3BAD3-5FB1-4C24-9D7A-E19697E3DE52}"/>
                </a:ext>
              </a:extLst>
            </p:cNvPr>
            <p:cNvSpPr>
              <a:spLocks/>
            </p:cNvSpPr>
            <p:nvPr/>
          </p:nvSpPr>
          <p:spPr bwMode="hidden">
            <a:xfrm>
              <a:off x="5674" y="2474"/>
              <a:ext cx="84" cy="96"/>
            </a:xfrm>
            <a:custGeom>
              <a:avLst/>
              <a:gdLst>
                <a:gd name="T0" fmla="*/ 84 w 84"/>
                <a:gd name="T1" fmla="*/ 96 h 96"/>
                <a:gd name="T2" fmla="*/ 84 w 84"/>
                <a:gd name="T3" fmla="*/ 90 h 96"/>
                <a:gd name="T4" fmla="*/ 12 w 84"/>
                <a:gd name="T5" fmla="*/ 0 h 96"/>
                <a:gd name="T6" fmla="*/ 0 w 84"/>
                <a:gd name="T7" fmla="*/ 6 h 96"/>
                <a:gd name="T8" fmla="*/ 84 w 84"/>
                <a:gd name="T9" fmla="*/ 96 h 96"/>
                <a:gd name="T10" fmla="*/ 84 w 84"/>
                <a:gd name="T11" fmla="*/ 96 h 96"/>
              </a:gdLst>
              <a:ahLst/>
              <a:cxnLst>
                <a:cxn ang="0">
                  <a:pos x="T0" y="T1"/>
                </a:cxn>
                <a:cxn ang="0">
                  <a:pos x="T2" y="T3"/>
                </a:cxn>
                <a:cxn ang="0">
                  <a:pos x="T4" y="T5"/>
                </a:cxn>
                <a:cxn ang="0">
                  <a:pos x="T6" y="T7"/>
                </a:cxn>
                <a:cxn ang="0">
                  <a:pos x="T8" y="T9"/>
                </a:cxn>
                <a:cxn ang="0">
                  <a:pos x="T10" y="T11"/>
                </a:cxn>
              </a:cxnLst>
              <a:rect l="0" t="0" r="r" b="b"/>
              <a:pathLst>
                <a:path w="84" h="96">
                  <a:moveTo>
                    <a:pt x="84" y="96"/>
                  </a:moveTo>
                  <a:lnTo>
                    <a:pt x="84" y="90"/>
                  </a:lnTo>
                  <a:lnTo>
                    <a:pt x="12" y="0"/>
                  </a:lnTo>
                  <a:lnTo>
                    <a:pt x="0" y="6"/>
                  </a:lnTo>
                  <a:lnTo>
                    <a:pt x="84" y="96"/>
                  </a:lnTo>
                  <a:lnTo>
                    <a:pt x="84" y="96"/>
                  </a:lnTo>
                  <a:close/>
                </a:path>
              </a:pathLst>
            </a:custGeom>
            <a:gradFill rotWithShape="0">
              <a:gsLst>
                <a:gs pos="0">
                  <a:schemeClr val="bg1"/>
                </a:gs>
                <a:gs pos="100000">
                  <a:schemeClr val="bg1">
                    <a:gamma/>
                    <a:tint val="90980"/>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1" name="Freeform 25">
              <a:extLst>
                <a:ext uri="{FF2B5EF4-FFF2-40B4-BE49-F238E27FC236}">
                  <a16:creationId xmlns:a16="http://schemas.microsoft.com/office/drawing/2014/main" id="{27B44E9D-C48C-4311-852B-2D6E63D113D7}"/>
                </a:ext>
              </a:extLst>
            </p:cNvPr>
            <p:cNvSpPr>
              <a:spLocks/>
            </p:cNvSpPr>
            <p:nvPr/>
          </p:nvSpPr>
          <p:spPr bwMode="hidden">
            <a:xfrm>
              <a:off x="5603" y="850"/>
              <a:ext cx="155" cy="516"/>
            </a:xfrm>
            <a:custGeom>
              <a:avLst/>
              <a:gdLst>
                <a:gd name="T0" fmla="*/ 155 w 155"/>
                <a:gd name="T1" fmla="*/ 516 h 516"/>
                <a:gd name="T2" fmla="*/ 155 w 155"/>
                <a:gd name="T3" fmla="*/ 204 h 516"/>
                <a:gd name="T4" fmla="*/ 77 w 155"/>
                <a:gd name="T5" fmla="*/ 0 h 516"/>
                <a:gd name="T6" fmla="*/ 0 w 155"/>
                <a:gd name="T7" fmla="*/ 192 h 516"/>
                <a:gd name="T8" fmla="*/ 155 w 155"/>
                <a:gd name="T9" fmla="*/ 516 h 516"/>
                <a:gd name="T10" fmla="*/ 155 w 155"/>
                <a:gd name="T11" fmla="*/ 516 h 516"/>
              </a:gdLst>
              <a:ahLst/>
              <a:cxnLst>
                <a:cxn ang="0">
                  <a:pos x="T0" y="T1"/>
                </a:cxn>
                <a:cxn ang="0">
                  <a:pos x="T2" y="T3"/>
                </a:cxn>
                <a:cxn ang="0">
                  <a:pos x="T4" y="T5"/>
                </a:cxn>
                <a:cxn ang="0">
                  <a:pos x="T6" y="T7"/>
                </a:cxn>
                <a:cxn ang="0">
                  <a:pos x="T8" y="T9"/>
                </a:cxn>
                <a:cxn ang="0">
                  <a:pos x="T10" y="T11"/>
                </a:cxn>
              </a:cxnLst>
              <a:rect l="0" t="0" r="r" b="b"/>
              <a:pathLst>
                <a:path w="155" h="516">
                  <a:moveTo>
                    <a:pt x="155" y="516"/>
                  </a:moveTo>
                  <a:lnTo>
                    <a:pt x="155" y="204"/>
                  </a:lnTo>
                  <a:lnTo>
                    <a:pt x="77" y="0"/>
                  </a:lnTo>
                  <a:lnTo>
                    <a:pt x="0" y="192"/>
                  </a:lnTo>
                  <a:lnTo>
                    <a:pt x="155" y="516"/>
                  </a:lnTo>
                  <a:lnTo>
                    <a:pt x="155" y="51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2" name="Freeform 26">
              <a:extLst>
                <a:ext uri="{FF2B5EF4-FFF2-40B4-BE49-F238E27FC236}">
                  <a16:creationId xmlns:a16="http://schemas.microsoft.com/office/drawing/2014/main" id="{7948465C-5A8A-4E71-8071-142E665F75CB}"/>
                </a:ext>
              </a:extLst>
            </p:cNvPr>
            <p:cNvSpPr>
              <a:spLocks/>
            </p:cNvSpPr>
            <p:nvPr/>
          </p:nvSpPr>
          <p:spPr bwMode="hidden">
            <a:xfrm>
              <a:off x="5107" y="0"/>
              <a:ext cx="573" cy="1042"/>
            </a:xfrm>
            <a:custGeom>
              <a:avLst/>
              <a:gdLst>
                <a:gd name="T0" fmla="*/ 0 w 574"/>
                <a:gd name="T1" fmla="*/ 0 h 1043"/>
                <a:gd name="T2" fmla="*/ 497 w 574"/>
                <a:gd name="T3" fmla="*/ 1043 h 1043"/>
                <a:gd name="T4" fmla="*/ 574 w 574"/>
                <a:gd name="T5" fmla="*/ 851 h 1043"/>
                <a:gd name="T6" fmla="*/ 251 w 574"/>
                <a:gd name="T7" fmla="*/ 0 h 1043"/>
                <a:gd name="T8" fmla="*/ 0 w 574"/>
                <a:gd name="T9" fmla="*/ 0 h 1043"/>
                <a:gd name="T10" fmla="*/ 0 w 574"/>
                <a:gd name="T11" fmla="*/ 0 h 1043"/>
              </a:gdLst>
              <a:ahLst/>
              <a:cxnLst>
                <a:cxn ang="0">
                  <a:pos x="T0" y="T1"/>
                </a:cxn>
                <a:cxn ang="0">
                  <a:pos x="T2" y="T3"/>
                </a:cxn>
                <a:cxn ang="0">
                  <a:pos x="T4" y="T5"/>
                </a:cxn>
                <a:cxn ang="0">
                  <a:pos x="T6" y="T7"/>
                </a:cxn>
                <a:cxn ang="0">
                  <a:pos x="T8" y="T9"/>
                </a:cxn>
                <a:cxn ang="0">
                  <a:pos x="T10" y="T11"/>
                </a:cxn>
              </a:cxnLst>
              <a:rect l="0" t="0" r="r" b="b"/>
              <a:pathLst>
                <a:path w="574" h="1043">
                  <a:moveTo>
                    <a:pt x="0" y="0"/>
                  </a:moveTo>
                  <a:lnTo>
                    <a:pt x="497" y="1043"/>
                  </a:lnTo>
                  <a:lnTo>
                    <a:pt x="574" y="851"/>
                  </a:lnTo>
                  <a:lnTo>
                    <a:pt x="251" y="0"/>
                  </a:lnTo>
                  <a:lnTo>
                    <a:pt x="0" y="0"/>
                  </a:lnTo>
                  <a:lnTo>
                    <a:pt x="0" y="0"/>
                  </a:lnTo>
                  <a:close/>
                </a:path>
              </a:pathLst>
            </a:custGeom>
            <a:gradFill rotWithShape="0">
              <a:gsLst>
                <a:gs pos="0">
                  <a:schemeClr val="bg2">
                    <a:gamma/>
                    <a:shade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3" name="Freeform 27">
              <a:extLst>
                <a:ext uri="{FF2B5EF4-FFF2-40B4-BE49-F238E27FC236}">
                  <a16:creationId xmlns:a16="http://schemas.microsoft.com/office/drawing/2014/main" id="{2EC89344-35DA-46C7-83F6-2239C68767C9}"/>
                </a:ext>
              </a:extLst>
            </p:cNvPr>
            <p:cNvSpPr>
              <a:spLocks/>
            </p:cNvSpPr>
            <p:nvPr/>
          </p:nvSpPr>
          <p:spPr bwMode="hidden">
            <a:xfrm>
              <a:off x="5411" y="0"/>
              <a:ext cx="341" cy="796"/>
            </a:xfrm>
            <a:custGeom>
              <a:avLst/>
              <a:gdLst>
                <a:gd name="T0" fmla="*/ 144 w 341"/>
                <a:gd name="T1" fmla="*/ 0 h 797"/>
                <a:gd name="T2" fmla="*/ 0 w 341"/>
                <a:gd name="T3" fmla="*/ 0 h 797"/>
                <a:gd name="T4" fmla="*/ 287 w 341"/>
                <a:gd name="T5" fmla="*/ 797 h 797"/>
                <a:gd name="T6" fmla="*/ 341 w 341"/>
                <a:gd name="T7" fmla="*/ 653 h 797"/>
                <a:gd name="T8" fmla="*/ 144 w 341"/>
                <a:gd name="T9" fmla="*/ 0 h 797"/>
                <a:gd name="T10" fmla="*/ 144 w 341"/>
                <a:gd name="T11" fmla="*/ 0 h 797"/>
              </a:gdLst>
              <a:ahLst/>
              <a:cxnLst>
                <a:cxn ang="0">
                  <a:pos x="T0" y="T1"/>
                </a:cxn>
                <a:cxn ang="0">
                  <a:pos x="T2" y="T3"/>
                </a:cxn>
                <a:cxn ang="0">
                  <a:pos x="T4" y="T5"/>
                </a:cxn>
                <a:cxn ang="0">
                  <a:pos x="T6" y="T7"/>
                </a:cxn>
                <a:cxn ang="0">
                  <a:pos x="T8" y="T9"/>
                </a:cxn>
                <a:cxn ang="0">
                  <a:pos x="T10" y="T11"/>
                </a:cxn>
              </a:cxnLst>
              <a:rect l="0" t="0" r="r" b="b"/>
              <a:pathLst>
                <a:path w="341" h="797">
                  <a:moveTo>
                    <a:pt x="144" y="0"/>
                  </a:moveTo>
                  <a:lnTo>
                    <a:pt x="0" y="0"/>
                  </a:lnTo>
                  <a:lnTo>
                    <a:pt x="287" y="797"/>
                  </a:lnTo>
                  <a:lnTo>
                    <a:pt x="341" y="653"/>
                  </a:lnTo>
                  <a:lnTo>
                    <a:pt x="144" y="0"/>
                  </a:lnTo>
                  <a:lnTo>
                    <a:pt x="144" y="0"/>
                  </a:lnTo>
                  <a:close/>
                </a:path>
              </a:pathLst>
            </a:custGeom>
            <a:gradFill rotWithShape="0">
              <a:gsLst>
                <a:gs pos="0">
                  <a:schemeClr val="bg2">
                    <a:gamma/>
                    <a:shade val="69804"/>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4" name="Freeform 28">
              <a:extLst>
                <a:ext uri="{FF2B5EF4-FFF2-40B4-BE49-F238E27FC236}">
                  <a16:creationId xmlns:a16="http://schemas.microsoft.com/office/drawing/2014/main" id="{2104845B-6863-4E94-BB7A-76926DB9E788}"/>
                </a:ext>
              </a:extLst>
            </p:cNvPr>
            <p:cNvSpPr>
              <a:spLocks/>
            </p:cNvSpPr>
            <p:nvPr/>
          </p:nvSpPr>
          <p:spPr bwMode="hidden">
            <a:xfrm>
              <a:off x="5698" y="653"/>
              <a:ext cx="60" cy="311"/>
            </a:xfrm>
            <a:custGeom>
              <a:avLst/>
              <a:gdLst>
                <a:gd name="T0" fmla="*/ 0 w 60"/>
                <a:gd name="T1" fmla="*/ 144 h 312"/>
                <a:gd name="T2" fmla="*/ 60 w 60"/>
                <a:gd name="T3" fmla="*/ 312 h 312"/>
                <a:gd name="T4" fmla="*/ 60 w 60"/>
                <a:gd name="T5" fmla="*/ 6 h 312"/>
                <a:gd name="T6" fmla="*/ 54 w 60"/>
                <a:gd name="T7" fmla="*/ 0 h 312"/>
                <a:gd name="T8" fmla="*/ 0 w 60"/>
                <a:gd name="T9" fmla="*/ 144 h 312"/>
                <a:gd name="T10" fmla="*/ 0 w 60"/>
                <a:gd name="T11" fmla="*/ 144 h 312"/>
              </a:gdLst>
              <a:ahLst/>
              <a:cxnLst>
                <a:cxn ang="0">
                  <a:pos x="T0" y="T1"/>
                </a:cxn>
                <a:cxn ang="0">
                  <a:pos x="T2" y="T3"/>
                </a:cxn>
                <a:cxn ang="0">
                  <a:pos x="T4" y="T5"/>
                </a:cxn>
                <a:cxn ang="0">
                  <a:pos x="T6" y="T7"/>
                </a:cxn>
                <a:cxn ang="0">
                  <a:pos x="T8" y="T9"/>
                </a:cxn>
                <a:cxn ang="0">
                  <a:pos x="T10" y="T11"/>
                </a:cxn>
              </a:cxnLst>
              <a:rect l="0" t="0" r="r" b="b"/>
              <a:pathLst>
                <a:path w="60" h="312">
                  <a:moveTo>
                    <a:pt x="0" y="144"/>
                  </a:moveTo>
                  <a:lnTo>
                    <a:pt x="60" y="312"/>
                  </a:lnTo>
                  <a:lnTo>
                    <a:pt x="60" y="6"/>
                  </a:lnTo>
                  <a:lnTo>
                    <a:pt x="54" y="0"/>
                  </a:lnTo>
                  <a:lnTo>
                    <a:pt x="0" y="144"/>
                  </a:lnTo>
                  <a:lnTo>
                    <a:pt x="0" y="14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5" name="Freeform 29">
              <a:extLst>
                <a:ext uri="{FF2B5EF4-FFF2-40B4-BE49-F238E27FC236}">
                  <a16:creationId xmlns:a16="http://schemas.microsoft.com/office/drawing/2014/main" id="{D424D0F0-B5B6-4189-8B3F-5BFAFB05C0DB}"/>
                </a:ext>
              </a:extLst>
            </p:cNvPr>
            <p:cNvSpPr>
              <a:spLocks/>
            </p:cNvSpPr>
            <p:nvPr/>
          </p:nvSpPr>
          <p:spPr bwMode="hidden">
            <a:xfrm>
              <a:off x="2" y="1601"/>
              <a:ext cx="5752" cy="1864"/>
            </a:xfrm>
            <a:custGeom>
              <a:avLst/>
              <a:gdLst>
                <a:gd name="T0" fmla="*/ 0 w 5740"/>
                <a:gd name="T1" fmla="*/ 371 h 1864"/>
                <a:gd name="T2" fmla="*/ 5740 w 5740"/>
                <a:gd name="T3" fmla="*/ 1864 h 1864"/>
                <a:gd name="T4" fmla="*/ 5740 w 5740"/>
                <a:gd name="T5" fmla="*/ 1834 h 1864"/>
                <a:gd name="T6" fmla="*/ 0 w 5740"/>
                <a:gd name="T7" fmla="*/ 0 h 1864"/>
                <a:gd name="T8" fmla="*/ 0 w 5740"/>
                <a:gd name="T9" fmla="*/ 371 h 1864"/>
                <a:gd name="T10" fmla="*/ 0 w 5740"/>
                <a:gd name="T11" fmla="*/ 371 h 1864"/>
              </a:gdLst>
              <a:ahLst/>
              <a:cxnLst>
                <a:cxn ang="0">
                  <a:pos x="T0" y="T1"/>
                </a:cxn>
                <a:cxn ang="0">
                  <a:pos x="T2" y="T3"/>
                </a:cxn>
                <a:cxn ang="0">
                  <a:pos x="T4" y="T5"/>
                </a:cxn>
                <a:cxn ang="0">
                  <a:pos x="T6" y="T7"/>
                </a:cxn>
                <a:cxn ang="0">
                  <a:pos x="T8" y="T9"/>
                </a:cxn>
                <a:cxn ang="0">
                  <a:pos x="T10" y="T11"/>
                </a:cxn>
              </a:cxnLst>
              <a:rect l="0" t="0" r="r" b="b"/>
              <a:pathLst>
                <a:path w="5740" h="1864">
                  <a:moveTo>
                    <a:pt x="0" y="371"/>
                  </a:moveTo>
                  <a:lnTo>
                    <a:pt x="5740" y="1864"/>
                  </a:lnTo>
                  <a:lnTo>
                    <a:pt x="5740" y="1834"/>
                  </a:lnTo>
                  <a:lnTo>
                    <a:pt x="0" y="0"/>
                  </a:lnTo>
                  <a:lnTo>
                    <a:pt x="0" y="371"/>
                  </a:lnTo>
                  <a:lnTo>
                    <a:pt x="0" y="371"/>
                  </a:lnTo>
                  <a:close/>
                </a:path>
              </a:pathLst>
            </a:custGeom>
            <a:gradFill rotWithShape="0">
              <a:gsLst>
                <a:gs pos="0">
                  <a:schemeClr val="bg1">
                    <a:gamma/>
                    <a:shade val="63529"/>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6" name="Freeform 30">
              <a:extLst>
                <a:ext uri="{FF2B5EF4-FFF2-40B4-BE49-F238E27FC236}">
                  <a16:creationId xmlns:a16="http://schemas.microsoft.com/office/drawing/2014/main" id="{3EE59061-DBE8-4BD3-807C-3BF3000536D7}"/>
                </a:ext>
              </a:extLst>
            </p:cNvPr>
            <p:cNvSpPr>
              <a:spLocks/>
            </p:cNvSpPr>
            <p:nvPr/>
          </p:nvSpPr>
          <p:spPr bwMode="hidden">
            <a:xfrm>
              <a:off x="5754" y="3483"/>
              <a:ext cx="6" cy="6"/>
            </a:xfrm>
            <a:custGeom>
              <a:avLst/>
              <a:gdLst>
                <a:gd name="T0" fmla="*/ 6 w 6"/>
                <a:gd name="T1" fmla="*/ 6 h 6"/>
                <a:gd name="T2" fmla="*/ 0 w 6"/>
                <a:gd name="T3" fmla="*/ 0 h 6"/>
                <a:gd name="T4" fmla="*/ 0 w 6"/>
                <a:gd name="T5" fmla="*/ 6 h 6"/>
                <a:gd name="T6" fmla="*/ 6 w 6"/>
                <a:gd name="T7" fmla="*/ 6 h 6"/>
                <a:gd name="T8" fmla="*/ 6 w 6"/>
                <a:gd name="T9" fmla="*/ 6 h 6"/>
              </a:gdLst>
              <a:ahLst/>
              <a:cxnLst>
                <a:cxn ang="0">
                  <a:pos x="T0" y="T1"/>
                </a:cxn>
                <a:cxn ang="0">
                  <a:pos x="T2" y="T3"/>
                </a:cxn>
                <a:cxn ang="0">
                  <a:pos x="T4" y="T5"/>
                </a:cxn>
                <a:cxn ang="0">
                  <a:pos x="T6" y="T7"/>
                </a:cxn>
                <a:cxn ang="0">
                  <a:pos x="T8" y="T9"/>
                </a:cxn>
              </a:cxnLst>
              <a:rect l="0" t="0" r="r" b="b"/>
              <a:pathLst>
                <a:path w="6" h="6">
                  <a:moveTo>
                    <a:pt x="6" y="6"/>
                  </a:moveTo>
                  <a:lnTo>
                    <a:pt x="0" y="0"/>
                  </a:lnTo>
                  <a:lnTo>
                    <a:pt x="0" y="6"/>
                  </a:lnTo>
                  <a:lnTo>
                    <a:pt x="6" y="6"/>
                  </a:lnTo>
                  <a:lnTo>
                    <a:pt x="6" y="6"/>
                  </a:lnTo>
                  <a:close/>
                </a:path>
              </a:pathLst>
            </a:custGeom>
            <a:solidFill>
              <a:srgbClr val="18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7" name="Freeform 31">
              <a:extLst>
                <a:ext uri="{FF2B5EF4-FFF2-40B4-BE49-F238E27FC236}">
                  <a16:creationId xmlns:a16="http://schemas.microsoft.com/office/drawing/2014/main" id="{995FA0C6-0339-4877-8F29-F2190BC92D9B}"/>
                </a:ext>
              </a:extLst>
            </p:cNvPr>
            <p:cNvSpPr>
              <a:spLocks/>
            </p:cNvSpPr>
            <p:nvPr/>
          </p:nvSpPr>
          <p:spPr bwMode="hidden">
            <a:xfrm>
              <a:off x="2" y="2152"/>
              <a:ext cx="5752" cy="1337"/>
            </a:xfrm>
            <a:custGeom>
              <a:avLst/>
              <a:gdLst>
                <a:gd name="T0" fmla="*/ 0 w 5740"/>
                <a:gd name="T1" fmla="*/ 366 h 1337"/>
                <a:gd name="T2" fmla="*/ 5740 w 5740"/>
                <a:gd name="T3" fmla="*/ 1337 h 1337"/>
                <a:gd name="T4" fmla="*/ 5740 w 5740"/>
                <a:gd name="T5" fmla="*/ 1331 h 1337"/>
                <a:gd name="T6" fmla="*/ 0 w 5740"/>
                <a:gd name="T7" fmla="*/ 0 h 1337"/>
                <a:gd name="T8" fmla="*/ 0 w 5740"/>
                <a:gd name="T9" fmla="*/ 366 h 1337"/>
                <a:gd name="T10" fmla="*/ 0 w 5740"/>
                <a:gd name="T11" fmla="*/ 366 h 1337"/>
              </a:gdLst>
              <a:ahLst/>
              <a:cxnLst>
                <a:cxn ang="0">
                  <a:pos x="T0" y="T1"/>
                </a:cxn>
                <a:cxn ang="0">
                  <a:pos x="T2" y="T3"/>
                </a:cxn>
                <a:cxn ang="0">
                  <a:pos x="T4" y="T5"/>
                </a:cxn>
                <a:cxn ang="0">
                  <a:pos x="T6" y="T7"/>
                </a:cxn>
                <a:cxn ang="0">
                  <a:pos x="T8" y="T9"/>
                </a:cxn>
                <a:cxn ang="0">
                  <a:pos x="T10" y="T11"/>
                </a:cxn>
              </a:cxnLst>
              <a:rect l="0" t="0" r="r" b="b"/>
              <a:pathLst>
                <a:path w="5740" h="1337">
                  <a:moveTo>
                    <a:pt x="0" y="366"/>
                  </a:moveTo>
                  <a:lnTo>
                    <a:pt x="5740" y="1337"/>
                  </a:lnTo>
                  <a:lnTo>
                    <a:pt x="5740" y="1331"/>
                  </a:lnTo>
                  <a:lnTo>
                    <a:pt x="0" y="0"/>
                  </a:lnTo>
                  <a:lnTo>
                    <a:pt x="0" y="366"/>
                  </a:lnTo>
                  <a:lnTo>
                    <a:pt x="0" y="366"/>
                  </a:lnTo>
                  <a:close/>
                </a:path>
              </a:pathLst>
            </a:custGeom>
            <a:gradFill rotWithShape="0">
              <a:gsLst>
                <a:gs pos="0">
                  <a:schemeClr val="bg1">
                    <a:gamma/>
                    <a:shade val="6078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8" name="Freeform 32">
              <a:extLst>
                <a:ext uri="{FF2B5EF4-FFF2-40B4-BE49-F238E27FC236}">
                  <a16:creationId xmlns:a16="http://schemas.microsoft.com/office/drawing/2014/main" id="{4E6D7E81-46D9-4CAB-A8B1-EE7BC0937BD9}"/>
                </a:ext>
              </a:extLst>
            </p:cNvPr>
            <p:cNvSpPr>
              <a:spLocks/>
            </p:cNvSpPr>
            <p:nvPr/>
          </p:nvSpPr>
          <p:spPr bwMode="hidden">
            <a:xfrm>
              <a:off x="2" y="3177"/>
              <a:ext cx="5752" cy="414"/>
            </a:xfrm>
            <a:custGeom>
              <a:avLst/>
              <a:gdLst>
                <a:gd name="T0" fmla="*/ 0 w 5740"/>
                <a:gd name="T1" fmla="*/ 48 h 414"/>
                <a:gd name="T2" fmla="*/ 5740 w 5740"/>
                <a:gd name="T3" fmla="*/ 414 h 414"/>
                <a:gd name="T4" fmla="*/ 5740 w 5740"/>
                <a:gd name="T5" fmla="*/ 402 h 414"/>
                <a:gd name="T6" fmla="*/ 0 w 5740"/>
                <a:gd name="T7" fmla="*/ 0 h 414"/>
                <a:gd name="T8" fmla="*/ 0 w 5740"/>
                <a:gd name="T9" fmla="*/ 48 h 414"/>
                <a:gd name="T10" fmla="*/ 0 w 5740"/>
                <a:gd name="T11" fmla="*/ 48 h 414"/>
              </a:gdLst>
              <a:ahLst/>
              <a:cxnLst>
                <a:cxn ang="0">
                  <a:pos x="T0" y="T1"/>
                </a:cxn>
                <a:cxn ang="0">
                  <a:pos x="T2" y="T3"/>
                </a:cxn>
                <a:cxn ang="0">
                  <a:pos x="T4" y="T5"/>
                </a:cxn>
                <a:cxn ang="0">
                  <a:pos x="T6" y="T7"/>
                </a:cxn>
                <a:cxn ang="0">
                  <a:pos x="T8" y="T9"/>
                </a:cxn>
                <a:cxn ang="0">
                  <a:pos x="T10" y="T11"/>
                </a:cxn>
              </a:cxnLst>
              <a:rect l="0" t="0" r="r" b="b"/>
              <a:pathLst>
                <a:path w="5740" h="414">
                  <a:moveTo>
                    <a:pt x="0" y="48"/>
                  </a:moveTo>
                  <a:lnTo>
                    <a:pt x="5740" y="414"/>
                  </a:lnTo>
                  <a:lnTo>
                    <a:pt x="5740" y="402"/>
                  </a:lnTo>
                  <a:lnTo>
                    <a:pt x="0" y="0"/>
                  </a:lnTo>
                  <a:lnTo>
                    <a:pt x="0" y="48"/>
                  </a:lnTo>
                  <a:lnTo>
                    <a:pt x="0" y="48"/>
                  </a:lnTo>
                  <a:close/>
                </a:path>
              </a:pathLst>
            </a:custGeom>
            <a:gradFill rotWithShape="0">
              <a:gsLst>
                <a:gs pos="0">
                  <a:schemeClr val="bg1">
                    <a:gamma/>
                    <a:shade val="84706"/>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89" name="Freeform 33">
              <a:extLst>
                <a:ext uri="{FF2B5EF4-FFF2-40B4-BE49-F238E27FC236}">
                  <a16:creationId xmlns:a16="http://schemas.microsoft.com/office/drawing/2014/main" id="{9CD2AD29-9079-4C2D-B2EC-0B4F7DC8F12B}"/>
                </a:ext>
              </a:extLst>
            </p:cNvPr>
            <p:cNvSpPr>
              <a:spLocks/>
            </p:cNvSpPr>
            <p:nvPr/>
          </p:nvSpPr>
          <p:spPr bwMode="hidden">
            <a:xfrm>
              <a:off x="1297" y="0"/>
              <a:ext cx="4457" cy="3177"/>
            </a:xfrm>
            <a:custGeom>
              <a:avLst/>
              <a:gdLst>
                <a:gd name="T0" fmla="*/ 0 w 4448"/>
                <a:gd name="T1" fmla="*/ 0 h 3177"/>
                <a:gd name="T2" fmla="*/ 4448 w 4448"/>
                <a:gd name="T3" fmla="*/ 3177 h 3177"/>
                <a:gd name="T4" fmla="*/ 4448 w 4448"/>
                <a:gd name="T5" fmla="*/ 3153 h 3177"/>
                <a:gd name="T6" fmla="*/ 125 w 4448"/>
                <a:gd name="T7" fmla="*/ 0 h 3177"/>
                <a:gd name="T8" fmla="*/ 0 w 4448"/>
                <a:gd name="T9" fmla="*/ 0 h 3177"/>
                <a:gd name="T10" fmla="*/ 0 w 4448"/>
                <a:gd name="T11" fmla="*/ 0 h 3177"/>
              </a:gdLst>
              <a:ahLst/>
              <a:cxnLst>
                <a:cxn ang="0">
                  <a:pos x="T0" y="T1"/>
                </a:cxn>
                <a:cxn ang="0">
                  <a:pos x="T2" y="T3"/>
                </a:cxn>
                <a:cxn ang="0">
                  <a:pos x="T4" y="T5"/>
                </a:cxn>
                <a:cxn ang="0">
                  <a:pos x="T6" y="T7"/>
                </a:cxn>
                <a:cxn ang="0">
                  <a:pos x="T8" y="T9"/>
                </a:cxn>
                <a:cxn ang="0">
                  <a:pos x="T10" y="T11"/>
                </a:cxn>
              </a:cxnLst>
              <a:rect l="0" t="0" r="r" b="b"/>
              <a:pathLst>
                <a:path w="4448" h="3177">
                  <a:moveTo>
                    <a:pt x="0" y="0"/>
                  </a:moveTo>
                  <a:lnTo>
                    <a:pt x="4448" y="3177"/>
                  </a:lnTo>
                  <a:lnTo>
                    <a:pt x="4448" y="3153"/>
                  </a:lnTo>
                  <a:lnTo>
                    <a:pt x="125" y="0"/>
                  </a:lnTo>
                  <a:lnTo>
                    <a:pt x="0" y="0"/>
                  </a:lnTo>
                  <a:lnTo>
                    <a:pt x="0" y="0"/>
                  </a:lnTo>
                  <a:close/>
                </a:path>
              </a:pathLst>
            </a:custGeom>
            <a:gradFill rotWithShape="0">
              <a:gsLst>
                <a:gs pos="0">
                  <a:schemeClr val="bg1">
                    <a:gamma/>
                    <a:shade val="48627"/>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90" name="Freeform 34">
              <a:extLst>
                <a:ext uri="{FF2B5EF4-FFF2-40B4-BE49-F238E27FC236}">
                  <a16:creationId xmlns:a16="http://schemas.microsoft.com/office/drawing/2014/main" id="{89B8DE9E-E184-4AFE-8857-ABBED262986E}"/>
                </a:ext>
              </a:extLst>
            </p:cNvPr>
            <p:cNvSpPr>
              <a:spLocks/>
            </p:cNvSpPr>
            <p:nvPr/>
          </p:nvSpPr>
          <p:spPr bwMode="hidden">
            <a:xfrm>
              <a:off x="3321" y="0"/>
              <a:ext cx="2433" cy="2614"/>
            </a:xfrm>
            <a:custGeom>
              <a:avLst/>
              <a:gdLst>
                <a:gd name="T0" fmla="*/ 0 w 2428"/>
                <a:gd name="T1" fmla="*/ 0 h 2614"/>
                <a:gd name="T2" fmla="*/ 2428 w 2428"/>
                <a:gd name="T3" fmla="*/ 2614 h 2614"/>
                <a:gd name="T4" fmla="*/ 2428 w 2428"/>
                <a:gd name="T5" fmla="*/ 2608 h 2614"/>
                <a:gd name="T6" fmla="*/ 66 w 2428"/>
                <a:gd name="T7" fmla="*/ 0 h 2614"/>
                <a:gd name="T8" fmla="*/ 0 w 2428"/>
                <a:gd name="T9" fmla="*/ 0 h 2614"/>
                <a:gd name="T10" fmla="*/ 0 w 2428"/>
                <a:gd name="T11" fmla="*/ 0 h 2614"/>
              </a:gdLst>
              <a:ahLst/>
              <a:cxnLst>
                <a:cxn ang="0">
                  <a:pos x="T0" y="T1"/>
                </a:cxn>
                <a:cxn ang="0">
                  <a:pos x="T2" y="T3"/>
                </a:cxn>
                <a:cxn ang="0">
                  <a:pos x="T4" y="T5"/>
                </a:cxn>
                <a:cxn ang="0">
                  <a:pos x="T6" y="T7"/>
                </a:cxn>
                <a:cxn ang="0">
                  <a:pos x="T8" y="T9"/>
                </a:cxn>
                <a:cxn ang="0">
                  <a:pos x="T10" y="T11"/>
                </a:cxn>
              </a:cxnLst>
              <a:rect l="0" t="0" r="r" b="b"/>
              <a:pathLst>
                <a:path w="2428" h="2614">
                  <a:moveTo>
                    <a:pt x="0" y="0"/>
                  </a:moveTo>
                  <a:lnTo>
                    <a:pt x="2428" y="2614"/>
                  </a:lnTo>
                  <a:lnTo>
                    <a:pt x="2428" y="2608"/>
                  </a:lnTo>
                  <a:lnTo>
                    <a:pt x="66" y="0"/>
                  </a:lnTo>
                  <a:lnTo>
                    <a:pt x="0" y="0"/>
                  </a:lnTo>
                  <a:lnTo>
                    <a:pt x="0" y="0"/>
                  </a:lnTo>
                  <a:close/>
                </a:path>
              </a:pathLst>
            </a:custGeom>
            <a:gradFill rotWithShape="0">
              <a:gsLst>
                <a:gs pos="0">
                  <a:schemeClr val="bg1">
                    <a:gamma/>
                    <a:shade val="84706"/>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91" name="Freeform 35">
              <a:extLst>
                <a:ext uri="{FF2B5EF4-FFF2-40B4-BE49-F238E27FC236}">
                  <a16:creationId xmlns:a16="http://schemas.microsoft.com/office/drawing/2014/main" id="{8358D4AD-0B5D-4B85-ACAE-A06CB9FCB090}"/>
                </a:ext>
              </a:extLst>
            </p:cNvPr>
            <p:cNvSpPr>
              <a:spLocks/>
            </p:cNvSpPr>
            <p:nvPr/>
          </p:nvSpPr>
          <p:spPr bwMode="hidden">
            <a:xfrm>
              <a:off x="3950" y="0"/>
              <a:ext cx="1804" cy="2464"/>
            </a:xfrm>
            <a:custGeom>
              <a:avLst/>
              <a:gdLst>
                <a:gd name="T0" fmla="*/ 485 w 1800"/>
                <a:gd name="T1" fmla="*/ 0 h 2464"/>
                <a:gd name="T2" fmla="*/ 0 w 1800"/>
                <a:gd name="T3" fmla="*/ 0 h 2464"/>
                <a:gd name="T4" fmla="*/ 1800 w 1800"/>
                <a:gd name="T5" fmla="*/ 2464 h 2464"/>
                <a:gd name="T6" fmla="*/ 1800 w 1800"/>
                <a:gd name="T7" fmla="*/ 2248 h 2464"/>
                <a:gd name="T8" fmla="*/ 1794 w 1800"/>
                <a:gd name="T9" fmla="*/ 2248 h 2464"/>
                <a:gd name="T10" fmla="*/ 485 w 1800"/>
                <a:gd name="T11" fmla="*/ 0 h 2464"/>
                <a:gd name="T12" fmla="*/ 485 w 1800"/>
                <a:gd name="T13" fmla="*/ 0 h 2464"/>
              </a:gdLst>
              <a:ahLst/>
              <a:cxnLst>
                <a:cxn ang="0">
                  <a:pos x="T0" y="T1"/>
                </a:cxn>
                <a:cxn ang="0">
                  <a:pos x="T2" y="T3"/>
                </a:cxn>
                <a:cxn ang="0">
                  <a:pos x="T4" y="T5"/>
                </a:cxn>
                <a:cxn ang="0">
                  <a:pos x="T6" y="T7"/>
                </a:cxn>
                <a:cxn ang="0">
                  <a:pos x="T8" y="T9"/>
                </a:cxn>
                <a:cxn ang="0">
                  <a:pos x="T10" y="T11"/>
                </a:cxn>
                <a:cxn ang="0">
                  <a:pos x="T12" y="T13"/>
                </a:cxn>
              </a:cxnLst>
              <a:rect l="0" t="0"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chemeClr val="bg2">
                    <a:gamma/>
                    <a:shade val="78824"/>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92" name="Freeform 36">
              <a:extLst>
                <a:ext uri="{FF2B5EF4-FFF2-40B4-BE49-F238E27FC236}">
                  <a16:creationId xmlns:a16="http://schemas.microsoft.com/office/drawing/2014/main" id="{AA768B51-A876-4EFC-85EE-04F5ECA8C9DB}"/>
                </a:ext>
              </a:extLst>
            </p:cNvPr>
            <p:cNvSpPr>
              <a:spLocks/>
            </p:cNvSpPr>
            <p:nvPr/>
          </p:nvSpPr>
          <p:spPr bwMode="hidden">
            <a:xfrm>
              <a:off x="4519" y="0"/>
              <a:ext cx="1235" cy="2074"/>
            </a:xfrm>
            <a:custGeom>
              <a:avLst/>
              <a:gdLst>
                <a:gd name="T0" fmla="*/ 0 w 1232"/>
                <a:gd name="T1" fmla="*/ 0 h 2074"/>
                <a:gd name="T2" fmla="*/ 1232 w 1232"/>
                <a:gd name="T3" fmla="*/ 2074 h 2074"/>
                <a:gd name="T4" fmla="*/ 1232 w 1232"/>
                <a:gd name="T5" fmla="*/ 2038 h 2074"/>
                <a:gd name="T6" fmla="*/ 42 w 1232"/>
                <a:gd name="T7" fmla="*/ 0 h 2074"/>
                <a:gd name="T8" fmla="*/ 0 w 1232"/>
                <a:gd name="T9" fmla="*/ 0 h 2074"/>
                <a:gd name="T10" fmla="*/ 0 w 1232"/>
                <a:gd name="T11" fmla="*/ 0 h 2074"/>
              </a:gdLst>
              <a:ahLst/>
              <a:cxnLst>
                <a:cxn ang="0">
                  <a:pos x="T0" y="T1"/>
                </a:cxn>
                <a:cxn ang="0">
                  <a:pos x="T2" y="T3"/>
                </a:cxn>
                <a:cxn ang="0">
                  <a:pos x="T4" y="T5"/>
                </a:cxn>
                <a:cxn ang="0">
                  <a:pos x="T6" y="T7"/>
                </a:cxn>
                <a:cxn ang="0">
                  <a:pos x="T8" y="T9"/>
                </a:cxn>
                <a:cxn ang="0">
                  <a:pos x="T10" y="T11"/>
                </a:cxn>
              </a:cxnLst>
              <a:rect l="0" t="0" r="r" b="b"/>
              <a:pathLst>
                <a:path w="1232" h="2074">
                  <a:moveTo>
                    <a:pt x="0" y="0"/>
                  </a:moveTo>
                  <a:lnTo>
                    <a:pt x="1232" y="2074"/>
                  </a:lnTo>
                  <a:lnTo>
                    <a:pt x="1232" y="2038"/>
                  </a:lnTo>
                  <a:lnTo>
                    <a:pt x="42" y="0"/>
                  </a:lnTo>
                  <a:lnTo>
                    <a:pt x="0" y="0"/>
                  </a:lnTo>
                  <a:lnTo>
                    <a:pt x="0" y="0"/>
                  </a:lnTo>
                  <a:close/>
                </a:path>
              </a:pathLst>
            </a:custGeom>
            <a:gradFill rotWithShape="0">
              <a:gsLst>
                <a:gs pos="0">
                  <a:schemeClr val="bg1">
                    <a:gamma/>
                    <a:shade val="57647"/>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93" name="Freeform 37">
              <a:extLst>
                <a:ext uri="{FF2B5EF4-FFF2-40B4-BE49-F238E27FC236}">
                  <a16:creationId xmlns:a16="http://schemas.microsoft.com/office/drawing/2014/main" id="{798BFB7F-6D77-4329-B8C8-9E93681DDE46}"/>
                </a:ext>
              </a:extLst>
            </p:cNvPr>
            <p:cNvSpPr>
              <a:spLocks/>
            </p:cNvSpPr>
            <p:nvPr/>
          </p:nvSpPr>
          <p:spPr bwMode="hidden">
            <a:xfrm>
              <a:off x="4694" y="0"/>
              <a:ext cx="1060" cy="1936"/>
            </a:xfrm>
            <a:custGeom>
              <a:avLst/>
              <a:gdLst>
                <a:gd name="T0" fmla="*/ 0 w 1058"/>
                <a:gd name="T1" fmla="*/ 0 h 1936"/>
                <a:gd name="T2" fmla="*/ 1058 w 1058"/>
                <a:gd name="T3" fmla="*/ 1936 h 1936"/>
                <a:gd name="T4" fmla="*/ 1058 w 1058"/>
                <a:gd name="T5" fmla="*/ 1930 h 1936"/>
                <a:gd name="T6" fmla="*/ 54 w 1058"/>
                <a:gd name="T7" fmla="*/ 0 h 1936"/>
                <a:gd name="T8" fmla="*/ 0 w 1058"/>
                <a:gd name="T9" fmla="*/ 0 h 1936"/>
                <a:gd name="T10" fmla="*/ 0 w 1058"/>
                <a:gd name="T11" fmla="*/ 0 h 1936"/>
              </a:gdLst>
              <a:ahLst/>
              <a:cxnLst>
                <a:cxn ang="0">
                  <a:pos x="T0" y="T1"/>
                </a:cxn>
                <a:cxn ang="0">
                  <a:pos x="T2" y="T3"/>
                </a:cxn>
                <a:cxn ang="0">
                  <a:pos x="T4" y="T5"/>
                </a:cxn>
                <a:cxn ang="0">
                  <a:pos x="T6" y="T7"/>
                </a:cxn>
                <a:cxn ang="0">
                  <a:pos x="T8" y="T9"/>
                </a:cxn>
                <a:cxn ang="0">
                  <a:pos x="T10" y="T11"/>
                </a:cxn>
              </a:cxnLst>
              <a:rect l="0" t="0" r="r" b="b"/>
              <a:pathLst>
                <a:path w="1058" h="1936">
                  <a:moveTo>
                    <a:pt x="0" y="0"/>
                  </a:moveTo>
                  <a:lnTo>
                    <a:pt x="1058" y="1936"/>
                  </a:lnTo>
                  <a:lnTo>
                    <a:pt x="1058" y="1930"/>
                  </a:lnTo>
                  <a:lnTo>
                    <a:pt x="54" y="0"/>
                  </a:lnTo>
                  <a:lnTo>
                    <a:pt x="0" y="0"/>
                  </a:lnTo>
                  <a:lnTo>
                    <a:pt x="0" y="0"/>
                  </a:lnTo>
                  <a:close/>
                </a:path>
              </a:pathLst>
            </a:custGeom>
            <a:gradFill rotWithShape="0">
              <a:gsLst>
                <a:gs pos="0">
                  <a:schemeClr val="bg1">
                    <a:gamma/>
                    <a:shade val="72549"/>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94" name="Freeform 38">
              <a:extLst>
                <a:ext uri="{FF2B5EF4-FFF2-40B4-BE49-F238E27FC236}">
                  <a16:creationId xmlns:a16="http://schemas.microsoft.com/office/drawing/2014/main" id="{C832ACFD-A081-4C5A-B05F-30F3995C405A}"/>
                </a:ext>
              </a:extLst>
            </p:cNvPr>
            <p:cNvSpPr>
              <a:spLocks/>
            </p:cNvSpPr>
            <p:nvPr/>
          </p:nvSpPr>
          <p:spPr bwMode="hidden">
            <a:xfrm>
              <a:off x="4981" y="0"/>
              <a:ext cx="773" cy="1487"/>
            </a:xfrm>
            <a:custGeom>
              <a:avLst/>
              <a:gdLst>
                <a:gd name="T0" fmla="*/ 771 w 771"/>
                <a:gd name="T1" fmla="*/ 1433 h 1487"/>
                <a:gd name="T2" fmla="*/ 42 w 771"/>
                <a:gd name="T3" fmla="*/ 0 h 1487"/>
                <a:gd name="T4" fmla="*/ 0 w 771"/>
                <a:gd name="T5" fmla="*/ 0 h 1487"/>
                <a:gd name="T6" fmla="*/ 771 w 771"/>
                <a:gd name="T7" fmla="*/ 1487 h 1487"/>
                <a:gd name="T8" fmla="*/ 771 w 771"/>
                <a:gd name="T9" fmla="*/ 1433 h 1487"/>
                <a:gd name="T10" fmla="*/ 771 w 771"/>
                <a:gd name="T11" fmla="*/ 1433 h 1487"/>
              </a:gdLst>
              <a:ahLst/>
              <a:cxnLst>
                <a:cxn ang="0">
                  <a:pos x="T0" y="T1"/>
                </a:cxn>
                <a:cxn ang="0">
                  <a:pos x="T2" y="T3"/>
                </a:cxn>
                <a:cxn ang="0">
                  <a:pos x="T4" y="T5"/>
                </a:cxn>
                <a:cxn ang="0">
                  <a:pos x="T6" y="T7"/>
                </a:cxn>
                <a:cxn ang="0">
                  <a:pos x="T8" y="T9"/>
                </a:cxn>
                <a:cxn ang="0">
                  <a:pos x="T10" y="T11"/>
                </a:cxn>
              </a:cxnLst>
              <a:rect l="0" t="0" r="r" b="b"/>
              <a:pathLst>
                <a:path w="771" h="1487">
                  <a:moveTo>
                    <a:pt x="771" y="1433"/>
                  </a:moveTo>
                  <a:lnTo>
                    <a:pt x="42" y="0"/>
                  </a:lnTo>
                  <a:lnTo>
                    <a:pt x="0" y="0"/>
                  </a:lnTo>
                  <a:lnTo>
                    <a:pt x="771" y="1487"/>
                  </a:lnTo>
                  <a:lnTo>
                    <a:pt x="771" y="1433"/>
                  </a:lnTo>
                  <a:lnTo>
                    <a:pt x="771" y="1433"/>
                  </a:lnTo>
                  <a:close/>
                </a:path>
              </a:pathLst>
            </a:custGeom>
            <a:gradFill rotWithShape="0">
              <a:gsLst>
                <a:gs pos="0">
                  <a:schemeClr val="bg1">
                    <a:gamma/>
                    <a:shade val="7882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grpSp>
          <p:nvGrpSpPr>
            <p:cNvPr id="224295" name="Group 39">
              <a:extLst>
                <a:ext uri="{FF2B5EF4-FFF2-40B4-BE49-F238E27FC236}">
                  <a16:creationId xmlns:a16="http://schemas.microsoft.com/office/drawing/2014/main" id="{073BCC41-D493-4071-9699-ECA111926B9E}"/>
                </a:ext>
              </a:extLst>
            </p:cNvPr>
            <p:cNvGrpSpPr>
              <a:grpSpLocks/>
            </p:cNvGrpSpPr>
            <p:nvPr userDrawn="1"/>
          </p:nvGrpSpPr>
          <p:grpSpPr bwMode="auto">
            <a:xfrm>
              <a:off x="0" y="1632"/>
              <a:ext cx="5758" cy="1858"/>
              <a:chOff x="0" y="1632"/>
              <a:chExt cx="5758" cy="1858"/>
            </a:xfrm>
          </p:grpSpPr>
          <p:sp>
            <p:nvSpPr>
              <p:cNvPr id="224296" name="Freeform 40">
                <a:extLst>
                  <a:ext uri="{FF2B5EF4-FFF2-40B4-BE49-F238E27FC236}">
                    <a16:creationId xmlns:a16="http://schemas.microsoft.com/office/drawing/2014/main" id="{6BF70AA2-D729-447C-B71A-AF7A0C25DBE0}"/>
                  </a:ext>
                </a:extLst>
              </p:cNvPr>
              <p:cNvSpPr>
                <a:spLocks/>
              </p:cNvSpPr>
              <p:nvPr/>
            </p:nvSpPr>
            <p:spPr bwMode="hidden">
              <a:xfrm>
                <a:off x="0" y="1632"/>
                <a:ext cx="3670" cy="1313"/>
              </a:xfrm>
              <a:custGeom>
                <a:avLst/>
                <a:gdLst>
                  <a:gd name="T0" fmla="*/ 0 w 3659"/>
                  <a:gd name="T1" fmla="*/ 0 h 1313"/>
                  <a:gd name="T2" fmla="*/ 0 w 3659"/>
                  <a:gd name="T3" fmla="*/ 366 h 1313"/>
                  <a:gd name="T4" fmla="*/ 3635 w 3659"/>
                  <a:gd name="T5" fmla="*/ 1313 h 1313"/>
                  <a:gd name="T6" fmla="*/ 3647 w 3659"/>
                  <a:gd name="T7" fmla="*/ 1235 h 1313"/>
                  <a:gd name="T8" fmla="*/ 3659 w 3659"/>
                  <a:gd name="T9" fmla="*/ 1163 h 1313"/>
                  <a:gd name="T10" fmla="*/ 0 w 3659"/>
                  <a:gd name="T11" fmla="*/ 0 h 1313"/>
                  <a:gd name="T12" fmla="*/ 0 w 3659"/>
                  <a:gd name="T13" fmla="*/ 0 h 1313"/>
                </a:gdLst>
                <a:ahLst/>
                <a:cxnLst>
                  <a:cxn ang="0">
                    <a:pos x="T0" y="T1"/>
                  </a:cxn>
                  <a:cxn ang="0">
                    <a:pos x="T2" y="T3"/>
                  </a:cxn>
                  <a:cxn ang="0">
                    <a:pos x="T4" y="T5"/>
                  </a:cxn>
                  <a:cxn ang="0">
                    <a:pos x="T6" y="T7"/>
                  </a:cxn>
                  <a:cxn ang="0">
                    <a:pos x="T8" y="T9"/>
                  </a:cxn>
                  <a:cxn ang="0">
                    <a:pos x="T10" y="T11"/>
                  </a:cxn>
                  <a:cxn ang="0">
                    <a:pos x="T12" y="T13"/>
                  </a:cxn>
                </a:cxnLst>
                <a:rect l="0" t="0"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chemeClr val="bg1">
                      <a:gamma/>
                      <a:shade val="72549"/>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224297" name="Freeform 41">
                <a:extLst>
                  <a:ext uri="{FF2B5EF4-FFF2-40B4-BE49-F238E27FC236}">
                    <a16:creationId xmlns:a16="http://schemas.microsoft.com/office/drawing/2014/main" id="{105F9317-F4E7-4C8F-9DAB-1B4EFC4E020E}"/>
                  </a:ext>
                </a:extLst>
              </p:cNvPr>
              <p:cNvSpPr>
                <a:spLocks/>
              </p:cNvSpPr>
              <p:nvPr/>
            </p:nvSpPr>
            <p:spPr bwMode="hidden">
              <a:xfrm>
                <a:off x="3646" y="2795"/>
                <a:ext cx="2112" cy="695"/>
              </a:xfrm>
              <a:custGeom>
                <a:avLst/>
                <a:gdLst>
                  <a:gd name="T0" fmla="*/ 2105 w 2105"/>
                  <a:gd name="T1" fmla="*/ 665 h 695"/>
                  <a:gd name="T2" fmla="*/ 24 w 2105"/>
                  <a:gd name="T3" fmla="*/ 0 h 695"/>
                  <a:gd name="T4" fmla="*/ 12 w 2105"/>
                  <a:gd name="T5" fmla="*/ 72 h 695"/>
                  <a:gd name="T6" fmla="*/ 0 w 2105"/>
                  <a:gd name="T7" fmla="*/ 150 h 695"/>
                  <a:gd name="T8" fmla="*/ 2105 w 2105"/>
                  <a:gd name="T9" fmla="*/ 695 h 695"/>
                  <a:gd name="T10" fmla="*/ 2105 w 2105"/>
                  <a:gd name="T11" fmla="*/ 665 h 695"/>
                  <a:gd name="T12" fmla="*/ 2105 w 2105"/>
                  <a:gd name="T13" fmla="*/ 665 h 695"/>
                </a:gdLst>
                <a:ahLst/>
                <a:cxnLst>
                  <a:cxn ang="0">
                    <a:pos x="T0" y="T1"/>
                  </a:cxn>
                  <a:cxn ang="0">
                    <a:pos x="T2" y="T3"/>
                  </a:cxn>
                  <a:cxn ang="0">
                    <a:pos x="T4" y="T5"/>
                  </a:cxn>
                  <a:cxn ang="0">
                    <a:pos x="T6" y="T7"/>
                  </a:cxn>
                  <a:cxn ang="0">
                    <a:pos x="T8" y="T9"/>
                  </a:cxn>
                  <a:cxn ang="0">
                    <a:pos x="T10" y="T11"/>
                  </a:cxn>
                  <a:cxn ang="0">
                    <a:pos x="T12" y="T13"/>
                  </a:cxn>
                </a:cxnLst>
                <a:rect l="0" t="0"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chemeClr val="bg1">
                      <a:gamma/>
                      <a:tint val="90980"/>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grpSp>
      </p:grpSp>
      <p:sp>
        <p:nvSpPr>
          <p:cNvPr id="224298" name="Rectangle 42">
            <a:extLst>
              <a:ext uri="{FF2B5EF4-FFF2-40B4-BE49-F238E27FC236}">
                <a16:creationId xmlns:a16="http://schemas.microsoft.com/office/drawing/2014/main" id="{02E4B77A-C58E-4589-8589-80B326A976CC}"/>
              </a:ext>
            </a:extLst>
          </p:cNvPr>
          <p:cNvSpPr>
            <a:spLocks noGrp="1" noChangeArrowheads="1"/>
          </p:cNvSpPr>
          <p:nvPr>
            <p:ph type="title"/>
          </p:nvPr>
        </p:nvSpPr>
        <p:spPr bwMode="auto">
          <a:xfrm>
            <a:off x="457200" y="208360"/>
            <a:ext cx="82296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24299" name="Rectangle 43">
            <a:extLst>
              <a:ext uri="{FF2B5EF4-FFF2-40B4-BE49-F238E27FC236}">
                <a16:creationId xmlns:a16="http://schemas.microsoft.com/office/drawing/2014/main" id="{5256BF6C-896D-42ED-ACFF-85CE44F1A092}"/>
              </a:ext>
            </a:extLst>
          </p:cNvPr>
          <p:cNvSpPr>
            <a:spLocks noGrp="1" noChangeArrowheads="1"/>
          </p:cNvSpPr>
          <p:nvPr>
            <p:ph type="body" idx="1"/>
          </p:nvPr>
        </p:nvSpPr>
        <p:spPr bwMode="auto">
          <a:xfrm>
            <a:off x="457200" y="1200150"/>
            <a:ext cx="8229600" cy="3398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4300" name="Rectangle 44">
            <a:extLst>
              <a:ext uri="{FF2B5EF4-FFF2-40B4-BE49-F238E27FC236}">
                <a16:creationId xmlns:a16="http://schemas.microsoft.com/office/drawing/2014/main" id="{147C9881-9A84-4489-9FB5-030BE4E88BBD}"/>
              </a:ext>
            </a:extLst>
          </p:cNvPr>
          <p:cNvSpPr>
            <a:spLocks noGrp="1" noChangeArrowheads="1"/>
          </p:cNvSpPr>
          <p:nvPr>
            <p:ph type="dt" sz="half" idx="2"/>
          </p:nvPr>
        </p:nvSpPr>
        <p:spPr bwMode="auto">
          <a:xfrm>
            <a:off x="457200" y="4682729"/>
            <a:ext cx="2133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900">
                <a:effectLst>
                  <a:outerShdw blurRad="38100" dist="38100" dir="2700000" algn="tl">
                    <a:srgbClr val="000000"/>
                  </a:outerShdw>
                </a:effectLst>
                <a:ea typeface="+mn-ea"/>
              </a:defRPr>
            </a:lvl1pPr>
          </a:lstStyle>
          <a:p>
            <a:endParaRPr lang="en-US" altLang="zh-CN"/>
          </a:p>
        </p:txBody>
      </p:sp>
      <p:sp>
        <p:nvSpPr>
          <p:cNvPr id="224301" name="Rectangle 45">
            <a:extLst>
              <a:ext uri="{FF2B5EF4-FFF2-40B4-BE49-F238E27FC236}">
                <a16:creationId xmlns:a16="http://schemas.microsoft.com/office/drawing/2014/main" id="{9048C82F-6348-4C99-9DA5-028ACBE4E7AB}"/>
              </a:ext>
            </a:extLst>
          </p:cNvPr>
          <p:cNvSpPr>
            <a:spLocks noGrp="1" noChangeArrowheads="1"/>
          </p:cNvSpPr>
          <p:nvPr>
            <p:ph type="ftr" sz="quarter" idx="3"/>
          </p:nvPr>
        </p:nvSpPr>
        <p:spPr bwMode="auto">
          <a:xfrm>
            <a:off x="3124200" y="4686300"/>
            <a:ext cx="2895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900">
                <a:effectLst>
                  <a:outerShdw blurRad="38100" dist="38100" dir="2700000" algn="tl">
                    <a:srgbClr val="000000"/>
                  </a:outerShdw>
                </a:effectLst>
                <a:ea typeface="+mn-ea"/>
              </a:defRPr>
            </a:lvl1pPr>
          </a:lstStyle>
          <a:p>
            <a:endParaRPr lang="en-US" altLang="zh-CN"/>
          </a:p>
        </p:txBody>
      </p:sp>
      <p:sp>
        <p:nvSpPr>
          <p:cNvPr id="224302" name="Rectangle 46">
            <a:extLst>
              <a:ext uri="{FF2B5EF4-FFF2-40B4-BE49-F238E27FC236}">
                <a16:creationId xmlns:a16="http://schemas.microsoft.com/office/drawing/2014/main" id="{8C8F06FC-C57B-42ED-B700-D92FBA0313BB}"/>
              </a:ext>
            </a:extLst>
          </p:cNvPr>
          <p:cNvSpPr>
            <a:spLocks noGrp="1" noChangeArrowheads="1"/>
          </p:cNvSpPr>
          <p:nvPr>
            <p:ph type="sldNum" sz="quarter" idx="4"/>
          </p:nvPr>
        </p:nvSpPr>
        <p:spPr bwMode="auto">
          <a:xfrm>
            <a:off x="6553200" y="4682729"/>
            <a:ext cx="2133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900">
                <a:effectLst>
                  <a:outerShdw blurRad="38100" dist="38100" dir="2700000" algn="tl">
                    <a:srgbClr val="000000"/>
                  </a:outerShdw>
                </a:effectLst>
                <a:ea typeface="+mn-ea"/>
              </a:defRPr>
            </a:lvl1pPr>
          </a:lstStyle>
          <a:p>
            <a:fld id="{7A5CF37D-5831-4838-A486-0E45A46D5AB8}" type="slidenum">
              <a:rPr lang="en-US" altLang="zh-CN"/>
              <a:pPr/>
              <a:t>‹#›</a:t>
            </a:fld>
            <a:endParaRPr lang="en-US" altLang="zh-CN"/>
          </a:p>
        </p:txBody>
      </p:sp>
    </p:spTree>
    <p:extLst>
      <p:ext uri="{BB962C8B-B14F-4D97-AF65-F5344CB8AC3E}">
        <p14:creationId xmlns:p14="http://schemas.microsoft.com/office/powerpoint/2010/main" val="4022814225"/>
      </p:ext>
    </p:extLst>
  </p:cSld>
  <p:clrMap bg1="dk2" tx1="lt1" bg2="dk1"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hdr="0" ftr="0" dt="0"/>
  <p:txStyles>
    <p:titleStyle>
      <a:lvl1pPr algn="ctr" rtl="0" fontAlgn="base">
        <a:spcBef>
          <a:spcPct val="0"/>
        </a:spcBef>
        <a:spcAft>
          <a:spcPct val="0"/>
        </a:spcAft>
        <a:defRPr sz="3300"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342900"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685800"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028700"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371600" algn="ctr" rtl="0" fontAlgn="base">
        <a:spcBef>
          <a:spcPct val="0"/>
        </a:spcBef>
        <a:spcAft>
          <a:spcPct val="0"/>
        </a:spcAft>
        <a:defRPr sz="33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257175" indent="-257175" algn="l" rtl="0" fontAlgn="base">
        <a:spcBef>
          <a:spcPct val="20000"/>
        </a:spcBef>
        <a:spcAft>
          <a:spcPct val="0"/>
        </a:spcAft>
        <a:buClr>
          <a:schemeClr val="hlink"/>
        </a:buClr>
        <a:buSzPct val="90000"/>
        <a:buFont typeface="Wingdings" panose="05000000000000000000" pitchFamily="2" charset="2"/>
        <a:buBlip>
          <a:blip r:embed="rId13"/>
        </a:buBlip>
        <a:defRPr sz="2400" kern="1200">
          <a:solidFill>
            <a:schemeClr val="tx1"/>
          </a:solidFill>
          <a:effectLst>
            <a:outerShdw blurRad="38100" dist="38100" dir="2700000" algn="tl">
              <a:srgbClr val="000000"/>
            </a:outerShdw>
          </a:effectLst>
          <a:latin typeface="+mn-lt"/>
          <a:ea typeface="+mn-ea"/>
          <a:cs typeface="+mn-cs"/>
        </a:defRPr>
      </a:lvl1pPr>
      <a:lvl2pPr marL="557213" indent="-214313" algn="l" rtl="0" fontAlgn="base">
        <a:spcBef>
          <a:spcPct val="20000"/>
        </a:spcBef>
        <a:spcAft>
          <a:spcPct val="0"/>
        </a:spcAft>
        <a:buChar char="–"/>
        <a:defRPr sz="2100" kern="1200">
          <a:solidFill>
            <a:schemeClr val="tx1"/>
          </a:solidFill>
          <a:effectLst>
            <a:outerShdw blurRad="38100" dist="38100" dir="2700000" algn="tl">
              <a:srgbClr val="000000"/>
            </a:outerShdw>
          </a:effectLst>
          <a:latin typeface="+mn-lt"/>
          <a:ea typeface="+mn-ea"/>
          <a:cs typeface="+mn-cs"/>
        </a:defRPr>
      </a:lvl2pPr>
      <a:lvl3pPr marL="857250" indent="-171450" algn="l" rtl="0" fontAlgn="base">
        <a:spcBef>
          <a:spcPct val="20000"/>
        </a:spcBef>
        <a:spcAft>
          <a:spcPct val="0"/>
        </a:spcAft>
        <a:buClr>
          <a:schemeClr val="accent2"/>
        </a:buClr>
        <a:buSzPct val="90000"/>
        <a:buFont typeface="Wingdings" panose="05000000000000000000" pitchFamily="2" charset="2"/>
        <a:buBlip>
          <a:blip r:embed="rId14"/>
        </a:buBlip>
        <a:defRPr sz="1800" kern="1200">
          <a:solidFill>
            <a:schemeClr val="tx1"/>
          </a:solidFill>
          <a:effectLst>
            <a:outerShdw blurRad="38100" dist="38100" dir="2700000" algn="tl">
              <a:srgbClr val="000000"/>
            </a:outerShdw>
          </a:effectLst>
          <a:latin typeface="+mn-lt"/>
          <a:ea typeface="+mn-ea"/>
          <a:cs typeface="+mn-cs"/>
        </a:defRPr>
      </a:lvl3pPr>
      <a:lvl4pPr marL="1200150" indent="-171450" algn="l" rtl="0" fontAlgn="base">
        <a:spcBef>
          <a:spcPct val="20000"/>
        </a:spcBef>
        <a:spcAft>
          <a:spcPct val="0"/>
        </a:spcAft>
        <a:buChar char="–"/>
        <a:defRPr sz="1500" kern="1200">
          <a:solidFill>
            <a:schemeClr val="tx1"/>
          </a:solidFill>
          <a:effectLst>
            <a:outerShdw blurRad="38100" dist="38100" dir="2700000" algn="tl">
              <a:srgbClr val="000000"/>
            </a:outerShdw>
          </a:effectLst>
          <a:latin typeface="+mn-lt"/>
          <a:ea typeface="+mn-ea"/>
          <a:cs typeface="+mn-cs"/>
        </a:defRPr>
      </a:lvl4pPr>
      <a:lvl5pPr marL="1543050" indent="-171450" algn="l" rtl="0" fontAlgn="base">
        <a:spcBef>
          <a:spcPct val="20000"/>
        </a:spcBef>
        <a:spcAft>
          <a:spcPct val="0"/>
        </a:spcAft>
        <a:buClr>
          <a:schemeClr val="folHlink"/>
        </a:buClr>
        <a:buSzPct val="90000"/>
        <a:buFont typeface="Wingdings" panose="05000000000000000000" pitchFamily="2" charset="2"/>
        <a:buBlip>
          <a:blip r:embed="rId15"/>
        </a:buBlip>
        <a:defRPr sz="1500" kern="1200">
          <a:solidFill>
            <a:schemeClr val="tx1"/>
          </a:solidFill>
          <a:effectLst>
            <a:outerShdw blurRad="38100" dist="38100" dir="2700000" algn="tl">
              <a:srgbClr val="000000"/>
            </a:outerShdw>
          </a:effectLst>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emf"/></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ctrTitle"/>
          </p:nvPr>
        </p:nvSpPr>
        <p:spPr>
          <a:xfrm>
            <a:off x="971550" y="1924032"/>
            <a:ext cx="7113588" cy="928688"/>
          </a:xfrm>
          <a:ln w="9525">
            <a:noFill/>
            <a:miter/>
          </a:ln>
        </p:spPr>
        <p:txBody>
          <a:bodyPr wrap="square" lIns="91440" tIns="45720" rIns="91440" bIns="45720" anchor="b"/>
          <a:lstStyle/>
          <a:p>
            <a:pPr defTabSz="457200" eaLnBrk="1" hangingPunct="1"/>
            <a:r>
              <a:rPr lang="zh-CN" altLang="en-US" b="1" kern="1200" dirty="0">
                <a:solidFill>
                  <a:srgbClr val="11576A"/>
                </a:solidFill>
                <a:latin typeface="微软雅黑" panose="020B0503020204020204" pitchFamily="34" charset="-122"/>
                <a:ea typeface="微软雅黑" panose="020B0503020204020204" pitchFamily="34" charset="-122"/>
                <a:cs typeface="+mj-cs"/>
              </a:rPr>
              <a:t>第</a:t>
            </a:r>
            <a:r>
              <a:rPr lang="x-none" altLang="zh-CN" b="1" kern="1200" dirty="0">
                <a:solidFill>
                  <a:srgbClr val="11576A"/>
                </a:solidFill>
                <a:latin typeface="微软雅黑" panose="020B0503020204020204" pitchFamily="34" charset="-122"/>
                <a:ea typeface="微软雅黑" panose="020B0503020204020204" pitchFamily="34" charset="-122"/>
                <a:cs typeface="+mj-cs"/>
              </a:rPr>
              <a:t>七</a:t>
            </a:r>
            <a:r>
              <a:rPr lang="zh-CN" altLang="en-US" b="1" kern="1200" dirty="0">
                <a:solidFill>
                  <a:srgbClr val="11576A"/>
                </a:solidFill>
                <a:latin typeface="微软雅黑" panose="020B0503020204020204" pitchFamily="34" charset="-122"/>
                <a:ea typeface="微软雅黑" panose="020B0503020204020204" pitchFamily="34" charset="-122"/>
                <a:cs typeface="+mj-cs"/>
              </a:rPr>
              <a:t>章 </a:t>
            </a:r>
            <a:r>
              <a:rPr lang="x-none" altLang="zh-CN" b="1" kern="1200" dirty="0">
                <a:solidFill>
                  <a:srgbClr val="11576A"/>
                </a:solidFill>
                <a:latin typeface="微软雅黑" panose="020B0503020204020204" pitchFamily="34" charset="-122"/>
                <a:ea typeface="微软雅黑" panose="020B0503020204020204" pitchFamily="34" charset="-122"/>
                <a:cs typeface="+mj-cs"/>
              </a:rPr>
              <a:t>文件系统</a:t>
            </a:r>
            <a:r>
              <a:rPr lang="zh-CN" altLang="en-US" b="1" kern="1200" dirty="0">
                <a:solidFill>
                  <a:srgbClr val="11576A"/>
                </a:solidFill>
                <a:latin typeface="微软雅黑" panose="020B0503020204020204" pitchFamily="34" charset="-122"/>
                <a:ea typeface="微软雅黑" panose="020B0503020204020204" pitchFamily="34" charset="-122"/>
                <a:cs typeface="+mj-cs"/>
              </a:rPr>
              <a:t>管理</a:t>
            </a:r>
          </a:p>
        </p:txBody>
      </p:sp>
      <p:sp>
        <p:nvSpPr>
          <p:cNvPr id="3" name="内容占位符 2">
            <a:extLst>
              <a:ext uri="{FF2B5EF4-FFF2-40B4-BE49-F238E27FC236}">
                <a16:creationId xmlns:a16="http://schemas.microsoft.com/office/drawing/2014/main" id="{8A1285F4-0AAB-4C10-BB27-48CEE517CE11}"/>
              </a:ext>
            </a:extLst>
          </p:cNvPr>
          <p:cNvSpPr>
            <a:spLocks noGrp="1"/>
          </p:cNvSpPr>
          <p:nvPr>
            <p:ph idx="1"/>
          </p:nvPr>
        </p:nvSpPr>
        <p:spPr/>
        <p:txBody>
          <a:bodyPr/>
          <a:lstStyle/>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39C0A636-A8E7-4507-AEDC-FAEAEC7CF078}"/>
              </a:ext>
            </a:extLst>
          </p:cNvPr>
          <p:cNvSpPr>
            <a:spLocks noGrp="1"/>
          </p:cNvSpPr>
          <p:nvPr>
            <p:ph type="sldNum" sz="quarter" idx="12"/>
          </p:nvPr>
        </p:nvSpPr>
        <p:spPr/>
        <p:txBody>
          <a:bodyPr/>
          <a:lstStyle/>
          <a:p>
            <a:pPr defTabSz="685800" fontAlgn="base">
              <a:spcBef>
                <a:spcPct val="0"/>
              </a:spcBef>
              <a:spcAft>
                <a:spcPct val="0"/>
              </a:spcAft>
            </a:pPr>
            <a:fld id="{729E3369-B7A9-493F-B3FD-2A1901B6D2B9}" type="slidenum">
              <a:rPr lang="en-US" altLang="zh-CN">
                <a:solidFill>
                  <a:srgbClr val="FFFFFF"/>
                </a:solidFill>
                <a:latin typeface="Arial" panose="020B0604020202020204" pitchFamily="34" charset="0"/>
                <a:ea typeface="宋体"/>
              </a:rPr>
              <a:pPr defTabSz="685800" fontAlgn="base">
                <a:spcBef>
                  <a:spcPct val="0"/>
                </a:spcBef>
                <a:spcAft>
                  <a:spcPct val="0"/>
                </a:spcAft>
              </a:pPr>
              <a:t>2</a:t>
            </a:fld>
            <a:endParaRPr lang="en-US" altLang="zh-CN">
              <a:solidFill>
                <a:srgbClr val="FFFFFF"/>
              </a:solidFill>
              <a:latin typeface="Arial" panose="020B0604020202020204" pitchFamily="34" charset="0"/>
              <a:ea typeface="宋体"/>
            </a:endParaRPr>
          </a:p>
        </p:txBody>
      </p:sp>
      <p:sp>
        <p:nvSpPr>
          <p:cNvPr id="27651" name="Rectangle 3">
            <a:extLst>
              <a:ext uri="{FF2B5EF4-FFF2-40B4-BE49-F238E27FC236}">
                <a16:creationId xmlns:a16="http://schemas.microsoft.com/office/drawing/2014/main" id="{EC9211D6-197D-4AD4-87BC-054FBB989F2E}"/>
              </a:ext>
            </a:extLst>
          </p:cNvPr>
          <p:cNvSpPr>
            <a:spLocks noGrp="1" noChangeArrowheads="1"/>
          </p:cNvSpPr>
          <p:nvPr>
            <p:ph type="body" idx="1"/>
          </p:nvPr>
        </p:nvSpPr>
        <p:spPr>
          <a:xfrm>
            <a:off x="1187624" y="1257300"/>
            <a:ext cx="6527626" cy="3314700"/>
          </a:xfrm>
        </p:spPr>
        <p:txBody>
          <a:bodyPr/>
          <a:lstStyle/>
          <a:p>
            <a:pPr algn="just"/>
            <a:r>
              <a:rPr lang="zh-CN" altLang="en-US" sz="2100" b="1" dirty="0">
                <a:solidFill>
                  <a:srgbClr val="FFCC00"/>
                </a:solidFill>
                <a:latin typeface="黑体" panose="02010609060101010101" pitchFamily="49" charset="-122"/>
                <a:ea typeface="黑体" panose="02010609060101010101" pitchFamily="49" charset="-122"/>
              </a:rPr>
              <a:t>无论是用户数据，还是计算机系统程序和应用程序，都要以一定的形式和格式进行组织、保存和管理</a:t>
            </a:r>
            <a:endParaRPr lang="en-US" altLang="zh-CN" sz="2100" b="1" dirty="0">
              <a:solidFill>
                <a:srgbClr val="FFCC00"/>
              </a:solidFill>
              <a:latin typeface="黑体" panose="02010609060101010101" pitchFamily="49" charset="-122"/>
              <a:ea typeface="黑体" panose="02010609060101010101" pitchFamily="49" charset="-122"/>
            </a:endParaRPr>
          </a:p>
          <a:p>
            <a:pPr algn="just"/>
            <a:r>
              <a:rPr lang="zh-CN" altLang="en-US" sz="2100" b="1" dirty="0">
                <a:solidFill>
                  <a:srgbClr val="FFCC00"/>
                </a:solidFill>
                <a:latin typeface="黑体" panose="02010609060101010101" pitchFamily="49" charset="-122"/>
                <a:ea typeface="黑体" panose="02010609060101010101" pitchFamily="49" charset="-122"/>
              </a:rPr>
              <a:t>操作系统中与管理文件有关的软件和数据称为文件系统。文件系统是计算机组织、存取和保存信息的重要手段。它负责为用户建立、撤销、读写、修改和复制文件，还负责完成对文件的按名存取和进行存取控制。</a:t>
            </a:r>
            <a:endParaRPr lang="en-US" altLang="zh-CN" sz="2100" b="1" dirty="0">
              <a:solidFill>
                <a:srgbClr val="FFCC00"/>
              </a:solidFill>
              <a:latin typeface="黑体" panose="02010609060101010101" pitchFamily="49" charset="-122"/>
              <a:ea typeface="黑体" panose="02010609060101010101" pitchFamily="49" charset="-122"/>
            </a:endParaRPr>
          </a:p>
          <a:p>
            <a:pPr algn="just"/>
            <a:r>
              <a:rPr lang="zh-CN" altLang="en-US" sz="2100" b="1" dirty="0">
                <a:solidFill>
                  <a:srgbClr val="FFCC00"/>
                </a:solidFill>
                <a:latin typeface="黑体" panose="02010609060101010101" pitchFamily="49" charset="-122"/>
                <a:ea typeface="黑体" panose="02010609060101010101" pitchFamily="49" charset="-122"/>
              </a:rPr>
              <a:t>本章主要介绍文件系统的相关概念、文件的组织结构、存取方法、文件的共享和保护以及文件存储空间管理等问题。</a:t>
            </a:r>
          </a:p>
          <a:p>
            <a:pPr algn="just"/>
            <a:endParaRPr lang="en-US" altLang="zh-CN" sz="2100" b="1" dirty="0">
              <a:solidFill>
                <a:srgbClr val="FFCC00"/>
              </a:solidFill>
              <a:latin typeface="黑体" panose="02010609060101010101" pitchFamily="49" charset="-122"/>
              <a:ea typeface="黑体" panose="02010609060101010101" pitchFamily="49" charset="-122"/>
            </a:endParaRPr>
          </a:p>
        </p:txBody>
      </p:sp>
      <p:sp>
        <p:nvSpPr>
          <p:cNvPr id="27657" name="Rectangle 9">
            <a:extLst>
              <a:ext uri="{FF2B5EF4-FFF2-40B4-BE49-F238E27FC236}">
                <a16:creationId xmlns:a16="http://schemas.microsoft.com/office/drawing/2014/main" id="{816624B8-4A8F-474E-AE57-AB0068A4EA2F}"/>
              </a:ext>
            </a:extLst>
          </p:cNvPr>
          <p:cNvSpPr>
            <a:spLocks noGrp="1" noChangeArrowheads="1"/>
          </p:cNvSpPr>
          <p:nvPr>
            <p:ph type="title"/>
          </p:nvPr>
        </p:nvSpPr>
        <p:spPr>
          <a:xfrm>
            <a:off x="1657350" y="0"/>
            <a:ext cx="5829300" cy="1096566"/>
          </a:xfrm>
          <a:noFill/>
          <a:ln/>
        </p:spPr>
        <p:txBody>
          <a:bodyPr/>
          <a:lstStyle/>
          <a:p>
            <a:r>
              <a:rPr lang="zh-CN" altLang="en-US" b="1"/>
              <a:t>第</a:t>
            </a:r>
            <a:r>
              <a:rPr lang="en-US" altLang="zh-CN" b="1"/>
              <a:t>7</a:t>
            </a:r>
            <a:r>
              <a:rPr lang="zh-CN" altLang="en-US" b="1"/>
              <a:t>章 文件系统管理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noChangeArrowheads="1"/>
          </p:cNvSpPr>
          <p:nvPr/>
        </p:nvSpPr>
        <p:spPr bwMode="auto">
          <a:xfrm>
            <a:off x="3755856" y="189267"/>
            <a:ext cx="1928808" cy="553998"/>
          </a:xfrm>
          <a:prstGeom prst="rect">
            <a:avLst/>
          </a:prstGeom>
          <a:noFill/>
          <a:ln w="9525">
            <a:noFill/>
            <a:miter lim="800000"/>
          </a:ln>
        </p:spPr>
        <p:txBody>
          <a:bodyPr wrap="square">
            <a:spAutoFit/>
          </a:bodyPr>
          <a:lstStyle/>
          <a:p>
            <a:r>
              <a:rPr lang="x-none" altLang="zh-CN" sz="3000" b="1" dirty="0">
                <a:solidFill>
                  <a:srgbClr val="11576A"/>
                </a:solidFill>
                <a:latin typeface="微软雅黑" panose="020B0503020204020204" pitchFamily="34" charset="-122"/>
                <a:ea typeface="微软雅黑" panose="020B0503020204020204" pitchFamily="34" charset="-122"/>
              </a:rPr>
              <a:t>主要内容</a:t>
            </a:r>
          </a:p>
        </p:txBody>
      </p:sp>
      <p:grpSp>
        <p:nvGrpSpPr>
          <p:cNvPr id="4" name="组合 1"/>
          <p:cNvGrpSpPr/>
          <p:nvPr/>
        </p:nvGrpSpPr>
        <p:grpSpPr>
          <a:xfrm>
            <a:off x="549284" y="1072186"/>
            <a:ext cx="8566529" cy="415290"/>
            <a:chOff x="520709" y="928676"/>
            <a:chExt cx="8566529" cy="415290"/>
          </a:xfrm>
        </p:grpSpPr>
        <p:sp>
          <p:nvSpPr>
            <p:cNvPr id="37"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7.1 文件和文件系统</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60"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5" name="组合 3"/>
          <p:cNvGrpSpPr/>
          <p:nvPr/>
        </p:nvGrpSpPr>
        <p:grpSpPr>
          <a:xfrm>
            <a:off x="549284" y="1449606"/>
            <a:ext cx="8568952" cy="415290"/>
            <a:chOff x="520709" y="2802785"/>
            <a:chExt cx="8568952" cy="415290"/>
          </a:xfrm>
        </p:grpSpPr>
        <p:sp>
          <p:nvSpPr>
            <p:cNvPr id="4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7.2 文件的逻辑结构与存取方法</a:t>
              </a:r>
              <a:endParaRPr lang="x-none" altLang="zh-CN" dirty="0"/>
            </a:p>
          </p:txBody>
        </p:sp>
        <p:sp>
          <p:nvSpPr>
            <p:cNvPr id="61"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3" name="组合 1"/>
          <p:cNvGrpSpPr/>
          <p:nvPr/>
        </p:nvGrpSpPr>
        <p:grpSpPr>
          <a:xfrm>
            <a:off x="549284" y="1851331"/>
            <a:ext cx="8566529" cy="415290"/>
            <a:chOff x="520709" y="928676"/>
            <a:chExt cx="8566529" cy="415290"/>
          </a:xfrm>
        </p:grpSpPr>
        <p:sp>
          <p:nvSpPr>
            <p:cNvPr id="14"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7.3 文件的物理结构与存储设备</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15"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6" name="组合 3"/>
          <p:cNvGrpSpPr/>
          <p:nvPr/>
        </p:nvGrpSpPr>
        <p:grpSpPr>
          <a:xfrm>
            <a:off x="549284" y="2221717"/>
            <a:ext cx="8568952" cy="415290"/>
            <a:chOff x="520709" y="2802785"/>
            <a:chExt cx="8568952" cy="415290"/>
          </a:xfrm>
        </p:grpSpPr>
        <p:sp>
          <p:nvSpPr>
            <p:cNvPr id="17"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7.4 文件存储空间管理</a:t>
              </a:r>
              <a:endParaRPr lang="x-none" altLang="zh-CN" dirty="0"/>
            </a:p>
          </p:txBody>
        </p:sp>
        <p:sp>
          <p:nvSpPr>
            <p:cNvPr id="18"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9" name="组合 1"/>
          <p:cNvGrpSpPr/>
          <p:nvPr/>
        </p:nvGrpSpPr>
        <p:grpSpPr>
          <a:xfrm>
            <a:off x="549284" y="2643811"/>
            <a:ext cx="8566529" cy="415290"/>
            <a:chOff x="520709" y="928676"/>
            <a:chExt cx="8566529" cy="415290"/>
          </a:xfrm>
        </p:grpSpPr>
        <p:sp>
          <p:nvSpPr>
            <p:cNvPr id="20"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7.5 文件目录 </a:t>
              </a:r>
            </a:p>
          </p:txBody>
        </p:sp>
        <p:sp>
          <p:nvSpPr>
            <p:cNvPr id="21"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22" name="组合 3"/>
          <p:cNvGrpSpPr/>
          <p:nvPr/>
        </p:nvGrpSpPr>
        <p:grpSpPr>
          <a:xfrm>
            <a:off x="549284" y="3014197"/>
            <a:ext cx="8568952" cy="415290"/>
            <a:chOff x="520709" y="2802785"/>
            <a:chExt cx="8568952" cy="415290"/>
          </a:xfrm>
        </p:grpSpPr>
        <p:sp>
          <p:nvSpPr>
            <p:cNvPr id="23"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7.6 文件共享与保护</a:t>
              </a:r>
              <a:endParaRPr lang="x-none" altLang="zh-CN" dirty="0"/>
            </a:p>
          </p:txBody>
        </p:sp>
        <p:sp>
          <p:nvSpPr>
            <p:cNvPr id="24"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7" name="组合 3"/>
          <p:cNvGrpSpPr/>
          <p:nvPr/>
        </p:nvGrpSpPr>
        <p:grpSpPr>
          <a:xfrm>
            <a:off x="546109" y="3429487"/>
            <a:ext cx="8568952" cy="415290"/>
            <a:chOff x="520709" y="2802785"/>
            <a:chExt cx="8568952" cy="415290"/>
          </a:xfrm>
        </p:grpSpPr>
        <p:sp>
          <p:nvSpPr>
            <p:cNvPr id="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7.7 文件的使用</a:t>
              </a:r>
              <a:endParaRPr lang="x-none" altLang="zh-CN" dirty="0"/>
            </a:p>
          </p:txBody>
        </p:sp>
        <p:sp>
          <p:nvSpPr>
            <p:cNvPr id="10"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1" name="组合 3"/>
          <p:cNvGrpSpPr/>
          <p:nvPr/>
        </p:nvGrpSpPr>
        <p:grpSpPr>
          <a:xfrm>
            <a:off x="540394" y="3867002"/>
            <a:ext cx="8568952" cy="415290"/>
            <a:chOff x="520709" y="2802785"/>
            <a:chExt cx="8568952" cy="415290"/>
          </a:xfrm>
        </p:grpSpPr>
        <p:sp>
          <p:nvSpPr>
            <p:cNvPr id="12"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7.8 文件系统与层次模型</a:t>
              </a:r>
              <a:endParaRPr lang="x-none" altLang="zh-CN" dirty="0"/>
            </a:p>
          </p:txBody>
        </p:sp>
        <p:sp>
          <p:nvSpPr>
            <p:cNvPr id="25"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2" presetID="22" presetClass="entr" presetSubtype="8"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8"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63C1FD59-3289-4193-A1E1-8DA8199DD466}"/>
              </a:ext>
            </a:extLst>
          </p:cNvPr>
          <p:cNvSpPr>
            <a:spLocks noGrp="1"/>
          </p:cNvSpPr>
          <p:nvPr>
            <p:ph type="sldNum" sz="quarter" idx="12"/>
          </p:nvPr>
        </p:nvSpPr>
        <p:spPr/>
        <p:txBody>
          <a:bodyPr/>
          <a:lstStyle/>
          <a:p>
            <a:pPr defTabSz="685800" fontAlgn="base">
              <a:spcBef>
                <a:spcPct val="0"/>
              </a:spcBef>
              <a:spcAft>
                <a:spcPct val="0"/>
              </a:spcAft>
            </a:pPr>
            <a:fld id="{F66C46FD-1B4F-4154-9ADB-ED0F7FC7D31A}" type="slidenum">
              <a:rPr lang="en-US" altLang="zh-CN">
                <a:solidFill>
                  <a:srgbClr val="FFFFFF"/>
                </a:solidFill>
                <a:latin typeface="Arial" panose="020B0604020202020204" pitchFamily="34" charset="0"/>
                <a:ea typeface="宋体"/>
              </a:rPr>
              <a:pPr defTabSz="685800" fontAlgn="base">
                <a:spcBef>
                  <a:spcPct val="0"/>
                </a:spcBef>
                <a:spcAft>
                  <a:spcPct val="0"/>
                </a:spcAft>
              </a:pPr>
              <a:t>4</a:t>
            </a:fld>
            <a:endParaRPr lang="en-US" altLang="zh-CN">
              <a:solidFill>
                <a:srgbClr val="FFFFFF"/>
              </a:solidFill>
              <a:latin typeface="Arial" panose="020B0604020202020204" pitchFamily="34" charset="0"/>
              <a:ea typeface="宋体"/>
            </a:endParaRPr>
          </a:p>
        </p:txBody>
      </p:sp>
      <p:sp>
        <p:nvSpPr>
          <p:cNvPr id="50178" name="Rectangle 2">
            <a:extLst>
              <a:ext uri="{FF2B5EF4-FFF2-40B4-BE49-F238E27FC236}">
                <a16:creationId xmlns:a16="http://schemas.microsoft.com/office/drawing/2014/main" id="{FAAE247E-9435-4569-8E7F-248260511FEA}"/>
              </a:ext>
            </a:extLst>
          </p:cNvPr>
          <p:cNvSpPr>
            <a:spLocks noGrp="1" noChangeArrowheads="1"/>
          </p:cNvSpPr>
          <p:nvPr>
            <p:ph type="title"/>
          </p:nvPr>
        </p:nvSpPr>
        <p:spPr>
          <a:xfrm>
            <a:off x="1657350" y="0"/>
            <a:ext cx="5829300" cy="1096566"/>
          </a:xfrm>
        </p:spPr>
        <p:txBody>
          <a:bodyPr/>
          <a:lstStyle/>
          <a:p>
            <a:r>
              <a:rPr lang="en-US" altLang="zh-CN" b="1">
                <a:latin typeface="Times New Roman" panose="02020603050405020304" pitchFamily="18" charset="0"/>
              </a:rPr>
              <a:t>7.1 </a:t>
            </a:r>
            <a:r>
              <a:rPr lang="zh-CN" altLang="en-US" b="1">
                <a:latin typeface="Times New Roman" panose="02020603050405020304" pitchFamily="18" charset="0"/>
              </a:rPr>
              <a:t>文件和文件系统</a:t>
            </a:r>
          </a:p>
        </p:txBody>
      </p:sp>
      <p:sp>
        <p:nvSpPr>
          <p:cNvPr id="50179" name="Rectangle 3">
            <a:extLst>
              <a:ext uri="{FF2B5EF4-FFF2-40B4-BE49-F238E27FC236}">
                <a16:creationId xmlns:a16="http://schemas.microsoft.com/office/drawing/2014/main" id="{16CFCA71-1913-4C9A-AA3E-4423311E9AAB}"/>
              </a:ext>
            </a:extLst>
          </p:cNvPr>
          <p:cNvSpPr>
            <a:spLocks noGrp="1" noChangeArrowheads="1"/>
          </p:cNvSpPr>
          <p:nvPr>
            <p:ph type="body" idx="1"/>
          </p:nvPr>
        </p:nvSpPr>
        <p:spPr>
          <a:xfrm>
            <a:off x="1485900" y="1028700"/>
            <a:ext cx="6057900" cy="3829050"/>
          </a:xfrm>
        </p:spPr>
        <p:txBody>
          <a:bodyPr/>
          <a:lstStyle/>
          <a:p>
            <a:pPr algn="just">
              <a:lnSpc>
                <a:spcPct val="90000"/>
              </a:lnSpc>
            </a:pPr>
            <a:r>
              <a:rPr lang="zh-CN" altLang="en-US" sz="2700" b="1" dirty="0">
                <a:solidFill>
                  <a:srgbClr val="FFCC00"/>
                </a:solidFill>
                <a:latin typeface="黑体" panose="02010609060101010101" pitchFamily="49" charset="-122"/>
                <a:ea typeface="黑体" panose="02010609060101010101" pitchFamily="49" charset="-122"/>
              </a:rPr>
              <a:t>文件系统的引入</a:t>
            </a:r>
          </a:p>
          <a:p>
            <a:pPr algn="just">
              <a:lnSpc>
                <a:spcPct val="90000"/>
              </a:lnSpc>
            </a:pPr>
            <a:r>
              <a:rPr lang="zh-CN" altLang="en-US" sz="2700" b="1" dirty="0">
                <a:solidFill>
                  <a:srgbClr val="FFCC00"/>
                </a:solidFill>
                <a:latin typeface="黑体" panose="02010609060101010101" pitchFamily="49" charset="-122"/>
                <a:ea typeface="黑体" panose="02010609060101010101" pitchFamily="49" charset="-122"/>
              </a:rPr>
              <a:t>怎样对软件资源</a:t>
            </a:r>
            <a:r>
              <a:rPr lang="en-US" altLang="zh-CN" sz="2700" b="1" dirty="0">
                <a:solidFill>
                  <a:srgbClr val="FFCC00"/>
                </a:solidFill>
                <a:latin typeface="黑体" panose="02010609060101010101" pitchFamily="49" charset="-122"/>
                <a:ea typeface="黑体" panose="02010609060101010101" pitchFamily="49" charset="-122"/>
              </a:rPr>
              <a:t>(</a:t>
            </a:r>
            <a:r>
              <a:rPr lang="zh-CN" altLang="en-US" sz="2700" b="1" dirty="0">
                <a:solidFill>
                  <a:srgbClr val="FFCC00"/>
                </a:solidFill>
                <a:latin typeface="黑体" panose="02010609060101010101" pitchFamily="49" charset="-122"/>
                <a:ea typeface="黑体" panose="02010609060101010101" pitchFamily="49" charset="-122"/>
              </a:rPr>
              <a:t>程序和数据</a:t>
            </a:r>
            <a:r>
              <a:rPr lang="en-US" altLang="zh-CN" sz="2700" b="1" dirty="0">
                <a:solidFill>
                  <a:srgbClr val="FFCC00"/>
                </a:solidFill>
                <a:latin typeface="黑体" panose="02010609060101010101" pitchFamily="49" charset="-122"/>
                <a:ea typeface="黑体" panose="02010609060101010101" pitchFamily="49" charset="-122"/>
              </a:rPr>
              <a:t>)</a:t>
            </a:r>
            <a:r>
              <a:rPr lang="zh-CN" altLang="en-US" sz="2700" b="1" dirty="0">
                <a:solidFill>
                  <a:srgbClr val="FFCC00"/>
                </a:solidFill>
                <a:latin typeface="黑体" panose="02010609060101010101" pitchFamily="49" charset="-122"/>
                <a:ea typeface="黑体" panose="02010609060101010101" pitchFamily="49" charset="-122"/>
              </a:rPr>
              <a:t>进行存放和访问，并能令这些程序和数据招之即来</a:t>
            </a:r>
          </a:p>
          <a:p>
            <a:pPr algn="just">
              <a:lnSpc>
                <a:spcPct val="90000"/>
              </a:lnSpc>
            </a:pPr>
            <a:r>
              <a:rPr lang="zh-CN" altLang="en-US" sz="2700" b="1" dirty="0">
                <a:solidFill>
                  <a:srgbClr val="FFCC00"/>
                </a:solidFill>
                <a:latin typeface="黑体" panose="02010609060101010101" pitchFamily="49" charset="-122"/>
                <a:ea typeface="黑体" panose="02010609060101010101" pitchFamily="49" charset="-122"/>
              </a:rPr>
              <a:t>在早期计算机系统中，由于硬件资源的限制，人们只能用卡片或纸带来存放信息，对卡片和纸带都分别编号存放，作不到透明存取，极大地限制了计算机的处理能力和硬件的利用率。</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a:extLst>
              <a:ext uri="{FF2B5EF4-FFF2-40B4-BE49-F238E27FC236}">
                <a16:creationId xmlns:a16="http://schemas.microsoft.com/office/drawing/2014/main" id="{4B4BDB98-5F60-44BF-B48B-49CD5A745567}"/>
              </a:ext>
            </a:extLst>
          </p:cNvPr>
          <p:cNvSpPr>
            <a:spLocks noGrp="1"/>
          </p:cNvSpPr>
          <p:nvPr>
            <p:ph type="sldNum" sz="quarter" idx="12"/>
          </p:nvPr>
        </p:nvSpPr>
        <p:spPr/>
        <p:txBody>
          <a:bodyPr/>
          <a:lstStyle/>
          <a:p>
            <a:fld id="{0C776A99-804A-4D7F-A965-238FFD4C1900}" type="slidenum">
              <a:rPr lang="en-US" altLang="zh-CN"/>
              <a:pPr/>
              <a:t>5</a:t>
            </a:fld>
            <a:endParaRPr lang="en-US" altLang="zh-CN"/>
          </a:p>
        </p:txBody>
      </p:sp>
      <p:sp>
        <p:nvSpPr>
          <p:cNvPr id="51203" name="Rectangle 3">
            <a:extLst>
              <a:ext uri="{FF2B5EF4-FFF2-40B4-BE49-F238E27FC236}">
                <a16:creationId xmlns:a16="http://schemas.microsoft.com/office/drawing/2014/main" id="{231BB284-2C83-4E7D-BBF2-72DA296520AA}"/>
              </a:ext>
            </a:extLst>
          </p:cNvPr>
          <p:cNvSpPr>
            <a:spLocks noGrp="1" noChangeArrowheads="1"/>
          </p:cNvSpPr>
          <p:nvPr>
            <p:ph type="body" idx="1"/>
          </p:nvPr>
        </p:nvSpPr>
        <p:spPr>
          <a:xfrm>
            <a:off x="1485900" y="742950"/>
            <a:ext cx="6000750" cy="4171950"/>
          </a:xfrm>
        </p:spPr>
        <p:txBody>
          <a:bodyPr/>
          <a:lstStyle/>
          <a:p>
            <a:pPr algn="just">
              <a:lnSpc>
                <a:spcPct val="90000"/>
              </a:lnSpc>
            </a:pPr>
            <a:r>
              <a:rPr lang="zh-CN" altLang="en-US" sz="2700" b="1">
                <a:solidFill>
                  <a:srgbClr val="FFCC00"/>
                </a:solidFill>
                <a:latin typeface="Times New Roman" panose="02020603050405020304" pitchFamily="18" charset="0"/>
                <a:ea typeface="黑体" panose="02010609060101010101" pitchFamily="49" charset="-122"/>
              </a:rPr>
              <a:t>实际上对用户来说，关心的不是信息的具体存放位置，而是存取的方便、可靠。不是信息的物理结构而是信息的逻辑结构</a:t>
            </a:r>
          </a:p>
          <a:p>
            <a:pPr algn="just">
              <a:lnSpc>
                <a:spcPct val="90000"/>
              </a:lnSpc>
            </a:pPr>
            <a:r>
              <a:rPr lang="zh-CN" altLang="en-US" sz="2700" b="1">
                <a:solidFill>
                  <a:srgbClr val="FFCC00"/>
                </a:solidFill>
                <a:latin typeface="Times New Roman" panose="02020603050405020304" pitchFamily="18" charset="0"/>
                <a:ea typeface="黑体" panose="02010609060101010101" pitchFamily="49" charset="-122"/>
              </a:rPr>
              <a:t>大容量直接存取的磁盘存储器以及顺序存取的磁带存储器等的出现，为软件资源的透明存取提供了物质基础，导致了对软件资源管理质的飞跃－文件系统的出现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a:extLst>
              <a:ext uri="{FF2B5EF4-FFF2-40B4-BE49-F238E27FC236}">
                <a16:creationId xmlns:a16="http://schemas.microsoft.com/office/drawing/2014/main" id="{4578A8F3-ADCD-4759-90AA-4A67436C2646}"/>
              </a:ext>
            </a:extLst>
          </p:cNvPr>
          <p:cNvSpPr>
            <a:spLocks noGrp="1"/>
          </p:cNvSpPr>
          <p:nvPr>
            <p:ph type="sldNum" sz="quarter" idx="12"/>
          </p:nvPr>
        </p:nvSpPr>
        <p:spPr/>
        <p:txBody>
          <a:bodyPr/>
          <a:lstStyle/>
          <a:p>
            <a:fld id="{59D6BA28-3DF1-494E-9EBF-0E9D21A8D653}" type="slidenum">
              <a:rPr lang="en-US" altLang="zh-CN"/>
              <a:pPr/>
              <a:t>6</a:t>
            </a:fld>
            <a:endParaRPr lang="en-US" altLang="zh-CN"/>
          </a:p>
        </p:txBody>
      </p:sp>
      <p:sp>
        <p:nvSpPr>
          <p:cNvPr id="53251" name="Rectangle 3">
            <a:extLst>
              <a:ext uri="{FF2B5EF4-FFF2-40B4-BE49-F238E27FC236}">
                <a16:creationId xmlns:a16="http://schemas.microsoft.com/office/drawing/2014/main" id="{ECAF2CC3-3CE1-4D35-8F42-23A5DFB0519A}"/>
              </a:ext>
            </a:extLst>
          </p:cNvPr>
          <p:cNvSpPr>
            <a:spLocks noGrp="1" noChangeArrowheads="1"/>
          </p:cNvSpPr>
          <p:nvPr>
            <p:ph type="body" idx="1"/>
          </p:nvPr>
        </p:nvSpPr>
        <p:spPr>
          <a:xfrm>
            <a:off x="1543050" y="400050"/>
            <a:ext cx="6000750" cy="4457700"/>
          </a:xfrm>
        </p:spPr>
        <p:txBody>
          <a:bodyPr/>
          <a:lstStyle/>
          <a:p>
            <a:pPr algn="just"/>
            <a:r>
              <a:rPr lang="zh-CN" altLang="en-US" sz="2700" b="1">
                <a:solidFill>
                  <a:srgbClr val="FFCC00"/>
                </a:solidFill>
                <a:latin typeface="Times New Roman" panose="02020603050405020304" pitchFamily="18" charset="0"/>
                <a:ea typeface="黑体" panose="02010609060101010101" pitchFamily="49" charset="-122"/>
              </a:rPr>
              <a:t>文件系统把相应的程序和数据看作文件，并把它们存放在磁盘或磁带等大容量存储介质上，从而</a:t>
            </a:r>
            <a:r>
              <a:rPr lang="zh-CN" altLang="en-US" sz="2700" b="1">
                <a:solidFill>
                  <a:srgbClr val="FFCC00"/>
                </a:solidFill>
                <a:ea typeface="黑体" panose="02010609060101010101" pitchFamily="49" charset="-122"/>
              </a:rPr>
              <a:t>做到对信息的透明存取</a:t>
            </a:r>
          </a:p>
          <a:p>
            <a:pPr algn="just"/>
            <a:r>
              <a:rPr lang="zh-CN" altLang="en-US" sz="2700" b="1">
                <a:ea typeface="黑体" panose="02010609060101010101" pitchFamily="49" charset="-122"/>
              </a:rPr>
              <a:t>透明存取</a:t>
            </a:r>
            <a:r>
              <a:rPr lang="zh-CN" altLang="en-US" sz="2700" b="1">
                <a:solidFill>
                  <a:srgbClr val="FFCC00"/>
                </a:solidFill>
                <a:ea typeface="黑体" panose="02010609060101010101" pitchFamily="49" charset="-122"/>
              </a:rPr>
              <a:t>：是指不必了解文件存放的物理机构和查找方法等与存取介质有关的部分，只需要给定一个代表某段程序或数据的文件名，文件系统就会自动地完成对与给定文件名相对应文件的有关操作</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文件系统和文件</a:t>
            </a:r>
          </a:p>
        </p:txBody>
      </p:sp>
      <p:grpSp>
        <p:nvGrpSpPr>
          <p:cNvPr id="2" name="组合 1"/>
          <p:cNvGrpSpPr/>
          <p:nvPr/>
        </p:nvGrpSpPr>
        <p:grpSpPr>
          <a:xfrm>
            <a:off x="844893" y="1019164"/>
            <a:ext cx="7727635" cy="428628"/>
            <a:chOff x="844893" y="1019164"/>
            <a:chExt cx="7727635" cy="428628"/>
          </a:xfrm>
        </p:grpSpPr>
        <p:sp>
          <p:nvSpPr>
            <p:cNvPr id="9" name="内容占位符 2"/>
            <p:cNvSpPr txBox="1"/>
            <p:nvPr/>
          </p:nvSpPr>
          <p:spPr>
            <a:xfrm>
              <a:off x="1142976" y="1019164"/>
              <a:ext cx="742955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solidFill>
                    <a:srgbClr val="FF0000"/>
                  </a:solidFill>
                </a:rPr>
                <a:t>文件系统</a:t>
              </a:r>
              <a:r>
                <a:rPr lang="zh-CN" altLang="en-US" dirty="0"/>
                <a:t>是操作系统中以文件为单元管理</a:t>
              </a:r>
              <a:r>
                <a:rPr lang="zh-CN" altLang="en-US" dirty="0">
                  <a:solidFill>
                    <a:srgbClr val="FF0000"/>
                  </a:solidFill>
                </a:rPr>
                <a:t>持久性</a:t>
              </a:r>
              <a:r>
                <a:rPr lang="zh-CN" altLang="en-US" dirty="0"/>
                <a:t>数据的子系统，提供数据存储和访问控制功能。</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844893" y="3929072"/>
            <a:ext cx="6607427" cy="423636"/>
            <a:chOff x="844893" y="2595792"/>
            <a:chExt cx="6607427" cy="423636"/>
          </a:xfrm>
        </p:grpSpPr>
        <p:sp>
          <p:nvSpPr>
            <p:cNvPr id="15" name="内容占位符 2"/>
            <p:cNvSpPr txBox="1"/>
            <p:nvPr/>
          </p:nvSpPr>
          <p:spPr>
            <a:xfrm>
              <a:off x="1142976" y="2595792"/>
              <a:ext cx="6309344" cy="42363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solidFill>
                    <a:srgbClr val="FF0000"/>
                  </a:solidFill>
                </a:rPr>
                <a:t>文件</a:t>
              </a:r>
              <a:r>
                <a:rPr lang="zh-CN" altLang="en-US" dirty="0"/>
                <a:t>是具有符号名，由</a:t>
              </a:r>
              <a:r>
                <a:rPr lang="zh-CN" altLang="en-US" dirty="0">
                  <a:solidFill>
                    <a:srgbClr val="FF0000"/>
                  </a:solidFill>
                </a:rPr>
                <a:t>字节序列</a:t>
              </a:r>
              <a:r>
                <a:rPr lang="zh-CN" altLang="en-US" dirty="0"/>
                <a:t>构成的数据项集合。</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6" name="TextBox 15"/>
            <p:cNvSpPr txBox="1"/>
            <p:nvPr/>
          </p:nvSpPr>
          <p:spPr>
            <a:xfrm>
              <a:off x="844893" y="2595792"/>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1262422" y="1665610"/>
            <a:ext cx="7238668" cy="355598"/>
            <a:chOff x="1262422" y="1665610"/>
            <a:chExt cx="7238668" cy="355598"/>
          </a:xfrm>
        </p:grpSpPr>
        <p:pic>
          <p:nvPicPr>
            <p:cNvPr id="29" name="图片 28" descr="小点1.png"/>
            <p:cNvPicPr>
              <a:picLocks noChangeAspect="1"/>
            </p:cNvPicPr>
            <p:nvPr/>
          </p:nvPicPr>
          <p:blipFill>
            <a:blip r:embed="rId3" cstate="print"/>
            <a:stretch>
              <a:fillRect/>
            </a:stretch>
          </p:blipFill>
          <p:spPr>
            <a:xfrm>
              <a:off x="1262422" y="1770386"/>
              <a:ext cx="151066" cy="148997"/>
            </a:xfrm>
            <a:prstGeom prst="rect">
              <a:avLst/>
            </a:prstGeom>
            <a:effectLst/>
          </p:spPr>
        </p:pic>
        <p:sp>
          <p:nvSpPr>
            <p:cNvPr id="30" name="内容占位符 2"/>
            <p:cNvSpPr txBox="1"/>
            <p:nvPr/>
          </p:nvSpPr>
          <p:spPr>
            <a:xfrm>
              <a:off x="1394985" y="1665610"/>
              <a:ext cx="7106105"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创建、撤销、组织、检索、修改、读写、存取控制、保护数据</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4" name="组合 3"/>
          <p:cNvGrpSpPr/>
          <p:nvPr/>
        </p:nvGrpSpPr>
        <p:grpSpPr>
          <a:xfrm>
            <a:off x="1262422" y="2079946"/>
            <a:ext cx="5452718" cy="920432"/>
            <a:chOff x="1262422" y="2079946"/>
            <a:chExt cx="5452718" cy="920432"/>
          </a:xfrm>
        </p:grpSpPr>
        <p:pic>
          <p:nvPicPr>
            <p:cNvPr id="27" name="图片 26" descr="小点1.png"/>
            <p:cNvPicPr>
              <a:picLocks noChangeAspect="1"/>
            </p:cNvPicPr>
            <p:nvPr/>
          </p:nvPicPr>
          <p:blipFill>
            <a:blip r:embed="rId3" cstate="print"/>
            <a:stretch>
              <a:fillRect/>
            </a:stretch>
          </p:blipFill>
          <p:spPr>
            <a:xfrm>
              <a:off x="1262422" y="2079946"/>
              <a:ext cx="151066" cy="148997"/>
            </a:xfrm>
            <a:prstGeom prst="rect">
              <a:avLst/>
            </a:prstGeom>
            <a:effectLst/>
          </p:spPr>
        </p:pic>
        <p:pic>
          <p:nvPicPr>
            <p:cNvPr id="17" name="图片 16" descr="小点1.png"/>
            <p:cNvPicPr>
              <a:picLocks noChangeAspect="1"/>
            </p:cNvPicPr>
            <p:nvPr/>
          </p:nvPicPr>
          <p:blipFill>
            <a:blip r:embed="rId3" cstate="print"/>
            <a:stretch>
              <a:fillRect/>
            </a:stretch>
          </p:blipFill>
          <p:spPr>
            <a:xfrm>
              <a:off x="1262422" y="2381478"/>
              <a:ext cx="151066" cy="148997"/>
            </a:xfrm>
            <a:prstGeom prst="rect">
              <a:avLst/>
            </a:prstGeom>
            <a:effectLst/>
          </p:spPr>
        </p:pic>
        <p:sp>
          <p:nvSpPr>
            <p:cNvPr id="18" name="内容占位符 2"/>
            <p:cNvSpPr txBox="1"/>
            <p:nvPr/>
          </p:nvSpPr>
          <p:spPr>
            <a:xfrm>
              <a:off x="1394986" y="2289402"/>
              <a:ext cx="5320154" cy="3571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en-US" altLang="zh-CN" dirty="0"/>
                <a:t>Google </a:t>
              </a:r>
              <a:r>
                <a:rPr lang="zh-CN" altLang="en-US" dirty="0"/>
                <a:t>是一个巨型分布式文件系统</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pic>
          <p:nvPicPr>
            <p:cNvPr id="23" name="图片 22" descr="小点1.png"/>
            <p:cNvPicPr>
              <a:picLocks noChangeAspect="1"/>
            </p:cNvPicPr>
            <p:nvPr/>
          </p:nvPicPr>
          <p:blipFill>
            <a:blip r:embed="rId3" cstate="print"/>
            <a:stretch>
              <a:fillRect/>
            </a:stretch>
          </p:blipFill>
          <p:spPr>
            <a:xfrm>
              <a:off x="1262422" y="2735264"/>
              <a:ext cx="151066" cy="148997"/>
            </a:xfrm>
            <a:prstGeom prst="rect">
              <a:avLst/>
            </a:prstGeom>
            <a:effectLst/>
          </p:spPr>
        </p:pic>
        <p:sp>
          <p:nvSpPr>
            <p:cNvPr id="24" name="内容占位符 2"/>
            <p:cNvSpPr txBox="1"/>
            <p:nvPr/>
          </p:nvSpPr>
          <p:spPr>
            <a:xfrm>
              <a:off x="1394986" y="2643188"/>
              <a:ext cx="5320154" cy="3571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数据库系统也是一个大型文件系统</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6" name="组合 5"/>
          <p:cNvGrpSpPr/>
          <p:nvPr/>
        </p:nvGrpSpPr>
        <p:grpSpPr>
          <a:xfrm>
            <a:off x="1262422" y="4280000"/>
            <a:ext cx="4309710" cy="355598"/>
            <a:chOff x="1262422" y="2946720"/>
            <a:chExt cx="4309710" cy="355598"/>
          </a:xfrm>
        </p:grpSpPr>
        <p:pic>
          <p:nvPicPr>
            <p:cNvPr id="19" name="图片 18" descr="小点1.png"/>
            <p:cNvPicPr>
              <a:picLocks noChangeAspect="1"/>
            </p:cNvPicPr>
            <p:nvPr/>
          </p:nvPicPr>
          <p:blipFill>
            <a:blip r:embed="rId3" cstate="print"/>
            <a:stretch>
              <a:fillRect/>
            </a:stretch>
          </p:blipFill>
          <p:spPr>
            <a:xfrm>
              <a:off x="1262422" y="3051496"/>
              <a:ext cx="151066" cy="148997"/>
            </a:xfrm>
            <a:prstGeom prst="rect">
              <a:avLst/>
            </a:prstGeom>
            <a:effectLst/>
          </p:spPr>
        </p:pic>
        <p:sp>
          <p:nvSpPr>
            <p:cNvPr id="20" name="内容占位符 2"/>
            <p:cNvSpPr txBox="1"/>
            <p:nvPr/>
          </p:nvSpPr>
          <p:spPr>
            <a:xfrm>
              <a:off x="1394985" y="2946720"/>
              <a:ext cx="4177147"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文件系统的</a:t>
              </a:r>
              <a:r>
                <a:rPr lang="zh-CN" altLang="en-US" dirty="0">
                  <a:solidFill>
                    <a:srgbClr val="FF0000"/>
                  </a:solidFill>
                </a:rPr>
                <a:t>基本数据单位</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grpSp>
        <p:nvGrpSpPr>
          <p:cNvPr id="7" name="组合 6"/>
          <p:cNvGrpSpPr/>
          <p:nvPr/>
        </p:nvGrpSpPr>
        <p:grpSpPr>
          <a:xfrm>
            <a:off x="1262422" y="4589560"/>
            <a:ext cx="3309578" cy="354014"/>
            <a:chOff x="1262422" y="3256280"/>
            <a:chExt cx="3309578" cy="354014"/>
          </a:xfrm>
        </p:grpSpPr>
        <p:pic>
          <p:nvPicPr>
            <p:cNvPr id="21" name="图片 20" descr="小点1.png"/>
            <p:cNvPicPr>
              <a:picLocks noChangeAspect="1"/>
            </p:cNvPicPr>
            <p:nvPr/>
          </p:nvPicPr>
          <p:blipFill>
            <a:blip r:embed="rId3" cstate="print"/>
            <a:stretch>
              <a:fillRect/>
            </a:stretch>
          </p:blipFill>
          <p:spPr>
            <a:xfrm>
              <a:off x="1262422" y="3361056"/>
              <a:ext cx="151066" cy="148997"/>
            </a:xfrm>
            <a:prstGeom prst="rect">
              <a:avLst/>
            </a:prstGeom>
            <a:effectLst/>
          </p:spPr>
        </p:pic>
        <p:sp>
          <p:nvSpPr>
            <p:cNvPr id="22" name="内容占位符 2"/>
            <p:cNvSpPr txBox="1"/>
            <p:nvPr/>
          </p:nvSpPr>
          <p:spPr>
            <a:xfrm>
              <a:off x="1394986" y="3256280"/>
              <a:ext cx="3177014" cy="35401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solidFill>
                    <a:srgbClr val="FF0000"/>
                  </a:solidFill>
                </a:rPr>
                <a:t>文件名</a:t>
              </a:r>
              <a:r>
                <a:rPr lang="zh-CN" altLang="en-US" dirty="0"/>
                <a:t>是文件的标识符号</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4348" y="857239"/>
            <a:ext cx="7858180" cy="2554545"/>
          </a:xfrm>
          <a:prstGeom prst="rect">
            <a:avLst/>
          </a:prstGeom>
        </p:spPr>
        <p:txBody>
          <a:bodyPr wrap="squar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文件：</a:t>
            </a:r>
            <a:r>
              <a:rPr lang="zh-CN" altLang="en-US" sz="2000" b="1" dirty="0">
                <a:solidFill>
                  <a:srgbClr val="11576A"/>
                </a:solidFill>
                <a:latin typeface="微软雅黑" panose="020B0503020204020204" pitchFamily="34" charset="-122"/>
                <a:ea typeface="微软雅黑" panose="020B0503020204020204" pitchFamily="34" charset="-122"/>
              </a:rPr>
              <a:t>由用户或应用程序所定义和创建的、具有文件名的一组相关记录的集合。（注意：</a:t>
            </a:r>
            <a:r>
              <a:rPr lang="zh-CN" altLang="en-US" sz="2000" b="1" dirty="0">
                <a:solidFill>
                  <a:srgbClr val="FF0000"/>
                </a:solidFill>
                <a:latin typeface="微软雅黑" panose="020B0503020204020204" pitchFamily="34" charset="-122"/>
                <a:ea typeface="微软雅黑" panose="020B0503020204020204" pitchFamily="34" charset="-122"/>
              </a:rPr>
              <a:t>文件是访问控制的基本单元</a:t>
            </a:r>
            <a:r>
              <a:rPr lang="zh-CN" altLang="en-US" sz="2000" b="1" dirty="0">
                <a:solidFill>
                  <a:srgbClr val="11576A"/>
                </a:solidFill>
                <a:latin typeface="微软雅黑" panose="020B0503020204020204" pitchFamily="34" charset="-122"/>
                <a:ea typeface="微软雅黑" panose="020B0503020204020204" pitchFamily="34" charset="-122"/>
              </a:rPr>
              <a:t>）</a:t>
            </a:r>
            <a:endParaRPr lang="en-US" altLang="zh-CN" sz="2000" b="1" dirty="0">
              <a:solidFill>
                <a:srgbClr val="11576A"/>
              </a:solidFill>
              <a:latin typeface="微软雅黑" panose="020B0503020204020204" pitchFamily="34" charset="-122"/>
              <a:ea typeface="微软雅黑" panose="020B0503020204020204" pitchFamily="34" charset="-122"/>
            </a:endParaRPr>
          </a:p>
          <a:p>
            <a:r>
              <a:rPr lang="zh-CN" altLang="en-US" sz="2000" b="1" dirty="0">
                <a:solidFill>
                  <a:srgbClr val="11576A"/>
                </a:solidFill>
                <a:latin typeface="微软雅黑" panose="020B0503020204020204" pitchFamily="34" charset="-122"/>
                <a:ea typeface="微软雅黑" panose="020B0503020204020204" pitchFamily="34" charset="-122"/>
              </a:rPr>
              <a:t>文件分为有结构文件和无结构文件两种。</a:t>
            </a:r>
            <a:endParaRPr lang="en-US" altLang="zh-CN" sz="2000" b="1" dirty="0">
              <a:solidFill>
                <a:srgbClr val="11576A"/>
              </a:solidFill>
              <a:latin typeface="微软雅黑" panose="020B0503020204020204" pitchFamily="34" charset="-122"/>
              <a:ea typeface="微软雅黑" panose="020B0503020204020204" pitchFamily="34" charset="-122"/>
            </a:endParaRPr>
          </a:p>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有结构的文件</a:t>
            </a:r>
            <a:r>
              <a:rPr lang="zh-CN" altLang="en-US" sz="2000" b="1" dirty="0">
                <a:solidFill>
                  <a:srgbClr val="11576A"/>
                </a:solidFill>
                <a:latin typeface="微软雅黑" panose="020B0503020204020204" pitchFamily="34" charset="-122"/>
                <a:ea typeface="微软雅黑" panose="020B0503020204020204" pitchFamily="34" charset="-122"/>
              </a:rPr>
              <a:t>由若干个相关记录组成；</a:t>
            </a:r>
            <a:endParaRPr lang="en-US" altLang="zh-CN" sz="2000" b="1" dirty="0">
              <a:solidFill>
                <a:srgbClr val="11576A"/>
              </a:solidFill>
              <a:latin typeface="微软雅黑" panose="020B0503020204020204" pitchFamily="34" charset="-122"/>
              <a:ea typeface="微软雅黑" panose="020B0503020204020204" pitchFamily="34" charset="-122"/>
            </a:endParaRPr>
          </a:p>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无结构文件</a:t>
            </a:r>
            <a:r>
              <a:rPr lang="zh-CN" altLang="en-US" sz="2000" b="1" dirty="0">
                <a:solidFill>
                  <a:srgbClr val="11576A"/>
                </a:solidFill>
                <a:latin typeface="微软雅黑" panose="020B0503020204020204" pitchFamily="34" charset="-122"/>
                <a:ea typeface="微软雅黑" panose="020B0503020204020204" pitchFamily="34" charset="-122"/>
              </a:rPr>
              <a:t>则被看成是一个字符流。</a:t>
            </a:r>
            <a:endParaRPr lang="en-US" altLang="zh-CN" sz="2000" b="1" dirty="0">
              <a:solidFill>
                <a:srgbClr val="11576A"/>
              </a:solidFill>
              <a:latin typeface="微软雅黑" panose="020B0503020204020204" pitchFamily="34" charset="-122"/>
              <a:ea typeface="微软雅黑" panose="020B0503020204020204" pitchFamily="34" charset="-122"/>
            </a:endParaRPr>
          </a:p>
          <a:p>
            <a:endParaRPr lang="zh-CN" altLang="en-US" sz="2000" b="1" dirty="0">
              <a:solidFill>
                <a:srgbClr val="11576A"/>
              </a:solidFill>
              <a:latin typeface="微软雅黑" panose="020B0503020204020204" pitchFamily="34" charset="-122"/>
              <a:ea typeface="微软雅黑" panose="020B0503020204020204" pitchFamily="34" charset="-122"/>
            </a:endParaRPr>
          </a:p>
          <a:p>
            <a:endParaRPr lang="zh-CN" altLang="en-US" sz="2000" b="1" dirty="0">
              <a:solidFill>
                <a:srgbClr val="11576A"/>
              </a:solidFill>
              <a:latin typeface="微软雅黑" panose="020B0503020204020204" pitchFamily="34" charset="-122"/>
              <a:ea typeface="微软雅黑" panose="020B0503020204020204" pitchFamily="34" charset="-122"/>
            </a:endParaRPr>
          </a:p>
          <a:p>
            <a:endParaRPr lang="en-US" altLang="zh-CN" sz="2000" b="1" dirty="0">
              <a:solidFill>
                <a:srgbClr val="11576A"/>
              </a:solidFill>
              <a:latin typeface="微软雅黑" panose="020B0503020204020204" pitchFamily="34" charset="-122"/>
              <a:ea typeface="微软雅黑" panose="020B0503020204020204" pitchFamily="34" charset="-122"/>
            </a:endParaRPr>
          </a:p>
        </p:txBody>
      </p:sp>
      <p:sp>
        <p:nvSpPr>
          <p:cNvPr id="3"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文件系统和文件</a:t>
            </a:r>
          </a:p>
        </p:txBody>
      </p:sp>
      <p:sp>
        <p:nvSpPr>
          <p:cNvPr id="4" name="矩形 3"/>
          <p:cNvSpPr/>
          <p:nvPr/>
        </p:nvSpPr>
        <p:spPr>
          <a:xfrm>
            <a:off x="857224" y="2643188"/>
            <a:ext cx="3929090" cy="2102763"/>
          </a:xfrm>
          <a:prstGeom prst="rect">
            <a:avLst/>
          </a:prstGeom>
        </p:spPr>
        <p:txBody>
          <a:bodyPr wrap="square">
            <a:spAutoFit/>
          </a:bodyPr>
          <a:lstStyle/>
          <a:p>
            <a:r>
              <a:rPr lang="zh-CN" altLang="en-US" b="1" dirty="0">
                <a:solidFill>
                  <a:srgbClr val="11576A"/>
                </a:solidFill>
                <a:latin typeface="微软雅黑" panose="020B0503020204020204" pitchFamily="34" charset="-122"/>
                <a:ea typeface="微软雅黑" panose="020B0503020204020204" pitchFamily="34" charset="-122"/>
              </a:rPr>
              <a:t>一个文件必须要有一个</a:t>
            </a:r>
            <a:r>
              <a:rPr lang="zh-CN" altLang="en-US" b="1" dirty="0">
                <a:solidFill>
                  <a:srgbClr val="FF0000"/>
                </a:solidFill>
                <a:latin typeface="微软雅黑" panose="020B0503020204020204" pitchFamily="34" charset="-122"/>
                <a:ea typeface="微软雅黑" panose="020B0503020204020204" pitchFamily="34" charset="-122"/>
              </a:rPr>
              <a:t>文件名</a:t>
            </a:r>
            <a:r>
              <a:rPr lang="zh-CN" altLang="en-US" b="1" dirty="0">
                <a:solidFill>
                  <a:srgbClr val="11576A"/>
                </a:solidFill>
                <a:latin typeface="微软雅黑" panose="020B0503020204020204" pitchFamily="34" charset="-122"/>
                <a:ea typeface="微软雅黑" panose="020B0503020204020204" pitchFamily="34" charset="-122"/>
              </a:rPr>
              <a:t>，它通常是由一串</a:t>
            </a:r>
            <a:r>
              <a:rPr lang="en-US" altLang="zh-CN" b="1" dirty="0">
                <a:solidFill>
                  <a:srgbClr val="11576A"/>
                </a:solidFill>
                <a:latin typeface="微软雅黑" panose="020B0503020204020204" pitchFamily="34" charset="-122"/>
                <a:ea typeface="微软雅黑" panose="020B0503020204020204" pitchFamily="34" charset="-122"/>
              </a:rPr>
              <a:t>ASCII</a:t>
            </a:r>
            <a:r>
              <a:rPr lang="zh-CN" altLang="en-US" b="1" dirty="0">
                <a:solidFill>
                  <a:srgbClr val="11576A"/>
                </a:solidFill>
                <a:latin typeface="微软雅黑" panose="020B0503020204020204" pitchFamily="34" charset="-122"/>
                <a:ea typeface="微软雅黑" panose="020B0503020204020204" pitchFamily="34" charset="-122"/>
              </a:rPr>
              <a:t>码或</a:t>
            </a:r>
            <a:r>
              <a:rPr lang="en-US" altLang="zh-CN" b="1" dirty="0">
                <a:solidFill>
                  <a:srgbClr val="11576A"/>
                </a:solidFill>
                <a:latin typeface="微软雅黑" panose="020B0503020204020204" pitchFamily="34" charset="-122"/>
                <a:ea typeface="微软雅黑" panose="020B0503020204020204" pitchFamily="34" charset="-122"/>
              </a:rPr>
              <a:t>(</a:t>
            </a:r>
            <a:r>
              <a:rPr lang="zh-CN" altLang="en-US" b="1" dirty="0">
                <a:solidFill>
                  <a:srgbClr val="11576A"/>
                </a:solidFill>
                <a:latin typeface="微软雅黑" panose="020B0503020204020204" pitchFamily="34" charset="-122"/>
                <a:ea typeface="微软雅黑" panose="020B0503020204020204" pitchFamily="34" charset="-122"/>
              </a:rPr>
              <a:t>和</a:t>
            </a:r>
            <a:r>
              <a:rPr lang="en-US" altLang="zh-CN" b="1" dirty="0">
                <a:solidFill>
                  <a:srgbClr val="11576A"/>
                </a:solidFill>
                <a:latin typeface="微软雅黑" panose="020B0503020204020204" pitchFamily="34" charset="-122"/>
                <a:ea typeface="微软雅黑" panose="020B0503020204020204" pitchFamily="34" charset="-122"/>
              </a:rPr>
              <a:t>)</a:t>
            </a:r>
            <a:r>
              <a:rPr lang="zh-CN" altLang="en-US" b="1" dirty="0">
                <a:solidFill>
                  <a:srgbClr val="11576A"/>
                </a:solidFill>
                <a:latin typeface="微软雅黑" panose="020B0503020204020204" pitchFamily="34" charset="-122"/>
                <a:ea typeface="微软雅黑" panose="020B0503020204020204" pitchFamily="34" charset="-122"/>
              </a:rPr>
              <a:t>汉字构成的，名字的长度因系统不同而异。用户利用文件名来访问文件。</a:t>
            </a:r>
            <a:endParaRPr lang="en-US" altLang="zh-CN" b="1" dirty="0">
              <a:solidFill>
                <a:srgbClr val="11576A"/>
              </a:solidFill>
              <a:latin typeface="微软雅黑" panose="020B0503020204020204" pitchFamily="34" charset="-122"/>
              <a:ea typeface="微软雅黑" panose="020B0503020204020204" pitchFamily="34" charset="-122"/>
            </a:endParaRPr>
          </a:p>
          <a:p>
            <a:r>
              <a:rPr lang="zh-CN" altLang="en-US" b="1" dirty="0">
                <a:solidFill>
                  <a:srgbClr val="11576A"/>
                </a:solidFill>
                <a:latin typeface="微软雅黑" panose="020B0503020204020204" pitchFamily="34" charset="-122"/>
                <a:ea typeface="微软雅黑" panose="020B0503020204020204" pitchFamily="34" charset="-122"/>
              </a:rPr>
              <a:t>文件应具有自己的</a:t>
            </a:r>
            <a:r>
              <a:rPr lang="zh-CN" altLang="en-US" b="1" dirty="0">
                <a:solidFill>
                  <a:srgbClr val="FF0000"/>
                </a:solidFill>
                <a:latin typeface="微软雅黑" panose="020B0503020204020204" pitchFamily="34" charset="-122"/>
                <a:ea typeface="微软雅黑" panose="020B0503020204020204" pitchFamily="34" charset="-122"/>
              </a:rPr>
              <a:t>属性</a:t>
            </a:r>
            <a:r>
              <a:rPr lang="zh-CN" altLang="en-US" b="1" dirty="0">
                <a:solidFill>
                  <a:srgbClr val="11576A"/>
                </a:solidFill>
                <a:latin typeface="微软雅黑" panose="020B0503020204020204" pitchFamily="34" charset="-122"/>
                <a:ea typeface="微软雅黑" panose="020B0503020204020204" pitchFamily="34" charset="-122"/>
              </a:rPr>
              <a:t>，属性可以包括文件类型、文件长度、文件的物理位置、文件的建立时间等。</a:t>
            </a:r>
            <a:endParaRPr lang="en-US" altLang="zh-CN" b="1" dirty="0">
              <a:solidFill>
                <a:srgbClr val="11576A"/>
              </a:solidFill>
              <a:latin typeface="微软雅黑" panose="020B0503020204020204" pitchFamily="34" charset="-122"/>
              <a:ea typeface="微软雅黑" panose="020B0503020204020204" pitchFamily="34" charset="-122"/>
            </a:endParaRPr>
          </a:p>
        </p:txBody>
      </p:sp>
      <p:pic>
        <p:nvPicPr>
          <p:cNvPr id="5" name="Picture 3" descr="Img00024"/>
          <p:cNvPicPr>
            <a:picLocks noChangeAspect="1"/>
          </p:cNvPicPr>
          <p:nvPr/>
        </p:nvPicPr>
        <p:blipFill>
          <a:blip r:embed="rId2"/>
          <a:stretch>
            <a:fillRect/>
          </a:stretch>
        </p:blipFill>
        <p:spPr>
          <a:xfrm>
            <a:off x="4921027" y="2500312"/>
            <a:ext cx="4151567" cy="2571768"/>
          </a:xfrm>
          <a:prstGeom prst="rect">
            <a:avLst/>
          </a:prstGeom>
          <a:noFill/>
          <a:ln w="9525">
            <a:noFill/>
          </a:ln>
        </p:spPr>
      </p:pic>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42910" y="714362"/>
            <a:ext cx="8072494" cy="4708981"/>
          </a:xfrm>
          <a:prstGeom prst="rect">
            <a:avLst/>
          </a:prstGeom>
        </p:spPr>
        <p:txBody>
          <a:bodyPr wrap="square">
            <a:spAutoFit/>
          </a:bodyPr>
          <a:lstStyle/>
          <a:p>
            <a:r>
              <a:rPr lang="zh-CN" altLang="en-US" sz="2000" b="1" dirty="0">
                <a:solidFill>
                  <a:srgbClr val="11576A"/>
                </a:solidFill>
                <a:latin typeface="微软雅黑" panose="020B0503020204020204" pitchFamily="34" charset="-122"/>
                <a:ea typeface="微软雅黑" panose="020B0503020204020204" pitchFamily="34" charset="-122"/>
              </a:rPr>
              <a:t>文件的性质和用途：</a:t>
            </a:r>
          </a:p>
          <a:p>
            <a:pPr lvl="1"/>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系统文件</a:t>
            </a:r>
            <a:r>
              <a:rPr lang="en-US" altLang="zh-CN" sz="2000" b="1" dirty="0">
                <a:solidFill>
                  <a:srgbClr val="11576A"/>
                </a:solidFill>
                <a:latin typeface="微软雅黑" panose="020B0503020204020204" pitchFamily="34" charset="-122"/>
                <a:ea typeface="微软雅黑" panose="020B0503020204020204" pitchFamily="34" charset="-122"/>
              </a:rPr>
              <a:t>: </a:t>
            </a:r>
            <a:r>
              <a:rPr lang="zh-CN" altLang="en-US" sz="2000" b="1" dirty="0">
                <a:solidFill>
                  <a:srgbClr val="11576A"/>
                </a:solidFill>
                <a:latin typeface="微软雅黑" panose="020B0503020204020204" pitchFamily="34" charset="-122"/>
                <a:ea typeface="微软雅黑" panose="020B0503020204020204" pitchFamily="34" charset="-122"/>
              </a:rPr>
              <a:t>由</a:t>
            </a:r>
            <a:r>
              <a:rPr lang="en-US" altLang="zh-CN" sz="2000" b="1" dirty="0">
                <a:solidFill>
                  <a:srgbClr val="11576A"/>
                </a:solidFill>
                <a:latin typeface="微软雅黑" panose="020B0503020204020204" pitchFamily="34" charset="-122"/>
                <a:ea typeface="微软雅黑" panose="020B0503020204020204" pitchFamily="34" charset="-122"/>
              </a:rPr>
              <a:t>OS</a:t>
            </a:r>
            <a:r>
              <a:rPr lang="zh-CN" altLang="en-US" sz="2000" b="1" dirty="0">
                <a:solidFill>
                  <a:srgbClr val="11576A"/>
                </a:solidFill>
                <a:latin typeface="微软雅黑" panose="020B0503020204020204" pitchFamily="34" charset="-122"/>
                <a:ea typeface="微软雅黑" panose="020B0503020204020204" pitchFamily="34" charset="-122"/>
              </a:rPr>
              <a:t>的执行程序和数据组成的文件，该文件不对用户开放，仅供系统使用</a:t>
            </a:r>
          </a:p>
          <a:p>
            <a:pPr lvl="1"/>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库文件</a:t>
            </a:r>
            <a:r>
              <a:rPr lang="zh-CN" altLang="en-US" sz="2000" b="1" dirty="0">
                <a:solidFill>
                  <a:srgbClr val="11576A"/>
                </a:solidFill>
                <a:latin typeface="微软雅黑" panose="020B0503020204020204" pitchFamily="34" charset="-122"/>
                <a:ea typeface="微软雅黑" panose="020B0503020204020204" pitchFamily="34" charset="-122"/>
              </a:rPr>
              <a:t>：是指系统为用户提供的各种标准函数，标准过程和实用程序等。用户只能使用这些文件，而无权对其进行修改</a:t>
            </a:r>
            <a:endParaRPr lang="en-US" altLang="zh-CN" sz="2000" b="1" dirty="0">
              <a:solidFill>
                <a:srgbClr val="11576A"/>
              </a:solidFill>
              <a:latin typeface="微软雅黑" panose="020B0503020204020204" pitchFamily="34" charset="-122"/>
              <a:ea typeface="微软雅黑" panose="020B0503020204020204" pitchFamily="34" charset="-122"/>
            </a:endParaRPr>
          </a:p>
          <a:p>
            <a:pPr lvl="1"/>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用户文件</a:t>
            </a:r>
            <a:r>
              <a:rPr lang="zh-CN" altLang="en-US" sz="2000" b="1" dirty="0">
                <a:solidFill>
                  <a:srgbClr val="11576A"/>
                </a:solidFill>
                <a:latin typeface="微软雅黑" panose="020B0503020204020204" pitchFamily="34" charset="-122"/>
                <a:ea typeface="微软雅黑" panose="020B0503020204020204" pitchFamily="34" charset="-122"/>
              </a:rPr>
              <a:t>：由用户的信息组成的文件，如源程序文件，数据文件等。这种文件的使用和修改权均属于用户</a:t>
            </a:r>
            <a:endParaRPr lang="en-US" altLang="zh-CN" sz="2000" b="1" dirty="0">
              <a:solidFill>
                <a:srgbClr val="11576A"/>
              </a:solidFill>
              <a:latin typeface="微软雅黑" panose="020B0503020204020204" pitchFamily="34" charset="-122"/>
              <a:ea typeface="微软雅黑" panose="020B0503020204020204" pitchFamily="34" charset="-122"/>
            </a:endParaRPr>
          </a:p>
          <a:p>
            <a:r>
              <a:rPr lang="zh-CN" altLang="en-US" sz="2000" b="1" dirty="0">
                <a:solidFill>
                  <a:srgbClr val="11576A"/>
                </a:solidFill>
                <a:latin typeface="微软雅黑" panose="020B0503020204020204" pitchFamily="34" charset="-122"/>
                <a:ea typeface="微软雅黑" panose="020B0503020204020204" pitchFamily="34" charset="-122"/>
              </a:rPr>
              <a:t>文件的组织形式</a:t>
            </a:r>
          </a:p>
          <a:p>
            <a:pPr lvl="1"/>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普通文件</a:t>
            </a:r>
            <a:r>
              <a:rPr lang="en-US" altLang="zh-CN" sz="2000" b="1" dirty="0">
                <a:solidFill>
                  <a:srgbClr val="11576A"/>
                </a:solidFill>
                <a:latin typeface="微软雅黑" panose="020B0503020204020204" pitchFamily="34" charset="-122"/>
                <a:ea typeface="微软雅黑" panose="020B0503020204020204" pitchFamily="34" charset="-122"/>
              </a:rPr>
              <a:t>: </a:t>
            </a:r>
            <a:r>
              <a:rPr lang="zh-CN" altLang="en-US" sz="2000" b="1" dirty="0">
                <a:solidFill>
                  <a:srgbClr val="11576A"/>
                </a:solidFill>
                <a:latin typeface="微软雅黑" panose="020B0503020204020204" pitchFamily="34" charset="-122"/>
                <a:ea typeface="微软雅黑" panose="020B0503020204020204" pitchFamily="34" charset="-122"/>
              </a:rPr>
              <a:t>指一般的用户文件和系统文件，为系统中最一般格式</a:t>
            </a:r>
          </a:p>
          <a:p>
            <a:pPr lvl="1"/>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目录文件</a:t>
            </a:r>
            <a:r>
              <a:rPr lang="en-US" altLang="zh-CN" sz="2000" b="1" dirty="0">
                <a:solidFill>
                  <a:srgbClr val="11576A"/>
                </a:solidFill>
                <a:latin typeface="微软雅黑" panose="020B0503020204020204" pitchFamily="34" charset="-122"/>
                <a:ea typeface="微软雅黑" panose="020B0503020204020204" pitchFamily="34" charset="-122"/>
              </a:rPr>
              <a:t>: </a:t>
            </a:r>
            <a:r>
              <a:rPr lang="zh-CN" altLang="en-US" sz="2000" b="1" dirty="0">
                <a:solidFill>
                  <a:srgbClr val="11576A"/>
                </a:solidFill>
                <a:latin typeface="微软雅黑" panose="020B0503020204020204" pitchFamily="34" charset="-122"/>
                <a:ea typeface="微软雅黑" panose="020B0503020204020204" pitchFamily="34" charset="-122"/>
              </a:rPr>
              <a:t>指由文件目录项组成的文件，用来检索普通文件的目录信息</a:t>
            </a:r>
          </a:p>
          <a:p>
            <a:pPr lvl="1"/>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特殊文件</a:t>
            </a:r>
            <a:r>
              <a:rPr lang="en-US" altLang="zh-CN" sz="2000" b="1" dirty="0">
                <a:solidFill>
                  <a:srgbClr val="11576A"/>
                </a:solidFill>
                <a:latin typeface="微软雅黑" panose="020B0503020204020204" pitchFamily="34" charset="-122"/>
                <a:ea typeface="微软雅黑" panose="020B0503020204020204" pitchFamily="34" charset="-122"/>
              </a:rPr>
              <a:t>: </a:t>
            </a:r>
            <a:r>
              <a:rPr lang="zh-CN" altLang="en-US" sz="2000" b="1" dirty="0">
                <a:solidFill>
                  <a:srgbClr val="11576A"/>
                </a:solidFill>
                <a:latin typeface="微软雅黑" panose="020B0503020204020204" pitchFamily="34" charset="-122"/>
                <a:ea typeface="微软雅黑" panose="020B0503020204020204" pitchFamily="34" charset="-122"/>
              </a:rPr>
              <a:t>有的系统把设备作为文件统一管理和使用，并为区别起见，把设备称为特殊文件</a:t>
            </a:r>
            <a:endParaRPr lang="en-US" altLang="zh-CN" sz="2000" b="1" dirty="0">
              <a:solidFill>
                <a:srgbClr val="11576A"/>
              </a:solidFill>
              <a:latin typeface="微软雅黑" panose="020B0503020204020204" pitchFamily="34" charset="-122"/>
              <a:ea typeface="微软雅黑" panose="020B0503020204020204" pitchFamily="34" charset="-122"/>
            </a:endParaRPr>
          </a:p>
          <a:p>
            <a:pPr>
              <a:defRPr/>
            </a:pPr>
            <a:r>
              <a:rPr lang="zh-CN" altLang="en-US" sz="2000" b="1" noProof="1">
                <a:solidFill>
                  <a:srgbClr val="11576A"/>
                </a:solidFill>
                <a:latin typeface="微软雅黑" panose="020B0503020204020204" pitchFamily="34" charset="-122"/>
                <a:ea typeface="微软雅黑" panose="020B0503020204020204" pitchFamily="34" charset="-122"/>
              </a:rPr>
              <a:t>文件的操作保护：可读、可写、执行</a:t>
            </a:r>
            <a:r>
              <a:rPr lang="en-US" altLang="zh-CN" sz="2000" b="1" noProof="1">
                <a:solidFill>
                  <a:srgbClr val="11576A"/>
                </a:solidFill>
                <a:latin typeface="微软雅黑" panose="020B0503020204020204" pitchFamily="34" charset="-122"/>
                <a:ea typeface="微软雅黑" panose="020B0503020204020204" pitchFamily="34" charset="-122"/>
              </a:rPr>
              <a:t>		(</a:t>
            </a:r>
            <a:r>
              <a:rPr lang="en-US" altLang="zh-CN" sz="2000" b="1" noProof="1">
                <a:solidFill>
                  <a:srgbClr val="FF0000"/>
                </a:solidFill>
                <a:latin typeface="微软雅黑" panose="020B0503020204020204" pitchFamily="34" charset="-122"/>
                <a:ea typeface="微软雅黑" panose="020B0503020204020204" pitchFamily="34" charset="-122"/>
              </a:rPr>
              <a:t>rwx</a:t>
            </a:r>
            <a:r>
              <a:rPr lang="en-US" altLang="zh-CN" sz="2000" b="1" noProof="1">
                <a:solidFill>
                  <a:srgbClr val="11576A"/>
                </a:solidFill>
                <a:latin typeface="微软雅黑" panose="020B0503020204020204" pitchFamily="34" charset="-122"/>
                <a:ea typeface="微软雅黑" panose="020B0503020204020204" pitchFamily="34" charset="-122"/>
              </a:rPr>
              <a:t>)</a:t>
            </a:r>
            <a:endParaRPr lang="zh-CN" altLang="en-US" sz="2000" b="1" noProof="1">
              <a:solidFill>
                <a:srgbClr val="11576A"/>
              </a:solidFill>
              <a:latin typeface="微软雅黑" panose="020B0503020204020204" pitchFamily="34" charset="-122"/>
              <a:ea typeface="微软雅黑" panose="020B0503020204020204" pitchFamily="34" charset="-122"/>
            </a:endParaRPr>
          </a:p>
          <a:p>
            <a:pPr lvl="1"/>
            <a:endParaRPr lang="en-US" altLang="zh-CN" sz="2000" b="1" dirty="0">
              <a:solidFill>
                <a:srgbClr val="11576A"/>
              </a:solidFill>
              <a:latin typeface="微软雅黑" panose="020B0503020204020204" pitchFamily="34" charset="-122"/>
              <a:ea typeface="微软雅黑" panose="020B0503020204020204" pitchFamily="34" charset="-122"/>
            </a:endParaRPr>
          </a:p>
        </p:txBody>
      </p:sp>
      <p:sp>
        <p:nvSpPr>
          <p:cNvPr id="3"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文件的分类</a:t>
            </a:r>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7B0D008-5C72-E119-98C8-60966D4CE5E0}"/>
              </a:ext>
            </a:extLst>
          </p:cNvPr>
          <p:cNvPicPr>
            <a:picLocks noChangeAspect="1"/>
          </p:cNvPicPr>
          <p:nvPr/>
        </p:nvPicPr>
        <p:blipFill>
          <a:blip r:embed="rId2"/>
          <a:stretch>
            <a:fillRect/>
          </a:stretch>
        </p:blipFill>
        <p:spPr>
          <a:xfrm>
            <a:off x="395536" y="771550"/>
            <a:ext cx="8208911" cy="3744416"/>
          </a:xfrm>
          <a:prstGeom prst="rect">
            <a:avLst/>
          </a:prstGeom>
        </p:spPr>
      </p:pic>
    </p:spTree>
    <p:extLst>
      <p:ext uri="{BB962C8B-B14F-4D97-AF65-F5344CB8AC3E}">
        <p14:creationId xmlns:p14="http://schemas.microsoft.com/office/powerpoint/2010/main" val="3951180172"/>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a:t>
            </a:r>
            <a:r>
              <a:rPr lang="zh-CN" altLang="en-US" dirty="0">
                <a:cs typeface="+mj-cs"/>
              </a:rPr>
              <a:t>属性</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grpSp>
        <p:nvGrpSpPr>
          <p:cNvPr id="2" name="组合 4"/>
          <p:cNvGrpSpPr/>
          <p:nvPr/>
        </p:nvGrpSpPr>
        <p:grpSpPr>
          <a:xfrm>
            <a:off x="844893" y="2428874"/>
            <a:ext cx="7299007" cy="423636"/>
            <a:chOff x="844893" y="1928808"/>
            <a:chExt cx="7299007" cy="423636"/>
          </a:xfrm>
        </p:grpSpPr>
        <p:sp>
          <p:nvSpPr>
            <p:cNvPr id="15" name="内容占位符 2"/>
            <p:cNvSpPr txBox="1"/>
            <p:nvPr/>
          </p:nvSpPr>
          <p:spPr>
            <a:xfrm>
              <a:off x="1142976" y="1928808"/>
              <a:ext cx="7000924" cy="42363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solidFill>
                    <a:srgbClr val="FF0000"/>
                  </a:solidFill>
                  <a:sym typeface="Symbol" panose="05050102010706020507" charset="0"/>
                </a:rPr>
                <a:t>文件头</a:t>
              </a:r>
              <a:r>
                <a:rPr lang="zh-CN" altLang="en-US" dirty="0">
                  <a:sym typeface="Symbol" panose="05050102010706020507" charset="0"/>
                </a:rPr>
                <a:t>：文件系统元数据中的文件信息 </a:t>
              </a:r>
              <a:r>
                <a:rPr lang="en-US" altLang="zh-CN" dirty="0">
                  <a:sym typeface="Symbol" panose="05050102010706020507" charset="0"/>
                </a:rPr>
                <a:t>(</a:t>
              </a:r>
              <a:r>
                <a:rPr lang="zh-CN" altLang="en-US" dirty="0">
                  <a:solidFill>
                    <a:srgbClr val="FF0000"/>
                  </a:solidFill>
                  <a:sym typeface="Symbol" panose="05050102010706020507" charset="0"/>
                </a:rPr>
                <a:t>文件控制块</a:t>
              </a:r>
              <a:r>
                <a:rPr lang="en-US" altLang="zh-CN" dirty="0">
                  <a:solidFill>
                    <a:srgbClr val="FF0000"/>
                  </a:solidFill>
                  <a:sym typeface="Symbol" panose="05050102010706020507" charset="0"/>
                </a:rPr>
                <a:t>FCB</a:t>
              </a:r>
              <a:r>
                <a:rPr lang="en-US" altLang="zh-CN" dirty="0">
                  <a:sym typeface="Symbol" panose="05050102010706020507" charset="0"/>
                </a:rPr>
                <a:t>)</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6" name="TextBox 15"/>
            <p:cNvSpPr txBox="1"/>
            <p:nvPr/>
          </p:nvSpPr>
          <p:spPr>
            <a:xfrm>
              <a:off x="844893" y="192880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1"/>
          <p:cNvGrpSpPr/>
          <p:nvPr/>
        </p:nvGrpSpPr>
        <p:grpSpPr>
          <a:xfrm>
            <a:off x="844893" y="1019164"/>
            <a:ext cx="7656197" cy="1552586"/>
            <a:chOff x="844893" y="1019164"/>
            <a:chExt cx="7656197" cy="1552586"/>
          </a:xfrm>
        </p:grpSpPr>
        <p:sp>
          <p:nvSpPr>
            <p:cNvPr id="9" name="内容占位符 2"/>
            <p:cNvSpPr txBox="1"/>
            <p:nvPr/>
          </p:nvSpPr>
          <p:spPr>
            <a:xfrm>
              <a:off x="1142976" y="1019164"/>
              <a:ext cx="735811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文件属性：</a:t>
              </a:r>
              <a:r>
                <a:rPr lang="zh-CN" altLang="en-US" dirty="0"/>
                <a:t>指定文件的</a:t>
              </a:r>
              <a:r>
                <a:rPr lang="zh-CN" altLang="en-US" u="sng" dirty="0"/>
                <a:t>类型</a:t>
              </a:r>
              <a:r>
                <a:rPr lang="zh-CN" altLang="en-US" dirty="0"/>
                <a:t>、</a:t>
              </a:r>
              <a:r>
                <a:rPr lang="zh-CN" altLang="en-US" u="sng" dirty="0"/>
                <a:t>操作特性</a:t>
              </a:r>
              <a:r>
                <a:rPr lang="zh-CN" altLang="en-US" dirty="0"/>
                <a:t>和</a:t>
              </a:r>
              <a:r>
                <a:rPr lang="zh-CN" altLang="en-US" u="sng" dirty="0"/>
                <a:t>存取保护</a:t>
              </a:r>
              <a:r>
                <a:rPr lang="zh-CN" altLang="en-US" dirty="0"/>
                <a:t>等的一组信息。</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29" name="图片 28" descr="小点1.png"/>
            <p:cNvPicPr>
              <a:picLocks noChangeAspect="1"/>
            </p:cNvPicPr>
            <p:nvPr/>
          </p:nvPicPr>
          <p:blipFill>
            <a:blip r:embed="rId2" cstate="print"/>
            <a:stretch>
              <a:fillRect/>
            </a:stretch>
          </p:blipFill>
          <p:spPr>
            <a:xfrm>
              <a:off x="1262422" y="1460948"/>
              <a:ext cx="151066" cy="148997"/>
            </a:xfrm>
            <a:prstGeom prst="rect">
              <a:avLst/>
            </a:prstGeom>
            <a:effectLst/>
          </p:spPr>
        </p:pic>
        <p:sp>
          <p:nvSpPr>
            <p:cNvPr id="30" name="内容占位符 2"/>
            <p:cNvSpPr txBox="1"/>
            <p:nvPr/>
          </p:nvSpPr>
          <p:spPr>
            <a:xfrm>
              <a:off x="1394803" y="1356349"/>
              <a:ext cx="6995160" cy="5727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名称、类型、位置、大小、保护、创建者、创建时间、最近修改时间、</a:t>
              </a:r>
              <a:r>
                <a:rPr lang="en-US" altLang="zh-CN" dirty="0"/>
                <a:t>…</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pic>
          <p:nvPicPr>
            <p:cNvPr id="23" name="图片 22" descr="小点1.png"/>
            <p:cNvPicPr>
              <a:picLocks noChangeAspect="1"/>
            </p:cNvPicPr>
            <p:nvPr/>
          </p:nvPicPr>
          <p:blipFill>
            <a:blip r:embed="rId2" cstate="print"/>
            <a:stretch>
              <a:fillRect/>
            </a:stretch>
          </p:blipFill>
          <p:spPr>
            <a:xfrm>
              <a:off x="1262422" y="2103579"/>
              <a:ext cx="151066" cy="148997"/>
            </a:xfrm>
            <a:prstGeom prst="rect">
              <a:avLst/>
            </a:prstGeom>
            <a:effectLst/>
          </p:spPr>
        </p:pic>
        <p:sp>
          <p:nvSpPr>
            <p:cNvPr id="24" name="内容占位符 2"/>
            <p:cNvSpPr txBox="1"/>
            <p:nvPr/>
          </p:nvSpPr>
          <p:spPr>
            <a:xfrm>
              <a:off x="1394803" y="1998980"/>
              <a:ext cx="6995160" cy="5727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文件的属性一般存放在文件控制块中</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4" name="组合 3"/>
          <p:cNvGrpSpPr/>
          <p:nvPr/>
        </p:nvGrpSpPr>
        <p:grpSpPr>
          <a:xfrm>
            <a:off x="1262422" y="2779802"/>
            <a:ext cx="1452190" cy="355598"/>
            <a:chOff x="1262422" y="2279736"/>
            <a:chExt cx="1452190" cy="355598"/>
          </a:xfrm>
        </p:grpSpPr>
        <p:pic>
          <p:nvPicPr>
            <p:cNvPr id="19" name="图片 18" descr="小点1.png"/>
            <p:cNvPicPr>
              <a:picLocks noChangeAspect="1"/>
            </p:cNvPicPr>
            <p:nvPr/>
          </p:nvPicPr>
          <p:blipFill>
            <a:blip r:embed="rId2" cstate="print"/>
            <a:stretch>
              <a:fillRect/>
            </a:stretch>
          </p:blipFill>
          <p:spPr>
            <a:xfrm>
              <a:off x="1262422" y="2384512"/>
              <a:ext cx="151066" cy="148997"/>
            </a:xfrm>
            <a:prstGeom prst="rect">
              <a:avLst/>
            </a:prstGeom>
            <a:effectLst/>
          </p:spPr>
        </p:pic>
        <p:sp>
          <p:nvSpPr>
            <p:cNvPr id="20" name="内容占位符 2"/>
            <p:cNvSpPr txBox="1"/>
            <p:nvPr/>
          </p:nvSpPr>
          <p:spPr>
            <a:xfrm>
              <a:off x="1394985" y="2279736"/>
              <a:ext cx="1319627"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文件属性</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5" name="组合 2"/>
          <p:cNvGrpSpPr/>
          <p:nvPr/>
        </p:nvGrpSpPr>
        <p:grpSpPr>
          <a:xfrm>
            <a:off x="1262422" y="3089362"/>
            <a:ext cx="2738074" cy="354014"/>
            <a:chOff x="1262422" y="2589296"/>
            <a:chExt cx="2738074" cy="354014"/>
          </a:xfrm>
        </p:grpSpPr>
        <p:pic>
          <p:nvPicPr>
            <p:cNvPr id="21" name="图片 20" descr="小点1.png"/>
            <p:cNvPicPr>
              <a:picLocks noChangeAspect="1"/>
            </p:cNvPicPr>
            <p:nvPr/>
          </p:nvPicPr>
          <p:blipFill>
            <a:blip r:embed="rId2" cstate="print"/>
            <a:stretch>
              <a:fillRect/>
            </a:stretch>
          </p:blipFill>
          <p:spPr>
            <a:xfrm>
              <a:off x="1262422" y="2694072"/>
              <a:ext cx="151066" cy="148997"/>
            </a:xfrm>
            <a:prstGeom prst="rect">
              <a:avLst/>
            </a:prstGeom>
            <a:effectLst/>
          </p:spPr>
        </p:pic>
        <p:sp>
          <p:nvSpPr>
            <p:cNvPr id="22" name="内容占位符 2"/>
            <p:cNvSpPr txBox="1"/>
            <p:nvPr/>
          </p:nvSpPr>
          <p:spPr>
            <a:xfrm>
              <a:off x="1394986" y="2589296"/>
              <a:ext cx="2605510" cy="35401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文件存储位置和顺序</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par>
                                <p:cTn id="18" presetID="22" presetClass="entr" presetSubtype="8"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打开文件和文件描述符</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grpSp>
        <p:nvGrpSpPr>
          <p:cNvPr id="2" name="组合 3"/>
          <p:cNvGrpSpPr/>
          <p:nvPr/>
        </p:nvGrpSpPr>
        <p:grpSpPr>
          <a:xfrm>
            <a:off x="844893" y="876288"/>
            <a:ext cx="5870247" cy="766768"/>
            <a:chOff x="844893" y="750631"/>
            <a:chExt cx="5870247" cy="766768"/>
          </a:xfrm>
        </p:grpSpPr>
        <p:sp>
          <p:nvSpPr>
            <p:cNvPr id="9" name="内容占位符 2"/>
            <p:cNvSpPr txBox="1"/>
            <p:nvPr/>
          </p:nvSpPr>
          <p:spPr>
            <a:xfrm>
              <a:off x="1142976" y="750631"/>
              <a:ext cx="171451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文件访问模式</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750631"/>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29" name="图片 28" descr="小点1.png"/>
            <p:cNvPicPr>
              <a:picLocks noChangeAspect="1"/>
            </p:cNvPicPr>
            <p:nvPr/>
          </p:nvPicPr>
          <p:blipFill>
            <a:blip r:embed="rId2" cstate="print"/>
            <a:stretch>
              <a:fillRect/>
            </a:stretch>
          </p:blipFill>
          <p:spPr>
            <a:xfrm>
              <a:off x="1262422" y="1263853"/>
              <a:ext cx="151066" cy="148997"/>
            </a:xfrm>
            <a:prstGeom prst="rect">
              <a:avLst/>
            </a:prstGeom>
            <a:effectLst/>
          </p:spPr>
        </p:pic>
        <p:sp>
          <p:nvSpPr>
            <p:cNvPr id="30" name="内容占位符 2"/>
            <p:cNvSpPr txBox="1"/>
            <p:nvPr/>
          </p:nvSpPr>
          <p:spPr>
            <a:xfrm>
              <a:off x="1394985" y="1159077"/>
              <a:ext cx="5320155"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进程访问文件数据前必须先“打开”文件</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sp>
        <p:nvSpPr>
          <p:cNvPr id="14" name="内容占位符 2"/>
          <p:cNvSpPr txBox="1"/>
          <p:nvPr/>
        </p:nvSpPr>
        <p:spPr>
          <a:xfrm>
            <a:off x="1394985" y="1714494"/>
            <a:ext cx="3177015" cy="1357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1">
              <a:lnSpc>
                <a:spcPct val="80000"/>
              </a:lnSpc>
            </a:pPr>
            <a:r>
              <a:rPr lang="en-US" altLang="zh-CN" dirty="0"/>
              <a:t>f = open(name, flag);</a:t>
            </a:r>
          </a:p>
          <a:p>
            <a:pPr lvl="1">
              <a:lnSpc>
                <a:spcPct val="80000"/>
              </a:lnSpc>
            </a:pPr>
            <a:r>
              <a:rPr lang="en-US" altLang="zh-CN" dirty="0"/>
              <a:t>…</a:t>
            </a:r>
          </a:p>
          <a:p>
            <a:pPr lvl="1">
              <a:lnSpc>
                <a:spcPct val="80000"/>
              </a:lnSpc>
            </a:pPr>
            <a:r>
              <a:rPr lang="en-US" altLang="zh-CN" dirty="0"/>
              <a:t>read(f, …);</a:t>
            </a:r>
          </a:p>
          <a:p>
            <a:pPr lvl="1">
              <a:lnSpc>
                <a:spcPct val="80000"/>
              </a:lnSpc>
            </a:pPr>
            <a:r>
              <a:rPr lang="en-US" altLang="zh-CN" dirty="0"/>
              <a:t>…</a:t>
            </a:r>
          </a:p>
          <a:p>
            <a:pPr lvl="1">
              <a:lnSpc>
                <a:spcPct val="80000"/>
              </a:lnSpc>
            </a:pPr>
            <a:r>
              <a:rPr lang="en-US" altLang="zh-CN" dirty="0"/>
              <a:t>close(f);</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打开文件和文件描述符</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grpSp>
        <p:nvGrpSpPr>
          <p:cNvPr id="2" name="组合 5"/>
          <p:cNvGrpSpPr/>
          <p:nvPr/>
        </p:nvGrpSpPr>
        <p:grpSpPr>
          <a:xfrm>
            <a:off x="844893" y="1639140"/>
            <a:ext cx="3869983" cy="423636"/>
            <a:chOff x="844893" y="1442929"/>
            <a:chExt cx="3869983" cy="423636"/>
          </a:xfrm>
        </p:grpSpPr>
        <p:sp>
          <p:nvSpPr>
            <p:cNvPr id="15" name="内容占位符 2"/>
            <p:cNvSpPr txBox="1"/>
            <p:nvPr/>
          </p:nvSpPr>
          <p:spPr>
            <a:xfrm>
              <a:off x="1142976" y="1442929"/>
              <a:ext cx="3571900" cy="42363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内核跟踪进程打开的所有文件</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6" name="TextBox 15"/>
            <p:cNvSpPr txBox="1"/>
            <p:nvPr/>
          </p:nvSpPr>
          <p:spPr>
            <a:xfrm>
              <a:off x="844893" y="1442929"/>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3"/>
          <p:cNvGrpSpPr/>
          <p:nvPr/>
        </p:nvGrpSpPr>
        <p:grpSpPr>
          <a:xfrm>
            <a:off x="844893" y="874622"/>
            <a:ext cx="5870247" cy="768434"/>
            <a:chOff x="844893" y="750631"/>
            <a:chExt cx="5870247" cy="768434"/>
          </a:xfrm>
        </p:grpSpPr>
        <p:sp>
          <p:nvSpPr>
            <p:cNvPr id="9" name="内容占位符 2"/>
            <p:cNvSpPr txBox="1"/>
            <p:nvPr/>
          </p:nvSpPr>
          <p:spPr>
            <a:xfrm>
              <a:off x="1142976" y="750631"/>
              <a:ext cx="171451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文件访问模式</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750631"/>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29" name="图片 28" descr="小点1.png"/>
            <p:cNvPicPr>
              <a:picLocks noChangeAspect="1"/>
            </p:cNvPicPr>
            <p:nvPr/>
          </p:nvPicPr>
          <p:blipFill>
            <a:blip r:embed="rId2" cstate="print"/>
            <a:stretch>
              <a:fillRect/>
            </a:stretch>
          </p:blipFill>
          <p:spPr>
            <a:xfrm>
              <a:off x="1262422" y="1262721"/>
              <a:ext cx="151066" cy="148997"/>
            </a:xfrm>
            <a:prstGeom prst="rect">
              <a:avLst/>
            </a:prstGeom>
            <a:effectLst/>
          </p:spPr>
        </p:pic>
        <p:sp>
          <p:nvSpPr>
            <p:cNvPr id="30" name="内容占位符 2"/>
            <p:cNvSpPr txBox="1"/>
            <p:nvPr/>
          </p:nvSpPr>
          <p:spPr>
            <a:xfrm>
              <a:off x="1394985" y="1160743"/>
              <a:ext cx="5320155"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进程访问文件数据前必须先“打开”文件</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4" name="组合 4"/>
          <p:cNvGrpSpPr/>
          <p:nvPr/>
        </p:nvGrpSpPr>
        <p:grpSpPr>
          <a:xfrm>
            <a:off x="1262422" y="2058301"/>
            <a:ext cx="4952652" cy="355598"/>
            <a:chOff x="1262422" y="3056936"/>
            <a:chExt cx="4952652" cy="355598"/>
          </a:xfrm>
        </p:grpSpPr>
        <p:pic>
          <p:nvPicPr>
            <p:cNvPr id="19" name="图片 18" descr="小点1.png"/>
            <p:cNvPicPr>
              <a:picLocks noChangeAspect="1"/>
            </p:cNvPicPr>
            <p:nvPr/>
          </p:nvPicPr>
          <p:blipFill>
            <a:blip r:embed="rId2" cstate="print"/>
            <a:stretch>
              <a:fillRect/>
            </a:stretch>
          </p:blipFill>
          <p:spPr>
            <a:xfrm>
              <a:off x="1262422" y="3161712"/>
              <a:ext cx="151066" cy="148997"/>
            </a:xfrm>
            <a:prstGeom prst="rect">
              <a:avLst/>
            </a:prstGeom>
            <a:effectLst/>
          </p:spPr>
        </p:pic>
        <p:sp>
          <p:nvSpPr>
            <p:cNvPr id="20" name="内容占位符 2"/>
            <p:cNvSpPr txBox="1"/>
            <p:nvPr/>
          </p:nvSpPr>
          <p:spPr>
            <a:xfrm>
              <a:off x="1394985" y="3056936"/>
              <a:ext cx="4820089"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操作系统为每个进程维护一个打开文件表</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5" name="组合 6"/>
          <p:cNvGrpSpPr/>
          <p:nvPr/>
        </p:nvGrpSpPr>
        <p:grpSpPr>
          <a:xfrm>
            <a:off x="1262422" y="2432050"/>
            <a:ext cx="4677730" cy="354014"/>
            <a:chOff x="1262422" y="3366496"/>
            <a:chExt cx="4677730" cy="354014"/>
          </a:xfrm>
        </p:grpSpPr>
        <p:pic>
          <p:nvPicPr>
            <p:cNvPr id="21" name="图片 20" descr="小点1.png"/>
            <p:cNvPicPr>
              <a:picLocks noChangeAspect="1"/>
            </p:cNvPicPr>
            <p:nvPr/>
          </p:nvPicPr>
          <p:blipFill>
            <a:blip r:embed="rId2" cstate="print"/>
            <a:stretch>
              <a:fillRect/>
            </a:stretch>
          </p:blipFill>
          <p:spPr>
            <a:xfrm>
              <a:off x="1262422" y="3471272"/>
              <a:ext cx="151066" cy="148997"/>
            </a:xfrm>
            <a:prstGeom prst="rect">
              <a:avLst/>
            </a:prstGeom>
            <a:effectLst/>
          </p:spPr>
        </p:pic>
        <p:sp>
          <p:nvSpPr>
            <p:cNvPr id="22" name="内容占位符 2"/>
            <p:cNvSpPr txBox="1"/>
            <p:nvPr/>
          </p:nvSpPr>
          <p:spPr>
            <a:xfrm>
              <a:off x="1394986" y="3366496"/>
              <a:ext cx="4545166" cy="35401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文件描述符是打开文件的标识</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6" name="组合 2"/>
          <p:cNvGrpSpPr/>
          <p:nvPr/>
        </p:nvGrpSpPr>
        <p:grpSpPr>
          <a:xfrm>
            <a:off x="4524364" y="3491894"/>
            <a:ext cx="1887215" cy="508620"/>
            <a:chOff x="2711624" y="4052887"/>
            <a:chExt cx="1887215" cy="508620"/>
          </a:xfrm>
        </p:grpSpPr>
        <p:sp>
          <p:nvSpPr>
            <p:cNvPr id="23" name="TextBox 5"/>
            <p:cNvSpPr txBox="1">
              <a:spLocks noChangeArrowheads="1"/>
            </p:cNvSpPr>
            <p:nvPr/>
          </p:nvSpPr>
          <p:spPr bwMode="auto">
            <a:xfrm>
              <a:off x="3260576" y="4052887"/>
              <a:ext cx="1338263" cy="369887"/>
            </a:xfrm>
            <a:prstGeom prst="rect">
              <a:avLst/>
            </a:prstGeom>
            <a:noFill/>
            <a:ln w="28575">
              <a:solidFill>
                <a:srgbClr val="11576A"/>
              </a:solidFill>
              <a:miter lim="800000"/>
            </a:ln>
          </p:spPr>
          <p:txBody>
            <a:bodyPr wrap="none">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eaLnBrk="1" hangingPunct="1">
                <a:buFont typeface="Arial" panose="020B0604020202020204" pitchFamily="34" charset="0"/>
                <a:buNone/>
              </a:pPr>
              <a:r>
                <a:rPr lang="zh-CN" altLang="en-US" sz="1800" b="1" dirty="0">
                  <a:solidFill>
                    <a:srgbClr val="11576A"/>
                  </a:solidFill>
                  <a:latin typeface="+mj-ea"/>
                  <a:ea typeface="+mj-ea"/>
                </a:rPr>
                <a:t>文件描述符</a:t>
              </a:r>
            </a:p>
          </p:txBody>
        </p:sp>
        <p:cxnSp>
          <p:nvCxnSpPr>
            <p:cNvPr id="24" name="Straight Arrow Connector 14"/>
            <p:cNvCxnSpPr>
              <a:cxnSpLocks noChangeShapeType="1"/>
              <a:stCxn id="23" idx="1"/>
              <a:endCxn id="28" idx="3"/>
            </p:cNvCxnSpPr>
            <p:nvPr/>
          </p:nvCxnSpPr>
          <p:spPr bwMode="auto">
            <a:xfrm rot="10800000" flipV="1">
              <a:off x="2711624" y="4237831"/>
              <a:ext cx="548952" cy="323676"/>
            </a:xfrm>
            <a:prstGeom prst="straightConnector1">
              <a:avLst/>
            </a:prstGeom>
            <a:noFill/>
            <a:ln w="38100">
              <a:solidFill>
                <a:srgbClr val="11576A"/>
              </a:solidFill>
              <a:round/>
              <a:tailEnd type="triangle" w="med" len="med"/>
            </a:ln>
          </p:spPr>
        </p:cxnSp>
      </p:grpSp>
      <p:grpSp>
        <p:nvGrpSpPr>
          <p:cNvPr id="7" name="组合 1"/>
          <p:cNvGrpSpPr/>
          <p:nvPr/>
        </p:nvGrpSpPr>
        <p:grpSpPr>
          <a:xfrm>
            <a:off x="3000364" y="3090877"/>
            <a:ext cx="1524000" cy="1481137"/>
            <a:chOff x="1187624" y="3651870"/>
            <a:chExt cx="1524000" cy="1481137"/>
          </a:xfrm>
        </p:grpSpPr>
        <p:sp>
          <p:nvSpPr>
            <p:cNvPr id="17" name="Rectangle 3"/>
            <p:cNvSpPr>
              <a:spLocks noChangeArrowheads="1"/>
            </p:cNvSpPr>
            <p:nvPr/>
          </p:nvSpPr>
          <p:spPr bwMode="auto">
            <a:xfrm>
              <a:off x="1187624" y="4218607"/>
              <a:ext cx="1524000" cy="2286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miter lim="800000"/>
            </a:ln>
          </p:spPr>
          <p:txBody>
            <a:bodyPr/>
            <a:lstStyle/>
            <a:p>
              <a:pPr eaLnBrk="1" hangingPunct="1">
                <a:buFont typeface="Monotype Sorts" charset="0"/>
                <a:buNone/>
              </a:pPr>
              <a:endParaRPr lang="zh-CN" altLang="en-US">
                <a:ea typeface="宋体" panose="02010600030101010101" pitchFamily="2" charset="-122"/>
                <a:cs typeface="宋体" panose="02010600030101010101" pitchFamily="2" charset="-122"/>
              </a:endParaRPr>
            </a:p>
          </p:txBody>
        </p:sp>
        <p:sp>
          <p:nvSpPr>
            <p:cNvPr id="18" name="TextBox 4"/>
            <p:cNvSpPr txBox="1">
              <a:spLocks noChangeArrowheads="1"/>
            </p:cNvSpPr>
            <p:nvPr/>
          </p:nvSpPr>
          <p:spPr bwMode="auto">
            <a:xfrm>
              <a:off x="1279699" y="3651870"/>
              <a:ext cx="1339850" cy="369887"/>
            </a:xfrm>
            <a:prstGeom prst="rect">
              <a:avLst/>
            </a:prstGeom>
            <a:noFill/>
            <a:ln>
              <a:noFill/>
            </a:ln>
          </p:spPr>
          <p:txBody>
            <a:bodyPr wrap="none">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eaLnBrk="1" hangingPunct="1">
                <a:buFont typeface="Arial" panose="020B0604020202020204" pitchFamily="34" charset="0"/>
                <a:buNone/>
              </a:pPr>
              <a:r>
                <a:rPr lang="zh-CN" altLang="en-US" sz="1800" b="1" dirty="0">
                  <a:solidFill>
                    <a:srgbClr val="11576A"/>
                  </a:solidFill>
                  <a:latin typeface="+mj-ea"/>
                  <a:ea typeface="+mj-ea"/>
                </a:rPr>
                <a:t>打开文件表</a:t>
              </a:r>
            </a:p>
          </p:txBody>
        </p:sp>
        <p:sp>
          <p:nvSpPr>
            <p:cNvPr id="25" name="Rectangle 18"/>
            <p:cNvSpPr>
              <a:spLocks noChangeArrowheads="1"/>
            </p:cNvSpPr>
            <p:nvPr/>
          </p:nvSpPr>
          <p:spPr bwMode="auto">
            <a:xfrm>
              <a:off x="1187624" y="3990007"/>
              <a:ext cx="1524000" cy="2286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miter lim="800000"/>
            </a:ln>
          </p:spPr>
          <p:txBody>
            <a:bodyPr/>
            <a:lstStyle/>
            <a:p>
              <a:pPr eaLnBrk="1" hangingPunct="1">
                <a:buFont typeface="Monotype Sorts" charset="0"/>
                <a:buNone/>
              </a:pPr>
              <a:endParaRPr lang="zh-CN" altLang="en-US">
                <a:ea typeface="宋体" panose="02010600030101010101" pitchFamily="2" charset="-122"/>
                <a:cs typeface="宋体" panose="02010600030101010101" pitchFamily="2" charset="-122"/>
              </a:endParaRPr>
            </a:p>
          </p:txBody>
        </p:sp>
        <p:sp>
          <p:nvSpPr>
            <p:cNvPr id="27" name="Rectangle 21"/>
            <p:cNvSpPr>
              <a:spLocks noChangeArrowheads="1"/>
            </p:cNvSpPr>
            <p:nvPr/>
          </p:nvSpPr>
          <p:spPr bwMode="auto">
            <a:xfrm>
              <a:off x="1187624" y="4675807"/>
              <a:ext cx="1524000" cy="2286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miter lim="800000"/>
            </a:ln>
          </p:spPr>
          <p:txBody>
            <a:bodyPr/>
            <a:lstStyle/>
            <a:p>
              <a:pPr eaLnBrk="1" hangingPunct="1">
                <a:buFont typeface="Monotype Sorts" charset="0"/>
                <a:buNone/>
              </a:pPr>
              <a:endParaRPr lang="zh-CN" altLang="en-US">
                <a:ea typeface="宋体" panose="02010600030101010101" pitchFamily="2" charset="-122"/>
                <a:cs typeface="宋体" panose="02010600030101010101" pitchFamily="2" charset="-122"/>
              </a:endParaRPr>
            </a:p>
          </p:txBody>
        </p:sp>
        <p:sp>
          <p:nvSpPr>
            <p:cNvPr id="28" name="Rectangle 22"/>
            <p:cNvSpPr>
              <a:spLocks noChangeArrowheads="1"/>
            </p:cNvSpPr>
            <p:nvPr/>
          </p:nvSpPr>
          <p:spPr bwMode="auto">
            <a:xfrm>
              <a:off x="1187624" y="4447207"/>
              <a:ext cx="1524000" cy="2286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miter lim="800000"/>
            </a:ln>
          </p:spPr>
          <p:txBody>
            <a:bodyPr/>
            <a:lstStyle/>
            <a:p>
              <a:pPr eaLnBrk="1" hangingPunct="1">
                <a:buFont typeface="Monotype Sorts" charset="0"/>
                <a:buNone/>
              </a:pPr>
              <a:endParaRPr lang="zh-CN" altLang="en-US">
                <a:ea typeface="宋体" panose="02010600030101010101" pitchFamily="2" charset="-122"/>
                <a:cs typeface="宋体" panose="02010600030101010101" pitchFamily="2" charset="-122"/>
              </a:endParaRPr>
            </a:p>
          </p:txBody>
        </p:sp>
        <p:sp>
          <p:nvSpPr>
            <p:cNvPr id="31" name="Rectangle 23"/>
            <p:cNvSpPr>
              <a:spLocks noChangeArrowheads="1"/>
            </p:cNvSpPr>
            <p:nvPr/>
          </p:nvSpPr>
          <p:spPr bwMode="auto">
            <a:xfrm>
              <a:off x="1187624" y="4904407"/>
              <a:ext cx="1524000" cy="2286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miter lim="800000"/>
            </a:ln>
          </p:spPr>
          <p:txBody>
            <a:bodyPr/>
            <a:lstStyle/>
            <a:p>
              <a:pPr eaLnBrk="1" hangingPunct="1">
                <a:buFont typeface="Monotype Sorts" charset="0"/>
                <a:buNone/>
              </a:pPr>
              <a:endParaRPr lang="zh-CN" altLang="en-US">
                <a:ea typeface="宋体" panose="02010600030101010101" pitchFamily="2" charset="-122"/>
                <a:cs typeface="宋体" panose="02010600030101010101" pitchFamily="2" charset="-122"/>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par>
                          <p:cTn id="22" fill="hold">
                            <p:stCondLst>
                              <p:cond delay="500"/>
                            </p:stCondLst>
                            <p:childTnLst>
                              <p:par>
                                <p:cTn id="23" presetID="22" presetClass="entr" presetSubtype="2"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right)">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文件描述符</a:t>
            </a:r>
          </a:p>
        </p:txBody>
      </p:sp>
      <p:grpSp>
        <p:nvGrpSpPr>
          <p:cNvPr id="2" name="组合 1"/>
          <p:cNvGrpSpPr/>
          <p:nvPr/>
        </p:nvGrpSpPr>
        <p:grpSpPr>
          <a:xfrm>
            <a:off x="844893" y="1019164"/>
            <a:ext cx="6391403" cy="428628"/>
            <a:chOff x="844893" y="1019164"/>
            <a:chExt cx="6391403" cy="428628"/>
          </a:xfrm>
        </p:grpSpPr>
        <p:sp>
          <p:nvSpPr>
            <p:cNvPr id="9" name="内容占位符 2"/>
            <p:cNvSpPr txBox="1"/>
            <p:nvPr/>
          </p:nvSpPr>
          <p:spPr>
            <a:xfrm>
              <a:off x="1142976" y="1019164"/>
              <a:ext cx="609332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操作系统在打开文件表中维护的打开文件状态和信息</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1262422" y="1356172"/>
            <a:ext cx="1452190" cy="358322"/>
            <a:chOff x="1262422" y="1356172"/>
            <a:chExt cx="1452190" cy="358322"/>
          </a:xfrm>
        </p:grpSpPr>
        <p:pic>
          <p:nvPicPr>
            <p:cNvPr id="29" name="图片 28" descr="小点1.png"/>
            <p:cNvPicPr>
              <a:picLocks noChangeAspect="1"/>
            </p:cNvPicPr>
            <p:nvPr/>
          </p:nvPicPr>
          <p:blipFill>
            <a:blip r:embed="rId2" cstate="print"/>
            <a:stretch>
              <a:fillRect/>
            </a:stretch>
          </p:blipFill>
          <p:spPr>
            <a:xfrm>
              <a:off x="1262422" y="1460948"/>
              <a:ext cx="151066" cy="148997"/>
            </a:xfrm>
            <a:prstGeom prst="rect">
              <a:avLst/>
            </a:prstGeom>
            <a:effectLst/>
          </p:spPr>
        </p:pic>
        <p:sp>
          <p:nvSpPr>
            <p:cNvPr id="30" name="内容占位符 2"/>
            <p:cNvSpPr txBox="1"/>
            <p:nvPr/>
          </p:nvSpPr>
          <p:spPr>
            <a:xfrm>
              <a:off x="1394985" y="1356172"/>
              <a:ext cx="1319627"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文件指针</a:t>
              </a:r>
            </a:p>
          </p:txBody>
        </p:sp>
      </p:grpSp>
      <p:grpSp>
        <p:nvGrpSpPr>
          <p:cNvPr id="4" name="组合 3"/>
          <p:cNvGrpSpPr/>
          <p:nvPr/>
        </p:nvGrpSpPr>
        <p:grpSpPr>
          <a:xfrm>
            <a:off x="1680737" y="1686598"/>
            <a:ext cx="5391593" cy="671970"/>
            <a:chOff x="1680737" y="1686598"/>
            <a:chExt cx="5391593" cy="671970"/>
          </a:xfrm>
        </p:grpSpPr>
        <p:sp>
          <p:nvSpPr>
            <p:cNvPr id="14" name="内容占位符 2"/>
            <p:cNvSpPr txBox="1"/>
            <p:nvPr/>
          </p:nvSpPr>
          <p:spPr>
            <a:xfrm>
              <a:off x="1680737" y="1686598"/>
              <a:ext cx="2676949"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最近一次读写位置</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7" name="内容占位符 2"/>
            <p:cNvSpPr txBox="1"/>
            <p:nvPr/>
          </p:nvSpPr>
          <p:spPr>
            <a:xfrm>
              <a:off x="1680737" y="2000246"/>
              <a:ext cx="5391593"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每个进程分别维护自己的打开文件指针</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文件描述符</a:t>
            </a:r>
          </a:p>
        </p:txBody>
      </p:sp>
      <p:grpSp>
        <p:nvGrpSpPr>
          <p:cNvPr id="2" name="组合 1"/>
          <p:cNvGrpSpPr/>
          <p:nvPr/>
        </p:nvGrpSpPr>
        <p:grpSpPr>
          <a:xfrm>
            <a:off x="844893" y="1019164"/>
            <a:ext cx="6391403" cy="428628"/>
            <a:chOff x="844893" y="1019164"/>
            <a:chExt cx="6391403" cy="428628"/>
          </a:xfrm>
        </p:grpSpPr>
        <p:sp>
          <p:nvSpPr>
            <p:cNvPr id="9" name="内容占位符 2"/>
            <p:cNvSpPr txBox="1"/>
            <p:nvPr/>
          </p:nvSpPr>
          <p:spPr>
            <a:xfrm>
              <a:off x="1142976" y="1019164"/>
              <a:ext cx="609332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操作系统在打开文件表中维护的打开文件状态和信息</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1262422" y="1356172"/>
            <a:ext cx="1452190" cy="358322"/>
            <a:chOff x="1262422" y="1356172"/>
            <a:chExt cx="1452190" cy="358322"/>
          </a:xfrm>
        </p:grpSpPr>
        <p:pic>
          <p:nvPicPr>
            <p:cNvPr id="29" name="图片 28" descr="小点1.png"/>
            <p:cNvPicPr>
              <a:picLocks noChangeAspect="1"/>
            </p:cNvPicPr>
            <p:nvPr/>
          </p:nvPicPr>
          <p:blipFill>
            <a:blip r:embed="rId2" cstate="print"/>
            <a:stretch>
              <a:fillRect/>
            </a:stretch>
          </p:blipFill>
          <p:spPr>
            <a:xfrm>
              <a:off x="1262422" y="1460948"/>
              <a:ext cx="151066" cy="148997"/>
            </a:xfrm>
            <a:prstGeom prst="rect">
              <a:avLst/>
            </a:prstGeom>
            <a:effectLst/>
          </p:spPr>
        </p:pic>
        <p:sp>
          <p:nvSpPr>
            <p:cNvPr id="30" name="内容占位符 2"/>
            <p:cNvSpPr txBox="1"/>
            <p:nvPr/>
          </p:nvSpPr>
          <p:spPr>
            <a:xfrm>
              <a:off x="1394985" y="1356172"/>
              <a:ext cx="1319627"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文件指针</a:t>
              </a:r>
            </a:p>
          </p:txBody>
        </p:sp>
      </p:grpSp>
      <p:grpSp>
        <p:nvGrpSpPr>
          <p:cNvPr id="4" name="组合 12"/>
          <p:cNvGrpSpPr/>
          <p:nvPr/>
        </p:nvGrpSpPr>
        <p:grpSpPr>
          <a:xfrm>
            <a:off x="1262422" y="1714494"/>
            <a:ext cx="2023694" cy="355598"/>
            <a:chOff x="1262422" y="2323278"/>
            <a:chExt cx="2023694" cy="355598"/>
          </a:xfrm>
        </p:grpSpPr>
        <p:pic>
          <p:nvPicPr>
            <p:cNvPr id="15" name="图片 14" descr="小点1.png"/>
            <p:cNvPicPr>
              <a:picLocks noChangeAspect="1"/>
            </p:cNvPicPr>
            <p:nvPr/>
          </p:nvPicPr>
          <p:blipFill>
            <a:blip r:embed="rId2" cstate="print"/>
            <a:stretch>
              <a:fillRect/>
            </a:stretch>
          </p:blipFill>
          <p:spPr>
            <a:xfrm>
              <a:off x="1262422" y="2428054"/>
              <a:ext cx="151066" cy="148997"/>
            </a:xfrm>
            <a:prstGeom prst="rect">
              <a:avLst/>
            </a:prstGeom>
            <a:effectLst/>
          </p:spPr>
        </p:pic>
        <p:sp>
          <p:nvSpPr>
            <p:cNvPr id="16" name="内容占位符 2"/>
            <p:cNvSpPr txBox="1"/>
            <p:nvPr/>
          </p:nvSpPr>
          <p:spPr>
            <a:xfrm>
              <a:off x="1394985" y="2323278"/>
              <a:ext cx="1891131"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文件打开计数</a:t>
              </a:r>
            </a:p>
          </p:txBody>
        </p:sp>
      </p:grpSp>
      <p:grpSp>
        <p:nvGrpSpPr>
          <p:cNvPr id="5" name="组合 17"/>
          <p:cNvGrpSpPr/>
          <p:nvPr/>
        </p:nvGrpSpPr>
        <p:grpSpPr>
          <a:xfrm>
            <a:off x="1680738" y="2077555"/>
            <a:ext cx="6203630" cy="1010482"/>
            <a:chOff x="1680738" y="2632838"/>
            <a:chExt cx="6203630" cy="1010482"/>
          </a:xfrm>
        </p:grpSpPr>
        <p:sp>
          <p:nvSpPr>
            <p:cNvPr id="19" name="内容占位符 2"/>
            <p:cNvSpPr txBox="1"/>
            <p:nvPr/>
          </p:nvSpPr>
          <p:spPr>
            <a:xfrm>
              <a:off x="1680738" y="2632838"/>
              <a:ext cx="2605510" cy="35401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当前打开文件的次数</a:t>
              </a:r>
            </a:p>
          </p:txBody>
        </p:sp>
        <p:sp>
          <p:nvSpPr>
            <p:cNvPr id="20" name="内容占位符 2"/>
            <p:cNvSpPr txBox="1"/>
            <p:nvPr/>
          </p:nvSpPr>
          <p:spPr>
            <a:xfrm>
              <a:off x="1680738" y="2936878"/>
              <a:ext cx="6203630" cy="70644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2" defTabSz="0">
                <a:spcBef>
                  <a:spcPts val="790"/>
                </a:spcBef>
                <a:tabLst>
                  <a:tab pos="1825625" algn="l"/>
                  <a:tab pos="2740025" algn="l"/>
                  <a:tab pos="3654425" algn="l"/>
                  <a:tab pos="4568825" algn="l"/>
                  <a:tab pos="5483225" algn="l"/>
                  <a:tab pos="6397625" algn="l"/>
                  <a:tab pos="7312025" algn="l"/>
                  <a:tab pos="8226425" algn="l"/>
                  <a:tab pos="9140825" algn="l"/>
                  <a:tab pos="10055225" algn="l"/>
                </a:tabLst>
              </a:pPr>
              <a:r>
                <a:rPr lang="zh-CN" altLang="en-US" sz="2000" dirty="0"/>
                <a:t>最后一个进程关闭文件时，将其从打开文件表中移除</a:t>
              </a:r>
              <a:endParaRPr lang="en-GB" altLang="en-US" sz="2000" dirty="0"/>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文件描述符</a:t>
            </a:r>
          </a:p>
        </p:txBody>
      </p:sp>
      <p:grpSp>
        <p:nvGrpSpPr>
          <p:cNvPr id="2" name="组合 1"/>
          <p:cNvGrpSpPr/>
          <p:nvPr/>
        </p:nvGrpSpPr>
        <p:grpSpPr>
          <a:xfrm>
            <a:off x="844893" y="1019164"/>
            <a:ext cx="6391403" cy="428628"/>
            <a:chOff x="844893" y="1019164"/>
            <a:chExt cx="6391403" cy="428628"/>
          </a:xfrm>
        </p:grpSpPr>
        <p:sp>
          <p:nvSpPr>
            <p:cNvPr id="9" name="内容占位符 2"/>
            <p:cNvSpPr txBox="1"/>
            <p:nvPr/>
          </p:nvSpPr>
          <p:spPr>
            <a:xfrm>
              <a:off x="1142976" y="1019164"/>
              <a:ext cx="609332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操作系统在打开文件表中维护的打开文件状态和信息</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1262422" y="1356172"/>
            <a:ext cx="1452190" cy="358322"/>
            <a:chOff x="1262422" y="1356172"/>
            <a:chExt cx="1452190" cy="358322"/>
          </a:xfrm>
        </p:grpSpPr>
        <p:pic>
          <p:nvPicPr>
            <p:cNvPr id="29" name="图片 28" descr="小点1.png"/>
            <p:cNvPicPr>
              <a:picLocks noChangeAspect="1"/>
            </p:cNvPicPr>
            <p:nvPr/>
          </p:nvPicPr>
          <p:blipFill>
            <a:blip r:embed="rId2" cstate="print"/>
            <a:stretch>
              <a:fillRect/>
            </a:stretch>
          </p:blipFill>
          <p:spPr>
            <a:xfrm>
              <a:off x="1262422" y="1460948"/>
              <a:ext cx="151066" cy="148997"/>
            </a:xfrm>
            <a:prstGeom prst="rect">
              <a:avLst/>
            </a:prstGeom>
            <a:effectLst/>
          </p:spPr>
        </p:pic>
        <p:sp>
          <p:nvSpPr>
            <p:cNvPr id="30" name="内容占位符 2"/>
            <p:cNvSpPr txBox="1"/>
            <p:nvPr/>
          </p:nvSpPr>
          <p:spPr>
            <a:xfrm>
              <a:off x="1394985" y="1356172"/>
              <a:ext cx="1319627"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文件指针</a:t>
              </a:r>
            </a:p>
          </p:txBody>
        </p:sp>
      </p:grpSp>
      <p:grpSp>
        <p:nvGrpSpPr>
          <p:cNvPr id="4" name="组合 12"/>
          <p:cNvGrpSpPr/>
          <p:nvPr/>
        </p:nvGrpSpPr>
        <p:grpSpPr>
          <a:xfrm>
            <a:off x="1262422" y="1714494"/>
            <a:ext cx="2023694" cy="355598"/>
            <a:chOff x="1262422" y="2323278"/>
            <a:chExt cx="2023694" cy="355598"/>
          </a:xfrm>
        </p:grpSpPr>
        <p:pic>
          <p:nvPicPr>
            <p:cNvPr id="15" name="图片 14" descr="小点1.png"/>
            <p:cNvPicPr>
              <a:picLocks noChangeAspect="1"/>
            </p:cNvPicPr>
            <p:nvPr/>
          </p:nvPicPr>
          <p:blipFill>
            <a:blip r:embed="rId2" cstate="print"/>
            <a:stretch>
              <a:fillRect/>
            </a:stretch>
          </p:blipFill>
          <p:spPr>
            <a:xfrm>
              <a:off x="1262422" y="2428054"/>
              <a:ext cx="151066" cy="148997"/>
            </a:xfrm>
            <a:prstGeom prst="rect">
              <a:avLst/>
            </a:prstGeom>
            <a:effectLst/>
          </p:spPr>
        </p:pic>
        <p:sp>
          <p:nvSpPr>
            <p:cNvPr id="16" name="内容占位符 2"/>
            <p:cNvSpPr txBox="1"/>
            <p:nvPr/>
          </p:nvSpPr>
          <p:spPr>
            <a:xfrm>
              <a:off x="1394985" y="2323278"/>
              <a:ext cx="1891131"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文件打开计数</a:t>
              </a:r>
            </a:p>
          </p:txBody>
        </p:sp>
      </p:grpSp>
      <p:grpSp>
        <p:nvGrpSpPr>
          <p:cNvPr id="5" name="组合 16"/>
          <p:cNvGrpSpPr/>
          <p:nvPr/>
        </p:nvGrpSpPr>
        <p:grpSpPr>
          <a:xfrm>
            <a:off x="1262422" y="2070092"/>
            <a:ext cx="3021546" cy="355598"/>
            <a:chOff x="1262422" y="3291830"/>
            <a:chExt cx="3021546" cy="355598"/>
          </a:xfrm>
        </p:grpSpPr>
        <p:pic>
          <p:nvPicPr>
            <p:cNvPr id="21" name="图片 20" descr="小点1.png"/>
            <p:cNvPicPr>
              <a:picLocks noChangeAspect="1"/>
            </p:cNvPicPr>
            <p:nvPr/>
          </p:nvPicPr>
          <p:blipFill>
            <a:blip r:embed="rId2" cstate="print"/>
            <a:stretch>
              <a:fillRect/>
            </a:stretch>
          </p:blipFill>
          <p:spPr>
            <a:xfrm>
              <a:off x="1262422" y="3396606"/>
              <a:ext cx="151066" cy="148997"/>
            </a:xfrm>
            <a:prstGeom prst="rect">
              <a:avLst/>
            </a:prstGeom>
            <a:effectLst/>
          </p:spPr>
        </p:pic>
        <p:sp>
          <p:nvSpPr>
            <p:cNvPr id="22" name="内容占位符 2"/>
            <p:cNvSpPr txBox="1"/>
            <p:nvPr/>
          </p:nvSpPr>
          <p:spPr>
            <a:xfrm>
              <a:off x="1394985" y="3291830"/>
              <a:ext cx="2888983"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文件</a:t>
              </a:r>
              <a:r>
                <a:rPr lang="zh-CN" altLang="en-US" dirty="0">
                  <a:solidFill>
                    <a:srgbClr val="C00000"/>
                  </a:solidFill>
                </a:rPr>
                <a:t>的磁盘位置</a:t>
              </a:r>
              <a:endPar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sp>
        <p:nvSpPr>
          <p:cNvPr id="23" name="内容占位符 2"/>
          <p:cNvSpPr txBox="1"/>
          <p:nvPr/>
        </p:nvSpPr>
        <p:spPr>
          <a:xfrm>
            <a:off x="1680738" y="2427274"/>
            <a:ext cx="2319758" cy="35401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缓存数据访问信息</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文件描述符</a:t>
            </a:r>
          </a:p>
        </p:txBody>
      </p:sp>
      <p:grpSp>
        <p:nvGrpSpPr>
          <p:cNvPr id="2" name="组合 1"/>
          <p:cNvGrpSpPr/>
          <p:nvPr/>
        </p:nvGrpSpPr>
        <p:grpSpPr>
          <a:xfrm>
            <a:off x="844893" y="1019164"/>
            <a:ext cx="6391403" cy="428628"/>
            <a:chOff x="844893" y="1019164"/>
            <a:chExt cx="6391403" cy="428628"/>
          </a:xfrm>
        </p:grpSpPr>
        <p:sp>
          <p:nvSpPr>
            <p:cNvPr id="9" name="内容占位符 2"/>
            <p:cNvSpPr txBox="1"/>
            <p:nvPr/>
          </p:nvSpPr>
          <p:spPr>
            <a:xfrm>
              <a:off x="1142976" y="1019164"/>
              <a:ext cx="609332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操作系统在打开文件表中维护的打开文件状态和信息</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1262422" y="1356172"/>
            <a:ext cx="1452190" cy="358322"/>
            <a:chOff x="1262422" y="1356172"/>
            <a:chExt cx="1452190" cy="358322"/>
          </a:xfrm>
        </p:grpSpPr>
        <p:pic>
          <p:nvPicPr>
            <p:cNvPr id="29" name="图片 28" descr="小点1.png"/>
            <p:cNvPicPr>
              <a:picLocks noChangeAspect="1"/>
            </p:cNvPicPr>
            <p:nvPr/>
          </p:nvPicPr>
          <p:blipFill>
            <a:blip r:embed="rId2" cstate="print"/>
            <a:stretch>
              <a:fillRect/>
            </a:stretch>
          </p:blipFill>
          <p:spPr>
            <a:xfrm>
              <a:off x="1262422" y="1460948"/>
              <a:ext cx="151066" cy="148997"/>
            </a:xfrm>
            <a:prstGeom prst="rect">
              <a:avLst/>
            </a:prstGeom>
            <a:effectLst/>
          </p:spPr>
        </p:pic>
        <p:sp>
          <p:nvSpPr>
            <p:cNvPr id="30" name="内容占位符 2"/>
            <p:cNvSpPr txBox="1"/>
            <p:nvPr/>
          </p:nvSpPr>
          <p:spPr>
            <a:xfrm>
              <a:off x="1394985" y="1356172"/>
              <a:ext cx="1319627"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文件指针</a:t>
              </a:r>
            </a:p>
          </p:txBody>
        </p:sp>
      </p:grpSp>
      <p:grpSp>
        <p:nvGrpSpPr>
          <p:cNvPr id="4" name="组合 12"/>
          <p:cNvGrpSpPr/>
          <p:nvPr/>
        </p:nvGrpSpPr>
        <p:grpSpPr>
          <a:xfrm>
            <a:off x="1262422" y="1714494"/>
            <a:ext cx="2023694" cy="355598"/>
            <a:chOff x="1262422" y="2323278"/>
            <a:chExt cx="2023694" cy="355598"/>
          </a:xfrm>
        </p:grpSpPr>
        <p:pic>
          <p:nvPicPr>
            <p:cNvPr id="15" name="图片 14" descr="小点1.png"/>
            <p:cNvPicPr>
              <a:picLocks noChangeAspect="1"/>
            </p:cNvPicPr>
            <p:nvPr/>
          </p:nvPicPr>
          <p:blipFill>
            <a:blip r:embed="rId2" cstate="print"/>
            <a:stretch>
              <a:fillRect/>
            </a:stretch>
          </p:blipFill>
          <p:spPr>
            <a:xfrm>
              <a:off x="1262422" y="2428054"/>
              <a:ext cx="151066" cy="148997"/>
            </a:xfrm>
            <a:prstGeom prst="rect">
              <a:avLst/>
            </a:prstGeom>
            <a:effectLst/>
          </p:spPr>
        </p:pic>
        <p:sp>
          <p:nvSpPr>
            <p:cNvPr id="16" name="内容占位符 2"/>
            <p:cNvSpPr txBox="1"/>
            <p:nvPr/>
          </p:nvSpPr>
          <p:spPr>
            <a:xfrm>
              <a:off x="1394985" y="2323278"/>
              <a:ext cx="1891131"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文件打开计数</a:t>
              </a:r>
            </a:p>
          </p:txBody>
        </p:sp>
      </p:grpSp>
      <p:grpSp>
        <p:nvGrpSpPr>
          <p:cNvPr id="5" name="组合 16"/>
          <p:cNvGrpSpPr/>
          <p:nvPr/>
        </p:nvGrpSpPr>
        <p:grpSpPr>
          <a:xfrm>
            <a:off x="1262422" y="2070092"/>
            <a:ext cx="3021546" cy="355598"/>
            <a:chOff x="1262422" y="3291830"/>
            <a:chExt cx="3021546" cy="355598"/>
          </a:xfrm>
        </p:grpSpPr>
        <p:pic>
          <p:nvPicPr>
            <p:cNvPr id="21" name="图片 20" descr="小点1.png"/>
            <p:cNvPicPr>
              <a:picLocks noChangeAspect="1"/>
            </p:cNvPicPr>
            <p:nvPr/>
          </p:nvPicPr>
          <p:blipFill>
            <a:blip r:embed="rId2" cstate="print"/>
            <a:stretch>
              <a:fillRect/>
            </a:stretch>
          </p:blipFill>
          <p:spPr>
            <a:xfrm>
              <a:off x="1262422" y="3396606"/>
              <a:ext cx="151066" cy="148997"/>
            </a:xfrm>
            <a:prstGeom prst="rect">
              <a:avLst/>
            </a:prstGeom>
            <a:effectLst/>
          </p:spPr>
        </p:pic>
        <p:sp>
          <p:nvSpPr>
            <p:cNvPr id="22" name="内容占位符 2"/>
            <p:cNvSpPr txBox="1"/>
            <p:nvPr/>
          </p:nvSpPr>
          <p:spPr>
            <a:xfrm>
              <a:off x="1394985" y="3291830"/>
              <a:ext cx="2888983"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文件</a:t>
              </a:r>
              <a:r>
                <a:rPr lang="zh-CN" altLang="en-US" dirty="0">
                  <a:solidFill>
                    <a:srgbClr val="C00000"/>
                  </a:solidFill>
                </a:rPr>
                <a:t>的磁盘位置</a:t>
              </a:r>
              <a:endPar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grpSp>
        <p:nvGrpSpPr>
          <p:cNvPr id="6" name="组合 3"/>
          <p:cNvGrpSpPr/>
          <p:nvPr/>
        </p:nvGrpSpPr>
        <p:grpSpPr>
          <a:xfrm>
            <a:off x="1262422" y="2409156"/>
            <a:ext cx="1452190" cy="355598"/>
            <a:chOff x="1262422" y="2409156"/>
            <a:chExt cx="1452190" cy="355598"/>
          </a:xfrm>
        </p:grpSpPr>
        <p:pic>
          <p:nvPicPr>
            <p:cNvPr id="18" name="图片 17" descr="小点1.png"/>
            <p:cNvPicPr>
              <a:picLocks noChangeAspect="1"/>
            </p:cNvPicPr>
            <p:nvPr/>
          </p:nvPicPr>
          <p:blipFill>
            <a:blip r:embed="rId2" cstate="print"/>
            <a:stretch>
              <a:fillRect/>
            </a:stretch>
          </p:blipFill>
          <p:spPr>
            <a:xfrm>
              <a:off x="1262422" y="2513932"/>
              <a:ext cx="151066" cy="148997"/>
            </a:xfrm>
            <a:prstGeom prst="rect">
              <a:avLst/>
            </a:prstGeom>
            <a:effectLst/>
          </p:spPr>
        </p:pic>
        <p:sp>
          <p:nvSpPr>
            <p:cNvPr id="19" name="内容占位符 2"/>
            <p:cNvSpPr txBox="1"/>
            <p:nvPr/>
          </p:nvSpPr>
          <p:spPr>
            <a:xfrm>
              <a:off x="1394985" y="2409156"/>
              <a:ext cx="1319627"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访问权限</a:t>
              </a:r>
            </a:p>
          </p:txBody>
        </p:sp>
      </p:grpSp>
      <p:sp>
        <p:nvSpPr>
          <p:cNvPr id="20" name="内容占位符 2"/>
          <p:cNvSpPr txBox="1"/>
          <p:nvPr/>
        </p:nvSpPr>
        <p:spPr>
          <a:xfrm>
            <a:off x="1619672" y="2764754"/>
            <a:ext cx="4619454" cy="35401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每个进程的文件访问模式信息</a:t>
            </a:r>
            <a:endParaRPr lang="en-GB" altLang="zh-CN"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文件系统的功能</a:t>
            </a:r>
          </a:p>
        </p:txBody>
      </p:sp>
      <p:grpSp>
        <p:nvGrpSpPr>
          <p:cNvPr id="2" name="组合 1"/>
          <p:cNvGrpSpPr/>
          <p:nvPr/>
        </p:nvGrpSpPr>
        <p:grpSpPr>
          <a:xfrm>
            <a:off x="844893" y="903700"/>
            <a:ext cx="2869851" cy="400110"/>
            <a:chOff x="844893" y="760400"/>
            <a:chExt cx="2869851" cy="400110"/>
          </a:xfrm>
        </p:grpSpPr>
        <p:sp>
          <p:nvSpPr>
            <p:cNvPr id="9" name="内容占位符 2"/>
            <p:cNvSpPr txBox="1"/>
            <p:nvPr/>
          </p:nvSpPr>
          <p:spPr>
            <a:xfrm>
              <a:off x="1142976" y="760400"/>
              <a:ext cx="2571768" cy="3571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分配文件磁盘空间</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76040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1262422" y="1302736"/>
            <a:ext cx="7275195" cy="981710"/>
            <a:chOff x="1262422" y="1087428"/>
            <a:chExt cx="7275195" cy="981710"/>
          </a:xfrm>
        </p:grpSpPr>
        <p:pic>
          <p:nvPicPr>
            <p:cNvPr id="29" name="图片 28" descr="小点1.png"/>
            <p:cNvPicPr>
              <a:picLocks noChangeAspect="1"/>
            </p:cNvPicPr>
            <p:nvPr/>
          </p:nvPicPr>
          <p:blipFill>
            <a:blip r:embed="rId3" cstate="print"/>
            <a:stretch>
              <a:fillRect/>
            </a:stretch>
          </p:blipFill>
          <p:spPr>
            <a:xfrm>
              <a:off x="1262422" y="1192204"/>
              <a:ext cx="151066" cy="148997"/>
            </a:xfrm>
            <a:prstGeom prst="rect">
              <a:avLst/>
            </a:prstGeom>
            <a:effectLst/>
          </p:spPr>
        </p:pic>
        <p:sp>
          <p:nvSpPr>
            <p:cNvPr id="30" name="内容占位符 2"/>
            <p:cNvSpPr txBox="1"/>
            <p:nvPr/>
          </p:nvSpPr>
          <p:spPr>
            <a:xfrm>
              <a:off x="1394985" y="1087428"/>
              <a:ext cx="6391725"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管理文件块（位置和顺序）</a:t>
              </a:r>
              <a:r>
                <a:rPr lang="en-US" altLang="zh-CN" dirty="0"/>
                <a:t>	——</a:t>
              </a:r>
              <a:r>
                <a:rPr lang="zh-CN" altLang="en-US" dirty="0">
                  <a:solidFill>
                    <a:srgbClr val="FF0000"/>
                  </a:solidFill>
                </a:rPr>
                <a:t>文件物理结构</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pic>
          <p:nvPicPr>
            <p:cNvPr id="27" name="图片 26" descr="小点1.png"/>
            <p:cNvPicPr>
              <a:picLocks noChangeAspect="1"/>
            </p:cNvPicPr>
            <p:nvPr/>
          </p:nvPicPr>
          <p:blipFill>
            <a:blip r:embed="rId3" cstate="print"/>
            <a:stretch>
              <a:fillRect/>
            </a:stretch>
          </p:blipFill>
          <p:spPr>
            <a:xfrm>
              <a:off x="1262422" y="1501764"/>
              <a:ext cx="151066" cy="148997"/>
            </a:xfrm>
            <a:prstGeom prst="rect">
              <a:avLst/>
            </a:prstGeom>
            <a:effectLst/>
          </p:spPr>
        </p:pic>
        <p:sp>
          <p:nvSpPr>
            <p:cNvPr id="28" name="内容占位符 2"/>
            <p:cNvSpPr txBox="1"/>
            <p:nvPr/>
          </p:nvSpPr>
          <p:spPr>
            <a:xfrm>
              <a:off x="1394986" y="1396988"/>
              <a:ext cx="6320286" cy="35401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管理空闲空间</a:t>
              </a:r>
              <a:r>
                <a:rPr lang="en-US" altLang="zh-CN" dirty="0"/>
                <a:t>(</a:t>
              </a:r>
              <a:r>
                <a:rPr lang="zh-CN" altLang="en-US" dirty="0"/>
                <a:t>位置</a:t>
              </a:r>
              <a:r>
                <a:rPr lang="en-US" altLang="zh-CN" dirty="0"/>
                <a:t>)		——</a:t>
              </a:r>
              <a:r>
                <a:rPr lang="zh-CN" altLang="en-US" dirty="0">
                  <a:solidFill>
                    <a:srgbClr val="FF0000"/>
                  </a:solidFill>
                </a:rPr>
                <a:t>空闲空间管理</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pic>
          <p:nvPicPr>
            <p:cNvPr id="17" name="图片 16" descr="小点1.png"/>
            <p:cNvPicPr>
              <a:picLocks noChangeAspect="1"/>
            </p:cNvPicPr>
            <p:nvPr/>
          </p:nvPicPr>
          <p:blipFill>
            <a:blip r:embed="rId3" cstate="print"/>
            <a:stretch>
              <a:fillRect/>
            </a:stretch>
          </p:blipFill>
          <p:spPr>
            <a:xfrm>
              <a:off x="1262422" y="1803296"/>
              <a:ext cx="151066" cy="148997"/>
            </a:xfrm>
            <a:prstGeom prst="rect">
              <a:avLst/>
            </a:prstGeom>
            <a:effectLst/>
          </p:spPr>
        </p:pic>
        <p:sp>
          <p:nvSpPr>
            <p:cNvPr id="18" name="内容占位符 2"/>
            <p:cNvSpPr txBox="1"/>
            <p:nvPr/>
          </p:nvSpPr>
          <p:spPr>
            <a:xfrm>
              <a:off x="1395137" y="1711633"/>
              <a:ext cx="7142480" cy="357505"/>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分配算法 </a:t>
              </a:r>
              <a:r>
                <a:rPr lang="en-US" altLang="zh-CN" dirty="0"/>
                <a:t>(</a:t>
              </a:r>
              <a:r>
                <a:rPr lang="zh-CN" altLang="en-US" dirty="0"/>
                <a:t>策略</a:t>
              </a:r>
              <a:r>
                <a:rPr lang="en-US" altLang="zh-CN" dirty="0"/>
                <a:t>)</a:t>
              </a:r>
              <a:r>
                <a:rPr lang="x-none" altLang="en-US" dirty="0"/>
                <a:t>			</a:t>
              </a:r>
              <a:r>
                <a:rPr lang="en-US" altLang="zh-CN" dirty="0">
                  <a:sym typeface="+mn-ea"/>
                </a:rPr>
                <a:t>——</a:t>
              </a:r>
              <a:r>
                <a:rPr lang="x-none" altLang="zh-CN" dirty="0">
                  <a:solidFill>
                    <a:srgbClr val="FF0000"/>
                  </a:solidFill>
                  <a:sym typeface="+mn-ea"/>
                </a:rPr>
                <a:t>文件分配</a:t>
              </a:r>
              <a:r>
                <a:rPr lang="x-none" altLang="en-US" dirty="0"/>
                <a:t>	</a:t>
              </a:r>
              <a:endParaRPr kumimoji="0" lang="x-none"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文件系统的功能</a:t>
            </a:r>
          </a:p>
        </p:txBody>
      </p:sp>
      <p:grpSp>
        <p:nvGrpSpPr>
          <p:cNvPr id="2" name="组合 1"/>
          <p:cNvGrpSpPr/>
          <p:nvPr/>
        </p:nvGrpSpPr>
        <p:grpSpPr>
          <a:xfrm>
            <a:off x="844893" y="903700"/>
            <a:ext cx="2869851" cy="400110"/>
            <a:chOff x="844893" y="760400"/>
            <a:chExt cx="2869851" cy="400110"/>
          </a:xfrm>
        </p:grpSpPr>
        <p:sp>
          <p:nvSpPr>
            <p:cNvPr id="9" name="内容占位符 2"/>
            <p:cNvSpPr txBox="1"/>
            <p:nvPr/>
          </p:nvSpPr>
          <p:spPr>
            <a:xfrm>
              <a:off x="1142976" y="760400"/>
              <a:ext cx="2571768" cy="3571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分配文件磁盘空间</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76040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844893" y="1303810"/>
            <a:ext cx="7156131" cy="423636"/>
            <a:chOff x="844893" y="2017610"/>
            <a:chExt cx="7156131" cy="423636"/>
          </a:xfrm>
        </p:grpSpPr>
        <p:sp>
          <p:nvSpPr>
            <p:cNvPr id="15" name="内容占位符 2"/>
            <p:cNvSpPr txBox="1"/>
            <p:nvPr/>
          </p:nvSpPr>
          <p:spPr>
            <a:xfrm>
              <a:off x="1142976" y="2017610"/>
              <a:ext cx="6858048" cy="42363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管理文件集合</a:t>
              </a:r>
              <a:r>
                <a:rPr kumimoji="0" lang="en-US" altLang="zh-CN"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				——</a:t>
              </a:r>
              <a:r>
                <a:rPr lang="zh-CN" altLang="en-US" dirty="0">
                  <a:solidFill>
                    <a:srgbClr val="FF0000"/>
                  </a:solidFill>
                </a:rPr>
                <a:t>文件逻辑结构</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6" name="TextBox 15"/>
            <p:cNvSpPr txBox="1"/>
            <p:nvPr/>
          </p:nvSpPr>
          <p:spPr>
            <a:xfrm>
              <a:off x="844893" y="201761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1262422" y="1707654"/>
            <a:ext cx="7524420" cy="992450"/>
            <a:chOff x="1262422" y="2368538"/>
            <a:chExt cx="7524420" cy="992450"/>
          </a:xfrm>
        </p:grpSpPr>
        <p:pic>
          <p:nvPicPr>
            <p:cNvPr id="20" name="图片 19" descr="小点1.png"/>
            <p:cNvPicPr>
              <a:picLocks noChangeAspect="1"/>
            </p:cNvPicPr>
            <p:nvPr/>
          </p:nvPicPr>
          <p:blipFill>
            <a:blip r:embed="rId2" cstate="print"/>
            <a:stretch>
              <a:fillRect/>
            </a:stretch>
          </p:blipFill>
          <p:spPr>
            <a:xfrm>
              <a:off x="1262422" y="2473314"/>
              <a:ext cx="151066" cy="148997"/>
            </a:xfrm>
            <a:prstGeom prst="rect">
              <a:avLst/>
            </a:prstGeom>
            <a:effectLst/>
          </p:spPr>
        </p:pic>
        <p:sp>
          <p:nvSpPr>
            <p:cNvPr id="21" name="内容占位符 2"/>
            <p:cNvSpPr txBox="1"/>
            <p:nvPr/>
          </p:nvSpPr>
          <p:spPr>
            <a:xfrm>
              <a:off x="1394985" y="2368538"/>
              <a:ext cx="6606039"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定位：</a:t>
              </a:r>
              <a:r>
                <a:rPr lang="x-none" altLang="zh-CN" dirty="0"/>
                <a:t>找到</a:t>
              </a:r>
              <a:r>
                <a:rPr lang="zh-CN" altLang="en-US" dirty="0"/>
                <a:t>文件</a:t>
              </a:r>
              <a:r>
                <a:rPr lang="x-none" altLang="zh-CN" dirty="0"/>
                <a:t>位置，存取</a:t>
              </a:r>
              <a:r>
                <a:rPr lang="zh-CN" altLang="en-US" dirty="0"/>
                <a:t>其内容</a:t>
              </a:r>
              <a:r>
                <a:rPr lang="en-US" altLang="zh-CN" dirty="0"/>
                <a:t>	</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pic>
          <p:nvPicPr>
            <p:cNvPr id="22" name="图片 21" descr="小点1.png"/>
            <p:cNvPicPr>
              <a:picLocks noChangeAspect="1"/>
            </p:cNvPicPr>
            <p:nvPr/>
          </p:nvPicPr>
          <p:blipFill>
            <a:blip r:embed="rId2" cstate="print"/>
            <a:stretch>
              <a:fillRect/>
            </a:stretch>
          </p:blipFill>
          <p:spPr>
            <a:xfrm>
              <a:off x="1262422" y="2782874"/>
              <a:ext cx="151066" cy="148997"/>
            </a:xfrm>
            <a:prstGeom prst="rect">
              <a:avLst/>
            </a:prstGeom>
            <a:effectLst/>
          </p:spPr>
        </p:pic>
        <p:sp>
          <p:nvSpPr>
            <p:cNvPr id="23" name="内容占位符 2"/>
            <p:cNvSpPr txBox="1"/>
            <p:nvPr/>
          </p:nvSpPr>
          <p:spPr>
            <a:xfrm>
              <a:off x="1394986" y="2678098"/>
              <a:ext cx="6748914" cy="35401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命名</a:t>
              </a:r>
              <a:r>
                <a:rPr lang="zh-CN" altLang="zh-CN" dirty="0"/>
                <a:t>：</a:t>
              </a:r>
              <a:r>
                <a:rPr lang="zh-CN" altLang="en-US" dirty="0"/>
                <a:t>通过路径及名字找到文件</a:t>
              </a:r>
              <a:r>
                <a:rPr lang="en-US" altLang="zh-CN" dirty="0"/>
                <a:t>	</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pic>
          <p:nvPicPr>
            <p:cNvPr id="24" name="图片 23" descr="小点1.png"/>
            <p:cNvPicPr>
              <a:picLocks noChangeAspect="1"/>
            </p:cNvPicPr>
            <p:nvPr/>
          </p:nvPicPr>
          <p:blipFill>
            <a:blip r:embed="rId2" cstate="print"/>
            <a:stretch>
              <a:fillRect/>
            </a:stretch>
          </p:blipFill>
          <p:spPr>
            <a:xfrm>
              <a:off x="1262422" y="3089861"/>
              <a:ext cx="151066" cy="148997"/>
            </a:xfrm>
            <a:prstGeom prst="rect">
              <a:avLst/>
            </a:prstGeom>
            <a:effectLst/>
          </p:spPr>
        </p:pic>
        <p:sp>
          <p:nvSpPr>
            <p:cNvPr id="25" name="内容占位符 2"/>
            <p:cNvSpPr txBox="1"/>
            <p:nvPr/>
          </p:nvSpPr>
          <p:spPr>
            <a:xfrm>
              <a:off x="1412086" y="3003798"/>
              <a:ext cx="7374756" cy="3571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文件系统结构</a:t>
              </a:r>
              <a:r>
                <a:rPr lang="zh-CN" altLang="zh-CN" dirty="0"/>
                <a:t>：</a:t>
              </a:r>
              <a:r>
                <a:rPr lang="zh-CN" altLang="en-US" dirty="0"/>
                <a:t>文件组织方式</a:t>
              </a:r>
              <a:r>
                <a:rPr lang="en-US" altLang="zh-CN" dirty="0"/>
                <a:t>	         ——</a:t>
              </a:r>
              <a:r>
                <a:rPr lang="zh-CN" altLang="en-US" dirty="0">
                  <a:solidFill>
                    <a:srgbClr val="FF0000"/>
                  </a:solidFill>
                </a:rPr>
                <a:t>文件目录管理</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文件系统的功能</a:t>
            </a:r>
          </a:p>
        </p:txBody>
      </p:sp>
      <p:grpSp>
        <p:nvGrpSpPr>
          <p:cNvPr id="2" name="组合 1"/>
          <p:cNvGrpSpPr/>
          <p:nvPr/>
        </p:nvGrpSpPr>
        <p:grpSpPr>
          <a:xfrm>
            <a:off x="844893" y="903700"/>
            <a:ext cx="2869851" cy="400110"/>
            <a:chOff x="844893" y="760400"/>
            <a:chExt cx="2869851" cy="400110"/>
          </a:xfrm>
        </p:grpSpPr>
        <p:sp>
          <p:nvSpPr>
            <p:cNvPr id="9" name="内容占位符 2"/>
            <p:cNvSpPr txBox="1"/>
            <p:nvPr/>
          </p:nvSpPr>
          <p:spPr>
            <a:xfrm>
              <a:off x="1142976" y="760400"/>
              <a:ext cx="2571768" cy="3571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分配文件磁盘空间</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76040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844893" y="1303810"/>
            <a:ext cx="2084033" cy="423636"/>
            <a:chOff x="844893" y="2017610"/>
            <a:chExt cx="2084033" cy="423636"/>
          </a:xfrm>
        </p:grpSpPr>
        <p:sp>
          <p:nvSpPr>
            <p:cNvPr id="15" name="内容占位符 2"/>
            <p:cNvSpPr txBox="1"/>
            <p:nvPr/>
          </p:nvSpPr>
          <p:spPr>
            <a:xfrm>
              <a:off x="1142976" y="2017610"/>
              <a:ext cx="1785950" cy="42363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管理文件集合</a:t>
              </a:r>
            </a:p>
          </p:txBody>
        </p:sp>
        <p:sp>
          <p:nvSpPr>
            <p:cNvPr id="16" name="TextBox 15"/>
            <p:cNvSpPr txBox="1"/>
            <p:nvPr/>
          </p:nvSpPr>
          <p:spPr>
            <a:xfrm>
              <a:off x="844893" y="201761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861993" y="1680394"/>
            <a:ext cx="2441223" cy="423636"/>
            <a:chOff x="861993" y="1680394"/>
            <a:chExt cx="2441223" cy="423636"/>
          </a:xfrm>
        </p:grpSpPr>
        <p:sp>
          <p:nvSpPr>
            <p:cNvPr id="17" name="内容占位符 2"/>
            <p:cNvSpPr txBox="1"/>
            <p:nvPr/>
          </p:nvSpPr>
          <p:spPr>
            <a:xfrm>
              <a:off x="1160076" y="1680394"/>
              <a:ext cx="2143140" cy="42363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数据可靠和安全</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8" name="TextBox 34"/>
            <p:cNvSpPr txBox="1"/>
            <p:nvPr/>
          </p:nvSpPr>
          <p:spPr>
            <a:xfrm>
              <a:off x="861993" y="168039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1279522" y="2067694"/>
            <a:ext cx="6792940" cy="355598"/>
            <a:chOff x="1279522" y="2067694"/>
            <a:chExt cx="6792940" cy="355598"/>
          </a:xfrm>
        </p:grpSpPr>
        <p:pic>
          <p:nvPicPr>
            <p:cNvPr id="27" name="图片 26" descr="小点1.png"/>
            <p:cNvPicPr>
              <a:picLocks noChangeAspect="1"/>
            </p:cNvPicPr>
            <p:nvPr/>
          </p:nvPicPr>
          <p:blipFill>
            <a:blip r:embed="rId2" cstate="print"/>
            <a:stretch>
              <a:fillRect/>
            </a:stretch>
          </p:blipFill>
          <p:spPr>
            <a:xfrm>
              <a:off x="1279522" y="2172470"/>
              <a:ext cx="151066" cy="148997"/>
            </a:xfrm>
            <a:prstGeom prst="rect">
              <a:avLst/>
            </a:prstGeom>
            <a:effectLst/>
          </p:spPr>
        </p:pic>
        <p:sp>
          <p:nvSpPr>
            <p:cNvPr id="28" name="内容占位符 2"/>
            <p:cNvSpPr txBox="1"/>
            <p:nvPr/>
          </p:nvSpPr>
          <p:spPr>
            <a:xfrm>
              <a:off x="1412085" y="2067694"/>
              <a:ext cx="6660377"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solidFill>
                    <a:srgbClr val="FF0000"/>
                  </a:solidFill>
                </a:rPr>
                <a:t>安全</a:t>
              </a:r>
              <a:r>
                <a:rPr lang="zh-CN" altLang="en-US" dirty="0"/>
                <a:t>：多层次保护数据安全</a:t>
              </a:r>
              <a:r>
                <a:rPr lang="en-US" altLang="zh-CN" dirty="0"/>
                <a:t>	——</a:t>
              </a:r>
              <a:r>
                <a:rPr lang="zh-CN" altLang="en-US" dirty="0">
                  <a:solidFill>
                    <a:srgbClr val="FF0000"/>
                  </a:solidFill>
                </a:rPr>
                <a:t>用户访问控制</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grpSp>
        <p:nvGrpSpPr>
          <p:cNvPr id="5" name="组合 4"/>
          <p:cNvGrpSpPr/>
          <p:nvPr/>
        </p:nvGrpSpPr>
        <p:grpSpPr>
          <a:xfrm>
            <a:off x="1279522" y="2377254"/>
            <a:ext cx="5452718" cy="763158"/>
            <a:chOff x="1279522" y="2377254"/>
            <a:chExt cx="5452718" cy="763158"/>
          </a:xfrm>
        </p:grpSpPr>
        <p:pic>
          <p:nvPicPr>
            <p:cNvPr id="29" name="图片 28" descr="小点1.png"/>
            <p:cNvPicPr>
              <a:picLocks noChangeAspect="1"/>
            </p:cNvPicPr>
            <p:nvPr/>
          </p:nvPicPr>
          <p:blipFill>
            <a:blip r:embed="rId2" cstate="print"/>
            <a:stretch>
              <a:fillRect/>
            </a:stretch>
          </p:blipFill>
          <p:spPr>
            <a:xfrm>
              <a:off x="1279522" y="2463405"/>
              <a:ext cx="151066" cy="148997"/>
            </a:xfrm>
            <a:prstGeom prst="rect">
              <a:avLst/>
            </a:prstGeom>
            <a:effectLst/>
          </p:spPr>
        </p:pic>
        <p:sp>
          <p:nvSpPr>
            <p:cNvPr id="30" name="内容占位符 2"/>
            <p:cNvSpPr txBox="1"/>
            <p:nvPr/>
          </p:nvSpPr>
          <p:spPr>
            <a:xfrm>
              <a:off x="1412086" y="2377254"/>
              <a:ext cx="5320154" cy="35401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solidFill>
                    <a:srgbClr val="FF0000"/>
                  </a:solidFill>
                </a:rPr>
                <a:t>可靠</a:t>
              </a:r>
              <a:endParaRPr lang="en-US" altLang="zh-CN" dirty="0">
                <a:solidFill>
                  <a:srgbClr val="FF0000"/>
                </a:solidFill>
              </a:endParaRPr>
            </a:p>
            <a:p>
              <a:pPr marL="0" lvl="1" indent="0">
                <a:lnSpc>
                  <a:spcPct val="90000"/>
                </a:lnSpc>
              </a:pPr>
              <a:r>
                <a:rPr lang="zh-CN" altLang="en-US" sz="1800" dirty="0"/>
                <a:t>    持久保存文件</a:t>
              </a:r>
              <a:endParaRPr lang="en-US" altLang="zh-CN" sz="1800" dirty="0"/>
            </a:p>
            <a:p>
              <a:pPr marL="0" lvl="1" indent="0">
                <a:lnSpc>
                  <a:spcPct val="90000"/>
                </a:lnSpc>
              </a:pPr>
              <a:r>
                <a:rPr lang="zh-CN" altLang="en-US" sz="1800" dirty="0"/>
                <a:t>    避免系统崩溃、媒体错误、攻击等</a:t>
              </a:r>
              <a:endParaRPr kumimoji="0" lang="zh-CN" altLang="en-US" sz="1800" b="1" i="0" u="none" strike="noStrike" kern="1200" cap="none" spc="0" normalizeH="0" baseline="0" noProof="0" dirty="0">
                <a:ln>
                  <a:noFill/>
                </a:ln>
                <a:solidFill>
                  <a:srgbClr val="11576A"/>
                </a:solidFill>
                <a:effectLst/>
                <a:uLnTx/>
                <a:uFillTx/>
              </a:endParaRPr>
            </a:p>
          </p:txBody>
        </p:sp>
        <p:pic>
          <p:nvPicPr>
            <p:cNvPr id="31" name="图片 30" descr="小点1.png"/>
            <p:cNvPicPr>
              <a:picLocks noChangeAspect="1"/>
            </p:cNvPicPr>
            <p:nvPr/>
          </p:nvPicPr>
          <p:blipFill>
            <a:blip r:embed="rId2" cstate="print"/>
            <a:stretch>
              <a:fillRect/>
            </a:stretch>
          </p:blipFill>
          <p:spPr>
            <a:xfrm>
              <a:off x="1547664" y="2747782"/>
              <a:ext cx="151066" cy="148997"/>
            </a:xfrm>
            <a:prstGeom prst="rect">
              <a:avLst/>
            </a:prstGeom>
            <a:effectLst/>
          </p:spPr>
        </p:pic>
        <p:pic>
          <p:nvPicPr>
            <p:cNvPr id="33" name="图片 32" descr="小点1.png"/>
            <p:cNvPicPr>
              <a:picLocks noChangeAspect="1"/>
            </p:cNvPicPr>
            <p:nvPr/>
          </p:nvPicPr>
          <p:blipFill>
            <a:blip r:embed="rId2" cstate="print"/>
            <a:stretch>
              <a:fillRect/>
            </a:stretch>
          </p:blipFill>
          <p:spPr>
            <a:xfrm>
              <a:off x="1547664" y="2991415"/>
              <a:ext cx="151066" cy="148997"/>
            </a:xfrm>
            <a:prstGeom prst="rect">
              <a:avLst/>
            </a:prstGeom>
            <a:effectLst/>
          </p:spPr>
        </p:pic>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noChangeArrowheads="1"/>
          </p:cNvSpPr>
          <p:nvPr/>
        </p:nvSpPr>
        <p:spPr bwMode="auto">
          <a:xfrm>
            <a:off x="3755856" y="189267"/>
            <a:ext cx="1928808" cy="553998"/>
          </a:xfrm>
          <a:prstGeom prst="rect">
            <a:avLst/>
          </a:prstGeom>
          <a:noFill/>
          <a:ln w="9525">
            <a:noFill/>
            <a:miter lim="800000"/>
          </a:ln>
        </p:spPr>
        <p:txBody>
          <a:bodyPr wrap="square">
            <a:spAutoFit/>
          </a:bodyPr>
          <a:lstStyle/>
          <a:p>
            <a:r>
              <a:rPr lang="x-none" altLang="zh-CN" sz="3000" b="1" dirty="0">
                <a:solidFill>
                  <a:srgbClr val="11576A"/>
                </a:solidFill>
                <a:latin typeface="微软雅黑" panose="020B0503020204020204" pitchFamily="34" charset="-122"/>
                <a:ea typeface="微软雅黑" panose="020B0503020204020204" pitchFamily="34" charset="-122"/>
              </a:rPr>
              <a:t>主要内容</a:t>
            </a:r>
          </a:p>
        </p:txBody>
      </p:sp>
      <p:grpSp>
        <p:nvGrpSpPr>
          <p:cNvPr id="4" name="组合 1"/>
          <p:cNvGrpSpPr/>
          <p:nvPr/>
        </p:nvGrpSpPr>
        <p:grpSpPr>
          <a:xfrm>
            <a:off x="549284" y="1072186"/>
            <a:ext cx="8566529" cy="415290"/>
            <a:chOff x="520709" y="928676"/>
            <a:chExt cx="8566529" cy="415290"/>
          </a:xfrm>
        </p:grpSpPr>
        <p:sp>
          <p:nvSpPr>
            <p:cNvPr id="37"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7.1 文件和文件系统</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60"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5" name="组合 3"/>
          <p:cNvGrpSpPr/>
          <p:nvPr/>
        </p:nvGrpSpPr>
        <p:grpSpPr>
          <a:xfrm>
            <a:off x="549284" y="1449606"/>
            <a:ext cx="8568952" cy="415290"/>
            <a:chOff x="520709" y="2802785"/>
            <a:chExt cx="8568952" cy="415290"/>
          </a:xfrm>
        </p:grpSpPr>
        <p:sp>
          <p:nvSpPr>
            <p:cNvPr id="4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7.2 文件的逻辑结构与存取方法</a:t>
              </a:r>
              <a:endParaRPr lang="x-none" altLang="zh-CN" dirty="0"/>
            </a:p>
          </p:txBody>
        </p:sp>
        <p:sp>
          <p:nvSpPr>
            <p:cNvPr id="61"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3" name="组合 1"/>
          <p:cNvGrpSpPr/>
          <p:nvPr/>
        </p:nvGrpSpPr>
        <p:grpSpPr>
          <a:xfrm>
            <a:off x="549284" y="1851331"/>
            <a:ext cx="8566529" cy="415290"/>
            <a:chOff x="520709" y="928676"/>
            <a:chExt cx="8566529" cy="415290"/>
          </a:xfrm>
        </p:grpSpPr>
        <p:sp>
          <p:nvSpPr>
            <p:cNvPr id="14"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7.3 文件的物理结构与存储设备</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15"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6" name="组合 3"/>
          <p:cNvGrpSpPr/>
          <p:nvPr/>
        </p:nvGrpSpPr>
        <p:grpSpPr>
          <a:xfrm>
            <a:off x="549284" y="2221717"/>
            <a:ext cx="8568952" cy="415290"/>
            <a:chOff x="520709" y="2802785"/>
            <a:chExt cx="8568952" cy="415290"/>
          </a:xfrm>
        </p:grpSpPr>
        <p:sp>
          <p:nvSpPr>
            <p:cNvPr id="17"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7.4 文件存储空间管理</a:t>
              </a:r>
              <a:endParaRPr lang="x-none" altLang="zh-CN" dirty="0"/>
            </a:p>
          </p:txBody>
        </p:sp>
        <p:sp>
          <p:nvSpPr>
            <p:cNvPr id="18"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9" name="组合 1"/>
          <p:cNvGrpSpPr/>
          <p:nvPr/>
        </p:nvGrpSpPr>
        <p:grpSpPr>
          <a:xfrm>
            <a:off x="549284" y="2643811"/>
            <a:ext cx="8566529" cy="415290"/>
            <a:chOff x="520709" y="928676"/>
            <a:chExt cx="8566529" cy="415290"/>
          </a:xfrm>
        </p:grpSpPr>
        <p:sp>
          <p:nvSpPr>
            <p:cNvPr id="20"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7.5 文件目录 </a:t>
              </a:r>
            </a:p>
          </p:txBody>
        </p:sp>
        <p:sp>
          <p:nvSpPr>
            <p:cNvPr id="21"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22" name="组合 3"/>
          <p:cNvGrpSpPr/>
          <p:nvPr/>
        </p:nvGrpSpPr>
        <p:grpSpPr>
          <a:xfrm>
            <a:off x="549284" y="3014197"/>
            <a:ext cx="8568952" cy="415290"/>
            <a:chOff x="520709" y="2802785"/>
            <a:chExt cx="8568952" cy="415290"/>
          </a:xfrm>
        </p:grpSpPr>
        <p:sp>
          <p:nvSpPr>
            <p:cNvPr id="23"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7.6 文件共享与保护</a:t>
              </a:r>
              <a:endParaRPr lang="x-none" altLang="zh-CN" dirty="0"/>
            </a:p>
          </p:txBody>
        </p:sp>
        <p:sp>
          <p:nvSpPr>
            <p:cNvPr id="24"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7" name="组合 3"/>
          <p:cNvGrpSpPr/>
          <p:nvPr/>
        </p:nvGrpSpPr>
        <p:grpSpPr>
          <a:xfrm>
            <a:off x="546109" y="3429487"/>
            <a:ext cx="8568952" cy="415290"/>
            <a:chOff x="520709" y="2802785"/>
            <a:chExt cx="8568952" cy="415290"/>
          </a:xfrm>
        </p:grpSpPr>
        <p:sp>
          <p:nvSpPr>
            <p:cNvPr id="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7.7 文件的使用</a:t>
              </a:r>
              <a:endParaRPr lang="x-none" altLang="zh-CN" dirty="0"/>
            </a:p>
          </p:txBody>
        </p:sp>
        <p:sp>
          <p:nvSpPr>
            <p:cNvPr id="10"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1" name="组合 3"/>
          <p:cNvGrpSpPr/>
          <p:nvPr/>
        </p:nvGrpSpPr>
        <p:grpSpPr>
          <a:xfrm>
            <a:off x="540394" y="3867002"/>
            <a:ext cx="8568952" cy="415290"/>
            <a:chOff x="520709" y="2802785"/>
            <a:chExt cx="8568952" cy="415290"/>
          </a:xfrm>
        </p:grpSpPr>
        <p:sp>
          <p:nvSpPr>
            <p:cNvPr id="12"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7.8 文件系统与层次模型</a:t>
              </a:r>
              <a:endParaRPr lang="x-none" altLang="zh-CN" dirty="0"/>
            </a:p>
          </p:txBody>
        </p:sp>
        <p:sp>
          <p:nvSpPr>
            <p:cNvPr id="25"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spTree>
    <p:extLst>
      <p:ext uri="{BB962C8B-B14F-4D97-AF65-F5344CB8AC3E}">
        <p14:creationId xmlns:p14="http://schemas.microsoft.com/office/powerpoint/2010/main" val="293688377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2" presetID="22" presetClass="entr" presetSubtype="8"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8"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ctrTitle"/>
          </p:nvPr>
        </p:nvSpPr>
        <p:spPr>
          <a:xfrm>
            <a:off x="971550" y="1924050"/>
            <a:ext cx="7113588" cy="928688"/>
          </a:xfrm>
          <a:ln w="9525">
            <a:noFill/>
            <a:miter/>
          </a:ln>
        </p:spPr>
        <p:txBody>
          <a:bodyPr wrap="square" lIns="91440" tIns="45720" rIns="91440" bIns="45720" anchor="b"/>
          <a:lstStyle/>
          <a:p>
            <a:pPr defTabSz="457200" eaLnBrk="1" hangingPunct="1"/>
            <a:r>
              <a:rPr lang="x-none" altLang="zh-CN" sz="4000" b="1" kern="1200" dirty="0">
                <a:solidFill>
                  <a:srgbClr val="11576A"/>
                </a:solidFill>
                <a:latin typeface="微软雅黑" panose="020B0503020204020204" pitchFamily="34" charset="-122"/>
                <a:ea typeface="微软雅黑" panose="020B0503020204020204" pitchFamily="34" charset="-122"/>
                <a:cs typeface="+mj-cs"/>
              </a:rPr>
              <a:t>7.2</a:t>
            </a:r>
            <a:r>
              <a:rPr lang="zh-CN" altLang="en-US" sz="4000" b="1" kern="1200" dirty="0">
                <a:solidFill>
                  <a:srgbClr val="11576A"/>
                </a:solidFill>
                <a:latin typeface="微软雅黑" panose="020B0503020204020204" pitchFamily="34" charset="-122"/>
                <a:ea typeface="微软雅黑" panose="020B0503020204020204" pitchFamily="34" charset="-122"/>
                <a:cs typeface="+mj-cs"/>
              </a:rPr>
              <a:t> </a:t>
            </a:r>
            <a:r>
              <a:rPr lang="x-none" altLang="zh-CN" sz="4000" b="1" kern="1200" dirty="0">
                <a:solidFill>
                  <a:srgbClr val="11576A"/>
                </a:solidFill>
                <a:latin typeface="微软雅黑" panose="020B0503020204020204" pitchFamily="34" charset="-122"/>
                <a:ea typeface="微软雅黑" panose="020B0503020204020204" pitchFamily="34" charset="-122"/>
                <a:cs typeface="+mj-cs"/>
              </a:rPr>
              <a:t>文件逻辑结构</a:t>
            </a: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42910" y="857238"/>
            <a:ext cx="8143932" cy="2332990"/>
          </a:xfrm>
          <a:prstGeom prst="rect">
            <a:avLst/>
          </a:prstGeom>
        </p:spPr>
        <p:txBody>
          <a:bodyPr wrap="square">
            <a:spAutoFit/>
          </a:bodyPr>
          <a:lstStyle/>
          <a:p>
            <a:pPr>
              <a:lnSpc>
                <a:spcPct val="90000"/>
              </a:lnSpc>
            </a:pPr>
            <a:r>
              <a:rPr lang="zh-CN" altLang="en-US" sz="2000" b="1" dirty="0">
                <a:solidFill>
                  <a:srgbClr val="11576A"/>
                </a:solidFill>
                <a:latin typeface="微软雅黑" panose="020B0503020204020204" pitchFamily="34" charset="-122"/>
                <a:ea typeface="微软雅黑" panose="020B0503020204020204" pitchFamily="34" charset="-122"/>
              </a:rPr>
              <a:t>文件结构的两种观点：</a:t>
            </a:r>
          </a:p>
          <a:p>
            <a:pPr>
              <a:lnSpc>
                <a:spcPct val="90000"/>
              </a:lnSpc>
            </a:pPr>
            <a:r>
              <a:rPr lang="zh-CN" altLang="en-US" sz="2000"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微软雅黑" panose="020B0503020204020204" pitchFamily="34" charset="-122"/>
                <a:ea typeface="微软雅黑" panose="020B0503020204020204" pitchFamily="34" charset="-122"/>
              </a:rPr>
              <a:t> </a:t>
            </a:r>
            <a:r>
              <a:rPr lang="zh-CN" altLang="en-US" sz="2000" b="1" dirty="0">
                <a:solidFill>
                  <a:srgbClr val="FF0000"/>
                </a:solidFill>
                <a:latin typeface="微软雅黑" panose="020B0503020204020204" pitchFamily="34" charset="-122"/>
                <a:ea typeface="微软雅黑" panose="020B0503020204020204" pitchFamily="34" charset="-122"/>
              </a:rPr>
              <a:t>用户的观点（文件的逻辑结构）</a:t>
            </a:r>
            <a:endParaRPr lang="en-US" altLang="zh-CN" sz="2000" b="1" dirty="0">
              <a:solidFill>
                <a:srgbClr val="11576A"/>
              </a:solidFill>
              <a:latin typeface="微软雅黑" panose="020B0503020204020204" pitchFamily="34" charset="-122"/>
              <a:ea typeface="微软雅黑" panose="020B0503020204020204" pitchFamily="34" charset="-122"/>
            </a:endParaRPr>
          </a:p>
          <a:p>
            <a:pPr>
              <a:lnSpc>
                <a:spcPct val="90000"/>
              </a:lnSpc>
            </a:pPr>
            <a:r>
              <a:rPr lang="zh-CN" altLang="en-US" sz="2000" b="1" dirty="0">
                <a:solidFill>
                  <a:srgbClr val="11576A"/>
                </a:solidFill>
                <a:latin typeface="微软雅黑" panose="020B0503020204020204" pitchFamily="34" charset="-122"/>
                <a:ea typeface="微软雅黑" panose="020B0503020204020204" pitchFamily="34" charset="-122"/>
              </a:rPr>
              <a:t>主要研究用户思维中的抽象文件，为用户提供一种逻辑结构清晰、使用简便的逻辑文件。用户将按这种形式去存取、检索和加工文件</a:t>
            </a:r>
            <a:endParaRPr lang="en-US" altLang="zh-CN" sz="2000" b="1" dirty="0">
              <a:solidFill>
                <a:srgbClr val="11576A"/>
              </a:solidFill>
              <a:latin typeface="微软雅黑" panose="020B0503020204020204" pitchFamily="34" charset="-122"/>
              <a:ea typeface="微软雅黑" panose="020B0503020204020204" pitchFamily="34" charset="-122"/>
            </a:endParaRPr>
          </a:p>
          <a:p>
            <a:pPr>
              <a:lnSpc>
                <a:spcPct val="90000"/>
              </a:lnSpc>
            </a:pPr>
            <a:r>
              <a:rPr lang="zh-CN" altLang="en-US" sz="2000" b="1" dirty="0">
                <a:solidFill>
                  <a:srgbClr val="11576A"/>
                </a:solidFill>
                <a:latin typeface="楷体" panose="02010609060101010101" pitchFamily="49" charset="-122"/>
                <a:ea typeface="楷体" panose="02010609060101010101" pitchFamily="49" charset="-122"/>
              </a:rPr>
              <a:t>例如 用户可将文件看作字节的集合。或者用户将文件看作记录的集合</a:t>
            </a:r>
            <a:endParaRPr lang="en-US" altLang="zh-CN" sz="2000" b="1" dirty="0">
              <a:solidFill>
                <a:srgbClr val="11576A"/>
              </a:solidFill>
              <a:latin typeface="楷体" panose="02010609060101010101" pitchFamily="49" charset="-122"/>
              <a:ea typeface="楷体" panose="02010609060101010101" pitchFamily="49" charset="-122"/>
            </a:endParaRPr>
          </a:p>
          <a:p>
            <a:pPr>
              <a:lnSpc>
                <a:spcPct val="90000"/>
              </a:lnSpc>
            </a:pPr>
            <a:r>
              <a:rPr lang="zh-CN" altLang="en-US" sz="2000"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微软雅黑" panose="020B0503020204020204" pitchFamily="34" charset="-122"/>
                <a:ea typeface="微软雅黑" panose="020B0503020204020204" pitchFamily="34" charset="-122"/>
              </a:rPr>
              <a:t> </a:t>
            </a:r>
            <a:r>
              <a:rPr lang="zh-CN" altLang="en-US" sz="2000" b="1" dirty="0">
                <a:solidFill>
                  <a:srgbClr val="FF0000"/>
                </a:solidFill>
                <a:latin typeface="微软雅黑" panose="020B0503020204020204" pitchFamily="34" charset="-122"/>
                <a:ea typeface="微软雅黑" panose="020B0503020204020204" pitchFamily="34" charset="-122"/>
              </a:rPr>
              <a:t>系统实现的观点（文件的物理结构）</a:t>
            </a:r>
            <a:endParaRPr lang="en-US" altLang="zh-CN" sz="2000" b="1" dirty="0">
              <a:solidFill>
                <a:srgbClr val="11576A"/>
              </a:solidFill>
              <a:latin typeface="微软雅黑" panose="020B0503020204020204" pitchFamily="34" charset="-122"/>
              <a:ea typeface="微软雅黑" panose="020B0503020204020204" pitchFamily="34" charset="-122"/>
            </a:endParaRPr>
          </a:p>
          <a:p>
            <a:pPr>
              <a:lnSpc>
                <a:spcPct val="90000"/>
              </a:lnSpc>
            </a:pPr>
            <a:r>
              <a:rPr lang="zh-CN" altLang="en-US" sz="2000" b="1" dirty="0">
                <a:solidFill>
                  <a:srgbClr val="11576A"/>
                </a:solidFill>
                <a:latin typeface="微软雅黑" panose="020B0503020204020204" pitchFamily="34" charset="-122"/>
                <a:ea typeface="微软雅黑" panose="020B0503020204020204" pitchFamily="34" charset="-122"/>
              </a:rPr>
              <a:t>主要研究驻留在存储介质上的文件的结构。</a:t>
            </a:r>
            <a:endParaRPr lang="en-US" altLang="zh-CN" sz="2000" b="1" dirty="0">
              <a:solidFill>
                <a:srgbClr val="11576A"/>
              </a:solidFill>
              <a:latin typeface="微软雅黑" panose="020B0503020204020204" pitchFamily="34" charset="-122"/>
              <a:ea typeface="微软雅黑" panose="020B0503020204020204" pitchFamily="34" charset="-122"/>
            </a:endParaRPr>
          </a:p>
          <a:p>
            <a:pPr>
              <a:lnSpc>
                <a:spcPct val="90000"/>
              </a:lnSpc>
            </a:pPr>
            <a:r>
              <a:rPr lang="zh-CN" altLang="en-US" sz="2000" b="1" dirty="0">
                <a:solidFill>
                  <a:srgbClr val="11576A"/>
                </a:solidFill>
                <a:latin typeface="微软雅黑" panose="020B0503020204020204" pitchFamily="34" charset="-122"/>
                <a:ea typeface="微软雅黑" panose="020B0503020204020204" pitchFamily="34" charset="-122"/>
              </a:rPr>
              <a:t>文件的各个字节在存储介质上是如何摆放的 </a:t>
            </a:r>
          </a:p>
        </p:txBody>
      </p:sp>
      <p:sp>
        <p:nvSpPr>
          <p:cNvPr id="5"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文件的结构</a:t>
            </a:r>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85786" y="928676"/>
            <a:ext cx="7715304" cy="2856230"/>
          </a:xfrm>
          <a:prstGeom prst="rect">
            <a:avLst/>
          </a:prstGeom>
        </p:spPr>
        <p:txBody>
          <a:bodyPr wrap="squar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有结构文件</a:t>
            </a:r>
            <a:r>
              <a:rPr lang="zh-CN" altLang="en-US" sz="2000" b="1" dirty="0">
                <a:solidFill>
                  <a:srgbClr val="11576A"/>
                </a:solidFill>
                <a:latin typeface="微软雅黑" panose="020B0503020204020204" pitchFamily="34" charset="-122"/>
                <a:ea typeface="微软雅黑" panose="020B0503020204020204" pitchFamily="34" charset="-122"/>
              </a:rPr>
              <a:t>：由一个以上的记录构成的文件，又称为记录式文件。</a:t>
            </a:r>
            <a:endParaRPr lang="en-US" altLang="zh-CN" sz="2000" b="1" dirty="0">
              <a:solidFill>
                <a:srgbClr val="11576A"/>
              </a:solidFill>
              <a:latin typeface="微软雅黑" panose="020B0503020204020204" pitchFamily="34" charset="-122"/>
              <a:ea typeface="微软雅黑" panose="020B0503020204020204" pitchFamily="34" charset="-122"/>
            </a:endParaRPr>
          </a:p>
          <a:p>
            <a:r>
              <a:rPr lang="zh-CN" altLang="en-US" sz="2000" b="1" dirty="0">
                <a:solidFill>
                  <a:srgbClr val="11576A"/>
                </a:solidFill>
                <a:latin typeface="微软雅黑" panose="020B0503020204020204" pitchFamily="34" charset="-122"/>
                <a:ea typeface="微软雅黑" panose="020B0503020204020204" pitchFamily="34" charset="-122"/>
              </a:rPr>
              <a:t>每个记录都用于描述实体集合中的一个实体，各记录有着相同或不同数目的数据项。记录的长度可分为定长和不定长两类。</a:t>
            </a:r>
          </a:p>
          <a:p>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FF0000"/>
                </a:solidFill>
                <a:latin typeface="微软雅黑" panose="020B0503020204020204" pitchFamily="34" charset="-122"/>
                <a:ea typeface="微软雅黑" panose="020B0503020204020204" pitchFamily="34" charset="-122"/>
                <a:sym typeface="+mn-ea"/>
              </a:rPr>
              <a:t>无结构文件</a:t>
            </a:r>
            <a:r>
              <a:rPr lang="zh-CN" altLang="en-US" sz="2000" b="1" dirty="0">
                <a:solidFill>
                  <a:srgbClr val="11576A"/>
                </a:solidFill>
                <a:latin typeface="微软雅黑" panose="020B0503020204020204" pitchFamily="34" charset="-122"/>
                <a:ea typeface="微软雅黑" panose="020B0503020204020204" pitchFamily="34" charset="-122"/>
                <a:sym typeface="+mn-ea"/>
              </a:rPr>
              <a:t>：由字符流构成的文件，又称为流式文件。</a:t>
            </a:r>
            <a:endParaRPr lang="zh-CN" altLang="en-US" sz="2000" b="1" dirty="0">
              <a:solidFill>
                <a:srgbClr val="11576A"/>
              </a:solidFill>
              <a:latin typeface="微软雅黑" panose="020B0503020204020204" pitchFamily="34" charset="-122"/>
              <a:ea typeface="微软雅黑" panose="020B0503020204020204" pitchFamily="34" charset="-122"/>
            </a:endParaRPr>
          </a:p>
          <a:p>
            <a:r>
              <a:rPr lang="zh-CN" altLang="en-US" sz="2000" b="1" dirty="0">
                <a:solidFill>
                  <a:srgbClr val="11576A"/>
                </a:solidFill>
                <a:latin typeface="楷体" panose="02010609060101010101" pitchFamily="49" charset="-122"/>
                <a:ea typeface="楷体" panose="02010609060101010101" pitchFamily="49" charset="-122"/>
                <a:sym typeface="+mn-ea"/>
              </a:rPr>
              <a:t>例子：源代码、可执行文件、库函数等。</a:t>
            </a:r>
            <a:endParaRPr lang="zh-CN" altLang="en-US" sz="2000" b="1" dirty="0">
              <a:solidFill>
                <a:srgbClr val="11576A"/>
              </a:solidFill>
              <a:latin typeface="楷体" panose="02010609060101010101" pitchFamily="49" charset="-122"/>
              <a:ea typeface="楷体" panose="02010609060101010101" pitchFamily="49" charset="-122"/>
            </a:endParaRPr>
          </a:p>
          <a:p>
            <a:r>
              <a:rPr lang="zh-CN" altLang="en-US" sz="2000" b="1" dirty="0">
                <a:solidFill>
                  <a:srgbClr val="11576A"/>
                </a:solidFill>
                <a:latin typeface="楷体" panose="02010609060101010101" pitchFamily="49" charset="-122"/>
                <a:ea typeface="楷体" panose="02010609060101010101" pitchFamily="49" charset="-122"/>
                <a:sym typeface="+mn-ea"/>
              </a:rPr>
              <a:t>长度以字节为单位。</a:t>
            </a:r>
            <a:endParaRPr lang="zh-CN" altLang="en-US" sz="2000" b="1" dirty="0">
              <a:solidFill>
                <a:srgbClr val="11576A"/>
              </a:solidFill>
              <a:latin typeface="楷体" panose="02010609060101010101" pitchFamily="49" charset="-122"/>
              <a:ea typeface="楷体" panose="02010609060101010101" pitchFamily="49" charset="-122"/>
            </a:endParaRPr>
          </a:p>
          <a:p>
            <a:r>
              <a:rPr lang="zh-CN" altLang="en-US" sz="2000" b="1" dirty="0">
                <a:solidFill>
                  <a:srgbClr val="11576A"/>
                </a:solidFill>
                <a:latin typeface="楷体" panose="02010609060101010101" pitchFamily="49" charset="-122"/>
                <a:ea typeface="楷体" panose="02010609060101010101" pitchFamily="49" charset="-122"/>
                <a:sym typeface="+mn-ea"/>
              </a:rPr>
              <a:t>采用指针来指出下一个要访问的字符。</a:t>
            </a:r>
            <a:endParaRPr lang="zh-CN" altLang="en-US" sz="2000" b="1" dirty="0">
              <a:solidFill>
                <a:srgbClr val="11576A"/>
              </a:solidFill>
              <a:latin typeface="楷体" panose="02010609060101010101" pitchFamily="49" charset="-122"/>
              <a:ea typeface="楷体" panose="02010609060101010101" pitchFamily="49" charset="-122"/>
            </a:endParaRPr>
          </a:p>
          <a:p>
            <a:r>
              <a:rPr lang="zh-CN" altLang="en-US" sz="2000" b="1" dirty="0">
                <a:solidFill>
                  <a:srgbClr val="11576A"/>
                </a:solidFill>
                <a:latin typeface="楷体" panose="02010609060101010101" pitchFamily="49" charset="-122"/>
                <a:ea typeface="楷体" panose="02010609060101010101" pitchFamily="49" charset="-122"/>
                <a:sym typeface="+mn-ea"/>
              </a:rPr>
              <a:t>在</a:t>
            </a:r>
            <a:r>
              <a:rPr lang="en-US" altLang="zh-CN" sz="2000" b="1" dirty="0">
                <a:solidFill>
                  <a:srgbClr val="11576A"/>
                </a:solidFill>
                <a:latin typeface="楷体" panose="02010609060101010101" pitchFamily="49" charset="-122"/>
                <a:ea typeface="楷体" panose="02010609060101010101" pitchFamily="49" charset="-122"/>
                <a:sym typeface="+mn-ea"/>
              </a:rPr>
              <a:t>UNIX</a:t>
            </a:r>
            <a:r>
              <a:rPr lang="zh-CN" altLang="en-US" sz="2000" b="1" dirty="0">
                <a:solidFill>
                  <a:srgbClr val="11576A"/>
                </a:solidFill>
                <a:latin typeface="楷体" panose="02010609060101010101" pitchFamily="49" charset="-122"/>
                <a:ea typeface="楷体" panose="02010609060101010101" pitchFamily="49" charset="-122"/>
                <a:sym typeface="+mn-ea"/>
              </a:rPr>
              <a:t>系统中，所有的文件都被看做是流式文件，即使是有结构文件，也被视为流式文件，系统不对文件进行格式处理。</a:t>
            </a:r>
            <a:endParaRPr lang="en-US" altLang="zh-CN" sz="2000" b="1" dirty="0">
              <a:solidFill>
                <a:srgbClr val="11576A"/>
              </a:solidFill>
              <a:latin typeface="微软雅黑" panose="020B0503020204020204" pitchFamily="34" charset="-122"/>
              <a:ea typeface="微软雅黑" panose="020B0503020204020204" pitchFamily="34" charset="-122"/>
            </a:endParaRPr>
          </a:p>
        </p:txBody>
      </p:sp>
      <p:sp>
        <p:nvSpPr>
          <p:cNvPr id="4"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文件的逻辑结构</a:t>
            </a: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85786" y="928676"/>
            <a:ext cx="7572428" cy="2551430"/>
          </a:xfrm>
          <a:prstGeom prst="rect">
            <a:avLst/>
          </a:prstGeom>
        </p:spPr>
        <p:txBody>
          <a:bodyPr wrap="squar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FF0000"/>
                </a:solidFill>
                <a:latin typeface="微软雅黑" panose="020B0503020204020204" pitchFamily="34" charset="-122"/>
                <a:ea typeface="微软雅黑" panose="020B0503020204020204" pitchFamily="34" charset="-122"/>
                <a:sym typeface="+mn-ea"/>
              </a:rPr>
              <a:t>顺序文件</a:t>
            </a:r>
            <a:r>
              <a:rPr lang="zh-CN" altLang="en-US" sz="2000" b="1" dirty="0">
                <a:solidFill>
                  <a:srgbClr val="11576A"/>
                </a:solidFill>
                <a:latin typeface="微软雅黑" panose="020B0503020204020204" pitchFamily="34" charset="-122"/>
                <a:ea typeface="微软雅黑" panose="020B0503020204020204" pitchFamily="34" charset="-122"/>
                <a:sym typeface="+mn-ea"/>
              </a:rPr>
              <a:t>：由一系列记录按某种顺序排列所形成的文件。记录通常定长，查找速度较快</a:t>
            </a:r>
            <a:endParaRPr lang="en-US" altLang="zh-CN" sz="2000" b="1" dirty="0">
              <a:solidFill>
                <a:srgbClr val="11576A"/>
              </a:solidFill>
              <a:latin typeface="微软雅黑" panose="020B0503020204020204" pitchFamily="34" charset="-122"/>
              <a:ea typeface="微软雅黑" panose="020B0503020204020204" pitchFamily="34" charset="-122"/>
            </a:endParaRPr>
          </a:p>
          <a:p>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FF0000"/>
                </a:solidFill>
                <a:latin typeface="微软雅黑" panose="020B0503020204020204" pitchFamily="34" charset="-122"/>
                <a:ea typeface="微软雅黑" panose="020B0503020204020204" pitchFamily="34" charset="-122"/>
                <a:sym typeface="+mn-ea"/>
              </a:rPr>
              <a:t>索引文件</a:t>
            </a:r>
            <a:r>
              <a:rPr lang="zh-CN" altLang="en-US" sz="2000" b="1" dirty="0">
                <a:solidFill>
                  <a:srgbClr val="11576A"/>
                </a:solidFill>
                <a:latin typeface="微软雅黑" panose="020B0503020204020204" pitchFamily="34" charset="-122"/>
                <a:ea typeface="微软雅黑" panose="020B0503020204020204" pitchFamily="34" charset="-122"/>
                <a:sym typeface="+mn-ea"/>
              </a:rPr>
              <a:t>：当记录为可变长度时，通常为之建立一张索引表，并为每个记录设置一个表项，以加快对记录检索的速度。</a:t>
            </a:r>
            <a:endParaRPr lang="en-US" altLang="zh-CN" sz="2000" b="1" dirty="0">
              <a:solidFill>
                <a:srgbClr val="11576A"/>
              </a:solidFill>
              <a:latin typeface="微软雅黑" panose="020B0503020204020204" pitchFamily="34" charset="-122"/>
              <a:ea typeface="微软雅黑" panose="020B0503020204020204" pitchFamily="34" charset="-122"/>
            </a:endParaRPr>
          </a:p>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索引顺序文件</a:t>
            </a:r>
            <a:r>
              <a:rPr lang="zh-CN" altLang="en-US" sz="2000" b="1" dirty="0">
                <a:solidFill>
                  <a:srgbClr val="11576A"/>
                </a:solidFill>
                <a:latin typeface="微软雅黑" panose="020B0503020204020204" pitchFamily="34" charset="-122"/>
                <a:ea typeface="微软雅黑" panose="020B0503020204020204" pitchFamily="34" charset="-122"/>
              </a:rPr>
              <a:t>：为文件建立一张索引表，为每一组记录中的第一个记录设置一个表项。文件中的记录。</a:t>
            </a:r>
          </a:p>
          <a:p>
            <a:endParaRPr lang="zh-CN" altLang="en-US" sz="2000" b="1" dirty="0">
              <a:solidFill>
                <a:srgbClr val="11576A"/>
              </a:solidFill>
              <a:latin typeface="楷体" panose="02010609060101010101" pitchFamily="49" charset="-122"/>
              <a:ea typeface="楷体" panose="02010609060101010101" pitchFamily="49" charset="-122"/>
            </a:endParaRPr>
          </a:p>
          <a:p>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文件的逻辑结构</a:t>
            </a:r>
          </a:p>
        </p:txBody>
      </p:sp>
      <p:sp>
        <p:nvSpPr>
          <p:cNvPr id="4" name="Text Box 3"/>
          <p:cNvSpPr txBox="1"/>
          <p:nvPr/>
        </p:nvSpPr>
        <p:spPr>
          <a:xfrm>
            <a:off x="251460" y="555625"/>
            <a:ext cx="1338828" cy="369332"/>
          </a:xfrm>
          <a:prstGeom prst="rect">
            <a:avLst/>
          </a:prstGeom>
          <a:noFill/>
        </p:spPr>
        <p:txBody>
          <a:bodyPr wrap="none" rtlCol="0" anchor="t">
            <a:spAutoFit/>
          </a:bodyPr>
          <a:lstStyle/>
          <a:p>
            <a:r>
              <a:rPr lang="zh-CN" altLang="en-US" b="1" dirty="0">
                <a:solidFill>
                  <a:srgbClr val="FF0000"/>
                </a:solidFill>
                <a:latin typeface="微软雅黑" panose="020B0503020204020204" pitchFamily="34" charset="-122"/>
                <a:ea typeface="微软雅黑" panose="020B0503020204020204" pitchFamily="34" charset="-122"/>
                <a:sym typeface="+mn-ea"/>
              </a:rPr>
              <a:t>有结构文件</a:t>
            </a:r>
            <a:endParaRPr lang="en-US"/>
          </a:p>
        </p:txBody>
      </p:sp>
      <p:pic>
        <p:nvPicPr>
          <p:cNvPr id="1026" name="Picture 2"/>
          <p:cNvPicPr>
            <a:picLocks noChangeAspect="1" noChangeArrowheads="1"/>
          </p:cNvPicPr>
          <p:nvPr/>
        </p:nvPicPr>
        <p:blipFill>
          <a:blip r:embed="rId2"/>
          <a:srcRect/>
          <a:stretch>
            <a:fillRect/>
          </a:stretch>
        </p:blipFill>
        <p:spPr bwMode="auto">
          <a:xfrm>
            <a:off x="2268525" y="2931715"/>
            <a:ext cx="4286248" cy="1946990"/>
          </a:xfrm>
          <a:prstGeom prst="rect">
            <a:avLst/>
          </a:prstGeom>
          <a:noFill/>
          <a:ln w="9525">
            <a:noFill/>
            <a:miter lim="800000"/>
            <a:headEnd/>
            <a:tailEnd/>
          </a:ln>
          <a:effectLst/>
        </p:spPr>
      </p:pic>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71472" y="785801"/>
            <a:ext cx="8072494" cy="3785652"/>
          </a:xfrm>
          <a:prstGeom prst="rect">
            <a:avLst/>
          </a:prstGeom>
        </p:spPr>
        <p:txBody>
          <a:bodyPr wrap="squar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顺序结构</a:t>
            </a:r>
            <a:r>
              <a:rPr lang="zh-CN" altLang="en-US" sz="2000" b="1" dirty="0">
                <a:solidFill>
                  <a:srgbClr val="11576A"/>
                </a:solidFill>
                <a:latin typeface="微软雅黑" panose="020B0503020204020204" pitchFamily="34" charset="-122"/>
                <a:ea typeface="微软雅黑" panose="020B0503020204020204" pitchFamily="34" charset="-122"/>
              </a:rPr>
              <a:t>：所有记录按关键字排列。</a:t>
            </a:r>
            <a:endParaRPr lang="en-US" altLang="zh-CN" sz="2000" b="1" dirty="0">
              <a:solidFill>
                <a:srgbClr val="11576A"/>
              </a:solidFill>
              <a:latin typeface="微软雅黑" panose="020B0503020204020204" pitchFamily="34" charset="-122"/>
              <a:ea typeface="微软雅黑" panose="020B0503020204020204" pitchFamily="34" charset="-122"/>
            </a:endParaRPr>
          </a:p>
          <a:p>
            <a:r>
              <a:rPr lang="zh-CN" altLang="en-US" b="1" dirty="0">
                <a:solidFill>
                  <a:srgbClr val="11576A"/>
                </a:solidFill>
                <a:latin typeface="微软雅黑" panose="020B0503020204020204" pitchFamily="34" charset="-122"/>
                <a:ea typeface="微软雅黑" panose="020B0503020204020204" pitchFamily="34" charset="-122"/>
              </a:rPr>
              <a:t>对顺序结构文件可有更高的检索效率，对顺序结构文件，可利用某种有效的查找算法，</a:t>
            </a:r>
            <a:r>
              <a:rPr lang="zh-CN" altLang="en-US" b="1" dirty="0">
                <a:solidFill>
                  <a:srgbClr val="11576A"/>
                </a:solidFill>
                <a:latin typeface="楷体" panose="02010609060101010101" pitchFamily="49" charset="-122"/>
                <a:ea typeface="楷体" panose="02010609060101010101" pitchFamily="49" charset="-122"/>
              </a:rPr>
              <a:t>如折半查找法、插值查找法、跳步查找法等方法来提高检索效率。</a:t>
            </a:r>
            <a:endParaRPr lang="en-US" altLang="zh-CN" b="1" dirty="0">
              <a:solidFill>
                <a:srgbClr val="11576A"/>
              </a:solidFill>
              <a:latin typeface="楷体" panose="02010609060101010101" pitchFamily="49" charset="-122"/>
              <a:ea typeface="楷体" panose="02010609060101010101" pitchFamily="49" charset="-122"/>
            </a:endParaRPr>
          </a:p>
          <a:p>
            <a:r>
              <a:rPr lang="zh-CN" altLang="en-US" b="1" dirty="0">
                <a:solidFill>
                  <a:srgbClr val="11576A"/>
                </a:solidFill>
                <a:latin typeface="楷体" panose="02010609060101010101" pitchFamily="49" charset="-122"/>
                <a:ea typeface="楷体" panose="02010609060101010101" pitchFamily="49" charset="-122"/>
              </a:rPr>
              <a:t>最佳应用场合是在对诸记录进行批量存取，以及磁带存取。</a:t>
            </a:r>
            <a:endParaRPr lang="en-US" altLang="zh-CN" b="1" dirty="0">
              <a:solidFill>
                <a:srgbClr val="11576A"/>
              </a:solidFill>
              <a:latin typeface="楷体" panose="02010609060101010101" pitchFamily="49" charset="-122"/>
              <a:ea typeface="楷体" panose="02010609060101010101" pitchFamily="49" charset="-122"/>
            </a:endParaRPr>
          </a:p>
          <a:p>
            <a:r>
              <a:rPr lang="zh-CN" altLang="en-US" b="1" dirty="0">
                <a:solidFill>
                  <a:srgbClr val="11576A"/>
                </a:solidFill>
                <a:latin typeface="微软雅黑" panose="020B0503020204020204" pitchFamily="34" charset="-122"/>
                <a:ea typeface="微软雅黑" panose="020B0503020204020204" pitchFamily="34" charset="-122"/>
              </a:rPr>
              <a:t>缺点：</a:t>
            </a:r>
            <a:endParaRPr lang="en-US" altLang="zh-CN" b="1" dirty="0">
              <a:solidFill>
                <a:srgbClr val="11576A"/>
              </a:solidFill>
              <a:latin typeface="微软雅黑" panose="020B0503020204020204" pitchFamily="34" charset="-122"/>
              <a:ea typeface="微软雅黑" panose="020B0503020204020204" pitchFamily="34" charset="-122"/>
            </a:endParaRPr>
          </a:p>
          <a:p>
            <a:pPr lvl="1"/>
            <a:r>
              <a:rPr lang="zh-CN" altLang="en-US" b="1" dirty="0">
                <a:solidFill>
                  <a:srgbClr val="11576A"/>
                </a:solidFill>
                <a:latin typeface="张海山锐谐体2.0-授权联系：Samtype@QQ.com" pitchFamily="2" charset="-122"/>
                <a:ea typeface="张海山锐谐体2.0-授权联系：Samtype@QQ.com" pitchFamily="2" charset="-122"/>
              </a:rPr>
              <a:t>■ </a:t>
            </a:r>
            <a:r>
              <a:rPr lang="zh-CN" altLang="en-US" b="1" dirty="0">
                <a:solidFill>
                  <a:srgbClr val="11576A"/>
                </a:solidFill>
                <a:latin typeface="微软雅黑" panose="020B0503020204020204" pitchFamily="34" charset="-122"/>
                <a:ea typeface="微软雅黑" panose="020B0503020204020204" pitchFamily="34" charset="-122"/>
              </a:rPr>
              <a:t>查找或修改单个记录，系统便要去逐个地查找记录，性能就可能很差，</a:t>
            </a:r>
            <a:r>
              <a:rPr lang="zh-CN" altLang="en-US" b="1" dirty="0">
                <a:solidFill>
                  <a:srgbClr val="11576A"/>
                </a:solidFill>
                <a:latin typeface="张海山锐谐体2.0-授权联系：Samtype@QQ.com" pitchFamily="2" charset="-122"/>
                <a:ea typeface="张海山锐谐体2.0-授权联系：Samtype@QQ.com" pitchFamily="2" charset="-122"/>
              </a:rPr>
              <a:t> ■ </a:t>
            </a:r>
            <a:r>
              <a:rPr lang="zh-CN" altLang="en-US" b="1" dirty="0">
                <a:solidFill>
                  <a:srgbClr val="11576A"/>
                </a:solidFill>
                <a:latin typeface="微软雅黑" panose="020B0503020204020204" pitchFamily="34" charset="-122"/>
                <a:ea typeface="微软雅黑" panose="020B0503020204020204" pitchFamily="34" charset="-122"/>
              </a:rPr>
              <a:t>当文件较大时，情况更为严重，限制了顺序文件的长度。</a:t>
            </a:r>
          </a:p>
          <a:p>
            <a:pPr lvl="1"/>
            <a:r>
              <a:rPr lang="zh-CN" altLang="en-US" b="1" dirty="0">
                <a:solidFill>
                  <a:srgbClr val="11576A"/>
                </a:solidFill>
                <a:latin typeface="张海山锐谐体2.0-授权联系：Samtype@QQ.com" pitchFamily="2" charset="-122"/>
                <a:ea typeface="张海山锐谐体2.0-授权联系：Samtype@QQ.com" pitchFamily="2" charset="-122"/>
              </a:rPr>
              <a:t>■ </a:t>
            </a:r>
            <a:r>
              <a:rPr lang="zh-CN" altLang="en-US" b="1" dirty="0">
                <a:solidFill>
                  <a:srgbClr val="11576A"/>
                </a:solidFill>
                <a:latin typeface="微软雅黑" panose="020B0503020204020204" pitchFamily="34" charset="-122"/>
                <a:ea typeface="微软雅黑" panose="020B0503020204020204" pitchFamily="34" charset="-122"/>
              </a:rPr>
              <a:t>如果想增加或删除一个记录都比较困难。</a:t>
            </a:r>
            <a:endParaRPr lang="en-US" altLang="zh-CN" b="1" dirty="0">
              <a:solidFill>
                <a:srgbClr val="11576A"/>
              </a:solidFill>
              <a:latin typeface="微软雅黑" panose="020B0503020204020204" pitchFamily="34" charset="-122"/>
              <a:ea typeface="微软雅黑" panose="020B0503020204020204" pitchFamily="34" charset="-122"/>
            </a:endParaRPr>
          </a:p>
          <a:p>
            <a:pPr lvl="1"/>
            <a:r>
              <a:rPr lang="zh-CN" altLang="en-US" b="1" dirty="0">
                <a:solidFill>
                  <a:srgbClr val="11576A"/>
                </a:solidFill>
                <a:latin typeface="微软雅黑" panose="020B0503020204020204" pitchFamily="34" charset="-122"/>
                <a:ea typeface="微软雅黑" panose="020B0503020204020204" pitchFamily="34" charset="-122"/>
              </a:rPr>
              <a:t>解决办法：为顺序文件配置一个运行记录</a:t>
            </a:r>
            <a:r>
              <a:rPr lang="x-none" altLang="zh-CN" b="1" dirty="0">
                <a:solidFill>
                  <a:srgbClr val="FF0000"/>
                </a:solidFill>
                <a:latin typeface="微软雅黑" panose="020B0503020204020204" pitchFamily="34" charset="-122"/>
                <a:ea typeface="微软雅黑" panose="020B0503020204020204" pitchFamily="34" charset="-122"/>
              </a:rPr>
              <a:t>日志</a:t>
            </a:r>
            <a:r>
              <a:rPr lang="zh-CN" altLang="en-US" b="1" dirty="0">
                <a:solidFill>
                  <a:srgbClr val="FF0000"/>
                </a:solidFill>
                <a:latin typeface="微软雅黑" panose="020B0503020204020204" pitchFamily="34" charset="-122"/>
                <a:ea typeface="微软雅黑" panose="020B0503020204020204" pitchFamily="34" charset="-122"/>
              </a:rPr>
              <a:t>文件</a:t>
            </a:r>
            <a:r>
              <a:rPr lang="zh-CN" altLang="en-US" b="1" dirty="0">
                <a:solidFill>
                  <a:srgbClr val="11576A"/>
                </a:solidFill>
                <a:latin typeface="微软雅黑" panose="020B0503020204020204" pitchFamily="34" charset="-122"/>
                <a:ea typeface="微软雅黑" panose="020B0503020204020204" pitchFamily="34" charset="-122"/>
              </a:rPr>
              <a:t>，或</a:t>
            </a:r>
            <a:r>
              <a:rPr lang="zh-CN" altLang="en-US" b="1" dirty="0">
                <a:solidFill>
                  <a:srgbClr val="FF0000"/>
                </a:solidFill>
                <a:latin typeface="微软雅黑" panose="020B0503020204020204" pitchFamily="34" charset="-122"/>
                <a:ea typeface="微软雅黑" panose="020B0503020204020204" pitchFamily="34" charset="-122"/>
              </a:rPr>
              <a:t>事务文件</a:t>
            </a:r>
            <a:r>
              <a:rPr lang="zh-CN" altLang="en-US" b="1" dirty="0">
                <a:solidFill>
                  <a:srgbClr val="11576A"/>
                </a:solidFill>
                <a:latin typeface="微软雅黑" panose="020B0503020204020204" pitchFamily="34" charset="-122"/>
                <a:ea typeface="微软雅黑" panose="020B0503020204020204" pitchFamily="34" charset="-122"/>
              </a:rPr>
              <a:t>，把试图增加、删除或修改的信息记录下来，每隔一定时间，将运行记录文件与原来的主文件加以合并，产生一个按关键字排序的新文件。</a:t>
            </a:r>
            <a:endParaRPr lang="en-US" altLang="zh-CN" b="1" dirty="0">
              <a:solidFill>
                <a:srgbClr val="11576A"/>
              </a:solidFill>
              <a:latin typeface="微软雅黑" panose="020B0503020204020204" pitchFamily="34" charset="-122"/>
              <a:ea typeface="微软雅黑" panose="020B0503020204020204" pitchFamily="34" charset="-122"/>
            </a:endParaRPr>
          </a:p>
          <a:p>
            <a:endParaRPr lang="en-US" altLang="zh-CN" sz="2000" b="1" dirty="0">
              <a:solidFill>
                <a:srgbClr val="11576A"/>
              </a:solidFill>
              <a:latin typeface="微软雅黑" panose="020B0503020204020204" pitchFamily="34" charset="-122"/>
              <a:ea typeface="微软雅黑" panose="020B0503020204020204" pitchFamily="34" charset="-122"/>
            </a:endParaRPr>
          </a:p>
          <a:p>
            <a:endParaRPr lang="en-US" altLang="zh-CN" sz="2000" b="1" dirty="0">
              <a:solidFill>
                <a:srgbClr val="11576A"/>
              </a:solidFill>
              <a:latin typeface="微软雅黑" panose="020B0503020204020204" pitchFamily="34" charset="-122"/>
              <a:ea typeface="微软雅黑" panose="020B0503020204020204" pitchFamily="34" charset="-122"/>
            </a:endParaRPr>
          </a:p>
        </p:txBody>
      </p:sp>
      <p:sp>
        <p:nvSpPr>
          <p:cNvPr id="3"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顺序文件</a:t>
            </a: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索引文件</a:t>
            </a:r>
          </a:p>
        </p:txBody>
      </p:sp>
      <p:sp>
        <p:nvSpPr>
          <p:cNvPr id="3" name="矩形 2"/>
          <p:cNvSpPr/>
          <p:nvPr/>
        </p:nvSpPr>
        <p:spPr>
          <a:xfrm>
            <a:off x="857224" y="785800"/>
            <a:ext cx="7572428" cy="1015663"/>
          </a:xfrm>
          <a:prstGeom prst="rect">
            <a:avLst/>
          </a:prstGeom>
        </p:spPr>
        <p:txBody>
          <a:bodyPr wrap="squar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11576A"/>
                </a:solidFill>
                <a:latin typeface="微软雅黑" panose="020B0503020204020204" pitchFamily="34" charset="-122"/>
                <a:ea typeface="微软雅黑" panose="020B0503020204020204" pitchFamily="34" charset="-122"/>
              </a:rPr>
              <a:t>定长和非定长记录文件，某个记录的地址记录方式不同。</a:t>
            </a:r>
            <a:endParaRPr lang="en-US" altLang="zh-CN" sz="2000" b="1" dirty="0">
              <a:solidFill>
                <a:srgbClr val="11576A"/>
              </a:solidFill>
              <a:latin typeface="微软雅黑" panose="020B0503020204020204" pitchFamily="34" charset="-122"/>
              <a:ea typeface="微软雅黑" panose="020B0503020204020204" pitchFamily="34" charset="-122"/>
            </a:endParaRPr>
          </a:p>
          <a:p>
            <a:endParaRPr lang="zh-CN" altLang="en-US" sz="2000" b="1" dirty="0">
              <a:solidFill>
                <a:srgbClr val="11576A"/>
              </a:solidFill>
              <a:latin typeface="微软雅黑" panose="020B0503020204020204" pitchFamily="34" charset="-122"/>
              <a:ea typeface="微软雅黑" panose="020B0503020204020204" pitchFamily="34" charset="-122"/>
            </a:endParaRPr>
          </a:p>
          <a:p>
            <a:endParaRPr lang="en-US" altLang="zh-CN" sz="2000" b="1" dirty="0">
              <a:solidFill>
                <a:srgbClr val="11576A"/>
              </a:solidFill>
              <a:latin typeface="微软雅黑" panose="020B0503020204020204" pitchFamily="34" charset="-122"/>
              <a:ea typeface="微软雅黑" panose="020B0503020204020204" pitchFamily="34" charset="-122"/>
            </a:endParaRPr>
          </a:p>
        </p:txBody>
      </p:sp>
      <p:pic>
        <p:nvPicPr>
          <p:cNvPr id="4" name="Picture 2" descr="公式1"/>
          <p:cNvPicPr>
            <a:picLocks noChangeAspect="1"/>
          </p:cNvPicPr>
          <p:nvPr/>
        </p:nvPicPr>
        <p:blipFill>
          <a:blip r:embed="rId2">
            <a:clrChange>
              <a:clrFrom>
                <a:srgbClr val="FFFFFF"/>
              </a:clrFrom>
              <a:clrTo>
                <a:srgbClr val="FFFFFF">
                  <a:alpha val="0"/>
                </a:srgbClr>
              </a:clrTo>
            </a:clrChange>
          </a:blip>
          <a:stretch>
            <a:fillRect/>
          </a:stretch>
        </p:blipFill>
        <p:spPr>
          <a:xfrm>
            <a:off x="1857356" y="1183213"/>
            <a:ext cx="1305088" cy="388405"/>
          </a:xfrm>
          <a:prstGeom prst="rect">
            <a:avLst/>
          </a:prstGeom>
          <a:noFill/>
          <a:ln w="9525">
            <a:noFill/>
          </a:ln>
        </p:spPr>
      </p:pic>
      <p:pic>
        <p:nvPicPr>
          <p:cNvPr id="5" name="Picture 3" descr="公式2"/>
          <p:cNvPicPr>
            <a:picLocks noChangeAspect="1"/>
          </p:cNvPicPr>
          <p:nvPr/>
        </p:nvPicPr>
        <p:blipFill>
          <a:blip r:embed="rId3">
            <a:clrChange>
              <a:clrFrom>
                <a:srgbClr val="FFFFFF"/>
              </a:clrFrom>
              <a:clrTo>
                <a:srgbClr val="FFFFFF">
                  <a:alpha val="0"/>
                </a:srgbClr>
              </a:clrTo>
            </a:clrChange>
          </a:blip>
          <a:stretch>
            <a:fillRect/>
          </a:stretch>
        </p:blipFill>
        <p:spPr>
          <a:xfrm>
            <a:off x="4067156" y="1071552"/>
            <a:ext cx="1945493" cy="776810"/>
          </a:xfrm>
          <a:prstGeom prst="rect">
            <a:avLst/>
          </a:prstGeom>
          <a:noFill/>
          <a:ln w="9525">
            <a:noFill/>
          </a:ln>
        </p:spPr>
      </p:pic>
      <p:pic>
        <p:nvPicPr>
          <p:cNvPr id="6" name="Picture 2"/>
          <p:cNvPicPr>
            <a:picLocks noGrp="1" noChangeAspect="1"/>
          </p:cNvPicPr>
          <p:nvPr/>
        </p:nvPicPr>
        <p:blipFill>
          <a:blip r:embed="rId4">
            <a:clrChange>
              <a:clrFrom>
                <a:srgbClr val="FFFFFF"/>
              </a:clrFrom>
              <a:clrTo>
                <a:srgbClr val="FFFFFF">
                  <a:alpha val="0"/>
                </a:srgbClr>
              </a:clrTo>
            </a:clrChange>
          </a:blip>
          <a:stretch>
            <a:fillRect/>
          </a:stretch>
        </p:blipFill>
        <p:spPr>
          <a:xfrm>
            <a:off x="4467314" y="2928940"/>
            <a:ext cx="4330266" cy="1785950"/>
          </a:xfrm>
          <a:prstGeom prst="rect">
            <a:avLst/>
          </a:prstGeom>
          <a:noFill/>
          <a:ln w="9525">
            <a:noFill/>
          </a:ln>
        </p:spPr>
      </p:pic>
      <p:grpSp>
        <p:nvGrpSpPr>
          <p:cNvPr id="7" name="组合 6"/>
          <p:cNvGrpSpPr/>
          <p:nvPr/>
        </p:nvGrpSpPr>
        <p:grpSpPr>
          <a:xfrm>
            <a:off x="2428860" y="2732097"/>
            <a:ext cx="1643074" cy="2272760"/>
            <a:chOff x="4167185" y="1339394"/>
            <a:chExt cx="3041996" cy="3617615"/>
          </a:xfrm>
        </p:grpSpPr>
        <p:sp>
          <p:nvSpPr>
            <p:cNvPr id="8" name="矩形 7"/>
            <p:cNvSpPr/>
            <p:nvPr/>
          </p:nvSpPr>
          <p:spPr>
            <a:xfrm>
              <a:off x="4214810" y="1339394"/>
              <a:ext cx="2916000" cy="3168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9" name="矩形 8"/>
            <p:cNvSpPr/>
            <p:nvPr/>
          </p:nvSpPr>
          <p:spPr>
            <a:xfrm>
              <a:off x="4214810" y="2025878"/>
              <a:ext cx="2916000" cy="35719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cxnSp>
          <p:nvCxnSpPr>
            <p:cNvPr id="10" name="直接连接符 9"/>
            <p:cNvCxnSpPr/>
            <p:nvPr/>
          </p:nvCxnSpPr>
          <p:spPr>
            <a:xfrm rot="5400000">
              <a:off x="5179223" y="2204473"/>
              <a:ext cx="35719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6465901" y="2204473"/>
              <a:ext cx="35719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167185" y="2025878"/>
              <a:ext cx="1223999" cy="364248"/>
            </a:xfrm>
            <a:prstGeom prst="rect">
              <a:avLst/>
            </a:prstGeom>
            <a:noFill/>
          </p:spPr>
          <p:txBody>
            <a:bodyPr wrap="none" rtlCol="0">
              <a:spAutoFit/>
            </a:bodyPr>
            <a:lstStyle/>
            <a:p>
              <a:r>
                <a:rPr lang="en-US" altLang="zh-CN" sz="1200" b="1" spc="-100" dirty="0" err="1">
                  <a:solidFill>
                    <a:srgbClr val="11576A"/>
                  </a:solidFill>
                  <a:latin typeface="+mn-ea"/>
                </a:rPr>
                <a:t>Smith,John</a:t>
              </a:r>
              <a:endParaRPr lang="zh-CN" altLang="en-US" sz="1200" b="1" spc="-100" dirty="0">
                <a:solidFill>
                  <a:srgbClr val="11576A"/>
                </a:solidFill>
                <a:latin typeface="+mn-ea"/>
              </a:endParaRPr>
            </a:p>
          </p:txBody>
        </p:sp>
        <p:sp>
          <p:nvSpPr>
            <p:cNvPr id="13" name="TextBox 12"/>
            <p:cNvSpPr txBox="1"/>
            <p:nvPr/>
          </p:nvSpPr>
          <p:spPr>
            <a:xfrm>
              <a:off x="5319719" y="2025878"/>
              <a:ext cx="1333014" cy="364248"/>
            </a:xfrm>
            <a:prstGeom prst="rect">
              <a:avLst/>
            </a:prstGeom>
            <a:noFill/>
          </p:spPr>
          <p:txBody>
            <a:bodyPr wrap="none" rtlCol="0">
              <a:spAutoFit/>
            </a:bodyPr>
            <a:lstStyle/>
            <a:p>
              <a:r>
                <a:rPr lang="en-US" altLang="zh-CN" sz="1200" b="1" spc="-150" dirty="0">
                  <a:solidFill>
                    <a:srgbClr val="11576A"/>
                  </a:solidFill>
                  <a:latin typeface="+mn-ea"/>
                </a:rPr>
                <a:t>social-security</a:t>
              </a:r>
              <a:endParaRPr lang="zh-CN" altLang="en-US" sz="1200" b="1" spc="-150" dirty="0">
                <a:solidFill>
                  <a:srgbClr val="11576A"/>
                </a:solidFill>
                <a:latin typeface="+mn-ea"/>
              </a:endParaRPr>
            </a:p>
          </p:txBody>
        </p:sp>
        <p:sp>
          <p:nvSpPr>
            <p:cNvPr id="14" name="TextBox 13"/>
            <p:cNvSpPr txBox="1"/>
            <p:nvPr/>
          </p:nvSpPr>
          <p:spPr>
            <a:xfrm>
              <a:off x="6643702" y="2025878"/>
              <a:ext cx="565479" cy="364248"/>
            </a:xfrm>
            <a:prstGeom prst="rect">
              <a:avLst/>
            </a:prstGeom>
            <a:noFill/>
          </p:spPr>
          <p:txBody>
            <a:bodyPr wrap="none" rtlCol="0">
              <a:spAutoFit/>
            </a:bodyPr>
            <a:lstStyle/>
            <a:p>
              <a:r>
                <a:rPr lang="en-US" altLang="zh-CN" sz="1200" b="1" spc="-100" dirty="0">
                  <a:solidFill>
                    <a:srgbClr val="11576A"/>
                  </a:solidFill>
                  <a:latin typeface="+mn-ea"/>
                </a:rPr>
                <a:t>age</a:t>
              </a:r>
              <a:endParaRPr lang="zh-CN" altLang="en-US" sz="1200" b="1" spc="-100" dirty="0">
                <a:solidFill>
                  <a:srgbClr val="11576A"/>
                </a:solidFill>
                <a:latin typeface="+mn-ea"/>
              </a:endParaRPr>
            </a:p>
          </p:txBody>
        </p:sp>
        <p:sp>
          <p:nvSpPr>
            <p:cNvPr id="15" name="TextBox 14"/>
            <p:cNvSpPr txBox="1"/>
            <p:nvPr/>
          </p:nvSpPr>
          <p:spPr>
            <a:xfrm>
              <a:off x="5000627" y="4500151"/>
              <a:ext cx="1467202" cy="456858"/>
            </a:xfrm>
            <a:prstGeom prst="rect">
              <a:avLst/>
            </a:prstGeom>
            <a:noFill/>
          </p:spPr>
          <p:txBody>
            <a:bodyPr wrap="none" rtlCol="0">
              <a:spAutoFit/>
            </a:bodyPr>
            <a:lstStyle/>
            <a:p>
              <a:r>
                <a:rPr lang="x-none" altLang="zh-CN" sz="1200" b="1" dirty="0">
                  <a:solidFill>
                    <a:srgbClr val="11576A"/>
                  </a:solidFill>
                  <a:latin typeface="+mn-ea"/>
                </a:rPr>
                <a:t>逻辑</a:t>
              </a:r>
              <a:r>
                <a:rPr lang="zh-CN" altLang="en-US" sz="1200" b="1" dirty="0">
                  <a:solidFill>
                    <a:srgbClr val="11576A"/>
                  </a:solidFill>
                  <a:latin typeface="+mn-ea"/>
                </a:rPr>
                <a:t>文件</a:t>
              </a:r>
            </a:p>
          </p:txBody>
        </p:sp>
      </p:grpSp>
      <p:sp>
        <p:nvSpPr>
          <p:cNvPr id="16" name="上箭头 15"/>
          <p:cNvSpPr/>
          <p:nvPr/>
        </p:nvSpPr>
        <p:spPr>
          <a:xfrm rot="2700000">
            <a:off x="2090220" y="3255379"/>
            <a:ext cx="121147" cy="1109694"/>
          </a:xfrm>
          <a:prstGeom prst="upArrow">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grpSp>
        <p:nvGrpSpPr>
          <p:cNvPr id="17" name="组合 16"/>
          <p:cNvGrpSpPr/>
          <p:nvPr/>
        </p:nvGrpSpPr>
        <p:grpSpPr>
          <a:xfrm>
            <a:off x="512720" y="2500312"/>
            <a:ext cx="1254426" cy="2508152"/>
            <a:chOff x="738161" y="964714"/>
            <a:chExt cx="2322450" cy="3992295"/>
          </a:xfrm>
        </p:grpSpPr>
        <p:grpSp>
          <p:nvGrpSpPr>
            <p:cNvPr id="18" name="组合 11"/>
            <p:cNvGrpSpPr/>
            <p:nvPr/>
          </p:nvGrpSpPr>
          <p:grpSpPr>
            <a:xfrm>
              <a:off x="785786" y="1303146"/>
              <a:ext cx="2143140" cy="391237"/>
              <a:chOff x="785786" y="1071552"/>
              <a:chExt cx="2143140" cy="391237"/>
            </a:xfrm>
          </p:grpSpPr>
          <p:sp>
            <p:nvSpPr>
              <p:cNvPr id="39" name="矩形 5"/>
              <p:cNvSpPr/>
              <p:nvPr/>
            </p:nvSpPr>
            <p:spPr>
              <a:xfrm>
                <a:off x="785786" y="1071552"/>
                <a:ext cx="2143140" cy="35719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cxnSp>
            <p:nvCxnSpPr>
              <p:cNvPr id="40" name="直接连接符 39"/>
              <p:cNvCxnSpPr>
                <a:stCxn id="37" idx="0"/>
                <a:endCxn id="37" idx="2"/>
              </p:cNvCxnSpPr>
              <p:nvPr/>
            </p:nvCxnSpPr>
            <p:spPr>
              <a:xfrm rot="16200000" flipH="1">
                <a:off x="1678761" y="1250147"/>
                <a:ext cx="35719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876274" y="1098541"/>
                <a:ext cx="949969" cy="364248"/>
              </a:xfrm>
              <a:prstGeom prst="rect">
                <a:avLst/>
              </a:prstGeom>
              <a:noFill/>
            </p:spPr>
            <p:txBody>
              <a:bodyPr wrap="none" rtlCol="0">
                <a:spAutoFit/>
              </a:bodyPr>
              <a:lstStyle/>
              <a:p>
                <a:r>
                  <a:rPr lang="en-US" altLang="zh-CN" sz="1200" b="1" dirty="0">
                    <a:solidFill>
                      <a:srgbClr val="11576A"/>
                    </a:solidFill>
                    <a:latin typeface="+mn-ea"/>
                  </a:rPr>
                  <a:t>Adams</a:t>
                </a:r>
                <a:endParaRPr lang="zh-CN" altLang="en-US" sz="1200" b="1" dirty="0">
                  <a:solidFill>
                    <a:srgbClr val="11576A"/>
                  </a:solidFill>
                  <a:latin typeface="+mn-ea"/>
                </a:endParaRPr>
              </a:p>
            </p:txBody>
          </p:sp>
        </p:grpSp>
        <p:grpSp>
          <p:nvGrpSpPr>
            <p:cNvPr id="19" name="组合 12"/>
            <p:cNvGrpSpPr/>
            <p:nvPr/>
          </p:nvGrpSpPr>
          <p:grpSpPr>
            <a:xfrm>
              <a:off x="785786" y="1660336"/>
              <a:ext cx="2143140" cy="391237"/>
              <a:chOff x="785786" y="1071552"/>
              <a:chExt cx="2143140" cy="391237"/>
            </a:xfrm>
          </p:grpSpPr>
          <p:sp>
            <p:nvSpPr>
              <p:cNvPr id="36" name="矩形 13"/>
              <p:cNvSpPr/>
              <p:nvPr/>
            </p:nvSpPr>
            <p:spPr>
              <a:xfrm>
                <a:off x="785786" y="1071552"/>
                <a:ext cx="2143140" cy="35719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cxnSp>
            <p:nvCxnSpPr>
              <p:cNvPr id="37" name="直接连接符 14"/>
              <p:cNvCxnSpPr/>
              <p:nvPr/>
            </p:nvCxnSpPr>
            <p:spPr>
              <a:xfrm rot="16200000" flipH="1">
                <a:off x="1678761" y="1250147"/>
                <a:ext cx="35719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38" name="TextBox 15"/>
              <p:cNvSpPr txBox="1"/>
              <p:nvPr/>
            </p:nvSpPr>
            <p:spPr>
              <a:xfrm>
                <a:off x="876274" y="1098541"/>
                <a:ext cx="926517" cy="364248"/>
              </a:xfrm>
              <a:prstGeom prst="rect">
                <a:avLst/>
              </a:prstGeom>
              <a:noFill/>
            </p:spPr>
            <p:txBody>
              <a:bodyPr wrap="none" rtlCol="0">
                <a:spAutoFit/>
              </a:bodyPr>
              <a:lstStyle/>
              <a:p>
                <a:r>
                  <a:rPr lang="en-US" altLang="zh-CN" sz="1200" b="1" dirty="0">
                    <a:solidFill>
                      <a:srgbClr val="11576A"/>
                    </a:solidFill>
                    <a:latin typeface="+mn-ea"/>
                  </a:rPr>
                  <a:t>Arthur</a:t>
                </a:r>
                <a:endParaRPr lang="zh-CN" altLang="en-US" sz="1200" b="1" dirty="0">
                  <a:solidFill>
                    <a:srgbClr val="11576A"/>
                  </a:solidFill>
                  <a:latin typeface="+mn-ea"/>
                </a:endParaRPr>
              </a:p>
            </p:txBody>
          </p:sp>
        </p:grpSp>
        <p:grpSp>
          <p:nvGrpSpPr>
            <p:cNvPr id="20" name="组合 16"/>
            <p:cNvGrpSpPr/>
            <p:nvPr/>
          </p:nvGrpSpPr>
          <p:grpSpPr>
            <a:xfrm>
              <a:off x="785786" y="2017526"/>
              <a:ext cx="2143140" cy="391237"/>
              <a:chOff x="785786" y="1071552"/>
              <a:chExt cx="2143140" cy="391237"/>
            </a:xfrm>
          </p:grpSpPr>
          <p:sp>
            <p:nvSpPr>
              <p:cNvPr id="33" name="矩形 32"/>
              <p:cNvSpPr/>
              <p:nvPr/>
            </p:nvSpPr>
            <p:spPr>
              <a:xfrm>
                <a:off x="785786" y="1071552"/>
                <a:ext cx="2143140" cy="35719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cxnSp>
            <p:nvCxnSpPr>
              <p:cNvPr id="34" name="直接连接符 33"/>
              <p:cNvCxnSpPr>
                <a:stCxn id="33" idx="0"/>
                <a:endCxn id="33" idx="2"/>
              </p:cNvCxnSpPr>
              <p:nvPr/>
            </p:nvCxnSpPr>
            <p:spPr>
              <a:xfrm rot="16200000" flipH="1">
                <a:off x="1678761" y="1250147"/>
                <a:ext cx="35719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933424" y="1098541"/>
                <a:ext cx="835259" cy="364248"/>
              </a:xfrm>
              <a:prstGeom prst="rect">
                <a:avLst/>
              </a:prstGeom>
              <a:noFill/>
            </p:spPr>
            <p:txBody>
              <a:bodyPr wrap="none" rtlCol="0">
                <a:spAutoFit/>
              </a:bodyPr>
              <a:lstStyle/>
              <a:p>
                <a:r>
                  <a:rPr lang="en-US" altLang="zh-CN" sz="1200" b="1" dirty="0">
                    <a:solidFill>
                      <a:srgbClr val="11576A"/>
                    </a:solidFill>
                    <a:latin typeface="+mn-ea"/>
                  </a:rPr>
                  <a:t>Asher</a:t>
                </a:r>
                <a:endParaRPr lang="zh-CN" altLang="en-US" sz="1200" b="1" dirty="0">
                  <a:solidFill>
                    <a:srgbClr val="11576A"/>
                  </a:solidFill>
                  <a:latin typeface="+mn-ea"/>
                </a:endParaRPr>
              </a:p>
            </p:txBody>
          </p:sp>
        </p:grpSp>
        <p:grpSp>
          <p:nvGrpSpPr>
            <p:cNvPr id="21" name="组合 20"/>
            <p:cNvGrpSpPr/>
            <p:nvPr/>
          </p:nvGrpSpPr>
          <p:grpSpPr>
            <a:xfrm>
              <a:off x="785786" y="2383069"/>
              <a:ext cx="2143140" cy="1057670"/>
              <a:chOff x="785786" y="1071552"/>
              <a:chExt cx="2143140" cy="357984"/>
            </a:xfrm>
          </p:grpSpPr>
          <p:sp>
            <p:nvSpPr>
              <p:cNvPr id="30" name="矩形 29"/>
              <p:cNvSpPr/>
              <p:nvPr/>
            </p:nvSpPr>
            <p:spPr>
              <a:xfrm>
                <a:off x="785786" y="1071552"/>
                <a:ext cx="2143140" cy="35719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cxnSp>
            <p:nvCxnSpPr>
              <p:cNvPr id="31" name="直接连接符 30"/>
              <p:cNvCxnSpPr>
                <a:stCxn id="30" idx="0"/>
                <a:endCxn id="30" idx="2"/>
              </p:cNvCxnSpPr>
              <p:nvPr/>
            </p:nvCxnSpPr>
            <p:spPr>
              <a:xfrm rot="16200000" flipH="1">
                <a:off x="1678761" y="1250147"/>
                <a:ext cx="35719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rot="5400000">
                <a:off x="1348177" y="1070774"/>
                <a:ext cx="147828" cy="367072"/>
              </a:xfrm>
              <a:prstGeom prst="rect">
                <a:avLst/>
              </a:prstGeom>
              <a:noFill/>
            </p:spPr>
            <p:txBody>
              <a:bodyPr wrap="none" rtlCol="0">
                <a:spAutoFit/>
              </a:bodyPr>
              <a:lstStyle/>
              <a:p>
                <a:r>
                  <a:rPr lang="en-US" altLang="zh-CN" sz="1200" b="1" dirty="0">
                    <a:solidFill>
                      <a:srgbClr val="11576A"/>
                    </a:solidFill>
                    <a:latin typeface="+mj-ea"/>
                    <a:ea typeface="+mj-ea"/>
                    <a:cs typeface="Aharoni" panose="02010803020104030203" pitchFamily="2" charset="-79"/>
                  </a:rPr>
                  <a:t>…</a:t>
                </a:r>
                <a:endParaRPr lang="zh-CN" altLang="en-US" sz="1200" b="1" dirty="0">
                  <a:solidFill>
                    <a:srgbClr val="11576A"/>
                  </a:solidFill>
                  <a:latin typeface="+mj-ea"/>
                  <a:ea typeface="+mj-ea"/>
                  <a:cs typeface="Aharoni" panose="02010803020104030203" pitchFamily="2" charset="-79"/>
                </a:endParaRPr>
              </a:p>
            </p:txBody>
          </p:sp>
        </p:grpSp>
        <p:sp>
          <p:nvSpPr>
            <p:cNvPr id="22" name="矩形 21"/>
            <p:cNvSpPr/>
            <p:nvPr/>
          </p:nvSpPr>
          <p:spPr>
            <a:xfrm>
              <a:off x="785786" y="3435588"/>
              <a:ext cx="2143140" cy="35719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cxnSp>
          <p:nvCxnSpPr>
            <p:cNvPr id="23" name="直接连接符 22"/>
            <p:cNvCxnSpPr>
              <a:stCxn id="22" idx="0"/>
              <a:endCxn id="22" idx="2"/>
            </p:cNvCxnSpPr>
            <p:nvPr/>
          </p:nvCxnSpPr>
          <p:spPr>
            <a:xfrm rot="16200000" flipH="1">
              <a:off x="1678761" y="3614183"/>
              <a:ext cx="35719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914373" y="3462576"/>
              <a:ext cx="843756" cy="364248"/>
            </a:xfrm>
            <a:prstGeom prst="rect">
              <a:avLst/>
            </a:prstGeom>
            <a:noFill/>
          </p:spPr>
          <p:txBody>
            <a:bodyPr wrap="none" rtlCol="0">
              <a:spAutoFit/>
            </a:bodyPr>
            <a:lstStyle/>
            <a:p>
              <a:r>
                <a:rPr lang="en-US" altLang="zh-CN" sz="1200" b="1" dirty="0">
                  <a:solidFill>
                    <a:srgbClr val="11576A"/>
                  </a:solidFill>
                  <a:latin typeface="+mn-ea"/>
                </a:rPr>
                <a:t>Smith</a:t>
              </a:r>
              <a:endParaRPr lang="zh-CN" altLang="en-US" sz="1200" b="1" dirty="0">
                <a:solidFill>
                  <a:srgbClr val="11576A"/>
                </a:solidFill>
                <a:latin typeface="+mn-ea"/>
              </a:endParaRPr>
            </a:p>
          </p:txBody>
        </p:sp>
        <p:sp>
          <p:nvSpPr>
            <p:cNvPr id="25" name="矩形 24"/>
            <p:cNvSpPr/>
            <p:nvPr/>
          </p:nvSpPr>
          <p:spPr>
            <a:xfrm>
              <a:off x="785786" y="3792778"/>
              <a:ext cx="2143140" cy="703549"/>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26" name="TextBox 25"/>
            <p:cNvSpPr txBox="1"/>
            <p:nvPr/>
          </p:nvSpPr>
          <p:spPr>
            <a:xfrm>
              <a:off x="738161" y="982469"/>
              <a:ext cx="652573" cy="364248"/>
            </a:xfrm>
            <a:prstGeom prst="rect">
              <a:avLst/>
            </a:prstGeom>
            <a:noFill/>
          </p:spPr>
          <p:txBody>
            <a:bodyPr wrap="none" rtlCol="0">
              <a:spAutoFit/>
            </a:bodyPr>
            <a:lstStyle/>
            <a:p>
              <a:r>
                <a:rPr lang="zh-CN" altLang="en-US" sz="1200" b="1" dirty="0">
                  <a:solidFill>
                    <a:srgbClr val="11576A"/>
                  </a:solidFill>
                  <a:latin typeface="+mn-ea"/>
                </a:rPr>
                <a:t>索引</a:t>
              </a:r>
            </a:p>
          </p:txBody>
        </p:sp>
        <p:sp>
          <p:nvSpPr>
            <p:cNvPr id="27" name="TextBox 26"/>
            <p:cNvSpPr txBox="1"/>
            <p:nvPr/>
          </p:nvSpPr>
          <p:spPr>
            <a:xfrm>
              <a:off x="1904982" y="982469"/>
              <a:ext cx="652573" cy="364248"/>
            </a:xfrm>
            <a:prstGeom prst="rect">
              <a:avLst/>
            </a:prstGeom>
            <a:noFill/>
          </p:spPr>
          <p:txBody>
            <a:bodyPr wrap="none" rtlCol="0">
              <a:spAutoFit/>
            </a:bodyPr>
            <a:lstStyle/>
            <a:p>
              <a:r>
                <a:rPr lang="zh-CN" altLang="en-US" sz="1200" b="1" dirty="0">
                  <a:solidFill>
                    <a:srgbClr val="11576A"/>
                  </a:solidFill>
                  <a:latin typeface="+mn-ea"/>
                </a:rPr>
                <a:t>位置</a:t>
              </a:r>
            </a:p>
          </p:txBody>
        </p:sp>
        <p:sp>
          <p:nvSpPr>
            <p:cNvPr id="28" name="TextBox 27"/>
            <p:cNvSpPr txBox="1"/>
            <p:nvPr/>
          </p:nvSpPr>
          <p:spPr>
            <a:xfrm>
              <a:off x="1230276" y="4500151"/>
              <a:ext cx="1185047" cy="456858"/>
            </a:xfrm>
            <a:prstGeom prst="rect">
              <a:avLst/>
            </a:prstGeom>
            <a:noFill/>
          </p:spPr>
          <p:txBody>
            <a:bodyPr wrap="none" rtlCol="0">
              <a:spAutoFit/>
            </a:bodyPr>
            <a:lstStyle/>
            <a:p>
              <a:r>
                <a:rPr lang="zh-CN" altLang="en-US" sz="1200" b="1" dirty="0">
                  <a:solidFill>
                    <a:srgbClr val="11576A"/>
                  </a:solidFill>
                  <a:latin typeface="+mn-ea"/>
                </a:rPr>
                <a:t>索引</a:t>
              </a:r>
              <a:r>
                <a:rPr lang="x-none" altLang="zh-CN" sz="1200" b="1" dirty="0">
                  <a:solidFill>
                    <a:srgbClr val="11576A"/>
                  </a:solidFill>
                  <a:latin typeface="+mn-ea"/>
                </a:rPr>
                <a:t>表</a:t>
              </a:r>
            </a:p>
          </p:txBody>
        </p:sp>
        <p:sp>
          <p:nvSpPr>
            <p:cNvPr id="29" name="文本框 1"/>
            <p:cNvSpPr txBox="1"/>
            <p:nvPr/>
          </p:nvSpPr>
          <p:spPr>
            <a:xfrm>
              <a:off x="2815810" y="964714"/>
              <a:ext cx="244801" cy="364248"/>
            </a:xfrm>
            <a:prstGeom prst="rect">
              <a:avLst/>
            </a:prstGeom>
            <a:noFill/>
          </p:spPr>
          <p:txBody>
            <a:bodyPr wrap="none" rtlCol="0">
              <a:spAutoFit/>
            </a:bodyPr>
            <a:lstStyle/>
            <a:p>
              <a:endParaRPr kumimoji="1" lang="zh-CN" altLang="en-US" sz="1200" dirty="0"/>
            </a:p>
          </p:txBody>
        </p:sp>
      </p:grpSp>
      <p:sp>
        <p:nvSpPr>
          <p:cNvPr id="42" name="矩形 41"/>
          <p:cNvSpPr/>
          <p:nvPr/>
        </p:nvSpPr>
        <p:spPr>
          <a:xfrm>
            <a:off x="1000100" y="1571618"/>
            <a:ext cx="5857900" cy="923330"/>
          </a:xfrm>
          <a:prstGeom prst="rect">
            <a:avLst/>
          </a:prstGeom>
        </p:spPr>
        <p:txBody>
          <a:bodyPr wrap="squar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 </a:t>
            </a:r>
            <a:r>
              <a:rPr lang="zh-CN" altLang="en-US" b="1" dirty="0">
                <a:solidFill>
                  <a:srgbClr val="11576A"/>
                </a:solidFill>
                <a:latin typeface="微软雅黑" panose="020B0503020204020204" pitchFamily="34" charset="-122"/>
                <a:ea typeface="微软雅黑" panose="020B0503020204020204" pitchFamily="34" charset="-122"/>
              </a:rPr>
              <a:t>变长记录的直接存取方式比较复杂。</a:t>
            </a:r>
            <a:endParaRPr lang="en-US" altLang="zh-CN" b="1" dirty="0">
              <a:solidFill>
                <a:srgbClr val="11576A"/>
              </a:solidFill>
              <a:latin typeface="微软雅黑" panose="020B0503020204020204" pitchFamily="34" charset="-122"/>
              <a:ea typeface="微软雅黑" panose="020B0503020204020204" pitchFamily="34" charset="-122"/>
            </a:endParaRPr>
          </a:p>
          <a:p>
            <a:r>
              <a:rPr lang="zh-CN" altLang="en-US" b="1" dirty="0">
                <a:solidFill>
                  <a:srgbClr val="11576A"/>
                </a:solidFill>
                <a:latin typeface="张海山锐谐体2.0-授权联系：Samtype@QQ.com" pitchFamily="2" charset="-122"/>
                <a:ea typeface="张海山锐谐体2.0-授权联系：Samtype@QQ.com" pitchFamily="2" charset="-122"/>
              </a:rPr>
              <a:t>■ </a:t>
            </a:r>
            <a:r>
              <a:rPr lang="zh-CN" altLang="en-US" b="1" dirty="0">
                <a:solidFill>
                  <a:srgbClr val="11576A"/>
                </a:solidFill>
                <a:latin typeface="微软雅黑" panose="020B0503020204020204" pitchFamily="34" charset="-122"/>
                <a:ea typeface="微软雅黑" panose="020B0503020204020204" pitchFamily="34" charset="-122"/>
              </a:rPr>
              <a:t>建立一张索引表，每个记录在索引表中设有一个记录其长度</a:t>
            </a:r>
            <a:r>
              <a:rPr lang="en-US" altLang="zh-CN" b="1" dirty="0">
                <a:solidFill>
                  <a:srgbClr val="11576A"/>
                </a:solidFill>
                <a:latin typeface="微软雅黑" panose="020B0503020204020204" pitchFamily="34" charset="-122"/>
                <a:ea typeface="微软雅黑" panose="020B0503020204020204" pitchFamily="34" charset="-122"/>
              </a:rPr>
              <a:t>L</a:t>
            </a:r>
            <a:r>
              <a:rPr lang="zh-CN" altLang="en-US" b="1" dirty="0">
                <a:solidFill>
                  <a:srgbClr val="11576A"/>
                </a:solidFill>
                <a:latin typeface="微软雅黑" panose="020B0503020204020204" pitchFamily="34" charset="-122"/>
                <a:ea typeface="微软雅黑" panose="020B0503020204020204" pitchFamily="34" charset="-122"/>
              </a:rPr>
              <a:t>及逻辑地址的表项。</a:t>
            </a:r>
            <a:endParaRPr lang="en-US" altLang="zh-CN" b="1" dirty="0">
              <a:solidFill>
                <a:srgbClr val="11576A"/>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down)">
                                      <p:cBhvr>
                                        <p:cTn id="12" dur="500"/>
                                        <p:tgtEl>
                                          <p:spTgt spid="16"/>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索引文件</a:t>
            </a:r>
          </a:p>
        </p:txBody>
      </p:sp>
      <p:sp>
        <p:nvSpPr>
          <p:cNvPr id="3" name="矩形 2"/>
          <p:cNvSpPr/>
          <p:nvPr/>
        </p:nvSpPr>
        <p:spPr>
          <a:xfrm>
            <a:off x="857224" y="857238"/>
            <a:ext cx="7429552" cy="2551430"/>
          </a:xfrm>
          <a:prstGeom prst="rect">
            <a:avLst/>
          </a:prstGeom>
        </p:spPr>
        <p:txBody>
          <a:bodyPr wrap="squar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11576A"/>
                </a:solidFill>
                <a:latin typeface="微软雅黑" panose="020B0503020204020204" pitchFamily="34" charset="-122"/>
                <a:ea typeface="微软雅黑" panose="020B0503020204020204" pitchFamily="34" charset="-122"/>
              </a:rPr>
              <a:t>检索时，首先是根据用户</a:t>
            </a:r>
            <a:r>
              <a:rPr lang="en-US" altLang="zh-CN" sz="2000" b="1" dirty="0">
                <a:solidFill>
                  <a:srgbClr val="11576A"/>
                </a:solidFill>
                <a:latin typeface="微软雅黑" panose="020B0503020204020204" pitchFamily="34" charset="-122"/>
                <a:ea typeface="微软雅黑" panose="020B0503020204020204" pitchFamily="34" charset="-122"/>
              </a:rPr>
              <a:t>(</a:t>
            </a:r>
            <a:r>
              <a:rPr lang="zh-CN" altLang="en-US" sz="2000" b="1" dirty="0">
                <a:solidFill>
                  <a:srgbClr val="11576A"/>
                </a:solidFill>
                <a:latin typeface="微软雅黑" panose="020B0503020204020204" pitchFamily="34" charset="-122"/>
                <a:ea typeface="微软雅黑" panose="020B0503020204020204" pitchFamily="34" charset="-122"/>
              </a:rPr>
              <a:t>程序</a:t>
            </a:r>
            <a:r>
              <a:rPr lang="en-US" altLang="zh-CN" sz="2000" b="1" dirty="0">
                <a:solidFill>
                  <a:srgbClr val="11576A"/>
                </a:solidFill>
                <a:latin typeface="微软雅黑" panose="020B0503020204020204" pitchFamily="34" charset="-122"/>
                <a:ea typeface="微软雅黑" panose="020B0503020204020204" pitchFamily="34" charset="-122"/>
              </a:rPr>
              <a:t>)</a:t>
            </a:r>
            <a:r>
              <a:rPr lang="zh-CN" altLang="en-US" sz="2000" b="1" dirty="0">
                <a:solidFill>
                  <a:srgbClr val="11576A"/>
                </a:solidFill>
                <a:latin typeface="微软雅黑" panose="020B0503020204020204" pitchFamily="34" charset="-122"/>
                <a:ea typeface="微软雅黑" panose="020B0503020204020204" pitchFamily="34" charset="-122"/>
              </a:rPr>
              <a:t>提供的关键字，并利用折半查找法去检索索引表，从中找到相应的表项；再利用该表项中给出的指向记录的指针值，去访问所需的记录</a:t>
            </a:r>
            <a:r>
              <a:rPr lang="x-none" altLang="zh-CN" sz="2000" b="1" dirty="0">
                <a:solidFill>
                  <a:srgbClr val="11576A"/>
                </a:solidFill>
                <a:latin typeface="微软雅黑" panose="020B0503020204020204" pitchFamily="34" charset="-122"/>
                <a:ea typeface="微软雅黑" panose="020B0503020204020204" pitchFamily="34" charset="-122"/>
              </a:rPr>
              <a:t>。</a:t>
            </a:r>
          </a:p>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11576A"/>
                </a:solidFill>
                <a:latin typeface="微软雅黑" panose="020B0503020204020204" pitchFamily="34" charset="-122"/>
                <a:ea typeface="微软雅黑" panose="020B0503020204020204" pitchFamily="34" charset="-122"/>
              </a:rPr>
              <a:t>增加一个新记录时，对索引表进行修改。</a:t>
            </a:r>
            <a:endParaRPr lang="en-US" altLang="zh-CN" sz="2000" b="1" dirty="0">
              <a:solidFill>
                <a:srgbClr val="11576A"/>
              </a:solidFill>
              <a:latin typeface="微软雅黑" panose="020B0503020204020204" pitchFamily="34" charset="-122"/>
              <a:ea typeface="微软雅黑" panose="020B0503020204020204" pitchFamily="34" charset="-122"/>
            </a:endParaRPr>
          </a:p>
          <a:p>
            <a:r>
              <a:rPr lang="zh-CN" altLang="en-US" sz="2000" b="1" dirty="0">
                <a:solidFill>
                  <a:srgbClr val="11576A"/>
                </a:solidFill>
                <a:latin typeface="微软雅黑" panose="020B0503020204020204" pitchFamily="34" charset="-122"/>
                <a:ea typeface="微软雅黑" panose="020B0503020204020204" pitchFamily="34" charset="-122"/>
              </a:rPr>
              <a:t>由于索引文件可有较快的检索速度，故它主要用于对信息处理的及时性要求较高</a:t>
            </a:r>
            <a:r>
              <a:rPr lang="x-none" altLang="zh-CN" sz="2000" b="1" dirty="0">
                <a:solidFill>
                  <a:srgbClr val="11576A"/>
                </a:solidFill>
                <a:latin typeface="微软雅黑" panose="020B0503020204020204" pitchFamily="34" charset="-122"/>
                <a:ea typeface="微软雅黑" panose="020B0503020204020204" pitchFamily="34" charset="-122"/>
              </a:rPr>
              <a:t>且很少对所有数据进行</a:t>
            </a:r>
            <a:r>
              <a:rPr lang="x-none" altLang="zh-CN" sz="2000" b="1" dirty="0">
                <a:solidFill>
                  <a:srgbClr val="11576A"/>
                </a:solidFill>
                <a:latin typeface="微软雅黑" panose="020B0503020204020204" pitchFamily="34" charset="-122"/>
                <a:ea typeface="微软雅黑" panose="020B0503020204020204" pitchFamily="34" charset="-122"/>
                <a:sym typeface="+mn-ea"/>
              </a:rPr>
              <a:t>处理</a:t>
            </a:r>
            <a:r>
              <a:rPr lang="zh-CN" altLang="en-US" sz="2000" b="1" dirty="0">
                <a:solidFill>
                  <a:srgbClr val="11576A"/>
                </a:solidFill>
                <a:latin typeface="微软雅黑" panose="020B0503020204020204" pitchFamily="34" charset="-122"/>
                <a:ea typeface="微软雅黑" panose="020B0503020204020204" pitchFamily="34" charset="-122"/>
              </a:rPr>
              <a:t>的场合</a:t>
            </a:r>
          </a:p>
          <a:p>
            <a:r>
              <a:rPr lang="x-none" altLang="zh-CN" sz="2000" b="1" dirty="0">
                <a:solidFill>
                  <a:srgbClr val="11576A"/>
                </a:solidFill>
                <a:latin typeface="楷体" panose="02010609060101010101" pitchFamily="49" charset="-122"/>
                <a:ea typeface="楷体" panose="02010609060101010101" pitchFamily="49" charset="-122"/>
              </a:rPr>
              <a:t>如：航空公司订票系统、商品库存控制系统。</a:t>
            </a:r>
          </a:p>
          <a:p>
            <a:r>
              <a:rPr lang="zh-CN" altLang="en-US" sz="2000" b="1" dirty="0">
                <a:solidFill>
                  <a:srgbClr val="11576A"/>
                </a:solidFill>
                <a:latin typeface="微软雅黑" panose="020B0503020204020204" pitchFamily="34" charset="-122"/>
                <a:ea typeface="微软雅黑" panose="020B0503020204020204" pitchFamily="34" charset="-122"/>
              </a:rPr>
              <a:t>缺点：存储信息增加</a:t>
            </a:r>
            <a:endParaRPr lang="en-US" altLang="zh-CN" sz="2000" b="1" dirty="0">
              <a:solidFill>
                <a:srgbClr val="11576A"/>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索引顺序文件</a:t>
            </a:r>
          </a:p>
        </p:txBody>
      </p:sp>
      <p:sp>
        <p:nvSpPr>
          <p:cNvPr id="3" name="矩形 2"/>
          <p:cNvSpPr/>
          <p:nvPr/>
        </p:nvSpPr>
        <p:spPr>
          <a:xfrm>
            <a:off x="714348" y="785800"/>
            <a:ext cx="7858180" cy="1015663"/>
          </a:xfrm>
          <a:prstGeom prst="rect">
            <a:avLst/>
          </a:prstGeom>
        </p:spPr>
        <p:txBody>
          <a:bodyPr wrap="squar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11576A"/>
                </a:solidFill>
                <a:latin typeface="微软雅黑" panose="020B0503020204020204" pitchFamily="34" charset="-122"/>
                <a:ea typeface="微软雅黑" panose="020B0503020204020204" pitchFamily="34" charset="-122"/>
              </a:rPr>
              <a:t>顺序文件中的所有记录分为若干个组</a:t>
            </a:r>
            <a:r>
              <a:rPr lang="en-US" altLang="zh-CN" sz="2000" b="1" dirty="0">
                <a:solidFill>
                  <a:srgbClr val="11576A"/>
                </a:solidFill>
                <a:latin typeface="微软雅黑" panose="020B0503020204020204" pitchFamily="34" charset="-122"/>
                <a:ea typeface="微软雅黑" panose="020B0503020204020204" pitchFamily="34" charset="-122"/>
              </a:rPr>
              <a:t>(</a:t>
            </a:r>
            <a:r>
              <a:rPr lang="zh-CN" altLang="en-US" sz="2000" b="1" dirty="0">
                <a:solidFill>
                  <a:srgbClr val="11576A"/>
                </a:solidFill>
                <a:latin typeface="微软雅黑" panose="020B0503020204020204" pitchFamily="34" charset="-122"/>
                <a:ea typeface="微软雅黑" panose="020B0503020204020204" pitchFamily="34" charset="-122"/>
              </a:rPr>
              <a:t>例如，</a:t>
            </a:r>
            <a:r>
              <a:rPr lang="en-US" altLang="zh-CN" sz="2000" b="1" dirty="0">
                <a:solidFill>
                  <a:srgbClr val="11576A"/>
                </a:solidFill>
                <a:latin typeface="微软雅黑" panose="020B0503020204020204" pitchFamily="34" charset="-122"/>
                <a:ea typeface="微软雅黑" panose="020B0503020204020204" pitchFamily="34" charset="-122"/>
              </a:rPr>
              <a:t>50</a:t>
            </a:r>
            <a:r>
              <a:rPr lang="zh-CN" altLang="en-US" sz="2000" b="1" dirty="0">
                <a:solidFill>
                  <a:srgbClr val="11576A"/>
                </a:solidFill>
                <a:latin typeface="微软雅黑" panose="020B0503020204020204" pitchFamily="34" charset="-122"/>
                <a:ea typeface="微软雅黑" panose="020B0503020204020204" pitchFamily="34" charset="-122"/>
              </a:rPr>
              <a:t>个记录为一个组</a:t>
            </a:r>
            <a:r>
              <a:rPr lang="en-US" altLang="zh-CN" sz="2000" b="1" dirty="0">
                <a:solidFill>
                  <a:srgbClr val="11576A"/>
                </a:solidFill>
                <a:latin typeface="微软雅黑" panose="020B0503020204020204" pitchFamily="34" charset="-122"/>
                <a:ea typeface="微软雅黑" panose="020B0503020204020204" pitchFamily="34" charset="-122"/>
              </a:rPr>
              <a:t>)</a:t>
            </a:r>
            <a:r>
              <a:rPr lang="zh-CN" altLang="en-US" sz="2000" b="1" dirty="0">
                <a:solidFill>
                  <a:srgbClr val="11576A"/>
                </a:solidFill>
                <a:latin typeface="微软雅黑" panose="020B0503020204020204" pitchFamily="34" charset="-122"/>
                <a:ea typeface="微软雅黑" panose="020B0503020204020204" pitchFamily="34" charset="-122"/>
              </a:rPr>
              <a:t>；为顺序文件建立一张索引表，在索引表中为每组中的第一个记录建立一个索引项，其中含有该记录的键值和指向该记录的指针。</a:t>
            </a:r>
            <a:endParaRPr lang="en-US" altLang="zh-CN" sz="2000" b="1" dirty="0">
              <a:solidFill>
                <a:srgbClr val="11576A"/>
              </a:solidFill>
              <a:latin typeface="微软雅黑" panose="020B0503020204020204" pitchFamily="34" charset="-122"/>
              <a:ea typeface="微软雅黑" panose="020B0503020204020204" pitchFamily="34" charset="-122"/>
            </a:endParaRPr>
          </a:p>
        </p:txBody>
      </p:sp>
      <p:pic>
        <p:nvPicPr>
          <p:cNvPr id="4" name="Picture 2"/>
          <p:cNvPicPr>
            <a:picLocks noChangeAspect="1"/>
          </p:cNvPicPr>
          <p:nvPr/>
        </p:nvPicPr>
        <p:blipFill>
          <a:blip r:embed="rId2">
            <a:clrChange>
              <a:clrFrom>
                <a:srgbClr val="FFFFFF"/>
              </a:clrFrom>
              <a:clrTo>
                <a:srgbClr val="FFFFFF">
                  <a:alpha val="0"/>
                </a:srgbClr>
              </a:clrTo>
            </a:clrChange>
          </a:blip>
          <a:stretch>
            <a:fillRect/>
          </a:stretch>
        </p:blipFill>
        <p:spPr>
          <a:xfrm>
            <a:off x="2051720" y="2127600"/>
            <a:ext cx="4276725" cy="2428875"/>
          </a:xfrm>
          <a:prstGeom prst="rect">
            <a:avLst/>
          </a:prstGeom>
          <a:noFill/>
          <a:ln w="9525">
            <a:noFill/>
          </a:ln>
        </p:spPr>
      </p:pic>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500351"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索引顺序文件</a:t>
            </a:r>
          </a:p>
        </p:txBody>
      </p:sp>
      <p:sp>
        <p:nvSpPr>
          <p:cNvPr id="3" name="矩形 2"/>
          <p:cNvSpPr/>
          <p:nvPr/>
        </p:nvSpPr>
        <p:spPr>
          <a:xfrm>
            <a:off x="714348" y="785800"/>
            <a:ext cx="7858180" cy="1323439"/>
          </a:xfrm>
          <a:prstGeom prst="rect">
            <a:avLst/>
          </a:prstGeom>
        </p:spPr>
        <p:txBody>
          <a:bodyPr wrap="squar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x-none" altLang="zh-CN" sz="2000" b="1" dirty="0">
                <a:solidFill>
                  <a:srgbClr val="11576A"/>
                </a:solidFill>
                <a:latin typeface="微软雅黑" panose="020B0503020204020204" pitchFamily="34" charset="-122"/>
                <a:ea typeface="微软雅黑" panose="020B0503020204020204" pitchFamily="34" charset="-122"/>
              </a:rPr>
              <a:t>保留了顺序文件的关键特征：</a:t>
            </a:r>
            <a:r>
              <a:rPr lang="x-none" altLang="zh-CN" sz="2000" b="1" dirty="0">
                <a:solidFill>
                  <a:srgbClr val="FF0000"/>
                </a:solidFill>
                <a:latin typeface="微软雅黑" panose="020B0503020204020204" pitchFamily="34" charset="-122"/>
                <a:ea typeface="微软雅黑" panose="020B0503020204020204" pitchFamily="34" charset="-122"/>
              </a:rPr>
              <a:t>按照</a:t>
            </a:r>
            <a:r>
              <a:rPr lang="x-none" altLang="zh-CN" sz="2000" b="1" noProof="0" dirty="0">
                <a:ln>
                  <a:noFill/>
                </a:ln>
                <a:solidFill>
                  <a:srgbClr val="FF0000"/>
                </a:solidFill>
                <a:uLnTx/>
                <a:uFillTx/>
                <a:latin typeface="微软雅黑" panose="020B0503020204020204" pitchFamily="34" charset="-122"/>
                <a:ea typeface="微软雅黑" panose="020B0503020204020204" pitchFamily="34" charset="-122"/>
                <a:cs typeface="+mj-cs"/>
                <a:sym typeface="+mn-ea"/>
              </a:rPr>
              <a:t>关键域的顺序来组织</a:t>
            </a:r>
            <a:r>
              <a:rPr lang="zh-CN" altLang="en-US" sz="2000" b="1" dirty="0">
                <a:solidFill>
                  <a:srgbClr val="11576A"/>
                </a:solidFill>
                <a:latin typeface="微软雅黑" panose="020B0503020204020204" pitchFamily="34" charset="-122"/>
                <a:ea typeface="微软雅黑" panose="020B0503020204020204" pitchFamily="34" charset="-122"/>
              </a:rPr>
              <a:t>。</a:t>
            </a:r>
          </a:p>
          <a:p>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x-none" altLang="zh-CN" sz="2000" b="1" dirty="0">
                <a:solidFill>
                  <a:srgbClr val="11576A"/>
                </a:solidFill>
                <a:latin typeface="微软雅黑" panose="020B0503020204020204" pitchFamily="34" charset="-122"/>
                <a:ea typeface="微软雅黑" panose="020B0503020204020204" pitchFamily="34" charset="-122"/>
              </a:rPr>
              <a:t>支持</a:t>
            </a:r>
            <a:r>
              <a:rPr lang="x-none" altLang="zh-CN" sz="2000" b="1" dirty="0">
                <a:solidFill>
                  <a:srgbClr val="FF0000"/>
                </a:solidFill>
                <a:latin typeface="微软雅黑" panose="020B0503020204020204" pitchFamily="34" charset="-122"/>
                <a:ea typeface="微软雅黑" panose="020B0503020204020204" pitchFamily="34" charset="-122"/>
              </a:rPr>
              <a:t>随机访问</a:t>
            </a:r>
            <a:r>
              <a:rPr lang="x-none" altLang="zh-CN" sz="2000" b="1" dirty="0">
                <a:solidFill>
                  <a:srgbClr val="11576A"/>
                </a:solidFill>
                <a:latin typeface="微软雅黑" panose="020B0503020204020204" pitchFamily="34" charset="-122"/>
                <a:ea typeface="微软雅黑" panose="020B0503020204020204" pitchFamily="34" charset="-122"/>
              </a:rPr>
              <a:t>的文件索引特征：索引提供了快速接近目标记录的查找能力</a:t>
            </a:r>
          </a:p>
          <a:p>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x-none" altLang="zh-CN" sz="2000" b="1" dirty="0">
                <a:solidFill>
                  <a:srgbClr val="11576A"/>
                </a:solidFill>
                <a:latin typeface="微软雅黑" panose="020B0503020204020204" pitchFamily="34" charset="-122"/>
                <a:ea typeface="微软雅黑" panose="020B0503020204020204" pitchFamily="34" charset="-122"/>
                <a:sym typeface="+mn-ea"/>
              </a:rPr>
              <a:t>索引顺序文件容易扩展：多级索引。</a:t>
            </a: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485804" y="0"/>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文件存取方式</a:t>
            </a:r>
          </a:p>
        </p:txBody>
      </p:sp>
      <p:sp>
        <p:nvSpPr>
          <p:cNvPr id="3" name="矩形 2"/>
          <p:cNvSpPr/>
          <p:nvPr/>
        </p:nvSpPr>
        <p:spPr>
          <a:xfrm>
            <a:off x="417835" y="411510"/>
            <a:ext cx="8215370" cy="5293757"/>
          </a:xfrm>
          <a:prstGeom prst="rect">
            <a:avLst/>
          </a:prstGeom>
        </p:spPr>
        <p:txBody>
          <a:bodyPr wrap="square">
            <a:spAutoFit/>
          </a:bodyPr>
          <a:lstStyle/>
          <a:p>
            <a:r>
              <a:rPr lang="zh-CN" altLang="en-US" sz="2000" b="1" dirty="0">
                <a:solidFill>
                  <a:srgbClr val="11576A"/>
                </a:solidFill>
                <a:latin typeface="微软雅黑" panose="020B0503020204020204" pitchFamily="34" charset="-122"/>
                <a:ea typeface="微软雅黑" panose="020B0503020204020204" pitchFamily="34" charset="-122"/>
              </a:rPr>
              <a:t>通过对文件的存取来完成对文件的修改、追加和搜索等操作，文件的存取是按照文件的逻辑结构找到文件内容所在的逻辑地址。存取方法：</a:t>
            </a:r>
          </a:p>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顺序存取法</a:t>
            </a:r>
          </a:p>
          <a:p>
            <a:pPr lvl="1"/>
            <a:r>
              <a:rPr lang="zh-CN" altLang="en-US" b="1" dirty="0">
                <a:solidFill>
                  <a:srgbClr val="11576A"/>
                </a:solidFill>
                <a:latin typeface="微软雅黑" panose="020B0503020204020204" pitchFamily="34" charset="-122"/>
                <a:ea typeface="微软雅黑" panose="020B0503020204020204" pitchFamily="34" charset="-122"/>
              </a:rPr>
              <a:t>按照文件的逻辑地址顺序存取</a:t>
            </a:r>
          </a:p>
          <a:p>
            <a:pPr lvl="1"/>
            <a:r>
              <a:rPr lang="zh-CN" altLang="en-US" b="1" dirty="0">
                <a:solidFill>
                  <a:srgbClr val="11576A"/>
                </a:solidFill>
                <a:latin typeface="微软雅黑" panose="020B0503020204020204" pitchFamily="34" charset="-122"/>
                <a:ea typeface="微软雅黑" panose="020B0503020204020204" pitchFamily="34" charset="-122"/>
              </a:rPr>
              <a:t>在记录文件中，按记录的排列顺序来存取</a:t>
            </a:r>
          </a:p>
          <a:p>
            <a:pPr lvl="1"/>
            <a:r>
              <a:rPr lang="zh-CN" altLang="en-US" b="1" dirty="0">
                <a:solidFill>
                  <a:srgbClr val="11576A"/>
                </a:solidFill>
                <a:latin typeface="微软雅黑" panose="020B0503020204020204" pitchFamily="34" charset="-122"/>
                <a:ea typeface="微软雅黑" panose="020B0503020204020204" pitchFamily="34" charset="-122"/>
              </a:rPr>
              <a:t>在字符流文件中，是读写指针的变化</a:t>
            </a:r>
          </a:p>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随机存取法</a:t>
            </a: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直接存取法</a:t>
            </a:r>
            <a:r>
              <a:rPr lang="en-US" altLang="zh-CN" sz="2000" b="1" dirty="0">
                <a:solidFill>
                  <a:srgbClr val="FF0000"/>
                </a:solidFill>
                <a:latin typeface="微软雅黑" panose="020B0503020204020204" pitchFamily="34" charset="-122"/>
                <a:ea typeface="微软雅黑" panose="020B0503020204020204" pitchFamily="34" charset="-122"/>
              </a:rPr>
              <a:t>)</a:t>
            </a:r>
          </a:p>
          <a:p>
            <a:pPr lvl="1"/>
            <a:r>
              <a:rPr lang="zh-CN" altLang="en-US" b="1" dirty="0">
                <a:solidFill>
                  <a:srgbClr val="11576A"/>
                </a:solidFill>
                <a:latin typeface="微软雅黑" panose="020B0503020204020204" pitchFamily="34" charset="-122"/>
                <a:ea typeface="微软雅黑" panose="020B0503020204020204" pitchFamily="34" charset="-122"/>
              </a:rPr>
              <a:t>允许用户根据记录的编号来存取文件的任一记录或是根据存取命令把读写指针移到要读写处来读写</a:t>
            </a:r>
          </a:p>
          <a:p>
            <a:pPr lvl="1"/>
            <a:r>
              <a:rPr lang="en-US" altLang="zh-CN" b="1" dirty="0">
                <a:solidFill>
                  <a:srgbClr val="11576A"/>
                </a:solidFill>
                <a:latin typeface="楷体" panose="02010609060101010101" pitchFamily="49" charset="-122"/>
                <a:ea typeface="楷体" panose="02010609060101010101" pitchFamily="49" charset="-122"/>
              </a:rPr>
              <a:t>UNIX</a:t>
            </a:r>
            <a:r>
              <a:rPr lang="zh-CN" altLang="en-US" b="1" dirty="0">
                <a:solidFill>
                  <a:srgbClr val="11576A"/>
                </a:solidFill>
                <a:latin typeface="楷体" panose="02010609060101010101" pitchFamily="49" charset="-122"/>
                <a:ea typeface="楷体" panose="02010609060101010101" pitchFamily="49" charset="-122"/>
              </a:rPr>
              <a:t>和</a:t>
            </a:r>
            <a:r>
              <a:rPr lang="en-US" altLang="zh-CN" b="1" dirty="0">
                <a:solidFill>
                  <a:srgbClr val="11576A"/>
                </a:solidFill>
                <a:latin typeface="楷体" panose="02010609060101010101" pitchFamily="49" charset="-122"/>
                <a:ea typeface="楷体" panose="02010609060101010101" pitchFamily="49" charset="-122"/>
              </a:rPr>
              <a:t>DOS</a:t>
            </a:r>
            <a:r>
              <a:rPr lang="zh-CN" altLang="en-US" b="1" dirty="0">
                <a:solidFill>
                  <a:srgbClr val="11576A"/>
                </a:solidFill>
                <a:latin typeface="楷体" panose="02010609060101010101" pitchFamily="49" charset="-122"/>
                <a:ea typeface="楷体" panose="02010609060101010101" pitchFamily="49" charset="-122"/>
              </a:rPr>
              <a:t>等</a:t>
            </a:r>
            <a:r>
              <a:rPr lang="en-US" altLang="zh-CN" b="1" dirty="0">
                <a:solidFill>
                  <a:srgbClr val="11576A"/>
                </a:solidFill>
                <a:latin typeface="楷体" panose="02010609060101010101" pitchFamily="49" charset="-122"/>
                <a:ea typeface="楷体" panose="02010609060101010101" pitchFamily="49" charset="-122"/>
              </a:rPr>
              <a:t>OS</a:t>
            </a:r>
            <a:r>
              <a:rPr lang="zh-CN" altLang="en-US" b="1" dirty="0">
                <a:solidFill>
                  <a:srgbClr val="11576A"/>
                </a:solidFill>
                <a:latin typeface="楷体" panose="02010609060101010101" pitchFamily="49" charset="-122"/>
                <a:ea typeface="楷体" panose="02010609060101010101" pitchFamily="49" charset="-122"/>
              </a:rPr>
              <a:t>都采用顺序和随机存取法</a:t>
            </a:r>
          </a:p>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FF0000"/>
                </a:solidFill>
                <a:latin typeface="微软雅黑" panose="020B0503020204020204" pitchFamily="34" charset="-122"/>
                <a:ea typeface="微软雅黑" panose="020B0503020204020204" pitchFamily="34" charset="-122"/>
              </a:rPr>
              <a:t>按键存取法</a:t>
            </a:r>
            <a:endParaRPr lang="en-US" altLang="zh-CN" sz="2000" b="1" dirty="0">
              <a:solidFill>
                <a:srgbClr val="FF0000"/>
              </a:solidFill>
              <a:latin typeface="微软雅黑" panose="020B0503020204020204" pitchFamily="34" charset="-122"/>
              <a:ea typeface="微软雅黑" panose="020B0503020204020204" pitchFamily="34" charset="-122"/>
            </a:endParaRPr>
          </a:p>
          <a:p>
            <a:pPr lvl="1"/>
            <a:r>
              <a:rPr lang="zh-CN" altLang="en-US" b="1" dirty="0">
                <a:solidFill>
                  <a:srgbClr val="11576A"/>
                </a:solidFill>
                <a:latin typeface="微软雅黑" panose="020B0503020204020204" pitchFamily="34" charset="-122"/>
                <a:ea typeface="微软雅黑" panose="020B0503020204020204" pitchFamily="34" charset="-122"/>
              </a:rPr>
              <a:t>是一种用在复杂文件系统，特别是数据库管理系统中的存取方法。</a:t>
            </a:r>
            <a:endParaRPr lang="en-US" altLang="zh-CN" b="1" dirty="0">
              <a:solidFill>
                <a:srgbClr val="11576A"/>
              </a:solidFill>
              <a:latin typeface="微软雅黑" panose="020B0503020204020204" pitchFamily="34" charset="-122"/>
              <a:ea typeface="微软雅黑" panose="020B0503020204020204" pitchFamily="34" charset="-122"/>
            </a:endParaRPr>
          </a:p>
          <a:p>
            <a:pPr lvl="1"/>
            <a:r>
              <a:rPr lang="zh-CN" altLang="en-US" b="1" dirty="0">
                <a:solidFill>
                  <a:srgbClr val="11576A"/>
                </a:solidFill>
                <a:latin typeface="微软雅黑" panose="020B0503020204020204" pitchFamily="34" charset="-122"/>
                <a:ea typeface="微软雅黑" panose="020B0503020204020204" pitchFamily="34" charset="-122"/>
              </a:rPr>
              <a:t>目的是要查找出特定记录所对应的逻辑地址，以便将其转换为相应的物理地址，实现对文件的操作。</a:t>
            </a:r>
          </a:p>
          <a:p>
            <a:pPr lvl="1"/>
            <a:r>
              <a:rPr lang="zh-CN" altLang="en-US" b="1" dirty="0">
                <a:solidFill>
                  <a:srgbClr val="11576A"/>
                </a:solidFill>
                <a:latin typeface="微软雅黑" panose="020B0503020204020204" pitchFamily="34" charset="-122"/>
                <a:ea typeface="微软雅黑" panose="020B0503020204020204" pitchFamily="34" charset="-122"/>
              </a:rPr>
              <a:t>文件的存取是根据给定的键或记录名进行的。</a:t>
            </a:r>
            <a:endParaRPr lang="en-US" altLang="zh-CN" b="1" dirty="0">
              <a:solidFill>
                <a:srgbClr val="11576A"/>
              </a:solidFill>
              <a:latin typeface="微软雅黑" panose="020B0503020204020204" pitchFamily="34" charset="-122"/>
              <a:ea typeface="微软雅黑" panose="020B0503020204020204" pitchFamily="34" charset="-122"/>
            </a:endParaRPr>
          </a:p>
          <a:p>
            <a:pPr lvl="1"/>
            <a:r>
              <a:rPr lang="zh-CN" altLang="en-US" b="1" dirty="0">
                <a:solidFill>
                  <a:srgbClr val="11576A"/>
                </a:solidFill>
                <a:latin typeface="微软雅黑" panose="020B0503020204020204" pitchFamily="34" charset="-122"/>
                <a:ea typeface="微软雅黑" panose="020B0503020204020204" pitchFamily="34" charset="-122"/>
              </a:rPr>
              <a:t>键的搜索和记录的搜索</a:t>
            </a:r>
            <a:endParaRPr lang="en-US" altLang="zh-CN" b="1" dirty="0">
              <a:solidFill>
                <a:srgbClr val="11576A"/>
              </a:solidFill>
              <a:latin typeface="微软雅黑" panose="020B0503020204020204" pitchFamily="34" charset="-122"/>
              <a:ea typeface="微软雅黑" panose="020B0503020204020204" pitchFamily="34" charset="-122"/>
            </a:endParaRPr>
          </a:p>
          <a:p>
            <a:endParaRPr lang="zh-CN" altLang="en-US" sz="2000" b="1" dirty="0">
              <a:solidFill>
                <a:srgbClr val="11576A"/>
              </a:solidFill>
              <a:latin typeface="微软雅黑" panose="020B0503020204020204" pitchFamily="34" charset="-122"/>
              <a:ea typeface="微软雅黑" panose="020B0503020204020204" pitchFamily="34" charset="-122"/>
            </a:endParaRPr>
          </a:p>
          <a:p>
            <a:endParaRPr lang="en-US" altLang="zh-CN" sz="2000" b="1" dirty="0">
              <a:solidFill>
                <a:srgbClr val="11576A"/>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文件存取方式</a:t>
            </a:r>
          </a:p>
        </p:txBody>
      </p:sp>
      <p:sp>
        <p:nvSpPr>
          <p:cNvPr id="4" name="矩形 3"/>
          <p:cNvSpPr/>
          <p:nvPr/>
        </p:nvSpPr>
        <p:spPr>
          <a:xfrm>
            <a:off x="1475656" y="1275606"/>
            <a:ext cx="6552728" cy="2862322"/>
          </a:xfrm>
          <a:prstGeom prst="rect">
            <a:avLst/>
          </a:prstGeom>
        </p:spPr>
        <p:txBody>
          <a:bodyPr wrap="squar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rPr>
              <a:t>■ 按键存取</a:t>
            </a:r>
            <a:r>
              <a:rPr lang="zh-CN" altLang="en-US" sz="2000" b="1" dirty="0">
                <a:solidFill>
                  <a:srgbClr val="11576A"/>
                </a:solidFill>
                <a:latin typeface="微软雅黑" panose="020B0503020204020204" pitchFamily="34" charset="-122"/>
                <a:ea typeface="微软雅黑" panose="020B0503020204020204" pitchFamily="34" charset="-122"/>
              </a:rPr>
              <a:t>首先搜索到要进行存取的记录的逻辑位置，</a:t>
            </a:r>
            <a:endParaRPr lang="en-US" altLang="zh-CN" sz="2000" b="1" dirty="0">
              <a:solidFill>
                <a:srgbClr val="11576A"/>
              </a:solidFill>
              <a:latin typeface="微软雅黑" panose="020B0503020204020204" pitchFamily="34" charset="-122"/>
              <a:ea typeface="微软雅黑" panose="020B0503020204020204" pitchFamily="34" charset="-122"/>
            </a:endParaRPr>
          </a:p>
          <a:p>
            <a:r>
              <a:rPr lang="zh-CN" altLang="en-US" sz="2000" b="1" dirty="0">
                <a:solidFill>
                  <a:srgbClr val="11576A"/>
                </a:solidFill>
                <a:latin typeface="微软雅黑" panose="020B0503020204020204" pitchFamily="34" charset="-122"/>
                <a:ea typeface="微软雅黑" panose="020B0503020204020204" pitchFamily="34" charset="-122"/>
              </a:rPr>
              <a:t>再将其转换到相应的物理地址后进行存取</a:t>
            </a:r>
          </a:p>
          <a:p>
            <a:r>
              <a:rPr lang="zh-CN" altLang="en-US" sz="2000" b="1" dirty="0">
                <a:solidFill>
                  <a:srgbClr val="11576A"/>
                </a:solidFill>
                <a:latin typeface="微软雅黑" panose="020B0503020204020204" pitchFamily="34" charset="-122"/>
                <a:ea typeface="微软雅黑" panose="020B0503020204020204" pitchFamily="34" charset="-122"/>
              </a:rPr>
              <a:t>搜索算法可分为三种：</a:t>
            </a:r>
            <a:endParaRPr lang="en-US" altLang="zh-CN" sz="2000" b="1" dirty="0">
              <a:solidFill>
                <a:srgbClr val="11576A"/>
              </a:solidFill>
              <a:latin typeface="微软雅黑" panose="020B0503020204020204" pitchFamily="34" charset="-122"/>
              <a:ea typeface="微软雅黑" panose="020B0503020204020204" pitchFamily="34" charset="-122"/>
            </a:endParaRPr>
          </a:p>
          <a:p>
            <a:endParaRPr lang="zh-CN" altLang="en-US" sz="2000" b="1" dirty="0">
              <a:solidFill>
                <a:srgbClr val="11576A"/>
              </a:solidFill>
              <a:latin typeface="微软雅黑" panose="020B0503020204020204" pitchFamily="34" charset="-122"/>
              <a:ea typeface="微软雅黑" panose="020B0503020204020204" pitchFamily="34" charset="-122"/>
            </a:endParaRPr>
          </a:p>
          <a:p>
            <a:pPr lvl="1"/>
            <a:r>
              <a:rPr lang="zh-CN" altLang="en-US" sz="16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11576A"/>
                </a:solidFill>
                <a:latin typeface="微软雅黑" panose="020B0503020204020204" pitchFamily="34" charset="-122"/>
                <a:ea typeface="微软雅黑" panose="020B0503020204020204" pitchFamily="34" charset="-122"/>
              </a:rPr>
              <a:t>线性搜索法</a:t>
            </a:r>
            <a:endParaRPr lang="en-US" altLang="zh-CN" sz="2000" b="1" dirty="0">
              <a:solidFill>
                <a:srgbClr val="11576A"/>
              </a:solidFill>
              <a:latin typeface="微软雅黑" panose="020B0503020204020204" pitchFamily="34" charset="-122"/>
              <a:ea typeface="微软雅黑" panose="020B0503020204020204" pitchFamily="34" charset="-122"/>
            </a:endParaRPr>
          </a:p>
          <a:p>
            <a:pPr lvl="1"/>
            <a:endParaRPr lang="zh-CN" altLang="en-US" sz="2000" b="1" dirty="0">
              <a:solidFill>
                <a:srgbClr val="11576A"/>
              </a:solidFill>
              <a:latin typeface="微软雅黑" panose="020B0503020204020204" pitchFamily="34" charset="-122"/>
              <a:ea typeface="微软雅黑" panose="020B0503020204020204" pitchFamily="34" charset="-122"/>
            </a:endParaRPr>
          </a:p>
          <a:p>
            <a:pPr lvl="1"/>
            <a:r>
              <a:rPr lang="zh-CN" altLang="en-US" sz="1600"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11576A"/>
                </a:solidFill>
                <a:latin typeface="微软雅黑" panose="020B0503020204020204" pitchFamily="34" charset="-122"/>
                <a:ea typeface="微软雅黑" panose="020B0503020204020204" pitchFamily="34" charset="-122"/>
              </a:rPr>
              <a:t>散列法</a:t>
            </a:r>
            <a:endParaRPr lang="en-US" altLang="zh-CN" sz="2000" b="1" dirty="0">
              <a:solidFill>
                <a:srgbClr val="11576A"/>
              </a:solidFill>
              <a:latin typeface="微软雅黑" panose="020B0503020204020204" pitchFamily="34" charset="-122"/>
              <a:ea typeface="微软雅黑" panose="020B0503020204020204" pitchFamily="34" charset="-122"/>
            </a:endParaRPr>
          </a:p>
          <a:p>
            <a:pPr lvl="1"/>
            <a:endParaRPr lang="zh-CN" altLang="en-US" sz="2000" b="1" dirty="0">
              <a:solidFill>
                <a:srgbClr val="11576A"/>
              </a:solidFill>
              <a:latin typeface="微软雅黑" panose="020B0503020204020204" pitchFamily="34" charset="-122"/>
              <a:ea typeface="微软雅黑" panose="020B0503020204020204" pitchFamily="34" charset="-122"/>
            </a:endParaRPr>
          </a:p>
          <a:p>
            <a:pPr lvl="1"/>
            <a:r>
              <a:rPr lang="zh-CN" altLang="en-US" sz="1600"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11576A"/>
                </a:solidFill>
                <a:latin typeface="微软雅黑" panose="020B0503020204020204" pitchFamily="34" charset="-122"/>
                <a:ea typeface="微软雅黑" panose="020B0503020204020204" pitchFamily="34" charset="-122"/>
              </a:rPr>
              <a:t>二分搜索法</a:t>
            </a:r>
            <a:endParaRPr lang="en-US" altLang="zh-CN" sz="2000" b="1" dirty="0">
              <a:solidFill>
                <a:srgbClr val="11576A"/>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noChangeArrowheads="1"/>
          </p:cNvSpPr>
          <p:nvPr/>
        </p:nvSpPr>
        <p:spPr bwMode="auto">
          <a:xfrm>
            <a:off x="3755856" y="189267"/>
            <a:ext cx="1928808" cy="553998"/>
          </a:xfrm>
          <a:prstGeom prst="rect">
            <a:avLst/>
          </a:prstGeom>
          <a:noFill/>
          <a:ln w="9525">
            <a:noFill/>
            <a:miter lim="800000"/>
          </a:ln>
        </p:spPr>
        <p:txBody>
          <a:bodyPr wrap="square">
            <a:spAutoFit/>
          </a:bodyPr>
          <a:lstStyle/>
          <a:p>
            <a:r>
              <a:rPr lang="x-none" altLang="zh-CN" sz="3000" b="1" dirty="0">
                <a:solidFill>
                  <a:srgbClr val="11576A"/>
                </a:solidFill>
                <a:latin typeface="微软雅黑" panose="020B0503020204020204" pitchFamily="34" charset="-122"/>
                <a:ea typeface="微软雅黑" panose="020B0503020204020204" pitchFamily="34" charset="-122"/>
              </a:rPr>
              <a:t>主要内容</a:t>
            </a:r>
          </a:p>
        </p:txBody>
      </p:sp>
      <p:grpSp>
        <p:nvGrpSpPr>
          <p:cNvPr id="4" name="组合 1"/>
          <p:cNvGrpSpPr/>
          <p:nvPr/>
        </p:nvGrpSpPr>
        <p:grpSpPr>
          <a:xfrm>
            <a:off x="549284" y="1072186"/>
            <a:ext cx="8566529" cy="415290"/>
            <a:chOff x="520709" y="928676"/>
            <a:chExt cx="8566529" cy="415290"/>
          </a:xfrm>
        </p:grpSpPr>
        <p:sp>
          <p:nvSpPr>
            <p:cNvPr id="37"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7.1 文件和文件系统</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60"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5" name="组合 3"/>
          <p:cNvGrpSpPr/>
          <p:nvPr/>
        </p:nvGrpSpPr>
        <p:grpSpPr>
          <a:xfrm>
            <a:off x="549284" y="1449606"/>
            <a:ext cx="8568952" cy="415290"/>
            <a:chOff x="520709" y="2802785"/>
            <a:chExt cx="8568952" cy="415290"/>
          </a:xfrm>
        </p:grpSpPr>
        <p:sp>
          <p:nvSpPr>
            <p:cNvPr id="4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7.2 文件的逻辑结构与存取方法</a:t>
              </a:r>
              <a:endParaRPr lang="x-none" altLang="zh-CN" dirty="0"/>
            </a:p>
          </p:txBody>
        </p:sp>
        <p:sp>
          <p:nvSpPr>
            <p:cNvPr id="61"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3" name="组合 1"/>
          <p:cNvGrpSpPr/>
          <p:nvPr/>
        </p:nvGrpSpPr>
        <p:grpSpPr>
          <a:xfrm>
            <a:off x="549284" y="1851331"/>
            <a:ext cx="8566529" cy="415290"/>
            <a:chOff x="520709" y="928676"/>
            <a:chExt cx="8566529" cy="415290"/>
          </a:xfrm>
        </p:grpSpPr>
        <p:sp>
          <p:nvSpPr>
            <p:cNvPr id="14"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7.3 文件的物理结构与存储设备</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15"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6" name="组合 3"/>
          <p:cNvGrpSpPr/>
          <p:nvPr/>
        </p:nvGrpSpPr>
        <p:grpSpPr>
          <a:xfrm>
            <a:off x="549284" y="2221717"/>
            <a:ext cx="8568952" cy="415290"/>
            <a:chOff x="520709" y="2802785"/>
            <a:chExt cx="8568952" cy="415290"/>
          </a:xfrm>
        </p:grpSpPr>
        <p:sp>
          <p:nvSpPr>
            <p:cNvPr id="17"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7.4 文件存储空间管理</a:t>
              </a:r>
              <a:endParaRPr lang="x-none" altLang="zh-CN" dirty="0"/>
            </a:p>
          </p:txBody>
        </p:sp>
        <p:sp>
          <p:nvSpPr>
            <p:cNvPr id="18"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9" name="组合 1"/>
          <p:cNvGrpSpPr/>
          <p:nvPr/>
        </p:nvGrpSpPr>
        <p:grpSpPr>
          <a:xfrm>
            <a:off x="549284" y="2643811"/>
            <a:ext cx="8566529" cy="415290"/>
            <a:chOff x="520709" y="928676"/>
            <a:chExt cx="8566529" cy="415290"/>
          </a:xfrm>
        </p:grpSpPr>
        <p:sp>
          <p:nvSpPr>
            <p:cNvPr id="20"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7.5 文件目录 </a:t>
              </a:r>
            </a:p>
          </p:txBody>
        </p:sp>
        <p:sp>
          <p:nvSpPr>
            <p:cNvPr id="21"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22" name="组合 3"/>
          <p:cNvGrpSpPr/>
          <p:nvPr/>
        </p:nvGrpSpPr>
        <p:grpSpPr>
          <a:xfrm>
            <a:off x="549284" y="3014197"/>
            <a:ext cx="8568952" cy="415290"/>
            <a:chOff x="520709" y="2802785"/>
            <a:chExt cx="8568952" cy="415290"/>
          </a:xfrm>
        </p:grpSpPr>
        <p:sp>
          <p:nvSpPr>
            <p:cNvPr id="23"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7.6 文件共享与保护</a:t>
              </a:r>
              <a:endParaRPr lang="x-none" altLang="zh-CN" dirty="0"/>
            </a:p>
          </p:txBody>
        </p:sp>
        <p:sp>
          <p:nvSpPr>
            <p:cNvPr id="24"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7" name="组合 3"/>
          <p:cNvGrpSpPr/>
          <p:nvPr/>
        </p:nvGrpSpPr>
        <p:grpSpPr>
          <a:xfrm>
            <a:off x="546109" y="3429487"/>
            <a:ext cx="8568952" cy="415290"/>
            <a:chOff x="520709" y="2802785"/>
            <a:chExt cx="8568952" cy="415290"/>
          </a:xfrm>
        </p:grpSpPr>
        <p:sp>
          <p:nvSpPr>
            <p:cNvPr id="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7.7 文件的使用</a:t>
              </a:r>
              <a:endParaRPr lang="x-none" altLang="zh-CN" dirty="0"/>
            </a:p>
          </p:txBody>
        </p:sp>
        <p:sp>
          <p:nvSpPr>
            <p:cNvPr id="10"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1" name="组合 3"/>
          <p:cNvGrpSpPr/>
          <p:nvPr/>
        </p:nvGrpSpPr>
        <p:grpSpPr>
          <a:xfrm>
            <a:off x="540394" y="3867002"/>
            <a:ext cx="8568952" cy="415290"/>
            <a:chOff x="520709" y="2802785"/>
            <a:chExt cx="8568952" cy="415290"/>
          </a:xfrm>
        </p:grpSpPr>
        <p:sp>
          <p:nvSpPr>
            <p:cNvPr id="12"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7.8 文件系统与层次模型</a:t>
              </a:r>
              <a:endParaRPr lang="x-none" altLang="zh-CN" dirty="0"/>
            </a:p>
          </p:txBody>
        </p:sp>
        <p:sp>
          <p:nvSpPr>
            <p:cNvPr id="25"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spTree>
    <p:extLst>
      <p:ext uri="{BB962C8B-B14F-4D97-AF65-F5344CB8AC3E}">
        <p14:creationId xmlns:p14="http://schemas.microsoft.com/office/powerpoint/2010/main" val="113297676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2" presetID="22" presetClass="entr" presetSubtype="8"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8"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ctrTitle"/>
          </p:nvPr>
        </p:nvSpPr>
        <p:spPr>
          <a:xfrm>
            <a:off x="971550" y="1924050"/>
            <a:ext cx="7113588" cy="928688"/>
          </a:xfrm>
          <a:ln w="9525">
            <a:noFill/>
            <a:miter/>
          </a:ln>
        </p:spPr>
        <p:txBody>
          <a:bodyPr wrap="square" lIns="91440" tIns="45720" rIns="91440" bIns="45720" anchor="b"/>
          <a:lstStyle/>
          <a:p>
            <a:pPr defTabSz="457200" eaLnBrk="1" hangingPunct="1"/>
            <a:r>
              <a:rPr lang="x-none" altLang="zh-CN" sz="4000" b="1" kern="1200" dirty="0">
                <a:solidFill>
                  <a:srgbClr val="11576A"/>
                </a:solidFill>
                <a:latin typeface="微软雅黑" panose="020B0503020204020204" pitchFamily="34" charset="-122"/>
                <a:ea typeface="微软雅黑" panose="020B0503020204020204" pitchFamily="34" charset="-122"/>
                <a:cs typeface="+mj-cs"/>
              </a:rPr>
              <a:t>7.3</a:t>
            </a:r>
            <a:r>
              <a:rPr lang="zh-CN" altLang="en-US" sz="4000" b="1" kern="1200" dirty="0">
                <a:solidFill>
                  <a:srgbClr val="11576A"/>
                </a:solidFill>
                <a:latin typeface="微软雅黑" panose="020B0503020204020204" pitchFamily="34" charset="-122"/>
                <a:ea typeface="微软雅黑" panose="020B0503020204020204" pitchFamily="34" charset="-122"/>
                <a:cs typeface="+mj-cs"/>
              </a:rPr>
              <a:t> </a:t>
            </a:r>
            <a:r>
              <a:rPr lang="x-none" altLang="zh-CN" sz="4000" b="1" kern="1200" dirty="0">
                <a:solidFill>
                  <a:srgbClr val="11576A"/>
                </a:solidFill>
                <a:latin typeface="微软雅黑" panose="020B0503020204020204" pitchFamily="34" charset="-122"/>
                <a:ea typeface="微软雅黑" panose="020B0503020204020204" pitchFamily="34" charset="-122"/>
                <a:cs typeface="+mj-cs"/>
              </a:rPr>
              <a:t>文件物理结构与存储设备</a:t>
            </a:r>
            <a:br>
              <a:rPr lang="x-none" altLang="zh-CN" sz="4000" b="1" kern="1200" dirty="0">
                <a:solidFill>
                  <a:srgbClr val="11576A"/>
                </a:solidFill>
                <a:latin typeface="微软雅黑" panose="020B0503020204020204" pitchFamily="34" charset="-122"/>
                <a:ea typeface="微软雅黑" panose="020B0503020204020204" pitchFamily="34" charset="-122"/>
                <a:cs typeface="+mj-cs"/>
              </a:rPr>
            </a:br>
            <a:r>
              <a:rPr lang="x-none" altLang="zh-CN" sz="4000" b="1" kern="1200" dirty="0">
                <a:solidFill>
                  <a:srgbClr val="11576A"/>
                </a:solidFill>
                <a:latin typeface="微软雅黑" panose="020B0503020204020204" pitchFamily="34" charset="-122"/>
                <a:ea typeface="微软雅黑" panose="020B0503020204020204" pitchFamily="34" charset="-122"/>
                <a:cs typeface="+mj-cs"/>
              </a:rPr>
              <a:t>文件分配</a:t>
            </a:r>
          </a:p>
        </p:txBody>
      </p:sp>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57224" y="928676"/>
            <a:ext cx="7286676" cy="1631216"/>
          </a:xfrm>
          <a:prstGeom prst="rect">
            <a:avLst/>
          </a:prstGeom>
        </p:spPr>
        <p:txBody>
          <a:bodyPr wrap="squar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微软雅黑" panose="020B0503020204020204" pitchFamily="34" charset="-122"/>
                <a:ea typeface="微软雅黑" panose="020B0503020204020204" pitchFamily="34" charset="-122"/>
              </a:rPr>
              <a:t> 实现的观点（</a:t>
            </a:r>
            <a:r>
              <a:rPr lang="zh-CN" altLang="en-US" sz="2000" b="1" dirty="0">
                <a:solidFill>
                  <a:srgbClr val="FF0000"/>
                </a:solidFill>
                <a:latin typeface="微软雅黑" panose="020B0503020204020204" pitchFamily="34" charset="-122"/>
                <a:ea typeface="微软雅黑" panose="020B0503020204020204" pitchFamily="34" charset="-122"/>
              </a:rPr>
              <a:t>文件的物理结构</a:t>
            </a:r>
            <a:r>
              <a:rPr lang="zh-CN" altLang="en-US" sz="2000" b="1" dirty="0">
                <a:solidFill>
                  <a:srgbClr val="11576A"/>
                </a:solidFill>
                <a:latin typeface="微软雅黑" panose="020B0503020204020204" pitchFamily="34" charset="-122"/>
                <a:ea typeface="微软雅黑" panose="020B0503020204020204" pitchFamily="34" charset="-122"/>
              </a:rPr>
              <a:t>）：主要研究驻留在存储介质上的文件的结构。</a:t>
            </a:r>
            <a:endParaRPr lang="en-US" altLang="zh-CN" sz="2000" b="1" dirty="0">
              <a:solidFill>
                <a:srgbClr val="11576A"/>
              </a:solidFill>
              <a:latin typeface="微软雅黑" panose="020B0503020204020204" pitchFamily="34" charset="-122"/>
              <a:ea typeface="微软雅黑" panose="020B0503020204020204" pitchFamily="34" charset="-122"/>
            </a:endParaRPr>
          </a:p>
          <a:p>
            <a:r>
              <a:rPr lang="zh-CN" altLang="en-US" sz="2000"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微软雅黑" panose="020B0503020204020204" pitchFamily="34" charset="-122"/>
                <a:ea typeface="微软雅黑" panose="020B0503020204020204" pitchFamily="34" charset="-122"/>
              </a:rPr>
              <a:t> 文件的物理结构：文件各个字节在存储介质上是如何摆放的</a:t>
            </a:r>
          </a:p>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11576A"/>
                </a:solidFill>
                <a:latin typeface="微软雅黑" panose="020B0503020204020204" pitchFamily="34" charset="-122"/>
                <a:ea typeface="微软雅黑" panose="020B0503020204020204" pitchFamily="34" charset="-122"/>
              </a:rPr>
              <a:t>由</a:t>
            </a:r>
            <a:r>
              <a:rPr lang="zh-CN" altLang="en-US" sz="2000" b="1" dirty="0">
                <a:solidFill>
                  <a:srgbClr val="FF0000"/>
                </a:solidFill>
                <a:latin typeface="微软雅黑" panose="020B0503020204020204" pitchFamily="34" charset="-122"/>
                <a:ea typeface="微软雅黑" panose="020B0503020204020204" pitchFamily="34" charset="-122"/>
              </a:rPr>
              <a:t>逻辑地址到物理地址的映射</a:t>
            </a:r>
            <a:r>
              <a:rPr lang="zh-CN" altLang="en-US" sz="2000" b="1" dirty="0">
                <a:solidFill>
                  <a:srgbClr val="11576A"/>
                </a:solidFill>
                <a:latin typeface="微软雅黑" panose="020B0503020204020204" pitchFamily="34" charset="-122"/>
                <a:ea typeface="微软雅黑" panose="020B0503020204020204" pitchFamily="34" charset="-122"/>
              </a:rPr>
              <a:t>和文件的</a:t>
            </a:r>
            <a:r>
              <a:rPr lang="zh-CN" altLang="en-US" sz="2000" b="1" dirty="0">
                <a:solidFill>
                  <a:srgbClr val="FF0000"/>
                </a:solidFill>
                <a:latin typeface="微软雅黑" panose="020B0503020204020204" pitchFamily="34" charset="-122"/>
                <a:ea typeface="微软雅黑" panose="020B0503020204020204" pitchFamily="34" charset="-122"/>
              </a:rPr>
              <a:t>物理结构</a:t>
            </a:r>
            <a:r>
              <a:rPr lang="zh-CN" altLang="en-US" sz="2000" b="1" dirty="0">
                <a:solidFill>
                  <a:srgbClr val="11576A"/>
                </a:solidFill>
                <a:latin typeface="微软雅黑" panose="020B0503020204020204" pitchFamily="34" charset="-122"/>
                <a:ea typeface="微软雅黑" panose="020B0503020204020204" pitchFamily="34" charset="-122"/>
              </a:rPr>
              <a:t>紧密相关的</a:t>
            </a:r>
          </a:p>
          <a:p>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11576A"/>
                </a:solidFill>
                <a:latin typeface="微软雅黑" panose="020B0503020204020204" pitchFamily="34" charset="-122"/>
                <a:ea typeface="微软雅黑" panose="020B0503020204020204" pitchFamily="34" charset="-122"/>
              </a:rPr>
              <a:t>文件系统采用哪种</a:t>
            </a:r>
            <a:r>
              <a:rPr lang="zh-CN" altLang="en-US" sz="2000" b="1" dirty="0">
                <a:solidFill>
                  <a:srgbClr val="FF0000"/>
                </a:solidFill>
                <a:latin typeface="微软雅黑" panose="020B0503020204020204" pitchFamily="34" charset="-122"/>
                <a:ea typeface="微软雅黑" panose="020B0503020204020204" pitchFamily="34" charset="-122"/>
              </a:rPr>
              <a:t>存取方法</a:t>
            </a:r>
            <a:r>
              <a:rPr lang="zh-CN" altLang="en-US" sz="2000" b="1" dirty="0">
                <a:solidFill>
                  <a:srgbClr val="11576A"/>
                </a:solidFill>
                <a:latin typeface="微软雅黑" panose="020B0503020204020204" pitchFamily="34" charset="-122"/>
                <a:ea typeface="微软雅黑" panose="020B0503020204020204" pitchFamily="34" charset="-122"/>
              </a:rPr>
              <a:t>和</a:t>
            </a:r>
            <a:r>
              <a:rPr lang="zh-CN" altLang="en-US" sz="2000" b="1" dirty="0">
                <a:solidFill>
                  <a:srgbClr val="FF0000"/>
                </a:solidFill>
                <a:latin typeface="微软雅黑" panose="020B0503020204020204" pitchFamily="34" charset="-122"/>
                <a:ea typeface="微软雅黑" panose="020B0503020204020204" pitchFamily="34" charset="-122"/>
              </a:rPr>
              <a:t>逻辑结构</a:t>
            </a:r>
            <a:r>
              <a:rPr lang="zh-CN" altLang="en-US" sz="2000" b="1" dirty="0">
                <a:solidFill>
                  <a:srgbClr val="11576A"/>
                </a:solidFill>
                <a:latin typeface="微软雅黑" panose="020B0503020204020204" pitchFamily="34" charset="-122"/>
                <a:ea typeface="微软雅黑" panose="020B0503020204020204" pitchFamily="34" charset="-122"/>
              </a:rPr>
              <a:t>是和</a:t>
            </a:r>
            <a:r>
              <a:rPr lang="zh-CN" altLang="en-US" sz="2000" b="1" dirty="0">
                <a:solidFill>
                  <a:srgbClr val="FF0000"/>
                </a:solidFill>
                <a:latin typeface="微软雅黑" panose="020B0503020204020204" pitchFamily="34" charset="-122"/>
                <a:ea typeface="微软雅黑" panose="020B0503020204020204" pitchFamily="34" charset="-122"/>
              </a:rPr>
              <a:t>物理介质</a:t>
            </a:r>
            <a:r>
              <a:rPr lang="zh-CN" altLang="en-US" sz="2000" b="1" dirty="0">
                <a:solidFill>
                  <a:srgbClr val="11576A"/>
                </a:solidFill>
                <a:latin typeface="微软雅黑" panose="020B0503020204020204" pitchFamily="34" charset="-122"/>
                <a:ea typeface="微软雅黑" panose="020B0503020204020204" pitchFamily="34" charset="-122"/>
              </a:rPr>
              <a:t>有关的</a:t>
            </a:r>
            <a:endParaRPr lang="en-US" altLang="zh-CN" sz="2000" b="1" dirty="0">
              <a:solidFill>
                <a:srgbClr val="11576A"/>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cs typeface="+mj-cs"/>
              </a:rPr>
              <a:t>文件的物理结构</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cs typeface="+mj-cs"/>
              </a:rPr>
              <a:t>文件物理结构</a:t>
            </a:r>
            <a:r>
              <a:rPr lang="en-US" altLang="zh-CN" dirty="0">
                <a:cs typeface="+mj-cs"/>
              </a:rPr>
              <a:t>=</a:t>
            </a:r>
            <a:r>
              <a:rPr lang="zh-CN" altLang="en-US" dirty="0"/>
              <a:t>文件分配方式</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grpSp>
        <p:nvGrpSpPr>
          <p:cNvPr id="2" name="组合 1"/>
          <p:cNvGrpSpPr/>
          <p:nvPr/>
        </p:nvGrpSpPr>
        <p:grpSpPr>
          <a:xfrm>
            <a:off x="844893" y="714362"/>
            <a:ext cx="5887347" cy="428628"/>
            <a:chOff x="844893" y="1019164"/>
            <a:chExt cx="5887347" cy="428628"/>
          </a:xfrm>
        </p:grpSpPr>
        <p:sp>
          <p:nvSpPr>
            <p:cNvPr id="9" name="内容占位符 2"/>
            <p:cNvSpPr txBox="1"/>
            <p:nvPr/>
          </p:nvSpPr>
          <p:spPr>
            <a:xfrm>
              <a:off x="1142976" y="1019164"/>
              <a:ext cx="558926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如何表示分配给一个文件数据块的位置和顺序？</a:t>
              </a:r>
              <a:endParaRPr lang="en-US" altLang="zh-CN" dirty="0"/>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844893" y="1052502"/>
            <a:ext cx="4941553" cy="1335097"/>
            <a:chOff x="844893" y="1357304"/>
            <a:chExt cx="4941553" cy="1335097"/>
          </a:xfrm>
        </p:grpSpPr>
        <p:pic>
          <p:nvPicPr>
            <p:cNvPr id="16" name="图片 15" descr="小点1.png"/>
            <p:cNvPicPr>
              <a:picLocks noChangeAspect="1"/>
            </p:cNvPicPr>
            <p:nvPr/>
          </p:nvPicPr>
          <p:blipFill>
            <a:blip r:embed="rId3" cstate="print"/>
            <a:stretch>
              <a:fillRect/>
            </a:stretch>
          </p:blipFill>
          <p:spPr>
            <a:xfrm>
              <a:off x="1262422" y="1803624"/>
              <a:ext cx="151066" cy="148997"/>
            </a:xfrm>
            <a:prstGeom prst="rect">
              <a:avLst/>
            </a:prstGeom>
            <a:effectLst/>
          </p:spPr>
        </p:pic>
        <p:sp>
          <p:nvSpPr>
            <p:cNvPr id="17" name="内容占位符 2"/>
            <p:cNvSpPr txBox="1"/>
            <p:nvPr/>
          </p:nvSpPr>
          <p:spPr>
            <a:xfrm>
              <a:off x="1394985" y="1698848"/>
              <a:ext cx="2891263"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solidFill>
                    <a:srgbClr val="FF0000"/>
                  </a:solidFill>
                </a:rPr>
                <a:t>连续文件</a:t>
              </a:r>
              <a:r>
                <a:rPr lang="en-US" altLang="zh-CN" dirty="0"/>
                <a:t>=</a:t>
              </a:r>
              <a:r>
                <a:rPr lang="zh-CN" altLang="en-US" dirty="0"/>
                <a:t>连续</a:t>
              </a: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分配</a:t>
              </a:r>
            </a:p>
          </p:txBody>
        </p:sp>
        <p:sp>
          <p:nvSpPr>
            <p:cNvPr id="20" name="内容占位符 2"/>
            <p:cNvSpPr txBox="1"/>
            <p:nvPr/>
          </p:nvSpPr>
          <p:spPr>
            <a:xfrm>
              <a:off x="1142976" y="1357304"/>
              <a:ext cx="464347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文件的物理结构决定了其分配方式</a:t>
              </a:r>
              <a:endParaRPr lang="en-US" altLang="zh-CN" dirty="0"/>
            </a:p>
          </p:txBody>
        </p:sp>
        <p:sp>
          <p:nvSpPr>
            <p:cNvPr id="21" name="TextBox 20"/>
            <p:cNvSpPr txBox="1"/>
            <p:nvPr/>
          </p:nvSpPr>
          <p:spPr>
            <a:xfrm>
              <a:off x="844893" y="135730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22" name="图片 21" descr="小点1.png"/>
            <p:cNvPicPr>
              <a:picLocks noChangeAspect="1"/>
            </p:cNvPicPr>
            <p:nvPr/>
          </p:nvPicPr>
          <p:blipFill>
            <a:blip r:embed="rId3" cstate="print"/>
            <a:stretch>
              <a:fillRect/>
            </a:stretch>
          </p:blipFill>
          <p:spPr>
            <a:xfrm>
              <a:off x="1262422" y="2118404"/>
              <a:ext cx="151066" cy="148997"/>
            </a:xfrm>
            <a:prstGeom prst="rect">
              <a:avLst/>
            </a:prstGeom>
            <a:effectLst/>
          </p:spPr>
        </p:pic>
        <p:sp>
          <p:nvSpPr>
            <p:cNvPr id="23" name="内容占位符 2"/>
            <p:cNvSpPr txBox="1"/>
            <p:nvPr/>
          </p:nvSpPr>
          <p:spPr>
            <a:xfrm>
              <a:off x="1394985" y="2013628"/>
              <a:ext cx="3105577"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链式文件</a:t>
              </a:r>
              <a:r>
                <a:rPr lang="en-US" altLang="zh-CN" dirty="0"/>
                <a:t>=</a:t>
              </a:r>
              <a:r>
                <a:rPr lang="zh-CN" altLang="en-US" dirty="0"/>
                <a:t>链式分配</a:t>
              </a:r>
            </a:p>
            <a:p>
              <a:pPr marL="0" lvl="1" indent="0">
                <a:lnSpc>
                  <a:spcPct val="90000"/>
                </a:lnSpc>
              </a:pP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pic>
          <p:nvPicPr>
            <p:cNvPr id="24" name="图片 23" descr="小点1.png"/>
            <p:cNvPicPr>
              <a:picLocks noChangeAspect="1"/>
            </p:cNvPicPr>
            <p:nvPr/>
          </p:nvPicPr>
          <p:blipFill>
            <a:blip r:embed="rId3" cstate="print"/>
            <a:stretch>
              <a:fillRect/>
            </a:stretch>
          </p:blipFill>
          <p:spPr>
            <a:xfrm>
              <a:off x="1262422" y="2438855"/>
              <a:ext cx="151066" cy="148997"/>
            </a:xfrm>
            <a:prstGeom prst="rect">
              <a:avLst/>
            </a:prstGeom>
            <a:effectLst/>
          </p:spPr>
        </p:pic>
        <p:sp>
          <p:nvSpPr>
            <p:cNvPr id="25" name="内容占位符 2"/>
            <p:cNvSpPr txBox="1"/>
            <p:nvPr/>
          </p:nvSpPr>
          <p:spPr>
            <a:xfrm>
              <a:off x="1394985" y="2334079"/>
              <a:ext cx="3248453"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索引文件</a:t>
              </a:r>
              <a:r>
                <a:rPr lang="en-US" altLang="zh-CN" dirty="0"/>
                <a:t>=</a:t>
              </a:r>
              <a:r>
                <a:rPr lang="zh-CN" altLang="en-US" dirty="0"/>
                <a:t>索引分配</a:t>
              </a:r>
            </a:p>
            <a:p>
              <a:pPr marL="0" lvl="1" indent="0">
                <a:lnSpc>
                  <a:spcPct val="90000"/>
                </a:lnSpc>
              </a:pP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4" name="组合 3"/>
          <p:cNvGrpSpPr/>
          <p:nvPr/>
        </p:nvGrpSpPr>
        <p:grpSpPr>
          <a:xfrm>
            <a:off x="5059703" y="1057038"/>
            <a:ext cx="4084297" cy="1014646"/>
            <a:chOff x="844893" y="2652031"/>
            <a:chExt cx="4084297" cy="1014646"/>
          </a:xfrm>
        </p:grpSpPr>
        <p:pic>
          <p:nvPicPr>
            <p:cNvPr id="27" name="图片 26" descr="小点1.png"/>
            <p:cNvPicPr>
              <a:picLocks noChangeAspect="1"/>
            </p:cNvPicPr>
            <p:nvPr/>
          </p:nvPicPr>
          <p:blipFill>
            <a:blip r:embed="rId3" cstate="print"/>
            <a:stretch>
              <a:fillRect/>
            </a:stretch>
          </p:blipFill>
          <p:spPr>
            <a:xfrm>
              <a:off x="1262422" y="3098351"/>
              <a:ext cx="151066" cy="148997"/>
            </a:xfrm>
            <a:prstGeom prst="rect">
              <a:avLst/>
            </a:prstGeom>
            <a:effectLst/>
          </p:spPr>
        </p:pic>
        <p:sp>
          <p:nvSpPr>
            <p:cNvPr id="28" name="内容占位符 2"/>
            <p:cNvSpPr txBox="1"/>
            <p:nvPr/>
          </p:nvSpPr>
          <p:spPr>
            <a:xfrm>
              <a:off x="1394985" y="2993575"/>
              <a:ext cx="3534205"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存储效率</a:t>
              </a:r>
              <a:r>
                <a:rPr lang="zh-CN" altLang="zh-CN" dirty="0"/>
                <a:t>：</a:t>
              </a:r>
              <a:r>
                <a:rPr lang="zh-CN" altLang="en-US" dirty="0"/>
                <a:t>外部碎片等</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33" name="内容占位符 2"/>
            <p:cNvSpPr txBox="1"/>
            <p:nvPr/>
          </p:nvSpPr>
          <p:spPr>
            <a:xfrm>
              <a:off x="1142976" y="2652031"/>
              <a:ext cx="85725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指标</a:t>
              </a:r>
              <a:endParaRPr lang="en-US" altLang="zh-CN" dirty="0"/>
            </a:p>
          </p:txBody>
        </p:sp>
        <p:sp>
          <p:nvSpPr>
            <p:cNvPr id="34" name="TextBox 33"/>
            <p:cNvSpPr txBox="1"/>
            <p:nvPr/>
          </p:nvSpPr>
          <p:spPr>
            <a:xfrm>
              <a:off x="844893" y="2652031"/>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35" name="图片 34" descr="小点1.png"/>
            <p:cNvPicPr>
              <a:picLocks noChangeAspect="1"/>
            </p:cNvPicPr>
            <p:nvPr/>
          </p:nvPicPr>
          <p:blipFill>
            <a:blip r:embed="rId3" cstate="print"/>
            <a:stretch>
              <a:fillRect/>
            </a:stretch>
          </p:blipFill>
          <p:spPr>
            <a:xfrm>
              <a:off x="1262422" y="3413131"/>
              <a:ext cx="151066" cy="148997"/>
            </a:xfrm>
            <a:prstGeom prst="rect">
              <a:avLst/>
            </a:prstGeom>
            <a:effectLst/>
          </p:spPr>
        </p:pic>
        <p:sp>
          <p:nvSpPr>
            <p:cNvPr id="36" name="内容占位符 2"/>
            <p:cNvSpPr txBox="1"/>
            <p:nvPr/>
          </p:nvSpPr>
          <p:spPr>
            <a:xfrm>
              <a:off x="1394985" y="3308355"/>
              <a:ext cx="3177015"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读写性能：访问速度</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sp>
        <p:nvSpPr>
          <p:cNvPr id="26" name="矩形 25"/>
          <p:cNvSpPr/>
          <p:nvPr/>
        </p:nvSpPr>
        <p:spPr>
          <a:xfrm>
            <a:off x="857224" y="2416732"/>
            <a:ext cx="4929222" cy="369332"/>
          </a:xfrm>
          <a:prstGeom prst="rect">
            <a:avLst/>
          </a:prstGeom>
        </p:spPr>
        <p:txBody>
          <a:bodyPr wrap="squar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r>
              <a:rPr lang="zh-CN" altLang="en-US" b="1" dirty="0">
                <a:solidFill>
                  <a:srgbClr val="11576A"/>
                </a:solidFill>
                <a:latin typeface="微软雅黑" panose="020B0503020204020204" pitchFamily="34" charset="-122"/>
                <a:ea typeface="微软雅黑" panose="020B0503020204020204" pitchFamily="34" charset="-122"/>
              </a:rPr>
              <a:t> 存储设备的存储区域如何划分？</a:t>
            </a:r>
            <a:endParaRPr lang="en-US" altLang="zh-CN" b="1" dirty="0">
              <a:solidFill>
                <a:srgbClr val="11576A"/>
              </a:solidFill>
              <a:latin typeface="微软雅黑" panose="020B0503020204020204" pitchFamily="34" charset="-122"/>
              <a:ea typeface="微软雅黑" panose="020B0503020204020204" pitchFamily="34" charset="-122"/>
            </a:endParaRPr>
          </a:p>
        </p:txBody>
      </p:sp>
      <p:grpSp>
        <p:nvGrpSpPr>
          <p:cNvPr id="29" name="组合 28"/>
          <p:cNvGrpSpPr/>
          <p:nvPr/>
        </p:nvGrpSpPr>
        <p:grpSpPr>
          <a:xfrm>
            <a:off x="844893" y="2702484"/>
            <a:ext cx="4227173" cy="929826"/>
            <a:chOff x="844893" y="1019164"/>
            <a:chExt cx="4227173" cy="929826"/>
          </a:xfrm>
        </p:grpSpPr>
        <p:sp>
          <p:nvSpPr>
            <p:cNvPr id="30" name="内容占位符 2"/>
            <p:cNvSpPr txBox="1"/>
            <p:nvPr/>
          </p:nvSpPr>
          <p:spPr>
            <a:xfrm>
              <a:off x="1142976" y="1019164"/>
              <a:ext cx="242889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1800" dirty="0"/>
                <a:t>大多数文件都很小</a:t>
              </a:r>
              <a:endParaRPr lang="en-US" altLang="zh-CN" sz="1800" dirty="0"/>
            </a:p>
          </p:txBody>
        </p:sp>
        <p:sp>
          <p:nvSpPr>
            <p:cNvPr id="31" name="TextBox 30"/>
            <p:cNvSpPr txBox="1"/>
            <p:nvPr/>
          </p:nvSpPr>
          <p:spPr>
            <a:xfrm>
              <a:off x="844893" y="1019164"/>
              <a:ext cx="433390" cy="369332"/>
            </a:xfrm>
            <a:prstGeom prst="rect">
              <a:avLst/>
            </a:prstGeom>
            <a:noFill/>
            <a:effectLst/>
          </p:spPr>
          <p:txBody>
            <a:bodyPr wrap="square" rtlCol="0">
              <a:spAutoFit/>
            </a:bodyPr>
            <a:lstStyle/>
            <a:p>
              <a:pPr marL="342900" indent="-342900">
                <a:spcBef>
                  <a:spcPct val="20000"/>
                </a:spcBef>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anose="020B0503020204020204" pitchFamily="34" charset="-122"/>
                <a:ea typeface="微软雅黑" panose="020B0503020204020204" pitchFamily="34" charset="-122"/>
              </a:endParaRPr>
            </a:p>
          </p:txBody>
        </p:sp>
        <p:pic>
          <p:nvPicPr>
            <p:cNvPr id="32" name="图片 31" descr="小点1.png"/>
            <p:cNvPicPr>
              <a:picLocks noChangeAspect="1"/>
            </p:cNvPicPr>
            <p:nvPr/>
          </p:nvPicPr>
          <p:blipFill>
            <a:blip r:embed="rId3" cstate="print"/>
            <a:stretch>
              <a:fillRect/>
            </a:stretch>
          </p:blipFill>
          <p:spPr>
            <a:xfrm>
              <a:off x="1262422" y="1409692"/>
              <a:ext cx="151066" cy="148997"/>
            </a:xfrm>
            <a:prstGeom prst="rect">
              <a:avLst/>
            </a:prstGeom>
            <a:effectLst/>
          </p:spPr>
        </p:pic>
        <p:sp>
          <p:nvSpPr>
            <p:cNvPr id="37" name="内容占位符 2"/>
            <p:cNvSpPr txBox="1"/>
            <p:nvPr/>
          </p:nvSpPr>
          <p:spPr>
            <a:xfrm>
              <a:off x="1394985" y="1304916"/>
              <a:ext cx="3677081"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800" dirty="0"/>
                <a:t>需要对小文件提供很好的支持</a:t>
              </a:r>
              <a:endParaRPr kumimoji="0" lang="zh-CN" altLang="en-US" sz="18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pic>
          <p:nvPicPr>
            <p:cNvPr id="38" name="图片 37" descr="小点1.png"/>
            <p:cNvPicPr>
              <a:picLocks noChangeAspect="1"/>
            </p:cNvPicPr>
            <p:nvPr/>
          </p:nvPicPr>
          <p:blipFill>
            <a:blip r:embed="rId3" cstate="print"/>
            <a:stretch>
              <a:fillRect/>
            </a:stretch>
          </p:blipFill>
          <p:spPr>
            <a:xfrm>
              <a:off x="1262422" y="1695444"/>
              <a:ext cx="151066" cy="148997"/>
            </a:xfrm>
            <a:prstGeom prst="rect">
              <a:avLst/>
            </a:prstGeom>
            <a:effectLst/>
          </p:spPr>
        </p:pic>
        <p:sp>
          <p:nvSpPr>
            <p:cNvPr id="39" name="内容占位符 2"/>
            <p:cNvSpPr txBox="1"/>
            <p:nvPr/>
          </p:nvSpPr>
          <p:spPr>
            <a:xfrm>
              <a:off x="1394985" y="1590668"/>
              <a:ext cx="2176883"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800" dirty="0"/>
                <a:t>块空间不能太大</a:t>
              </a:r>
              <a:endParaRPr kumimoji="0" lang="zh-CN" altLang="en-US" sz="18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40" name="组合 39"/>
          <p:cNvGrpSpPr/>
          <p:nvPr/>
        </p:nvGrpSpPr>
        <p:grpSpPr>
          <a:xfrm>
            <a:off x="844893" y="3534116"/>
            <a:ext cx="5227305" cy="955450"/>
            <a:chOff x="844893" y="1997979"/>
            <a:chExt cx="5227305" cy="955450"/>
          </a:xfrm>
        </p:grpSpPr>
        <p:sp>
          <p:nvSpPr>
            <p:cNvPr id="41" name="内容占位符 2"/>
            <p:cNvSpPr txBox="1"/>
            <p:nvPr/>
          </p:nvSpPr>
          <p:spPr>
            <a:xfrm>
              <a:off x="1142976" y="1997979"/>
              <a:ext cx="214314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1800" dirty="0"/>
                <a:t>一些文件非常大</a:t>
              </a:r>
              <a:endParaRPr lang="en-US" altLang="zh-CN" sz="1800" dirty="0"/>
            </a:p>
          </p:txBody>
        </p:sp>
        <p:sp>
          <p:nvSpPr>
            <p:cNvPr id="42" name="TextBox 41"/>
            <p:cNvSpPr txBox="1"/>
            <p:nvPr/>
          </p:nvSpPr>
          <p:spPr>
            <a:xfrm>
              <a:off x="844893" y="1997979"/>
              <a:ext cx="433390" cy="369332"/>
            </a:xfrm>
            <a:prstGeom prst="rect">
              <a:avLst/>
            </a:prstGeom>
            <a:noFill/>
            <a:effectLst/>
          </p:spPr>
          <p:txBody>
            <a:bodyPr wrap="square" rtlCol="0">
              <a:spAutoFit/>
            </a:bodyPr>
            <a:lstStyle/>
            <a:p>
              <a:pPr marL="342900" indent="-342900">
                <a:spcBef>
                  <a:spcPct val="20000"/>
                </a:spcBef>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anose="020B0503020204020204" pitchFamily="34" charset="-122"/>
                <a:ea typeface="微软雅黑" panose="020B0503020204020204" pitchFamily="34" charset="-122"/>
              </a:endParaRPr>
            </a:p>
          </p:txBody>
        </p:sp>
        <p:pic>
          <p:nvPicPr>
            <p:cNvPr id="43" name="图片 42" descr="小点1.png"/>
            <p:cNvPicPr>
              <a:picLocks noChangeAspect="1"/>
            </p:cNvPicPr>
            <p:nvPr/>
          </p:nvPicPr>
          <p:blipFill>
            <a:blip r:embed="rId3" cstate="print"/>
            <a:stretch>
              <a:fillRect/>
            </a:stretch>
          </p:blipFill>
          <p:spPr>
            <a:xfrm>
              <a:off x="1262422" y="2414131"/>
              <a:ext cx="151066" cy="148997"/>
            </a:xfrm>
            <a:prstGeom prst="rect">
              <a:avLst/>
            </a:prstGeom>
            <a:effectLst/>
          </p:spPr>
        </p:pic>
        <p:sp>
          <p:nvSpPr>
            <p:cNvPr id="44" name="内容占位符 2"/>
            <p:cNvSpPr txBox="1"/>
            <p:nvPr/>
          </p:nvSpPr>
          <p:spPr>
            <a:xfrm>
              <a:off x="1394985" y="2309355"/>
              <a:ext cx="4677213"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800" dirty="0"/>
                <a:t>必须支持大文件</a:t>
              </a:r>
              <a:r>
                <a:rPr lang="en-US" altLang="zh-CN" sz="1800" dirty="0"/>
                <a:t> (64</a:t>
              </a:r>
              <a:r>
                <a:rPr lang="zh-CN" altLang="en-US" sz="1800" dirty="0"/>
                <a:t>位文件偏移）</a:t>
              </a:r>
              <a:endParaRPr kumimoji="0" lang="zh-CN" altLang="en-US" sz="18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pic>
          <p:nvPicPr>
            <p:cNvPr id="45" name="图片 44" descr="小点1.png"/>
            <p:cNvPicPr>
              <a:picLocks noChangeAspect="1"/>
            </p:cNvPicPr>
            <p:nvPr/>
          </p:nvPicPr>
          <p:blipFill>
            <a:blip r:embed="rId3" cstate="print"/>
            <a:stretch>
              <a:fillRect/>
            </a:stretch>
          </p:blipFill>
          <p:spPr>
            <a:xfrm>
              <a:off x="1262422" y="2699883"/>
              <a:ext cx="151066" cy="148997"/>
            </a:xfrm>
            <a:prstGeom prst="rect">
              <a:avLst/>
            </a:prstGeom>
            <a:effectLst/>
          </p:spPr>
        </p:pic>
        <p:sp>
          <p:nvSpPr>
            <p:cNvPr id="46" name="内容占位符 2"/>
            <p:cNvSpPr txBox="1"/>
            <p:nvPr/>
          </p:nvSpPr>
          <p:spPr>
            <a:xfrm>
              <a:off x="1394985" y="2595107"/>
              <a:ext cx="3319891"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800" dirty="0"/>
                <a:t>大文件访问需要高效</a:t>
              </a:r>
              <a:endParaRPr kumimoji="0" lang="zh-CN" altLang="en-US" sz="18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sp>
        <p:nvSpPr>
          <p:cNvPr id="47" name="矩形 46"/>
          <p:cNvSpPr/>
          <p:nvPr/>
        </p:nvSpPr>
        <p:spPr>
          <a:xfrm>
            <a:off x="928662" y="4488434"/>
            <a:ext cx="7715304" cy="369332"/>
          </a:xfrm>
          <a:prstGeom prst="rect">
            <a:avLst/>
          </a:prstGeom>
        </p:spPr>
        <p:txBody>
          <a:bodyPr wrap="square">
            <a:spAutoFit/>
          </a:bodyPr>
          <a:lstStyle/>
          <a:p>
            <a:r>
              <a:rPr lang="zh-CN" altLang="en-US" b="1" dirty="0">
                <a:solidFill>
                  <a:srgbClr val="11576A"/>
                </a:solidFill>
                <a:latin typeface="微软雅黑" panose="020B0503020204020204" pitchFamily="34" charset="-122"/>
                <a:ea typeface="微软雅黑" panose="020B0503020204020204" pitchFamily="34" charset="-122"/>
              </a:rPr>
              <a:t>通常将存储划分为若干个大小相等的物理块，每块的长为</a:t>
            </a:r>
            <a:r>
              <a:rPr lang="en-US" altLang="zh-CN" b="1" dirty="0">
                <a:solidFill>
                  <a:srgbClr val="11576A"/>
                </a:solidFill>
                <a:latin typeface="微软雅黑" panose="020B0503020204020204" pitchFamily="34" charset="-122"/>
                <a:ea typeface="微软雅黑" panose="020B0503020204020204" pitchFamily="34" charset="-122"/>
              </a:rPr>
              <a:t>512B</a:t>
            </a:r>
            <a:r>
              <a:rPr lang="zh-CN" altLang="en-US" b="1" dirty="0">
                <a:solidFill>
                  <a:srgbClr val="11576A"/>
                </a:solidFill>
                <a:latin typeface="微软雅黑" panose="020B0503020204020204" pitchFamily="34" charset="-122"/>
                <a:ea typeface="微软雅黑" panose="020B0503020204020204" pitchFamily="34" charset="-122"/>
              </a:rPr>
              <a:t>到</a:t>
            </a:r>
            <a:r>
              <a:rPr lang="en-US" altLang="zh-CN" b="1" dirty="0">
                <a:solidFill>
                  <a:srgbClr val="11576A"/>
                </a:solidFill>
                <a:latin typeface="微软雅黑" panose="020B0503020204020204" pitchFamily="34" charset="-122"/>
                <a:ea typeface="微软雅黑" panose="020B0503020204020204" pitchFamily="34" charset="-122"/>
              </a:rPr>
              <a:t>4KB</a:t>
            </a:r>
            <a:endParaRPr lang="zh-CN" altLang="en-US" b="1" dirty="0">
              <a:solidFill>
                <a:srgbClr val="11576A"/>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par>
                                <p:cTn id="18" presetID="22" presetClass="entr" presetSubtype="8"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left)">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wipe(left)">
                                      <p:cBhvr>
                                        <p:cTn id="2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9A391AEB-F5B8-425C-B202-1FA609C6E36C}"/>
              </a:ext>
            </a:extLst>
          </p:cNvPr>
          <p:cNvSpPr>
            <a:spLocks noGrp="1"/>
          </p:cNvSpPr>
          <p:nvPr>
            <p:ph type="sldNum" sz="quarter" idx="12"/>
          </p:nvPr>
        </p:nvSpPr>
        <p:spPr/>
        <p:txBody>
          <a:bodyPr/>
          <a:lstStyle/>
          <a:p>
            <a:pPr defTabSz="685800" fontAlgn="base">
              <a:spcBef>
                <a:spcPct val="0"/>
              </a:spcBef>
              <a:spcAft>
                <a:spcPct val="0"/>
              </a:spcAft>
            </a:pPr>
            <a:fld id="{E18F0625-E58B-4975-9210-E31ECD2D160D}" type="slidenum">
              <a:rPr lang="en-US" altLang="zh-CN">
                <a:solidFill>
                  <a:srgbClr val="FFFFFF"/>
                </a:solidFill>
                <a:latin typeface="Arial" panose="020B0604020202020204" pitchFamily="34" charset="0"/>
                <a:ea typeface="宋体"/>
              </a:rPr>
              <a:pPr defTabSz="685800" fontAlgn="base">
                <a:spcBef>
                  <a:spcPct val="0"/>
                </a:spcBef>
                <a:spcAft>
                  <a:spcPct val="0"/>
                </a:spcAft>
              </a:pPr>
              <a:t>37</a:t>
            </a:fld>
            <a:endParaRPr lang="en-US" altLang="zh-CN">
              <a:solidFill>
                <a:srgbClr val="FFFFFF"/>
              </a:solidFill>
              <a:latin typeface="Arial" panose="020B0604020202020204" pitchFamily="34" charset="0"/>
              <a:ea typeface="宋体"/>
            </a:endParaRPr>
          </a:p>
        </p:txBody>
      </p:sp>
      <p:sp>
        <p:nvSpPr>
          <p:cNvPr id="84994" name="Rectangle 2">
            <a:extLst>
              <a:ext uri="{FF2B5EF4-FFF2-40B4-BE49-F238E27FC236}">
                <a16:creationId xmlns:a16="http://schemas.microsoft.com/office/drawing/2014/main" id="{A57C3DF5-B940-46E1-8216-3F7745878366}"/>
              </a:ext>
            </a:extLst>
          </p:cNvPr>
          <p:cNvSpPr>
            <a:spLocks noGrp="1" noChangeArrowheads="1"/>
          </p:cNvSpPr>
          <p:nvPr>
            <p:ph type="title"/>
          </p:nvPr>
        </p:nvSpPr>
        <p:spPr>
          <a:xfrm>
            <a:off x="1543050" y="0"/>
            <a:ext cx="5829300" cy="1096566"/>
          </a:xfrm>
        </p:spPr>
        <p:txBody>
          <a:bodyPr/>
          <a:lstStyle/>
          <a:p>
            <a:r>
              <a:rPr lang="zh-CN" altLang="en-US" b="1">
                <a:latin typeface="宋体" panose="02010600030101010101" pitchFamily="2" charset="-122"/>
              </a:rPr>
              <a:t>连续结构</a:t>
            </a:r>
          </a:p>
        </p:txBody>
      </p:sp>
      <p:sp>
        <p:nvSpPr>
          <p:cNvPr id="84995" name="Rectangle 3">
            <a:extLst>
              <a:ext uri="{FF2B5EF4-FFF2-40B4-BE49-F238E27FC236}">
                <a16:creationId xmlns:a16="http://schemas.microsoft.com/office/drawing/2014/main" id="{6C546110-ADC2-4EC9-914E-E78F62F13BA0}"/>
              </a:ext>
            </a:extLst>
          </p:cNvPr>
          <p:cNvSpPr>
            <a:spLocks noGrp="1" noChangeArrowheads="1"/>
          </p:cNvSpPr>
          <p:nvPr>
            <p:ph type="body" idx="1"/>
          </p:nvPr>
        </p:nvSpPr>
        <p:spPr>
          <a:xfrm>
            <a:off x="1485900" y="1314450"/>
            <a:ext cx="6172200" cy="3429000"/>
          </a:xfrm>
        </p:spPr>
        <p:txBody>
          <a:bodyPr/>
          <a:lstStyle/>
          <a:p>
            <a:pPr algn="just"/>
            <a:r>
              <a:rPr lang="zh-CN" altLang="en-US" sz="2700" b="1">
                <a:solidFill>
                  <a:srgbClr val="FFCC00"/>
                </a:solidFill>
                <a:latin typeface="黑体" panose="02010609060101010101" pitchFamily="49" charset="-122"/>
                <a:ea typeface="黑体" panose="02010609060101010101" pitchFamily="49" charset="-122"/>
              </a:rPr>
              <a:t>一个文件的全部信息存放在外存的一片连续编号的物理块中，这种结构称为连续结构，或称连续文件</a:t>
            </a:r>
          </a:p>
          <a:p>
            <a:pPr algn="just"/>
            <a:r>
              <a:rPr lang="zh-CN" altLang="en-US" sz="2700" b="1">
                <a:solidFill>
                  <a:srgbClr val="FFCC00"/>
                </a:solidFill>
                <a:latin typeface="黑体" panose="02010609060101010101" pitchFamily="49" charset="-122"/>
                <a:ea typeface="黑体" panose="02010609060101010101" pitchFamily="49" charset="-122"/>
              </a:rPr>
              <a:t>存放在磁带上的文件一般采用连续结构，即序号为</a:t>
            </a:r>
            <a:r>
              <a:rPr lang="en-US" altLang="zh-CN" sz="2700" b="1">
                <a:solidFill>
                  <a:srgbClr val="FFCC00"/>
                </a:solidFill>
                <a:latin typeface="黑体" panose="02010609060101010101" pitchFamily="49" charset="-122"/>
                <a:ea typeface="黑体" panose="02010609060101010101" pitchFamily="49" charset="-122"/>
              </a:rPr>
              <a:t>i+1</a:t>
            </a:r>
            <a:r>
              <a:rPr lang="zh-CN" altLang="en-US" sz="2700" b="1">
                <a:solidFill>
                  <a:srgbClr val="FFCC00"/>
                </a:solidFill>
                <a:latin typeface="黑体" panose="02010609060101010101" pitchFamily="49" charset="-122"/>
                <a:ea typeface="黑体" panose="02010609060101010101" pitchFamily="49" charset="-122"/>
              </a:rPr>
              <a:t>的物理块一定在</a:t>
            </a:r>
            <a:r>
              <a:rPr lang="en-US" altLang="zh-CN" sz="2700" b="1">
                <a:solidFill>
                  <a:srgbClr val="FFCC00"/>
                </a:solidFill>
                <a:latin typeface="黑体" panose="02010609060101010101" pitchFamily="49" charset="-122"/>
                <a:ea typeface="黑体" panose="02010609060101010101" pitchFamily="49" charset="-122"/>
              </a:rPr>
              <a:t>i</a:t>
            </a:r>
            <a:r>
              <a:rPr lang="zh-CN" altLang="en-US" sz="2700" b="1">
                <a:solidFill>
                  <a:srgbClr val="FFCC00"/>
                </a:solidFill>
                <a:latin typeface="黑体" panose="02010609060101010101" pitchFamily="49" charset="-122"/>
                <a:ea typeface="黑体" panose="02010609060101010101" pitchFamily="49" charset="-122"/>
              </a:rPr>
              <a:t>物理块之后。而存放在磁盘上的文件则可采用连续结构，也可采用别的结构</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连续结构</a:t>
            </a:r>
            <a:r>
              <a:rPr kumimoji="0" lang="en-US" altLang="zh-CN"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a:t>
            </a: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连续分配</a:t>
            </a:r>
            <a:r>
              <a:rPr kumimoji="0" lang="en-US" altLang="zh-CN"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grpSp>
        <p:nvGrpSpPr>
          <p:cNvPr id="2" name="组合 1"/>
          <p:cNvGrpSpPr/>
          <p:nvPr/>
        </p:nvGrpSpPr>
        <p:grpSpPr>
          <a:xfrm>
            <a:off x="844893" y="771550"/>
            <a:ext cx="7134225" cy="429260"/>
            <a:chOff x="844893" y="1758692"/>
            <a:chExt cx="7134225" cy="429260"/>
          </a:xfrm>
        </p:grpSpPr>
        <p:sp>
          <p:nvSpPr>
            <p:cNvPr id="42" name="内容占位符 2"/>
            <p:cNvSpPr txBox="1"/>
            <p:nvPr/>
          </p:nvSpPr>
          <p:spPr>
            <a:xfrm>
              <a:off x="1142708" y="1759327"/>
              <a:ext cx="6836410" cy="428625"/>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文件头</a:t>
              </a:r>
              <a:r>
                <a:rPr lang="x-none" altLang="zh-CN" dirty="0"/>
                <a:t>Inode(FCB)</a:t>
              </a:r>
              <a:r>
                <a:rPr lang="zh-CN" altLang="en-US" dirty="0"/>
                <a:t>指定起始块和长度</a:t>
              </a:r>
              <a:endParaRPr lang="en-US" altLang="zh-CN" dirty="0"/>
            </a:p>
          </p:txBody>
        </p:sp>
        <p:sp>
          <p:nvSpPr>
            <p:cNvPr id="43" name="TextBox 42"/>
            <p:cNvSpPr txBox="1"/>
            <p:nvPr/>
          </p:nvSpPr>
          <p:spPr>
            <a:xfrm>
              <a:off x="844893" y="1758692"/>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844893" y="1920350"/>
            <a:ext cx="3869983" cy="656322"/>
            <a:chOff x="844893" y="2042402"/>
            <a:chExt cx="3869983" cy="656322"/>
          </a:xfrm>
        </p:grpSpPr>
        <p:pic>
          <p:nvPicPr>
            <p:cNvPr id="45" name="图片 44" descr="小点1.png"/>
            <p:cNvPicPr>
              <a:picLocks noChangeAspect="1"/>
            </p:cNvPicPr>
            <p:nvPr/>
          </p:nvPicPr>
          <p:blipFill>
            <a:blip r:embed="rId3" cstate="print"/>
            <a:stretch>
              <a:fillRect/>
            </a:stretch>
          </p:blipFill>
          <p:spPr>
            <a:xfrm>
              <a:off x="1262422" y="2456064"/>
              <a:ext cx="151066" cy="148997"/>
            </a:xfrm>
            <a:prstGeom prst="rect">
              <a:avLst/>
            </a:prstGeom>
            <a:effectLst/>
          </p:spPr>
        </p:pic>
        <p:sp>
          <p:nvSpPr>
            <p:cNvPr id="46" name="内容占位符 2"/>
            <p:cNvSpPr txBox="1"/>
            <p:nvPr/>
          </p:nvSpPr>
          <p:spPr>
            <a:xfrm>
              <a:off x="1394985" y="2340402"/>
              <a:ext cx="3319891"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dirty="0"/>
                <a:t>最先匹配</a:t>
              </a:r>
              <a:r>
                <a:rPr lang="en-US" altLang="zh-CN" dirty="0"/>
                <a:t>, </a:t>
              </a:r>
              <a:r>
                <a:rPr lang="zh-CN" altLang="en-US" dirty="0"/>
                <a:t>最佳匹配</a:t>
              </a:r>
              <a:r>
                <a:rPr lang="en-US" altLang="zh-CN" dirty="0"/>
                <a:t>, ...</a:t>
              </a:r>
            </a:p>
          </p:txBody>
        </p:sp>
        <p:sp>
          <p:nvSpPr>
            <p:cNvPr id="47" name="内容占位符 2"/>
            <p:cNvSpPr txBox="1"/>
            <p:nvPr/>
          </p:nvSpPr>
          <p:spPr>
            <a:xfrm>
              <a:off x="1142976" y="2042402"/>
              <a:ext cx="207170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分配策略</a:t>
              </a:r>
              <a:endParaRPr lang="en-US" altLang="zh-CN" dirty="0"/>
            </a:p>
          </p:txBody>
        </p:sp>
        <p:sp>
          <p:nvSpPr>
            <p:cNvPr id="48" name="TextBox 47"/>
            <p:cNvSpPr txBox="1"/>
            <p:nvPr/>
          </p:nvSpPr>
          <p:spPr>
            <a:xfrm>
              <a:off x="844893" y="2042402"/>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827584" y="1230874"/>
            <a:ext cx="6419566" cy="687422"/>
            <a:chOff x="827584" y="1020232"/>
            <a:chExt cx="6419566" cy="687422"/>
          </a:xfrm>
        </p:grpSpPr>
        <p:sp>
          <p:nvSpPr>
            <p:cNvPr id="63" name="矩形 62"/>
            <p:cNvSpPr/>
            <p:nvPr/>
          </p:nvSpPr>
          <p:spPr>
            <a:xfrm>
              <a:off x="827584" y="1020232"/>
              <a:ext cx="288000" cy="396000"/>
            </a:xfrm>
            <a:prstGeom prst="rect">
              <a:avLst/>
            </a:prstGeom>
            <a:gradFill>
              <a:gsLst>
                <a:gs pos="0">
                  <a:srgbClr val="FFFF00"/>
                </a:gs>
                <a:gs pos="100000">
                  <a:srgbClr val="FF99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b="1" dirty="0">
                  <a:solidFill>
                    <a:srgbClr val="11576A"/>
                  </a:solidFill>
                  <a:latin typeface="+mj-ea"/>
                  <a:ea typeface="+mj-ea"/>
                </a:rPr>
                <a:t>I</a:t>
              </a:r>
              <a:endParaRPr lang="zh-CN" altLang="en-US" b="1" dirty="0">
                <a:solidFill>
                  <a:srgbClr val="11576A"/>
                </a:solidFill>
                <a:latin typeface="+mj-ea"/>
                <a:ea typeface="+mj-ea"/>
              </a:endParaRPr>
            </a:p>
          </p:txBody>
        </p:sp>
        <p:sp>
          <p:nvSpPr>
            <p:cNvPr id="64" name="矩形 63"/>
            <p:cNvSpPr/>
            <p:nvPr/>
          </p:nvSpPr>
          <p:spPr>
            <a:xfrm>
              <a:off x="1248746"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5" name="矩形 64"/>
            <p:cNvSpPr/>
            <p:nvPr/>
          </p:nvSpPr>
          <p:spPr>
            <a:xfrm>
              <a:off x="2544890"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6" name="矩形 65"/>
            <p:cNvSpPr/>
            <p:nvPr/>
          </p:nvSpPr>
          <p:spPr>
            <a:xfrm>
              <a:off x="5641234"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7" name="矩形 66"/>
            <p:cNvSpPr/>
            <p:nvPr/>
          </p:nvSpPr>
          <p:spPr>
            <a:xfrm>
              <a:off x="6073282"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8" name="矩形 67"/>
            <p:cNvSpPr/>
            <p:nvPr/>
          </p:nvSpPr>
          <p:spPr>
            <a:xfrm>
              <a:off x="6527102"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9" name="矩形 68"/>
            <p:cNvSpPr/>
            <p:nvPr/>
          </p:nvSpPr>
          <p:spPr>
            <a:xfrm>
              <a:off x="6959150"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矩形 69"/>
            <p:cNvSpPr/>
            <p:nvPr/>
          </p:nvSpPr>
          <p:spPr>
            <a:xfrm>
              <a:off x="1680794" y="1020232"/>
              <a:ext cx="288000" cy="396000"/>
            </a:xfrm>
            <a:prstGeom prst="rect">
              <a:avLst/>
            </a:prstGeom>
            <a:gradFill>
              <a:gsLst>
                <a:gs pos="0">
                  <a:srgbClr val="FF3399"/>
                </a:gs>
                <a:gs pos="100000">
                  <a:srgbClr val="660033"/>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 name="矩形 70"/>
            <p:cNvSpPr/>
            <p:nvPr/>
          </p:nvSpPr>
          <p:spPr>
            <a:xfrm>
              <a:off x="2101956" y="1020232"/>
              <a:ext cx="288000" cy="396000"/>
            </a:xfrm>
            <a:prstGeom prst="rect">
              <a:avLst/>
            </a:prstGeom>
            <a:gradFill>
              <a:gsLst>
                <a:gs pos="0">
                  <a:srgbClr val="FF3399"/>
                </a:gs>
                <a:gs pos="100000">
                  <a:srgbClr val="660033"/>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 name="矩形 71"/>
            <p:cNvSpPr/>
            <p:nvPr/>
          </p:nvSpPr>
          <p:spPr>
            <a:xfrm>
              <a:off x="2987824"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矩形 72"/>
            <p:cNvSpPr/>
            <p:nvPr/>
          </p:nvSpPr>
          <p:spPr>
            <a:xfrm>
              <a:off x="3434952"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矩形 73"/>
            <p:cNvSpPr/>
            <p:nvPr/>
          </p:nvSpPr>
          <p:spPr>
            <a:xfrm>
              <a:off x="3862806"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5" name="矩形 74"/>
            <p:cNvSpPr/>
            <p:nvPr/>
          </p:nvSpPr>
          <p:spPr>
            <a:xfrm>
              <a:off x="4316626"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6" name="矩形 75"/>
            <p:cNvSpPr/>
            <p:nvPr/>
          </p:nvSpPr>
          <p:spPr>
            <a:xfrm>
              <a:off x="4759560"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 name="矩形 76"/>
            <p:cNvSpPr/>
            <p:nvPr/>
          </p:nvSpPr>
          <p:spPr>
            <a:xfrm>
              <a:off x="5198300"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8" name="任意多边形 77"/>
            <p:cNvSpPr/>
            <p:nvPr/>
          </p:nvSpPr>
          <p:spPr>
            <a:xfrm>
              <a:off x="987287" y="1433602"/>
              <a:ext cx="2111829" cy="274052"/>
            </a:xfrm>
            <a:custGeom>
              <a:avLst/>
              <a:gdLst>
                <a:gd name="connsiteX0" fmla="*/ 0 w 2111829"/>
                <a:gd name="connsiteY0" fmla="*/ 0 h 469900"/>
                <a:gd name="connsiteX1" fmla="*/ 381000 w 2111829"/>
                <a:gd name="connsiteY1" fmla="*/ 370115 h 469900"/>
                <a:gd name="connsiteX2" fmla="*/ 1219200 w 2111829"/>
                <a:gd name="connsiteY2" fmla="*/ 457200 h 469900"/>
                <a:gd name="connsiteX3" fmla="*/ 1861457 w 2111829"/>
                <a:gd name="connsiteY3" fmla="*/ 293915 h 469900"/>
                <a:gd name="connsiteX4" fmla="*/ 2111829 w 2111829"/>
                <a:gd name="connsiteY4" fmla="*/ 10886 h 469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829" h="469900">
                  <a:moveTo>
                    <a:pt x="0" y="0"/>
                  </a:moveTo>
                  <a:cubicBezTo>
                    <a:pt x="88900" y="146957"/>
                    <a:pt x="177800" y="293915"/>
                    <a:pt x="381000" y="370115"/>
                  </a:cubicBezTo>
                  <a:cubicBezTo>
                    <a:pt x="584200" y="446315"/>
                    <a:pt x="972457" y="469900"/>
                    <a:pt x="1219200" y="457200"/>
                  </a:cubicBezTo>
                  <a:cubicBezTo>
                    <a:pt x="1465943" y="444500"/>
                    <a:pt x="1712686" y="368301"/>
                    <a:pt x="1861457" y="293915"/>
                  </a:cubicBezTo>
                  <a:cubicBezTo>
                    <a:pt x="2010229" y="219529"/>
                    <a:pt x="2061029" y="115207"/>
                    <a:pt x="2111829" y="10886"/>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79" name="矩形 78"/>
          <p:cNvSpPr/>
          <p:nvPr/>
        </p:nvSpPr>
        <p:spPr>
          <a:xfrm>
            <a:off x="4286248" y="3714758"/>
            <a:ext cx="4714876" cy="1200329"/>
          </a:xfrm>
          <a:prstGeom prst="rect">
            <a:avLst/>
          </a:prstGeom>
        </p:spPr>
        <p:txBody>
          <a:bodyPr wrap="square">
            <a:spAutoFit/>
          </a:bodyPr>
          <a:lstStyle/>
          <a:p>
            <a:pPr>
              <a:lnSpc>
                <a:spcPct val="90000"/>
              </a:lnSpc>
            </a:pPr>
            <a:r>
              <a:rPr lang="zh-CN" altLang="en-US" sz="2000"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微软雅黑" panose="020B0503020204020204" pitchFamily="34" charset="-122"/>
                <a:ea typeface="微软雅黑" panose="020B0503020204020204" pitchFamily="34" charset="-122"/>
              </a:rPr>
              <a:t> 建立连续文件时要求用户给出文件的最大长度，以便系统为文件分配足够的存储空间，并在相应表格中登记文件的起始位置和长度</a:t>
            </a:r>
          </a:p>
        </p:txBody>
      </p:sp>
      <p:pic>
        <p:nvPicPr>
          <p:cNvPr id="2050" name="Picture 2"/>
          <p:cNvPicPr>
            <a:picLocks noChangeAspect="1" noChangeArrowheads="1"/>
          </p:cNvPicPr>
          <p:nvPr/>
        </p:nvPicPr>
        <p:blipFill>
          <a:blip r:embed="rId4"/>
          <a:srcRect/>
          <a:stretch>
            <a:fillRect/>
          </a:stretch>
        </p:blipFill>
        <p:spPr bwMode="auto">
          <a:xfrm>
            <a:off x="4572000" y="1857370"/>
            <a:ext cx="4210299" cy="1466852"/>
          </a:xfrm>
          <a:prstGeom prst="rect">
            <a:avLst/>
          </a:prstGeom>
          <a:noFill/>
          <a:ln w="9525">
            <a:noFill/>
            <a:miter lim="800000"/>
            <a:headEnd/>
            <a:tailEnd/>
          </a:ln>
          <a:effec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357818" y="1206526"/>
            <a:ext cx="3369917" cy="1287016"/>
            <a:chOff x="844893" y="2626829"/>
            <a:chExt cx="3369917" cy="1287016"/>
          </a:xfrm>
        </p:grpSpPr>
        <p:pic>
          <p:nvPicPr>
            <p:cNvPr id="3" name="图片 2" descr="小点1.png"/>
            <p:cNvPicPr>
              <a:picLocks noChangeAspect="1"/>
            </p:cNvPicPr>
            <p:nvPr/>
          </p:nvPicPr>
          <p:blipFill>
            <a:blip r:embed="rId2" cstate="print"/>
            <a:stretch>
              <a:fillRect/>
            </a:stretch>
          </p:blipFill>
          <p:spPr>
            <a:xfrm>
              <a:off x="1262422" y="3040491"/>
              <a:ext cx="151066" cy="148997"/>
            </a:xfrm>
            <a:prstGeom prst="rect">
              <a:avLst/>
            </a:prstGeom>
            <a:effectLst/>
          </p:spPr>
        </p:pic>
        <p:sp>
          <p:nvSpPr>
            <p:cNvPr id="4" name="内容占位符 2"/>
            <p:cNvSpPr txBox="1"/>
            <p:nvPr/>
          </p:nvSpPr>
          <p:spPr>
            <a:xfrm>
              <a:off x="1394985" y="2935715"/>
              <a:ext cx="2034007"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文件读取表现好</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5" name="内容占位符 2"/>
            <p:cNvSpPr txBox="1"/>
            <p:nvPr/>
          </p:nvSpPr>
          <p:spPr>
            <a:xfrm>
              <a:off x="1142976" y="2626829"/>
              <a:ext cx="85725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优点</a:t>
              </a:r>
              <a:endParaRPr lang="en-US" altLang="zh-CN" dirty="0"/>
            </a:p>
          </p:txBody>
        </p:sp>
        <p:sp>
          <p:nvSpPr>
            <p:cNvPr id="6" name="TextBox 5"/>
            <p:cNvSpPr txBox="1"/>
            <p:nvPr/>
          </p:nvSpPr>
          <p:spPr>
            <a:xfrm>
              <a:off x="844893" y="2626829"/>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7" name="图片 6" descr="小点1.png"/>
            <p:cNvPicPr>
              <a:picLocks noChangeAspect="1"/>
            </p:cNvPicPr>
            <p:nvPr/>
          </p:nvPicPr>
          <p:blipFill>
            <a:blip r:embed="rId2" cstate="print"/>
            <a:stretch>
              <a:fillRect/>
            </a:stretch>
          </p:blipFill>
          <p:spPr>
            <a:xfrm>
              <a:off x="1262422" y="3333499"/>
              <a:ext cx="151066" cy="148997"/>
            </a:xfrm>
            <a:prstGeom prst="rect">
              <a:avLst/>
            </a:prstGeom>
            <a:effectLst/>
          </p:spPr>
        </p:pic>
        <p:sp>
          <p:nvSpPr>
            <p:cNvPr id="8" name="内容占位符 2"/>
            <p:cNvSpPr txBox="1"/>
            <p:nvPr/>
          </p:nvSpPr>
          <p:spPr>
            <a:xfrm>
              <a:off x="1394985" y="3228723"/>
              <a:ext cx="2819825"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高效的顺序和随机访问</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pic>
          <p:nvPicPr>
            <p:cNvPr id="21" name="图片 20" descr="小点1.png"/>
            <p:cNvPicPr>
              <a:picLocks noChangeAspect="1"/>
            </p:cNvPicPr>
            <p:nvPr/>
          </p:nvPicPr>
          <p:blipFill>
            <a:blip r:embed="rId2" cstate="print"/>
            <a:stretch>
              <a:fillRect/>
            </a:stretch>
          </p:blipFill>
          <p:spPr>
            <a:xfrm>
              <a:off x="1262422" y="3660299"/>
              <a:ext cx="151066" cy="148997"/>
            </a:xfrm>
            <a:prstGeom prst="rect">
              <a:avLst/>
            </a:prstGeom>
            <a:effectLst/>
          </p:spPr>
        </p:pic>
        <p:sp>
          <p:nvSpPr>
            <p:cNvPr id="22" name="内容占位符 2"/>
            <p:cNvSpPr txBox="1"/>
            <p:nvPr/>
          </p:nvSpPr>
          <p:spPr>
            <a:xfrm>
              <a:off x="1394985" y="3555523"/>
              <a:ext cx="2819825"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结构简单，地址变换快</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9" name="组合 8"/>
          <p:cNvGrpSpPr/>
          <p:nvPr/>
        </p:nvGrpSpPr>
        <p:grpSpPr>
          <a:xfrm>
            <a:off x="5356424" y="2584225"/>
            <a:ext cx="2315210" cy="666750"/>
            <a:chOff x="843499" y="3504462"/>
            <a:chExt cx="2315210" cy="666750"/>
          </a:xfrm>
        </p:grpSpPr>
        <p:pic>
          <p:nvPicPr>
            <p:cNvPr id="10" name="图片 9" descr="小点1.png"/>
            <p:cNvPicPr>
              <a:picLocks noChangeAspect="1"/>
            </p:cNvPicPr>
            <p:nvPr/>
          </p:nvPicPr>
          <p:blipFill>
            <a:blip r:embed="rId2" cstate="print"/>
            <a:stretch>
              <a:fillRect/>
            </a:stretch>
          </p:blipFill>
          <p:spPr>
            <a:xfrm>
              <a:off x="1261028" y="3918124"/>
              <a:ext cx="151066" cy="148997"/>
            </a:xfrm>
            <a:prstGeom prst="rect">
              <a:avLst/>
            </a:prstGeom>
            <a:effectLst/>
          </p:spPr>
        </p:pic>
        <p:sp>
          <p:nvSpPr>
            <p:cNvPr id="11" name="内容占位符 2"/>
            <p:cNvSpPr txBox="1"/>
            <p:nvPr/>
          </p:nvSpPr>
          <p:spPr>
            <a:xfrm>
              <a:off x="1393409" y="3813072"/>
              <a:ext cx="1765300" cy="35814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碎片</a:t>
              </a:r>
            </a:p>
          </p:txBody>
        </p:sp>
        <p:sp>
          <p:nvSpPr>
            <p:cNvPr id="12" name="内容占位符 2"/>
            <p:cNvSpPr txBox="1"/>
            <p:nvPr/>
          </p:nvSpPr>
          <p:spPr>
            <a:xfrm>
              <a:off x="1141582" y="3504462"/>
              <a:ext cx="85725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缺点</a:t>
              </a:r>
              <a:endParaRPr lang="en-US" altLang="zh-CN" dirty="0"/>
            </a:p>
          </p:txBody>
        </p:sp>
        <p:sp>
          <p:nvSpPr>
            <p:cNvPr id="13" name="TextBox 12"/>
            <p:cNvSpPr txBox="1"/>
            <p:nvPr/>
          </p:nvSpPr>
          <p:spPr>
            <a:xfrm>
              <a:off x="843499" y="3504462"/>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5773953" y="3186119"/>
            <a:ext cx="2061390" cy="358322"/>
            <a:chOff x="1261028" y="4106356"/>
            <a:chExt cx="2061390" cy="358322"/>
          </a:xfrm>
        </p:grpSpPr>
        <p:pic>
          <p:nvPicPr>
            <p:cNvPr id="15" name="图片 14" descr="小点1.png"/>
            <p:cNvPicPr>
              <a:picLocks noChangeAspect="1"/>
            </p:cNvPicPr>
            <p:nvPr/>
          </p:nvPicPr>
          <p:blipFill>
            <a:blip r:embed="rId2" cstate="print"/>
            <a:stretch>
              <a:fillRect/>
            </a:stretch>
          </p:blipFill>
          <p:spPr>
            <a:xfrm>
              <a:off x="1261028" y="4211132"/>
              <a:ext cx="151066" cy="148997"/>
            </a:xfrm>
            <a:prstGeom prst="rect">
              <a:avLst/>
            </a:prstGeom>
            <a:effectLst/>
          </p:spPr>
        </p:pic>
        <p:sp>
          <p:nvSpPr>
            <p:cNvPr id="16" name="内容占位符 2"/>
            <p:cNvSpPr txBox="1"/>
            <p:nvPr/>
          </p:nvSpPr>
          <p:spPr>
            <a:xfrm>
              <a:off x="1393592" y="4106356"/>
              <a:ext cx="1928826"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文件增长问题</a:t>
              </a:r>
            </a:p>
          </p:txBody>
        </p:sp>
      </p:grpSp>
      <p:pic>
        <p:nvPicPr>
          <p:cNvPr id="3074" name="Picture 2"/>
          <p:cNvPicPr>
            <a:picLocks noChangeAspect="1" noChangeArrowheads="1"/>
          </p:cNvPicPr>
          <p:nvPr/>
        </p:nvPicPr>
        <p:blipFill>
          <a:blip r:embed="rId3"/>
          <a:srcRect/>
          <a:stretch>
            <a:fillRect/>
          </a:stretch>
        </p:blipFill>
        <p:spPr bwMode="auto">
          <a:xfrm>
            <a:off x="928662" y="1285866"/>
            <a:ext cx="3988186" cy="2803529"/>
          </a:xfrm>
          <a:prstGeom prst="rect">
            <a:avLst/>
          </a:prstGeom>
          <a:noFill/>
          <a:ln w="9525">
            <a:noFill/>
            <a:miter lim="800000"/>
            <a:headEnd/>
            <a:tailEnd/>
          </a:ln>
          <a:effectLst/>
        </p:spPr>
      </p:pic>
      <p:sp>
        <p:nvSpPr>
          <p:cNvPr id="20"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连续结构</a:t>
            </a:r>
            <a:r>
              <a:rPr kumimoji="0" lang="en-US" altLang="zh-CN"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a:t>
            </a: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连续分配</a:t>
            </a:r>
            <a:r>
              <a:rPr kumimoji="0" lang="en-US" altLang="zh-CN"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EE895C7C-20F7-47C6-89E5-226BE508A00D}"/>
              </a:ext>
            </a:extLst>
          </p:cNvPr>
          <p:cNvSpPr>
            <a:spLocks noGrp="1"/>
          </p:cNvSpPr>
          <p:nvPr>
            <p:ph type="sldNum" sz="quarter" idx="12"/>
          </p:nvPr>
        </p:nvSpPr>
        <p:spPr/>
        <p:txBody>
          <a:bodyPr/>
          <a:lstStyle/>
          <a:p>
            <a:pPr defTabSz="685800" fontAlgn="base">
              <a:spcBef>
                <a:spcPct val="0"/>
              </a:spcBef>
              <a:spcAft>
                <a:spcPct val="0"/>
              </a:spcAft>
            </a:pPr>
            <a:fld id="{760CD8E7-F9F9-445B-9C2E-5CDE80C3215F}" type="slidenum">
              <a:rPr lang="en-US" altLang="zh-CN">
                <a:solidFill>
                  <a:srgbClr val="FFFFFF"/>
                </a:solidFill>
                <a:latin typeface="Arial" panose="020B0604020202020204" pitchFamily="34" charset="0"/>
                <a:ea typeface="宋体"/>
              </a:rPr>
              <a:pPr defTabSz="685800" fontAlgn="base">
                <a:spcBef>
                  <a:spcPct val="0"/>
                </a:spcBef>
                <a:spcAft>
                  <a:spcPct val="0"/>
                </a:spcAft>
              </a:pPr>
              <a:t>40</a:t>
            </a:fld>
            <a:endParaRPr lang="en-US" altLang="zh-CN">
              <a:solidFill>
                <a:srgbClr val="FFFFFF"/>
              </a:solidFill>
              <a:latin typeface="Arial" panose="020B0604020202020204" pitchFamily="34" charset="0"/>
              <a:ea typeface="宋体"/>
            </a:endParaRPr>
          </a:p>
        </p:txBody>
      </p:sp>
      <p:sp>
        <p:nvSpPr>
          <p:cNvPr id="91138" name="Rectangle 2">
            <a:extLst>
              <a:ext uri="{FF2B5EF4-FFF2-40B4-BE49-F238E27FC236}">
                <a16:creationId xmlns:a16="http://schemas.microsoft.com/office/drawing/2014/main" id="{96DFE564-CB81-493C-ADF3-66CF4F469B01}"/>
              </a:ext>
            </a:extLst>
          </p:cNvPr>
          <p:cNvSpPr>
            <a:spLocks noGrp="1" noChangeArrowheads="1"/>
          </p:cNvSpPr>
          <p:nvPr>
            <p:ph type="title"/>
          </p:nvPr>
        </p:nvSpPr>
        <p:spPr>
          <a:xfrm>
            <a:off x="1314450" y="171450"/>
            <a:ext cx="5829300" cy="1096566"/>
          </a:xfrm>
        </p:spPr>
        <p:txBody>
          <a:bodyPr/>
          <a:lstStyle/>
          <a:p>
            <a:r>
              <a:rPr lang="zh-CN" altLang="en-US" b="1" dirty="0">
                <a:latin typeface="宋体" panose="02010600030101010101" pitchFamily="2" charset="-122"/>
              </a:rPr>
              <a:t>串联（链式）结构（链式分配）</a:t>
            </a:r>
          </a:p>
        </p:txBody>
      </p:sp>
      <p:sp>
        <p:nvSpPr>
          <p:cNvPr id="91139" name="Rectangle 3">
            <a:extLst>
              <a:ext uri="{FF2B5EF4-FFF2-40B4-BE49-F238E27FC236}">
                <a16:creationId xmlns:a16="http://schemas.microsoft.com/office/drawing/2014/main" id="{305CAA67-05A2-4361-8AED-EE3E56A54507}"/>
              </a:ext>
            </a:extLst>
          </p:cNvPr>
          <p:cNvSpPr>
            <a:spLocks noGrp="1" noChangeArrowheads="1"/>
          </p:cNvSpPr>
          <p:nvPr>
            <p:ph type="body" idx="1"/>
          </p:nvPr>
        </p:nvSpPr>
        <p:spPr>
          <a:xfrm>
            <a:off x="827584" y="1485900"/>
            <a:ext cx="6773366" cy="3429000"/>
          </a:xfrm>
        </p:spPr>
        <p:txBody>
          <a:bodyPr/>
          <a:lstStyle/>
          <a:p>
            <a:pPr algn="just">
              <a:lnSpc>
                <a:spcPct val="90000"/>
              </a:lnSpc>
            </a:pPr>
            <a:r>
              <a:rPr lang="zh-CN" altLang="en-US" b="1" dirty="0"/>
              <a:t>隐式链接：</a:t>
            </a:r>
            <a:r>
              <a:rPr lang="zh-CN" altLang="en-US" sz="2700" b="1" dirty="0">
                <a:solidFill>
                  <a:srgbClr val="FFCC00"/>
                </a:solidFill>
                <a:latin typeface="黑体" panose="02010609060101010101" pitchFamily="49" charset="-122"/>
                <a:ea typeface="黑体" panose="02010609060101010101" pitchFamily="49" charset="-122"/>
              </a:rPr>
              <a:t>这是一种非连续的结构，存放文件信息的每一物理块中有一个指针，指向下一个物理块，这个指针的长度由物理设备的容量决定</a:t>
            </a:r>
          </a:p>
          <a:p>
            <a:pPr algn="just">
              <a:lnSpc>
                <a:spcPct val="90000"/>
              </a:lnSpc>
            </a:pPr>
            <a:r>
              <a:rPr lang="zh-CN" altLang="en-US" sz="2700" b="1" dirty="0">
                <a:solidFill>
                  <a:srgbClr val="FFCC00"/>
                </a:solidFill>
                <a:latin typeface="黑体" panose="02010609060101010101" pitchFamily="49" charset="-122"/>
                <a:ea typeface="黑体" panose="02010609060101010101" pitchFamily="49" charset="-122"/>
              </a:rPr>
              <a:t>当文件动态增长时，可动态地再为它分配盘块，故而无须事先知道文件的大小。此外，对文件的增、删、改也十分方便。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11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11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链式</a:t>
            </a:r>
            <a:r>
              <a:rPr lang="zh-CN" altLang="en-US" dirty="0"/>
              <a:t>结构</a:t>
            </a: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 </a:t>
            </a:r>
            <a:r>
              <a:rPr kumimoji="0" lang="en-US" altLang="zh-CN"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a:t>
            </a:r>
            <a:r>
              <a:rPr lang="zh-CN" altLang="en-US" dirty="0"/>
              <a:t>链式分配</a:t>
            </a:r>
            <a:r>
              <a:rPr kumimoji="0" lang="en-US" altLang="zh-CN"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grpSp>
        <p:nvGrpSpPr>
          <p:cNvPr id="2" name="组合 1"/>
          <p:cNvGrpSpPr/>
          <p:nvPr/>
        </p:nvGrpSpPr>
        <p:grpSpPr>
          <a:xfrm>
            <a:off x="844893" y="875541"/>
            <a:ext cx="5527307" cy="763624"/>
            <a:chOff x="844893" y="1934564"/>
            <a:chExt cx="5527307" cy="763624"/>
          </a:xfrm>
        </p:grpSpPr>
        <p:sp>
          <p:nvSpPr>
            <p:cNvPr id="42" name="内容占位符 2"/>
            <p:cNvSpPr txBox="1"/>
            <p:nvPr/>
          </p:nvSpPr>
          <p:spPr>
            <a:xfrm>
              <a:off x="1142976" y="1934564"/>
              <a:ext cx="335758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latin typeface="+mj-ea"/>
                  <a:ea typeface="+mj-ea"/>
                  <a:cs typeface="宋体" panose="02010600030101010101" pitchFamily="2" charset="-122"/>
                </a:rPr>
                <a:t>文件以数据块链表方式存储</a:t>
              </a:r>
              <a:endParaRPr lang="en-US" altLang="zh-CN" dirty="0">
                <a:latin typeface="+mj-ea"/>
                <a:ea typeface="+mj-ea"/>
                <a:cs typeface="宋体" panose="02010600030101010101" pitchFamily="2" charset="-122"/>
              </a:endParaRPr>
            </a:p>
            <a:p>
              <a:endParaRPr lang="en-US" altLang="zh-CN" dirty="0">
                <a:latin typeface="+mj-ea"/>
                <a:ea typeface="+mj-ea"/>
              </a:endParaRPr>
            </a:p>
          </p:txBody>
        </p:sp>
        <p:sp>
          <p:nvSpPr>
            <p:cNvPr id="43" name="TextBox 42"/>
            <p:cNvSpPr txBox="1"/>
            <p:nvPr/>
          </p:nvSpPr>
          <p:spPr>
            <a:xfrm>
              <a:off x="844893" y="193456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5" name="内容占位符 2"/>
            <p:cNvSpPr txBox="1"/>
            <p:nvPr/>
          </p:nvSpPr>
          <p:spPr>
            <a:xfrm>
              <a:off x="1142976" y="2272704"/>
              <a:ext cx="5229224" cy="42548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latin typeface="+mj-ea"/>
                  <a:ea typeface="+mj-ea"/>
                  <a:cs typeface="宋体" panose="02010600030101010101" pitchFamily="2" charset="-122"/>
                </a:rPr>
                <a:t>文件头包含了到第一块和最后一块的指针</a:t>
              </a:r>
              <a:endParaRPr lang="en-US" altLang="zh-CN" dirty="0">
                <a:latin typeface="+mj-ea"/>
                <a:ea typeface="+mj-ea"/>
                <a:cs typeface="宋体" panose="02010600030101010101" pitchFamily="2" charset="-122"/>
              </a:endParaRPr>
            </a:p>
            <a:p>
              <a:endParaRPr lang="en-US" altLang="zh-CN" dirty="0">
                <a:latin typeface="+mj-ea"/>
                <a:ea typeface="+mj-ea"/>
              </a:endParaRPr>
            </a:p>
          </p:txBody>
        </p:sp>
        <p:sp>
          <p:nvSpPr>
            <p:cNvPr id="46" name="TextBox 45"/>
            <p:cNvSpPr txBox="1"/>
            <p:nvPr/>
          </p:nvSpPr>
          <p:spPr>
            <a:xfrm>
              <a:off x="844893" y="227270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844893" y="2584981"/>
            <a:ext cx="5298743" cy="1014646"/>
            <a:chOff x="844893" y="2584981"/>
            <a:chExt cx="5298743" cy="1014646"/>
          </a:xfrm>
        </p:grpSpPr>
        <p:pic>
          <p:nvPicPr>
            <p:cNvPr id="47" name="图片 46" descr="小点1.png"/>
            <p:cNvPicPr>
              <a:picLocks noChangeAspect="1"/>
            </p:cNvPicPr>
            <p:nvPr/>
          </p:nvPicPr>
          <p:blipFill>
            <a:blip r:embed="rId3" cstate="print"/>
            <a:stretch>
              <a:fillRect/>
            </a:stretch>
          </p:blipFill>
          <p:spPr>
            <a:xfrm>
              <a:off x="1262422" y="3031301"/>
              <a:ext cx="151066" cy="148997"/>
            </a:xfrm>
            <a:prstGeom prst="rect">
              <a:avLst/>
            </a:prstGeom>
            <a:effectLst/>
          </p:spPr>
        </p:pic>
        <p:sp>
          <p:nvSpPr>
            <p:cNvPr id="48" name="内容占位符 2"/>
            <p:cNvSpPr txBox="1"/>
            <p:nvPr/>
          </p:nvSpPr>
          <p:spPr>
            <a:xfrm>
              <a:off x="1394985" y="2926525"/>
              <a:ext cx="4748651" cy="38788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latin typeface="+mj-ea"/>
                  <a:ea typeface="+mj-ea"/>
                  <a:cs typeface="宋体" panose="02010600030101010101" pitchFamily="2" charset="-122"/>
                </a:rPr>
                <a:t>创建、增大、缩小很容易</a:t>
              </a:r>
              <a:r>
                <a:rPr lang="en-US" altLang="zh-CN">
                  <a:latin typeface="+mj-ea"/>
                  <a:ea typeface="+mj-ea"/>
                  <a:cs typeface="宋体" panose="02010600030101010101" pitchFamily="2" charset="-122"/>
                </a:rPr>
                <a:t>(</a:t>
              </a:r>
              <a:r>
                <a:rPr lang="zh-CN" altLang="en-US">
                  <a:latin typeface="+mj-ea"/>
                  <a:ea typeface="+mj-ea"/>
                  <a:cs typeface="宋体" panose="02010600030101010101" pitchFamily="2" charset="-122"/>
                </a:rPr>
                <a:t>动态</a:t>
              </a:r>
              <a:r>
                <a:rPr lang="en-US" altLang="zh-CN">
                  <a:latin typeface="+mj-ea"/>
                  <a:ea typeface="+mj-ea"/>
                  <a:cs typeface="宋体" panose="02010600030101010101" pitchFamily="2" charset="-122"/>
                </a:rPr>
                <a:t>)</a:t>
              </a:r>
              <a:endParaRPr lang="en-US" altLang="zh-CN" dirty="0">
                <a:latin typeface="+mj-ea"/>
                <a:ea typeface="+mj-ea"/>
                <a:cs typeface="宋体" panose="02010600030101010101" pitchFamily="2" charset="-122"/>
              </a:endParaRPr>
            </a:p>
            <a:p>
              <a:pPr marL="0" lvl="1" indent="0">
                <a:lnSpc>
                  <a:spcPct val="90000"/>
                </a:lnSpc>
              </a:pPr>
              <a:endParaRPr lang="zh-CN" altLang="en-US" dirty="0">
                <a:latin typeface="+mj-ea"/>
                <a:ea typeface="+mj-ea"/>
                <a:cs typeface="宋体" panose="02010600030101010101" pitchFamily="2" charset="-122"/>
              </a:endParaRPr>
            </a:p>
          </p:txBody>
        </p:sp>
        <p:sp>
          <p:nvSpPr>
            <p:cNvPr id="49" name="内容占位符 2"/>
            <p:cNvSpPr txBox="1"/>
            <p:nvPr/>
          </p:nvSpPr>
          <p:spPr>
            <a:xfrm>
              <a:off x="1142976" y="2584981"/>
              <a:ext cx="85725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优点</a:t>
              </a:r>
              <a:endParaRPr lang="en-US" altLang="zh-CN" dirty="0"/>
            </a:p>
          </p:txBody>
        </p:sp>
        <p:sp>
          <p:nvSpPr>
            <p:cNvPr id="50" name="TextBox 49"/>
            <p:cNvSpPr txBox="1"/>
            <p:nvPr/>
          </p:nvSpPr>
          <p:spPr>
            <a:xfrm>
              <a:off x="844893" y="2584981"/>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51" name="图片 50" descr="小点1.png"/>
            <p:cNvPicPr>
              <a:picLocks noChangeAspect="1"/>
            </p:cNvPicPr>
            <p:nvPr/>
          </p:nvPicPr>
          <p:blipFill>
            <a:blip r:embed="rId3" cstate="print"/>
            <a:stretch>
              <a:fillRect/>
            </a:stretch>
          </p:blipFill>
          <p:spPr>
            <a:xfrm>
              <a:off x="1262422" y="3346081"/>
              <a:ext cx="151066" cy="148997"/>
            </a:xfrm>
            <a:prstGeom prst="rect">
              <a:avLst/>
            </a:prstGeom>
            <a:effectLst/>
          </p:spPr>
        </p:pic>
        <p:sp>
          <p:nvSpPr>
            <p:cNvPr id="52" name="内容占位符 2"/>
            <p:cNvSpPr txBox="1"/>
            <p:nvPr/>
          </p:nvSpPr>
          <p:spPr>
            <a:xfrm>
              <a:off x="1394985" y="3241305"/>
              <a:ext cx="2819825"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latin typeface="+mj-ea"/>
                  <a:ea typeface="+mj-ea"/>
                  <a:cs typeface="宋体" panose="02010600030101010101" pitchFamily="2" charset="-122"/>
                </a:rPr>
                <a:t>没有碎片</a:t>
              </a:r>
              <a:endParaRPr lang="en-US" altLang="zh-CN" dirty="0">
                <a:latin typeface="+mj-ea"/>
                <a:ea typeface="+mj-ea"/>
                <a:cs typeface="宋体" panose="02010600030101010101" pitchFamily="2" charset="-122"/>
              </a:endParaRPr>
            </a:p>
            <a:p>
              <a:pPr marL="0" lvl="1" indent="0">
                <a:lnSpc>
                  <a:spcPct val="90000"/>
                </a:lnSpc>
              </a:pPr>
              <a:endParaRPr kumimoji="0" lang="zh-CN" altLang="en-US" b="1" i="0" u="none" strike="noStrike" kern="1200" cap="none" spc="0" normalizeH="0" baseline="0" noProof="0" dirty="0">
                <a:ln>
                  <a:noFill/>
                </a:ln>
                <a:solidFill>
                  <a:srgbClr val="11576A"/>
                </a:solidFill>
                <a:effectLst/>
                <a:uLnTx/>
                <a:uFillTx/>
                <a:latin typeface="+mj-ea"/>
                <a:ea typeface="+mj-ea"/>
                <a:cs typeface="+mn-cs"/>
              </a:endParaRPr>
            </a:p>
          </p:txBody>
        </p:sp>
      </p:grpSp>
      <p:grpSp>
        <p:nvGrpSpPr>
          <p:cNvPr id="5" name="组合 4"/>
          <p:cNvGrpSpPr/>
          <p:nvPr/>
        </p:nvGrpSpPr>
        <p:grpSpPr>
          <a:xfrm>
            <a:off x="843499" y="3534901"/>
            <a:ext cx="3868729" cy="729424"/>
            <a:chOff x="843499" y="3534901"/>
            <a:chExt cx="3868729" cy="729424"/>
          </a:xfrm>
        </p:grpSpPr>
        <p:pic>
          <p:nvPicPr>
            <p:cNvPr id="53" name="图片 52" descr="小点1.png"/>
            <p:cNvPicPr>
              <a:picLocks noChangeAspect="1"/>
            </p:cNvPicPr>
            <p:nvPr/>
          </p:nvPicPr>
          <p:blipFill>
            <a:blip r:embed="rId3" cstate="print"/>
            <a:stretch>
              <a:fillRect/>
            </a:stretch>
          </p:blipFill>
          <p:spPr>
            <a:xfrm>
              <a:off x="1261028" y="3981221"/>
              <a:ext cx="151066" cy="148997"/>
            </a:xfrm>
            <a:prstGeom prst="rect">
              <a:avLst/>
            </a:prstGeom>
            <a:effectLst/>
          </p:spPr>
        </p:pic>
        <p:sp>
          <p:nvSpPr>
            <p:cNvPr id="54" name="内容占位符 2"/>
            <p:cNvSpPr txBox="1"/>
            <p:nvPr/>
          </p:nvSpPr>
          <p:spPr>
            <a:xfrm>
              <a:off x="1393591" y="3876445"/>
              <a:ext cx="3318637" cy="38788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latin typeface="+mj-ea"/>
                  <a:ea typeface="+mj-ea"/>
                  <a:cs typeface="宋体" panose="02010600030101010101" pitchFamily="2" charset="-122"/>
                </a:rPr>
                <a:t>无法实现真正的随机访问</a:t>
              </a:r>
              <a:endParaRPr lang="en-US" altLang="zh-CN" dirty="0">
                <a:latin typeface="+mj-ea"/>
                <a:ea typeface="+mj-ea"/>
                <a:cs typeface="宋体" panose="02010600030101010101" pitchFamily="2" charset="-122"/>
              </a:endParaRPr>
            </a:p>
            <a:p>
              <a:pPr marL="0" lvl="1" indent="0">
                <a:lnSpc>
                  <a:spcPct val="90000"/>
                </a:lnSpc>
              </a:pPr>
              <a:endParaRPr kumimoji="0" lang="zh-CN" altLang="en-US" b="1" i="0" u="none" strike="noStrike" kern="1200" cap="none" spc="0" normalizeH="0" baseline="0" noProof="0" dirty="0">
                <a:ln>
                  <a:noFill/>
                </a:ln>
                <a:solidFill>
                  <a:srgbClr val="11576A"/>
                </a:solidFill>
                <a:effectLst/>
                <a:uLnTx/>
                <a:uFillTx/>
                <a:latin typeface="+mj-ea"/>
                <a:ea typeface="+mj-ea"/>
                <a:cs typeface="+mn-cs"/>
              </a:endParaRPr>
            </a:p>
          </p:txBody>
        </p:sp>
        <p:sp>
          <p:nvSpPr>
            <p:cNvPr id="55" name="内容占位符 2"/>
            <p:cNvSpPr txBox="1"/>
            <p:nvPr/>
          </p:nvSpPr>
          <p:spPr>
            <a:xfrm>
              <a:off x="1141582" y="3534901"/>
              <a:ext cx="85725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缺点</a:t>
              </a:r>
              <a:endParaRPr lang="en-US" altLang="zh-CN" dirty="0"/>
            </a:p>
          </p:txBody>
        </p:sp>
        <p:sp>
          <p:nvSpPr>
            <p:cNvPr id="56" name="TextBox 55"/>
            <p:cNvSpPr txBox="1"/>
            <p:nvPr/>
          </p:nvSpPr>
          <p:spPr>
            <a:xfrm>
              <a:off x="843499" y="3534901"/>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1261028" y="4191225"/>
            <a:ext cx="4607116" cy="649163"/>
            <a:chOff x="1261028" y="4191225"/>
            <a:chExt cx="4607116" cy="649163"/>
          </a:xfrm>
        </p:grpSpPr>
        <p:pic>
          <p:nvPicPr>
            <p:cNvPr id="57" name="图片 56" descr="小点1.png"/>
            <p:cNvPicPr>
              <a:picLocks noChangeAspect="1"/>
            </p:cNvPicPr>
            <p:nvPr/>
          </p:nvPicPr>
          <p:blipFill>
            <a:blip r:embed="rId3" cstate="print"/>
            <a:stretch>
              <a:fillRect/>
            </a:stretch>
          </p:blipFill>
          <p:spPr>
            <a:xfrm>
              <a:off x="1261028" y="4296001"/>
              <a:ext cx="151066" cy="148997"/>
            </a:xfrm>
            <a:prstGeom prst="rect">
              <a:avLst/>
            </a:prstGeom>
            <a:effectLst/>
          </p:spPr>
        </p:pic>
        <p:sp>
          <p:nvSpPr>
            <p:cNvPr id="58" name="内容占位符 2"/>
            <p:cNvSpPr txBox="1"/>
            <p:nvPr/>
          </p:nvSpPr>
          <p:spPr>
            <a:xfrm>
              <a:off x="1393592" y="4191225"/>
              <a:ext cx="1928826"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可靠性差</a:t>
              </a:r>
            </a:p>
          </p:txBody>
        </p:sp>
        <p:sp>
          <p:nvSpPr>
            <p:cNvPr id="59" name="内容占位符 2"/>
            <p:cNvSpPr txBox="1"/>
            <p:nvPr/>
          </p:nvSpPr>
          <p:spPr>
            <a:xfrm>
              <a:off x="1651446" y="4512808"/>
              <a:ext cx="4216698" cy="32758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latin typeface="+mj-ea"/>
                  <a:ea typeface="+mj-ea"/>
                  <a:cs typeface="宋体" panose="02010600030101010101" pitchFamily="2" charset="-122"/>
                </a:rPr>
                <a:t>破坏一个链，后面的数据块就丢了</a:t>
              </a:r>
              <a:endParaRPr lang="en-US" altLang="zh-CN" dirty="0">
                <a:latin typeface="+mj-ea"/>
                <a:ea typeface="+mj-ea"/>
                <a:cs typeface="宋体" panose="02010600030101010101" pitchFamily="2" charset="-122"/>
              </a:endParaRPr>
            </a:p>
            <a:p>
              <a:pPr marL="0" lvl="1" indent="0">
                <a:lnSpc>
                  <a:spcPct val="90000"/>
                </a:lnSpc>
              </a:pPr>
              <a:endParaRPr kumimoji="0" lang="zh-CN" altLang="en-US" b="1" i="0" u="none" strike="noStrike" kern="1200" cap="none" spc="0" normalizeH="0" baseline="0" noProof="0" dirty="0">
                <a:ln>
                  <a:noFill/>
                </a:ln>
                <a:solidFill>
                  <a:srgbClr val="11576A"/>
                </a:solidFill>
                <a:effectLst/>
                <a:uLnTx/>
                <a:uFillTx/>
                <a:latin typeface="+mj-ea"/>
                <a:ea typeface="+mj-ea"/>
                <a:cs typeface="+mn-cs"/>
              </a:endParaRPr>
            </a:p>
          </p:txBody>
        </p:sp>
      </p:grpSp>
      <p:grpSp>
        <p:nvGrpSpPr>
          <p:cNvPr id="7" name="组合 6"/>
          <p:cNvGrpSpPr/>
          <p:nvPr/>
        </p:nvGrpSpPr>
        <p:grpSpPr>
          <a:xfrm>
            <a:off x="827584" y="1713128"/>
            <a:ext cx="6456142" cy="831438"/>
            <a:chOff x="827584" y="1020232"/>
            <a:chExt cx="6456142" cy="831438"/>
          </a:xfrm>
        </p:grpSpPr>
        <p:sp>
          <p:nvSpPr>
            <p:cNvPr id="60" name="矩形 59"/>
            <p:cNvSpPr/>
            <p:nvPr/>
          </p:nvSpPr>
          <p:spPr>
            <a:xfrm>
              <a:off x="827584" y="1020232"/>
              <a:ext cx="288000" cy="396000"/>
            </a:xfrm>
            <a:prstGeom prst="rect">
              <a:avLst/>
            </a:prstGeom>
            <a:gradFill>
              <a:gsLst>
                <a:gs pos="0">
                  <a:srgbClr val="FFFF00"/>
                </a:gs>
                <a:gs pos="100000">
                  <a:srgbClr val="FF99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b="1" dirty="0">
                  <a:solidFill>
                    <a:srgbClr val="11576A"/>
                  </a:solidFill>
                  <a:latin typeface="+mj-ea"/>
                  <a:ea typeface="+mj-ea"/>
                </a:rPr>
                <a:t>I</a:t>
              </a:r>
              <a:endParaRPr lang="zh-CN" altLang="en-US" b="1" dirty="0">
                <a:solidFill>
                  <a:srgbClr val="11576A"/>
                </a:solidFill>
                <a:latin typeface="+mj-ea"/>
                <a:ea typeface="+mj-ea"/>
              </a:endParaRPr>
            </a:p>
          </p:txBody>
        </p:sp>
        <p:sp>
          <p:nvSpPr>
            <p:cNvPr id="61" name="矩形 60"/>
            <p:cNvSpPr/>
            <p:nvPr/>
          </p:nvSpPr>
          <p:spPr>
            <a:xfrm>
              <a:off x="1248746"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2" name="矩形 61"/>
            <p:cNvSpPr/>
            <p:nvPr/>
          </p:nvSpPr>
          <p:spPr>
            <a:xfrm>
              <a:off x="5641234"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 name="矩形 62"/>
            <p:cNvSpPr/>
            <p:nvPr/>
          </p:nvSpPr>
          <p:spPr>
            <a:xfrm>
              <a:off x="6073282"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4" name="矩形 63"/>
            <p:cNvSpPr/>
            <p:nvPr/>
          </p:nvSpPr>
          <p:spPr>
            <a:xfrm>
              <a:off x="2987824"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5" name="矩形 64"/>
            <p:cNvSpPr/>
            <p:nvPr/>
          </p:nvSpPr>
          <p:spPr>
            <a:xfrm>
              <a:off x="4316626"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6" name="矩形 65"/>
            <p:cNvSpPr/>
            <p:nvPr/>
          </p:nvSpPr>
          <p:spPr>
            <a:xfrm>
              <a:off x="5198300"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7" name="矩形 66"/>
            <p:cNvSpPr/>
            <p:nvPr/>
          </p:nvSpPr>
          <p:spPr>
            <a:xfrm>
              <a:off x="1667134"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8" name="矩形 67"/>
            <p:cNvSpPr/>
            <p:nvPr/>
          </p:nvSpPr>
          <p:spPr>
            <a:xfrm>
              <a:off x="2117470"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9" name="矩形 68"/>
            <p:cNvSpPr/>
            <p:nvPr/>
          </p:nvSpPr>
          <p:spPr>
            <a:xfrm>
              <a:off x="2530086"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矩形 69"/>
            <p:cNvSpPr/>
            <p:nvPr/>
          </p:nvSpPr>
          <p:spPr>
            <a:xfrm>
              <a:off x="3430758"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 name="矩形 70"/>
            <p:cNvSpPr/>
            <p:nvPr/>
          </p:nvSpPr>
          <p:spPr>
            <a:xfrm>
              <a:off x="3885722"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 name="矩形 71"/>
            <p:cNvSpPr/>
            <p:nvPr/>
          </p:nvSpPr>
          <p:spPr>
            <a:xfrm>
              <a:off x="4744046"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矩形 72"/>
            <p:cNvSpPr/>
            <p:nvPr/>
          </p:nvSpPr>
          <p:spPr>
            <a:xfrm>
              <a:off x="6995726"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矩形 73"/>
            <p:cNvSpPr/>
            <p:nvPr/>
          </p:nvSpPr>
          <p:spPr>
            <a:xfrm>
              <a:off x="6537988"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5" name="任意多边形 74"/>
            <p:cNvSpPr/>
            <p:nvPr/>
          </p:nvSpPr>
          <p:spPr>
            <a:xfrm>
              <a:off x="954630" y="1404257"/>
              <a:ext cx="1317171" cy="231389"/>
            </a:xfrm>
            <a:custGeom>
              <a:avLst/>
              <a:gdLst>
                <a:gd name="connsiteX0" fmla="*/ 0 w 1317171"/>
                <a:gd name="connsiteY0" fmla="*/ 0 h 326572"/>
                <a:gd name="connsiteX1" fmla="*/ 163286 w 1317171"/>
                <a:gd name="connsiteY1" fmla="*/ 206829 h 326572"/>
                <a:gd name="connsiteX2" fmla="*/ 587829 w 1317171"/>
                <a:gd name="connsiteY2" fmla="*/ 315686 h 326572"/>
                <a:gd name="connsiteX3" fmla="*/ 1055914 w 1317171"/>
                <a:gd name="connsiteY3" fmla="*/ 272143 h 326572"/>
                <a:gd name="connsiteX4" fmla="*/ 1317171 w 1317171"/>
                <a:gd name="connsiteY4" fmla="*/ 21772 h 326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171" h="326572">
                  <a:moveTo>
                    <a:pt x="0" y="0"/>
                  </a:moveTo>
                  <a:cubicBezTo>
                    <a:pt x="32657" y="77107"/>
                    <a:pt x="65315" y="154215"/>
                    <a:pt x="163286" y="206829"/>
                  </a:cubicBezTo>
                  <a:cubicBezTo>
                    <a:pt x="261257" y="259443"/>
                    <a:pt x="439058" y="304800"/>
                    <a:pt x="587829" y="315686"/>
                  </a:cubicBezTo>
                  <a:cubicBezTo>
                    <a:pt x="736600" y="326572"/>
                    <a:pt x="934357" y="321129"/>
                    <a:pt x="1055914" y="272143"/>
                  </a:cubicBezTo>
                  <a:cubicBezTo>
                    <a:pt x="1177471" y="223157"/>
                    <a:pt x="1247321" y="122464"/>
                    <a:pt x="1317171" y="21772"/>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6" name="任意多边形 75"/>
            <p:cNvSpPr/>
            <p:nvPr/>
          </p:nvSpPr>
          <p:spPr>
            <a:xfrm>
              <a:off x="3142726" y="1404257"/>
              <a:ext cx="1317171" cy="231389"/>
            </a:xfrm>
            <a:custGeom>
              <a:avLst/>
              <a:gdLst>
                <a:gd name="connsiteX0" fmla="*/ 0 w 1317171"/>
                <a:gd name="connsiteY0" fmla="*/ 0 h 326572"/>
                <a:gd name="connsiteX1" fmla="*/ 163286 w 1317171"/>
                <a:gd name="connsiteY1" fmla="*/ 206829 h 326572"/>
                <a:gd name="connsiteX2" fmla="*/ 587829 w 1317171"/>
                <a:gd name="connsiteY2" fmla="*/ 315686 h 326572"/>
                <a:gd name="connsiteX3" fmla="*/ 1055914 w 1317171"/>
                <a:gd name="connsiteY3" fmla="*/ 272143 h 326572"/>
                <a:gd name="connsiteX4" fmla="*/ 1317171 w 1317171"/>
                <a:gd name="connsiteY4" fmla="*/ 21772 h 326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171" h="326572">
                  <a:moveTo>
                    <a:pt x="0" y="0"/>
                  </a:moveTo>
                  <a:cubicBezTo>
                    <a:pt x="32657" y="77107"/>
                    <a:pt x="65315" y="154215"/>
                    <a:pt x="163286" y="206829"/>
                  </a:cubicBezTo>
                  <a:cubicBezTo>
                    <a:pt x="261257" y="259443"/>
                    <a:pt x="439058" y="304800"/>
                    <a:pt x="587829" y="315686"/>
                  </a:cubicBezTo>
                  <a:cubicBezTo>
                    <a:pt x="736600" y="326572"/>
                    <a:pt x="934357" y="321129"/>
                    <a:pt x="1055914" y="272143"/>
                  </a:cubicBezTo>
                  <a:cubicBezTo>
                    <a:pt x="1177471" y="223157"/>
                    <a:pt x="1247321" y="122464"/>
                    <a:pt x="1317171" y="21772"/>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 name="任意多边形 76"/>
            <p:cNvSpPr/>
            <p:nvPr/>
          </p:nvSpPr>
          <p:spPr>
            <a:xfrm>
              <a:off x="5374974" y="1404257"/>
              <a:ext cx="1317171" cy="231389"/>
            </a:xfrm>
            <a:custGeom>
              <a:avLst/>
              <a:gdLst>
                <a:gd name="connsiteX0" fmla="*/ 0 w 1317171"/>
                <a:gd name="connsiteY0" fmla="*/ 0 h 326572"/>
                <a:gd name="connsiteX1" fmla="*/ 163286 w 1317171"/>
                <a:gd name="connsiteY1" fmla="*/ 206829 h 326572"/>
                <a:gd name="connsiteX2" fmla="*/ 587829 w 1317171"/>
                <a:gd name="connsiteY2" fmla="*/ 315686 h 326572"/>
                <a:gd name="connsiteX3" fmla="*/ 1055914 w 1317171"/>
                <a:gd name="connsiteY3" fmla="*/ 272143 h 326572"/>
                <a:gd name="connsiteX4" fmla="*/ 1317171 w 1317171"/>
                <a:gd name="connsiteY4" fmla="*/ 21772 h 326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171" h="326572">
                  <a:moveTo>
                    <a:pt x="0" y="0"/>
                  </a:moveTo>
                  <a:cubicBezTo>
                    <a:pt x="32657" y="77107"/>
                    <a:pt x="65315" y="154215"/>
                    <a:pt x="163286" y="206829"/>
                  </a:cubicBezTo>
                  <a:cubicBezTo>
                    <a:pt x="261257" y="259443"/>
                    <a:pt x="439058" y="304800"/>
                    <a:pt x="587829" y="315686"/>
                  </a:cubicBezTo>
                  <a:cubicBezTo>
                    <a:pt x="736600" y="326572"/>
                    <a:pt x="934357" y="321129"/>
                    <a:pt x="1055914" y="272143"/>
                  </a:cubicBezTo>
                  <a:cubicBezTo>
                    <a:pt x="1177471" y="223157"/>
                    <a:pt x="1247321" y="122464"/>
                    <a:pt x="1317171" y="21772"/>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8" name="任意多边形 77"/>
            <p:cNvSpPr/>
            <p:nvPr/>
          </p:nvSpPr>
          <p:spPr>
            <a:xfrm>
              <a:off x="921973" y="1426029"/>
              <a:ext cx="6313714" cy="425641"/>
            </a:xfrm>
            <a:custGeom>
              <a:avLst/>
              <a:gdLst>
                <a:gd name="connsiteX0" fmla="*/ 0 w 6313714"/>
                <a:gd name="connsiteY0" fmla="*/ 0 h 542471"/>
                <a:gd name="connsiteX1" fmla="*/ 849086 w 6313714"/>
                <a:gd name="connsiteY1" fmla="*/ 457200 h 542471"/>
                <a:gd name="connsiteX2" fmla="*/ 4659086 w 6313714"/>
                <a:gd name="connsiteY2" fmla="*/ 511628 h 542471"/>
                <a:gd name="connsiteX3" fmla="*/ 5856514 w 6313714"/>
                <a:gd name="connsiteY3" fmla="*/ 446314 h 542471"/>
                <a:gd name="connsiteX4" fmla="*/ 6313714 w 6313714"/>
                <a:gd name="connsiteY4" fmla="*/ 0 h 542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13714" h="542471">
                  <a:moveTo>
                    <a:pt x="0" y="0"/>
                  </a:moveTo>
                  <a:cubicBezTo>
                    <a:pt x="36286" y="185964"/>
                    <a:pt x="72572" y="371929"/>
                    <a:pt x="849086" y="457200"/>
                  </a:cubicBezTo>
                  <a:cubicBezTo>
                    <a:pt x="1625600" y="542471"/>
                    <a:pt x="3824515" y="513442"/>
                    <a:pt x="4659086" y="511628"/>
                  </a:cubicBezTo>
                  <a:cubicBezTo>
                    <a:pt x="5493657" y="509814"/>
                    <a:pt x="5580743" y="531585"/>
                    <a:pt x="5856514" y="446314"/>
                  </a:cubicBezTo>
                  <a:cubicBezTo>
                    <a:pt x="6132285" y="361043"/>
                    <a:pt x="6222999" y="180521"/>
                    <a:pt x="6313714" y="0"/>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 name="任意多边形 78"/>
            <p:cNvSpPr/>
            <p:nvPr/>
          </p:nvSpPr>
          <p:spPr>
            <a:xfrm>
              <a:off x="6732241" y="1404257"/>
              <a:ext cx="360040" cy="231389"/>
            </a:xfrm>
            <a:custGeom>
              <a:avLst/>
              <a:gdLst>
                <a:gd name="connsiteX0" fmla="*/ 0 w 1317171"/>
                <a:gd name="connsiteY0" fmla="*/ 0 h 326572"/>
                <a:gd name="connsiteX1" fmla="*/ 163286 w 1317171"/>
                <a:gd name="connsiteY1" fmla="*/ 206829 h 326572"/>
                <a:gd name="connsiteX2" fmla="*/ 587829 w 1317171"/>
                <a:gd name="connsiteY2" fmla="*/ 315686 h 326572"/>
                <a:gd name="connsiteX3" fmla="*/ 1055914 w 1317171"/>
                <a:gd name="connsiteY3" fmla="*/ 272143 h 326572"/>
                <a:gd name="connsiteX4" fmla="*/ 1317171 w 1317171"/>
                <a:gd name="connsiteY4" fmla="*/ 21772 h 326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171" h="326572">
                  <a:moveTo>
                    <a:pt x="0" y="0"/>
                  </a:moveTo>
                  <a:cubicBezTo>
                    <a:pt x="32657" y="77107"/>
                    <a:pt x="65315" y="154215"/>
                    <a:pt x="163286" y="206829"/>
                  </a:cubicBezTo>
                  <a:cubicBezTo>
                    <a:pt x="261257" y="259443"/>
                    <a:pt x="439058" y="304800"/>
                    <a:pt x="587829" y="315686"/>
                  </a:cubicBezTo>
                  <a:cubicBezTo>
                    <a:pt x="736600" y="326572"/>
                    <a:pt x="934357" y="321129"/>
                    <a:pt x="1055914" y="272143"/>
                  </a:cubicBezTo>
                  <a:cubicBezTo>
                    <a:pt x="1177471" y="223157"/>
                    <a:pt x="1247321" y="122464"/>
                    <a:pt x="1317171" y="21772"/>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 name="任意多边形 79"/>
            <p:cNvSpPr/>
            <p:nvPr/>
          </p:nvSpPr>
          <p:spPr>
            <a:xfrm>
              <a:off x="2728256" y="1404257"/>
              <a:ext cx="360040" cy="231389"/>
            </a:xfrm>
            <a:custGeom>
              <a:avLst/>
              <a:gdLst>
                <a:gd name="connsiteX0" fmla="*/ 0 w 1317171"/>
                <a:gd name="connsiteY0" fmla="*/ 0 h 326572"/>
                <a:gd name="connsiteX1" fmla="*/ 163286 w 1317171"/>
                <a:gd name="connsiteY1" fmla="*/ 206829 h 326572"/>
                <a:gd name="connsiteX2" fmla="*/ 587829 w 1317171"/>
                <a:gd name="connsiteY2" fmla="*/ 315686 h 326572"/>
                <a:gd name="connsiteX3" fmla="*/ 1055914 w 1317171"/>
                <a:gd name="connsiteY3" fmla="*/ 272143 h 326572"/>
                <a:gd name="connsiteX4" fmla="*/ 1317171 w 1317171"/>
                <a:gd name="connsiteY4" fmla="*/ 21772 h 326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171" h="326572">
                  <a:moveTo>
                    <a:pt x="0" y="0"/>
                  </a:moveTo>
                  <a:cubicBezTo>
                    <a:pt x="32657" y="77107"/>
                    <a:pt x="65315" y="154215"/>
                    <a:pt x="163286" y="206829"/>
                  </a:cubicBezTo>
                  <a:cubicBezTo>
                    <a:pt x="261257" y="259443"/>
                    <a:pt x="439058" y="304800"/>
                    <a:pt x="587829" y="315686"/>
                  </a:cubicBezTo>
                  <a:cubicBezTo>
                    <a:pt x="736600" y="326572"/>
                    <a:pt x="934357" y="321129"/>
                    <a:pt x="1055914" y="272143"/>
                  </a:cubicBezTo>
                  <a:cubicBezTo>
                    <a:pt x="1177471" y="223157"/>
                    <a:pt x="1247321" y="122464"/>
                    <a:pt x="1317171" y="21772"/>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1" name="任意多边形 80"/>
            <p:cNvSpPr/>
            <p:nvPr/>
          </p:nvSpPr>
          <p:spPr>
            <a:xfrm>
              <a:off x="2300402" y="1404257"/>
              <a:ext cx="360040" cy="231389"/>
            </a:xfrm>
            <a:custGeom>
              <a:avLst/>
              <a:gdLst>
                <a:gd name="connsiteX0" fmla="*/ 0 w 1317171"/>
                <a:gd name="connsiteY0" fmla="*/ 0 h 326572"/>
                <a:gd name="connsiteX1" fmla="*/ 163286 w 1317171"/>
                <a:gd name="connsiteY1" fmla="*/ 206829 h 326572"/>
                <a:gd name="connsiteX2" fmla="*/ 587829 w 1317171"/>
                <a:gd name="connsiteY2" fmla="*/ 315686 h 326572"/>
                <a:gd name="connsiteX3" fmla="*/ 1055914 w 1317171"/>
                <a:gd name="connsiteY3" fmla="*/ 272143 h 326572"/>
                <a:gd name="connsiteX4" fmla="*/ 1317171 w 1317171"/>
                <a:gd name="connsiteY4" fmla="*/ 21772 h 326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171" h="326572">
                  <a:moveTo>
                    <a:pt x="0" y="0"/>
                  </a:moveTo>
                  <a:cubicBezTo>
                    <a:pt x="32657" y="77107"/>
                    <a:pt x="65315" y="154215"/>
                    <a:pt x="163286" y="206829"/>
                  </a:cubicBezTo>
                  <a:cubicBezTo>
                    <a:pt x="261257" y="259443"/>
                    <a:pt x="439058" y="304800"/>
                    <a:pt x="587829" y="315686"/>
                  </a:cubicBezTo>
                  <a:cubicBezTo>
                    <a:pt x="736600" y="326572"/>
                    <a:pt x="934357" y="321129"/>
                    <a:pt x="1055914" y="272143"/>
                  </a:cubicBezTo>
                  <a:cubicBezTo>
                    <a:pt x="1177471" y="223157"/>
                    <a:pt x="1247321" y="122464"/>
                    <a:pt x="1317171" y="21772"/>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 name="任意多边形 81"/>
            <p:cNvSpPr/>
            <p:nvPr/>
          </p:nvSpPr>
          <p:spPr>
            <a:xfrm>
              <a:off x="4499992" y="1404257"/>
              <a:ext cx="813115" cy="231389"/>
            </a:xfrm>
            <a:custGeom>
              <a:avLst/>
              <a:gdLst>
                <a:gd name="connsiteX0" fmla="*/ 0 w 1317171"/>
                <a:gd name="connsiteY0" fmla="*/ 0 h 326572"/>
                <a:gd name="connsiteX1" fmla="*/ 163286 w 1317171"/>
                <a:gd name="connsiteY1" fmla="*/ 206829 h 326572"/>
                <a:gd name="connsiteX2" fmla="*/ 587829 w 1317171"/>
                <a:gd name="connsiteY2" fmla="*/ 315686 h 326572"/>
                <a:gd name="connsiteX3" fmla="*/ 1055914 w 1317171"/>
                <a:gd name="connsiteY3" fmla="*/ 272143 h 326572"/>
                <a:gd name="connsiteX4" fmla="*/ 1317171 w 1317171"/>
                <a:gd name="connsiteY4" fmla="*/ 21772 h 326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171" h="326572">
                  <a:moveTo>
                    <a:pt x="0" y="0"/>
                  </a:moveTo>
                  <a:cubicBezTo>
                    <a:pt x="32657" y="77107"/>
                    <a:pt x="65315" y="154215"/>
                    <a:pt x="163286" y="206829"/>
                  </a:cubicBezTo>
                  <a:cubicBezTo>
                    <a:pt x="261257" y="259443"/>
                    <a:pt x="439058" y="304800"/>
                    <a:pt x="587829" y="315686"/>
                  </a:cubicBezTo>
                  <a:cubicBezTo>
                    <a:pt x="736600" y="326572"/>
                    <a:pt x="934357" y="321129"/>
                    <a:pt x="1055914" y="272143"/>
                  </a:cubicBezTo>
                  <a:cubicBezTo>
                    <a:pt x="1177471" y="223157"/>
                    <a:pt x="1247321" y="122464"/>
                    <a:pt x="1317171" y="21772"/>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pic>
        <p:nvPicPr>
          <p:cNvPr id="4098" name="Picture 2"/>
          <p:cNvPicPr>
            <a:picLocks noChangeAspect="1" noChangeArrowheads="1"/>
          </p:cNvPicPr>
          <p:nvPr/>
        </p:nvPicPr>
        <p:blipFill>
          <a:blip r:embed="rId4"/>
          <a:srcRect/>
          <a:stretch>
            <a:fillRect/>
          </a:stretch>
        </p:blipFill>
        <p:spPr bwMode="auto">
          <a:xfrm>
            <a:off x="4435586" y="3286130"/>
            <a:ext cx="4708414" cy="1285884"/>
          </a:xfrm>
          <a:prstGeom prst="rect">
            <a:avLst/>
          </a:prstGeom>
          <a:noFill/>
          <a:ln w="9525">
            <a:noFill/>
            <a:miter lim="800000"/>
            <a:headEnd/>
            <a:tailEnd/>
          </a:ln>
          <a:effec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灯片编号占位符 5">
            <a:extLst>
              <a:ext uri="{FF2B5EF4-FFF2-40B4-BE49-F238E27FC236}">
                <a16:creationId xmlns:a16="http://schemas.microsoft.com/office/drawing/2014/main" id="{C5FCE7A0-B889-4324-B361-B8E892FBEC4D}"/>
              </a:ext>
            </a:extLst>
          </p:cNvPr>
          <p:cNvSpPr>
            <a:spLocks noGrp="1"/>
          </p:cNvSpPr>
          <p:nvPr>
            <p:ph type="sldNum" sz="quarter" idx="12"/>
          </p:nvPr>
        </p:nvSpPr>
        <p:spPr/>
        <p:txBody>
          <a:bodyPr/>
          <a:lstStyle/>
          <a:p>
            <a:pPr defTabSz="685800" fontAlgn="base">
              <a:spcBef>
                <a:spcPct val="0"/>
              </a:spcBef>
              <a:spcAft>
                <a:spcPct val="0"/>
              </a:spcAft>
            </a:pPr>
            <a:fld id="{FF597661-C035-437A-98FE-5408E1A8AFDD}" type="slidenum">
              <a:rPr lang="en-US" altLang="zh-CN">
                <a:solidFill>
                  <a:srgbClr val="FFFFFF"/>
                </a:solidFill>
                <a:latin typeface="Arial" panose="020B0604020202020204" pitchFamily="34" charset="0"/>
                <a:ea typeface="宋体"/>
              </a:rPr>
              <a:pPr defTabSz="685800" fontAlgn="base">
                <a:spcBef>
                  <a:spcPct val="0"/>
                </a:spcBef>
                <a:spcAft>
                  <a:spcPct val="0"/>
                </a:spcAft>
              </a:pPr>
              <a:t>42</a:t>
            </a:fld>
            <a:endParaRPr lang="en-US" altLang="zh-CN">
              <a:solidFill>
                <a:srgbClr val="FFFFFF"/>
              </a:solidFill>
              <a:latin typeface="Arial" panose="020B0604020202020204" pitchFamily="34" charset="0"/>
              <a:ea typeface="宋体"/>
            </a:endParaRPr>
          </a:p>
        </p:txBody>
      </p:sp>
      <p:sp>
        <p:nvSpPr>
          <p:cNvPr id="93186" name="AutoShape 2">
            <a:extLst>
              <a:ext uri="{FF2B5EF4-FFF2-40B4-BE49-F238E27FC236}">
                <a16:creationId xmlns:a16="http://schemas.microsoft.com/office/drawing/2014/main" id="{5843B909-5342-47BC-B6B7-AD6152903CD2}"/>
              </a:ext>
            </a:extLst>
          </p:cNvPr>
          <p:cNvSpPr>
            <a:spLocks noChangeArrowheads="1"/>
          </p:cNvSpPr>
          <p:nvPr/>
        </p:nvSpPr>
        <p:spPr bwMode="auto">
          <a:xfrm>
            <a:off x="1714500" y="1064419"/>
            <a:ext cx="2343150" cy="3829050"/>
          </a:xfrm>
          <a:prstGeom prst="can">
            <a:avLst>
              <a:gd name="adj" fmla="val 28658"/>
            </a:avLst>
          </a:prstGeom>
          <a:noFill/>
          <a:ln w="28575">
            <a:solidFill>
              <a:srgbClr val="FF99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fontAlgn="base">
              <a:spcBef>
                <a:spcPct val="0"/>
              </a:spcBef>
              <a:spcAft>
                <a:spcPct val="0"/>
              </a:spcAft>
            </a:pPr>
            <a:endParaRPr lang="zh-CN" altLang="en-US" sz="1350">
              <a:solidFill>
                <a:srgbClr val="FFFFFF"/>
              </a:solidFill>
              <a:latin typeface="Arial" panose="020B0604020202020204" pitchFamily="34" charset="0"/>
              <a:ea typeface="黑体" panose="02010609060101010101" pitchFamily="49" charset="-122"/>
            </a:endParaRPr>
          </a:p>
        </p:txBody>
      </p:sp>
      <p:sp>
        <p:nvSpPr>
          <p:cNvPr id="93187" name="Text Box 3">
            <a:extLst>
              <a:ext uri="{FF2B5EF4-FFF2-40B4-BE49-F238E27FC236}">
                <a16:creationId xmlns:a16="http://schemas.microsoft.com/office/drawing/2014/main" id="{7EA4A1C7-BBF9-4BF8-B905-2A8BEC5AFF15}"/>
              </a:ext>
            </a:extLst>
          </p:cNvPr>
          <p:cNvSpPr txBox="1">
            <a:spLocks noChangeArrowheads="1"/>
          </p:cNvSpPr>
          <p:nvPr/>
        </p:nvSpPr>
        <p:spPr bwMode="auto">
          <a:xfrm>
            <a:off x="4914900" y="1306116"/>
            <a:ext cx="2400300" cy="369332"/>
          </a:xfrm>
          <a:prstGeom prst="rect">
            <a:avLst/>
          </a:prstGeom>
          <a:noFill/>
          <a:ln w="2857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fontAlgn="base">
              <a:spcBef>
                <a:spcPct val="50000"/>
              </a:spcBef>
              <a:spcAft>
                <a:spcPct val="0"/>
              </a:spcAft>
            </a:pPr>
            <a:r>
              <a:rPr kumimoji="1" lang="zh-CN" altLang="en-US" b="1">
                <a:solidFill>
                  <a:srgbClr val="FFFFFF"/>
                </a:solidFill>
                <a:latin typeface="Times New Roman" panose="02020603050405020304" pitchFamily="18" charset="0"/>
                <a:ea typeface="宋体" panose="02010600030101010101" pitchFamily="2" charset="-122"/>
              </a:rPr>
              <a:t>文件名     始址     末址</a:t>
            </a:r>
          </a:p>
        </p:txBody>
      </p:sp>
      <p:sp>
        <p:nvSpPr>
          <p:cNvPr id="93188" name="Rectangle 4">
            <a:extLst>
              <a:ext uri="{FF2B5EF4-FFF2-40B4-BE49-F238E27FC236}">
                <a16:creationId xmlns:a16="http://schemas.microsoft.com/office/drawing/2014/main" id="{5A933805-DFC6-43C4-ABEE-578724D1054C}"/>
              </a:ext>
            </a:extLst>
          </p:cNvPr>
          <p:cNvSpPr>
            <a:spLocks noChangeArrowheads="1"/>
          </p:cNvSpPr>
          <p:nvPr/>
        </p:nvSpPr>
        <p:spPr bwMode="auto">
          <a:xfrm>
            <a:off x="4914900" y="1677591"/>
            <a:ext cx="2400300" cy="514350"/>
          </a:xfrm>
          <a:prstGeom prst="rect">
            <a:avLst/>
          </a:prstGeom>
          <a:noFill/>
          <a:ln w="2857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fontAlgn="base">
              <a:spcBef>
                <a:spcPct val="0"/>
              </a:spcBef>
              <a:spcAft>
                <a:spcPct val="0"/>
              </a:spcAft>
            </a:pPr>
            <a:endParaRPr lang="zh-CN" altLang="en-US" sz="1350">
              <a:solidFill>
                <a:srgbClr val="FFFFFF"/>
              </a:solidFill>
              <a:latin typeface="Arial" panose="020B0604020202020204" pitchFamily="34" charset="0"/>
              <a:ea typeface="黑体" panose="02010609060101010101" pitchFamily="49" charset="-122"/>
            </a:endParaRPr>
          </a:p>
        </p:txBody>
      </p:sp>
      <p:sp>
        <p:nvSpPr>
          <p:cNvPr id="93189" name="Text Box 5">
            <a:extLst>
              <a:ext uri="{FF2B5EF4-FFF2-40B4-BE49-F238E27FC236}">
                <a16:creationId xmlns:a16="http://schemas.microsoft.com/office/drawing/2014/main" id="{0D79C60D-D7A1-4828-8EC1-C9227F277DFA}"/>
              </a:ext>
            </a:extLst>
          </p:cNvPr>
          <p:cNvSpPr txBox="1">
            <a:spLocks noChangeArrowheads="1"/>
          </p:cNvSpPr>
          <p:nvPr/>
        </p:nvSpPr>
        <p:spPr bwMode="auto">
          <a:xfrm>
            <a:off x="5086351" y="1782366"/>
            <a:ext cx="206097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fontAlgn="base">
              <a:spcBef>
                <a:spcPct val="0"/>
              </a:spcBef>
              <a:spcAft>
                <a:spcPct val="0"/>
              </a:spcAft>
            </a:pPr>
            <a:r>
              <a:rPr kumimoji="1" lang="en-US" altLang="zh-CN" b="1">
                <a:solidFill>
                  <a:srgbClr val="FFFFFF"/>
                </a:solidFill>
                <a:latin typeface="Times New Roman" panose="02020603050405020304" pitchFamily="18" charset="0"/>
                <a:ea typeface="宋体" panose="02010600030101010101" pitchFamily="2" charset="-122"/>
              </a:rPr>
              <a:t>jeep         9           25</a:t>
            </a:r>
          </a:p>
        </p:txBody>
      </p:sp>
      <p:sp>
        <p:nvSpPr>
          <p:cNvPr id="93190" name="Text Box 6">
            <a:extLst>
              <a:ext uri="{FF2B5EF4-FFF2-40B4-BE49-F238E27FC236}">
                <a16:creationId xmlns:a16="http://schemas.microsoft.com/office/drawing/2014/main" id="{E7B08DF8-AD2C-4738-AE07-FC433CC6D32E}"/>
              </a:ext>
            </a:extLst>
          </p:cNvPr>
          <p:cNvSpPr txBox="1">
            <a:spLocks noChangeArrowheads="1"/>
          </p:cNvSpPr>
          <p:nvPr/>
        </p:nvSpPr>
        <p:spPr bwMode="auto">
          <a:xfrm>
            <a:off x="5600700" y="835819"/>
            <a:ext cx="11144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685800" fontAlgn="base">
              <a:spcBef>
                <a:spcPct val="0"/>
              </a:spcBef>
              <a:spcAft>
                <a:spcPct val="0"/>
              </a:spcAft>
            </a:pPr>
            <a:r>
              <a:rPr kumimoji="1" lang="zh-CN" altLang="en-US" b="1">
                <a:solidFill>
                  <a:srgbClr val="FFFFFF"/>
                </a:solidFill>
                <a:latin typeface="Times New Roman" panose="02020603050405020304" pitchFamily="18" charset="0"/>
                <a:ea typeface="宋体" panose="02010600030101010101" pitchFamily="2" charset="-122"/>
              </a:rPr>
              <a:t>文件目录</a:t>
            </a:r>
          </a:p>
        </p:txBody>
      </p:sp>
      <p:sp>
        <p:nvSpPr>
          <p:cNvPr id="93191" name="Rectangle 7">
            <a:extLst>
              <a:ext uri="{FF2B5EF4-FFF2-40B4-BE49-F238E27FC236}">
                <a16:creationId xmlns:a16="http://schemas.microsoft.com/office/drawing/2014/main" id="{6A5857CD-703E-4954-961F-61097E3BAA11}"/>
              </a:ext>
            </a:extLst>
          </p:cNvPr>
          <p:cNvSpPr>
            <a:spLocks noChangeArrowheads="1"/>
          </p:cNvSpPr>
          <p:nvPr/>
        </p:nvSpPr>
        <p:spPr bwMode="auto">
          <a:xfrm>
            <a:off x="1828800" y="18645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0</a:t>
            </a:r>
          </a:p>
        </p:txBody>
      </p:sp>
      <p:sp>
        <p:nvSpPr>
          <p:cNvPr id="93192" name="Rectangle 8">
            <a:extLst>
              <a:ext uri="{FF2B5EF4-FFF2-40B4-BE49-F238E27FC236}">
                <a16:creationId xmlns:a16="http://schemas.microsoft.com/office/drawing/2014/main" id="{259D64C1-0C04-4CAB-B067-906B41C2FBE9}"/>
              </a:ext>
            </a:extLst>
          </p:cNvPr>
          <p:cNvSpPr>
            <a:spLocks noChangeArrowheads="1"/>
          </p:cNvSpPr>
          <p:nvPr/>
        </p:nvSpPr>
        <p:spPr bwMode="auto">
          <a:xfrm>
            <a:off x="2322910" y="18645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a:t>
            </a:r>
          </a:p>
        </p:txBody>
      </p:sp>
      <p:sp>
        <p:nvSpPr>
          <p:cNvPr id="93193" name="Rectangle 9">
            <a:extLst>
              <a:ext uri="{FF2B5EF4-FFF2-40B4-BE49-F238E27FC236}">
                <a16:creationId xmlns:a16="http://schemas.microsoft.com/office/drawing/2014/main" id="{73C3463E-ED7B-4392-9DF3-531DE874AD6D}"/>
              </a:ext>
            </a:extLst>
          </p:cNvPr>
          <p:cNvSpPr>
            <a:spLocks noChangeArrowheads="1"/>
          </p:cNvSpPr>
          <p:nvPr/>
        </p:nvSpPr>
        <p:spPr bwMode="auto">
          <a:xfrm>
            <a:off x="2815829" y="1864519"/>
            <a:ext cx="32980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2</a:t>
            </a:r>
          </a:p>
        </p:txBody>
      </p:sp>
      <p:sp>
        <p:nvSpPr>
          <p:cNvPr id="93194" name="Rectangle 10">
            <a:extLst>
              <a:ext uri="{FF2B5EF4-FFF2-40B4-BE49-F238E27FC236}">
                <a16:creationId xmlns:a16="http://schemas.microsoft.com/office/drawing/2014/main" id="{BCE26105-03FA-4625-824C-E8814A476B49}"/>
              </a:ext>
            </a:extLst>
          </p:cNvPr>
          <p:cNvSpPr>
            <a:spLocks noChangeArrowheads="1"/>
          </p:cNvSpPr>
          <p:nvPr/>
        </p:nvSpPr>
        <p:spPr bwMode="auto">
          <a:xfrm>
            <a:off x="3309937" y="1864519"/>
            <a:ext cx="329804"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3</a:t>
            </a:r>
          </a:p>
        </p:txBody>
      </p:sp>
      <p:sp>
        <p:nvSpPr>
          <p:cNvPr id="93195" name="Rectangle 11">
            <a:extLst>
              <a:ext uri="{FF2B5EF4-FFF2-40B4-BE49-F238E27FC236}">
                <a16:creationId xmlns:a16="http://schemas.microsoft.com/office/drawing/2014/main" id="{A5CC56BE-70A8-4EBD-8672-735519DBBB02}"/>
              </a:ext>
            </a:extLst>
          </p:cNvPr>
          <p:cNvSpPr>
            <a:spLocks noChangeArrowheads="1"/>
          </p:cNvSpPr>
          <p:nvPr/>
        </p:nvSpPr>
        <p:spPr bwMode="auto">
          <a:xfrm>
            <a:off x="1828800" y="22074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4</a:t>
            </a:r>
          </a:p>
        </p:txBody>
      </p:sp>
      <p:sp>
        <p:nvSpPr>
          <p:cNvPr id="93196" name="Rectangle 12">
            <a:extLst>
              <a:ext uri="{FF2B5EF4-FFF2-40B4-BE49-F238E27FC236}">
                <a16:creationId xmlns:a16="http://schemas.microsoft.com/office/drawing/2014/main" id="{9CA28529-33D8-4CDB-9C24-B6C18048411C}"/>
              </a:ext>
            </a:extLst>
          </p:cNvPr>
          <p:cNvSpPr>
            <a:spLocks noChangeArrowheads="1"/>
          </p:cNvSpPr>
          <p:nvPr/>
        </p:nvSpPr>
        <p:spPr bwMode="auto">
          <a:xfrm>
            <a:off x="2322910" y="22074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5</a:t>
            </a:r>
          </a:p>
        </p:txBody>
      </p:sp>
      <p:sp>
        <p:nvSpPr>
          <p:cNvPr id="93197" name="Rectangle 13">
            <a:extLst>
              <a:ext uri="{FF2B5EF4-FFF2-40B4-BE49-F238E27FC236}">
                <a16:creationId xmlns:a16="http://schemas.microsoft.com/office/drawing/2014/main" id="{EB3E927D-C1E5-4FBB-A648-E5E25F047756}"/>
              </a:ext>
            </a:extLst>
          </p:cNvPr>
          <p:cNvSpPr>
            <a:spLocks noChangeArrowheads="1"/>
          </p:cNvSpPr>
          <p:nvPr/>
        </p:nvSpPr>
        <p:spPr bwMode="auto">
          <a:xfrm>
            <a:off x="2815829" y="2207419"/>
            <a:ext cx="32980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6</a:t>
            </a:r>
          </a:p>
        </p:txBody>
      </p:sp>
      <p:sp>
        <p:nvSpPr>
          <p:cNvPr id="93198" name="Rectangle 14">
            <a:extLst>
              <a:ext uri="{FF2B5EF4-FFF2-40B4-BE49-F238E27FC236}">
                <a16:creationId xmlns:a16="http://schemas.microsoft.com/office/drawing/2014/main" id="{2200B8ED-94C8-4DE0-9B61-9379E6694755}"/>
              </a:ext>
            </a:extLst>
          </p:cNvPr>
          <p:cNvSpPr>
            <a:spLocks noChangeArrowheads="1"/>
          </p:cNvSpPr>
          <p:nvPr/>
        </p:nvSpPr>
        <p:spPr bwMode="auto">
          <a:xfrm>
            <a:off x="3309937" y="2207419"/>
            <a:ext cx="329804"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7</a:t>
            </a:r>
          </a:p>
        </p:txBody>
      </p:sp>
      <p:sp>
        <p:nvSpPr>
          <p:cNvPr id="93199" name="Rectangle 15">
            <a:extLst>
              <a:ext uri="{FF2B5EF4-FFF2-40B4-BE49-F238E27FC236}">
                <a16:creationId xmlns:a16="http://schemas.microsoft.com/office/drawing/2014/main" id="{28B2DDF2-39B9-43A1-B5F5-1DD8797239B2}"/>
              </a:ext>
            </a:extLst>
          </p:cNvPr>
          <p:cNvSpPr>
            <a:spLocks noChangeArrowheads="1"/>
          </p:cNvSpPr>
          <p:nvPr/>
        </p:nvSpPr>
        <p:spPr bwMode="auto">
          <a:xfrm>
            <a:off x="1828800" y="25503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8</a:t>
            </a:r>
          </a:p>
        </p:txBody>
      </p:sp>
      <p:sp>
        <p:nvSpPr>
          <p:cNvPr id="93200" name="Rectangle 16">
            <a:extLst>
              <a:ext uri="{FF2B5EF4-FFF2-40B4-BE49-F238E27FC236}">
                <a16:creationId xmlns:a16="http://schemas.microsoft.com/office/drawing/2014/main" id="{C961D8BC-0751-408D-8232-BC51AFA07CAE}"/>
              </a:ext>
            </a:extLst>
          </p:cNvPr>
          <p:cNvSpPr>
            <a:spLocks noChangeArrowheads="1"/>
          </p:cNvSpPr>
          <p:nvPr/>
        </p:nvSpPr>
        <p:spPr bwMode="auto">
          <a:xfrm>
            <a:off x="2322910" y="25503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9</a:t>
            </a:r>
          </a:p>
        </p:txBody>
      </p:sp>
      <p:sp>
        <p:nvSpPr>
          <p:cNvPr id="93201" name="Rectangle 17">
            <a:extLst>
              <a:ext uri="{FF2B5EF4-FFF2-40B4-BE49-F238E27FC236}">
                <a16:creationId xmlns:a16="http://schemas.microsoft.com/office/drawing/2014/main" id="{25B61B2B-085A-4CEA-B88A-4350325A9486}"/>
              </a:ext>
            </a:extLst>
          </p:cNvPr>
          <p:cNvSpPr>
            <a:spLocks noChangeArrowheads="1"/>
          </p:cNvSpPr>
          <p:nvPr/>
        </p:nvSpPr>
        <p:spPr bwMode="auto">
          <a:xfrm>
            <a:off x="2815829" y="2550319"/>
            <a:ext cx="32980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10</a:t>
            </a:r>
          </a:p>
        </p:txBody>
      </p:sp>
      <p:sp>
        <p:nvSpPr>
          <p:cNvPr id="93202" name="Rectangle 18">
            <a:extLst>
              <a:ext uri="{FF2B5EF4-FFF2-40B4-BE49-F238E27FC236}">
                <a16:creationId xmlns:a16="http://schemas.microsoft.com/office/drawing/2014/main" id="{F7F62DC3-F448-4264-A212-0FB9A4F512B5}"/>
              </a:ext>
            </a:extLst>
          </p:cNvPr>
          <p:cNvSpPr>
            <a:spLocks noChangeArrowheads="1"/>
          </p:cNvSpPr>
          <p:nvPr/>
        </p:nvSpPr>
        <p:spPr bwMode="auto">
          <a:xfrm>
            <a:off x="3309937" y="2550319"/>
            <a:ext cx="329804"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11</a:t>
            </a:r>
          </a:p>
        </p:txBody>
      </p:sp>
      <p:sp>
        <p:nvSpPr>
          <p:cNvPr id="93203" name="Rectangle 19">
            <a:extLst>
              <a:ext uri="{FF2B5EF4-FFF2-40B4-BE49-F238E27FC236}">
                <a16:creationId xmlns:a16="http://schemas.microsoft.com/office/drawing/2014/main" id="{6C0B2D37-6510-4B15-83E3-ED4086967FEA}"/>
              </a:ext>
            </a:extLst>
          </p:cNvPr>
          <p:cNvSpPr>
            <a:spLocks noChangeArrowheads="1"/>
          </p:cNvSpPr>
          <p:nvPr/>
        </p:nvSpPr>
        <p:spPr bwMode="auto">
          <a:xfrm>
            <a:off x="1828800" y="28932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12</a:t>
            </a:r>
          </a:p>
        </p:txBody>
      </p:sp>
      <p:sp>
        <p:nvSpPr>
          <p:cNvPr id="93204" name="Rectangle 20">
            <a:extLst>
              <a:ext uri="{FF2B5EF4-FFF2-40B4-BE49-F238E27FC236}">
                <a16:creationId xmlns:a16="http://schemas.microsoft.com/office/drawing/2014/main" id="{48B65DB8-9703-49C5-9FC1-02E45AFE147D}"/>
              </a:ext>
            </a:extLst>
          </p:cNvPr>
          <p:cNvSpPr>
            <a:spLocks noChangeArrowheads="1"/>
          </p:cNvSpPr>
          <p:nvPr/>
        </p:nvSpPr>
        <p:spPr bwMode="auto">
          <a:xfrm>
            <a:off x="2322910" y="28932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13</a:t>
            </a:r>
          </a:p>
        </p:txBody>
      </p:sp>
      <p:sp>
        <p:nvSpPr>
          <p:cNvPr id="93205" name="Rectangle 21">
            <a:extLst>
              <a:ext uri="{FF2B5EF4-FFF2-40B4-BE49-F238E27FC236}">
                <a16:creationId xmlns:a16="http://schemas.microsoft.com/office/drawing/2014/main" id="{E1B73239-CD53-4CC4-A0C1-BF4D20B5BBA7}"/>
              </a:ext>
            </a:extLst>
          </p:cNvPr>
          <p:cNvSpPr>
            <a:spLocks noChangeArrowheads="1"/>
          </p:cNvSpPr>
          <p:nvPr/>
        </p:nvSpPr>
        <p:spPr bwMode="auto">
          <a:xfrm>
            <a:off x="2815829" y="2893219"/>
            <a:ext cx="32980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14</a:t>
            </a:r>
          </a:p>
        </p:txBody>
      </p:sp>
      <p:sp>
        <p:nvSpPr>
          <p:cNvPr id="93206" name="Rectangle 22">
            <a:extLst>
              <a:ext uri="{FF2B5EF4-FFF2-40B4-BE49-F238E27FC236}">
                <a16:creationId xmlns:a16="http://schemas.microsoft.com/office/drawing/2014/main" id="{A7BFF5D0-EBAA-4DA3-A50F-0E49382B186C}"/>
              </a:ext>
            </a:extLst>
          </p:cNvPr>
          <p:cNvSpPr>
            <a:spLocks noChangeArrowheads="1"/>
          </p:cNvSpPr>
          <p:nvPr/>
        </p:nvSpPr>
        <p:spPr bwMode="auto">
          <a:xfrm>
            <a:off x="3309937" y="2893219"/>
            <a:ext cx="329804"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15</a:t>
            </a:r>
          </a:p>
        </p:txBody>
      </p:sp>
      <p:sp>
        <p:nvSpPr>
          <p:cNvPr id="93207" name="Rectangle 23">
            <a:extLst>
              <a:ext uri="{FF2B5EF4-FFF2-40B4-BE49-F238E27FC236}">
                <a16:creationId xmlns:a16="http://schemas.microsoft.com/office/drawing/2014/main" id="{60DDEBB1-6078-48F4-ABF8-3C0AD02821B4}"/>
              </a:ext>
            </a:extLst>
          </p:cNvPr>
          <p:cNvSpPr>
            <a:spLocks noChangeArrowheads="1"/>
          </p:cNvSpPr>
          <p:nvPr/>
        </p:nvSpPr>
        <p:spPr bwMode="auto">
          <a:xfrm>
            <a:off x="1828800" y="32361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16</a:t>
            </a:r>
          </a:p>
        </p:txBody>
      </p:sp>
      <p:sp>
        <p:nvSpPr>
          <p:cNvPr id="93208" name="Rectangle 24">
            <a:extLst>
              <a:ext uri="{FF2B5EF4-FFF2-40B4-BE49-F238E27FC236}">
                <a16:creationId xmlns:a16="http://schemas.microsoft.com/office/drawing/2014/main" id="{F5693E01-B226-42C5-83DD-BD93AAF03999}"/>
              </a:ext>
            </a:extLst>
          </p:cNvPr>
          <p:cNvSpPr>
            <a:spLocks noChangeArrowheads="1"/>
          </p:cNvSpPr>
          <p:nvPr/>
        </p:nvSpPr>
        <p:spPr bwMode="auto">
          <a:xfrm>
            <a:off x="2322910" y="32361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17</a:t>
            </a:r>
          </a:p>
        </p:txBody>
      </p:sp>
      <p:sp>
        <p:nvSpPr>
          <p:cNvPr id="93209" name="Rectangle 25">
            <a:extLst>
              <a:ext uri="{FF2B5EF4-FFF2-40B4-BE49-F238E27FC236}">
                <a16:creationId xmlns:a16="http://schemas.microsoft.com/office/drawing/2014/main" id="{B7DFD943-62F3-4430-812D-806EB96C2692}"/>
              </a:ext>
            </a:extLst>
          </p:cNvPr>
          <p:cNvSpPr>
            <a:spLocks noChangeArrowheads="1"/>
          </p:cNvSpPr>
          <p:nvPr/>
        </p:nvSpPr>
        <p:spPr bwMode="auto">
          <a:xfrm>
            <a:off x="2815829" y="3236119"/>
            <a:ext cx="32980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18</a:t>
            </a:r>
          </a:p>
        </p:txBody>
      </p:sp>
      <p:sp>
        <p:nvSpPr>
          <p:cNvPr id="93210" name="Rectangle 26">
            <a:extLst>
              <a:ext uri="{FF2B5EF4-FFF2-40B4-BE49-F238E27FC236}">
                <a16:creationId xmlns:a16="http://schemas.microsoft.com/office/drawing/2014/main" id="{F534FF2A-FC87-4E50-B9EF-3A8C455706F0}"/>
              </a:ext>
            </a:extLst>
          </p:cNvPr>
          <p:cNvSpPr>
            <a:spLocks noChangeArrowheads="1"/>
          </p:cNvSpPr>
          <p:nvPr/>
        </p:nvSpPr>
        <p:spPr bwMode="auto">
          <a:xfrm>
            <a:off x="3309937" y="3236119"/>
            <a:ext cx="329804"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19</a:t>
            </a:r>
          </a:p>
        </p:txBody>
      </p:sp>
      <p:sp>
        <p:nvSpPr>
          <p:cNvPr id="93211" name="Rectangle 27">
            <a:extLst>
              <a:ext uri="{FF2B5EF4-FFF2-40B4-BE49-F238E27FC236}">
                <a16:creationId xmlns:a16="http://schemas.microsoft.com/office/drawing/2014/main" id="{FAE2BE76-8E91-4F41-A93F-081DC5F30D1E}"/>
              </a:ext>
            </a:extLst>
          </p:cNvPr>
          <p:cNvSpPr>
            <a:spLocks noChangeArrowheads="1"/>
          </p:cNvSpPr>
          <p:nvPr/>
        </p:nvSpPr>
        <p:spPr bwMode="auto">
          <a:xfrm>
            <a:off x="1828800" y="35790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20</a:t>
            </a:r>
          </a:p>
        </p:txBody>
      </p:sp>
      <p:sp>
        <p:nvSpPr>
          <p:cNvPr id="93212" name="Rectangle 28">
            <a:extLst>
              <a:ext uri="{FF2B5EF4-FFF2-40B4-BE49-F238E27FC236}">
                <a16:creationId xmlns:a16="http://schemas.microsoft.com/office/drawing/2014/main" id="{D4A9C230-75C2-4E8E-9648-94CCFD973F93}"/>
              </a:ext>
            </a:extLst>
          </p:cNvPr>
          <p:cNvSpPr>
            <a:spLocks noChangeArrowheads="1"/>
          </p:cNvSpPr>
          <p:nvPr/>
        </p:nvSpPr>
        <p:spPr bwMode="auto">
          <a:xfrm>
            <a:off x="2322910" y="35790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21</a:t>
            </a:r>
          </a:p>
        </p:txBody>
      </p:sp>
      <p:sp>
        <p:nvSpPr>
          <p:cNvPr id="93213" name="Rectangle 29">
            <a:extLst>
              <a:ext uri="{FF2B5EF4-FFF2-40B4-BE49-F238E27FC236}">
                <a16:creationId xmlns:a16="http://schemas.microsoft.com/office/drawing/2014/main" id="{02593661-C074-476E-A3DA-C7932C6162C4}"/>
              </a:ext>
            </a:extLst>
          </p:cNvPr>
          <p:cNvSpPr>
            <a:spLocks noChangeArrowheads="1"/>
          </p:cNvSpPr>
          <p:nvPr/>
        </p:nvSpPr>
        <p:spPr bwMode="auto">
          <a:xfrm>
            <a:off x="2815829" y="3579019"/>
            <a:ext cx="32980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22</a:t>
            </a:r>
          </a:p>
        </p:txBody>
      </p:sp>
      <p:sp>
        <p:nvSpPr>
          <p:cNvPr id="93214" name="Rectangle 30">
            <a:extLst>
              <a:ext uri="{FF2B5EF4-FFF2-40B4-BE49-F238E27FC236}">
                <a16:creationId xmlns:a16="http://schemas.microsoft.com/office/drawing/2014/main" id="{92DF22FD-2CB1-4A43-80E4-BB8FDAB3DF5D}"/>
              </a:ext>
            </a:extLst>
          </p:cNvPr>
          <p:cNvSpPr>
            <a:spLocks noChangeArrowheads="1"/>
          </p:cNvSpPr>
          <p:nvPr/>
        </p:nvSpPr>
        <p:spPr bwMode="auto">
          <a:xfrm>
            <a:off x="3309937" y="3579019"/>
            <a:ext cx="329804"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23</a:t>
            </a:r>
          </a:p>
        </p:txBody>
      </p:sp>
      <p:sp>
        <p:nvSpPr>
          <p:cNvPr id="93215" name="Rectangle 31">
            <a:extLst>
              <a:ext uri="{FF2B5EF4-FFF2-40B4-BE49-F238E27FC236}">
                <a16:creationId xmlns:a16="http://schemas.microsoft.com/office/drawing/2014/main" id="{B5185CE5-E545-4CC6-996B-59E24099E2C3}"/>
              </a:ext>
            </a:extLst>
          </p:cNvPr>
          <p:cNvSpPr>
            <a:spLocks noChangeArrowheads="1"/>
          </p:cNvSpPr>
          <p:nvPr/>
        </p:nvSpPr>
        <p:spPr bwMode="auto">
          <a:xfrm>
            <a:off x="1828800" y="39219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24</a:t>
            </a:r>
          </a:p>
        </p:txBody>
      </p:sp>
      <p:sp>
        <p:nvSpPr>
          <p:cNvPr id="93216" name="Rectangle 32">
            <a:extLst>
              <a:ext uri="{FF2B5EF4-FFF2-40B4-BE49-F238E27FC236}">
                <a16:creationId xmlns:a16="http://schemas.microsoft.com/office/drawing/2014/main" id="{1D35B877-7990-4F67-973A-FFBDDCF4E95F}"/>
              </a:ext>
            </a:extLst>
          </p:cNvPr>
          <p:cNvSpPr>
            <a:spLocks noChangeArrowheads="1"/>
          </p:cNvSpPr>
          <p:nvPr/>
        </p:nvSpPr>
        <p:spPr bwMode="auto">
          <a:xfrm>
            <a:off x="2322910" y="39219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25</a:t>
            </a:r>
          </a:p>
        </p:txBody>
      </p:sp>
      <p:sp>
        <p:nvSpPr>
          <p:cNvPr id="93217" name="Rectangle 33">
            <a:extLst>
              <a:ext uri="{FF2B5EF4-FFF2-40B4-BE49-F238E27FC236}">
                <a16:creationId xmlns:a16="http://schemas.microsoft.com/office/drawing/2014/main" id="{39BB3E86-D6CE-4037-9651-120C570D3DDE}"/>
              </a:ext>
            </a:extLst>
          </p:cNvPr>
          <p:cNvSpPr>
            <a:spLocks noChangeArrowheads="1"/>
          </p:cNvSpPr>
          <p:nvPr/>
        </p:nvSpPr>
        <p:spPr bwMode="auto">
          <a:xfrm>
            <a:off x="2815829" y="3921919"/>
            <a:ext cx="32980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26</a:t>
            </a:r>
          </a:p>
        </p:txBody>
      </p:sp>
      <p:sp>
        <p:nvSpPr>
          <p:cNvPr id="93218" name="Rectangle 34">
            <a:extLst>
              <a:ext uri="{FF2B5EF4-FFF2-40B4-BE49-F238E27FC236}">
                <a16:creationId xmlns:a16="http://schemas.microsoft.com/office/drawing/2014/main" id="{79FB64D8-9E60-4D7E-AD40-0F6B4AF1CAA4}"/>
              </a:ext>
            </a:extLst>
          </p:cNvPr>
          <p:cNvSpPr>
            <a:spLocks noChangeArrowheads="1"/>
          </p:cNvSpPr>
          <p:nvPr/>
        </p:nvSpPr>
        <p:spPr bwMode="auto">
          <a:xfrm>
            <a:off x="3309937" y="3921919"/>
            <a:ext cx="329804"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27</a:t>
            </a:r>
          </a:p>
        </p:txBody>
      </p:sp>
      <p:sp>
        <p:nvSpPr>
          <p:cNvPr id="93219" name="Rectangle 35">
            <a:extLst>
              <a:ext uri="{FF2B5EF4-FFF2-40B4-BE49-F238E27FC236}">
                <a16:creationId xmlns:a16="http://schemas.microsoft.com/office/drawing/2014/main" id="{35A67DAF-86F0-49E6-883D-66FF73B0F105}"/>
              </a:ext>
            </a:extLst>
          </p:cNvPr>
          <p:cNvSpPr>
            <a:spLocks noChangeArrowheads="1"/>
          </p:cNvSpPr>
          <p:nvPr/>
        </p:nvSpPr>
        <p:spPr bwMode="auto">
          <a:xfrm>
            <a:off x="1828800" y="42648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28</a:t>
            </a:r>
          </a:p>
        </p:txBody>
      </p:sp>
      <p:sp>
        <p:nvSpPr>
          <p:cNvPr id="93220" name="Rectangle 36">
            <a:extLst>
              <a:ext uri="{FF2B5EF4-FFF2-40B4-BE49-F238E27FC236}">
                <a16:creationId xmlns:a16="http://schemas.microsoft.com/office/drawing/2014/main" id="{F8E49741-4FC8-44A0-9CF2-AB1C4DB96C51}"/>
              </a:ext>
            </a:extLst>
          </p:cNvPr>
          <p:cNvSpPr>
            <a:spLocks noChangeArrowheads="1"/>
          </p:cNvSpPr>
          <p:nvPr/>
        </p:nvSpPr>
        <p:spPr bwMode="auto">
          <a:xfrm>
            <a:off x="2322910" y="4264819"/>
            <a:ext cx="32861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29</a:t>
            </a:r>
          </a:p>
        </p:txBody>
      </p:sp>
      <p:sp>
        <p:nvSpPr>
          <p:cNvPr id="93221" name="Rectangle 37">
            <a:extLst>
              <a:ext uri="{FF2B5EF4-FFF2-40B4-BE49-F238E27FC236}">
                <a16:creationId xmlns:a16="http://schemas.microsoft.com/office/drawing/2014/main" id="{E90C3D65-82B9-4927-A774-78086B386760}"/>
              </a:ext>
            </a:extLst>
          </p:cNvPr>
          <p:cNvSpPr>
            <a:spLocks noChangeArrowheads="1"/>
          </p:cNvSpPr>
          <p:nvPr/>
        </p:nvSpPr>
        <p:spPr bwMode="auto">
          <a:xfrm>
            <a:off x="2815829" y="4264819"/>
            <a:ext cx="329803"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30</a:t>
            </a:r>
          </a:p>
        </p:txBody>
      </p:sp>
      <p:sp>
        <p:nvSpPr>
          <p:cNvPr id="93222" name="Rectangle 38">
            <a:extLst>
              <a:ext uri="{FF2B5EF4-FFF2-40B4-BE49-F238E27FC236}">
                <a16:creationId xmlns:a16="http://schemas.microsoft.com/office/drawing/2014/main" id="{AE48F3C9-1603-49D2-A7BD-68FB066CEF7D}"/>
              </a:ext>
            </a:extLst>
          </p:cNvPr>
          <p:cNvSpPr>
            <a:spLocks noChangeArrowheads="1"/>
          </p:cNvSpPr>
          <p:nvPr/>
        </p:nvSpPr>
        <p:spPr bwMode="auto">
          <a:xfrm>
            <a:off x="3309937" y="4264819"/>
            <a:ext cx="329804"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31</a:t>
            </a:r>
          </a:p>
        </p:txBody>
      </p:sp>
      <p:sp>
        <p:nvSpPr>
          <p:cNvPr id="93223" name="Rectangle 39">
            <a:extLst>
              <a:ext uri="{FF2B5EF4-FFF2-40B4-BE49-F238E27FC236}">
                <a16:creationId xmlns:a16="http://schemas.microsoft.com/office/drawing/2014/main" id="{CACA36AD-968B-4968-B4D6-8E654CDB0AFD}"/>
              </a:ext>
            </a:extLst>
          </p:cNvPr>
          <p:cNvSpPr>
            <a:spLocks noChangeArrowheads="1"/>
          </p:cNvSpPr>
          <p:nvPr/>
        </p:nvSpPr>
        <p:spPr bwMode="auto">
          <a:xfrm>
            <a:off x="2114550" y="18645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24" name="Rectangle 40">
            <a:extLst>
              <a:ext uri="{FF2B5EF4-FFF2-40B4-BE49-F238E27FC236}">
                <a16:creationId xmlns:a16="http://schemas.microsoft.com/office/drawing/2014/main" id="{372B96D8-DBEB-4033-9E61-962A522AF1B9}"/>
              </a:ext>
            </a:extLst>
          </p:cNvPr>
          <p:cNvSpPr>
            <a:spLocks noChangeArrowheads="1"/>
          </p:cNvSpPr>
          <p:nvPr/>
        </p:nvSpPr>
        <p:spPr bwMode="auto">
          <a:xfrm>
            <a:off x="2114550" y="22074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25" name="Rectangle 41">
            <a:extLst>
              <a:ext uri="{FF2B5EF4-FFF2-40B4-BE49-F238E27FC236}">
                <a16:creationId xmlns:a16="http://schemas.microsoft.com/office/drawing/2014/main" id="{B2CF2367-D532-431E-B3B7-D413FF70AE87}"/>
              </a:ext>
            </a:extLst>
          </p:cNvPr>
          <p:cNvSpPr>
            <a:spLocks noChangeArrowheads="1"/>
          </p:cNvSpPr>
          <p:nvPr/>
        </p:nvSpPr>
        <p:spPr bwMode="auto">
          <a:xfrm>
            <a:off x="2114550" y="25503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26" name="Rectangle 42">
            <a:extLst>
              <a:ext uri="{FF2B5EF4-FFF2-40B4-BE49-F238E27FC236}">
                <a16:creationId xmlns:a16="http://schemas.microsoft.com/office/drawing/2014/main" id="{837D928C-5062-4230-B950-488E9B94BF75}"/>
              </a:ext>
            </a:extLst>
          </p:cNvPr>
          <p:cNvSpPr>
            <a:spLocks noChangeArrowheads="1"/>
          </p:cNvSpPr>
          <p:nvPr/>
        </p:nvSpPr>
        <p:spPr bwMode="auto">
          <a:xfrm>
            <a:off x="2114550" y="28932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27" name="Rectangle 43">
            <a:extLst>
              <a:ext uri="{FF2B5EF4-FFF2-40B4-BE49-F238E27FC236}">
                <a16:creationId xmlns:a16="http://schemas.microsoft.com/office/drawing/2014/main" id="{3F8BF3DE-7926-49B4-8600-C30692E71E0B}"/>
              </a:ext>
            </a:extLst>
          </p:cNvPr>
          <p:cNvSpPr>
            <a:spLocks noChangeArrowheads="1"/>
          </p:cNvSpPr>
          <p:nvPr/>
        </p:nvSpPr>
        <p:spPr bwMode="auto">
          <a:xfrm>
            <a:off x="2114550" y="32361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a:t>
            </a:r>
          </a:p>
        </p:txBody>
      </p:sp>
      <p:sp>
        <p:nvSpPr>
          <p:cNvPr id="93228" name="Rectangle 44">
            <a:extLst>
              <a:ext uri="{FF2B5EF4-FFF2-40B4-BE49-F238E27FC236}">
                <a16:creationId xmlns:a16="http://schemas.microsoft.com/office/drawing/2014/main" id="{21D0577C-4F93-4E1E-A627-485997F67BFB}"/>
              </a:ext>
            </a:extLst>
          </p:cNvPr>
          <p:cNvSpPr>
            <a:spLocks noChangeArrowheads="1"/>
          </p:cNvSpPr>
          <p:nvPr/>
        </p:nvSpPr>
        <p:spPr bwMode="auto">
          <a:xfrm>
            <a:off x="2114550" y="35790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29" name="Rectangle 45">
            <a:extLst>
              <a:ext uri="{FF2B5EF4-FFF2-40B4-BE49-F238E27FC236}">
                <a16:creationId xmlns:a16="http://schemas.microsoft.com/office/drawing/2014/main" id="{99E8EC1A-70D4-4FA9-8B2D-80C530F5048B}"/>
              </a:ext>
            </a:extLst>
          </p:cNvPr>
          <p:cNvSpPr>
            <a:spLocks noChangeArrowheads="1"/>
          </p:cNvSpPr>
          <p:nvPr/>
        </p:nvSpPr>
        <p:spPr bwMode="auto">
          <a:xfrm>
            <a:off x="2114550" y="39219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30" name="Rectangle 46">
            <a:extLst>
              <a:ext uri="{FF2B5EF4-FFF2-40B4-BE49-F238E27FC236}">
                <a16:creationId xmlns:a16="http://schemas.microsoft.com/office/drawing/2014/main" id="{AD34B57D-318A-4872-B5A8-6203333BF554}"/>
              </a:ext>
            </a:extLst>
          </p:cNvPr>
          <p:cNvSpPr>
            <a:spLocks noChangeArrowheads="1"/>
          </p:cNvSpPr>
          <p:nvPr/>
        </p:nvSpPr>
        <p:spPr bwMode="auto">
          <a:xfrm>
            <a:off x="2114550" y="42648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31" name="Rectangle 47">
            <a:extLst>
              <a:ext uri="{FF2B5EF4-FFF2-40B4-BE49-F238E27FC236}">
                <a16:creationId xmlns:a16="http://schemas.microsoft.com/office/drawing/2014/main" id="{2C028897-2206-4FC4-B4EC-BE731C9802E5}"/>
              </a:ext>
            </a:extLst>
          </p:cNvPr>
          <p:cNvSpPr>
            <a:spLocks noChangeArrowheads="1"/>
          </p:cNvSpPr>
          <p:nvPr/>
        </p:nvSpPr>
        <p:spPr bwMode="auto">
          <a:xfrm>
            <a:off x="2628900" y="18645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10</a:t>
            </a:r>
          </a:p>
        </p:txBody>
      </p:sp>
      <p:sp>
        <p:nvSpPr>
          <p:cNvPr id="93232" name="Rectangle 48">
            <a:extLst>
              <a:ext uri="{FF2B5EF4-FFF2-40B4-BE49-F238E27FC236}">
                <a16:creationId xmlns:a16="http://schemas.microsoft.com/office/drawing/2014/main" id="{FBAA9973-2CE2-49FB-9356-62376526A9D6}"/>
              </a:ext>
            </a:extLst>
          </p:cNvPr>
          <p:cNvSpPr>
            <a:spLocks noChangeArrowheads="1"/>
          </p:cNvSpPr>
          <p:nvPr/>
        </p:nvSpPr>
        <p:spPr bwMode="auto">
          <a:xfrm>
            <a:off x="2628900" y="22074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33" name="Rectangle 49">
            <a:extLst>
              <a:ext uri="{FF2B5EF4-FFF2-40B4-BE49-F238E27FC236}">
                <a16:creationId xmlns:a16="http://schemas.microsoft.com/office/drawing/2014/main" id="{7BCD2F52-4DF6-4307-B1F8-B53D045CD4CB}"/>
              </a:ext>
            </a:extLst>
          </p:cNvPr>
          <p:cNvSpPr>
            <a:spLocks noChangeArrowheads="1"/>
          </p:cNvSpPr>
          <p:nvPr/>
        </p:nvSpPr>
        <p:spPr bwMode="auto">
          <a:xfrm>
            <a:off x="2628900" y="25503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16</a:t>
            </a:r>
          </a:p>
        </p:txBody>
      </p:sp>
      <p:sp>
        <p:nvSpPr>
          <p:cNvPr id="93234" name="Rectangle 50">
            <a:extLst>
              <a:ext uri="{FF2B5EF4-FFF2-40B4-BE49-F238E27FC236}">
                <a16:creationId xmlns:a16="http://schemas.microsoft.com/office/drawing/2014/main" id="{F81D6BDC-A836-43D9-9A54-EB2994737D9E}"/>
              </a:ext>
            </a:extLst>
          </p:cNvPr>
          <p:cNvSpPr>
            <a:spLocks noChangeArrowheads="1"/>
          </p:cNvSpPr>
          <p:nvPr/>
        </p:nvSpPr>
        <p:spPr bwMode="auto">
          <a:xfrm>
            <a:off x="2628900" y="28932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35" name="Rectangle 51">
            <a:extLst>
              <a:ext uri="{FF2B5EF4-FFF2-40B4-BE49-F238E27FC236}">
                <a16:creationId xmlns:a16="http://schemas.microsoft.com/office/drawing/2014/main" id="{DE3C6C08-6597-41E1-9EB4-077E6EC131EE}"/>
              </a:ext>
            </a:extLst>
          </p:cNvPr>
          <p:cNvSpPr>
            <a:spLocks noChangeArrowheads="1"/>
          </p:cNvSpPr>
          <p:nvPr/>
        </p:nvSpPr>
        <p:spPr bwMode="auto">
          <a:xfrm>
            <a:off x="2628900" y="32361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36" name="Rectangle 52">
            <a:extLst>
              <a:ext uri="{FF2B5EF4-FFF2-40B4-BE49-F238E27FC236}">
                <a16:creationId xmlns:a16="http://schemas.microsoft.com/office/drawing/2014/main" id="{DC01415E-9D26-4A56-ADFC-47C0457479BA}"/>
              </a:ext>
            </a:extLst>
          </p:cNvPr>
          <p:cNvSpPr>
            <a:spLocks noChangeArrowheads="1"/>
          </p:cNvSpPr>
          <p:nvPr/>
        </p:nvSpPr>
        <p:spPr bwMode="auto">
          <a:xfrm>
            <a:off x="2628900" y="35790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37" name="Rectangle 53">
            <a:extLst>
              <a:ext uri="{FF2B5EF4-FFF2-40B4-BE49-F238E27FC236}">
                <a16:creationId xmlns:a16="http://schemas.microsoft.com/office/drawing/2014/main" id="{52425B2B-C64A-4A8F-A9D2-F5014004DB2B}"/>
              </a:ext>
            </a:extLst>
          </p:cNvPr>
          <p:cNvSpPr>
            <a:spLocks noChangeArrowheads="1"/>
          </p:cNvSpPr>
          <p:nvPr/>
        </p:nvSpPr>
        <p:spPr bwMode="auto">
          <a:xfrm>
            <a:off x="2628900" y="39219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-1</a:t>
            </a:r>
          </a:p>
        </p:txBody>
      </p:sp>
      <p:sp>
        <p:nvSpPr>
          <p:cNvPr id="93238" name="Rectangle 54">
            <a:extLst>
              <a:ext uri="{FF2B5EF4-FFF2-40B4-BE49-F238E27FC236}">
                <a16:creationId xmlns:a16="http://schemas.microsoft.com/office/drawing/2014/main" id="{249247D2-36C2-4D72-905F-42B4CA44160D}"/>
              </a:ext>
            </a:extLst>
          </p:cNvPr>
          <p:cNvSpPr>
            <a:spLocks noChangeArrowheads="1"/>
          </p:cNvSpPr>
          <p:nvPr/>
        </p:nvSpPr>
        <p:spPr bwMode="auto">
          <a:xfrm>
            <a:off x="2628900" y="42648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39" name="Rectangle 55">
            <a:extLst>
              <a:ext uri="{FF2B5EF4-FFF2-40B4-BE49-F238E27FC236}">
                <a16:creationId xmlns:a16="http://schemas.microsoft.com/office/drawing/2014/main" id="{7C26DFDA-B2F2-42E5-90D5-C9CA45FA45BA}"/>
              </a:ext>
            </a:extLst>
          </p:cNvPr>
          <p:cNvSpPr>
            <a:spLocks noChangeArrowheads="1"/>
          </p:cNvSpPr>
          <p:nvPr/>
        </p:nvSpPr>
        <p:spPr bwMode="auto">
          <a:xfrm>
            <a:off x="3086100" y="18645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40" name="Rectangle 56">
            <a:extLst>
              <a:ext uri="{FF2B5EF4-FFF2-40B4-BE49-F238E27FC236}">
                <a16:creationId xmlns:a16="http://schemas.microsoft.com/office/drawing/2014/main" id="{AB271727-B483-4D38-BEA4-159833B94752}"/>
              </a:ext>
            </a:extLst>
          </p:cNvPr>
          <p:cNvSpPr>
            <a:spLocks noChangeArrowheads="1"/>
          </p:cNvSpPr>
          <p:nvPr/>
        </p:nvSpPr>
        <p:spPr bwMode="auto">
          <a:xfrm>
            <a:off x="3086100" y="22074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41" name="Rectangle 57">
            <a:extLst>
              <a:ext uri="{FF2B5EF4-FFF2-40B4-BE49-F238E27FC236}">
                <a16:creationId xmlns:a16="http://schemas.microsoft.com/office/drawing/2014/main" id="{AC95222A-B063-42E8-889F-7D9200015E9C}"/>
              </a:ext>
            </a:extLst>
          </p:cNvPr>
          <p:cNvSpPr>
            <a:spLocks noChangeArrowheads="1"/>
          </p:cNvSpPr>
          <p:nvPr/>
        </p:nvSpPr>
        <p:spPr bwMode="auto">
          <a:xfrm>
            <a:off x="3086100" y="25503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r>
              <a:rPr kumimoji="1" lang="en-US" altLang="zh-CN" sz="1350" b="1">
                <a:solidFill>
                  <a:srgbClr val="FFFFFF"/>
                </a:solidFill>
                <a:latin typeface="Times New Roman" panose="02020603050405020304" pitchFamily="18" charset="0"/>
                <a:ea typeface="宋体" panose="02010600030101010101" pitchFamily="2" charset="-122"/>
              </a:rPr>
              <a:t>25</a:t>
            </a:r>
          </a:p>
        </p:txBody>
      </p:sp>
      <p:sp>
        <p:nvSpPr>
          <p:cNvPr id="93242" name="Rectangle 58">
            <a:extLst>
              <a:ext uri="{FF2B5EF4-FFF2-40B4-BE49-F238E27FC236}">
                <a16:creationId xmlns:a16="http://schemas.microsoft.com/office/drawing/2014/main" id="{2CC6D94D-6F67-4A68-8770-E55B0FAD466C}"/>
              </a:ext>
            </a:extLst>
          </p:cNvPr>
          <p:cNvSpPr>
            <a:spLocks noChangeArrowheads="1"/>
          </p:cNvSpPr>
          <p:nvPr/>
        </p:nvSpPr>
        <p:spPr bwMode="auto">
          <a:xfrm>
            <a:off x="3086100" y="28932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43" name="Rectangle 59">
            <a:extLst>
              <a:ext uri="{FF2B5EF4-FFF2-40B4-BE49-F238E27FC236}">
                <a16:creationId xmlns:a16="http://schemas.microsoft.com/office/drawing/2014/main" id="{2D038C4D-9356-4505-A924-936E59E94725}"/>
              </a:ext>
            </a:extLst>
          </p:cNvPr>
          <p:cNvSpPr>
            <a:spLocks noChangeArrowheads="1"/>
          </p:cNvSpPr>
          <p:nvPr/>
        </p:nvSpPr>
        <p:spPr bwMode="auto">
          <a:xfrm>
            <a:off x="3086100" y="32361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44" name="Rectangle 60">
            <a:extLst>
              <a:ext uri="{FF2B5EF4-FFF2-40B4-BE49-F238E27FC236}">
                <a16:creationId xmlns:a16="http://schemas.microsoft.com/office/drawing/2014/main" id="{0A06FD63-9A0C-489F-B049-BB2FD90B98D4}"/>
              </a:ext>
            </a:extLst>
          </p:cNvPr>
          <p:cNvSpPr>
            <a:spLocks noChangeArrowheads="1"/>
          </p:cNvSpPr>
          <p:nvPr/>
        </p:nvSpPr>
        <p:spPr bwMode="auto">
          <a:xfrm>
            <a:off x="3086100" y="35790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45" name="Rectangle 61">
            <a:extLst>
              <a:ext uri="{FF2B5EF4-FFF2-40B4-BE49-F238E27FC236}">
                <a16:creationId xmlns:a16="http://schemas.microsoft.com/office/drawing/2014/main" id="{793890B6-7EAC-4D6B-BE00-FF6477E4C5E0}"/>
              </a:ext>
            </a:extLst>
          </p:cNvPr>
          <p:cNvSpPr>
            <a:spLocks noChangeArrowheads="1"/>
          </p:cNvSpPr>
          <p:nvPr/>
        </p:nvSpPr>
        <p:spPr bwMode="auto">
          <a:xfrm>
            <a:off x="3086100" y="39219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46" name="Rectangle 62">
            <a:extLst>
              <a:ext uri="{FF2B5EF4-FFF2-40B4-BE49-F238E27FC236}">
                <a16:creationId xmlns:a16="http://schemas.microsoft.com/office/drawing/2014/main" id="{0EE457AE-7FD8-4FCF-87D3-F9C967683867}"/>
              </a:ext>
            </a:extLst>
          </p:cNvPr>
          <p:cNvSpPr>
            <a:spLocks noChangeArrowheads="1"/>
          </p:cNvSpPr>
          <p:nvPr/>
        </p:nvSpPr>
        <p:spPr bwMode="auto">
          <a:xfrm>
            <a:off x="3086100" y="42648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47" name="Rectangle 63">
            <a:extLst>
              <a:ext uri="{FF2B5EF4-FFF2-40B4-BE49-F238E27FC236}">
                <a16:creationId xmlns:a16="http://schemas.microsoft.com/office/drawing/2014/main" id="{27628038-E2D4-4AB6-B196-FAD8584F8861}"/>
              </a:ext>
            </a:extLst>
          </p:cNvPr>
          <p:cNvSpPr>
            <a:spLocks noChangeArrowheads="1"/>
          </p:cNvSpPr>
          <p:nvPr/>
        </p:nvSpPr>
        <p:spPr bwMode="auto">
          <a:xfrm>
            <a:off x="3600450" y="18645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48" name="Rectangle 64">
            <a:extLst>
              <a:ext uri="{FF2B5EF4-FFF2-40B4-BE49-F238E27FC236}">
                <a16:creationId xmlns:a16="http://schemas.microsoft.com/office/drawing/2014/main" id="{8F396419-CD64-4313-A437-E5C37AD5FB50}"/>
              </a:ext>
            </a:extLst>
          </p:cNvPr>
          <p:cNvSpPr>
            <a:spLocks noChangeArrowheads="1"/>
          </p:cNvSpPr>
          <p:nvPr/>
        </p:nvSpPr>
        <p:spPr bwMode="auto">
          <a:xfrm>
            <a:off x="3600450" y="22074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49" name="Rectangle 65">
            <a:extLst>
              <a:ext uri="{FF2B5EF4-FFF2-40B4-BE49-F238E27FC236}">
                <a16:creationId xmlns:a16="http://schemas.microsoft.com/office/drawing/2014/main" id="{28160985-7C83-42B9-886A-04BEE2FE2F32}"/>
              </a:ext>
            </a:extLst>
          </p:cNvPr>
          <p:cNvSpPr>
            <a:spLocks noChangeArrowheads="1"/>
          </p:cNvSpPr>
          <p:nvPr/>
        </p:nvSpPr>
        <p:spPr bwMode="auto">
          <a:xfrm>
            <a:off x="3600450" y="25503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50" name="Rectangle 66">
            <a:extLst>
              <a:ext uri="{FF2B5EF4-FFF2-40B4-BE49-F238E27FC236}">
                <a16:creationId xmlns:a16="http://schemas.microsoft.com/office/drawing/2014/main" id="{C91B380A-0CA8-4B9E-B8CE-18DFEDEA4E21}"/>
              </a:ext>
            </a:extLst>
          </p:cNvPr>
          <p:cNvSpPr>
            <a:spLocks noChangeArrowheads="1"/>
          </p:cNvSpPr>
          <p:nvPr/>
        </p:nvSpPr>
        <p:spPr bwMode="auto">
          <a:xfrm>
            <a:off x="3600450" y="28932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51" name="Rectangle 67">
            <a:extLst>
              <a:ext uri="{FF2B5EF4-FFF2-40B4-BE49-F238E27FC236}">
                <a16:creationId xmlns:a16="http://schemas.microsoft.com/office/drawing/2014/main" id="{2E3B8EEC-70F2-4814-A13B-C6D413B4C5DE}"/>
              </a:ext>
            </a:extLst>
          </p:cNvPr>
          <p:cNvSpPr>
            <a:spLocks noChangeArrowheads="1"/>
          </p:cNvSpPr>
          <p:nvPr/>
        </p:nvSpPr>
        <p:spPr bwMode="auto">
          <a:xfrm>
            <a:off x="3600450" y="32361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52" name="Rectangle 68">
            <a:extLst>
              <a:ext uri="{FF2B5EF4-FFF2-40B4-BE49-F238E27FC236}">
                <a16:creationId xmlns:a16="http://schemas.microsoft.com/office/drawing/2014/main" id="{236BE5B2-B9C5-4EFC-B641-B8F8F5DCC94D}"/>
              </a:ext>
            </a:extLst>
          </p:cNvPr>
          <p:cNvSpPr>
            <a:spLocks noChangeArrowheads="1"/>
          </p:cNvSpPr>
          <p:nvPr/>
        </p:nvSpPr>
        <p:spPr bwMode="auto">
          <a:xfrm>
            <a:off x="3600450" y="35790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53" name="Rectangle 69">
            <a:extLst>
              <a:ext uri="{FF2B5EF4-FFF2-40B4-BE49-F238E27FC236}">
                <a16:creationId xmlns:a16="http://schemas.microsoft.com/office/drawing/2014/main" id="{5E4AB697-FBEE-43A9-BD06-AE9E9463EFE0}"/>
              </a:ext>
            </a:extLst>
          </p:cNvPr>
          <p:cNvSpPr>
            <a:spLocks noChangeArrowheads="1"/>
          </p:cNvSpPr>
          <p:nvPr/>
        </p:nvSpPr>
        <p:spPr bwMode="auto">
          <a:xfrm>
            <a:off x="3600450" y="39219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54" name="Rectangle 70">
            <a:extLst>
              <a:ext uri="{FF2B5EF4-FFF2-40B4-BE49-F238E27FC236}">
                <a16:creationId xmlns:a16="http://schemas.microsoft.com/office/drawing/2014/main" id="{32294F70-9F2E-4036-B511-6C3AEFE3145B}"/>
              </a:ext>
            </a:extLst>
          </p:cNvPr>
          <p:cNvSpPr>
            <a:spLocks noChangeArrowheads="1"/>
          </p:cNvSpPr>
          <p:nvPr/>
        </p:nvSpPr>
        <p:spPr bwMode="auto">
          <a:xfrm>
            <a:off x="3600450" y="4264819"/>
            <a:ext cx="228600" cy="171450"/>
          </a:xfrm>
          <a:prstGeom prst="rect">
            <a:avLst/>
          </a:prstGeom>
          <a:noFill/>
          <a:ln w="9525">
            <a:solidFill>
              <a:srgbClr val="FF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fontAlgn="base">
              <a:spcBef>
                <a:spcPct val="0"/>
              </a:spcBef>
              <a:spcAft>
                <a:spcPct val="0"/>
              </a:spcAft>
            </a:pPr>
            <a:endParaRPr kumimoji="1" lang="zh-CN" altLang="zh-CN" sz="1350" b="1">
              <a:solidFill>
                <a:srgbClr val="FFFFFF"/>
              </a:solidFill>
              <a:latin typeface="Times New Roman" panose="02020603050405020304" pitchFamily="18" charset="0"/>
              <a:ea typeface="宋体" panose="02010600030101010101" pitchFamily="2" charset="-122"/>
            </a:endParaRPr>
          </a:p>
        </p:txBody>
      </p:sp>
      <p:sp>
        <p:nvSpPr>
          <p:cNvPr id="93255" name="Line 71">
            <a:extLst>
              <a:ext uri="{FF2B5EF4-FFF2-40B4-BE49-F238E27FC236}">
                <a16:creationId xmlns:a16="http://schemas.microsoft.com/office/drawing/2014/main" id="{3D785D23-4842-492A-A78A-5A3639A94C55}"/>
              </a:ext>
            </a:extLst>
          </p:cNvPr>
          <p:cNvSpPr>
            <a:spLocks noChangeShapeType="1"/>
          </p:cNvSpPr>
          <p:nvPr/>
        </p:nvSpPr>
        <p:spPr bwMode="auto">
          <a:xfrm>
            <a:off x="6115050" y="2093119"/>
            <a:ext cx="0" cy="342900"/>
          </a:xfrm>
          <a:prstGeom prst="line">
            <a:avLst/>
          </a:prstGeom>
          <a:noFill/>
          <a:ln w="28575">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fontAlgn="base">
              <a:spcBef>
                <a:spcPct val="0"/>
              </a:spcBef>
              <a:spcAft>
                <a:spcPct val="0"/>
              </a:spcAft>
            </a:pPr>
            <a:endParaRPr lang="zh-CN" altLang="en-US" sz="1350">
              <a:solidFill>
                <a:srgbClr val="FFFFFF"/>
              </a:solidFill>
              <a:latin typeface="Arial" panose="020B0604020202020204" pitchFamily="34" charset="0"/>
              <a:ea typeface="黑体" panose="02010609060101010101" pitchFamily="49" charset="-122"/>
            </a:endParaRPr>
          </a:p>
        </p:txBody>
      </p:sp>
      <p:sp>
        <p:nvSpPr>
          <p:cNvPr id="93256" name="Line 72">
            <a:extLst>
              <a:ext uri="{FF2B5EF4-FFF2-40B4-BE49-F238E27FC236}">
                <a16:creationId xmlns:a16="http://schemas.microsoft.com/office/drawing/2014/main" id="{2F1125CE-BFB1-42D2-A3E9-0F8208AA6CE6}"/>
              </a:ext>
            </a:extLst>
          </p:cNvPr>
          <p:cNvSpPr>
            <a:spLocks noChangeShapeType="1"/>
          </p:cNvSpPr>
          <p:nvPr/>
        </p:nvSpPr>
        <p:spPr bwMode="auto">
          <a:xfrm>
            <a:off x="2971800" y="2436019"/>
            <a:ext cx="3143250" cy="0"/>
          </a:xfrm>
          <a:prstGeom prst="line">
            <a:avLst/>
          </a:prstGeom>
          <a:noFill/>
          <a:ln w="28575">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fontAlgn="base">
              <a:spcBef>
                <a:spcPct val="0"/>
              </a:spcBef>
              <a:spcAft>
                <a:spcPct val="0"/>
              </a:spcAft>
            </a:pPr>
            <a:endParaRPr lang="zh-CN" altLang="en-US" sz="1350">
              <a:solidFill>
                <a:srgbClr val="FFFFFF"/>
              </a:solidFill>
              <a:latin typeface="Arial" panose="020B0604020202020204" pitchFamily="34" charset="0"/>
              <a:ea typeface="黑体" panose="02010609060101010101" pitchFamily="49" charset="-122"/>
            </a:endParaRPr>
          </a:p>
        </p:txBody>
      </p:sp>
      <p:sp>
        <p:nvSpPr>
          <p:cNvPr id="93257" name="Line 73">
            <a:extLst>
              <a:ext uri="{FF2B5EF4-FFF2-40B4-BE49-F238E27FC236}">
                <a16:creationId xmlns:a16="http://schemas.microsoft.com/office/drawing/2014/main" id="{8BEED43D-798F-44E9-9A0A-CE0384C63CE6}"/>
              </a:ext>
            </a:extLst>
          </p:cNvPr>
          <p:cNvSpPr>
            <a:spLocks noChangeShapeType="1"/>
          </p:cNvSpPr>
          <p:nvPr/>
        </p:nvSpPr>
        <p:spPr bwMode="auto">
          <a:xfrm flipH="1">
            <a:off x="2743200" y="2436019"/>
            <a:ext cx="228600" cy="114300"/>
          </a:xfrm>
          <a:prstGeom prst="line">
            <a:avLst/>
          </a:prstGeom>
          <a:noFill/>
          <a:ln w="28575">
            <a:solidFill>
              <a:srgbClr val="FF99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fontAlgn="base">
              <a:spcBef>
                <a:spcPct val="0"/>
              </a:spcBef>
              <a:spcAft>
                <a:spcPct val="0"/>
              </a:spcAft>
            </a:pPr>
            <a:endParaRPr lang="zh-CN" altLang="en-US" sz="1350">
              <a:solidFill>
                <a:srgbClr val="FFFFFF"/>
              </a:solidFill>
              <a:latin typeface="Arial" panose="020B0604020202020204" pitchFamily="34" charset="0"/>
              <a:ea typeface="黑体" panose="02010609060101010101" pitchFamily="49" charset="-122"/>
            </a:endParaRPr>
          </a:p>
        </p:txBody>
      </p:sp>
      <p:sp>
        <p:nvSpPr>
          <p:cNvPr id="93258" name="Line 74">
            <a:extLst>
              <a:ext uri="{FF2B5EF4-FFF2-40B4-BE49-F238E27FC236}">
                <a16:creationId xmlns:a16="http://schemas.microsoft.com/office/drawing/2014/main" id="{1A3AA3EA-CC77-4317-82AA-8A1C7C57331A}"/>
              </a:ext>
            </a:extLst>
          </p:cNvPr>
          <p:cNvSpPr>
            <a:spLocks noChangeShapeType="1"/>
          </p:cNvSpPr>
          <p:nvPr/>
        </p:nvSpPr>
        <p:spPr bwMode="auto">
          <a:xfrm flipH="1">
            <a:off x="2228850" y="2721769"/>
            <a:ext cx="514350" cy="514350"/>
          </a:xfrm>
          <a:prstGeom prst="line">
            <a:avLst/>
          </a:prstGeom>
          <a:noFill/>
          <a:ln w="28575">
            <a:solidFill>
              <a:srgbClr val="FF99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fontAlgn="base">
              <a:spcBef>
                <a:spcPct val="0"/>
              </a:spcBef>
              <a:spcAft>
                <a:spcPct val="0"/>
              </a:spcAft>
            </a:pPr>
            <a:endParaRPr lang="zh-CN" altLang="en-US" sz="1350">
              <a:solidFill>
                <a:srgbClr val="FFFFFF"/>
              </a:solidFill>
              <a:latin typeface="Arial" panose="020B0604020202020204" pitchFamily="34" charset="0"/>
              <a:ea typeface="黑体" panose="02010609060101010101" pitchFamily="49" charset="-122"/>
            </a:endParaRPr>
          </a:p>
        </p:txBody>
      </p:sp>
      <p:sp>
        <p:nvSpPr>
          <p:cNvPr id="93259" name="Line 75">
            <a:extLst>
              <a:ext uri="{FF2B5EF4-FFF2-40B4-BE49-F238E27FC236}">
                <a16:creationId xmlns:a16="http://schemas.microsoft.com/office/drawing/2014/main" id="{D14C75A3-92B5-410A-95A4-7BD8F353B6FF}"/>
              </a:ext>
            </a:extLst>
          </p:cNvPr>
          <p:cNvSpPr>
            <a:spLocks noChangeShapeType="1"/>
          </p:cNvSpPr>
          <p:nvPr/>
        </p:nvSpPr>
        <p:spPr bwMode="auto">
          <a:xfrm flipV="1">
            <a:off x="2171700" y="2035969"/>
            <a:ext cx="571500" cy="1200150"/>
          </a:xfrm>
          <a:prstGeom prst="line">
            <a:avLst/>
          </a:prstGeom>
          <a:noFill/>
          <a:ln w="28575">
            <a:solidFill>
              <a:srgbClr val="FF99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fontAlgn="base">
              <a:spcBef>
                <a:spcPct val="0"/>
              </a:spcBef>
              <a:spcAft>
                <a:spcPct val="0"/>
              </a:spcAft>
            </a:pPr>
            <a:endParaRPr lang="zh-CN" altLang="en-US" sz="1350">
              <a:solidFill>
                <a:srgbClr val="FFFFFF"/>
              </a:solidFill>
              <a:latin typeface="Arial" panose="020B0604020202020204" pitchFamily="34" charset="0"/>
              <a:ea typeface="黑体" panose="02010609060101010101" pitchFamily="49" charset="-122"/>
            </a:endParaRPr>
          </a:p>
        </p:txBody>
      </p:sp>
      <p:sp>
        <p:nvSpPr>
          <p:cNvPr id="93260" name="Freeform 76">
            <a:extLst>
              <a:ext uri="{FF2B5EF4-FFF2-40B4-BE49-F238E27FC236}">
                <a16:creationId xmlns:a16="http://schemas.microsoft.com/office/drawing/2014/main" id="{1B811EAD-EA74-4750-8938-08EA9E194CDC}"/>
              </a:ext>
            </a:extLst>
          </p:cNvPr>
          <p:cNvSpPr>
            <a:spLocks/>
          </p:cNvSpPr>
          <p:nvPr/>
        </p:nvSpPr>
        <p:spPr bwMode="auto">
          <a:xfrm>
            <a:off x="2857500" y="1978819"/>
            <a:ext cx="409575" cy="571500"/>
          </a:xfrm>
          <a:custGeom>
            <a:avLst/>
            <a:gdLst>
              <a:gd name="T0" fmla="*/ 0 w 344"/>
              <a:gd name="T1" fmla="*/ 0 h 480"/>
              <a:gd name="T2" fmla="*/ 288 w 344"/>
              <a:gd name="T3" fmla="*/ 240 h 480"/>
              <a:gd name="T4" fmla="*/ 336 w 344"/>
              <a:gd name="T5" fmla="*/ 480 h 480"/>
            </a:gdLst>
            <a:ahLst/>
            <a:cxnLst>
              <a:cxn ang="0">
                <a:pos x="T0" y="T1"/>
              </a:cxn>
              <a:cxn ang="0">
                <a:pos x="T2" y="T3"/>
              </a:cxn>
              <a:cxn ang="0">
                <a:pos x="T4" y="T5"/>
              </a:cxn>
            </a:cxnLst>
            <a:rect l="0" t="0" r="r" b="b"/>
            <a:pathLst>
              <a:path w="344" h="480">
                <a:moveTo>
                  <a:pt x="0" y="0"/>
                </a:moveTo>
                <a:cubicBezTo>
                  <a:pt x="116" y="80"/>
                  <a:pt x="232" y="160"/>
                  <a:pt x="288" y="240"/>
                </a:cubicBezTo>
                <a:cubicBezTo>
                  <a:pt x="344" y="320"/>
                  <a:pt x="340" y="400"/>
                  <a:pt x="336" y="480"/>
                </a:cubicBezTo>
              </a:path>
            </a:pathLst>
          </a:custGeom>
          <a:noFill/>
          <a:ln w="28575" cmpd="sng">
            <a:solidFill>
              <a:srgbClr val="FF9999"/>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fontAlgn="base">
              <a:spcBef>
                <a:spcPct val="0"/>
              </a:spcBef>
              <a:spcAft>
                <a:spcPct val="0"/>
              </a:spcAft>
            </a:pPr>
            <a:endParaRPr lang="zh-CN" altLang="en-US" sz="1350">
              <a:solidFill>
                <a:srgbClr val="FFFFFF"/>
              </a:solidFill>
              <a:latin typeface="Arial" panose="020B0604020202020204" pitchFamily="34" charset="0"/>
              <a:ea typeface="黑体" panose="02010609060101010101" pitchFamily="49" charset="-122"/>
            </a:endParaRPr>
          </a:p>
        </p:txBody>
      </p:sp>
      <p:sp>
        <p:nvSpPr>
          <p:cNvPr id="93261" name="Line 77">
            <a:extLst>
              <a:ext uri="{FF2B5EF4-FFF2-40B4-BE49-F238E27FC236}">
                <a16:creationId xmlns:a16="http://schemas.microsoft.com/office/drawing/2014/main" id="{0B92AC16-A4F2-4419-B5B4-DD63C020116E}"/>
              </a:ext>
            </a:extLst>
          </p:cNvPr>
          <p:cNvSpPr>
            <a:spLocks noChangeShapeType="1"/>
          </p:cNvSpPr>
          <p:nvPr/>
        </p:nvSpPr>
        <p:spPr bwMode="auto">
          <a:xfrm flipH="1">
            <a:off x="2743200" y="2721769"/>
            <a:ext cx="457200" cy="1200150"/>
          </a:xfrm>
          <a:prstGeom prst="line">
            <a:avLst/>
          </a:prstGeom>
          <a:noFill/>
          <a:ln w="28575">
            <a:solidFill>
              <a:srgbClr val="FF99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fontAlgn="base">
              <a:spcBef>
                <a:spcPct val="0"/>
              </a:spcBef>
              <a:spcAft>
                <a:spcPct val="0"/>
              </a:spcAft>
            </a:pPr>
            <a:endParaRPr lang="zh-CN" altLang="en-US" sz="1350">
              <a:solidFill>
                <a:srgbClr val="FFFFFF"/>
              </a:solidFill>
              <a:latin typeface="Arial" panose="020B0604020202020204" pitchFamily="34" charset="0"/>
              <a:ea typeface="黑体" panose="02010609060101010101" pitchFamily="49" charset="-122"/>
            </a:endParaRPr>
          </a:p>
        </p:txBody>
      </p:sp>
      <p:sp>
        <p:nvSpPr>
          <p:cNvPr id="93262" name="Line 78">
            <a:extLst>
              <a:ext uri="{FF2B5EF4-FFF2-40B4-BE49-F238E27FC236}">
                <a16:creationId xmlns:a16="http://schemas.microsoft.com/office/drawing/2014/main" id="{E5E4553D-E457-4DA5-93A0-9C70F96F38DE}"/>
              </a:ext>
            </a:extLst>
          </p:cNvPr>
          <p:cNvSpPr>
            <a:spLocks noChangeShapeType="1"/>
          </p:cNvSpPr>
          <p:nvPr/>
        </p:nvSpPr>
        <p:spPr bwMode="auto">
          <a:xfrm>
            <a:off x="6972300" y="2093119"/>
            <a:ext cx="0" cy="1714500"/>
          </a:xfrm>
          <a:prstGeom prst="line">
            <a:avLst/>
          </a:prstGeom>
          <a:noFill/>
          <a:ln w="28575">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fontAlgn="base">
              <a:spcBef>
                <a:spcPct val="0"/>
              </a:spcBef>
              <a:spcAft>
                <a:spcPct val="0"/>
              </a:spcAft>
            </a:pPr>
            <a:endParaRPr lang="zh-CN" altLang="en-US" sz="1350">
              <a:solidFill>
                <a:srgbClr val="FFFFFF"/>
              </a:solidFill>
              <a:latin typeface="Arial" panose="020B0604020202020204" pitchFamily="34" charset="0"/>
              <a:ea typeface="黑体" panose="02010609060101010101" pitchFamily="49" charset="-122"/>
            </a:endParaRPr>
          </a:p>
        </p:txBody>
      </p:sp>
      <p:sp>
        <p:nvSpPr>
          <p:cNvPr id="93263" name="Line 79">
            <a:extLst>
              <a:ext uri="{FF2B5EF4-FFF2-40B4-BE49-F238E27FC236}">
                <a16:creationId xmlns:a16="http://schemas.microsoft.com/office/drawing/2014/main" id="{B4DFB3FE-3FF7-4A4E-AE8C-F2A548A0308C}"/>
              </a:ext>
            </a:extLst>
          </p:cNvPr>
          <p:cNvSpPr>
            <a:spLocks noChangeShapeType="1"/>
          </p:cNvSpPr>
          <p:nvPr/>
        </p:nvSpPr>
        <p:spPr bwMode="auto">
          <a:xfrm>
            <a:off x="3086100" y="3807619"/>
            <a:ext cx="3886200" cy="0"/>
          </a:xfrm>
          <a:prstGeom prst="line">
            <a:avLst/>
          </a:prstGeom>
          <a:noFill/>
          <a:ln w="28575">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fontAlgn="base">
              <a:spcBef>
                <a:spcPct val="0"/>
              </a:spcBef>
              <a:spcAft>
                <a:spcPct val="0"/>
              </a:spcAft>
            </a:pPr>
            <a:endParaRPr lang="zh-CN" altLang="en-US" sz="1350">
              <a:solidFill>
                <a:srgbClr val="FFFFFF"/>
              </a:solidFill>
              <a:latin typeface="Arial" panose="020B0604020202020204" pitchFamily="34" charset="0"/>
              <a:ea typeface="黑体" panose="02010609060101010101" pitchFamily="49" charset="-122"/>
            </a:endParaRPr>
          </a:p>
        </p:txBody>
      </p:sp>
      <p:sp>
        <p:nvSpPr>
          <p:cNvPr id="93264" name="Line 80">
            <a:extLst>
              <a:ext uri="{FF2B5EF4-FFF2-40B4-BE49-F238E27FC236}">
                <a16:creationId xmlns:a16="http://schemas.microsoft.com/office/drawing/2014/main" id="{D4AD2D14-45D0-45BC-B949-5AC9946EBDD3}"/>
              </a:ext>
            </a:extLst>
          </p:cNvPr>
          <p:cNvSpPr>
            <a:spLocks noChangeShapeType="1"/>
          </p:cNvSpPr>
          <p:nvPr/>
        </p:nvSpPr>
        <p:spPr bwMode="auto">
          <a:xfrm flipH="1">
            <a:off x="2857500" y="3807619"/>
            <a:ext cx="228600" cy="114300"/>
          </a:xfrm>
          <a:prstGeom prst="line">
            <a:avLst/>
          </a:prstGeom>
          <a:noFill/>
          <a:ln w="28575">
            <a:solidFill>
              <a:srgbClr val="FF99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fontAlgn="base">
              <a:spcBef>
                <a:spcPct val="0"/>
              </a:spcBef>
              <a:spcAft>
                <a:spcPct val="0"/>
              </a:spcAft>
            </a:pPr>
            <a:endParaRPr lang="zh-CN" altLang="en-US" sz="1350">
              <a:solidFill>
                <a:srgbClr val="FFFFFF"/>
              </a:solidFill>
              <a:latin typeface="Arial" panose="020B0604020202020204" pitchFamily="34" charset="0"/>
              <a:ea typeface="黑体" panose="02010609060101010101"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a:extLst>
              <a:ext uri="{FF2B5EF4-FFF2-40B4-BE49-F238E27FC236}">
                <a16:creationId xmlns:a16="http://schemas.microsoft.com/office/drawing/2014/main" id="{AAD72B60-BD6C-4218-A681-01B774BB0820}"/>
              </a:ext>
            </a:extLst>
          </p:cNvPr>
          <p:cNvSpPr>
            <a:spLocks noGrp="1"/>
          </p:cNvSpPr>
          <p:nvPr>
            <p:ph type="sldNum" sz="quarter" idx="12"/>
          </p:nvPr>
        </p:nvSpPr>
        <p:spPr/>
        <p:txBody>
          <a:bodyPr/>
          <a:lstStyle/>
          <a:p>
            <a:fld id="{9D2511D2-23C5-45D7-8277-F42C2821B48C}" type="slidenum">
              <a:rPr lang="en-US" altLang="zh-CN"/>
              <a:pPr/>
              <a:t>43</a:t>
            </a:fld>
            <a:endParaRPr lang="en-US" altLang="zh-CN"/>
          </a:p>
        </p:txBody>
      </p:sp>
      <p:sp>
        <p:nvSpPr>
          <p:cNvPr id="94211" name="Rectangle 3">
            <a:extLst>
              <a:ext uri="{FF2B5EF4-FFF2-40B4-BE49-F238E27FC236}">
                <a16:creationId xmlns:a16="http://schemas.microsoft.com/office/drawing/2014/main" id="{BBDA0D6A-F52A-4CB9-93C0-0066691FAE6C}"/>
              </a:ext>
            </a:extLst>
          </p:cNvPr>
          <p:cNvSpPr>
            <a:spLocks noGrp="1" noChangeArrowheads="1"/>
          </p:cNvSpPr>
          <p:nvPr>
            <p:ph type="body" idx="1"/>
          </p:nvPr>
        </p:nvSpPr>
        <p:spPr>
          <a:xfrm>
            <a:off x="467544" y="628650"/>
            <a:ext cx="7776864" cy="3912394"/>
          </a:xfrm>
        </p:spPr>
        <p:txBody>
          <a:bodyPr/>
          <a:lstStyle/>
          <a:p>
            <a:pPr algn="just">
              <a:lnSpc>
                <a:spcPct val="90000"/>
              </a:lnSpc>
            </a:pPr>
            <a:r>
              <a:rPr lang="zh-CN" altLang="en-US" b="1" dirty="0">
                <a:solidFill>
                  <a:srgbClr val="FFCC00"/>
                </a:solidFill>
                <a:latin typeface="宋体" panose="02010600030101010101" pitchFamily="2" charset="-122"/>
                <a:ea typeface="黑体" panose="02010609060101010101" pitchFamily="49" charset="-122"/>
              </a:rPr>
              <a:t>隐式链接结构的主要问题在于：它只适合于顺序访问，对随机存取访问极其低效。</a:t>
            </a:r>
            <a:endParaRPr lang="en-US" altLang="zh-CN" b="1" dirty="0">
              <a:solidFill>
                <a:srgbClr val="FFCC00"/>
              </a:solidFill>
              <a:latin typeface="宋体" panose="02010600030101010101" pitchFamily="2" charset="-122"/>
              <a:ea typeface="黑体" panose="02010609060101010101" pitchFamily="49" charset="-122"/>
            </a:endParaRPr>
          </a:p>
          <a:p>
            <a:pPr algn="just">
              <a:lnSpc>
                <a:spcPct val="90000"/>
              </a:lnSpc>
            </a:pPr>
            <a:r>
              <a:rPr lang="zh-CN" altLang="en-US" b="1" dirty="0">
                <a:solidFill>
                  <a:srgbClr val="FFCC00"/>
                </a:solidFill>
                <a:latin typeface="宋体" panose="02010600030101010101" pitchFamily="2" charset="-122"/>
                <a:ea typeface="黑体" panose="02010609060101010101" pitchFamily="49" charset="-122"/>
              </a:rPr>
              <a:t>如果要访问文件所在的第</a:t>
            </a:r>
            <a:r>
              <a:rPr lang="en-US" altLang="zh-CN" b="1" dirty="0" err="1">
                <a:solidFill>
                  <a:srgbClr val="FFCC00"/>
                </a:solidFill>
                <a:latin typeface="宋体" panose="02010600030101010101" pitchFamily="2" charset="-122"/>
                <a:ea typeface="黑体" panose="02010609060101010101" pitchFamily="49" charset="-122"/>
              </a:rPr>
              <a:t>i</a:t>
            </a:r>
            <a:r>
              <a:rPr lang="zh-CN" altLang="en-US" b="1" dirty="0">
                <a:solidFill>
                  <a:srgbClr val="FFCC00"/>
                </a:solidFill>
                <a:latin typeface="宋体" panose="02010600030101010101" pitchFamily="2" charset="-122"/>
                <a:ea typeface="黑体" panose="02010609060101010101" pitchFamily="49" charset="-122"/>
              </a:rPr>
              <a:t>个盘块，则必须先读出文件的第一个盘块，</a:t>
            </a:r>
            <a:r>
              <a:rPr lang="en-US" altLang="zh-CN" b="1" dirty="0">
                <a:solidFill>
                  <a:srgbClr val="FFCC00"/>
                </a:solidFill>
                <a:latin typeface="Courier New" panose="02070309020205020404" pitchFamily="49" charset="0"/>
                <a:ea typeface="黑体" panose="02010609060101010101" pitchFamily="49" charset="-122"/>
              </a:rPr>
              <a:t>……</a:t>
            </a:r>
            <a:r>
              <a:rPr lang="zh-CN" altLang="en-US" b="1" dirty="0">
                <a:solidFill>
                  <a:srgbClr val="FFCC00"/>
                </a:solidFill>
                <a:latin typeface="宋体" panose="02010600030101010101" pitchFamily="2" charset="-122"/>
                <a:ea typeface="黑体" panose="02010609060101010101" pitchFamily="49" charset="-122"/>
              </a:rPr>
              <a:t>，就这样顺序地查找直至第</a:t>
            </a:r>
            <a:r>
              <a:rPr lang="en-US" altLang="zh-CN" b="1" dirty="0" err="1">
                <a:solidFill>
                  <a:srgbClr val="FFCC00"/>
                </a:solidFill>
                <a:latin typeface="宋体" panose="02010600030101010101" pitchFamily="2" charset="-122"/>
                <a:ea typeface="黑体" panose="02010609060101010101" pitchFamily="49" charset="-122"/>
              </a:rPr>
              <a:t>i</a:t>
            </a:r>
            <a:r>
              <a:rPr lang="zh-CN" altLang="en-US" b="1" dirty="0">
                <a:solidFill>
                  <a:srgbClr val="FFCC00"/>
                </a:solidFill>
                <a:latin typeface="宋体" panose="02010600030101010101" pitchFamily="2" charset="-122"/>
                <a:ea typeface="黑体" panose="02010609060101010101" pitchFamily="49" charset="-122"/>
              </a:rPr>
              <a:t>块。当</a:t>
            </a:r>
            <a:r>
              <a:rPr lang="en-US" altLang="zh-CN" b="1" dirty="0" err="1">
                <a:solidFill>
                  <a:srgbClr val="FFCC00"/>
                </a:solidFill>
                <a:latin typeface="宋体" panose="02010600030101010101" pitchFamily="2" charset="-122"/>
                <a:ea typeface="黑体" panose="02010609060101010101" pitchFamily="49" charset="-122"/>
              </a:rPr>
              <a:t>i</a:t>
            </a:r>
            <a:r>
              <a:rPr lang="en-US" altLang="zh-CN" b="1" dirty="0">
                <a:solidFill>
                  <a:srgbClr val="FFCC00"/>
                </a:solidFill>
                <a:latin typeface="宋体" panose="02010600030101010101" pitchFamily="2" charset="-122"/>
                <a:ea typeface="黑体" panose="02010609060101010101" pitchFamily="49" charset="-122"/>
              </a:rPr>
              <a:t>=100</a:t>
            </a:r>
            <a:r>
              <a:rPr lang="zh-CN" altLang="en-US" b="1" dirty="0">
                <a:solidFill>
                  <a:srgbClr val="FFCC00"/>
                </a:solidFill>
                <a:latin typeface="宋体" panose="02010600030101010101" pitchFamily="2" charset="-122"/>
                <a:ea typeface="黑体" panose="02010609060101010101" pitchFamily="49" charset="-122"/>
              </a:rPr>
              <a:t>时，须启动</a:t>
            </a:r>
            <a:r>
              <a:rPr lang="en-US" altLang="zh-CN" b="1" dirty="0">
                <a:solidFill>
                  <a:srgbClr val="FFCC00"/>
                </a:solidFill>
                <a:latin typeface="宋体" panose="02010600030101010101" pitchFamily="2" charset="-122"/>
                <a:ea typeface="黑体" panose="02010609060101010101" pitchFamily="49" charset="-122"/>
              </a:rPr>
              <a:t>100</a:t>
            </a:r>
            <a:r>
              <a:rPr lang="zh-CN" altLang="en-US" b="1" dirty="0">
                <a:solidFill>
                  <a:srgbClr val="FFCC00"/>
                </a:solidFill>
                <a:latin typeface="宋体" panose="02010600030101010101" pitchFamily="2" charset="-122"/>
                <a:ea typeface="黑体" panose="02010609060101010101" pitchFamily="49" charset="-122"/>
              </a:rPr>
              <a:t>次磁盘去实现读盘块的操作，平均每次都要花费几十</a:t>
            </a:r>
            <a:r>
              <a:rPr lang="en-US" altLang="zh-CN" b="1" dirty="0" err="1">
                <a:solidFill>
                  <a:srgbClr val="FFCC00"/>
                </a:solidFill>
                <a:latin typeface="宋体" panose="02010600030101010101" pitchFamily="2" charset="-122"/>
                <a:ea typeface="黑体" panose="02010609060101010101" pitchFamily="49" charset="-122"/>
              </a:rPr>
              <a:t>ms</a:t>
            </a:r>
            <a:r>
              <a:rPr lang="zh-CN" altLang="en-US" b="1" dirty="0">
                <a:solidFill>
                  <a:srgbClr val="FFCC00"/>
                </a:solidFill>
                <a:latin typeface="宋体" panose="02010600030101010101" pitchFamily="2" charset="-122"/>
                <a:ea typeface="黑体" panose="02010609060101010101" pitchFamily="49" charset="-122"/>
              </a:rPr>
              <a:t>。</a:t>
            </a:r>
            <a:endParaRPr lang="en-US" altLang="zh-CN" b="1" dirty="0">
              <a:solidFill>
                <a:srgbClr val="FFCC00"/>
              </a:solidFill>
              <a:latin typeface="宋体" panose="02010600030101010101" pitchFamily="2" charset="-122"/>
              <a:ea typeface="黑体" panose="02010609060101010101" pitchFamily="49" charset="-122"/>
            </a:endParaRPr>
          </a:p>
          <a:p>
            <a:pPr algn="just">
              <a:lnSpc>
                <a:spcPct val="90000"/>
              </a:lnSpc>
            </a:pPr>
            <a:r>
              <a:rPr lang="zh-CN" altLang="en-US" b="1" dirty="0">
                <a:solidFill>
                  <a:srgbClr val="FFCC00"/>
                </a:solidFill>
                <a:latin typeface="宋体" panose="02010600030101010101" pitchFamily="2" charset="-122"/>
                <a:ea typeface="黑体" panose="02010609060101010101" pitchFamily="49" charset="-122"/>
              </a:rPr>
              <a:t>此外，只通过链接指针来将一大批离散的盘块链接起来，其可靠性较差，因为只要其中的任何一个指针出现问题，都会导致整个链的断开。</a:t>
            </a:r>
            <a:endParaRPr lang="zh-CN" altLang="en-US" b="1" dirty="0">
              <a:solidFill>
                <a:srgbClr val="FFCC00"/>
              </a:solidFill>
              <a:ea typeface="黑体" panose="02010609060101010101"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a:extLst>
              <a:ext uri="{FF2B5EF4-FFF2-40B4-BE49-F238E27FC236}">
                <a16:creationId xmlns:a16="http://schemas.microsoft.com/office/drawing/2014/main" id="{3A08B787-BBAD-40E6-9D80-1DB67AD9FB49}"/>
              </a:ext>
            </a:extLst>
          </p:cNvPr>
          <p:cNvSpPr>
            <a:spLocks noGrp="1"/>
          </p:cNvSpPr>
          <p:nvPr>
            <p:ph type="sldNum" sz="quarter" idx="12"/>
          </p:nvPr>
        </p:nvSpPr>
        <p:spPr/>
        <p:txBody>
          <a:bodyPr/>
          <a:lstStyle/>
          <a:p>
            <a:fld id="{50333D1B-793F-412E-AD6B-5BF49602B589}" type="slidenum">
              <a:rPr lang="en-US" altLang="zh-CN"/>
              <a:pPr/>
              <a:t>44</a:t>
            </a:fld>
            <a:endParaRPr lang="en-US" altLang="zh-CN"/>
          </a:p>
        </p:txBody>
      </p:sp>
      <p:sp>
        <p:nvSpPr>
          <p:cNvPr id="95235" name="Rectangle 3">
            <a:extLst>
              <a:ext uri="{FF2B5EF4-FFF2-40B4-BE49-F238E27FC236}">
                <a16:creationId xmlns:a16="http://schemas.microsoft.com/office/drawing/2014/main" id="{E5365790-8CAC-4E6A-99E2-6203FD3A2773}"/>
              </a:ext>
            </a:extLst>
          </p:cNvPr>
          <p:cNvSpPr>
            <a:spLocks noGrp="1" noChangeArrowheads="1"/>
          </p:cNvSpPr>
          <p:nvPr>
            <p:ph type="body" idx="1"/>
          </p:nvPr>
        </p:nvSpPr>
        <p:spPr>
          <a:xfrm>
            <a:off x="755576" y="114300"/>
            <a:ext cx="6959674" cy="5029200"/>
          </a:xfrm>
        </p:spPr>
        <p:txBody>
          <a:bodyPr/>
          <a:lstStyle/>
          <a:p>
            <a:pPr>
              <a:lnSpc>
                <a:spcPct val="95000"/>
              </a:lnSpc>
              <a:buFont typeface="Wingdings" panose="05000000000000000000" pitchFamily="2" charset="2"/>
              <a:buNone/>
            </a:pPr>
            <a:endParaRPr lang="en-US" altLang="zh-CN" sz="2100" b="1" dirty="0">
              <a:latin typeface="黑体" panose="02010609060101010101" pitchFamily="49" charset="-122"/>
              <a:ea typeface="黑体" panose="02010609060101010101" pitchFamily="49" charset="-122"/>
            </a:endParaRPr>
          </a:p>
          <a:p>
            <a:pPr>
              <a:lnSpc>
                <a:spcPct val="95000"/>
              </a:lnSpc>
              <a:spcBef>
                <a:spcPct val="0"/>
              </a:spcBef>
            </a:pPr>
            <a:r>
              <a:rPr lang="zh-CN" altLang="en-US" sz="2100" b="1" dirty="0">
                <a:solidFill>
                  <a:srgbClr val="FFCC00"/>
                </a:solidFill>
                <a:latin typeface="黑体" panose="02010609060101010101" pitchFamily="49" charset="-122"/>
                <a:ea typeface="黑体" panose="02010609060101010101" pitchFamily="49" charset="-122"/>
              </a:rPr>
              <a:t>显式链接</a:t>
            </a:r>
          </a:p>
          <a:p>
            <a:pPr>
              <a:lnSpc>
                <a:spcPct val="95000"/>
              </a:lnSpc>
            </a:pPr>
            <a:r>
              <a:rPr lang="zh-CN" altLang="en-US" sz="2100" b="1" dirty="0">
                <a:solidFill>
                  <a:srgbClr val="FFCC00"/>
                </a:solidFill>
                <a:latin typeface="黑体" panose="02010609060101010101" pitchFamily="49" charset="-122"/>
                <a:ea typeface="黑体" panose="02010609060101010101" pitchFamily="49" charset="-122"/>
              </a:rPr>
              <a:t>是指把用于链接文件各物理块的指针，显式地存放在内存的一张链接表中。该表在整个磁盘仅设置一张。表的序号是物理盘块号，从</a:t>
            </a:r>
            <a:r>
              <a:rPr lang="en-US" altLang="zh-CN" sz="2100" b="1" dirty="0">
                <a:solidFill>
                  <a:srgbClr val="FFCC00"/>
                </a:solidFill>
                <a:latin typeface="黑体" panose="02010609060101010101" pitchFamily="49" charset="-122"/>
                <a:ea typeface="黑体" panose="02010609060101010101" pitchFamily="49" charset="-122"/>
              </a:rPr>
              <a:t>0</a:t>
            </a:r>
            <a:r>
              <a:rPr lang="zh-CN" altLang="en-US" sz="2100" b="1" dirty="0">
                <a:solidFill>
                  <a:srgbClr val="FFCC00"/>
                </a:solidFill>
                <a:latin typeface="黑体" panose="02010609060101010101" pitchFamily="49" charset="-122"/>
                <a:ea typeface="黑体" panose="02010609060101010101" pitchFamily="49" charset="-122"/>
              </a:rPr>
              <a:t>开始，直至</a:t>
            </a:r>
            <a:r>
              <a:rPr lang="en-US" altLang="zh-CN" sz="2100" b="1" dirty="0">
                <a:solidFill>
                  <a:srgbClr val="FFCC00"/>
                </a:solidFill>
                <a:latin typeface="黑体" panose="02010609060101010101" pitchFamily="49" charset="-122"/>
                <a:ea typeface="黑体" panose="02010609060101010101" pitchFamily="49" charset="-122"/>
              </a:rPr>
              <a:t>N-1</a:t>
            </a:r>
            <a:r>
              <a:rPr lang="zh-CN" altLang="en-US" sz="2100" b="1" dirty="0">
                <a:solidFill>
                  <a:srgbClr val="FFCC00"/>
                </a:solidFill>
                <a:latin typeface="黑体" panose="02010609060101010101" pitchFamily="49" charset="-122"/>
                <a:ea typeface="黑体" panose="02010609060101010101" pitchFamily="49" charset="-122"/>
              </a:rPr>
              <a:t>，</a:t>
            </a:r>
            <a:r>
              <a:rPr lang="en-US" altLang="zh-CN" sz="2100" b="1" dirty="0">
                <a:solidFill>
                  <a:srgbClr val="FFCC00"/>
                </a:solidFill>
                <a:latin typeface="黑体" panose="02010609060101010101" pitchFamily="49" charset="-122"/>
                <a:ea typeface="黑体" panose="02010609060101010101" pitchFamily="49" charset="-122"/>
              </a:rPr>
              <a:t>N</a:t>
            </a:r>
            <a:r>
              <a:rPr lang="zh-CN" altLang="en-US" sz="2100" b="1" dirty="0">
                <a:solidFill>
                  <a:srgbClr val="FFCC00"/>
                </a:solidFill>
                <a:latin typeface="黑体" panose="02010609060101010101" pitchFamily="49" charset="-122"/>
                <a:ea typeface="黑体" panose="02010609060101010101" pitchFamily="49" charset="-122"/>
              </a:rPr>
              <a:t>为盘块总数。在每个表项中存放链接指针，即下一个盘块号。在该表中，凡是属于某一文件的第一个盘块号，或者说是每一条链的链首指针所对应的盘块号，均作为文件地址被填入相应文件的文件控制块的</a:t>
            </a:r>
            <a:r>
              <a:rPr lang="zh-CN" altLang="en-US" sz="2100" b="1" dirty="0">
                <a:solidFill>
                  <a:srgbClr val="FFCC00"/>
                </a:solidFill>
                <a:latin typeface="Times New Roman" panose="02020603050405020304" pitchFamily="18" charset="0"/>
                <a:ea typeface="黑体" panose="02010609060101010101" pitchFamily="49" charset="-122"/>
              </a:rPr>
              <a:t>“</a:t>
            </a:r>
            <a:r>
              <a:rPr lang="zh-CN" altLang="en-US" sz="2100" b="1" dirty="0">
                <a:solidFill>
                  <a:srgbClr val="FFCC00"/>
                </a:solidFill>
                <a:latin typeface="黑体" panose="02010609060101010101" pitchFamily="49" charset="-122"/>
                <a:ea typeface="黑体" panose="02010609060101010101" pitchFamily="49" charset="-122"/>
              </a:rPr>
              <a:t>物理地址</a:t>
            </a:r>
            <a:r>
              <a:rPr lang="zh-CN" altLang="en-US" sz="2100" b="1" dirty="0">
                <a:solidFill>
                  <a:srgbClr val="FFCC00"/>
                </a:solidFill>
                <a:latin typeface="Times New Roman" panose="02020603050405020304" pitchFamily="18" charset="0"/>
                <a:ea typeface="黑体" panose="02010609060101010101" pitchFamily="49" charset="-122"/>
              </a:rPr>
              <a:t>”</a:t>
            </a:r>
            <a:r>
              <a:rPr lang="zh-CN" altLang="en-US" sz="2100" b="1" dirty="0">
                <a:solidFill>
                  <a:srgbClr val="FFCC00"/>
                </a:solidFill>
                <a:latin typeface="黑体" panose="02010609060101010101" pitchFamily="49" charset="-122"/>
                <a:ea typeface="黑体" panose="02010609060101010101" pitchFamily="49" charset="-122"/>
              </a:rPr>
              <a:t>字段中。</a:t>
            </a:r>
          </a:p>
          <a:p>
            <a:pPr>
              <a:lnSpc>
                <a:spcPct val="95000"/>
              </a:lnSpc>
            </a:pPr>
            <a:r>
              <a:rPr lang="zh-CN" altLang="en-US" sz="2100" b="1" dirty="0">
                <a:solidFill>
                  <a:srgbClr val="FFCC00"/>
                </a:solidFill>
                <a:latin typeface="黑体" panose="02010609060101010101" pitchFamily="49" charset="-122"/>
                <a:ea typeface="黑体" panose="02010609060101010101" pitchFamily="49" charset="-122"/>
              </a:rPr>
              <a:t>由于查找记录的过程是在内存中进行的，因而不仅显著地提高了检索速度，而且大大减少了访问磁盘的次数。由于分配给文件的所有盘块号都放在该表中，故把该表称为文件分配表</a:t>
            </a:r>
            <a:r>
              <a:rPr lang="en-US" altLang="zh-CN" sz="2100" b="1" dirty="0">
                <a:solidFill>
                  <a:srgbClr val="FFCC00"/>
                </a:solidFill>
                <a:latin typeface="黑体" panose="02010609060101010101" pitchFamily="49" charset="-122"/>
                <a:ea typeface="黑体" panose="02010609060101010101" pitchFamily="49" charset="-122"/>
              </a:rPr>
              <a:t>(File Allocation Table</a:t>
            </a:r>
            <a:r>
              <a:rPr lang="zh-CN" altLang="en-US" sz="2100" b="1" dirty="0">
                <a:solidFill>
                  <a:srgbClr val="FFCC00"/>
                </a:solidFill>
                <a:latin typeface="黑体" panose="02010609060101010101" pitchFamily="49" charset="-122"/>
                <a:ea typeface="黑体" panose="02010609060101010101" pitchFamily="49" charset="-122"/>
              </a:rPr>
              <a:t>，</a:t>
            </a:r>
            <a:r>
              <a:rPr lang="en-US" altLang="zh-CN" sz="2100" b="1" dirty="0">
                <a:solidFill>
                  <a:srgbClr val="FFCC00"/>
                </a:solidFill>
                <a:latin typeface="黑体" panose="02010609060101010101" pitchFamily="49" charset="-122"/>
                <a:ea typeface="黑体" panose="02010609060101010101" pitchFamily="49" charset="-122"/>
              </a:rPr>
              <a:t>FAT)</a:t>
            </a:r>
            <a:r>
              <a:rPr lang="zh-CN" altLang="en-US" sz="2100" b="1" dirty="0">
                <a:solidFill>
                  <a:srgbClr val="FFCC00"/>
                </a:solidFill>
                <a:latin typeface="黑体" panose="02010609060101010101" pitchFamily="49" charset="-122"/>
                <a:ea typeface="黑体" panose="02010609060101010101" pitchFamily="49" charset="-122"/>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a:extLst>
              <a:ext uri="{FF2B5EF4-FFF2-40B4-BE49-F238E27FC236}">
                <a16:creationId xmlns:a16="http://schemas.microsoft.com/office/drawing/2014/main" id="{3DEE1F16-2399-43F0-A2B0-0F007026578F}"/>
              </a:ext>
            </a:extLst>
          </p:cNvPr>
          <p:cNvSpPr>
            <a:spLocks noGrp="1"/>
          </p:cNvSpPr>
          <p:nvPr>
            <p:ph type="sldNum" sz="quarter" idx="12"/>
          </p:nvPr>
        </p:nvSpPr>
        <p:spPr/>
        <p:txBody>
          <a:bodyPr/>
          <a:lstStyle/>
          <a:p>
            <a:fld id="{06A066BF-88E8-4C9F-8B6D-D6F07365A5F7}" type="slidenum">
              <a:rPr lang="en-US" altLang="zh-CN"/>
              <a:pPr/>
              <a:t>45</a:t>
            </a:fld>
            <a:endParaRPr lang="en-US" altLang="zh-CN"/>
          </a:p>
        </p:txBody>
      </p:sp>
      <p:graphicFrame>
        <p:nvGraphicFramePr>
          <p:cNvPr id="97283" name="Object 3">
            <a:extLst>
              <a:ext uri="{FF2B5EF4-FFF2-40B4-BE49-F238E27FC236}">
                <a16:creationId xmlns:a16="http://schemas.microsoft.com/office/drawing/2014/main" id="{C6844F61-E15D-48EC-87CB-DAEE6C5716D6}"/>
              </a:ext>
            </a:extLst>
          </p:cNvPr>
          <p:cNvGraphicFramePr>
            <a:graphicFrameLocks noGrp="1" noChangeAspect="1"/>
          </p:cNvGraphicFramePr>
          <p:nvPr>
            <p:ph type="body" idx="1"/>
          </p:nvPr>
        </p:nvGraphicFramePr>
        <p:xfrm>
          <a:off x="1600200" y="514350"/>
          <a:ext cx="6115050" cy="4514850"/>
        </p:xfrm>
        <a:graphic>
          <a:graphicData uri="http://schemas.openxmlformats.org/presentationml/2006/ole">
            <mc:AlternateContent xmlns:mc="http://schemas.openxmlformats.org/markup-compatibility/2006">
              <mc:Choice xmlns:v="urn:schemas-microsoft-com:vml" Requires="v">
                <p:oleObj name="位图图像" r:id="rId2" imgW="6295238" imgH="4142857" progId="Paint.Picture">
                  <p:embed/>
                </p:oleObj>
              </mc:Choice>
              <mc:Fallback>
                <p:oleObj name="位图图像" r:id="rId2" imgW="6295238" imgH="4142857" progId="Paint.Picture">
                  <p:embed/>
                  <p:pic>
                    <p:nvPicPr>
                      <p:cNvPr id="97283" name="Object 3">
                        <a:extLst>
                          <a:ext uri="{FF2B5EF4-FFF2-40B4-BE49-F238E27FC236}">
                            <a16:creationId xmlns:a16="http://schemas.microsoft.com/office/drawing/2014/main" id="{C6844F61-E15D-48EC-87CB-DAEE6C571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514350"/>
                        <a:ext cx="6115050" cy="4514850"/>
                      </a:xfrm>
                      <a:prstGeom prst="rect">
                        <a:avLst/>
                      </a:prstGeom>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a:extLst>
              <a:ext uri="{FF2B5EF4-FFF2-40B4-BE49-F238E27FC236}">
                <a16:creationId xmlns:a16="http://schemas.microsoft.com/office/drawing/2014/main" id="{0F0A1DBB-AA9E-4050-BB84-6347F0F91324}"/>
              </a:ext>
            </a:extLst>
          </p:cNvPr>
          <p:cNvSpPr>
            <a:spLocks noGrp="1"/>
          </p:cNvSpPr>
          <p:nvPr>
            <p:ph type="sldNum" sz="quarter" idx="12"/>
          </p:nvPr>
        </p:nvSpPr>
        <p:spPr/>
        <p:txBody>
          <a:bodyPr/>
          <a:lstStyle/>
          <a:p>
            <a:fld id="{521EBA9A-F241-446E-8C3A-EB811566005F}" type="slidenum">
              <a:rPr lang="en-US" altLang="zh-CN"/>
              <a:pPr/>
              <a:t>46</a:t>
            </a:fld>
            <a:endParaRPr lang="en-US" altLang="zh-CN"/>
          </a:p>
        </p:txBody>
      </p:sp>
      <p:sp>
        <p:nvSpPr>
          <p:cNvPr id="96259" name="Rectangle 3">
            <a:extLst>
              <a:ext uri="{FF2B5EF4-FFF2-40B4-BE49-F238E27FC236}">
                <a16:creationId xmlns:a16="http://schemas.microsoft.com/office/drawing/2014/main" id="{EA389C62-5499-46EA-BEA1-F0F0526A8B0E}"/>
              </a:ext>
            </a:extLst>
          </p:cNvPr>
          <p:cNvSpPr>
            <a:spLocks noGrp="1" noChangeArrowheads="1"/>
          </p:cNvSpPr>
          <p:nvPr>
            <p:ph type="body" idx="1"/>
          </p:nvPr>
        </p:nvSpPr>
        <p:spPr>
          <a:xfrm>
            <a:off x="899592" y="457200"/>
            <a:ext cx="7344816" cy="4514850"/>
          </a:xfrm>
        </p:spPr>
        <p:txBody>
          <a:bodyPr/>
          <a:lstStyle/>
          <a:p>
            <a:pPr>
              <a:lnSpc>
                <a:spcPct val="90000"/>
              </a:lnSpc>
            </a:pPr>
            <a:r>
              <a:rPr lang="zh-CN" altLang="en-US" sz="2100" b="1" dirty="0">
                <a:solidFill>
                  <a:srgbClr val="FFCC00"/>
                </a:solidFill>
                <a:latin typeface="黑体" panose="02010609060101010101" pitchFamily="49" charset="-122"/>
                <a:ea typeface="黑体" panose="02010609060101010101" pitchFamily="49" charset="-122"/>
              </a:rPr>
              <a:t>显式链接结构的缺点是：</a:t>
            </a:r>
          </a:p>
          <a:p>
            <a:pPr>
              <a:lnSpc>
                <a:spcPct val="90000"/>
              </a:lnSpc>
            </a:pPr>
            <a:r>
              <a:rPr lang="en-US" altLang="zh-CN" sz="2100" b="1" dirty="0">
                <a:solidFill>
                  <a:srgbClr val="FFCC00"/>
                </a:solidFill>
                <a:latin typeface="黑体" panose="02010609060101010101" pitchFamily="49" charset="-122"/>
                <a:ea typeface="黑体" panose="02010609060101010101" pitchFamily="49" charset="-122"/>
              </a:rPr>
              <a:t>(1)</a:t>
            </a:r>
            <a:r>
              <a:rPr lang="zh-CN" altLang="en-US" sz="2100" b="1" dirty="0">
                <a:solidFill>
                  <a:srgbClr val="FFCC00"/>
                </a:solidFill>
                <a:latin typeface="黑体" panose="02010609060101010101" pitchFamily="49" charset="-122"/>
                <a:ea typeface="黑体" panose="02010609060101010101" pitchFamily="49" charset="-122"/>
              </a:rPr>
              <a:t>不能支持高效的直接存取。要对一个较大的文件进行直接存取，须首先在</a:t>
            </a:r>
            <a:r>
              <a:rPr lang="en-US" altLang="zh-CN" sz="2100" b="1" dirty="0">
                <a:solidFill>
                  <a:srgbClr val="FFCC00"/>
                </a:solidFill>
                <a:latin typeface="黑体" panose="02010609060101010101" pitchFamily="49" charset="-122"/>
                <a:ea typeface="黑体" panose="02010609060101010101" pitchFamily="49" charset="-122"/>
              </a:rPr>
              <a:t>FAT</a:t>
            </a:r>
            <a:r>
              <a:rPr lang="zh-CN" altLang="en-US" sz="2100" b="1" dirty="0">
                <a:solidFill>
                  <a:srgbClr val="FFCC00"/>
                </a:solidFill>
                <a:latin typeface="黑体" panose="02010609060101010101" pitchFamily="49" charset="-122"/>
                <a:ea typeface="黑体" panose="02010609060101010101" pitchFamily="49" charset="-122"/>
              </a:rPr>
              <a:t>中顺序地查找许多盘块号。</a:t>
            </a:r>
          </a:p>
          <a:p>
            <a:pPr>
              <a:lnSpc>
                <a:spcPct val="90000"/>
              </a:lnSpc>
            </a:pPr>
            <a:r>
              <a:rPr lang="en-US" altLang="zh-CN" sz="2100" b="1" dirty="0">
                <a:solidFill>
                  <a:srgbClr val="FFCC00"/>
                </a:solidFill>
                <a:latin typeface="黑体" panose="02010609060101010101" pitchFamily="49" charset="-122"/>
                <a:ea typeface="黑体" panose="02010609060101010101" pitchFamily="49" charset="-122"/>
              </a:rPr>
              <a:t>(2)FAT</a:t>
            </a:r>
            <a:r>
              <a:rPr lang="zh-CN" altLang="en-US" sz="2100" b="1" dirty="0">
                <a:solidFill>
                  <a:srgbClr val="FFCC00"/>
                </a:solidFill>
                <a:latin typeface="黑体" panose="02010609060101010101" pitchFamily="49" charset="-122"/>
                <a:ea typeface="黑体" panose="02010609060101010101" pitchFamily="49" charset="-122"/>
              </a:rPr>
              <a:t>需占用较大的内存空间。由于一个文件所占用盘块的盘块号，是随机地分布在</a:t>
            </a:r>
            <a:r>
              <a:rPr lang="en-US" altLang="zh-CN" sz="2100" b="1" dirty="0">
                <a:solidFill>
                  <a:srgbClr val="FFCC00"/>
                </a:solidFill>
                <a:latin typeface="黑体" panose="02010609060101010101" pitchFamily="49" charset="-122"/>
                <a:ea typeface="黑体" panose="02010609060101010101" pitchFamily="49" charset="-122"/>
              </a:rPr>
              <a:t>FAT</a:t>
            </a:r>
            <a:r>
              <a:rPr lang="zh-CN" altLang="en-US" sz="2100" b="1" dirty="0">
                <a:solidFill>
                  <a:srgbClr val="FFCC00"/>
                </a:solidFill>
                <a:latin typeface="黑体" panose="02010609060101010101" pitchFamily="49" charset="-122"/>
                <a:ea typeface="黑体" panose="02010609060101010101" pitchFamily="49" charset="-122"/>
              </a:rPr>
              <a:t>中的，因而只有将整个</a:t>
            </a:r>
            <a:r>
              <a:rPr lang="en-US" altLang="zh-CN" sz="2100" b="1" dirty="0">
                <a:solidFill>
                  <a:srgbClr val="FFCC00"/>
                </a:solidFill>
                <a:latin typeface="黑体" panose="02010609060101010101" pitchFamily="49" charset="-122"/>
                <a:ea typeface="黑体" panose="02010609060101010101" pitchFamily="49" charset="-122"/>
              </a:rPr>
              <a:t>FAT</a:t>
            </a:r>
            <a:r>
              <a:rPr lang="zh-CN" altLang="en-US" sz="2100" b="1" dirty="0">
                <a:solidFill>
                  <a:srgbClr val="FFCC00"/>
                </a:solidFill>
                <a:latin typeface="黑体" panose="02010609060101010101" pitchFamily="49" charset="-122"/>
                <a:ea typeface="黑体" panose="02010609060101010101" pitchFamily="49" charset="-122"/>
              </a:rPr>
              <a:t>调入内存，才能保证在</a:t>
            </a:r>
            <a:r>
              <a:rPr lang="en-US" altLang="zh-CN" sz="2100" b="1" dirty="0">
                <a:solidFill>
                  <a:srgbClr val="FFCC00"/>
                </a:solidFill>
                <a:latin typeface="黑体" panose="02010609060101010101" pitchFamily="49" charset="-122"/>
                <a:ea typeface="黑体" panose="02010609060101010101" pitchFamily="49" charset="-122"/>
              </a:rPr>
              <a:t>FAT</a:t>
            </a:r>
            <a:r>
              <a:rPr lang="zh-CN" altLang="en-US" sz="2100" b="1" dirty="0">
                <a:solidFill>
                  <a:srgbClr val="FFCC00"/>
                </a:solidFill>
                <a:latin typeface="黑体" panose="02010609060101010101" pitchFamily="49" charset="-122"/>
                <a:ea typeface="黑体" panose="02010609060101010101" pitchFamily="49" charset="-122"/>
              </a:rPr>
              <a:t>中找到一个文件的盘块号。当磁盘容量较大时，</a:t>
            </a:r>
            <a:r>
              <a:rPr lang="en-US" altLang="zh-CN" sz="2100" b="1" dirty="0">
                <a:solidFill>
                  <a:srgbClr val="FFCC00"/>
                </a:solidFill>
                <a:latin typeface="黑体" panose="02010609060101010101" pitchFamily="49" charset="-122"/>
                <a:ea typeface="黑体" panose="02010609060101010101" pitchFamily="49" charset="-122"/>
              </a:rPr>
              <a:t>FAT</a:t>
            </a:r>
            <a:r>
              <a:rPr lang="zh-CN" altLang="en-US" sz="2100" b="1" dirty="0">
                <a:solidFill>
                  <a:srgbClr val="FFCC00"/>
                </a:solidFill>
                <a:latin typeface="黑体" panose="02010609060101010101" pitchFamily="49" charset="-122"/>
                <a:ea typeface="黑体" panose="02010609060101010101" pitchFamily="49" charset="-122"/>
              </a:rPr>
              <a:t>可能要占用数</a:t>
            </a:r>
            <a:r>
              <a:rPr lang="en-US" altLang="zh-CN" sz="2100" b="1" dirty="0">
                <a:solidFill>
                  <a:srgbClr val="FFCC00"/>
                </a:solidFill>
                <a:latin typeface="黑体" panose="02010609060101010101" pitchFamily="49" charset="-122"/>
                <a:ea typeface="黑体" panose="02010609060101010101" pitchFamily="49" charset="-122"/>
              </a:rPr>
              <a:t>MB</a:t>
            </a:r>
            <a:r>
              <a:rPr lang="zh-CN" altLang="en-US" sz="2100" b="1" dirty="0">
                <a:solidFill>
                  <a:srgbClr val="FFCC00"/>
                </a:solidFill>
                <a:latin typeface="黑体" panose="02010609060101010101" pitchFamily="49" charset="-122"/>
                <a:ea typeface="黑体" panose="02010609060101010101" pitchFamily="49" charset="-122"/>
              </a:rPr>
              <a:t>以上的内存空间。</a:t>
            </a:r>
          </a:p>
          <a:p>
            <a:pPr>
              <a:lnSpc>
                <a:spcPct val="90000"/>
              </a:lnSpc>
            </a:pPr>
            <a:r>
              <a:rPr lang="zh-CN" altLang="en-US" sz="2100" b="1" dirty="0">
                <a:solidFill>
                  <a:srgbClr val="FFCC00"/>
                </a:solidFill>
                <a:latin typeface="黑体" panose="02010609060101010101" pitchFamily="49" charset="-122"/>
                <a:ea typeface="黑体" panose="02010609060101010101" pitchFamily="49" charset="-122"/>
              </a:rPr>
              <a:t>事实上，在打开某个文件时，只需把该文件占用的盘块的编号调入内存即可，完全没有必要将整个</a:t>
            </a:r>
            <a:r>
              <a:rPr lang="en-US" altLang="zh-CN" sz="2100" b="1" dirty="0">
                <a:solidFill>
                  <a:srgbClr val="FFCC00"/>
                </a:solidFill>
                <a:latin typeface="黑体" panose="02010609060101010101" pitchFamily="49" charset="-122"/>
                <a:ea typeface="黑体" panose="02010609060101010101" pitchFamily="49" charset="-122"/>
              </a:rPr>
              <a:t>FAT</a:t>
            </a:r>
            <a:r>
              <a:rPr lang="zh-CN" altLang="en-US" sz="2100" b="1" dirty="0">
                <a:solidFill>
                  <a:srgbClr val="FFCC00"/>
                </a:solidFill>
                <a:latin typeface="黑体" panose="02010609060101010101" pitchFamily="49" charset="-122"/>
                <a:ea typeface="黑体" panose="02010609060101010101" pitchFamily="49" charset="-122"/>
              </a:rPr>
              <a:t>调入内存。为此，应将每个文件所对应的盘块号集中地放在一起，索引结构就是基于这种想法。</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索引结构</a:t>
            </a:r>
            <a:r>
              <a:rPr lang="en-US" altLang="zh-CN" dirty="0"/>
              <a:t>(</a:t>
            </a: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索引分配</a:t>
            </a:r>
            <a:r>
              <a:rPr lang="en-US" altLang="zh-CN" dirty="0"/>
              <a:t>)</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grpSp>
        <p:nvGrpSpPr>
          <p:cNvPr id="2" name="组合 1"/>
          <p:cNvGrpSpPr/>
          <p:nvPr/>
        </p:nvGrpSpPr>
        <p:grpSpPr>
          <a:xfrm>
            <a:off x="844893" y="863798"/>
            <a:ext cx="7656197" cy="435882"/>
            <a:chOff x="844893" y="2011126"/>
            <a:chExt cx="7656197" cy="435882"/>
          </a:xfrm>
        </p:grpSpPr>
        <p:sp>
          <p:nvSpPr>
            <p:cNvPr id="42" name="内容占位符 2"/>
            <p:cNvSpPr txBox="1"/>
            <p:nvPr/>
          </p:nvSpPr>
          <p:spPr>
            <a:xfrm>
              <a:off x="1142976" y="2032898"/>
              <a:ext cx="7358114" cy="41411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1800" dirty="0">
                  <a:latin typeface="+mj-ea"/>
                  <a:ea typeface="+mj-ea"/>
                  <a:cs typeface="宋体" panose="02010600030101010101" pitchFamily="2" charset="-122"/>
                </a:rPr>
                <a:t>为每个文件创建一个</a:t>
              </a:r>
              <a:r>
                <a:rPr lang="zh-CN" altLang="en-US" sz="1800" dirty="0">
                  <a:solidFill>
                    <a:srgbClr val="C00000"/>
                  </a:solidFill>
                  <a:latin typeface="+mj-ea"/>
                  <a:ea typeface="+mj-ea"/>
                  <a:cs typeface="宋体" panose="02010600030101010101" pitchFamily="2" charset="-122"/>
                </a:rPr>
                <a:t>索引数据块，</a:t>
              </a:r>
              <a:r>
                <a:rPr lang="zh-CN" altLang="en-US" sz="1800" dirty="0"/>
                <a:t>用于存放索引表</a:t>
              </a:r>
              <a:endParaRPr lang="en-US" altLang="zh-CN" sz="1800" dirty="0">
                <a:solidFill>
                  <a:srgbClr val="FF0000"/>
                </a:solidFill>
                <a:latin typeface="+mj-ea"/>
                <a:ea typeface="+mj-ea"/>
                <a:cs typeface="宋体" panose="02010600030101010101" pitchFamily="2" charset="-122"/>
              </a:endParaRPr>
            </a:p>
            <a:p>
              <a:endParaRPr lang="en-US" altLang="zh-CN" sz="1800" dirty="0">
                <a:latin typeface="+mj-ea"/>
                <a:ea typeface="+mj-ea"/>
              </a:endParaRPr>
            </a:p>
          </p:txBody>
        </p:sp>
        <p:sp>
          <p:nvSpPr>
            <p:cNvPr id="43" name="TextBox 42"/>
            <p:cNvSpPr txBox="1"/>
            <p:nvPr/>
          </p:nvSpPr>
          <p:spPr>
            <a:xfrm>
              <a:off x="844893" y="201112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844893" y="2835719"/>
            <a:ext cx="3941421" cy="2022047"/>
            <a:chOff x="844893" y="2835719"/>
            <a:chExt cx="3941421" cy="2022047"/>
          </a:xfrm>
        </p:grpSpPr>
        <p:pic>
          <p:nvPicPr>
            <p:cNvPr id="49" name="图片 48" descr="小点1.png"/>
            <p:cNvPicPr>
              <a:picLocks noChangeAspect="1"/>
            </p:cNvPicPr>
            <p:nvPr/>
          </p:nvPicPr>
          <p:blipFill>
            <a:blip r:embed="rId3" cstate="print"/>
            <a:stretch>
              <a:fillRect/>
            </a:stretch>
          </p:blipFill>
          <p:spPr>
            <a:xfrm>
              <a:off x="1262422" y="3260267"/>
              <a:ext cx="151066" cy="148997"/>
            </a:xfrm>
            <a:prstGeom prst="rect">
              <a:avLst/>
            </a:prstGeom>
            <a:effectLst/>
          </p:spPr>
        </p:pic>
        <p:sp>
          <p:nvSpPr>
            <p:cNvPr id="50" name="内容占位符 2"/>
            <p:cNvSpPr txBox="1"/>
            <p:nvPr/>
          </p:nvSpPr>
          <p:spPr>
            <a:xfrm>
              <a:off x="1394985" y="3177263"/>
              <a:ext cx="3177015" cy="3263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800" dirty="0">
                  <a:latin typeface="+mj-ea"/>
                  <a:ea typeface="+mj-ea"/>
                  <a:cs typeface="宋体" panose="02010600030101010101" pitchFamily="2" charset="-122"/>
                </a:rPr>
                <a:t>创建、增大、缩小很容易</a:t>
              </a:r>
              <a:endParaRPr lang="en-US" altLang="zh-CN" sz="1800" dirty="0">
                <a:latin typeface="+mj-ea"/>
                <a:ea typeface="+mj-ea"/>
                <a:cs typeface="宋体" panose="02010600030101010101" pitchFamily="2" charset="-122"/>
              </a:endParaRPr>
            </a:p>
            <a:p>
              <a:pPr marL="0" lvl="1" indent="0">
                <a:lnSpc>
                  <a:spcPct val="90000"/>
                </a:lnSpc>
              </a:pPr>
              <a:endParaRPr kumimoji="0" lang="zh-CN" altLang="en-US" sz="1800" b="1" i="0" u="none" strike="noStrike" kern="1200" cap="none" spc="0" normalizeH="0" baseline="0" noProof="0" dirty="0">
                <a:ln>
                  <a:noFill/>
                </a:ln>
                <a:solidFill>
                  <a:srgbClr val="11576A"/>
                </a:solidFill>
                <a:effectLst/>
                <a:uLnTx/>
                <a:uFillTx/>
                <a:latin typeface="+mj-ea"/>
                <a:ea typeface="+mj-ea"/>
                <a:cs typeface="+mn-cs"/>
              </a:endParaRPr>
            </a:p>
          </p:txBody>
        </p:sp>
        <p:sp>
          <p:nvSpPr>
            <p:cNvPr id="51" name="内容占位符 2"/>
            <p:cNvSpPr txBox="1"/>
            <p:nvPr/>
          </p:nvSpPr>
          <p:spPr>
            <a:xfrm>
              <a:off x="1142976" y="2868377"/>
              <a:ext cx="85725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1800" dirty="0"/>
                <a:t>优点</a:t>
              </a:r>
              <a:endParaRPr lang="en-US" altLang="zh-CN" sz="1800" dirty="0"/>
            </a:p>
          </p:txBody>
        </p:sp>
        <p:sp>
          <p:nvSpPr>
            <p:cNvPr id="52" name="TextBox 51"/>
            <p:cNvSpPr txBox="1"/>
            <p:nvPr/>
          </p:nvSpPr>
          <p:spPr>
            <a:xfrm>
              <a:off x="844893" y="2835719"/>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53" name="图片 52" descr="小点1.png"/>
            <p:cNvPicPr>
              <a:picLocks noChangeAspect="1"/>
            </p:cNvPicPr>
            <p:nvPr/>
          </p:nvPicPr>
          <p:blipFill>
            <a:blip r:embed="rId3" cstate="print"/>
            <a:stretch>
              <a:fillRect/>
            </a:stretch>
          </p:blipFill>
          <p:spPr>
            <a:xfrm>
              <a:off x="1262422" y="3542389"/>
              <a:ext cx="151066" cy="148997"/>
            </a:xfrm>
            <a:prstGeom prst="rect">
              <a:avLst/>
            </a:prstGeom>
            <a:effectLst/>
          </p:spPr>
        </p:pic>
        <p:sp>
          <p:nvSpPr>
            <p:cNvPr id="54" name="内容占位符 2"/>
            <p:cNvSpPr txBox="1"/>
            <p:nvPr/>
          </p:nvSpPr>
          <p:spPr>
            <a:xfrm>
              <a:off x="1394985" y="3448499"/>
              <a:ext cx="2819825"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800" dirty="0">
                  <a:latin typeface="+mj-ea"/>
                  <a:ea typeface="+mj-ea"/>
                  <a:cs typeface="宋体" panose="02010600030101010101" pitchFamily="2" charset="-122"/>
                </a:rPr>
                <a:t>没有碎片</a:t>
              </a:r>
              <a:endParaRPr lang="en-US" altLang="zh-CN" sz="1800" dirty="0">
                <a:latin typeface="+mj-ea"/>
                <a:ea typeface="+mj-ea"/>
                <a:cs typeface="宋体" panose="02010600030101010101" pitchFamily="2" charset="-122"/>
              </a:endParaRPr>
            </a:p>
            <a:p>
              <a:pPr marL="0" lvl="1" indent="0">
                <a:lnSpc>
                  <a:spcPct val="90000"/>
                </a:lnSpc>
              </a:pPr>
              <a:endParaRPr kumimoji="0" lang="zh-CN" altLang="en-US" sz="1800" b="1" i="0" u="none" strike="noStrike" kern="1200" cap="none" spc="0" normalizeH="0" baseline="0" noProof="0" dirty="0">
                <a:ln>
                  <a:noFill/>
                </a:ln>
                <a:solidFill>
                  <a:srgbClr val="11576A"/>
                </a:solidFill>
                <a:effectLst/>
                <a:uLnTx/>
                <a:uFillTx/>
                <a:latin typeface="+mj-ea"/>
                <a:ea typeface="+mj-ea"/>
                <a:cs typeface="+mn-cs"/>
              </a:endParaRPr>
            </a:p>
          </p:txBody>
        </p:sp>
        <p:pic>
          <p:nvPicPr>
            <p:cNvPr id="68" name="图片 67" descr="小点1.png"/>
            <p:cNvPicPr>
              <a:picLocks noChangeAspect="1"/>
            </p:cNvPicPr>
            <p:nvPr/>
          </p:nvPicPr>
          <p:blipFill>
            <a:blip r:embed="rId3" cstate="print"/>
            <a:stretch>
              <a:fillRect/>
            </a:stretch>
          </p:blipFill>
          <p:spPr>
            <a:xfrm>
              <a:off x="1262422" y="3833926"/>
              <a:ext cx="151066" cy="148997"/>
            </a:xfrm>
            <a:prstGeom prst="rect">
              <a:avLst/>
            </a:prstGeom>
            <a:effectLst/>
          </p:spPr>
        </p:pic>
        <p:sp>
          <p:nvSpPr>
            <p:cNvPr id="69" name="内容占位符 2"/>
            <p:cNvSpPr txBox="1"/>
            <p:nvPr/>
          </p:nvSpPr>
          <p:spPr>
            <a:xfrm>
              <a:off x="1394985" y="3740036"/>
              <a:ext cx="3391329" cy="111773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800" dirty="0">
                  <a:latin typeface="+mj-ea"/>
                  <a:ea typeface="+mj-ea"/>
                  <a:cs typeface="宋体" panose="02010600030101010101" pitchFamily="2" charset="-122"/>
                </a:rPr>
                <a:t>保持串联结构的特点，既能顺序存取又能随机存取支持直接访问。</a:t>
              </a:r>
              <a:endParaRPr lang="en-US" altLang="zh-CN" sz="1800" dirty="0">
                <a:latin typeface="+mj-ea"/>
                <a:ea typeface="+mj-ea"/>
                <a:cs typeface="宋体" panose="02010600030101010101" pitchFamily="2" charset="-122"/>
              </a:endParaRPr>
            </a:p>
            <a:p>
              <a:pPr marL="0" lvl="1" indent="0">
                <a:lnSpc>
                  <a:spcPct val="90000"/>
                </a:lnSpc>
              </a:pPr>
              <a:endParaRPr lang="zh-CN" altLang="en-US" sz="1800" dirty="0">
                <a:latin typeface="+mj-ea"/>
                <a:ea typeface="+mj-ea"/>
                <a:cs typeface="宋体" panose="02010600030101010101" pitchFamily="2" charset="-122"/>
              </a:endParaRPr>
            </a:p>
          </p:txBody>
        </p:sp>
      </p:grpSp>
      <p:grpSp>
        <p:nvGrpSpPr>
          <p:cNvPr id="5" name="组合 4"/>
          <p:cNvGrpSpPr/>
          <p:nvPr/>
        </p:nvGrpSpPr>
        <p:grpSpPr>
          <a:xfrm>
            <a:off x="827584" y="1949538"/>
            <a:ext cx="6445256" cy="982799"/>
            <a:chOff x="827584" y="1020232"/>
            <a:chExt cx="6445256" cy="982799"/>
          </a:xfrm>
        </p:grpSpPr>
        <p:sp>
          <p:nvSpPr>
            <p:cNvPr id="60" name="矩形 59"/>
            <p:cNvSpPr/>
            <p:nvPr/>
          </p:nvSpPr>
          <p:spPr>
            <a:xfrm>
              <a:off x="827584" y="1020232"/>
              <a:ext cx="288000" cy="396000"/>
            </a:xfrm>
            <a:prstGeom prst="rect">
              <a:avLst/>
            </a:prstGeom>
            <a:gradFill>
              <a:gsLst>
                <a:gs pos="0">
                  <a:srgbClr val="FFFF00"/>
                </a:gs>
                <a:gs pos="100000">
                  <a:srgbClr val="FF99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b="1" dirty="0">
                  <a:solidFill>
                    <a:srgbClr val="11576A"/>
                  </a:solidFill>
                  <a:latin typeface="+mj-ea"/>
                  <a:ea typeface="+mj-ea"/>
                </a:rPr>
                <a:t>I</a:t>
              </a:r>
              <a:endParaRPr lang="zh-CN" altLang="en-US" b="1" dirty="0">
                <a:solidFill>
                  <a:srgbClr val="11576A"/>
                </a:solidFill>
                <a:latin typeface="+mj-ea"/>
                <a:ea typeface="+mj-ea"/>
              </a:endParaRPr>
            </a:p>
          </p:txBody>
        </p:sp>
        <p:sp>
          <p:nvSpPr>
            <p:cNvPr id="61" name="矩形 60"/>
            <p:cNvSpPr/>
            <p:nvPr/>
          </p:nvSpPr>
          <p:spPr>
            <a:xfrm>
              <a:off x="1248746"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2" name="矩形 61"/>
            <p:cNvSpPr/>
            <p:nvPr/>
          </p:nvSpPr>
          <p:spPr>
            <a:xfrm>
              <a:off x="5641234"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 name="矩形 62"/>
            <p:cNvSpPr/>
            <p:nvPr/>
          </p:nvSpPr>
          <p:spPr>
            <a:xfrm>
              <a:off x="6073282"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4" name="矩形 63"/>
            <p:cNvSpPr/>
            <p:nvPr/>
          </p:nvSpPr>
          <p:spPr>
            <a:xfrm>
              <a:off x="2987824"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5" name="矩形 64"/>
            <p:cNvSpPr/>
            <p:nvPr/>
          </p:nvSpPr>
          <p:spPr>
            <a:xfrm>
              <a:off x="4316626"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6" name="矩形 65"/>
            <p:cNvSpPr/>
            <p:nvPr/>
          </p:nvSpPr>
          <p:spPr>
            <a:xfrm>
              <a:off x="5198300"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7" name="任意多边形 66"/>
            <p:cNvSpPr/>
            <p:nvPr/>
          </p:nvSpPr>
          <p:spPr>
            <a:xfrm>
              <a:off x="987287" y="1433602"/>
              <a:ext cx="859295" cy="202044"/>
            </a:xfrm>
            <a:custGeom>
              <a:avLst/>
              <a:gdLst>
                <a:gd name="connsiteX0" fmla="*/ 0 w 2111829"/>
                <a:gd name="connsiteY0" fmla="*/ 0 h 469900"/>
                <a:gd name="connsiteX1" fmla="*/ 381000 w 2111829"/>
                <a:gd name="connsiteY1" fmla="*/ 370115 h 469900"/>
                <a:gd name="connsiteX2" fmla="*/ 1219200 w 2111829"/>
                <a:gd name="connsiteY2" fmla="*/ 457200 h 469900"/>
                <a:gd name="connsiteX3" fmla="*/ 1861457 w 2111829"/>
                <a:gd name="connsiteY3" fmla="*/ 293915 h 469900"/>
                <a:gd name="connsiteX4" fmla="*/ 2111829 w 2111829"/>
                <a:gd name="connsiteY4" fmla="*/ 10886 h 469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829" h="469900">
                  <a:moveTo>
                    <a:pt x="0" y="0"/>
                  </a:moveTo>
                  <a:cubicBezTo>
                    <a:pt x="88900" y="146957"/>
                    <a:pt x="177800" y="293915"/>
                    <a:pt x="381000" y="370115"/>
                  </a:cubicBezTo>
                  <a:cubicBezTo>
                    <a:pt x="584200" y="446315"/>
                    <a:pt x="972457" y="469900"/>
                    <a:pt x="1219200" y="457200"/>
                  </a:cubicBezTo>
                  <a:cubicBezTo>
                    <a:pt x="1465943" y="444500"/>
                    <a:pt x="1712686" y="368301"/>
                    <a:pt x="1861457" y="293915"/>
                  </a:cubicBezTo>
                  <a:cubicBezTo>
                    <a:pt x="2010229" y="219529"/>
                    <a:pt x="2061029" y="115207"/>
                    <a:pt x="2111829" y="10886"/>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矩形 69"/>
            <p:cNvSpPr/>
            <p:nvPr/>
          </p:nvSpPr>
          <p:spPr>
            <a:xfrm>
              <a:off x="2098038"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 name="矩形 70"/>
            <p:cNvSpPr/>
            <p:nvPr/>
          </p:nvSpPr>
          <p:spPr>
            <a:xfrm>
              <a:off x="2530086"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 name="矩形 71"/>
            <p:cNvSpPr/>
            <p:nvPr/>
          </p:nvSpPr>
          <p:spPr>
            <a:xfrm>
              <a:off x="3429614"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矩形 72"/>
            <p:cNvSpPr/>
            <p:nvPr/>
          </p:nvSpPr>
          <p:spPr>
            <a:xfrm>
              <a:off x="3861662"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矩形 73"/>
            <p:cNvSpPr/>
            <p:nvPr/>
          </p:nvSpPr>
          <p:spPr>
            <a:xfrm>
              <a:off x="4745190" y="1020232"/>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5" name="矩形 74"/>
            <p:cNvSpPr/>
            <p:nvPr/>
          </p:nvSpPr>
          <p:spPr>
            <a:xfrm>
              <a:off x="6984840"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6" name="矩形 75"/>
            <p:cNvSpPr/>
            <p:nvPr/>
          </p:nvSpPr>
          <p:spPr>
            <a:xfrm>
              <a:off x="6527102" y="1020232"/>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 name="矩形 76"/>
            <p:cNvSpPr/>
            <p:nvPr/>
          </p:nvSpPr>
          <p:spPr>
            <a:xfrm>
              <a:off x="1665990" y="1020232"/>
              <a:ext cx="288000" cy="396000"/>
            </a:xfrm>
            <a:prstGeom prst="rect">
              <a:avLst/>
            </a:prstGeom>
            <a:gradFill>
              <a:gsLst>
                <a:gs pos="100000">
                  <a:srgbClr val="663300"/>
                </a:gs>
                <a:gs pos="0">
                  <a:srgbClr val="CC66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solidFill>
                  <a:srgbClr val="11576A"/>
                </a:solidFill>
                <a:latin typeface="+mj-ea"/>
                <a:ea typeface="+mj-ea"/>
              </a:endParaRPr>
            </a:p>
          </p:txBody>
        </p:sp>
        <p:sp>
          <p:nvSpPr>
            <p:cNvPr id="78" name="内容占位符 2"/>
            <p:cNvSpPr txBox="1"/>
            <p:nvPr/>
          </p:nvSpPr>
          <p:spPr>
            <a:xfrm>
              <a:off x="1595126" y="1059582"/>
              <a:ext cx="576064" cy="36004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en-US" altLang="zh-CN" sz="1800" dirty="0">
                  <a:solidFill>
                    <a:schemeClr val="bg1"/>
                  </a:solidFill>
                </a:rPr>
                <a:t>IB</a:t>
              </a:r>
            </a:p>
          </p:txBody>
        </p:sp>
        <p:sp>
          <p:nvSpPr>
            <p:cNvPr id="79" name="任意多边形 78"/>
            <p:cNvSpPr/>
            <p:nvPr/>
          </p:nvSpPr>
          <p:spPr>
            <a:xfrm>
              <a:off x="1826393" y="1423952"/>
              <a:ext cx="859295" cy="202044"/>
            </a:xfrm>
            <a:custGeom>
              <a:avLst/>
              <a:gdLst>
                <a:gd name="connsiteX0" fmla="*/ 0 w 2111829"/>
                <a:gd name="connsiteY0" fmla="*/ 0 h 469900"/>
                <a:gd name="connsiteX1" fmla="*/ 381000 w 2111829"/>
                <a:gd name="connsiteY1" fmla="*/ 370115 h 469900"/>
                <a:gd name="connsiteX2" fmla="*/ 1219200 w 2111829"/>
                <a:gd name="connsiteY2" fmla="*/ 457200 h 469900"/>
                <a:gd name="connsiteX3" fmla="*/ 1861457 w 2111829"/>
                <a:gd name="connsiteY3" fmla="*/ 293915 h 469900"/>
                <a:gd name="connsiteX4" fmla="*/ 2111829 w 2111829"/>
                <a:gd name="connsiteY4" fmla="*/ 10886 h 469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829" h="469900">
                  <a:moveTo>
                    <a:pt x="0" y="0"/>
                  </a:moveTo>
                  <a:cubicBezTo>
                    <a:pt x="88900" y="146957"/>
                    <a:pt x="177800" y="293915"/>
                    <a:pt x="381000" y="370115"/>
                  </a:cubicBezTo>
                  <a:cubicBezTo>
                    <a:pt x="584200" y="446315"/>
                    <a:pt x="972457" y="469900"/>
                    <a:pt x="1219200" y="457200"/>
                  </a:cubicBezTo>
                  <a:cubicBezTo>
                    <a:pt x="1465943" y="444500"/>
                    <a:pt x="1712686" y="368301"/>
                    <a:pt x="1861457" y="293915"/>
                  </a:cubicBezTo>
                  <a:cubicBezTo>
                    <a:pt x="2010229" y="219529"/>
                    <a:pt x="2061029" y="115207"/>
                    <a:pt x="2111829" y="10886"/>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 name="任意多边形 79"/>
            <p:cNvSpPr/>
            <p:nvPr/>
          </p:nvSpPr>
          <p:spPr>
            <a:xfrm>
              <a:off x="1821297" y="1419491"/>
              <a:ext cx="1296144" cy="288032"/>
            </a:xfrm>
            <a:custGeom>
              <a:avLst/>
              <a:gdLst>
                <a:gd name="connsiteX0" fmla="*/ 0 w 2111829"/>
                <a:gd name="connsiteY0" fmla="*/ 0 h 469900"/>
                <a:gd name="connsiteX1" fmla="*/ 381000 w 2111829"/>
                <a:gd name="connsiteY1" fmla="*/ 370115 h 469900"/>
                <a:gd name="connsiteX2" fmla="*/ 1219200 w 2111829"/>
                <a:gd name="connsiteY2" fmla="*/ 457200 h 469900"/>
                <a:gd name="connsiteX3" fmla="*/ 1861457 w 2111829"/>
                <a:gd name="connsiteY3" fmla="*/ 293915 h 469900"/>
                <a:gd name="connsiteX4" fmla="*/ 2111829 w 2111829"/>
                <a:gd name="connsiteY4" fmla="*/ 10886 h 469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829" h="469900">
                  <a:moveTo>
                    <a:pt x="0" y="0"/>
                  </a:moveTo>
                  <a:cubicBezTo>
                    <a:pt x="88900" y="146957"/>
                    <a:pt x="177800" y="293915"/>
                    <a:pt x="381000" y="370115"/>
                  </a:cubicBezTo>
                  <a:cubicBezTo>
                    <a:pt x="584200" y="446315"/>
                    <a:pt x="972457" y="469900"/>
                    <a:pt x="1219200" y="457200"/>
                  </a:cubicBezTo>
                  <a:cubicBezTo>
                    <a:pt x="1465943" y="444500"/>
                    <a:pt x="1712686" y="368301"/>
                    <a:pt x="1861457" y="293915"/>
                  </a:cubicBezTo>
                  <a:cubicBezTo>
                    <a:pt x="2010229" y="219529"/>
                    <a:pt x="2061029" y="115207"/>
                    <a:pt x="2111829" y="10886"/>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1" name="任意多边形 80"/>
            <p:cNvSpPr/>
            <p:nvPr/>
          </p:nvSpPr>
          <p:spPr>
            <a:xfrm>
              <a:off x="1828608" y="1420407"/>
              <a:ext cx="2664296" cy="360040"/>
            </a:xfrm>
            <a:custGeom>
              <a:avLst/>
              <a:gdLst>
                <a:gd name="connsiteX0" fmla="*/ 0 w 2111829"/>
                <a:gd name="connsiteY0" fmla="*/ 0 h 469900"/>
                <a:gd name="connsiteX1" fmla="*/ 381000 w 2111829"/>
                <a:gd name="connsiteY1" fmla="*/ 370115 h 469900"/>
                <a:gd name="connsiteX2" fmla="*/ 1219200 w 2111829"/>
                <a:gd name="connsiteY2" fmla="*/ 457200 h 469900"/>
                <a:gd name="connsiteX3" fmla="*/ 1861457 w 2111829"/>
                <a:gd name="connsiteY3" fmla="*/ 293915 h 469900"/>
                <a:gd name="connsiteX4" fmla="*/ 2111829 w 2111829"/>
                <a:gd name="connsiteY4" fmla="*/ 10886 h 469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829" h="469900">
                  <a:moveTo>
                    <a:pt x="0" y="0"/>
                  </a:moveTo>
                  <a:cubicBezTo>
                    <a:pt x="88900" y="146957"/>
                    <a:pt x="177800" y="293915"/>
                    <a:pt x="381000" y="370115"/>
                  </a:cubicBezTo>
                  <a:cubicBezTo>
                    <a:pt x="584200" y="446315"/>
                    <a:pt x="972457" y="469900"/>
                    <a:pt x="1219200" y="457200"/>
                  </a:cubicBezTo>
                  <a:cubicBezTo>
                    <a:pt x="1465943" y="444500"/>
                    <a:pt x="1712686" y="368301"/>
                    <a:pt x="1861457" y="293915"/>
                  </a:cubicBezTo>
                  <a:cubicBezTo>
                    <a:pt x="2010229" y="219529"/>
                    <a:pt x="2061029" y="115207"/>
                    <a:pt x="2111829" y="10886"/>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 name="任意多边形 81"/>
            <p:cNvSpPr/>
            <p:nvPr/>
          </p:nvSpPr>
          <p:spPr>
            <a:xfrm>
              <a:off x="1827861" y="1419524"/>
              <a:ext cx="3600400" cy="432048"/>
            </a:xfrm>
            <a:custGeom>
              <a:avLst/>
              <a:gdLst>
                <a:gd name="connsiteX0" fmla="*/ 0 w 2111829"/>
                <a:gd name="connsiteY0" fmla="*/ 0 h 469900"/>
                <a:gd name="connsiteX1" fmla="*/ 381000 w 2111829"/>
                <a:gd name="connsiteY1" fmla="*/ 370115 h 469900"/>
                <a:gd name="connsiteX2" fmla="*/ 1219200 w 2111829"/>
                <a:gd name="connsiteY2" fmla="*/ 457200 h 469900"/>
                <a:gd name="connsiteX3" fmla="*/ 1861457 w 2111829"/>
                <a:gd name="connsiteY3" fmla="*/ 293915 h 469900"/>
                <a:gd name="connsiteX4" fmla="*/ 2111829 w 2111829"/>
                <a:gd name="connsiteY4" fmla="*/ 10886 h 469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829" h="469900">
                  <a:moveTo>
                    <a:pt x="0" y="0"/>
                  </a:moveTo>
                  <a:cubicBezTo>
                    <a:pt x="88900" y="146957"/>
                    <a:pt x="177800" y="293915"/>
                    <a:pt x="381000" y="370115"/>
                  </a:cubicBezTo>
                  <a:cubicBezTo>
                    <a:pt x="584200" y="446315"/>
                    <a:pt x="972457" y="469900"/>
                    <a:pt x="1219200" y="457200"/>
                  </a:cubicBezTo>
                  <a:cubicBezTo>
                    <a:pt x="1465943" y="444500"/>
                    <a:pt x="1712686" y="368301"/>
                    <a:pt x="1861457" y="293915"/>
                  </a:cubicBezTo>
                  <a:cubicBezTo>
                    <a:pt x="2010229" y="219529"/>
                    <a:pt x="2061029" y="115207"/>
                    <a:pt x="2111829" y="10886"/>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3" name="任意多边形 82"/>
            <p:cNvSpPr/>
            <p:nvPr/>
          </p:nvSpPr>
          <p:spPr>
            <a:xfrm>
              <a:off x="1828608" y="1434444"/>
              <a:ext cx="4896544" cy="504056"/>
            </a:xfrm>
            <a:custGeom>
              <a:avLst/>
              <a:gdLst>
                <a:gd name="connsiteX0" fmla="*/ 0 w 2111829"/>
                <a:gd name="connsiteY0" fmla="*/ 0 h 469900"/>
                <a:gd name="connsiteX1" fmla="*/ 381000 w 2111829"/>
                <a:gd name="connsiteY1" fmla="*/ 370115 h 469900"/>
                <a:gd name="connsiteX2" fmla="*/ 1219200 w 2111829"/>
                <a:gd name="connsiteY2" fmla="*/ 457200 h 469900"/>
                <a:gd name="connsiteX3" fmla="*/ 1861457 w 2111829"/>
                <a:gd name="connsiteY3" fmla="*/ 293915 h 469900"/>
                <a:gd name="connsiteX4" fmla="*/ 2111829 w 2111829"/>
                <a:gd name="connsiteY4" fmla="*/ 10886 h 469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829" h="469900">
                  <a:moveTo>
                    <a:pt x="0" y="0"/>
                  </a:moveTo>
                  <a:cubicBezTo>
                    <a:pt x="88900" y="146957"/>
                    <a:pt x="177800" y="293915"/>
                    <a:pt x="381000" y="370115"/>
                  </a:cubicBezTo>
                  <a:cubicBezTo>
                    <a:pt x="584200" y="446315"/>
                    <a:pt x="972457" y="469900"/>
                    <a:pt x="1219200" y="457200"/>
                  </a:cubicBezTo>
                  <a:cubicBezTo>
                    <a:pt x="1465943" y="444500"/>
                    <a:pt x="1712686" y="368301"/>
                    <a:pt x="1861457" y="293915"/>
                  </a:cubicBezTo>
                  <a:cubicBezTo>
                    <a:pt x="2010229" y="219529"/>
                    <a:pt x="2061029" y="115207"/>
                    <a:pt x="2111829" y="10886"/>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任意多边形 83"/>
            <p:cNvSpPr/>
            <p:nvPr/>
          </p:nvSpPr>
          <p:spPr>
            <a:xfrm>
              <a:off x="1828608" y="1426967"/>
              <a:ext cx="5400600" cy="576064"/>
            </a:xfrm>
            <a:custGeom>
              <a:avLst/>
              <a:gdLst>
                <a:gd name="connsiteX0" fmla="*/ 0 w 2111829"/>
                <a:gd name="connsiteY0" fmla="*/ 0 h 469900"/>
                <a:gd name="connsiteX1" fmla="*/ 381000 w 2111829"/>
                <a:gd name="connsiteY1" fmla="*/ 370115 h 469900"/>
                <a:gd name="connsiteX2" fmla="*/ 1219200 w 2111829"/>
                <a:gd name="connsiteY2" fmla="*/ 457200 h 469900"/>
                <a:gd name="connsiteX3" fmla="*/ 1861457 w 2111829"/>
                <a:gd name="connsiteY3" fmla="*/ 293915 h 469900"/>
                <a:gd name="connsiteX4" fmla="*/ 2111829 w 2111829"/>
                <a:gd name="connsiteY4" fmla="*/ 10886 h 469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829" h="469900">
                  <a:moveTo>
                    <a:pt x="0" y="0"/>
                  </a:moveTo>
                  <a:cubicBezTo>
                    <a:pt x="88900" y="146957"/>
                    <a:pt x="177800" y="293915"/>
                    <a:pt x="381000" y="370115"/>
                  </a:cubicBezTo>
                  <a:cubicBezTo>
                    <a:pt x="584200" y="446315"/>
                    <a:pt x="972457" y="469900"/>
                    <a:pt x="1219200" y="457200"/>
                  </a:cubicBezTo>
                  <a:cubicBezTo>
                    <a:pt x="1465943" y="444500"/>
                    <a:pt x="1712686" y="368301"/>
                    <a:pt x="1861457" y="293915"/>
                  </a:cubicBezTo>
                  <a:cubicBezTo>
                    <a:pt x="2010229" y="219529"/>
                    <a:pt x="2061029" y="115207"/>
                    <a:pt x="2111829" y="10886"/>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6" name="组合 5"/>
          <p:cNvGrpSpPr/>
          <p:nvPr/>
        </p:nvGrpSpPr>
        <p:grpSpPr>
          <a:xfrm>
            <a:off x="1262422" y="1163352"/>
            <a:ext cx="3452454" cy="358322"/>
            <a:chOff x="1262422" y="1163352"/>
            <a:chExt cx="3452454" cy="358322"/>
          </a:xfrm>
        </p:grpSpPr>
        <p:pic>
          <p:nvPicPr>
            <p:cNvPr id="94" name="图片 93" descr="小点1.png"/>
            <p:cNvPicPr>
              <a:picLocks noChangeAspect="1"/>
            </p:cNvPicPr>
            <p:nvPr/>
          </p:nvPicPr>
          <p:blipFill>
            <a:blip r:embed="rId3" cstate="print"/>
            <a:stretch>
              <a:fillRect/>
            </a:stretch>
          </p:blipFill>
          <p:spPr>
            <a:xfrm>
              <a:off x="1262422" y="1268128"/>
              <a:ext cx="151066" cy="148997"/>
            </a:xfrm>
            <a:prstGeom prst="rect">
              <a:avLst/>
            </a:prstGeom>
            <a:effectLst/>
          </p:spPr>
        </p:pic>
        <p:sp>
          <p:nvSpPr>
            <p:cNvPr id="95" name="内容占位符 2"/>
            <p:cNvSpPr txBox="1"/>
            <p:nvPr/>
          </p:nvSpPr>
          <p:spPr>
            <a:xfrm>
              <a:off x="1394985" y="1163352"/>
              <a:ext cx="3319891"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sz="1800" dirty="0">
                  <a:latin typeface="+mj-ea"/>
                  <a:ea typeface="+mj-ea"/>
                  <a:cs typeface="宋体" panose="02010600030101010101" pitchFamily="2" charset="-122"/>
                </a:rPr>
                <a:t>指向文件数据块的指针列表</a:t>
              </a:r>
              <a:endParaRPr lang="en-US" altLang="zh-CN" sz="1800" dirty="0">
                <a:latin typeface="+mj-ea"/>
                <a:ea typeface="+mj-ea"/>
                <a:cs typeface="宋体" panose="02010600030101010101" pitchFamily="2" charset="-122"/>
              </a:endParaRPr>
            </a:p>
            <a:p>
              <a:pPr marL="0" lvl="1" indent="0"/>
              <a:endParaRPr lang="en-US" altLang="zh-CN" sz="1800" dirty="0">
                <a:latin typeface="+mj-ea"/>
                <a:ea typeface="+mj-ea"/>
              </a:endParaRPr>
            </a:p>
          </p:txBody>
        </p:sp>
      </p:grpSp>
      <p:grpSp>
        <p:nvGrpSpPr>
          <p:cNvPr id="7" name="组合 6"/>
          <p:cNvGrpSpPr/>
          <p:nvPr/>
        </p:nvGrpSpPr>
        <p:grpSpPr>
          <a:xfrm>
            <a:off x="844893" y="1400490"/>
            <a:ext cx="3943131" cy="445804"/>
            <a:chOff x="844893" y="1400490"/>
            <a:chExt cx="3943131" cy="445804"/>
          </a:xfrm>
        </p:grpSpPr>
        <p:sp>
          <p:nvSpPr>
            <p:cNvPr id="96" name="内容占位符 2"/>
            <p:cNvSpPr txBox="1"/>
            <p:nvPr/>
          </p:nvSpPr>
          <p:spPr>
            <a:xfrm>
              <a:off x="1142976" y="1433148"/>
              <a:ext cx="3645048" cy="41314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1800" dirty="0">
                  <a:latin typeface="+mj-ea"/>
                  <a:ea typeface="+mj-ea"/>
                  <a:cs typeface="宋体" panose="02010600030101010101" pitchFamily="2" charset="-122"/>
                </a:rPr>
                <a:t>文件头包含了索引数据块指针</a:t>
              </a:r>
              <a:endParaRPr lang="en-US" altLang="zh-CN" sz="1800" dirty="0">
                <a:latin typeface="+mj-ea"/>
                <a:ea typeface="+mj-ea"/>
                <a:cs typeface="宋体" panose="02010600030101010101" pitchFamily="2" charset="-122"/>
              </a:endParaRPr>
            </a:p>
            <a:p>
              <a:endParaRPr lang="en-US" altLang="zh-CN" sz="1800" dirty="0">
                <a:latin typeface="+mj-ea"/>
                <a:ea typeface="+mj-ea"/>
              </a:endParaRPr>
            </a:p>
          </p:txBody>
        </p:sp>
        <p:sp>
          <p:nvSpPr>
            <p:cNvPr id="97" name="TextBox 47"/>
            <p:cNvSpPr txBox="1"/>
            <p:nvPr/>
          </p:nvSpPr>
          <p:spPr>
            <a:xfrm>
              <a:off x="844893" y="140049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pic>
        <p:nvPicPr>
          <p:cNvPr id="6146" name="Picture 2"/>
          <p:cNvPicPr>
            <a:picLocks noChangeAspect="1" noChangeArrowheads="1"/>
          </p:cNvPicPr>
          <p:nvPr/>
        </p:nvPicPr>
        <p:blipFill>
          <a:blip r:embed="rId4"/>
          <a:srcRect/>
          <a:stretch>
            <a:fillRect/>
          </a:stretch>
        </p:blipFill>
        <p:spPr bwMode="auto">
          <a:xfrm>
            <a:off x="5214942" y="3071816"/>
            <a:ext cx="3663570" cy="1935171"/>
          </a:xfrm>
          <a:prstGeom prst="rect">
            <a:avLst/>
          </a:prstGeom>
          <a:noFill/>
          <a:ln w="9525">
            <a:noFill/>
            <a:miter lim="800000"/>
            <a:headEnd/>
            <a:tailEnd/>
          </a:ln>
          <a:effec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285721" y="928676"/>
            <a:ext cx="4357717" cy="3262973"/>
          </a:xfrm>
          <a:prstGeom prst="rect">
            <a:avLst/>
          </a:prstGeom>
          <a:noFill/>
          <a:ln w="9525">
            <a:noFill/>
            <a:miter lim="800000"/>
            <a:headEnd/>
            <a:tailEnd/>
          </a:ln>
          <a:effectLst/>
        </p:spPr>
      </p:pic>
      <p:grpSp>
        <p:nvGrpSpPr>
          <p:cNvPr id="4" name="组合 3"/>
          <p:cNvGrpSpPr/>
          <p:nvPr/>
        </p:nvGrpSpPr>
        <p:grpSpPr>
          <a:xfrm>
            <a:off x="4636788" y="3571882"/>
            <a:ext cx="4364368" cy="1500198"/>
            <a:chOff x="844893" y="3996830"/>
            <a:chExt cx="4364368" cy="1500198"/>
          </a:xfrm>
        </p:grpSpPr>
        <p:pic>
          <p:nvPicPr>
            <p:cNvPr id="5" name="图片 4" descr="小点1.png"/>
            <p:cNvPicPr>
              <a:picLocks noChangeAspect="1"/>
            </p:cNvPicPr>
            <p:nvPr/>
          </p:nvPicPr>
          <p:blipFill>
            <a:blip r:embed="rId3" cstate="print"/>
            <a:stretch>
              <a:fillRect/>
            </a:stretch>
          </p:blipFill>
          <p:spPr>
            <a:xfrm>
              <a:off x="1290517" y="4971492"/>
              <a:ext cx="151066" cy="148997"/>
            </a:xfrm>
            <a:prstGeom prst="rect">
              <a:avLst/>
            </a:prstGeom>
            <a:effectLst/>
          </p:spPr>
        </p:pic>
        <p:sp>
          <p:nvSpPr>
            <p:cNvPr id="6" name="内容占位符 2"/>
            <p:cNvSpPr txBox="1"/>
            <p:nvPr/>
          </p:nvSpPr>
          <p:spPr>
            <a:xfrm>
              <a:off x="1423080" y="4877602"/>
              <a:ext cx="3786181" cy="3138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800" dirty="0">
                  <a:latin typeface="+mj-ea"/>
                  <a:ea typeface="+mj-ea"/>
                  <a:cs typeface="宋体" panose="02010600030101010101" pitchFamily="2" charset="-122"/>
                </a:rPr>
                <a:t>当文件很小时，存储索引的</a:t>
              </a:r>
              <a:r>
                <a:rPr lang="zh-CN" altLang="en-US" sz="1800" dirty="0">
                  <a:solidFill>
                    <a:srgbClr val="C00000"/>
                  </a:solidFill>
                  <a:latin typeface="+mj-ea"/>
                  <a:ea typeface="+mj-ea"/>
                  <a:cs typeface="宋体" panose="02010600030101010101" pitchFamily="2" charset="-122"/>
                </a:rPr>
                <a:t>开销</a:t>
              </a:r>
              <a:endParaRPr lang="en-US" altLang="zh-CN" sz="1800" dirty="0">
                <a:solidFill>
                  <a:srgbClr val="C00000"/>
                </a:solidFill>
                <a:latin typeface="+mj-ea"/>
                <a:ea typeface="+mj-ea"/>
                <a:cs typeface="宋体" panose="02010600030101010101" pitchFamily="2" charset="-122"/>
              </a:endParaRPr>
            </a:p>
            <a:p>
              <a:pPr marL="0" lvl="1" indent="0">
                <a:lnSpc>
                  <a:spcPct val="90000"/>
                </a:lnSpc>
              </a:pPr>
              <a:endParaRPr kumimoji="0" lang="zh-CN" altLang="en-US" sz="1800" b="1" i="0" u="none" strike="noStrike" kern="1200" cap="none" spc="0" normalizeH="0" baseline="0" noProof="0" dirty="0">
                <a:ln>
                  <a:noFill/>
                </a:ln>
                <a:solidFill>
                  <a:srgbClr val="11576A"/>
                </a:solidFill>
                <a:effectLst/>
                <a:uLnTx/>
                <a:uFillTx/>
                <a:latin typeface="+mj-ea"/>
                <a:ea typeface="+mj-ea"/>
                <a:cs typeface="+mn-cs"/>
              </a:endParaRPr>
            </a:p>
          </p:txBody>
        </p:sp>
        <p:sp>
          <p:nvSpPr>
            <p:cNvPr id="7" name="内容占位符 2"/>
            <p:cNvSpPr txBox="1"/>
            <p:nvPr/>
          </p:nvSpPr>
          <p:spPr>
            <a:xfrm>
              <a:off x="1148274" y="4014408"/>
              <a:ext cx="85725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1800" dirty="0"/>
                <a:t>缺点</a:t>
              </a:r>
              <a:endParaRPr lang="en-US" altLang="zh-CN" sz="1800" dirty="0"/>
            </a:p>
          </p:txBody>
        </p:sp>
        <p:pic>
          <p:nvPicPr>
            <p:cNvPr id="8" name="图片 7" descr="小点1.png"/>
            <p:cNvPicPr>
              <a:picLocks noChangeAspect="1"/>
            </p:cNvPicPr>
            <p:nvPr/>
          </p:nvPicPr>
          <p:blipFill>
            <a:blip r:embed="rId3" cstate="print"/>
            <a:stretch>
              <a:fillRect/>
            </a:stretch>
          </p:blipFill>
          <p:spPr>
            <a:xfrm>
              <a:off x="1290517" y="5242728"/>
              <a:ext cx="151066" cy="148997"/>
            </a:xfrm>
            <a:prstGeom prst="rect">
              <a:avLst/>
            </a:prstGeom>
            <a:effectLst/>
          </p:spPr>
        </p:pic>
        <p:sp>
          <p:nvSpPr>
            <p:cNvPr id="9" name="内容占位符 2"/>
            <p:cNvSpPr txBox="1"/>
            <p:nvPr/>
          </p:nvSpPr>
          <p:spPr>
            <a:xfrm>
              <a:off x="1423080" y="5137952"/>
              <a:ext cx="3390645" cy="35907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buClr>
                  <a:schemeClr val="folHlink"/>
                </a:buClr>
              </a:pPr>
              <a:r>
                <a:rPr lang="zh-CN" altLang="en-US" sz="1800" dirty="0">
                  <a:latin typeface="+mj-ea"/>
                  <a:ea typeface="+mj-ea"/>
                  <a:cs typeface="宋体" panose="02010600030101010101" pitchFamily="2" charset="-122"/>
                </a:rPr>
                <a:t>如何处理大文件</a:t>
              </a:r>
              <a:r>
                <a:rPr lang="en-US" altLang="zh-CN" sz="1800" dirty="0">
                  <a:latin typeface="+mj-ea"/>
                  <a:ea typeface="+mj-ea"/>
                  <a:cs typeface="宋体" panose="02010600030101010101" pitchFamily="2" charset="-122"/>
                </a:rPr>
                <a:t>?</a:t>
              </a:r>
            </a:p>
          </p:txBody>
        </p:sp>
        <p:sp>
          <p:nvSpPr>
            <p:cNvPr id="10" name="TextBox 9"/>
            <p:cNvSpPr txBox="1"/>
            <p:nvPr/>
          </p:nvSpPr>
          <p:spPr>
            <a:xfrm>
              <a:off x="844893" y="399683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11" name="图片 10" descr="小点1.png"/>
            <p:cNvPicPr>
              <a:picLocks noChangeAspect="1"/>
            </p:cNvPicPr>
            <p:nvPr/>
          </p:nvPicPr>
          <p:blipFill>
            <a:blip r:embed="rId3" cstate="print"/>
            <a:stretch>
              <a:fillRect/>
            </a:stretch>
          </p:blipFill>
          <p:spPr>
            <a:xfrm>
              <a:off x="1290517" y="4447910"/>
              <a:ext cx="151066" cy="148997"/>
            </a:xfrm>
            <a:prstGeom prst="rect">
              <a:avLst/>
            </a:prstGeom>
            <a:effectLst/>
          </p:spPr>
        </p:pic>
        <p:sp>
          <p:nvSpPr>
            <p:cNvPr id="12" name="内容占位符 2"/>
            <p:cNvSpPr txBox="1"/>
            <p:nvPr/>
          </p:nvSpPr>
          <p:spPr>
            <a:xfrm>
              <a:off x="1423080" y="4354020"/>
              <a:ext cx="3786181" cy="3138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800" dirty="0"/>
                <a:t>消耗存取时间：访问外存两次</a:t>
              </a:r>
              <a:r>
                <a:rPr lang="en-US" altLang="zh-CN" sz="1800" dirty="0"/>
                <a:t>——</a:t>
              </a:r>
              <a:r>
                <a:rPr lang="zh-CN" altLang="en-US" sz="1800" dirty="0">
                  <a:latin typeface="楷体" panose="02010609060101010101" pitchFamily="49" charset="-122"/>
                  <a:ea typeface="楷体" panose="02010609060101010101" pitchFamily="49" charset="-122"/>
                </a:rPr>
                <a:t>操作之前预先把索引表放入内存</a:t>
              </a:r>
              <a:endParaRPr kumimoji="0" lang="zh-CN" altLang="en-US" sz="1800" b="1" i="0" u="none" strike="noStrike" kern="1200" cap="none" spc="0" normalizeH="0" baseline="0" noProof="0" dirty="0">
                <a:ln>
                  <a:noFill/>
                </a:ln>
                <a:solidFill>
                  <a:srgbClr val="11576A"/>
                </a:solidFill>
                <a:effectLst/>
                <a:uLnTx/>
                <a:uFillTx/>
                <a:latin typeface="楷体" panose="02010609060101010101" pitchFamily="49" charset="-122"/>
                <a:ea typeface="楷体" panose="02010609060101010101" pitchFamily="49" charset="-122"/>
              </a:endParaRPr>
            </a:p>
          </p:txBody>
        </p:sp>
      </p:grpSp>
      <p:sp>
        <p:nvSpPr>
          <p:cNvPr id="15" name="矩形 14"/>
          <p:cNvSpPr/>
          <p:nvPr/>
        </p:nvSpPr>
        <p:spPr>
          <a:xfrm>
            <a:off x="4714876" y="785800"/>
            <a:ext cx="4357718" cy="2834640"/>
          </a:xfrm>
          <a:prstGeom prst="rect">
            <a:avLst/>
          </a:prstGeom>
        </p:spPr>
        <p:txBody>
          <a:bodyPr wrap="square">
            <a:spAutoFit/>
          </a:bodyPr>
          <a:lstStyle/>
          <a:p>
            <a:r>
              <a:rPr lang="zh-CN" altLang="en-US" dirty="0">
                <a:solidFill>
                  <a:srgbClr val="11576A"/>
                </a:solidFill>
                <a:latin typeface="楷体" panose="02010609060101010101" pitchFamily="49" charset="-122"/>
                <a:ea typeface="楷体" panose="02010609060101010101" pitchFamily="49" charset="-122"/>
              </a:rPr>
              <a:t>例如若盘块大小为</a:t>
            </a:r>
            <a:r>
              <a:rPr lang="en-US" altLang="zh-CN" dirty="0">
                <a:solidFill>
                  <a:srgbClr val="11576A"/>
                </a:solidFill>
                <a:latin typeface="楷体" panose="02010609060101010101" pitchFamily="49" charset="-122"/>
                <a:ea typeface="楷体" panose="02010609060101010101" pitchFamily="49" charset="-122"/>
              </a:rPr>
              <a:t>1 KB</a:t>
            </a:r>
            <a:r>
              <a:rPr lang="zh-CN" altLang="en-US" dirty="0">
                <a:solidFill>
                  <a:srgbClr val="11576A"/>
                </a:solidFill>
                <a:latin typeface="楷体" panose="02010609060101010101" pitchFamily="49" charset="-122"/>
                <a:ea typeface="楷体" panose="02010609060101010101" pitchFamily="49" charset="-122"/>
              </a:rPr>
              <a:t>字节， 文件大小为</a:t>
            </a:r>
            <a:r>
              <a:rPr lang="en-US" altLang="zh-CN" dirty="0">
                <a:solidFill>
                  <a:srgbClr val="11576A"/>
                </a:solidFill>
                <a:latin typeface="楷体" panose="02010609060101010101" pitchFamily="49" charset="-122"/>
                <a:ea typeface="楷体" panose="02010609060101010101" pitchFamily="49" charset="-122"/>
              </a:rPr>
              <a:t>1000 KB</a:t>
            </a:r>
            <a:r>
              <a:rPr lang="zh-CN" altLang="en-US" dirty="0">
                <a:solidFill>
                  <a:srgbClr val="11576A"/>
                </a:solidFill>
                <a:latin typeface="楷体" panose="02010609060101010101" pitchFamily="49" charset="-122"/>
                <a:ea typeface="楷体" panose="02010609060101010101" pitchFamily="49" charset="-122"/>
              </a:rPr>
              <a:t>字节， 则相应索引表项要有</a:t>
            </a:r>
            <a:r>
              <a:rPr lang="en-US" altLang="zh-CN" dirty="0">
                <a:solidFill>
                  <a:srgbClr val="11576A"/>
                </a:solidFill>
                <a:latin typeface="楷体" panose="02010609060101010101" pitchFamily="49" charset="-122"/>
                <a:ea typeface="楷体" panose="02010609060101010101" pitchFamily="49" charset="-122"/>
              </a:rPr>
              <a:t>1000</a:t>
            </a:r>
            <a:r>
              <a:rPr lang="zh-CN" altLang="en-US" dirty="0">
                <a:solidFill>
                  <a:srgbClr val="11576A"/>
                </a:solidFill>
                <a:latin typeface="楷体" panose="02010609060101010101" pitchFamily="49" charset="-122"/>
                <a:ea typeface="楷体" panose="02010609060101010101" pitchFamily="49" charset="-122"/>
              </a:rPr>
              <a:t>项。设盘块号用</a:t>
            </a:r>
            <a:r>
              <a:rPr lang="en-US" altLang="zh-CN" dirty="0">
                <a:solidFill>
                  <a:srgbClr val="11576A"/>
                </a:solidFill>
                <a:latin typeface="楷体" panose="02010609060101010101" pitchFamily="49" charset="-122"/>
                <a:ea typeface="楷体" panose="02010609060101010101" pitchFamily="49" charset="-122"/>
              </a:rPr>
              <a:t>4</a:t>
            </a:r>
            <a:r>
              <a:rPr lang="zh-CN" altLang="en-US" dirty="0">
                <a:solidFill>
                  <a:srgbClr val="11576A"/>
                </a:solidFill>
                <a:latin typeface="楷体" panose="02010609060101010101" pitchFamily="49" charset="-122"/>
                <a:ea typeface="楷体" panose="02010609060101010101" pitchFamily="49" charset="-122"/>
              </a:rPr>
              <a:t>个字节表示，索引表至少占用</a:t>
            </a:r>
            <a:r>
              <a:rPr lang="en-US" altLang="zh-CN" dirty="0">
                <a:solidFill>
                  <a:srgbClr val="11576A"/>
                </a:solidFill>
                <a:latin typeface="楷体" panose="02010609060101010101" pitchFamily="49" charset="-122"/>
                <a:ea typeface="楷体" panose="02010609060101010101" pitchFamily="49" charset="-122"/>
              </a:rPr>
              <a:t>4000</a:t>
            </a:r>
            <a:r>
              <a:rPr lang="zh-CN" altLang="en-US" dirty="0">
                <a:solidFill>
                  <a:srgbClr val="11576A"/>
                </a:solidFill>
                <a:latin typeface="楷体" panose="02010609060101010101" pitchFamily="49" charset="-122"/>
                <a:ea typeface="楷体" panose="02010609060101010101" pitchFamily="49" charset="-122"/>
              </a:rPr>
              <a:t>字节</a:t>
            </a:r>
            <a:r>
              <a:rPr lang="en-US" altLang="zh-CN" dirty="0">
                <a:solidFill>
                  <a:srgbClr val="11576A"/>
                </a:solidFill>
                <a:latin typeface="楷体" panose="02010609060101010101" pitchFamily="49" charset="-122"/>
                <a:ea typeface="楷体" panose="02010609060101010101" pitchFamily="49" charset="-122"/>
              </a:rPr>
              <a:t>(</a:t>
            </a:r>
            <a:r>
              <a:rPr lang="zh-CN" altLang="en-US" dirty="0">
                <a:solidFill>
                  <a:srgbClr val="11576A"/>
                </a:solidFill>
                <a:latin typeface="楷体" panose="02010609060101010101" pitchFamily="49" charset="-122"/>
                <a:ea typeface="楷体" panose="02010609060101010101" pitchFamily="49" charset="-122"/>
              </a:rPr>
              <a:t>约</a:t>
            </a:r>
            <a:r>
              <a:rPr lang="en-US" altLang="zh-CN" dirty="0">
                <a:solidFill>
                  <a:srgbClr val="11576A"/>
                </a:solidFill>
                <a:latin typeface="楷体" panose="02010609060101010101" pitchFamily="49" charset="-122"/>
                <a:ea typeface="楷体" panose="02010609060101010101" pitchFamily="49" charset="-122"/>
              </a:rPr>
              <a:t>4 KB</a:t>
            </a:r>
            <a:r>
              <a:rPr lang="zh-CN" altLang="en-US" dirty="0">
                <a:solidFill>
                  <a:srgbClr val="11576A"/>
                </a:solidFill>
                <a:latin typeface="楷体" panose="02010609060101010101" pitchFamily="49" charset="-122"/>
                <a:ea typeface="楷体" panose="02010609060101010101" pitchFamily="49" charset="-122"/>
              </a:rPr>
              <a:t>字节</a:t>
            </a:r>
            <a:r>
              <a:rPr lang="en-US" altLang="zh-CN" dirty="0">
                <a:solidFill>
                  <a:srgbClr val="11576A"/>
                </a:solidFill>
                <a:latin typeface="楷体" panose="02010609060101010101" pitchFamily="49" charset="-122"/>
                <a:ea typeface="楷体" panose="02010609060101010101" pitchFamily="49" charset="-122"/>
              </a:rPr>
              <a:t>)</a:t>
            </a:r>
            <a:r>
              <a:rPr lang="zh-CN" altLang="en-US" dirty="0">
                <a:solidFill>
                  <a:srgbClr val="11576A"/>
                </a:solidFill>
                <a:latin typeface="楷体" panose="02010609060101010101" pitchFamily="49" charset="-122"/>
                <a:ea typeface="楷体" panose="02010609060101010101" pitchFamily="49" charset="-122"/>
              </a:rPr>
              <a:t>， 很显然在这种情况下把索引表整个放在内存是不合适的， 而且文件在使用过程中很可能需要扩充空间。 </a:t>
            </a:r>
          </a:p>
          <a:p>
            <a:r>
              <a:rPr lang="zh-CN" altLang="en-US" dirty="0">
                <a:solidFill>
                  <a:srgbClr val="11576A"/>
                </a:solidFill>
                <a:latin typeface="楷体" panose="02010609060101010101" pitchFamily="49" charset="-122"/>
                <a:ea typeface="楷体" panose="02010609060101010101" pitchFamily="49" charset="-122"/>
              </a:rPr>
              <a:t>此外，如果索引表的大小超过了一个物理块，那么我们必须象处理其他文件的存放方式那样决定索引表的物理存放方式</a:t>
            </a:r>
          </a:p>
        </p:txBody>
      </p:sp>
      <p:sp>
        <p:nvSpPr>
          <p:cNvPr id="16"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索引结构</a:t>
            </a:r>
            <a:r>
              <a:rPr lang="en-US" altLang="zh-CN" dirty="0"/>
              <a:t>(</a:t>
            </a: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索引分配</a:t>
            </a:r>
            <a:r>
              <a:rPr lang="en-US" altLang="zh-CN" dirty="0"/>
              <a:t>)</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索引结构</a:t>
            </a:r>
            <a:r>
              <a:rPr lang="en-US" altLang="zh-CN" dirty="0"/>
              <a:t>——</a:t>
            </a: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大文件的索引分配</a:t>
            </a:r>
          </a:p>
        </p:txBody>
      </p:sp>
      <p:grpSp>
        <p:nvGrpSpPr>
          <p:cNvPr id="2" name="组合 1"/>
          <p:cNvGrpSpPr/>
          <p:nvPr/>
        </p:nvGrpSpPr>
        <p:grpSpPr>
          <a:xfrm>
            <a:off x="844893" y="714362"/>
            <a:ext cx="6988079" cy="1811804"/>
            <a:chOff x="844893" y="831954"/>
            <a:chExt cx="6988079" cy="1811804"/>
          </a:xfrm>
        </p:grpSpPr>
        <p:sp>
          <p:nvSpPr>
            <p:cNvPr id="10" name="内容占位符 2"/>
            <p:cNvSpPr txBox="1"/>
            <p:nvPr/>
          </p:nvSpPr>
          <p:spPr>
            <a:xfrm>
              <a:off x="1142976" y="831954"/>
              <a:ext cx="314327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defRPr/>
              </a:pPr>
              <a:r>
                <a:rPr lang="zh-CN" altLang="en-US" dirty="0"/>
                <a:t>链式索引块</a:t>
              </a:r>
              <a:r>
                <a:rPr lang="en-US" altLang="zh-CN" dirty="0"/>
                <a:t> (IB+IB+…)</a:t>
              </a:r>
              <a:endParaRPr lang="zh-CN" altLang="en-US" dirty="0"/>
            </a:p>
          </p:txBody>
        </p:sp>
        <p:sp>
          <p:nvSpPr>
            <p:cNvPr id="11" name="TextBox 10"/>
            <p:cNvSpPr txBox="1"/>
            <p:nvPr/>
          </p:nvSpPr>
          <p:spPr>
            <a:xfrm>
              <a:off x="844893" y="83195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14" name="矩形 13"/>
            <p:cNvSpPr/>
            <p:nvPr/>
          </p:nvSpPr>
          <p:spPr>
            <a:xfrm>
              <a:off x="1383814" y="1342928"/>
              <a:ext cx="288000" cy="396000"/>
            </a:xfrm>
            <a:prstGeom prst="rect">
              <a:avLst/>
            </a:prstGeom>
            <a:gradFill>
              <a:gsLst>
                <a:gs pos="0">
                  <a:srgbClr val="FFFF00"/>
                </a:gs>
                <a:gs pos="100000">
                  <a:srgbClr val="FF99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b="1" dirty="0">
                  <a:solidFill>
                    <a:srgbClr val="11576A"/>
                  </a:solidFill>
                  <a:latin typeface="+mj-ea"/>
                  <a:ea typeface="+mj-ea"/>
                </a:rPr>
                <a:t>I</a:t>
              </a:r>
              <a:endParaRPr lang="zh-CN" altLang="en-US" b="1" dirty="0">
                <a:solidFill>
                  <a:srgbClr val="11576A"/>
                </a:solidFill>
                <a:latin typeface="+mj-ea"/>
                <a:ea typeface="+mj-ea"/>
              </a:endParaRPr>
            </a:p>
          </p:txBody>
        </p:sp>
        <p:sp>
          <p:nvSpPr>
            <p:cNvPr id="15" name="矩形 14"/>
            <p:cNvSpPr/>
            <p:nvPr/>
          </p:nvSpPr>
          <p:spPr>
            <a:xfrm>
              <a:off x="1804976" y="1342928"/>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矩形 15"/>
            <p:cNvSpPr/>
            <p:nvPr/>
          </p:nvSpPr>
          <p:spPr>
            <a:xfrm>
              <a:off x="3544054" y="1342928"/>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p:cNvSpPr/>
            <p:nvPr/>
          </p:nvSpPr>
          <p:spPr>
            <a:xfrm>
              <a:off x="3991182" y="1342928"/>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8" name="矩形 17"/>
            <p:cNvSpPr/>
            <p:nvPr/>
          </p:nvSpPr>
          <p:spPr>
            <a:xfrm>
              <a:off x="4419036" y="1342928"/>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矩形 18"/>
            <p:cNvSpPr/>
            <p:nvPr/>
          </p:nvSpPr>
          <p:spPr>
            <a:xfrm>
              <a:off x="4872856" y="1342928"/>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矩形 19"/>
            <p:cNvSpPr/>
            <p:nvPr/>
          </p:nvSpPr>
          <p:spPr>
            <a:xfrm>
              <a:off x="5315790" y="1342928"/>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矩形 20"/>
            <p:cNvSpPr/>
            <p:nvPr/>
          </p:nvSpPr>
          <p:spPr>
            <a:xfrm>
              <a:off x="5754530" y="1342928"/>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矩形 21"/>
            <p:cNvSpPr/>
            <p:nvPr/>
          </p:nvSpPr>
          <p:spPr>
            <a:xfrm>
              <a:off x="2669824" y="1342928"/>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矩形 23"/>
            <p:cNvSpPr/>
            <p:nvPr/>
          </p:nvSpPr>
          <p:spPr>
            <a:xfrm>
              <a:off x="2236632" y="1342928"/>
              <a:ext cx="288000" cy="396000"/>
            </a:xfrm>
            <a:prstGeom prst="rect">
              <a:avLst/>
            </a:prstGeom>
            <a:gradFill>
              <a:gsLst>
                <a:gs pos="100000">
                  <a:srgbClr val="663300"/>
                </a:gs>
                <a:gs pos="0">
                  <a:srgbClr val="CC66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solidFill>
                  <a:srgbClr val="11576A"/>
                </a:solidFill>
                <a:latin typeface="+mj-ea"/>
                <a:ea typeface="+mj-ea"/>
              </a:endParaRPr>
            </a:p>
          </p:txBody>
        </p:sp>
        <p:sp>
          <p:nvSpPr>
            <p:cNvPr id="26" name="内容占位符 2"/>
            <p:cNvSpPr txBox="1"/>
            <p:nvPr/>
          </p:nvSpPr>
          <p:spPr>
            <a:xfrm>
              <a:off x="2165768" y="1382278"/>
              <a:ext cx="576064" cy="36004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en-US" altLang="zh-CN" sz="1800" dirty="0">
                  <a:solidFill>
                    <a:schemeClr val="bg1"/>
                  </a:solidFill>
                </a:rPr>
                <a:t>IB</a:t>
              </a:r>
            </a:p>
          </p:txBody>
        </p:sp>
        <p:sp>
          <p:nvSpPr>
            <p:cNvPr id="27" name="矩形 26"/>
            <p:cNvSpPr/>
            <p:nvPr/>
          </p:nvSpPr>
          <p:spPr>
            <a:xfrm>
              <a:off x="3101872" y="1342928"/>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矩形 27"/>
            <p:cNvSpPr/>
            <p:nvPr/>
          </p:nvSpPr>
          <p:spPr>
            <a:xfrm>
              <a:off x="7544972" y="1342928"/>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矩形 28"/>
            <p:cNvSpPr/>
            <p:nvPr/>
          </p:nvSpPr>
          <p:spPr>
            <a:xfrm>
              <a:off x="7102790" y="1342928"/>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矩形 30"/>
            <p:cNvSpPr/>
            <p:nvPr/>
          </p:nvSpPr>
          <p:spPr>
            <a:xfrm>
              <a:off x="6218092" y="1342928"/>
              <a:ext cx="288000" cy="396000"/>
            </a:xfrm>
            <a:prstGeom prst="rect">
              <a:avLst/>
            </a:prstGeom>
            <a:gradFill>
              <a:gsLst>
                <a:gs pos="100000">
                  <a:srgbClr val="663300"/>
                </a:gs>
                <a:gs pos="0">
                  <a:srgbClr val="CC66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solidFill>
                  <a:srgbClr val="11576A"/>
                </a:solidFill>
                <a:latin typeface="+mj-ea"/>
                <a:ea typeface="+mj-ea"/>
              </a:endParaRPr>
            </a:p>
          </p:txBody>
        </p:sp>
        <p:sp>
          <p:nvSpPr>
            <p:cNvPr id="32" name="内容占位符 2"/>
            <p:cNvSpPr txBox="1"/>
            <p:nvPr/>
          </p:nvSpPr>
          <p:spPr>
            <a:xfrm>
              <a:off x="6147228" y="1382278"/>
              <a:ext cx="576064" cy="36004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en-US" altLang="zh-CN" sz="1800" dirty="0">
                  <a:solidFill>
                    <a:schemeClr val="bg1"/>
                  </a:solidFill>
                </a:rPr>
                <a:t>IB</a:t>
              </a:r>
            </a:p>
          </p:txBody>
        </p:sp>
        <p:sp>
          <p:nvSpPr>
            <p:cNvPr id="34" name="矩形 33"/>
            <p:cNvSpPr/>
            <p:nvPr/>
          </p:nvSpPr>
          <p:spPr>
            <a:xfrm>
              <a:off x="6660650" y="1342928"/>
              <a:ext cx="288000" cy="396000"/>
            </a:xfrm>
            <a:prstGeom prst="rect">
              <a:avLst/>
            </a:prstGeom>
            <a:gradFill>
              <a:gsLst>
                <a:gs pos="100000">
                  <a:srgbClr val="663300"/>
                </a:gs>
                <a:gs pos="0">
                  <a:srgbClr val="CC66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solidFill>
                  <a:srgbClr val="11576A"/>
                </a:solidFill>
                <a:latin typeface="+mj-ea"/>
                <a:ea typeface="+mj-ea"/>
              </a:endParaRPr>
            </a:p>
          </p:txBody>
        </p:sp>
        <p:sp>
          <p:nvSpPr>
            <p:cNvPr id="35" name="内容占位符 2"/>
            <p:cNvSpPr txBox="1"/>
            <p:nvPr/>
          </p:nvSpPr>
          <p:spPr>
            <a:xfrm>
              <a:off x="6589786" y="1382278"/>
              <a:ext cx="576064" cy="36004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en-US" altLang="zh-CN" sz="1800" dirty="0">
                  <a:solidFill>
                    <a:schemeClr val="bg1"/>
                  </a:solidFill>
                </a:rPr>
                <a:t>IB</a:t>
              </a:r>
            </a:p>
          </p:txBody>
        </p:sp>
        <p:sp>
          <p:nvSpPr>
            <p:cNvPr id="36" name="任意多边形 35"/>
            <p:cNvSpPr/>
            <p:nvPr/>
          </p:nvSpPr>
          <p:spPr>
            <a:xfrm>
              <a:off x="1481959" y="1744717"/>
              <a:ext cx="872359" cy="250969"/>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66003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任意多边形 36"/>
            <p:cNvSpPr/>
            <p:nvPr/>
          </p:nvSpPr>
          <p:spPr>
            <a:xfrm>
              <a:off x="6372201" y="1744717"/>
              <a:ext cx="360040" cy="250969"/>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66003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任意多边形 37"/>
            <p:cNvSpPr/>
            <p:nvPr/>
          </p:nvSpPr>
          <p:spPr>
            <a:xfrm>
              <a:off x="2360772" y="1744717"/>
              <a:ext cx="4032448" cy="899041"/>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66003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任意多边形 38"/>
            <p:cNvSpPr/>
            <p:nvPr/>
          </p:nvSpPr>
          <p:spPr>
            <a:xfrm>
              <a:off x="2411760" y="1744717"/>
              <a:ext cx="872359" cy="106953"/>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任意多边形 39"/>
            <p:cNvSpPr/>
            <p:nvPr/>
          </p:nvSpPr>
          <p:spPr>
            <a:xfrm>
              <a:off x="2411760" y="1723697"/>
              <a:ext cx="1304407" cy="271989"/>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任意多边形 40"/>
            <p:cNvSpPr/>
            <p:nvPr/>
          </p:nvSpPr>
          <p:spPr>
            <a:xfrm>
              <a:off x="5035578" y="1723697"/>
              <a:ext cx="1304407" cy="416005"/>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任意多边形 46"/>
            <p:cNvSpPr/>
            <p:nvPr/>
          </p:nvSpPr>
          <p:spPr>
            <a:xfrm>
              <a:off x="5857635" y="1723697"/>
              <a:ext cx="432048" cy="127973"/>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8" name="任意多边形 47"/>
            <p:cNvSpPr/>
            <p:nvPr/>
          </p:nvSpPr>
          <p:spPr>
            <a:xfrm>
              <a:off x="6804248" y="1723697"/>
              <a:ext cx="432048" cy="127973"/>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 name="任意多边形 48"/>
            <p:cNvSpPr/>
            <p:nvPr/>
          </p:nvSpPr>
          <p:spPr>
            <a:xfrm>
              <a:off x="6762209" y="1723697"/>
              <a:ext cx="906135" cy="416005"/>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 name="组合 2"/>
          <p:cNvGrpSpPr/>
          <p:nvPr/>
        </p:nvGrpSpPr>
        <p:grpSpPr>
          <a:xfrm>
            <a:off x="844893" y="2555666"/>
            <a:ext cx="6988079" cy="1944910"/>
            <a:chOff x="844893" y="2859088"/>
            <a:chExt cx="6988079" cy="1944910"/>
          </a:xfrm>
        </p:grpSpPr>
        <p:sp>
          <p:nvSpPr>
            <p:cNvPr id="12" name="内容占位符 2"/>
            <p:cNvSpPr txBox="1"/>
            <p:nvPr/>
          </p:nvSpPr>
          <p:spPr>
            <a:xfrm>
              <a:off x="1142976" y="2859088"/>
              <a:ext cx="314327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defRPr/>
              </a:pPr>
              <a:r>
                <a:rPr lang="zh-CN" altLang="en-US" dirty="0"/>
                <a:t>多级索引块</a:t>
              </a:r>
              <a:r>
                <a:rPr lang="en-US" altLang="zh-CN" dirty="0"/>
                <a:t>(IB*IB </a:t>
              </a:r>
              <a:r>
                <a:rPr lang="zh-CN" altLang="en-US" dirty="0"/>
                <a:t>*</a:t>
              </a:r>
              <a:r>
                <a:rPr lang="en-US" altLang="zh-CN" dirty="0"/>
                <a:t>…)</a:t>
              </a:r>
              <a:endParaRPr lang="zh-CN" altLang="en-US" dirty="0"/>
            </a:p>
          </p:txBody>
        </p:sp>
        <p:sp>
          <p:nvSpPr>
            <p:cNvPr id="13" name="TextBox 12"/>
            <p:cNvSpPr txBox="1"/>
            <p:nvPr/>
          </p:nvSpPr>
          <p:spPr>
            <a:xfrm>
              <a:off x="844893" y="285908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50" name="矩形 49"/>
            <p:cNvSpPr/>
            <p:nvPr/>
          </p:nvSpPr>
          <p:spPr>
            <a:xfrm>
              <a:off x="1383814" y="3339270"/>
              <a:ext cx="288000" cy="396000"/>
            </a:xfrm>
            <a:prstGeom prst="rect">
              <a:avLst/>
            </a:prstGeom>
            <a:gradFill>
              <a:gsLst>
                <a:gs pos="0">
                  <a:srgbClr val="FFFF00"/>
                </a:gs>
                <a:gs pos="100000">
                  <a:srgbClr val="FF99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b="1" dirty="0">
                  <a:solidFill>
                    <a:srgbClr val="11576A"/>
                  </a:solidFill>
                  <a:latin typeface="+mj-ea"/>
                  <a:ea typeface="+mj-ea"/>
                </a:rPr>
                <a:t>I</a:t>
              </a:r>
              <a:endParaRPr lang="zh-CN" altLang="en-US" b="1" dirty="0">
                <a:solidFill>
                  <a:srgbClr val="11576A"/>
                </a:solidFill>
                <a:latin typeface="+mj-ea"/>
                <a:ea typeface="+mj-ea"/>
              </a:endParaRPr>
            </a:p>
          </p:txBody>
        </p:sp>
        <p:sp>
          <p:nvSpPr>
            <p:cNvPr id="51" name="矩形 50"/>
            <p:cNvSpPr/>
            <p:nvPr/>
          </p:nvSpPr>
          <p:spPr>
            <a:xfrm>
              <a:off x="1804976" y="3339270"/>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2" name="矩形 51"/>
            <p:cNvSpPr/>
            <p:nvPr/>
          </p:nvSpPr>
          <p:spPr>
            <a:xfrm>
              <a:off x="3544054" y="3339270"/>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3" name="矩形 52"/>
            <p:cNvSpPr/>
            <p:nvPr/>
          </p:nvSpPr>
          <p:spPr>
            <a:xfrm>
              <a:off x="3991182" y="3339270"/>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4" name="矩形 53"/>
            <p:cNvSpPr/>
            <p:nvPr/>
          </p:nvSpPr>
          <p:spPr>
            <a:xfrm>
              <a:off x="4872856" y="3339270"/>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 name="矩形 54"/>
            <p:cNvSpPr/>
            <p:nvPr/>
          </p:nvSpPr>
          <p:spPr>
            <a:xfrm>
              <a:off x="5315790" y="3339270"/>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 name="矩形 55"/>
            <p:cNvSpPr/>
            <p:nvPr/>
          </p:nvSpPr>
          <p:spPr>
            <a:xfrm>
              <a:off x="5754530" y="3339270"/>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7" name="矩形 56"/>
            <p:cNvSpPr/>
            <p:nvPr/>
          </p:nvSpPr>
          <p:spPr>
            <a:xfrm>
              <a:off x="2669824" y="3339270"/>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9" name="矩形 58"/>
            <p:cNvSpPr/>
            <p:nvPr/>
          </p:nvSpPr>
          <p:spPr>
            <a:xfrm>
              <a:off x="2236632" y="3339270"/>
              <a:ext cx="288000" cy="396000"/>
            </a:xfrm>
            <a:prstGeom prst="rect">
              <a:avLst/>
            </a:prstGeom>
            <a:gradFill>
              <a:gsLst>
                <a:gs pos="100000">
                  <a:srgbClr val="663300"/>
                </a:gs>
                <a:gs pos="0">
                  <a:srgbClr val="CC66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solidFill>
                  <a:srgbClr val="11576A"/>
                </a:solidFill>
                <a:latin typeface="+mj-ea"/>
                <a:ea typeface="+mj-ea"/>
              </a:endParaRPr>
            </a:p>
          </p:txBody>
        </p:sp>
        <p:sp>
          <p:nvSpPr>
            <p:cNvPr id="60" name="内容占位符 2"/>
            <p:cNvSpPr txBox="1"/>
            <p:nvPr/>
          </p:nvSpPr>
          <p:spPr>
            <a:xfrm>
              <a:off x="2165768" y="3378620"/>
              <a:ext cx="576064" cy="36004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en-US" altLang="zh-CN" sz="1800" dirty="0">
                  <a:solidFill>
                    <a:schemeClr val="bg1"/>
                  </a:solidFill>
                </a:rPr>
                <a:t>IB</a:t>
              </a:r>
            </a:p>
          </p:txBody>
        </p:sp>
        <p:sp>
          <p:nvSpPr>
            <p:cNvPr id="61" name="矩形 60"/>
            <p:cNvSpPr/>
            <p:nvPr/>
          </p:nvSpPr>
          <p:spPr>
            <a:xfrm>
              <a:off x="3101872" y="3339270"/>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2" name="矩形 61"/>
            <p:cNvSpPr/>
            <p:nvPr/>
          </p:nvSpPr>
          <p:spPr>
            <a:xfrm>
              <a:off x="7544972" y="3339270"/>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 name="矩形 62"/>
            <p:cNvSpPr/>
            <p:nvPr/>
          </p:nvSpPr>
          <p:spPr>
            <a:xfrm>
              <a:off x="7102790" y="3339270"/>
              <a:ext cx="288000" cy="396000"/>
            </a:xfrm>
            <a:prstGeom prst="rect">
              <a:avLst/>
            </a:prstGeom>
            <a:gradFill>
              <a:gsLst>
                <a:gs pos="100000">
                  <a:srgbClr val="005072"/>
                </a:gs>
                <a:gs pos="0">
                  <a:srgbClr val="0093DD"/>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5" name="矩形 64"/>
            <p:cNvSpPr/>
            <p:nvPr/>
          </p:nvSpPr>
          <p:spPr>
            <a:xfrm>
              <a:off x="6218092" y="3339270"/>
              <a:ext cx="288000" cy="396000"/>
            </a:xfrm>
            <a:prstGeom prst="rect">
              <a:avLst/>
            </a:prstGeom>
            <a:gradFill>
              <a:gsLst>
                <a:gs pos="100000">
                  <a:srgbClr val="663300"/>
                </a:gs>
                <a:gs pos="0">
                  <a:srgbClr val="CC66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solidFill>
                  <a:srgbClr val="11576A"/>
                </a:solidFill>
                <a:latin typeface="+mj-ea"/>
                <a:ea typeface="+mj-ea"/>
              </a:endParaRPr>
            </a:p>
          </p:txBody>
        </p:sp>
        <p:sp>
          <p:nvSpPr>
            <p:cNvPr id="66" name="内容占位符 2"/>
            <p:cNvSpPr txBox="1"/>
            <p:nvPr/>
          </p:nvSpPr>
          <p:spPr>
            <a:xfrm>
              <a:off x="6147228" y="3378620"/>
              <a:ext cx="576064" cy="36004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en-US" altLang="zh-CN" sz="1800" dirty="0">
                  <a:solidFill>
                    <a:schemeClr val="bg1"/>
                  </a:solidFill>
                </a:rPr>
                <a:t>IB</a:t>
              </a:r>
            </a:p>
          </p:txBody>
        </p:sp>
        <p:sp>
          <p:nvSpPr>
            <p:cNvPr id="68" name="矩形 67"/>
            <p:cNvSpPr/>
            <p:nvPr/>
          </p:nvSpPr>
          <p:spPr>
            <a:xfrm>
              <a:off x="6660650" y="3339270"/>
              <a:ext cx="288000" cy="396000"/>
            </a:xfrm>
            <a:prstGeom prst="rect">
              <a:avLst/>
            </a:prstGeom>
            <a:gradFill>
              <a:gsLst>
                <a:gs pos="100000">
                  <a:srgbClr val="663300"/>
                </a:gs>
                <a:gs pos="0">
                  <a:srgbClr val="CC66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solidFill>
                  <a:srgbClr val="11576A"/>
                </a:solidFill>
                <a:latin typeface="+mj-ea"/>
                <a:ea typeface="+mj-ea"/>
              </a:endParaRPr>
            </a:p>
          </p:txBody>
        </p:sp>
        <p:sp>
          <p:nvSpPr>
            <p:cNvPr id="69" name="内容占位符 2"/>
            <p:cNvSpPr txBox="1"/>
            <p:nvPr/>
          </p:nvSpPr>
          <p:spPr>
            <a:xfrm>
              <a:off x="6589786" y="3378620"/>
              <a:ext cx="576064" cy="36004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en-US" altLang="zh-CN" sz="1800" dirty="0">
                  <a:solidFill>
                    <a:schemeClr val="bg1"/>
                  </a:solidFill>
                </a:rPr>
                <a:t>IB</a:t>
              </a:r>
            </a:p>
          </p:txBody>
        </p:sp>
        <p:sp>
          <p:nvSpPr>
            <p:cNvPr id="71" name="矩形 70"/>
            <p:cNvSpPr/>
            <p:nvPr/>
          </p:nvSpPr>
          <p:spPr>
            <a:xfrm>
              <a:off x="4426840" y="3339270"/>
              <a:ext cx="288000" cy="396000"/>
            </a:xfrm>
            <a:prstGeom prst="rect">
              <a:avLst/>
            </a:prstGeom>
            <a:gradFill>
              <a:gsLst>
                <a:gs pos="100000">
                  <a:srgbClr val="663300"/>
                </a:gs>
                <a:gs pos="0">
                  <a:srgbClr val="CC66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solidFill>
                  <a:srgbClr val="11576A"/>
                </a:solidFill>
                <a:latin typeface="+mj-ea"/>
                <a:ea typeface="+mj-ea"/>
              </a:endParaRPr>
            </a:p>
          </p:txBody>
        </p:sp>
        <p:sp>
          <p:nvSpPr>
            <p:cNvPr id="72" name="内容占位符 2"/>
            <p:cNvSpPr txBox="1"/>
            <p:nvPr/>
          </p:nvSpPr>
          <p:spPr>
            <a:xfrm>
              <a:off x="4355976" y="3378620"/>
              <a:ext cx="576064" cy="36004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en-US" altLang="zh-CN" sz="1800" dirty="0">
                  <a:solidFill>
                    <a:schemeClr val="bg1"/>
                  </a:solidFill>
                </a:rPr>
                <a:t>IB</a:t>
              </a:r>
            </a:p>
          </p:txBody>
        </p:sp>
        <p:sp>
          <p:nvSpPr>
            <p:cNvPr id="73" name="任意多边形 72"/>
            <p:cNvSpPr/>
            <p:nvPr/>
          </p:nvSpPr>
          <p:spPr>
            <a:xfrm>
              <a:off x="1481959" y="3734389"/>
              <a:ext cx="872359" cy="277522"/>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66003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任意多边形 73"/>
            <p:cNvSpPr/>
            <p:nvPr/>
          </p:nvSpPr>
          <p:spPr>
            <a:xfrm>
              <a:off x="2390740" y="3734388"/>
              <a:ext cx="2232248" cy="565554"/>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66003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5" name="任意多边形 74"/>
            <p:cNvSpPr/>
            <p:nvPr/>
          </p:nvSpPr>
          <p:spPr>
            <a:xfrm>
              <a:off x="2339752" y="3734388"/>
              <a:ext cx="4104456" cy="853586"/>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66003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6" name="任意多边形 75"/>
            <p:cNvSpPr/>
            <p:nvPr/>
          </p:nvSpPr>
          <p:spPr>
            <a:xfrm>
              <a:off x="2339752" y="3734388"/>
              <a:ext cx="4485516" cy="1069610"/>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66003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 name="任意多边形 76"/>
            <p:cNvSpPr/>
            <p:nvPr/>
          </p:nvSpPr>
          <p:spPr>
            <a:xfrm>
              <a:off x="6835778" y="3765918"/>
              <a:ext cx="432048" cy="199981"/>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8" name="任意多边形 77"/>
            <p:cNvSpPr/>
            <p:nvPr/>
          </p:nvSpPr>
          <p:spPr>
            <a:xfrm>
              <a:off x="6793739" y="3765918"/>
              <a:ext cx="874605" cy="416005"/>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 name="任意多边形 78"/>
            <p:cNvSpPr/>
            <p:nvPr/>
          </p:nvSpPr>
          <p:spPr>
            <a:xfrm>
              <a:off x="4932040" y="3744899"/>
              <a:ext cx="1407945" cy="339020"/>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 name="任意多边形 79"/>
            <p:cNvSpPr/>
            <p:nvPr/>
          </p:nvSpPr>
          <p:spPr>
            <a:xfrm>
              <a:off x="5857635" y="3744899"/>
              <a:ext cx="432048" cy="122996"/>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1" name="任意多边形 80"/>
            <p:cNvSpPr/>
            <p:nvPr/>
          </p:nvSpPr>
          <p:spPr>
            <a:xfrm>
              <a:off x="3635897" y="3744899"/>
              <a:ext cx="864096" cy="267011"/>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 name="任意多边形 81"/>
            <p:cNvSpPr/>
            <p:nvPr/>
          </p:nvSpPr>
          <p:spPr>
            <a:xfrm>
              <a:off x="3203848" y="3744899"/>
              <a:ext cx="1296144" cy="411027"/>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31C4496-B0A7-76F4-E7BE-6A4AA955D7D9}"/>
              </a:ext>
            </a:extLst>
          </p:cNvPr>
          <p:cNvPicPr>
            <a:picLocks noChangeAspect="1"/>
          </p:cNvPicPr>
          <p:nvPr/>
        </p:nvPicPr>
        <p:blipFill>
          <a:blip r:embed="rId2"/>
          <a:stretch>
            <a:fillRect/>
          </a:stretch>
        </p:blipFill>
        <p:spPr>
          <a:xfrm>
            <a:off x="971600" y="373189"/>
            <a:ext cx="7704856" cy="4770311"/>
          </a:xfrm>
          <a:prstGeom prst="rect">
            <a:avLst/>
          </a:prstGeom>
        </p:spPr>
      </p:pic>
    </p:spTree>
    <p:extLst>
      <p:ext uri="{BB962C8B-B14F-4D97-AF65-F5344CB8AC3E}">
        <p14:creationId xmlns:p14="http://schemas.microsoft.com/office/powerpoint/2010/main" val="3604021021"/>
      </p:ext>
    </p:extLst>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CAA0DF5-47B7-E749-E683-D0C42DA36B2F}"/>
              </a:ext>
            </a:extLst>
          </p:cNvPr>
          <p:cNvSpPr txBox="1"/>
          <p:nvPr/>
        </p:nvSpPr>
        <p:spPr>
          <a:xfrm>
            <a:off x="827584" y="411510"/>
            <a:ext cx="4572000" cy="369332"/>
          </a:xfrm>
          <a:prstGeom prst="rect">
            <a:avLst/>
          </a:prstGeom>
          <a:noFill/>
        </p:spPr>
        <p:txBody>
          <a:bodyPr wrap="square">
            <a:spAutoFit/>
          </a:bodyPr>
          <a:lstStyle/>
          <a:p>
            <a:r>
              <a:rPr lang="zh-CN" altLang="en-US" b="1" dirty="0"/>
              <a:t>以</a:t>
            </a:r>
            <a:r>
              <a:rPr lang="en-US" altLang="zh-CN" b="1" dirty="0"/>
              <a:t>UNIX</a:t>
            </a:r>
            <a:r>
              <a:rPr lang="zh-CN" altLang="en-US" b="1" dirty="0"/>
              <a:t>文件系统的</a:t>
            </a:r>
            <a:r>
              <a:rPr lang="en-US" altLang="zh-CN" b="1" dirty="0"/>
              <a:t>UFS</a:t>
            </a:r>
            <a:endParaRPr lang="zh-CN" altLang="en-US" b="1" dirty="0"/>
          </a:p>
        </p:txBody>
      </p:sp>
      <p:pic>
        <p:nvPicPr>
          <p:cNvPr id="5" name="图片 4">
            <a:extLst>
              <a:ext uri="{FF2B5EF4-FFF2-40B4-BE49-F238E27FC236}">
                <a16:creationId xmlns:a16="http://schemas.microsoft.com/office/drawing/2014/main" id="{B7C2F7ED-2BB8-578A-395C-001B2D951875}"/>
              </a:ext>
            </a:extLst>
          </p:cNvPr>
          <p:cNvPicPr>
            <a:picLocks noChangeAspect="1"/>
          </p:cNvPicPr>
          <p:nvPr/>
        </p:nvPicPr>
        <p:blipFill>
          <a:blip r:embed="rId2"/>
          <a:stretch>
            <a:fillRect/>
          </a:stretch>
        </p:blipFill>
        <p:spPr>
          <a:xfrm>
            <a:off x="467544" y="815380"/>
            <a:ext cx="8352928" cy="3844602"/>
          </a:xfrm>
          <a:prstGeom prst="rect">
            <a:avLst/>
          </a:prstGeom>
        </p:spPr>
      </p:pic>
    </p:spTree>
    <p:extLst>
      <p:ext uri="{BB962C8B-B14F-4D97-AF65-F5344CB8AC3E}">
        <p14:creationId xmlns:p14="http://schemas.microsoft.com/office/powerpoint/2010/main" val="3455167353"/>
      </p:ext>
    </p:extLst>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3E01747-0517-F589-98C9-5FDED44FF9AB}"/>
              </a:ext>
            </a:extLst>
          </p:cNvPr>
          <p:cNvPicPr>
            <a:picLocks noChangeAspect="1"/>
          </p:cNvPicPr>
          <p:nvPr/>
        </p:nvPicPr>
        <p:blipFill>
          <a:blip r:embed="rId2"/>
          <a:stretch>
            <a:fillRect/>
          </a:stretch>
        </p:blipFill>
        <p:spPr>
          <a:xfrm>
            <a:off x="755576" y="411510"/>
            <a:ext cx="7488832" cy="966271"/>
          </a:xfrm>
          <a:prstGeom prst="rect">
            <a:avLst/>
          </a:prstGeom>
        </p:spPr>
      </p:pic>
      <p:pic>
        <p:nvPicPr>
          <p:cNvPr id="5" name="图片 4">
            <a:extLst>
              <a:ext uri="{FF2B5EF4-FFF2-40B4-BE49-F238E27FC236}">
                <a16:creationId xmlns:a16="http://schemas.microsoft.com/office/drawing/2014/main" id="{AFF99B80-6FE3-856F-419B-74842EAD4AEF}"/>
              </a:ext>
            </a:extLst>
          </p:cNvPr>
          <p:cNvPicPr>
            <a:picLocks noChangeAspect="1"/>
          </p:cNvPicPr>
          <p:nvPr/>
        </p:nvPicPr>
        <p:blipFill>
          <a:blip r:embed="rId3"/>
          <a:stretch>
            <a:fillRect/>
          </a:stretch>
        </p:blipFill>
        <p:spPr>
          <a:xfrm>
            <a:off x="747955" y="1377781"/>
            <a:ext cx="7496453" cy="3765719"/>
          </a:xfrm>
          <a:prstGeom prst="rect">
            <a:avLst/>
          </a:prstGeom>
        </p:spPr>
      </p:pic>
    </p:spTree>
    <p:extLst>
      <p:ext uri="{BB962C8B-B14F-4D97-AF65-F5344CB8AC3E}">
        <p14:creationId xmlns:p14="http://schemas.microsoft.com/office/powerpoint/2010/main" val="1311098876"/>
      </p:ext>
    </p:extLst>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6DFFC166-0644-457A-8B6B-DDBB52578B54}"/>
              </a:ext>
            </a:extLst>
          </p:cNvPr>
          <p:cNvSpPr>
            <a:spLocks noGrp="1"/>
          </p:cNvSpPr>
          <p:nvPr>
            <p:ph type="sldNum" sz="quarter" idx="12"/>
          </p:nvPr>
        </p:nvSpPr>
        <p:spPr/>
        <p:txBody>
          <a:bodyPr/>
          <a:lstStyle/>
          <a:p>
            <a:pPr defTabSz="685800" fontAlgn="base">
              <a:spcBef>
                <a:spcPct val="0"/>
              </a:spcBef>
              <a:spcAft>
                <a:spcPct val="0"/>
              </a:spcAft>
            </a:pPr>
            <a:fld id="{C36E29E4-5007-40C2-B4C5-F9DCAD45C653}" type="slidenum">
              <a:rPr lang="en-US" altLang="zh-CN">
                <a:solidFill>
                  <a:srgbClr val="FFFFFF"/>
                </a:solidFill>
                <a:latin typeface="Arial" panose="020B0604020202020204" pitchFamily="34" charset="0"/>
                <a:ea typeface="宋体"/>
              </a:rPr>
              <a:pPr defTabSz="685800" fontAlgn="base">
                <a:spcBef>
                  <a:spcPct val="0"/>
                </a:spcBef>
                <a:spcAft>
                  <a:spcPct val="0"/>
                </a:spcAft>
              </a:pPr>
              <a:t>53</a:t>
            </a:fld>
            <a:endParaRPr lang="en-US" altLang="zh-CN">
              <a:solidFill>
                <a:srgbClr val="FFFFFF"/>
              </a:solidFill>
              <a:latin typeface="Arial" panose="020B0604020202020204" pitchFamily="34" charset="0"/>
              <a:ea typeface="宋体"/>
            </a:endParaRPr>
          </a:p>
        </p:txBody>
      </p:sp>
      <p:sp>
        <p:nvSpPr>
          <p:cNvPr id="82946" name="Rectangle 2">
            <a:extLst>
              <a:ext uri="{FF2B5EF4-FFF2-40B4-BE49-F238E27FC236}">
                <a16:creationId xmlns:a16="http://schemas.microsoft.com/office/drawing/2014/main" id="{F722C033-DAEF-4768-ACDC-028F39D42572}"/>
              </a:ext>
            </a:extLst>
          </p:cNvPr>
          <p:cNvSpPr>
            <a:spLocks noGrp="1" noChangeArrowheads="1"/>
          </p:cNvSpPr>
          <p:nvPr>
            <p:ph type="title"/>
          </p:nvPr>
        </p:nvSpPr>
        <p:spPr>
          <a:xfrm>
            <a:off x="1428750" y="114300"/>
            <a:ext cx="6115050" cy="1096566"/>
          </a:xfrm>
        </p:spPr>
        <p:txBody>
          <a:bodyPr/>
          <a:lstStyle/>
          <a:p>
            <a:r>
              <a:rPr lang="en-US" altLang="zh-CN" b="1"/>
              <a:t>7.3.4</a:t>
            </a:r>
            <a:r>
              <a:rPr lang="zh-CN" altLang="en-US" b="1"/>
              <a:t>文件存储设备</a:t>
            </a:r>
          </a:p>
        </p:txBody>
      </p:sp>
      <p:sp>
        <p:nvSpPr>
          <p:cNvPr id="82947" name="Rectangle 3">
            <a:extLst>
              <a:ext uri="{FF2B5EF4-FFF2-40B4-BE49-F238E27FC236}">
                <a16:creationId xmlns:a16="http://schemas.microsoft.com/office/drawing/2014/main" id="{60941965-0D0B-4845-889D-70FA212EA287}"/>
              </a:ext>
            </a:extLst>
          </p:cNvPr>
          <p:cNvSpPr>
            <a:spLocks noGrp="1" noChangeArrowheads="1"/>
          </p:cNvSpPr>
          <p:nvPr>
            <p:ph type="body" idx="1"/>
          </p:nvPr>
        </p:nvSpPr>
        <p:spPr>
          <a:xfrm>
            <a:off x="1657350" y="1543050"/>
            <a:ext cx="5943600" cy="3200400"/>
          </a:xfrm>
        </p:spPr>
        <p:txBody>
          <a:bodyPr/>
          <a:lstStyle/>
          <a:p>
            <a:r>
              <a:rPr lang="zh-CN" altLang="en-US" sz="2700" b="1">
                <a:solidFill>
                  <a:srgbClr val="FFCC00"/>
                </a:solidFill>
                <a:latin typeface="宋体" panose="02010600030101010101" pitchFamily="2" charset="-122"/>
                <a:ea typeface="黑体" panose="02010609060101010101" pitchFamily="49" charset="-122"/>
              </a:rPr>
              <a:t>文件系统采用哪种存取方法和物理结构，实际上是和物理存储介质有关的</a:t>
            </a:r>
          </a:p>
          <a:p>
            <a:r>
              <a:rPr lang="zh-CN" altLang="en-US" sz="2700" b="1">
                <a:solidFill>
                  <a:srgbClr val="FFCC00"/>
                </a:solidFill>
                <a:latin typeface="宋体" panose="02010600030101010101" pitchFamily="2" charset="-122"/>
                <a:ea typeface="黑体" panose="02010609060101010101" pitchFamily="49" charset="-122"/>
              </a:rPr>
              <a:t>常用的存储设备有磁盘、光盘、磁带</a:t>
            </a:r>
          </a:p>
          <a:p>
            <a:pPr>
              <a:buFont typeface="Wingdings" panose="05000000000000000000" pitchFamily="2" charset="2"/>
              <a:buNone/>
            </a:pPr>
            <a:endParaRPr lang="en-US" altLang="zh-CN" sz="2700" b="1">
              <a:solidFill>
                <a:srgbClr val="FFCC00"/>
              </a:solidFill>
              <a:ea typeface="黑体" panose="02010609060101010101" pitchFamily="49"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B989F47F-5C96-4A5E-8FE2-CD6F58E4515D}"/>
              </a:ext>
            </a:extLst>
          </p:cNvPr>
          <p:cNvSpPr>
            <a:spLocks noGrp="1"/>
          </p:cNvSpPr>
          <p:nvPr>
            <p:ph type="sldNum" sz="quarter" idx="12"/>
          </p:nvPr>
        </p:nvSpPr>
        <p:spPr/>
        <p:txBody>
          <a:bodyPr/>
          <a:lstStyle/>
          <a:p>
            <a:pPr defTabSz="685800" fontAlgn="base">
              <a:spcBef>
                <a:spcPct val="0"/>
              </a:spcBef>
              <a:spcAft>
                <a:spcPct val="0"/>
              </a:spcAft>
            </a:pPr>
            <a:fld id="{25936877-4AB4-4BD8-9C43-142BC82719CC}" type="slidenum">
              <a:rPr lang="en-US" altLang="zh-CN">
                <a:solidFill>
                  <a:srgbClr val="FFFFFF"/>
                </a:solidFill>
                <a:latin typeface="Arial" panose="020B0604020202020204" pitchFamily="34" charset="0"/>
                <a:ea typeface="宋体"/>
              </a:rPr>
              <a:pPr defTabSz="685800" fontAlgn="base">
                <a:spcBef>
                  <a:spcPct val="0"/>
                </a:spcBef>
                <a:spcAft>
                  <a:spcPct val="0"/>
                </a:spcAft>
              </a:pPr>
              <a:t>54</a:t>
            </a:fld>
            <a:endParaRPr lang="en-US" altLang="zh-CN">
              <a:solidFill>
                <a:srgbClr val="FFFFFF"/>
              </a:solidFill>
              <a:latin typeface="Arial" panose="020B0604020202020204" pitchFamily="34" charset="0"/>
              <a:ea typeface="宋体"/>
            </a:endParaRPr>
          </a:p>
        </p:txBody>
      </p:sp>
      <p:sp>
        <p:nvSpPr>
          <p:cNvPr id="107522" name="Rectangle 2">
            <a:extLst>
              <a:ext uri="{FF2B5EF4-FFF2-40B4-BE49-F238E27FC236}">
                <a16:creationId xmlns:a16="http://schemas.microsoft.com/office/drawing/2014/main" id="{2FBBA550-94E0-41D4-A983-74ABEB6FEF3F}"/>
              </a:ext>
            </a:extLst>
          </p:cNvPr>
          <p:cNvSpPr>
            <a:spLocks noGrp="1" noChangeArrowheads="1"/>
          </p:cNvSpPr>
          <p:nvPr>
            <p:ph type="body" idx="1"/>
          </p:nvPr>
        </p:nvSpPr>
        <p:spPr>
          <a:xfrm>
            <a:off x="1600200" y="1485900"/>
            <a:ext cx="6115050" cy="3224213"/>
          </a:xfrm>
          <a:noFill/>
          <a:ln/>
        </p:spPr>
        <p:txBody>
          <a:bodyPr/>
          <a:lstStyle/>
          <a:p>
            <a:r>
              <a:rPr lang="zh-CN" altLang="en-US" sz="2700" b="1">
                <a:solidFill>
                  <a:srgbClr val="FFCC00"/>
                </a:solidFill>
                <a:latin typeface="Times New Roman" panose="02020603050405020304" pitchFamily="18" charset="0"/>
                <a:ea typeface="黑体" panose="02010609060101010101" pitchFamily="49" charset="-122"/>
              </a:rPr>
              <a:t>顺序存取设备只有在前面的物理块被存取访问过之后，才能存取后续的物理块的内容</a:t>
            </a:r>
          </a:p>
          <a:p>
            <a:r>
              <a:rPr lang="zh-CN" altLang="en-US" sz="2700" b="1">
                <a:solidFill>
                  <a:srgbClr val="FFCC00"/>
                </a:solidFill>
                <a:latin typeface="Times New Roman" panose="02020603050405020304" pitchFamily="18" charset="0"/>
                <a:ea typeface="黑体" panose="02010609060101010101" pitchFamily="49" charset="-122"/>
              </a:rPr>
              <a:t>磁带存取设备具有容量大，顺序存取方式时存取速度高</a:t>
            </a:r>
          </a:p>
          <a:p>
            <a:r>
              <a:rPr lang="zh-CN" altLang="en-US" sz="2700" b="1">
                <a:solidFill>
                  <a:srgbClr val="FFCC00"/>
                </a:solidFill>
                <a:latin typeface="Times New Roman" panose="02020603050405020304" pitchFamily="18" charset="0"/>
                <a:ea typeface="黑体" panose="02010609060101010101" pitchFamily="49" charset="-122"/>
              </a:rPr>
              <a:t>不适合采用随机方式和按键存取方式</a:t>
            </a:r>
          </a:p>
        </p:txBody>
      </p:sp>
      <p:sp>
        <p:nvSpPr>
          <p:cNvPr id="107523" name="Rectangle 3">
            <a:extLst>
              <a:ext uri="{FF2B5EF4-FFF2-40B4-BE49-F238E27FC236}">
                <a16:creationId xmlns:a16="http://schemas.microsoft.com/office/drawing/2014/main" id="{B3A7750D-154C-4D26-8DB0-65A3C0B0802F}"/>
              </a:ext>
            </a:extLst>
          </p:cNvPr>
          <p:cNvSpPr>
            <a:spLocks noGrp="1" noChangeArrowheads="1"/>
          </p:cNvSpPr>
          <p:nvPr>
            <p:ph type="title"/>
          </p:nvPr>
        </p:nvSpPr>
        <p:spPr>
          <a:xfrm>
            <a:off x="1714500" y="342900"/>
            <a:ext cx="5829300" cy="1096566"/>
          </a:xfrm>
        </p:spPr>
        <p:txBody>
          <a:bodyPr/>
          <a:lstStyle/>
          <a:p>
            <a:r>
              <a:rPr lang="zh-CN" altLang="en-US" b="1"/>
              <a:t>顺序存取设备－磁带</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A777CC2A-6720-4CE6-88CF-CF16E4CE8469}"/>
              </a:ext>
            </a:extLst>
          </p:cNvPr>
          <p:cNvSpPr>
            <a:spLocks noGrp="1"/>
          </p:cNvSpPr>
          <p:nvPr>
            <p:ph type="sldNum" sz="quarter" idx="12"/>
          </p:nvPr>
        </p:nvSpPr>
        <p:spPr/>
        <p:txBody>
          <a:bodyPr/>
          <a:lstStyle/>
          <a:p>
            <a:pPr defTabSz="685800" fontAlgn="base">
              <a:spcBef>
                <a:spcPct val="0"/>
              </a:spcBef>
              <a:spcAft>
                <a:spcPct val="0"/>
              </a:spcAft>
            </a:pPr>
            <a:fld id="{13DB89BF-B01E-4AF8-9E63-6F8012C892FD}" type="slidenum">
              <a:rPr lang="en-US" altLang="zh-CN">
                <a:solidFill>
                  <a:srgbClr val="FFFFFF"/>
                </a:solidFill>
                <a:latin typeface="Arial" panose="020B0604020202020204" pitchFamily="34" charset="0"/>
                <a:ea typeface="宋体"/>
              </a:rPr>
              <a:pPr defTabSz="685800" fontAlgn="base">
                <a:spcBef>
                  <a:spcPct val="0"/>
                </a:spcBef>
                <a:spcAft>
                  <a:spcPct val="0"/>
                </a:spcAft>
              </a:pPr>
              <a:t>55</a:t>
            </a:fld>
            <a:endParaRPr lang="en-US" altLang="zh-CN">
              <a:solidFill>
                <a:srgbClr val="FFFFFF"/>
              </a:solidFill>
              <a:latin typeface="Arial" panose="020B0604020202020204" pitchFamily="34" charset="0"/>
              <a:ea typeface="宋体"/>
            </a:endParaRPr>
          </a:p>
        </p:txBody>
      </p:sp>
      <p:sp>
        <p:nvSpPr>
          <p:cNvPr id="121858" name="Rectangle 2">
            <a:extLst>
              <a:ext uri="{FF2B5EF4-FFF2-40B4-BE49-F238E27FC236}">
                <a16:creationId xmlns:a16="http://schemas.microsoft.com/office/drawing/2014/main" id="{14FE9892-1144-4C74-A746-232B3171BC48}"/>
              </a:ext>
            </a:extLst>
          </p:cNvPr>
          <p:cNvSpPr>
            <a:spLocks noGrp="1" noChangeArrowheads="1"/>
          </p:cNvSpPr>
          <p:nvPr>
            <p:ph type="body" idx="1"/>
          </p:nvPr>
        </p:nvSpPr>
        <p:spPr>
          <a:xfrm>
            <a:off x="1485900" y="1428750"/>
            <a:ext cx="6229350" cy="3314700"/>
          </a:xfrm>
          <a:noFill/>
          <a:ln/>
        </p:spPr>
        <p:txBody>
          <a:bodyPr/>
          <a:lstStyle/>
          <a:p>
            <a:r>
              <a:rPr lang="zh-CN" altLang="en-US" sz="2700" b="1">
                <a:solidFill>
                  <a:srgbClr val="FFCC00"/>
                </a:solidFill>
                <a:latin typeface="黑体" panose="02010609060101010101" pitchFamily="49" charset="-122"/>
                <a:ea typeface="黑体" panose="02010609060101010101" pitchFamily="49" charset="-122"/>
              </a:rPr>
              <a:t>目前，几乎所有随机存取的文件，都是存放在磁盘上，磁盘</a:t>
            </a:r>
            <a:r>
              <a:rPr lang="en-US" altLang="zh-CN" sz="2700" b="1">
                <a:solidFill>
                  <a:srgbClr val="FFCC00"/>
                </a:solidFill>
                <a:latin typeface="黑体" panose="02010609060101010101" pitchFamily="49" charset="-122"/>
                <a:ea typeface="黑体" panose="02010609060101010101" pitchFamily="49" charset="-122"/>
              </a:rPr>
              <a:t>I/O</a:t>
            </a:r>
            <a:r>
              <a:rPr lang="zh-CN" altLang="en-US" sz="2700" b="1">
                <a:solidFill>
                  <a:srgbClr val="FFCC00"/>
                </a:solidFill>
                <a:latin typeface="黑体" panose="02010609060101010101" pitchFamily="49" charset="-122"/>
                <a:ea typeface="黑体" panose="02010609060101010101" pitchFamily="49" charset="-122"/>
              </a:rPr>
              <a:t>速度的高低将直接影响文件系统的性能</a:t>
            </a:r>
          </a:p>
          <a:p>
            <a:r>
              <a:rPr lang="zh-CN" altLang="en-US" sz="2700" b="1">
                <a:solidFill>
                  <a:srgbClr val="FFCC00"/>
                </a:solidFill>
                <a:latin typeface="黑体" panose="02010609060101010101" pitchFamily="49" charset="-122"/>
                <a:ea typeface="黑体" panose="02010609060101010101" pitchFamily="49" charset="-122"/>
              </a:rPr>
              <a:t>磁盘设备允许文件系统直接存取磁盘上的任意物理块。磁头直接移动到所要求的位置上。</a:t>
            </a:r>
          </a:p>
        </p:txBody>
      </p:sp>
      <p:sp>
        <p:nvSpPr>
          <p:cNvPr id="121859" name="Rectangle 3">
            <a:extLst>
              <a:ext uri="{FF2B5EF4-FFF2-40B4-BE49-F238E27FC236}">
                <a16:creationId xmlns:a16="http://schemas.microsoft.com/office/drawing/2014/main" id="{F5B98100-BAFF-40A7-9D99-E68B82218DA0}"/>
              </a:ext>
            </a:extLst>
          </p:cNvPr>
          <p:cNvSpPr>
            <a:spLocks noGrp="1" noChangeArrowheads="1"/>
          </p:cNvSpPr>
          <p:nvPr>
            <p:ph type="title"/>
          </p:nvPr>
        </p:nvSpPr>
        <p:spPr>
          <a:xfrm>
            <a:off x="1428750" y="114300"/>
            <a:ext cx="5829300" cy="1096566"/>
          </a:xfrm>
        </p:spPr>
        <p:txBody>
          <a:bodyPr/>
          <a:lstStyle/>
          <a:p>
            <a:r>
              <a:rPr lang="zh-CN" altLang="en-US" b="1"/>
              <a:t>直接存取设备－磁盘</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3">
            <a:extLst>
              <a:ext uri="{FF2B5EF4-FFF2-40B4-BE49-F238E27FC236}">
                <a16:creationId xmlns:a16="http://schemas.microsoft.com/office/drawing/2014/main" id="{9713005F-4544-4554-8F81-F4D6A95429C6}"/>
              </a:ext>
            </a:extLst>
          </p:cNvPr>
          <p:cNvSpPr>
            <a:spLocks noGrp="1"/>
          </p:cNvSpPr>
          <p:nvPr>
            <p:ph type="sldNum" sz="quarter" idx="12"/>
          </p:nvPr>
        </p:nvSpPr>
        <p:spPr/>
        <p:txBody>
          <a:bodyPr/>
          <a:lstStyle/>
          <a:p>
            <a:pPr defTabSz="685800" fontAlgn="base">
              <a:spcBef>
                <a:spcPct val="0"/>
              </a:spcBef>
              <a:spcAft>
                <a:spcPct val="0"/>
              </a:spcAft>
            </a:pPr>
            <a:fld id="{1D66FC25-EF98-4A59-93D0-51EC87304996}" type="slidenum">
              <a:rPr lang="en-US" altLang="zh-CN">
                <a:solidFill>
                  <a:srgbClr val="FFFFFF"/>
                </a:solidFill>
                <a:latin typeface="Arial" panose="020B0604020202020204" pitchFamily="34" charset="0"/>
                <a:ea typeface="宋体"/>
              </a:rPr>
              <a:pPr defTabSz="685800" fontAlgn="base">
                <a:spcBef>
                  <a:spcPct val="0"/>
                </a:spcBef>
                <a:spcAft>
                  <a:spcPct val="0"/>
                </a:spcAft>
              </a:pPr>
              <a:t>56</a:t>
            </a:fld>
            <a:endParaRPr lang="en-US" altLang="zh-CN">
              <a:solidFill>
                <a:srgbClr val="FFFFFF"/>
              </a:solidFill>
              <a:latin typeface="Arial" panose="020B0604020202020204" pitchFamily="34" charset="0"/>
              <a:ea typeface="宋体"/>
            </a:endParaRPr>
          </a:p>
        </p:txBody>
      </p:sp>
      <p:sp>
        <p:nvSpPr>
          <p:cNvPr id="236547" name="Text Box 3">
            <a:extLst>
              <a:ext uri="{FF2B5EF4-FFF2-40B4-BE49-F238E27FC236}">
                <a16:creationId xmlns:a16="http://schemas.microsoft.com/office/drawing/2014/main" id="{684D29B4-556A-4C6D-AEC4-5E4BF5EE4650}"/>
              </a:ext>
            </a:extLst>
          </p:cNvPr>
          <p:cNvSpPr txBox="1">
            <a:spLocks noChangeArrowheads="1"/>
          </p:cNvSpPr>
          <p:nvPr/>
        </p:nvSpPr>
        <p:spPr bwMode="auto">
          <a:xfrm>
            <a:off x="1600200" y="914400"/>
            <a:ext cx="63738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685800" fontAlgn="base">
              <a:spcBef>
                <a:spcPct val="0"/>
              </a:spcBef>
              <a:spcAft>
                <a:spcPct val="0"/>
              </a:spcAft>
            </a:pPr>
            <a:r>
              <a:rPr kumimoji="1" lang="zh-CN" altLang="en-US" sz="2400" b="1">
                <a:solidFill>
                  <a:srgbClr val="FFCC00"/>
                </a:solidFill>
                <a:latin typeface="黑体" panose="02010609060101010101" pitchFamily="49" charset="-122"/>
                <a:ea typeface="黑体" panose="02010609060101010101" pitchFamily="49" charset="-122"/>
              </a:rPr>
              <a:t>文件结构、 存储设备和存取方法之间的关系 </a:t>
            </a:r>
          </a:p>
        </p:txBody>
      </p:sp>
      <p:graphicFrame>
        <p:nvGraphicFramePr>
          <p:cNvPr id="236574" name="Group 30">
            <a:extLst>
              <a:ext uri="{FF2B5EF4-FFF2-40B4-BE49-F238E27FC236}">
                <a16:creationId xmlns:a16="http://schemas.microsoft.com/office/drawing/2014/main" id="{3D778A24-DFB5-4119-8AB8-041226725145}"/>
              </a:ext>
            </a:extLst>
          </p:cNvPr>
          <p:cNvGraphicFramePr>
            <a:graphicFrameLocks noGrp="1"/>
          </p:cNvGraphicFramePr>
          <p:nvPr/>
        </p:nvGraphicFramePr>
        <p:xfrm>
          <a:off x="1257300" y="1771650"/>
          <a:ext cx="6629399" cy="2171702"/>
        </p:xfrm>
        <a:graphic>
          <a:graphicData uri="http://schemas.openxmlformats.org/drawingml/2006/table">
            <a:tbl>
              <a:tblPr/>
              <a:tblGrid>
                <a:gridCol w="1485900">
                  <a:extLst>
                    <a:ext uri="{9D8B030D-6E8A-4147-A177-3AD203B41FA5}">
                      <a16:colId xmlns:a16="http://schemas.microsoft.com/office/drawing/2014/main" val="8588253"/>
                    </a:ext>
                  </a:extLst>
                </a:gridCol>
                <a:gridCol w="1165622">
                  <a:extLst>
                    <a:ext uri="{9D8B030D-6E8A-4147-A177-3AD203B41FA5}">
                      <a16:colId xmlns:a16="http://schemas.microsoft.com/office/drawing/2014/main" val="4021658604"/>
                    </a:ext>
                  </a:extLst>
                </a:gridCol>
                <a:gridCol w="1326356">
                  <a:extLst>
                    <a:ext uri="{9D8B030D-6E8A-4147-A177-3AD203B41FA5}">
                      <a16:colId xmlns:a16="http://schemas.microsoft.com/office/drawing/2014/main" val="2539570191"/>
                    </a:ext>
                  </a:extLst>
                </a:gridCol>
                <a:gridCol w="1325165">
                  <a:extLst>
                    <a:ext uri="{9D8B030D-6E8A-4147-A177-3AD203B41FA5}">
                      <a16:colId xmlns:a16="http://schemas.microsoft.com/office/drawing/2014/main" val="1022333029"/>
                    </a:ext>
                  </a:extLst>
                </a:gridCol>
                <a:gridCol w="1326356">
                  <a:extLst>
                    <a:ext uri="{9D8B030D-6E8A-4147-A177-3AD203B41FA5}">
                      <a16:colId xmlns:a16="http://schemas.microsoft.com/office/drawing/2014/main" val="2078317922"/>
                    </a:ext>
                  </a:extLst>
                </a:gridCol>
              </a:tblGrid>
              <a:tr h="586979">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400" b="1" i="0" u="none" strike="noStrike" cap="none" normalizeH="0" baseline="0">
                          <a:ln>
                            <a:noFill/>
                          </a:ln>
                          <a:solidFill>
                            <a:srgbClr val="FFCC00"/>
                          </a:solidFill>
                          <a:effectLst>
                            <a:outerShdw blurRad="38100" dist="38100" dir="2700000" algn="tl">
                              <a:srgbClr val="000000"/>
                            </a:outerShdw>
                          </a:effectLst>
                          <a:latin typeface="黑体" panose="02010609060101010101" pitchFamily="49" charset="-122"/>
                          <a:ea typeface="黑体" panose="02010609060101010101" pitchFamily="49" charset="-122"/>
                        </a:rPr>
                        <a:t>存储设备 </a:t>
                      </a:r>
                    </a:p>
                  </a:txBody>
                  <a:tcPr marL="68580" marR="68580"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400" b="1" i="0" u="none" strike="noStrike" cap="none" normalizeH="0" baseline="0">
                          <a:ln>
                            <a:noFill/>
                          </a:ln>
                          <a:solidFill>
                            <a:srgbClr val="FFCC00"/>
                          </a:solidFill>
                          <a:effectLst>
                            <a:outerShdw blurRad="38100" dist="38100" dir="2700000" algn="tl">
                              <a:srgbClr val="000000"/>
                            </a:outerShdw>
                          </a:effectLst>
                          <a:latin typeface="黑体" panose="02010609060101010101" pitchFamily="49" charset="-122"/>
                          <a:ea typeface="黑体" panose="02010609060101010101" pitchFamily="49" charset="-122"/>
                        </a:rPr>
                        <a:t>磁  盘 </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400" b="1" i="0" u="none" strike="noStrike" cap="none" normalizeH="0" baseline="0">
                          <a:ln>
                            <a:noFill/>
                          </a:ln>
                          <a:solidFill>
                            <a:srgbClr val="FFCC00"/>
                          </a:solidFill>
                          <a:effectLst>
                            <a:outerShdw blurRad="38100" dist="38100" dir="2700000" algn="tl">
                              <a:srgbClr val="000000"/>
                            </a:outerShdw>
                          </a:effectLst>
                          <a:latin typeface="黑体" panose="02010609060101010101" pitchFamily="49" charset="-122"/>
                          <a:ea typeface="黑体" panose="02010609060101010101" pitchFamily="49" charset="-122"/>
                        </a:rPr>
                        <a:t>磁 带 </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5945375"/>
                  </a:ext>
                </a:extLst>
              </a:tr>
              <a:tr h="586979">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400" b="1" i="0" u="none" strike="noStrike" cap="none" normalizeH="0" baseline="0">
                          <a:ln>
                            <a:noFill/>
                          </a:ln>
                          <a:solidFill>
                            <a:srgbClr val="FFCC00"/>
                          </a:solidFill>
                          <a:effectLst>
                            <a:outerShdw blurRad="38100" dist="38100" dir="2700000" algn="tl">
                              <a:srgbClr val="000000"/>
                            </a:outerShdw>
                          </a:effectLst>
                          <a:latin typeface="黑体" panose="02010609060101010101" pitchFamily="49" charset="-122"/>
                          <a:ea typeface="黑体" panose="02010609060101010101" pitchFamily="49" charset="-122"/>
                        </a:rPr>
                        <a:t>物理结构 </a:t>
                      </a:r>
                    </a:p>
                  </a:txBody>
                  <a:tcPr marL="68580" marR="68580"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400" b="1" i="0" u="none" strike="noStrike" cap="none" normalizeH="0" baseline="0">
                          <a:ln>
                            <a:noFill/>
                          </a:ln>
                          <a:solidFill>
                            <a:srgbClr val="FFCC00"/>
                          </a:solidFill>
                          <a:effectLst>
                            <a:outerShdw blurRad="38100" dist="38100" dir="2700000" algn="tl">
                              <a:srgbClr val="000000"/>
                            </a:outerShdw>
                          </a:effectLst>
                          <a:latin typeface="黑体" panose="02010609060101010101" pitchFamily="49" charset="-122"/>
                          <a:ea typeface="黑体" panose="02010609060101010101" pitchFamily="49" charset="-122"/>
                        </a:rPr>
                        <a:t>连续 </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400" b="1" i="0" u="none" strike="noStrike" cap="none" normalizeH="0" baseline="0">
                          <a:ln>
                            <a:noFill/>
                          </a:ln>
                          <a:solidFill>
                            <a:srgbClr val="FFCC00"/>
                          </a:solidFill>
                          <a:effectLst>
                            <a:outerShdw blurRad="38100" dist="38100" dir="2700000" algn="tl">
                              <a:srgbClr val="000000"/>
                            </a:outerShdw>
                          </a:effectLst>
                          <a:latin typeface="黑体" panose="02010609060101010101" pitchFamily="49" charset="-122"/>
                          <a:ea typeface="黑体" panose="02010609060101010101" pitchFamily="49" charset="-122"/>
                        </a:rPr>
                        <a:t>串接</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400" b="1" i="0" u="none" strike="noStrike" cap="none" normalizeH="0" baseline="0">
                          <a:ln>
                            <a:noFill/>
                          </a:ln>
                          <a:solidFill>
                            <a:srgbClr val="FFCC00"/>
                          </a:solidFill>
                          <a:effectLst>
                            <a:outerShdw blurRad="38100" dist="38100" dir="2700000" algn="tl">
                              <a:srgbClr val="000000"/>
                            </a:outerShdw>
                          </a:effectLst>
                          <a:latin typeface="黑体" panose="02010609060101010101" pitchFamily="49" charset="-122"/>
                          <a:ea typeface="黑体" panose="02010609060101010101" pitchFamily="49" charset="-122"/>
                        </a:rPr>
                        <a:t>索引 </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400" b="1" i="0" u="none" strike="noStrike" cap="none" normalizeH="0" baseline="0">
                          <a:ln>
                            <a:noFill/>
                          </a:ln>
                          <a:solidFill>
                            <a:srgbClr val="FFCC00"/>
                          </a:solidFill>
                          <a:effectLst>
                            <a:outerShdw blurRad="38100" dist="38100" dir="2700000" algn="tl">
                              <a:srgbClr val="000000"/>
                            </a:outerShdw>
                          </a:effectLst>
                          <a:latin typeface="黑体" panose="02010609060101010101" pitchFamily="49" charset="-122"/>
                          <a:ea typeface="黑体" panose="02010609060101010101" pitchFamily="49" charset="-122"/>
                        </a:rPr>
                        <a:t>连续 </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92234611"/>
                  </a:ext>
                </a:extLst>
              </a:tr>
              <a:tr h="997744">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400" b="1" i="0" u="none" strike="noStrike" cap="none" normalizeH="0" baseline="0">
                          <a:ln>
                            <a:noFill/>
                          </a:ln>
                          <a:solidFill>
                            <a:srgbClr val="FFCC00"/>
                          </a:solidFill>
                          <a:effectLst>
                            <a:outerShdw blurRad="38100" dist="38100" dir="2700000" algn="tl">
                              <a:srgbClr val="000000"/>
                            </a:outerShdw>
                          </a:effectLst>
                          <a:latin typeface="黑体" panose="02010609060101010101" pitchFamily="49" charset="-122"/>
                          <a:ea typeface="黑体" panose="02010609060101010101" pitchFamily="49" charset="-122"/>
                        </a:rPr>
                        <a:t>存取方法 </a:t>
                      </a:r>
                    </a:p>
                  </a:txBody>
                  <a:tcPr marL="68580" marR="68580"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400" b="1" i="0" u="none" strike="noStrike" cap="none" normalizeH="0" baseline="0">
                          <a:ln>
                            <a:noFill/>
                          </a:ln>
                          <a:solidFill>
                            <a:srgbClr val="FFCC00"/>
                          </a:solidFill>
                          <a:effectLst>
                            <a:outerShdw blurRad="38100" dist="38100" dir="2700000" algn="tl">
                              <a:srgbClr val="000000"/>
                            </a:outerShdw>
                          </a:effectLst>
                          <a:latin typeface="黑体" panose="02010609060101010101" pitchFamily="49" charset="-122"/>
                          <a:ea typeface="黑体" panose="02010609060101010101" pitchFamily="49" charset="-122"/>
                        </a:rPr>
                        <a:t>顺序、 直接 </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400" b="1" i="0" u="none" strike="noStrike" cap="none" normalizeH="0" baseline="0">
                          <a:ln>
                            <a:noFill/>
                          </a:ln>
                          <a:solidFill>
                            <a:srgbClr val="FFCC00"/>
                          </a:solidFill>
                          <a:effectLst>
                            <a:outerShdw blurRad="38100" dist="38100" dir="2700000" algn="tl">
                              <a:srgbClr val="000000"/>
                            </a:outerShdw>
                          </a:effectLst>
                          <a:latin typeface="黑体" panose="02010609060101010101" pitchFamily="49" charset="-122"/>
                          <a:ea typeface="黑体" panose="02010609060101010101" pitchFamily="49" charset="-122"/>
                        </a:rPr>
                        <a:t>顺序</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400" b="1" i="0" u="none" strike="noStrike" cap="none" normalizeH="0" baseline="0">
                          <a:ln>
                            <a:noFill/>
                          </a:ln>
                          <a:solidFill>
                            <a:srgbClr val="FFCC00"/>
                          </a:solidFill>
                          <a:effectLst>
                            <a:outerShdw blurRad="38100" dist="38100" dir="2700000" algn="tl">
                              <a:srgbClr val="000000"/>
                            </a:outerShdw>
                          </a:effectLst>
                          <a:latin typeface="黑体" panose="02010609060101010101" pitchFamily="49" charset="-122"/>
                          <a:ea typeface="黑体" panose="02010609060101010101" pitchFamily="49" charset="-122"/>
                        </a:rPr>
                        <a:t>顺序、 直接 </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400" b="1" i="0" u="none" strike="noStrike" cap="none" normalizeH="0" baseline="0" dirty="0">
                          <a:ln>
                            <a:noFill/>
                          </a:ln>
                          <a:solidFill>
                            <a:srgbClr val="FFCC00"/>
                          </a:solidFill>
                          <a:effectLst>
                            <a:outerShdw blurRad="38100" dist="38100" dir="2700000" algn="tl">
                              <a:srgbClr val="000000"/>
                            </a:outerShdw>
                          </a:effectLst>
                          <a:latin typeface="黑体" panose="02010609060101010101" pitchFamily="49" charset="-122"/>
                          <a:ea typeface="黑体" panose="02010609060101010101" pitchFamily="49" charset="-122"/>
                        </a:rPr>
                        <a:t>顺序 </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70932398"/>
                  </a:ext>
                </a:extLst>
              </a:tr>
            </a:tbl>
          </a:graphicData>
        </a:graphic>
      </p:graphicFrame>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noChangeArrowheads="1"/>
          </p:cNvSpPr>
          <p:nvPr/>
        </p:nvSpPr>
        <p:spPr bwMode="auto">
          <a:xfrm>
            <a:off x="3755856" y="189267"/>
            <a:ext cx="1928808" cy="553998"/>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x-none" altLang="zh-CN"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主要内容</a:t>
            </a:r>
          </a:p>
        </p:txBody>
      </p:sp>
      <p:grpSp>
        <p:nvGrpSpPr>
          <p:cNvPr id="4" name="组合 1"/>
          <p:cNvGrpSpPr/>
          <p:nvPr/>
        </p:nvGrpSpPr>
        <p:grpSpPr>
          <a:xfrm>
            <a:off x="549284" y="1072186"/>
            <a:ext cx="8566529" cy="415290"/>
            <a:chOff x="520709" y="928676"/>
            <a:chExt cx="8566529" cy="415290"/>
          </a:xfrm>
        </p:grpSpPr>
        <p:sp>
          <p:nvSpPr>
            <p:cNvPr id="37" name="TextBox 36"/>
            <p:cNvSpPr txBox="1"/>
            <p:nvPr/>
          </p:nvSpPr>
          <p:spPr>
            <a:xfrm>
              <a:off x="871900" y="928676"/>
              <a:ext cx="8215338" cy="415290"/>
            </a:xfrm>
            <a:prstGeom prst="rect">
              <a:avLst/>
            </a:prstGeom>
            <a:noFill/>
          </p:spPr>
          <p:txBody>
            <a:bodyPr wrap="square" rtlCol="0">
              <a:spAutoFit/>
            </a:bodyPr>
            <a:lstStyle/>
            <a:p>
              <a:pPr marL="342900" marR="0" lvl="1" indent="-342900" algn="l" defTabSz="914400" rtl="0" eaLnBrk="1" fontAlgn="auto" latinLnBrk="0" hangingPunct="1">
                <a:lnSpc>
                  <a:spcPct val="95000"/>
                </a:lnSpc>
                <a:spcBef>
                  <a:spcPct val="20000"/>
                </a:spcBef>
                <a:spcAft>
                  <a:spcPts val="0"/>
                </a:spcAft>
                <a:buClrTx/>
                <a:buSzTx/>
                <a:buFontTx/>
                <a:buNone/>
                <a:tabLst/>
                <a:defRPr/>
              </a:pPr>
              <a:r>
                <a:rPr kumimoji="0" lang="x-none" altLang="zh-CN" sz="2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sym typeface="Times New Roman" panose="02020603050405020304" charset="0"/>
                </a:rPr>
                <a:t>7.1 文件和文件系统</a:t>
              </a:r>
              <a:endParaRPr kumimoji="0" lang="x-none" altLang="zh-CN"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Times New Roman" panose="02020603050405020304" charset="0"/>
              </a:endParaRPr>
            </a:p>
          </p:txBody>
        </p:sp>
        <p:sp>
          <p:nvSpPr>
            <p:cNvPr id="60"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11576A"/>
                  </a:solidFill>
                  <a:effectLst/>
                  <a:uLnTx/>
                  <a:uFillTx/>
                  <a:latin typeface="张海山锐谐体2.0-授权联系：Samtype@QQ.com" pitchFamily="2" charset="-122"/>
                  <a:ea typeface="张海山锐谐体2.0-授权联系：Samtype@QQ.com" pitchFamily="2" charset="-122"/>
                  <a:cs typeface="+mn-cs"/>
                </a:rPr>
                <a:t>■</a:t>
              </a:r>
              <a:endParaRPr kumimoji="0" lang="zh-CN" altLang="en-US" sz="1800" b="1" i="0" u="none" strike="noStrike" kern="1200" cap="none" spc="0" normalizeH="0" baseline="0" noProof="0" dirty="0">
                <a:ln>
                  <a:noFill/>
                </a:ln>
                <a:solidFill>
                  <a:srgbClr val="11576A"/>
                </a:solidFill>
                <a:effectLst/>
                <a:uLnTx/>
                <a:uFillTx/>
                <a:latin typeface="Calibri" panose="020F0502020204030204" charset="0"/>
                <a:ea typeface="微软雅黑"/>
                <a:cs typeface="+mn-cs"/>
              </a:endParaRPr>
            </a:p>
          </p:txBody>
        </p:sp>
      </p:grpSp>
      <p:grpSp>
        <p:nvGrpSpPr>
          <p:cNvPr id="5" name="组合 3"/>
          <p:cNvGrpSpPr/>
          <p:nvPr/>
        </p:nvGrpSpPr>
        <p:grpSpPr>
          <a:xfrm>
            <a:off x="549284" y="1449606"/>
            <a:ext cx="8568952" cy="415290"/>
            <a:chOff x="520709" y="2802785"/>
            <a:chExt cx="8568952" cy="415290"/>
          </a:xfrm>
        </p:grpSpPr>
        <p:sp>
          <p:nvSpPr>
            <p:cNvPr id="49" name="TextBox 48"/>
            <p:cNvSpPr txBox="1"/>
            <p:nvPr/>
          </p:nvSpPr>
          <p:spPr>
            <a:xfrm>
              <a:off x="874323" y="2802785"/>
              <a:ext cx="8215338" cy="415290"/>
            </a:xfrm>
            <a:prstGeom prst="rect">
              <a:avLst/>
            </a:prstGeom>
            <a:noFill/>
          </p:spPr>
          <p:txBody>
            <a:bodyPr wrap="square" rtlCol="0">
              <a:spAutoFit/>
            </a:bodyPr>
            <a:lstStyle/>
            <a:p>
              <a:pPr marL="342900" marR="0" lvl="1" indent="-342900" algn="l" defTabSz="914400" rtl="0" eaLnBrk="1" fontAlgn="auto" latinLnBrk="0" hangingPunct="1">
                <a:lnSpc>
                  <a:spcPct val="95000"/>
                </a:lnSpc>
                <a:spcBef>
                  <a:spcPct val="20000"/>
                </a:spcBef>
                <a:spcAft>
                  <a:spcPts val="0"/>
                </a:spcAft>
                <a:buClrTx/>
                <a:buSzTx/>
                <a:buFontTx/>
                <a:buNone/>
                <a:tabLst/>
                <a:defRPr/>
              </a:pPr>
              <a:r>
                <a:rPr kumimoji="0" lang="x-none" altLang="zh-CN" sz="2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sym typeface="Times New Roman" panose="02020603050405020304" charset="0"/>
                </a:rPr>
                <a:t>7.2 文件的逻辑结构与存取方法</a:t>
              </a:r>
              <a:endParaRPr kumimoji="0" lang="x-none" altLang="zh-CN" sz="1800" b="0" i="0" u="none" strike="noStrike" kern="1200" cap="none" spc="0" normalizeH="0" baseline="0" noProof="0" dirty="0">
                <a:ln>
                  <a:noFill/>
                </a:ln>
                <a:solidFill>
                  <a:prstClr val="black"/>
                </a:solidFill>
                <a:effectLst/>
                <a:uLnTx/>
                <a:uFillTx/>
                <a:ea typeface="微软雅黑"/>
                <a:cs typeface="+mn-cs"/>
              </a:endParaRPr>
            </a:p>
          </p:txBody>
        </p:sp>
        <p:sp>
          <p:nvSpPr>
            <p:cNvPr id="61"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11576A"/>
                  </a:solidFill>
                  <a:effectLst/>
                  <a:uLnTx/>
                  <a:uFillTx/>
                  <a:latin typeface="张海山锐谐体2.0-授权联系：Samtype@QQ.com" pitchFamily="2" charset="-122"/>
                  <a:ea typeface="张海山锐谐体2.0-授权联系：Samtype@QQ.com" pitchFamily="2" charset="-122"/>
                  <a:cs typeface="+mn-cs"/>
                </a:rPr>
                <a:t>■</a:t>
              </a:r>
              <a:endParaRPr kumimoji="0" lang="zh-CN" altLang="en-US" sz="1800" b="1" i="0" u="none" strike="noStrike" kern="1200" cap="none" spc="0" normalizeH="0" baseline="0" noProof="0" dirty="0">
                <a:ln>
                  <a:noFill/>
                </a:ln>
                <a:solidFill>
                  <a:srgbClr val="11576A"/>
                </a:solidFill>
                <a:effectLst/>
                <a:uLnTx/>
                <a:uFillTx/>
                <a:latin typeface="Calibri" panose="020F0502020204030204" charset="0"/>
                <a:ea typeface="微软雅黑"/>
                <a:cs typeface="+mn-cs"/>
              </a:endParaRPr>
            </a:p>
          </p:txBody>
        </p:sp>
      </p:grpSp>
      <p:grpSp>
        <p:nvGrpSpPr>
          <p:cNvPr id="13" name="组合 1"/>
          <p:cNvGrpSpPr/>
          <p:nvPr/>
        </p:nvGrpSpPr>
        <p:grpSpPr>
          <a:xfrm>
            <a:off x="549284" y="1851331"/>
            <a:ext cx="8566529" cy="415290"/>
            <a:chOff x="520709" y="928676"/>
            <a:chExt cx="8566529" cy="415290"/>
          </a:xfrm>
        </p:grpSpPr>
        <p:sp>
          <p:nvSpPr>
            <p:cNvPr id="14" name="TextBox 36"/>
            <p:cNvSpPr txBox="1"/>
            <p:nvPr/>
          </p:nvSpPr>
          <p:spPr>
            <a:xfrm>
              <a:off x="871900" y="928676"/>
              <a:ext cx="8215338" cy="415290"/>
            </a:xfrm>
            <a:prstGeom prst="rect">
              <a:avLst/>
            </a:prstGeom>
            <a:noFill/>
          </p:spPr>
          <p:txBody>
            <a:bodyPr wrap="square" rtlCol="0">
              <a:spAutoFit/>
            </a:bodyPr>
            <a:lstStyle/>
            <a:p>
              <a:pPr marL="342900" marR="0" lvl="1" indent="-342900" algn="l" defTabSz="914400" rtl="0" eaLnBrk="1" fontAlgn="auto" latinLnBrk="0" hangingPunct="1">
                <a:lnSpc>
                  <a:spcPct val="95000"/>
                </a:lnSpc>
                <a:spcBef>
                  <a:spcPct val="20000"/>
                </a:spcBef>
                <a:spcAft>
                  <a:spcPts val="0"/>
                </a:spcAft>
                <a:buClrTx/>
                <a:buSzTx/>
                <a:buFontTx/>
                <a:buNone/>
                <a:tabLst/>
                <a:defRPr/>
              </a:pPr>
              <a:r>
                <a:rPr kumimoji="0" lang="x-none" altLang="zh-CN" sz="2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sym typeface="Times New Roman" panose="02020603050405020304" charset="0"/>
                </a:rPr>
                <a:t>7.3 文件的物理结构与存储设备</a:t>
              </a:r>
              <a:endParaRPr kumimoji="0" lang="x-none" altLang="zh-CN"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Times New Roman" panose="02020603050405020304" charset="0"/>
              </a:endParaRPr>
            </a:p>
          </p:txBody>
        </p:sp>
        <p:sp>
          <p:nvSpPr>
            <p:cNvPr id="15"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11576A"/>
                  </a:solidFill>
                  <a:effectLst/>
                  <a:uLnTx/>
                  <a:uFillTx/>
                  <a:latin typeface="张海山锐谐体2.0-授权联系：Samtype@QQ.com" pitchFamily="2" charset="-122"/>
                  <a:ea typeface="张海山锐谐体2.0-授权联系：Samtype@QQ.com" pitchFamily="2" charset="-122"/>
                  <a:cs typeface="+mn-cs"/>
                </a:rPr>
                <a:t>■</a:t>
              </a:r>
              <a:endParaRPr kumimoji="0" lang="zh-CN" altLang="en-US" sz="1800" b="1" i="0" u="none" strike="noStrike" kern="1200" cap="none" spc="0" normalizeH="0" baseline="0" noProof="0" dirty="0">
                <a:ln>
                  <a:noFill/>
                </a:ln>
                <a:solidFill>
                  <a:srgbClr val="11576A"/>
                </a:solidFill>
                <a:effectLst/>
                <a:uLnTx/>
                <a:uFillTx/>
                <a:latin typeface="Calibri" panose="020F0502020204030204" charset="0"/>
                <a:ea typeface="微软雅黑"/>
                <a:cs typeface="+mn-cs"/>
              </a:endParaRPr>
            </a:p>
          </p:txBody>
        </p:sp>
      </p:grpSp>
      <p:grpSp>
        <p:nvGrpSpPr>
          <p:cNvPr id="16" name="组合 3"/>
          <p:cNvGrpSpPr/>
          <p:nvPr/>
        </p:nvGrpSpPr>
        <p:grpSpPr>
          <a:xfrm>
            <a:off x="549284" y="2221717"/>
            <a:ext cx="8568952" cy="415290"/>
            <a:chOff x="520709" y="2802785"/>
            <a:chExt cx="8568952" cy="415290"/>
          </a:xfrm>
        </p:grpSpPr>
        <p:sp>
          <p:nvSpPr>
            <p:cNvPr id="17" name="TextBox 48"/>
            <p:cNvSpPr txBox="1"/>
            <p:nvPr/>
          </p:nvSpPr>
          <p:spPr>
            <a:xfrm>
              <a:off x="874323" y="2802785"/>
              <a:ext cx="8215338" cy="415290"/>
            </a:xfrm>
            <a:prstGeom prst="rect">
              <a:avLst/>
            </a:prstGeom>
            <a:noFill/>
          </p:spPr>
          <p:txBody>
            <a:bodyPr wrap="square" rtlCol="0">
              <a:spAutoFit/>
            </a:bodyPr>
            <a:lstStyle/>
            <a:p>
              <a:pPr marL="342900" marR="0" lvl="1" indent="-342900" algn="l" defTabSz="914400" rtl="0" eaLnBrk="1" fontAlgn="auto" latinLnBrk="0" hangingPunct="1">
                <a:lnSpc>
                  <a:spcPct val="95000"/>
                </a:lnSpc>
                <a:spcBef>
                  <a:spcPct val="20000"/>
                </a:spcBef>
                <a:spcAft>
                  <a:spcPts val="0"/>
                </a:spcAft>
                <a:buClrTx/>
                <a:buSzTx/>
                <a:buFontTx/>
                <a:buNone/>
                <a:tabLst/>
                <a:defRPr/>
              </a:pPr>
              <a:r>
                <a:rPr kumimoji="0" lang="x-none" altLang="zh-CN" sz="2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sym typeface="Times New Roman" panose="02020603050405020304" charset="0"/>
                </a:rPr>
                <a:t>7.4 文件存储空间管理</a:t>
              </a:r>
              <a:endParaRPr kumimoji="0" lang="x-none" altLang="zh-CN" sz="1800" b="0" i="0" u="none" strike="noStrike" kern="1200" cap="none" spc="0" normalizeH="0" baseline="0" noProof="0" dirty="0">
                <a:ln>
                  <a:noFill/>
                </a:ln>
                <a:solidFill>
                  <a:prstClr val="black"/>
                </a:solidFill>
                <a:effectLst/>
                <a:uLnTx/>
                <a:uFillTx/>
                <a:ea typeface="微软雅黑"/>
                <a:cs typeface="+mn-cs"/>
              </a:endParaRPr>
            </a:p>
          </p:txBody>
        </p:sp>
        <p:sp>
          <p:nvSpPr>
            <p:cNvPr id="18"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11576A"/>
                  </a:solidFill>
                  <a:effectLst/>
                  <a:uLnTx/>
                  <a:uFillTx/>
                  <a:latin typeface="张海山锐谐体2.0-授权联系：Samtype@QQ.com" pitchFamily="2" charset="-122"/>
                  <a:ea typeface="张海山锐谐体2.0-授权联系：Samtype@QQ.com" pitchFamily="2" charset="-122"/>
                  <a:cs typeface="+mn-cs"/>
                </a:rPr>
                <a:t>■</a:t>
              </a:r>
              <a:endParaRPr kumimoji="0" lang="zh-CN" altLang="en-US" sz="1800" b="1" i="0" u="none" strike="noStrike" kern="1200" cap="none" spc="0" normalizeH="0" baseline="0" noProof="0" dirty="0">
                <a:ln>
                  <a:noFill/>
                </a:ln>
                <a:solidFill>
                  <a:srgbClr val="11576A"/>
                </a:solidFill>
                <a:effectLst/>
                <a:uLnTx/>
                <a:uFillTx/>
                <a:latin typeface="Calibri" panose="020F0502020204030204" charset="0"/>
                <a:ea typeface="微软雅黑"/>
                <a:cs typeface="+mn-cs"/>
              </a:endParaRPr>
            </a:p>
          </p:txBody>
        </p:sp>
      </p:grpSp>
      <p:grpSp>
        <p:nvGrpSpPr>
          <p:cNvPr id="19" name="组合 1"/>
          <p:cNvGrpSpPr/>
          <p:nvPr/>
        </p:nvGrpSpPr>
        <p:grpSpPr>
          <a:xfrm>
            <a:off x="549284" y="2643811"/>
            <a:ext cx="8566529" cy="415290"/>
            <a:chOff x="520709" y="928676"/>
            <a:chExt cx="8566529" cy="415290"/>
          </a:xfrm>
        </p:grpSpPr>
        <p:sp>
          <p:nvSpPr>
            <p:cNvPr id="20" name="TextBox 36"/>
            <p:cNvSpPr txBox="1"/>
            <p:nvPr/>
          </p:nvSpPr>
          <p:spPr>
            <a:xfrm>
              <a:off x="871900" y="928676"/>
              <a:ext cx="8215338" cy="415290"/>
            </a:xfrm>
            <a:prstGeom prst="rect">
              <a:avLst/>
            </a:prstGeom>
            <a:noFill/>
          </p:spPr>
          <p:txBody>
            <a:bodyPr wrap="square" rtlCol="0">
              <a:spAutoFit/>
            </a:bodyPr>
            <a:lstStyle/>
            <a:p>
              <a:pPr marL="342900" marR="0" lvl="1" indent="-342900" algn="l" defTabSz="914400" rtl="0" eaLnBrk="1" fontAlgn="auto" latinLnBrk="0" hangingPunct="1">
                <a:lnSpc>
                  <a:spcPct val="95000"/>
                </a:lnSpc>
                <a:spcBef>
                  <a:spcPct val="20000"/>
                </a:spcBef>
                <a:spcAft>
                  <a:spcPts val="0"/>
                </a:spcAft>
                <a:buClrTx/>
                <a:buSzTx/>
                <a:buFontTx/>
                <a:buNone/>
                <a:tabLst/>
                <a:defRPr/>
              </a:pPr>
              <a:r>
                <a:rPr kumimoji="0" lang="x-none" altLang="zh-CN" sz="2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sym typeface="Times New Roman" panose="02020603050405020304" charset="0"/>
                </a:rPr>
                <a:t>7.5 文件目录 </a:t>
              </a:r>
            </a:p>
          </p:txBody>
        </p:sp>
        <p:sp>
          <p:nvSpPr>
            <p:cNvPr id="21"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11576A"/>
                  </a:solidFill>
                  <a:effectLst/>
                  <a:uLnTx/>
                  <a:uFillTx/>
                  <a:latin typeface="张海山锐谐体2.0-授权联系：Samtype@QQ.com" pitchFamily="2" charset="-122"/>
                  <a:ea typeface="张海山锐谐体2.0-授权联系：Samtype@QQ.com" pitchFamily="2" charset="-122"/>
                  <a:cs typeface="+mn-cs"/>
                </a:rPr>
                <a:t>■</a:t>
              </a:r>
              <a:endParaRPr kumimoji="0" lang="zh-CN" altLang="en-US" sz="1800" b="1" i="0" u="none" strike="noStrike" kern="1200" cap="none" spc="0" normalizeH="0" baseline="0" noProof="0" dirty="0">
                <a:ln>
                  <a:noFill/>
                </a:ln>
                <a:solidFill>
                  <a:srgbClr val="11576A"/>
                </a:solidFill>
                <a:effectLst/>
                <a:uLnTx/>
                <a:uFillTx/>
                <a:latin typeface="Calibri" panose="020F0502020204030204" charset="0"/>
                <a:ea typeface="微软雅黑"/>
                <a:cs typeface="+mn-cs"/>
              </a:endParaRPr>
            </a:p>
          </p:txBody>
        </p:sp>
      </p:grpSp>
      <p:grpSp>
        <p:nvGrpSpPr>
          <p:cNvPr id="22" name="组合 3"/>
          <p:cNvGrpSpPr/>
          <p:nvPr/>
        </p:nvGrpSpPr>
        <p:grpSpPr>
          <a:xfrm>
            <a:off x="549284" y="3014197"/>
            <a:ext cx="8568952" cy="415290"/>
            <a:chOff x="520709" y="2802785"/>
            <a:chExt cx="8568952" cy="415290"/>
          </a:xfrm>
        </p:grpSpPr>
        <p:sp>
          <p:nvSpPr>
            <p:cNvPr id="23" name="TextBox 48"/>
            <p:cNvSpPr txBox="1"/>
            <p:nvPr/>
          </p:nvSpPr>
          <p:spPr>
            <a:xfrm>
              <a:off x="874323" y="2802785"/>
              <a:ext cx="8215338" cy="415290"/>
            </a:xfrm>
            <a:prstGeom prst="rect">
              <a:avLst/>
            </a:prstGeom>
            <a:noFill/>
          </p:spPr>
          <p:txBody>
            <a:bodyPr wrap="square" rtlCol="0">
              <a:spAutoFit/>
            </a:bodyPr>
            <a:lstStyle/>
            <a:p>
              <a:pPr marL="342900" marR="0" lvl="1" indent="-342900" algn="l" defTabSz="914400" rtl="0" eaLnBrk="1" fontAlgn="auto" latinLnBrk="0" hangingPunct="1">
                <a:lnSpc>
                  <a:spcPct val="95000"/>
                </a:lnSpc>
                <a:spcBef>
                  <a:spcPct val="20000"/>
                </a:spcBef>
                <a:spcAft>
                  <a:spcPts val="0"/>
                </a:spcAft>
                <a:buClrTx/>
                <a:buSzTx/>
                <a:buFontTx/>
                <a:buNone/>
                <a:tabLst/>
                <a:defRPr/>
              </a:pPr>
              <a:r>
                <a:rPr kumimoji="0" lang="x-none" altLang="zh-CN" sz="2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sym typeface="Times New Roman" panose="02020603050405020304" charset="0"/>
                </a:rPr>
                <a:t>7.6 文件共享与保护</a:t>
              </a:r>
              <a:endParaRPr kumimoji="0" lang="x-none" altLang="zh-CN" sz="1800" b="0" i="0" u="none" strike="noStrike" kern="1200" cap="none" spc="0" normalizeH="0" baseline="0" noProof="0" dirty="0">
                <a:ln>
                  <a:noFill/>
                </a:ln>
                <a:solidFill>
                  <a:prstClr val="black"/>
                </a:solidFill>
                <a:effectLst/>
                <a:uLnTx/>
                <a:uFillTx/>
                <a:ea typeface="微软雅黑"/>
                <a:cs typeface="+mn-cs"/>
              </a:endParaRPr>
            </a:p>
          </p:txBody>
        </p:sp>
        <p:sp>
          <p:nvSpPr>
            <p:cNvPr id="24"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11576A"/>
                  </a:solidFill>
                  <a:effectLst/>
                  <a:uLnTx/>
                  <a:uFillTx/>
                  <a:latin typeface="张海山锐谐体2.0-授权联系：Samtype@QQ.com" pitchFamily="2" charset="-122"/>
                  <a:ea typeface="张海山锐谐体2.0-授权联系：Samtype@QQ.com" pitchFamily="2" charset="-122"/>
                  <a:cs typeface="+mn-cs"/>
                </a:rPr>
                <a:t>■</a:t>
              </a:r>
              <a:endParaRPr kumimoji="0" lang="zh-CN" altLang="en-US" sz="1800" b="1" i="0" u="none" strike="noStrike" kern="1200" cap="none" spc="0" normalizeH="0" baseline="0" noProof="0" dirty="0">
                <a:ln>
                  <a:noFill/>
                </a:ln>
                <a:solidFill>
                  <a:srgbClr val="11576A"/>
                </a:solidFill>
                <a:effectLst/>
                <a:uLnTx/>
                <a:uFillTx/>
                <a:latin typeface="Calibri" panose="020F0502020204030204" charset="0"/>
                <a:ea typeface="微软雅黑"/>
                <a:cs typeface="+mn-cs"/>
              </a:endParaRPr>
            </a:p>
          </p:txBody>
        </p:sp>
      </p:grpSp>
      <p:grpSp>
        <p:nvGrpSpPr>
          <p:cNvPr id="7" name="组合 3"/>
          <p:cNvGrpSpPr/>
          <p:nvPr/>
        </p:nvGrpSpPr>
        <p:grpSpPr>
          <a:xfrm>
            <a:off x="546109" y="3429487"/>
            <a:ext cx="8568952" cy="415290"/>
            <a:chOff x="520709" y="2802785"/>
            <a:chExt cx="8568952" cy="415290"/>
          </a:xfrm>
        </p:grpSpPr>
        <p:sp>
          <p:nvSpPr>
            <p:cNvPr id="9" name="TextBox 48"/>
            <p:cNvSpPr txBox="1"/>
            <p:nvPr/>
          </p:nvSpPr>
          <p:spPr>
            <a:xfrm>
              <a:off x="874323" y="2802785"/>
              <a:ext cx="8215338" cy="415290"/>
            </a:xfrm>
            <a:prstGeom prst="rect">
              <a:avLst/>
            </a:prstGeom>
            <a:noFill/>
          </p:spPr>
          <p:txBody>
            <a:bodyPr wrap="square" rtlCol="0">
              <a:spAutoFit/>
            </a:bodyPr>
            <a:lstStyle/>
            <a:p>
              <a:pPr marL="342900" marR="0" lvl="1" indent="-342900" algn="l" defTabSz="914400" rtl="0" eaLnBrk="1" fontAlgn="auto" latinLnBrk="0" hangingPunct="1">
                <a:lnSpc>
                  <a:spcPct val="95000"/>
                </a:lnSpc>
                <a:spcBef>
                  <a:spcPct val="20000"/>
                </a:spcBef>
                <a:spcAft>
                  <a:spcPts val="0"/>
                </a:spcAft>
                <a:buClrTx/>
                <a:buSzTx/>
                <a:buFontTx/>
                <a:buNone/>
                <a:tabLst/>
                <a:defRPr/>
              </a:pPr>
              <a:r>
                <a:rPr kumimoji="0" lang="x-none" altLang="zh-CN" sz="2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sym typeface="Times New Roman" panose="02020603050405020304" charset="0"/>
                </a:rPr>
                <a:t>7.7 文件的使用</a:t>
              </a:r>
              <a:endParaRPr kumimoji="0" lang="x-none" altLang="zh-CN" sz="1800" b="0" i="0" u="none" strike="noStrike" kern="1200" cap="none" spc="0" normalizeH="0" baseline="0" noProof="0" dirty="0">
                <a:ln>
                  <a:noFill/>
                </a:ln>
                <a:solidFill>
                  <a:prstClr val="black"/>
                </a:solidFill>
                <a:effectLst/>
                <a:uLnTx/>
                <a:uFillTx/>
                <a:ea typeface="微软雅黑"/>
                <a:cs typeface="+mn-cs"/>
              </a:endParaRPr>
            </a:p>
          </p:txBody>
        </p:sp>
        <p:sp>
          <p:nvSpPr>
            <p:cNvPr id="10"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11576A"/>
                  </a:solidFill>
                  <a:effectLst/>
                  <a:uLnTx/>
                  <a:uFillTx/>
                  <a:latin typeface="张海山锐谐体2.0-授权联系：Samtype@QQ.com" pitchFamily="2" charset="-122"/>
                  <a:ea typeface="张海山锐谐体2.0-授权联系：Samtype@QQ.com" pitchFamily="2" charset="-122"/>
                  <a:cs typeface="+mn-cs"/>
                </a:rPr>
                <a:t>■</a:t>
              </a:r>
              <a:endParaRPr kumimoji="0" lang="zh-CN" altLang="en-US" sz="1800" b="1" i="0" u="none" strike="noStrike" kern="1200" cap="none" spc="0" normalizeH="0" baseline="0" noProof="0" dirty="0">
                <a:ln>
                  <a:noFill/>
                </a:ln>
                <a:solidFill>
                  <a:srgbClr val="11576A"/>
                </a:solidFill>
                <a:effectLst/>
                <a:uLnTx/>
                <a:uFillTx/>
                <a:latin typeface="Calibri" panose="020F0502020204030204" charset="0"/>
                <a:ea typeface="微软雅黑"/>
                <a:cs typeface="+mn-cs"/>
              </a:endParaRPr>
            </a:p>
          </p:txBody>
        </p:sp>
      </p:grpSp>
      <p:grpSp>
        <p:nvGrpSpPr>
          <p:cNvPr id="11" name="组合 3"/>
          <p:cNvGrpSpPr/>
          <p:nvPr/>
        </p:nvGrpSpPr>
        <p:grpSpPr>
          <a:xfrm>
            <a:off x="540394" y="3867002"/>
            <a:ext cx="8568952" cy="415290"/>
            <a:chOff x="520709" y="2802785"/>
            <a:chExt cx="8568952" cy="415290"/>
          </a:xfrm>
        </p:grpSpPr>
        <p:sp>
          <p:nvSpPr>
            <p:cNvPr id="12" name="TextBox 48"/>
            <p:cNvSpPr txBox="1"/>
            <p:nvPr/>
          </p:nvSpPr>
          <p:spPr>
            <a:xfrm>
              <a:off x="874323" y="2802785"/>
              <a:ext cx="8215338" cy="415290"/>
            </a:xfrm>
            <a:prstGeom prst="rect">
              <a:avLst/>
            </a:prstGeom>
            <a:noFill/>
          </p:spPr>
          <p:txBody>
            <a:bodyPr wrap="square" rtlCol="0">
              <a:spAutoFit/>
            </a:bodyPr>
            <a:lstStyle/>
            <a:p>
              <a:pPr marL="342900" marR="0" lvl="1" indent="-342900" algn="l" defTabSz="914400" rtl="0" eaLnBrk="1" fontAlgn="auto" latinLnBrk="0" hangingPunct="1">
                <a:lnSpc>
                  <a:spcPct val="95000"/>
                </a:lnSpc>
                <a:spcBef>
                  <a:spcPct val="20000"/>
                </a:spcBef>
                <a:spcAft>
                  <a:spcPts val="0"/>
                </a:spcAft>
                <a:buClrTx/>
                <a:buSzTx/>
                <a:buFontTx/>
                <a:buNone/>
                <a:tabLst/>
                <a:defRPr/>
              </a:pPr>
              <a:r>
                <a:rPr kumimoji="0" lang="x-none" altLang="zh-CN" sz="2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sym typeface="Times New Roman" panose="02020603050405020304" charset="0"/>
                </a:rPr>
                <a:t>7.8 文件系统与层次模型</a:t>
              </a:r>
              <a:endParaRPr kumimoji="0" lang="x-none" altLang="zh-CN" sz="1800" b="0" i="0" u="none" strike="noStrike" kern="1200" cap="none" spc="0" normalizeH="0" baseline="0" noProof="0" dirty="0">
                <a:ln>
                  <a:noFill/>
                </a:ln>
                <a:solidFill>
                  <a:prstClr val="black"/>
                </a:solidFill>
                <a:effectLst/>
                <a:uLnTx/>
                <a:uFillTx/>
                <a:ea typeface="微软雅黑"/>
                <a:cs typeface="+mn-cs"/>
              </a:endParaRPr>
            </a:p>
          </p:txBody>
        </p:sp>
        <p:sp>
          <p:nvSpPr>
            <p:cNvPr id="25"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11576A"/>
                  </a:solidFill>
                  <a:effectLst/>
                  <a:uLnTx/>
                  <a:uFillTx/>
                  <a:latin typeface="张海山锐谐体2.0-授权联系：Samtype@QQ.com" pitchFamily="2" charset="-122"/>
                  <a:ea typeface="张海山锐谐体2.0-授权联系：Samtype@QQ.com" pitchFamily="2" charset="-122"/>
                  <a:cs typeface="+mn-cs"/>
                </a:rPr>
                <a:t>■</a:t>
              </a:r>
              <a:endParaRPr kumimoji="0" lang="zh-CN" altLang="en-US" sz="1800" b="1" i="0" u="none" strike="noStrike" kern="1200" cap="none" spc="0" normalizeH="0" baseline="0" noProof="0" dirty="0">
                <a:ln>
                  <a:noFill/>
                </a:ln>
                <a:solidFill>
                  <a:srgbClr val="11576A"/>
                </a:solidFill>
                <a:effectLst/>
                <a:uLnTx/>
                <a:uFillTx/>
                <a:latin typeface="Calibri" panose="020F0502020204030204" charset="0"/>
                <a:ea typeface="微软雅黑"/>
                <a:cs typeface="+mn-cs"/>
              </a:endParaRPr>
            </a:p>
          </p:txBody>
        </p:sp>
      </p:grpSp>
    </p:spTree>
    <p:extLst>
      <p:ext uri="{BB962C8B-B14F-4D97-AF65-F5344CB8AC3E}">
        <p14:creationId xmlns:p14="http://schemas.microsoft.com/office/powerpoint/2010/main" val="184157481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2" presetID="22" presetClass="entr" presetSubtype="8"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8"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ctrTitle"/>
          </p:nvPr>
        </p:nvSpPr>
        <p:spPr>
          <a:xfrm>
            <a:off x="971550" y="1924050"/>
            <a:ext cx="7113588" cy="928688"/>
          </a:xfrm>
          <a:ln w="9525">
            <a:noFill/>
            <a:miter/>
          </a:ln>
        </p:spPr>
        <p:txBody>
          <a:bodyPr wrap="square" lIns="91440" tIns="45720" rIns="91440" bIns="45720" anchor="b"/>
          <a:lstStyle/>
          <a:p>
            <a:pPr defTabSz="457200" eaLnBrk="1" hangingPunct="1"/>
            <a:r>
              <a:rPr lang="x-none" altLang="zh-CN" sz="4000" b="1" kern="1200" dirty="0">
                <a:solidFill>
                  <a:srgbClr val="11576A"/>
                </a:solidFill>
                <a:latin typeface="微软雅黑" panose="020B0503020204020204" pitchFamily="34" charset="-122"/>
                <a:ea typeface="微软雅黑" panose="020B0503020204020204" pitchFamily="34" charset="-122"/>
                <a:cs typeface="+mj-cs"/>
              </a:rPr>
              <a:t>7.4</a:t>
            </a:r>
            <a:r>
              <a:rPr lang="zh-CN" altLang="en-US" sz="4000" b="1" kern="1200" dirty="0">
                <a:solidFill>
                  <a:srgbClr val="11576A"/>
                </a:solidFill>
                <a:latin typeface="微软雅黑" panose="020B0503020204020204" pitchFamily="34" charset="-122"/>
                <a:ea typeface="微软雅黑" panose="020B0503020204020204" pitchFamily="34" charset="-122"/>
                <a:cs typeface="+mj-cs"/>
              </a:rPr>
              <a:t> </a:t>
            </a:r>
            <a:r>
              <a:rPr lang="x-none" altLang="zh-CN" sz="4000" b="1" kern="1200" dirty="0">
                <a:solidFill>
                  <a:srgbClr val="11576A"/>
                </a:solidFill>
                <a:latin typeface="微软雅黑" panose="020B0503020204020204" pitchFamily="34" charset="-122"/>
                <a:ea typeface="微软雅黑" panose="020B0503020204020204" pitchFamily="34" charset="-122"/>
                <a:cs typeface="+mj-cs"/>
              </a:rPr>
              <a:t>文件存储空间管理</a:t>
            </a:r>
          </a:p>
        </p:txBody>
      </p:sp>
    </p:spTree>
  </p:cSld>
  <p:clrMapOvr>
    <a:masterClrMapping/>
  </p:clrMapOvr>
  <p:transition>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205979"/>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defRPr/>
            </a:pPr>
            <a:r>
              <a:rPr lang="zh-CN" altLang="en-US" dirty="0"/>
              <a:t>文件存储空间管理</a:t>
            </a:r>
            <a:r>
              <a:rPr lang="en-US" altLang="zh-CN" dirty="0"/>
              <a:t>=</a:t>
            </a:r>
            <a:r>
              <a:rPr lang="zh-CN" altLang="en-US" dirty="0"/>
              <a:t>磁盘空闲空间管理</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grpSp>
        <p:nvGrpSpPr>
          <p:cNvPr id="2" name="组合 1"/>
          <p:cNvGrpSpPr/>
          <p:nvPr/>
        </p:nvGrpSpPr>
        <p:grpSpPr>
          <a:xfrm>
            <a:off x="844893" y="2214560"/>
            <a:ext cx="4941553" cy="428628"/>
            <a:chOff x="844893" y="1000114"/>
            <a:chExt cx="4941553" cy="428628"/>
          </a:xfrm>
        </p:grpSpPr>
        <p:sp>
          <p:nvSpPr>
            <p:cNvPr id="9" name="内容占位符 2"/>
            <p:cNvSpPr txBox="1"/>
            <p:nvPr/>
          </p:nvSpPr>
          <p:spPr>
            <a:xfrm>
              <a:off x="1142976" y="1000114"/>
              <a:ext cx="464347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defRPr/>
              </a:pPr>
              <a:r>
                <a:rPr lang="zh-CN" altLang="en-US" dirty="0"/>
                <a:t>跟踪记录文件卷中未分配的数据块</a:t>
              </a:r>
            </a:p>
          </p:txBody>
        </p:sp>
        <p:sp>
          <p:nvSpPr>
            <p:cNvPr id="12" name="TextBox 11"/>
            <p:cNvSpPr txBox="1"/>
            <p:nvPr/>
          </p:nvSpPr>
          <p:spPr>
            <a:xfrm>
              <a:off x="844893" y="100011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1279215" y="2571750"/>
            <a:ext cx="5080288" cy="428628"/>
            <a:chOff x="1259632" y="1685693"/>
            <a:chExt cx="5080288" cy="428628"/>
          </a:xfrm>
        </p:grpSpPr>
        <p:sp>
          <p:nvSpPr>
            <p:cNvPr id="17" name="内容占位符 2"/>
            <p:cNvSpPr txBox="1"/>
            <p:nvPr/>
          </p:nvSpPr>
          <p:spPr>
            <a:xfrm>
              <a:off x="1410698" y="1685693"/>
              <a:ext cx="492922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dirty="0"/>
                <a:t>采用什么数据结构表示空闲空间列表？</a:t>
              </a:r>
              <a:endParaRPr kumimoji="0" lang="zh-CN" altLang="en-US" sz="2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pic>
          <p:nvPicPr>
            <p:cNvPr id="11" name="图片 10" descr="小点1.png"/>
            <p:cNvPicPr>
              <a:picLocks noChangeAspect="1"/>
            </p:cNvPicPr>
            <p:nvPr/>
          </p:nvPicPr>
          <p:blipFill>
            <a:blip r:embed="rId2" cstate="print"/>
            <a:stretch>
              <a:fillRect/>
            </a:stretch>
          </p:blipFill>
          <p:spPr>
            <a:xfrm>
              <a:off x="1259632" y="1793872"/>
              <a:ext cx="151066" cy="148997"/>
            </a:xfrm>
            <a:prstGeom prst="rect">
              <a:avLst/>
            </a:prstGeom>
            <a:effectLst/>
          </p:spPr>
        </p:pic>
      </p:grpSp>
      <p:grpSp>
        <p:nvGrpSpPr>
          <p:cNvPr id="10" name="组合 9"/>
          <p:cNvGrpSpPr/>
          <p:nvPr/>
        </p:nvGrpSpPr>
        <p:grpSpPr>
          <a:xfrm>
            <a:off x="844893" y="857238"/>
            <a:ext cx="7441883" cy="428628"/>
            <a:chOff x="844893" y="1000114"/>
            <a:chExt cx="7441883" cy="428628"/>
          </a:xfrm>
        </p:grpSpPr>
        <p:sp>
          <p:nvSpPr>
            <p:cNvPr id="13" name="内容占位符 2"/>
            <p:cNvSpPr txBox="1"/>
            <p:nvPr/>
          </p:nvSpPr>
          <p:spPr>
            <a:xfrm>
              <a:off x="1142976" y="1000114"/>
              <a:ext cx="714380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 </a:t>
              </a:r>
              <a:r>
                <a:rPr lang="zh-CN" altLang="en-US" dirty="0">
                  <a:solidFill>
                    <a:srgbClr val="FF0000"/>
                  </a:solidFill>
                </a:rPr>
                <a:t>空闲空间管理</a:t>
              </a:r>
              <a:r>
                <a:rPr lang="en-US" altLang="zh-CN" dirty="0"/>
                <a:t>: </a:t>
              </a:r>
              <a:r>
                <a:rPr lang="zh-CN" altLang="en-US" dirty="0"/>
                <a:t>跟踪、记录卷中未被分配的数据块，是文件系统的重要任务之一</a:t>
              </a:r>
              <a:endParaRPr lang="en-US" altLang="zh-CN" dirty="0"/>
            </a:p>
            <a:p>
              <a:r>
                <a:rPr lang="zh-CN" altLang="en-US" dirty="0">
                  <a:latin typeface="楷体" panose="02010609060101010101" pitchFamily="49" charset="-122"/>
                  <a:ea typeface="楷体" panose="02010609060101010101" pitchFamily="49" charset="-122"/>
                </a:rPr>
                <a:t>只有有效地进行存储空间管理，才能保证多个用户共享文件存储设备和实现文件的按名存取</a:t>
              </a:r>
            </a:p>
            <a:p>
              <a:endParaRPr lang="zh-CN" altLang="en-US" dirty="0"/>
            </a:p>
          </p:txBody>
        </p:sp>
        <p:sp>
          <p:nvSpPr>
            <p:cNvPr id="14" name="TextBox 13"/>
            <p:cNvSpPr txBox="1"/>
            <p:nvPr/>
          </p:nvSpPr>
          <p:spPr>
            <a:xfrm>
              <a:off x="844893" y="100011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sp>
        <p:nvSpPr>
          <p:cNvPr id="19" name="矩形 18"/>
          <p:cNvSpPr/>
          <p:nvPr/>
        </p:nvSpPr>
        <p:spPr>
          <a:xfrm>
            <a:off x="833411" y="3143254"/>
            <a:ext cx="7715304" cy="1938992"/>
          </a:xfrm>
          <a:prstGeom prst="rect">
            <a:avLst/>
          </a:prstGeom>
        </p:spPr>
        <p:txBody>
          <a:bodyPr wrap="squar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微软雅黑" panose="020B0503020204020204" pitchFamily="34" charset="-122"/>
                <a:ea typeface="微软雅黑" panose="020B0503020204020204" pitchFamily="34" charset="-122"/>
              </a:rPr>
              <a:t> 文件存储空间的管理实质上是一个空闲块的组织和管理问题，包括空闲块的组织、分配与回收</a:t>
            </a:r>
          </a:p>
          <a:p>
            <a:r>
              <a:rPr lang="zh-CN" altLang="en-US" sz="2000" b="1" dirty="0">
                <a:solidFill>
                  <a:srgbClr val="11576A"/>
                </a:solidFill>
                <a:latin typeface="微软雅黑" panose="020B0503020204020204" pitchFamily="34" charset="-122"/>
                <a:ea typeface="微软雅黑" panose="020B0503020204020204" pitchFamily="34" charset="-122"/>
              </a:rPr>
              <a:t>三种空闲块管理方法</a:t>
            </a:r>
          </a:p>
          <a:p>
            <a:pPr lvl="1"/>
            <a:r>
              <a:rPr lang="zh-CN" altLang="en-US" sz="2000" b="1" dirty="0">
                <a:solidFill>
                  <a:srgbClr val="11576A"/>
                </a:solidFill>
                <a:latin typeface="微软雅黑" panose="020B0503020204020204" pitchFamily="34" charset="-122"/>
                <a:ea typeface="微软雅黑" panose="020B0503020204020204" pitchFamily="34" charset="-122"/>
              </a:rPr>
              <a:t>空闲文件目录</a:t>
            </a:r>
          </a:p>
          <a:p>
            <a:pPr lvl="1"/>
            <a:r>
              <a:rPr lang="zh-CN" altLang="en-US" sz="2000" b="1" dirty="0">
                <a:solidFill>
                  <a:srgbClr val="11576A"/>
                </a:solidFill>
                <a:latin typeface="微软雅黑" panose="020B0503020204020204" pitchFamily="34" charset="-122"/>
                <a:ea typeface="微软雅黑" panose="020B0503020204020204" pitchFamily="34" charset="-122"/>
              </a:rPr>
              <a:t>空闲块链</a:t>
            </a:r>
          </a:p>
          <a:p>
            <a:pPr lvl="1"/>
            <a:r>
              <a:rPr lang="zh-CN" altLang="en-US" sz="2000" b="1" dirty="0">
                <a:solidFill>
                  <a:srgbClr val="11576A"/>
                </a:solidFill>
                <a:latin typeface="微软雅黑" panose="020B0503020204020204" pitchFamily="34" charset="-122"/>
                <a:ea typeface="微软雅黑" panose="020B0503020204020204" pitchFamily="34" charset="-122"/>
              </a:rPr>
              <a:t>位示图</a:t>
            </a:r>
            <a:endParaRPr lang="en-US" altLang="zh-CN" sz="2000" b="1" dirty="0">
              <a:solidFill>
                <a:srgbClr val="11576A"/>
              </a:solidFill>
              <a:latin typeface="微软雅黑" panose="020B0503020204020204" pitchFamily="34" charset="-122"/>
              <a:ea typeface="微软雅黑" panose="020B0503020204020204" pitchFamily="34" charset="-122"/>
            </a:endParaRPr>
          </a:p>
        </p:txBody>
      </p:sp>
      <p:pic>
        <p:nvPicPr>
          <p:cNvPr id="20" name="图片 19" descr="小点1.png"/>
          <p:cNvPicPr>
            <a:picLocks noChangeAspect="1"/>
          </p:cNvPicPr>
          <p:nvPr/>
        </p:nvPicPr>
        <p:blipFill>
          <a:blip r:embed="rId2" cstate="print"/>
          <a:stretch>
            <a:fillRect/>
          </a:stretch>
        </p:blipFill>
        <p:spPr>
          <a:xfrm>
            <a:off x="1142976" y="4214824"/>
            <a:ext cx="151066" cy="148997"/>
          </a:xfrm>
          <a:prstGeom prst="rect">
            <a:avLst/>
          </a:prstGeom>
          <a:effectLst/>
        </p:spPr>
      </p:pic>
      <p:pic>
        <p:nvPicPr>
          <p:cNvPr id="21" name="图片 20" descr="小点1.png"/>
          <p:cNvPicPr>
            <a:picLocks noChangeAspect="1"/>
          </p:cNvPicPr>
          <p:nvPr/>
        </p:nvPicPr>
        <p:blipFill>
          <a:blip r:embed="rId2" cstate="print"/>
          <a:stretch>
            <a:fillRect/>
          </a:stretch>
        </p:blipFill>
        <p:spPr>
          <a:xfrm>
            <a:off x="1142976" y="4500576"/>
            <a:ext cx="151066" cy="148997"/>
          </a:xfrm>
          <a:prstGeom prst="rect">
            <a:avLst/>
          </a:prstGeom>
          <a:effectLst/>
        </p:spPr>
      </p:pic>
      <p:pic>
        <p:nvPicPr>
          <p:cNvPr id="22" name="图片 21" descr="小点1.png"/>
          <p:cNvPicPr>
            <a:picLocks noChangeAspect="1"/>
          </p:cNvPicPr>
          <p:nvPr/>
        </p:nvPicPr>
        <p:blipFill>
          <a:blip r:embed="rId2" cstate="print"/>
          <a:stretch>
            <a:fillRect/>
          </a:stretch>
        </p:blipFill>
        <p:spPr>
          <a:xfrm>
            <a:off x="1142976" y="4786328"/>
            <a:ext cx="151066" cy="148997"/>
          </a:xfrm>
          <a:prstGeom prst="rect">
            <a:avLst/>
          </a:prstGeom>
          <a:effec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42910" y="857238"/>
            <a:ext cx="8072494" cy="707886"/>
          </a:xfrm>
          <a:prstGeom prst="rect">
            <a:avLst/>
          </a:prstGeom>
        </p:spPr>
        <p:txBody>
          <a:bodyPr wrap="squar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微软雅黑" panose="020B0503020204020204" pitchFamily="34" charset="-122"/>
                <a:ea typeface="微软雅黑" panose="020B0503020204020204" pitchFamily="34" charset="-122"/>
              </a:rPr>
              <a:t>  把文件存储设备中的空闲块的块号统一放在一个称为空闲文件目录的物理块中</a:t>
            </a:r>
          </a:p>
        </p:txBody>
      </p:sp>
      <p:pic>
        <p:nvPicPr>
          <p:cNvPr id="10243" name="Picture 3"/>
          <p:cNvPicPr>
            <a:picLocks noChangeAspect="1" noChangeArrowheads="1"/>
          </p:cNvPicPr>
          <p:nvPr/>
        </p:nvPicPr>
        <p:blipFill>
          <a:blip r:embed="rId2"/>
          <a:srcRect/>
          <a:stretch>
            <a:fillRect/>
          </a:stretch>
        </p:blipFill>
        <p:spPr bwMode="auto">
          <a:xfrm>
            <a:off x="5786446" y="3766381"/>
            <a:ext cx="3105142" cy="1196144"/>
          </a:xfrm>
          <a:prstGeom prst="rect">
            <a:avLst/>
          </a:prstGeom>
          <a:noFill/>
          <a:ln w="9525">
            <a:noFill/>
            <a:miter lim="800000"/>
            <a:headEnd/>
            <a:tailEnd/>
          </a:ln>
          <a:effectLst/>
        </p:spPr>
      </p:pic>
      <p:sp>
        <p:nvSpPr>
          <p:cNvPr id="6" name="矩形 5"/>
          <p:cNvSpPr/>
          <p:nvPr/>
        </p:nvSpPr>
        <p:spPr>
          <a:xfrm>
            <a:off x="642910" y="1500180"/>
            <a:ext cx="7786742" cy="2554545"/>
          </a:xfrm>
          <a:prstGeom prst="rect">
            <a:avLst/>
          </a:prstGeom>
        </p:spPr>
        <p:txBody>
          <a:bodyPr wrap="square">
            <a:spAutoFit/>
          </a:bodyPr>
          <a:lstStyle/>
          <a:p>
            <a:r>
              <a:rPr lang="zh-CN" altLang="en-US" sz="2000" b="1" dirty="0">
                <a:solidFill>
                  <a:srgbClr val="11576A"/>
                </a:solidFill>
                <a:latin typeface="微软雅黑" panose="020B0503020204020204" pitchFamily="34" charset="-122"/>
                <a:ea typeface="微软雅黑" panose="020B0503020204020204" pitchFamily="34" charset="-122"/>
              </a:rPr>
              <a:t>分配与回收</a:t>
            </a:r>
          </a:p>
          <a:p>
            <a:r>
              <a:rPr lang="zh-CN" altLang="en-US" sz="2000"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微软雅黑" panose="020B0503020204020204" pitchFamily="34" charset="-122"/>
                <a:ea typeface="微软雅黑" panose="020B0503020204020204" pitchFamily="34" charset="-122"/>
              </a:rPr>
              <a:t> 系统为某个文件分配空闲块时，首先扫描空闲文件目录项，如果找到合适的空闲区项，则分配，并把该项从空闲文件目录中去除。如果一个空闲区不能满足要求，则把目录中另一项分配给申请者（连续文件结构除外）。如果一个空闲区项所含块数超过申请者要求，则分配后要修改空间文件目录表项</a:t>
            </a:r>
          </a:p>
          <a:p>
            <a:r>
              <a:rPr lang="zh-CN" altLang="en-US" sz="2000"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微软雅黑" panose="020B0503020204020204" pitchFamily="34" charset="-122"/>
                <a:ea typeface="微软雅黑" panose="020B0503020204020204" pitchFamily="34" charset="-122"/>
              </a:rPr>
              <a:t> 当文件被删除，释放空间时，系统要把释放的存储空间填入空闲目录文件中。</a:t>
            </a:r>
            <a:endParaRPr lang="en-US" altLang="zh-CN" sz="2000" b="1" dirty="0">
              <a:solidFill>
                <a:srgbClr val="11576A"/>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457200" y="205979"/>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defRPr/>
            </a:pPr>
            <a:r>
              <a:rPr lang="zh-CN" altLang="en-US" dirty="0"/>
              <a:t>空闲文件目录</a:t>
            </a:r>
          </a:p>
        </p:txBody>
      </p:sp>
    </p:spTree>
  </p:cSld>
  <p:clrMapOvr>
    <a:masterClrMapping/>
  </p:clrMapOvr>
  <p:transition>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457200" y="205979"/>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defRPr/>
            </a:pPr>
            <a:r>
              <a:rPr lang="zh-CN" altLang="en-US" dirty="0"/>
              <a:t>空闲块链</a:t>
            </a:r>
          </a:p>
        </p:txBody>
      </p:sp>
      <p:sp>
        <p:nvSpPr>
          <p:cNvPr id="3" name="矩形 2"/>
          <p:cNvSpPr/>
          <p:nvPr/>
        </p:nvSpPr>
        <p:spPr>
          <a:xfrm>
            <a:off x="857224" y="2143122"/>
            <a:ext cx="7215238" cy="1015663"/>
          </a:xfrm>
          <a:prstGeom prst="rect">
            <a:avLst/>
          </a:prstGeom>
        </p:spPr>
        <p:txBody>
          <a:bodyPr wrap="square">
            <a:spAutoFit/>
          </a:bodyPr>
          <a:lstStyle/>
          <a:p>
            <a:r>
              <a:rPr lang="zh-CN" altLang="en-US" sz="2000" b="1" dirty="0">
                <a:solidFill>
                  <a:srgbClr val="11576A"/>
                </a:solidFill>
                <a:latin typeface="微软雅黑" panose="020B0503020204020204" pitchFamily="34" charset="-122"/>
                <a:ea typeface="微软雅黑" panose="020B0503020204020204" pitchFamily="34" charset="-122"/>
              </a:rPr>
              <a:t>分配：当系统建立文件需分配空闲块时，从链头开始摘取所需的空闲块，然后调整链首指针</a:t>
            </a:r>
          </a:p>
          <a:p>
            <a:r>
              <a:rPr lang="zh-CN" altLang="en-US" sz="2000" b="1" dirty="0">
                <a:solidFill>
                  <a:srgbClr val="11576A"/>
                </a:solidFill>
                <a:latin typeface="微软雅黑" panose="020B0503020204020204" pitchFamily="34" charset="-122"/>
                <a:ea typeface="微软雅黑" panose="020B0503020204020204" pitchFamily="34" charset="-122"/>
              </a:rPr>
              <a:t>回收：当回收空闲块时</a:t>
            </a:r>
            <a:r>
              <a:rPr lang="en-US" altLang="zh-CN" sz="2000" b="1" dirty="0">
                <a:solidFill>
                  <a:srgbClr val="11576A"/>
                </a:solidFill>
                <a:latin typeface="微软雅黑" panose="020B0503020204020204" pitchFamily="34" charset="-122"/>
                <a:ea typeface="微软雅黑" panose="020B0503020204020204" pitchFamily="34" charset="-122"/>
              </a:rPr>
              <a:t>;</a:t>
            </a:r>
            <a:r>
              <a:rPr lang="zh-CN" altLang="en-US" sz="2000" b="1" dirty="0">
                <a:solidFill>
                  <a:srgbClr val="11576A"/>
                </a:solidFill>
                <a:latin typeface="微软雅黑" panose="020B0503020204020204" pitchFamily="34" charset="-122"/>
                <a:ea typeface="微软雅黑" panose="020B0503020204020204" pitchFamily="34" charset="-122"/>
              </a:rPr>
              <a:t>把释放的空闲块逐个插入链尾</a:t>
            </a:r>
            <a:endParaRPr lang="en-US" altLang="zh-CN" sz="2000" b="1" dirty="0">
              <a:solidFill>
                <a:srgbClr val="11576A"/>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550613" y="851004"/>
            <a:ext cx="6988079" cy="1284436"/>
            <a:chOff x="550613" y="851004"/>
            <a:chExt cx="6988079" cy="1284436"/>
          </a:xfrm>
        </p:grpSpPr>
        <p:sp>
          <p:nvSpPr>
            <p:cNvPr id="5" name="内容占位符 2"/>
            <p:cNvSpPr txBox="1"/>
            <p:nvPr/>
          </p:nvSpPr>
          <p:spPr>
            <a:xfrm>
              <a:off x="848696" y="851004"/>
              <a:ext cx="142876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链表</a:t>
              </a:r>
              <a:endParaRPr lang="en-US" altLang="zh-CN" dirty="0"/>
            </a:p>
          </p:txBody>
        </p:sp>
        <p:sp>
          <p:nvSpPr>
            <p:cNvPr id="6" name="TextBox 5"/>
            <p:cNvSpPr txBox="1"/>
            <p:nvPr/>
          </p:nvSpPr>
          <p:spPr>
            <a:xfrm>
              <a:off x="550613" y="85100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 name="矩形 6"/>
            <p:cNvSpPr/>
            <p:nvPr/>
          </p:nvSpPr>
          <p:spPr>
            <a:xfrm>
              <a:off x="1089534" y="1338666"/>
              <a:ext cx="288000" cy="396000"/>
            </a:xfrm>
            <a:prstGeom prst="rect">
              <a:avLst/>
            </a:prstGeom>
            <a:gradFill>
              <a:gsLst>
                <a:gs pos="0">
                  <a:srgbClr val="FFFF00"/>
                </a:gs>
                <a:gs pos="100000">
                  <a:srgbClr val="FF99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b="1" dirty="0">
                  <a:solidFill>
                    <a:srgbClr val="11576A"/>
                  </a:solidFill>
                  <a:latin typeface="+mj-ea"/>
                  <a:ea typeface="+mj-ea"/>
                </a:rPr>
                <a:t>D</a:t>
              </a:r>
              <a:endParaRPr lang="zh-CN" altLang="en-US" b="1" dirty="0">
                <a:solidFill>
                  <a:srgbClr val="11576A"/>
                </a:solidFill>
                <a:latin typeface="+mj-ea"/>
                <a:ea typeface="+mj-ea"/>
              </a:endParaRPr>
            </a:p>
          </p:txBody>
        </p:sp>
        <p:sp>
          <p:nvSpPr>
            <p:cNvPr id="8" name="矩形 7"/>
            <p:cNvSpPr/>
            <p:nvPr/>
          </p:nvSpPr>
          <p:spPr>
            <a:xfrm>
              <a:off x="1510696" y="1338666"/>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矩形 8"/>
            <p:cNvSpPr/>
            <p:nvPr/>
          </p:nvSpPr>
          <p:spPr>
            <a:xfrm>
              <a:off x="3249774" y="1338666"/>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矩形 9"/>
            <p:cNvSpPr/>
            <p:nvPr/>
          </p:nvSpPr>
          <p:spPr>
            <a:xfrm>
              <a:off x="5021510" y="1338666"/>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矩形 10"/>
            <p:cNvSpPr/>
            <p:nvPr/>
          </p:nvSpPr>
          <p:spPr>
            <a:xfrm>
              <a:off x="2375544" y="1338666"/>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矩形 11"/>
            <p:cNvSpPr/>
            <p:nvPr/>
          </p:nvSpPr>
          <p:spPr>
            <a:xfrm>
              <a:off x="2807592" y="1338666"/>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矩形 12"/>
            <p:cNvSpPr/>
            <p:nvPr/>
          </p:nvSpPr>
          <p:spPr>
            <a:xfrm>
              <a:off x="7250692" y="1338666"/>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任意多边形 13"/>
            <p:cNvSpPr/>
            <p:nvPr/>
          </p:nvSpPr>
          <p:spPr>
            <a:xfrm>
              <a:off x="1181377" y="1740455"/>
              <a:ext cx="504056" cy="327239"/>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任意多边形 14"/>
            <p:cNvSpPr/>
            <p:nvPr/>
          </p:nvSpPr>
          <p:spPr>
            <a:xfrm>
              <a:off x="1685433" y="1719435"/>
              <a:ext cx="864096" cy="348259"/>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任意多边形 15"/>
            <p:cNvSpPr/>
            <p:nvPr/>
          </p:nvSpPr>
          <p:spPr>
            <a:xfrm>
              <a:off x="6056900" y="1719435"/>
              <a:ext cx="906135" cy="416005"/>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p:cNvSpPr/>
            <p:nvPr/>
          </p:nvSpPr>
          <p:spPr>
            <a:xfrm>
              <a:off x="1941966" y="1338184"/>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矩形 17"/>
            <p:cNvSpPr/>
            <p:nvPr/>
          </p:nvSpPr>
          <p:spPr>
            <a:xfrm>
              <a:off x="4123194" y="1338666"/>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矩形 18"/>
            <p:cNvSpPr/>
            <p:nvPr/>
          </p:nvSpPr>
          <p:spPr>
            <a:xfrm>
              <a:off x="3681012" y="1338666"/>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矩形 19"/>
            <p:cNvSpPr/>
            <p:nvPr/>
          </p:nvSpPr>
          <p:spPr>
            <a:xfrm>
              <a:off x="4565752" y="1338666"/>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矩形 20"/>
            <p:cNvSpPr/>
            <p:nvPr/>
          </p:nvSpPr>
          <p:spPr>
            <a:xfrm>
              <a:off x="5917136" y="1338666"/>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矩形 21"/>
            <p:cNvSpPr/>
            <p:nvPr/>
          </p:nvSpPr>
          <p:spPr>
            <a:xfrm>
              <a:off x="5461378" y="1338666"/>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矩形 22"/>
            <p:cNvSpPr/>
            <p:nvPr/>
          </p:nvSpPr>
          <p:spPr>
            <a:xfrm>
              <a:off x="6365952" y="1338666"/>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矩形 23"/>
            <p:cNvSpPr/>
            <p:nvPr/>
          </p:nvSpPr>
          <p:spPr>
            <a:xfrm>
              <a:off x="6798000" y="1338666"/>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任意多边形 24"/>
            <p:cNvSpPr/>
            <p:nvPr/>
          </p:nvSpPr>
          <p:spPr>
            <a:xfrm>
              <a:off x="2549528" y="1719435"/>
              <a:ext cx="2160240" cy="348259"/>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任意多边形 25"/>
            <p:cNvSpPr/>
            <p:nvPr/>
          </p:nvSpPr>
          <p:spPr>
            <a:xfrm>
              <a:off x="4760756" y="1740455"/>
              <a:ext cx="360040" cy="327239"/>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任意多边形 26"/>
            <p:cNvSpPr/>
            <p:nvPr/>
          </p:nvSpPr>
          <p:spPr>
            <a:xfrm>
              <a:off x="5213824" y="1740455"/>
              <a:ext cx="360040" cy="327239"/>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任意多边形 27"/>
            <p:cNvSpPr/>
            <p:nvPr/>
          </p:nvSpPr>
          <p:spPr>
            <a:xfrm>
              <a:off x="5654820" y="1740455"/>
              <a:ext cx="360040" cy="327239"/>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9" name="矩形 28"/>
          <p:cNvSpPr/>
          <p:nvPr/>
        </p:nvSpPr>
        <p:spPr>
          <a:xfrm>
            <a:off x="785786" y="3820061"/>
            <a:ext cx="7572428" cy="1941830"/>
          </a:xfrm>
          <a:prstGeom prst="rect">
            <a:avLst/>
          </a:prstGeom>
        </p:spPr>
        <p:txBody>
          <a:bodyPr wrap="square">
            <a:spAutoFit/>
          </a:bodyPr>
          <a:lstStyle/>
          <a:p>
            <a:r>
              <a:rPr lang="zh-CN" altLang="en-US" sz="2000" b="1" dirty="0">
                <a:solidFill>
                  <a:srgbClr val="11576A"/>
                </a:solidFill>
                <a:latin typeface="微软雅黑" panose="020B0503020204020204" pitchFamily="34" charset="-122"/>
                <a:ea typeface="微软雅黑" panose="020B0503020204020204" pitchFamily="34" charset="-122"/>
              </a:rPr>
              <a:t>空闲块链的链接方法因系统而异</a:t>
            </a:r>
          </a:p>
          <a:p>
            <a:pPr lvl="1"/>
            <a:r>
              <a:rPr lang="zh-CN" altLang="en-US" sz="2000" b="1" dirty="0">
                <a:solidFill>
                  <a:srgbClr val="11576A"/>
                </a:solidFill>
                <a:latin typeface="微软雅黑" panose="020B0503020204020204" pitchFamily="34" charset="-122"/>
                <a:ea typeface="微软雅黑" panose="020B0503020204020204" pitchFamily="34" charset="-122"/>
              </a:rPr>
              <a:t>常用的有按空闲区</a:t>
            </a:r>
            <a:r>
              <a:rPr lang="zh-CN" altLang="en-US" sz="2000" b="1" dirty="0">
                <a:solidFill>
                  <a:srgbClr val="FF0000"/>
                </a:solidFill>
                <a:latin typeface="微软雅黑" panose="020B0503020204020204" pitchFamily="34" charset="-122"/>
                <a:ea typeface="微软雅黑" panose="020B0503020204020204" pitchFamily="34" charset="-122"/>
              </a:rPr>
              <a:t>大小顺序链接</a:t>
            </a:r>
            <a:r>
              <a:rPr lang="zh-CN" altLang="en-US" sz="2000" b="1" dirty="0">
                <a:solidFill>
                  <a:srgbClr val="11576A"/>
                </a:solidFill>
                <a:latin typeface="微软雅黑" panose="020B0503020204020204" pitchFamily="34" charset="-122"/>
                <a:ea typeface="微软雅黑" panose="020B0503020204020204" pitchFamily="34" charset="-122"/>
              </a:rPr>
              <a:t>的方法</a:t>
            </a:r>
          </a:p>
          <a:p>
            <a:pPr lvl="1"/>
            <a:r>
              <a:rPr lang="zh-CN" altLang="en-US" sz="2000" b="1" dirty="0">
                <a:solidFill>
                  <a:srgbClr val="11576A"/>
                </a:solidFill>
                <a:latin typeface="微软雅黑" panose="020B0503020204020204" pitchFamily="34" charset="-122"/>
                <a:ea typeface="微软雅黑" panose="020B0503020204020204" pitchFamily="34" charset="-122"/>
              </a:rPr>
              <a:t>按</a:t>
            </a:r>
            <a:r>
              <a:rPr lang="zh-CN" altLang="en-US" sz="2000" b="1" dirty="0">
                <a:solidFill>
                  <a:srgbClr val="FF0000"/>
                </a:solidFill>
                <a:latin typeface="微软雅黑" panose="020B0503020204020204" pitchFamily="34" charset="-122"/>
                <a:ea typeface="微软雅黑" panose="020B0503020204020204" pitchFamily="34" charset="-122"/>
              </a:rPr>
              <a:t>释放先后顺序</a:t>
            </a:r>
            <a:r>
              <a:rPr lang="zh-CN" altLang="en-US" sz="2000" b="1" dirty="0">
                <a:solidFill>
                  <a:srgbClr val="11576A"/>
                </a:solidFill>
                <a:latin typeface="微软雅黑" panose="020B0503020204020204" pitchFamily="34" charset="-122"/>
                <a:ea typeface="微软雅黑" panose="020B0503020204020204" pitchFamily="34" charset="-122"/>
              </a:rPr>
              <a:t>链接的方法</a:t>
            </a:r>
          </a:p>
          <a:p>
            <a:pPr marL="0" lvl="1"/>
            <a:r>
              <a:rPr lang="zh-CN" altLang="en-US" sz="2000" b="1" dirty="0">
                <a:solidFill>
                  <a:srgbClr val="11576A"/>
                </a:solidFill>
                <a:latin typeface="微软雅黑" panose="020B0503020204020204" pitchFamily="34" charset="-122"/>
                <a:ea typeface="微软雅黑" panose="020B0503020204020204" pitchFamily="34" charset="-122"/>
                <a:sym typeface="+mn-ea"/>
              </a:rPr>
              <a:t>      按</a:t>
            </a:r>
            <a:r>
              <a:rPr lang="zh-CN" altLang="en-US" sz="2000" b="1" dirty="0">
                <a:solidFill>
                  <a:srgbClr val="FF0000"/>
                </a:solidFill>
                <a:latin typeface="微软雅黑" panose="020B0503020204020204" pitchFamily="34" charset="-122"/>
                <a:ea typeface="微软雅黑" panose="020B0503020204020204" pitchFamily="34" charset="-122"/>
                <a:sym typeface="+mn-ea"/>
              </a:rPr>
              <a:t>成组链接</a:t>
            </a:r>
            <a:r>
              <a:rPr lang="zh-CN" altLang="en-US" sz="2000" b="1" dirty="0">
                <a:solidFill>
                  <a:srgbClr val="11576A"/>
                </a:solidFill>
                <a:latin typeface="微软雅黑" panose="020B0503020204020204" pitchFamily="34" charset="-122"/>
                <a:ea typeface="微软雅黑" panose="020B0503020204020204" pitchFamily="34" charset="-122"/>
                <a:sym typeface="+mn-ea"/>
              </a:rPr>
              <a:t>（空闲块链的链接法的扩展）</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a:endParaRPr lang="zh-CN" altLang="en-US" sz="2000" b="1" dirty="0">
              <a:solidFill>
                <a:srgbClr val="11576A"/>
              </a:solidFill>
              <a:latin typeface="微软雅黑" panose="020B0503020204020204" pitchFamily="34" charset="-122"/>
              <a:ea typeface="微软雅黑" panose="020B0503020204020204" pitchFamily="34" charset="-122"/>
            </a:endParaRPr>
          </a:p>
          <a:p>
            <a:pPr lvl="1"/>
            <a:endParaRPr lang="en-US" altLang="zh-CN" sz="2000" b="1" dirty="0">
              <a:solidFill>
                <a:srgbClr val="11576A"/>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空闲块链</a:t>
            </a:r>
            <a:r>
              <a:rPr kumimoji="0" lang="en-US" altLang="zh-CN"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a:t>
            </a: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链式索引</a:t>
            </a:r>
          </a:p>
        </p:txBody>
      </p:sp>
      <p:grpSp>
        <p:nvGrpSpPr>
          <p:cNvPr id="5" name="组合 4"/>
          <p:cNvGrpSpPr/>
          <p:nvPr/>
        </p:nvGrpSpPr>
        <p:grpSpPr>
          <a:xfrm>
            <a:off x="550613" y="785800"/>
            <a:ext cx="7837811" cy="2051996"/>
            <a:chOff x="550613" y="2175938"/>
            <a:chExt cx="7837811" cy="2051996"/>
          </a:xfrm>
        </p:grpSpPr>
        <p:grpSp>
          <p:nvGrpSpPr>
            <p:cNvPr id="4" name="组合 3"/>
            <p:cNvGrpSpPr/>
            <p:nvPr/>
          </p:nvGrpSpPr>
          <p:grpSpPr>
            <a:xfrm>
              <a:off x="550613" y="2175938"/>
              <a:ext cx="7027355" cy="1632306"/>
              <a:chOff x="550613" y="2175938"/>
              <a:chExt cx="7027355" cy="1632306"/>
            </a:xfrm>
          </p:grpSpPr>
          <p:sp>
            <p:nvSpPr>
              <p:cNvPr id="13" name="内容占位符 2"/>
              <p:cNvSpPr txBox="1"/>
              <p:nvPr/>
            </p:nvSpPr>
            <p:spPr>
              <a:xfrm>
                <a:off x="848696" y="2175938"/>
                <a:ext cx="142876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链式索引</a:t>
                </a:r>
                <a:endParaRPr lang="en-US" altLang="zh-CN" dirty="0"/>
              </a:p>
            </p:txBody>
          </p:sp>
          <p:sp>
            <p:nvSpPr>
              <p:cNvPr id="14" name="TextBox 13"/>
              <p:cNvSpPr txBox="1"/>
              <p:nvPr/>
            </p:nvSpPr>
            <p:spPr>
              <a:xfrm>
                <a:off x="550613" y="217593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15" name="矩形 14"/>
              <p:cNvSpPr/>
              <p:nvPr/>
            </p:nvSpPr>
            <p:spPr>
              <a:xfrm>
                <a:off x="1089534" y="2675288"/>
                <a:ext cx="288000" cy="396000"/>
              </a:xfrm>
              <a:prstGeom prst="rect">
                <a:avLst/>
              </a:prstGeom>
              <a:gradFill>
                <a:gsLst>
                  <a:gs pos="0">
                    <a:srgbClr val="FFFF00"/>
                  </a:gs>
                  <a:gs pos="100000">
                    <a:srgbClr val="FF99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b="1" dirty="0">
                    <a:solidFill>
                      <a:srgbClr val="11576A"/>
                    </a:solidFill>
                    <a:latin typeface="+mj-ea"/>
                    <a:ea typeface="+mj-ea"/>
                  </a:rPr>
                  <a:t>D</a:t>
                </a:r>
                <a:endParaRPr lang="zh-CN" altLang="en-US" b="1" dirty="0">
                  <a:solidFill>
                    <a:srgbClr val="11576A"/>
                  </a:solidFill>
                  <a:latin typeface="+mj-ea"/>
                  <a:ea typeface="+mj-ea"/>
                </a:endParaRPr>
              </a:p>
            </p:txBody>
          </p:sp>
          <p:sp>
            <p:nvSpPr>
              <p:cNvPr id="16" name="矩形 15"/>
              <p:cNvSpPr/>
              <p:nvPr/>
            </p:nvSpPr>
            <p:spPr>
              <a:xfrm>
                <a:off x="3249774" y="2675288"/>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p:cNvSpPr/>
              <p:nvPr/>
            </p:nvSpPr>
            <p:spPr>
              <a:xfrm>
                <a:off x="5021510" y="2664778"/>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矩形 17"/>
              <p:cNvSpPr/>
              <p:nvPr/>
            </p:nvSpPr>
            <p:spPr>
              <a:xfrm>
                <a:off x="2375544" y="2664778"/>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矩形 18"/>
              <p:cNvSpPr/>
              <p:nvPr/>
            </p:nvSpPr>
            <p:spPr>
              <a:xfrm>
                <a:off x="2807592" y="2675288"/>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矩形 19"/>
              <p:cNvSpPr/>
              <p:nvPr/>
            </p:nvSpPr>
            <p:spPr>
              <a:xfrm>
                <a:off x="7250692" y="2675288"/>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任意多边形 20"/>
              <p:cNvSpPr/>
              <p:nvPr/>
            </p:nvSpPr>
            <p:spPr>
              <a:xfrm>
                <a:off x="1695942" y="3108607"/>
                <a:ext cx="872359" cy="114339"/>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任意多边形 21"/>
              <p:cNvSpPr/>
              <p:nvPr/>
            </p:nvSpPr>
            <p:spPr>
              <a:xfrm>
                <a:off x="1181377" y="3098097"/>
                <a:ext cx="432048" cy="271989"/>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任意多边形 22"/>
              <p:cNvSpPr/>
              <p:nvPr/>
            </p:nvSpPr>
            <p:spPr>
              <a:xfrm>
                <a:off x="1602914" y="3056057"/>
                <a:ext cx="3106854" cy="339311"/>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4" name="组合 23"/>
              <p:cNvGrpSpPr/>
              <p:nvPr/>
            </p:nvGrpSpPr>
            <p:grpSpPr>
              <a:xfrm>
                <a:off x="1460460" y="2674806"/>
                <a:ext cx="368988" cy="396000"/>
                <a:chOff x="1754740" y="0"/>
                <a:chExt cx="368988" cy="396000"/>
              </a:xfrm>
            </p:grpSpPr>
            <p:sp>
              <p:nvSpPr>
                <p:cNvPr id="26" name="矩形 25"/>
                <p:cNvSpPr/>
                <p:nvPr/>
              </p:nvSpPr>
              <p:spPr>
                <a:xfrm>
                  <a:off x="1804584" y="0"/>
                  <a:ext cx="288000" cy="396000"/>
                </a:xfrm>
                <a:prstGeom prst="rect">
                  <a:avLst/>
                </a:prstGeom>
                <a:gradFill>
                  <a:gsLst>
                    <a:gs pos="0">
                      <a:srgbClr val="996633"/>
                    </a:gs>
                    <a:gs pos="100000">
                      <a:srgbClr val="33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solidFill>
                      <a:srgbClr val="11576A"/>
                    </a:solidFill>
                    <a:latin typeface="+mj-ea"/>
                    <a:ea typeface="+mj-ea"/>
                  </a:endParaRPr>
                </a:p>
              </p:txBody>
            </p:sp>
            <p:sp>
              <p:nvSpPr>
                <p:cNvPr id="29" name="内容占位符 2"/>
                <p:cNvSpPr txBox="1"/>
                <p:nvPr/>
              </p:nvSpPr>
              <p:spPr>
                <a:xfrm>
                  <a:off x="1754740" y="18330"/>
                  <a:ext cx="368988" cy="36004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en-US" altLang="zh-CN" sz="1800" dirty="0">
                      <a:solidFill>
                        <a:schemeClr val="bg1"/>
                      </a:solidFill>
                    </a:rPr>
                    <a:t>G</a:t>
                  </a:r>
                </a:p>
              </p:txBody>
            </p:sp>
          </p:grpSp>
          <p:sp>
            <p:nvSpPr>
              <p:cNvPr id="30" name="矩形 29"/>
              <p:cNvSpPr/>
              <p:nvPr/>
            </p:nvSpPr>
            <p:spPr>
              <a:xfrm>
                <a:off x="1941966" y="2674806"/>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矩形 30"/>
              <p:cNvSpPr/>
              <p:nvPr/>
            </p:nvSpPr>
            <p:spPr>
              <a:xfrm>
                <a:off x="4123194" y="2675288"/>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矩形 31"/>
              <p:cNvSpPr/>
              <p:nvPr/>
            </p:nvSpPr>
            <p:spPr>
              <a:xfrm>
                <a:off x="3681012" y="2675288"/>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矩形 34"/>
              <p:cNvSpPr/>
              <p:nvPr/>
            </p:nvSpPr>
            <p:spPr>
              <a:xfrm>
                <a:off x="4565752" y="2664778"/>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矩形 35"/>
              <p:cNvSpPr/>
              <p:nvPr/>
            </p:nvSpPr>
            <p:spPr>
              <a:xfrm>
                <a:off x="5917136" y="2664778"/>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矩形 36"/>
              <p:cNvSpPr/>
              <p:nvPr/>
            </p:nvSpPr>
            <p:spPr>
              <a:xfrm>
                <a:off x="5461378" y="2664778"/>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矩形 37"/>
              <p:cNvSpPr/>
              <p:nvPr/>
            </p:nvSpPr>
            <p:spPr>
              <a:xfrm>
                <a:off x="6365952" y="2675288"/>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矩形 38"/>
              <p:cNvSpPr/>
              <p:nvPr/>
            </p:nvSpPr>
            <p:spPr>
              <a:xfrm>
                <a:off x="6798000" y="2664778"/>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2" name="任意多边形 61"/>
              <p:cNvSpPr/>
              <p:nvPr/>
            </p:nvSpPr>
            <p:spPr>
              <a:xfrm>
                <a:off x="1613424" y="3056057"/>
                <a:ext cx="3610910" cy="411319"/>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 name="任意多边形 62"/>
              <p:cNvSpPr/>
              <p:nvPr/>
            </p:nvSpPr>
            <p:spPr>
              <a:xfrm>
                <a:off x="1613424" y="3056057"/>
                <a:ext cx="4114966" cy="483327"/>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4" name="任意多边形 63"/>
              <p:cNvSpPr/>
              <p:nvPr/>
            </p:nvSpPr>
            <p:spPr>
              <a:xfrm>
                <a:off x="1613424" y="3056057"/>
                <a:ext cx="4475006" cy="555335"/>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5" name="任意多边形 64"/>
              <p:cNvSpPr/>
              <p:nvPr/>
            </p:nvSpPr>
            <p:spPr>
              <a:xfrm>
                <a:off x="1613424" y="3056057"/>
                <a:ext cx="5360122" cy="627343"/>
              </a:xfrm>
              <a:custGeom>
                <a:avLst/>
                <a:gdLst>
                  <a:gd name="connsiteX0" fmla="*/ 0 w 872359"/>
                  <a:gd name="connsiteY0" fmla="*/ 0 h 350345"/>
                  <a:gd name="connsiteX1" fmla="*/ 168166 w 872359"/>
                  <a:gd name="connsiteY1" fmla="*/ 283780 h 350345"/>
                  <a:gd name="connsiteX2" fmla="*/ 620111 w 872359"/>
                  <a:gd name="connsiteY2" fmla="*/ 304800 h 350345"/>
                  <a:gd name="connsiteX3" fmla="*/ 872359 w 872359"/>
                  <a:gd name="connsiteY3" fmla="*/ 10511 h 350345"/>
                </a:gdLst>
                <a:ahLst/>
                <a:cxnLst>
                  <a:cxn ang="0">
                    <a:pos x="connsiteX0" y="connsiteY0"/>
                  </a:cxn>
                  <a:cxn ang="0">
                    <a:pos x="connsiteX1" y="connsiteY1"/>
                  </a:cxn>
                  <a:cxn ang="0">
                    <a:pos x="connsiteX2" y="connsiteY2"/>
                  </a:cxn>
                  <a:cxn ang="0">
                    <a:pos x="connsiteX3" y="connsiteY3"/>
                  </a:cxn>
                </a:cxnLst>
                <a:rect l="l" t="t" r="r" b="b"/>
                <a:pathLst>
                  <a:path w="872359" h="350345">
                    <a:moveTo>
                      <a:pt x="0" y="0"/>
                    </a:moveTo>
                    <a:cubicBezTo>
                      <a:pt x="32407" y="116490"/>
                      <a:pt x="64814" y="232980"/>
                      <a:pt x="168166" y="283780"/>
                    </a:cubicBezTo>
                    <a:cubicBezTo>
                      <a:pt x="271518" y="334580"/>
                      <a:pt x="502746" y="350345"/>
                      <a:pt x="620111" y="304800"/>
                    </a:cubicBezTo>
                    <a:cubicBezTo>
                      <a:pt x="737476" y="259255"/>
                      <a:pt x="804917" y="134883"/>
                      <a:pt x="872359" y="10511"/>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6" name="任意多边形 65"/>
              <p:cNvSpPr/>
              <p:nvPr/>
            </p:nvSpPr>
            <p:spPr>
              <a:xfrm>
                <a:off x="1608092" y="3090037"/>
                <a:ext cx="5969876" cy="718207"/>
              </a:xfrm>
              <a:custGeom>
                <a:avLst/>
                <a:gdLst>
                  <a:gd name="connsiteX0" fmla="*/ 0 w 5969876"/>
                  <a:gd name="connsiteY0" fmla="*/ 0 h 718207"/>
                  <a:gd name="connsiteX1" fmla="*/ 830318 w 5969876"/>
                  <a:gd name="connsiteY1" fmla="*/ 578069 h 718207"/>
                  <a:gd name="connsiteX2" fmla="*/ 3384331 w 5969876"/>
                  <a:gd name="connsiteY2" fmla="*/ 704193 h 718207"/>
                  <a:gd name="connsiteX3" fmla="*/ 5969876 w 5969876"/>
                  <a:gd name="connsiteY3" fmla="*/ 493986 h 718207"/>
                </a:gdLst>
                <a:ahLst/>
                <a:cxnLst>
                  <a:cxn ang="0">
                    <a:pos x="connsiteX0" y="connsiteY0"/>
                  </a:cxn>
                  <a:cxn ang="0">
                    <a:pos x="connsiteX1" y="connsiteY1"/>
                  </a:cxn>
                  <a:cxn ang="0">
                    <a:pos x="connsiteX2" y="connsiteY2"/>
                  </a:cxn>
                  <a:cxn ang="0">
                    <a:pos x="connsiteX3" y="connsiteY3"/>
                  </a:cxn>
                </a:cxnLst>
                <a:rect l="l" t="t" r="r" b="b"/>
                <a:pathLst>
                  <a:path w="5969876" h="718207">
                    <a:moveTo>
                      <a:pt x="0" y="0"/>
                    </a:moveTo>
                    <a:cubicBezTo>
                      <a:pt x="133131" y="230352"/>
                      <a:pt x="266263" y="460704"/>
                      <a:pt x="830318" y="578069"/>
                    </a:cubicBezTo>
                    <a:cubicBezTo>
                      <a:pt x="1394373" y="695435"/>
                      <a:pt x="2527738" y="718207"/>
                      <a:pt x="3384331" y="704193"/>
                    </a:cubicBezTo>
                    <a:cubicBezTo>
                      <a:pt x="4240924" y="690179"/>
                      <a:pt x="5105400" y="592082"/>
                      <a:pt x="5969876" y="493986"/>
                    </a:cubicBezTo>
                  </a:path>
                </a:pathLst>
              </a:custGeom>
              <a:ln w="28575">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67" name="内容占位符 2"/>
            <p:cNvSpPr txBox="1"/>
            <p:nvPr/>
          </p:nvSpPr>
          <p:spPr>
            <a:xfrm>
              <a:off x="7268964" y="3291830"/>
              <a:ext cx="1119460" cy="93610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1600" dirty="0">
                  <a:solidFill>
                    <a:srgbClr val="660033"/>
                  </a:solidFill>
                </a:rPr>
                <a:t>    下一组索引块</a:t>
              </a:r>
              <a:endParaRPr lang="en-US" altLang="zh-CN" sz="1600" dirty="0">
                <a:solidFill>
                  <a:srgbClr val="660033"/>
                </a:solidFill>
              </a:endParaRPr>
            </a:p>
          </p:txBody>
        </p:sp>
      </p:grpSp>
      <p:grpSp>
        <p:nvGrpSpPr>
          <p:cNvPr id="3" name="组合 2"/>
          <p:cNvGrpSpPr/>
          <p:nvPr/>
        </p:nvGrpSpPr>
        <p:grpSpPr>
          <a:xfrm>
            <a:off x="2261496" y="2854130"/>
            <a:ext cx="4146496" cy="471092"/>
            <a:chOff x="2261496" y="4244268"/>
            <a:chExt cx="4146496" cy="471092"/>
          </a:xfrm>
        </p:grpSpPr>
        <p:sp>
          <p:nvSpPr>
            <p:cNvPr id="68" name="矩形 67"/>
            <p:cNvSpPr/>
            <p:nvPr/>
          </p:nvSpPr>
          <p:spPr>
            <a:xfrm>
              <a:off x="2261496" y="4244268"/>
              <a:ext cx="288000" cy="396000"/>
            </a:xfrm>
            <a:prstGeom prst="rect">
              <a:avLst/>
            </a:prstGeom>
            <a:gradFill>
              <a:gsLst>
                <a:gs pos="0">
                  <a:srgbClr val="66FF33"/>
                </a:gs>
                <a:gs pos="100000">
                  <a:srgbClr val="003300"/>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9" name="矩形 68"/>
            <p:cNvSpPr/>
            <p:nvPr/>
          </p:nvSpPr>
          <p:spPr>
            <a:xfrm>
              <a:off x="4588334" y="4245830"/>
              <a:ext cx="288000" cy="396000"/>
            </a:xfrm>
            <a:prstGeom prst="rect">
              <a:avLst/>
            </a:prstGeom>
            <a:gradFill>
              <a:gsLst>
                <a:gs pos="0">
                  <a:srgbClr val="0EB1C8"/>
                </a:gs>
                <a:gs pos="100000">
                  <a:srgbClr val="11576A"/>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内容占位符 2"/>
            <p:cNvSpPr txBox="1"/>
            <p:nvPr/>
          </p:nvSpPr>
          <p:spPr>
            <a:xfrm>
              <a:off x="2568986" y="4286732"/>
              <a:ext cx="184380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1600" dirty="0"/>
                <a:t>已分配数据块</a:t>
              </a:r>
              <a:endParaRPr lang="en-US" altLang="zh-CN" sz="1600" dirty="0"/>
            </a:p>
          </p:txBody>
        </p:sp>
        <p:sp>
          <p:nvSpPr>
            <p:cNvPr id="71" name="内容占位符 2"/>
            <p:cNvSpPr txBox="1"/>
            <p:nvPr/>
          </p:nvSpPr>
          <p:spPr>
            <a:xfrm>
              <a:off x="4895824" y="4286732"/>
              <a:ext cx="151216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1600" dirty="0"/>
                <a:t>空闲数据块</a:t>
              </a:r>
              <a:endParaRPr lang="en-US" altLang="zh-CN" sz="1600" dirty="0"/>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空闲空间组织</a:t>
            </a:r>
            <a:r>
              <a:rPr lang="en-US" altLang="zh-CN" dirty="0"/>
              <a:t>: </a:t>
            </a:r>
            <a:r>
              <a:rPr lang="zh-CN" altLang="en-US" dirty="0"/>
              <a:t>位图</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grpSp>
        <p:nvGrpSpPr>
          <p:cNvPr id="2" name="组合 1"/>
          <p:cNvGrpSpPr/>
          <p:nvPr/>
        </p:nvGrpSpPr>
        <p:grpSpPr>
          <a:xfrm>
            <a:off x="844893" y="1019164"/>
            <a:ext cx="6513189" cy="1025756"/>
            <a:chOff x="844893" y="1019164"/>
            <a:chExt cx="6513189" cy="1025756"/>
          </a:xfrm>
        </p:grpSpPr>
        <p:sp>
          <p:nvSpPr>
            <p:cNvPr id="9" name="内容占位符 2"/>
            <p:cNvSpPr txBox="1"/>
            <p:nvPr/>
          </p:nvSpPr>
          <p:spPr>
            <a:xfrm>
              <a:off x="1142976" y="1019164"/>
              <a:ext cx="357190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用位图代表空闲数据块列表</a:t>
              </a:r>
              <a:endParaRPr lang="en-US" altLang="zh-CN" dirty="0"/>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29" name="图片 28" descr="小点1.png"/>
            <p:cNvPicPr>
              <a:picLocks noChangeAspect="1"/>
            </p:cNvPicPr>
            <p:nvPr/>
          </p:nvPicPr>
          <p:blipFill>
            <a:blip r:embed="rId3" cstate="print"/>
            <a:stretch>
              <a:fillRect/>
            </a:stretch>
          </p:blipFill>
          <p:spPr>
            <a:xfrm>
              <a:off x="1262422" y="1476594"/>
              <a:ext cx="151066" cy="148997"/>
            </a:xfrm>
            <a:prstGeom prst="rect">
              <a:avLst/>
            </a:prstGeom>
            <a:effectLst/>
          </p:spPr>
        </p:pic>
        <p:sp>
          <p:nvSpPr>
            <p:cNvPr id="30" name="内容占位符 2"/>
            <p:cNvSpPr txBox="1"/>
            <p:nvPr/>
          </p:nvSpPr>
          <p:spPr>
            <a:xfrm>
              <a:off x="1394985" y="1371818"/>
              <a:ext cx="5963097"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dirty="0"/>
                <a:t>111111111111111001110101011101111...</a:t>
              </a:r>
            </a:p>
          </p:txBody>
        </p:sp>
        <p:pic>
          <p:nvPicPr>
            <p:cNvPr id="31" name="图片 30" descr="小点1.png"/>
            <p:cNvPicPr>
              <a:picLocks noChangeAspect="1"/>
            </p:cNvPicPr>
            <p:nvPr/>
          </p:nvPicPr>
          <p:blipFill>
            <a:blip r:embed="rId3" cstate="print"/>
            <a:stretch>
              <a:fillRect/>
            </a:stretch>
          </p:blipFill>
          <p:spPr>
            <a:xfrm>
              <a:off x="1262422" y="1791374"/>
              <a:ext cx="151066" cy="148997"/>
            </a:xfrm>
            <a:prstGeom prst="rect">
              <a:avLst/>
            </a:prstGeom>
            <a:effectLst/>
          </p:spPr>
        </p:pic>
        <p:sp>
          <p:nvSpPr>
            <p:cNvPr id="32" name="内容占位符 2"/>
            <p:cNvSpPr txBox="1"/>
            <p:nvPr/>
          </p:nvSpPr>
          <p:spPr>
            <a:xfrm>
              <a:off x="1394985" y="1686598"/>
              <a:ext cx="5391593"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en-US" altLang="zh-CN" dirty="0"/>
                <a:t>D</a:t>
              </a:r>
              <a:r>
                <a:rPr lang="en-US" altLang="zh-CN" baseline="-25000" dirty="0"/>
                <a:t>i</a:t>
              </a:r>
              <a:r>
                <a:rPr lang="en-US" altLang="zh-CN" dirty="0"/>
                <a:t> = 0 </a:t>
              </a:r>
              <a:r>
                <a:rPr lang="zh-CN" altLang="en-US" dirty="0"/>
                <a:t>表明数据块</a:t>
              </a:r>
              <a:r>
                <a:rPr lang="en-US" altLang="zh-CN" dirty="0" err="1"/>
                <a:t>i</a:t>
              </a:r>
              <a:r>
                <a:rPr lang="zh-CN" altLang="en-US" dirty="0"/>
                <a:t>是空闲</a:t>
              </a:r>
              <a:r>
                <a:rPr lang="en-US" altLang="zh-CN" dirty="0"/>
                <a:t>, </a:t>
              </a:r>
              <a:r>
                <a:rPr lang="zh-CN" altLang="en-US" dirty="0"/>
                <a:t>否则，表示已分配</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3" name="组合 2"/>
          <p:cNvGrpSpPr/>
          <p:nvPr/>
        </p:nvGrpSpPr>
        <p:grpSpPr>
          <a:xfrm>
            <a:off x="844893" y="2000246"/>
            <a:ext cx="7370445" cy="710976"/>
            <a:chOff x="844893" y="2000246"/>
            <a:chExt cx="7370445" cy="710976"/>
          </a:xfrm>
        </p:grpSpPr>
        <p:sp>
          <p:nvSpPr>
            <p:cNvPr id="24" name="内容占位符 2"/>
            <p:cNvSpPr txBox="1"/>
            <p:nvPr/>
          </p:nvSpPr>
          <p:spPr>
            <a:xfrm>
              <a:off x="1142976" y="2000246"/>
              <a:ext cx="580528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使用简单但是可能会是一个大的很大向量表</a:t>
              </a:r>
              <a:endParaRPr lang="en-US" altLang="zh-CN" dirty="0"/>
            </a:p>
          </p:txBody>
        </p:sp>
        <p:sp>
          <p:nvSpPr>
            <p:cNvPr id="25" name="TextBox 24"/>
            <p:cNvSpPr txBox="1"/>
            <p:nvPr/>
          </p:nvSpPr>
          <p:spPr>
            <a:xfrm>
              <a:off x="844893" y="200024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27" name="图片 26" descr="小点1.png"/>
            <p:cNvPicPr>
              <a:picLocks noChangeAspect="1"/>
            </p:cNvPicPr>
            <p:nvPr/>
          </p:nvPicPr>
          <p:blipFill>
            <a:blip r:embed="rId3" cstate="print"/>
            <a:stretch>
              <a:fillRect/>
            </a:stretch>
          </p:blipFill>
          <p:spPr>
            <a:xfrm>
              <a:off x="1262422" y="2457676"/>
              <a:ext cx="151066" cy="148997"/>
            </a:xfrm>
            <a:prstGeom prst="rect">
              <a:avLst/>
            </a:prstGeom>
            <a:effectLst/>
          </p:spPr>
        </p:pic>
        <p:sp>
          <p:nvSpPr>
            <p:cNvPr id="28" name="内容占位符 2"/>
            <p:cNvSpPr txBox="1"/>
            <p:nvPr/>
          </p:nvSpPr>
          <p:spPr>
            <a:xfrm>
              <a:off x="1394985" y="2352900"/>
              <a:ext cx="6820353"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dirty="0"/>
                <a:t>160GB</a:t>
              </a:r>
              <a:r>
                <a:rPr lang="zh-CN" altLang="en-US" dirty="0"/>
                <a:t>磁盘</a:t>
              </a:r>
              <a:r>
                <a:rPr lang="en-US" altLang="zh-CN" dirty="0"/>
                <a:t>-&gt; 40M</a:t>
              </a:r>
              <a:r>
                <a:rPr lang="zh-CN" altLang="en-US" dirty="0"/>
                <a:t>数据块</a:t>
              </a:r>
              <a:r>
                <a:rPr lang="en-US" altLang="zh-CN" dirty="0"/>
                <a:t>-&gt; 5MB</a:t>
              </a:r>
              <a:r>
                <a:rPr lang="zh-CN" altLang="en-US" dirty="0"/>
                <a:t>位图</a:t>
              </a:r>
              <a:endParaRPr lang="en-US" altLang="zh-CN" dirty="0"/>
            </a:p>
          </p:txBody>
        </p:sp>
      </p:grpSp>
      <p:grpSp>
        <p:nvGrpSpPr>
          <p:cNvPr id="4" name="组合 3"/>
          <p:cNvGrpSpPr/>
          <p:nvPr/>
        </p:nvGrpSpPr>
        <p:grpSpPr>
          <a:xfrm>
            <a:off x="1262422" y="2667680"/>
            <a:ext cx="6381412" cy="1333962"/>
            <a:chOff x="1262422" y="2667680"/>
            <a:chExt cx="6381412" cy="1333962"/>
          </a:xfrm>
        </p:grpSpPr>
        <p:pic>
          <p:nvPicPr>
            <p:cNvPr id="33" name="图片 32" descr="小点1.png"/>
            <p:cNvPicPr>
              <a:picLocks noChangeAspect="1"/>
            </p:cNvPicPr>
            <p:nvPr/>
          </p:nvPicPr>
          <p:blipFill>
            <a:blip r:embed="rId3" cstate="print"/>
            <a:stretch>
              <a:fillRect/>
            </a:stretch>
          </p:blipFill>
          <p:spPr>
            <a:xfrm>
              <a:off x="1262422" y="2786970"/>
              <a:ext cx="151066" cy="148997"/>
            </a:xfrm>
            <a:prstGeom prst="rect">
              <a:avLst/>
            </a:prstGeom>
            <a:effectLst/>
          </p:spPr>
        </p:pic>
        <p:sp>
          <p:nvSpPr>
            <p:cNvPr id="34" name="内容占位符 2"/>
            <p:cNvSpPr txBox="1"/>
            <p:nvPr/>
          </p:nvSpPr>
          <p:spPr>
            <a:xfrm>
              <a:off x="1394985" y="2667680"/>
              <a:ext cx="6248849"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dirty="0"/>
                <a:t>假定空闲空间在磁盘中均匀分布，</a:t>
              </a:r>
              <a:endParaRPr lang="en-US" altLang="zh-CN" dirty="0"/>
            </a:p>
            <a:p>
              <a:pPr marL="0" lvl="1" indent="0"/>
              <a:r>
                <a:rPr lang="zh-CN" altLang="en-US" dirty="0"/>
                <a:t>则找到“</a:t>
              </a:r>
              <a:r>
                <a:rPr lang="en-US" altLang="zh-CN" dirty="0"/>
                <a:t>0</a:t>
              </a:r>
              <a:r>
                <a:rPr lang="zh-CN" altLang="en-US" dirty="0"/>
                <a:t>”之前要扫描</a:t>
              </a:r>
              <a:r>
                <a:rPr lang="en-US" altLang="zh-CN" dirty="0"/>
                <a:t>n/r </a:t>
              </a:r>
            </a:p>
          </p:txBody>
        </p:sp>
        <p:pic>
          <p:nvPicPr>
            <p:cNvPr id="39" name="图片 38" descr="小点1.png"/>
            <p:cNvPicPr>
              <a:picLocks noChangeAspect="1"/>
            </p:cNvPicPr>
            <p:nvPr/>
          </p:nvPicPr>
          <p:blipFill>
            <a:blip r:embed="rId3" cstate="print"/>
            <a:stretch>
              <a:fillRect/>
            </a:stretch>
          </p:blipFill>
          <p:spPr>
            <a:xfrm>
              <a:off x="1492382" y="3434448"/>
              <a:ext cx="151066" cy="148997"/>
            </a:xfrm>
            <a:prstGeom prst="rect">
              <a:avLst/>
            </a:prstGeom>
            <a:effectLst/>
          </p:spPr>
        </p:pic>
        <p:sp>
          <p:nvSpPr>
            <p:cNvPr id="40" name="内容占位符 2"/>
            <p:cNvSpPr txBox="1"/>
            <p:nvPr/>
          </p:nvSpPr>
          <p:spPr>
            <a:xfrm>
              <a:off x="1624945" y="3315158"/>
              <a:ext cx="3089931"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dirty="0"/>
                <a:t>n = </a:t>
              </a:r>
              <a:r>
                <a:rPr lang="zh-CN" altLang="en-US" dirty="0"/>
                <a:t>磁盘上数据块的总数</a:t>
              </a:r>
              <a:endParaRPr lang="en-US" altLang="zh-CN" dirty="0"/>
            </a:p>
          </p:txBody>
        </p:sp>
        <p:pic>
          <p:nvPicPr>
            <p:cNvPr id="41" name="图片 40" descr="小点1.png"/>
            <p:cNvPicPr>
              <a:picLocks noChangeAspect="1"/>
            </p:cNvPicPr>
            <p:nvPr/>
          </p:nvPicPr>
          <p:blipFill>
            <a:blip r:embed="rId3" cstate="print"/>
            <a:stretch>
              <a:fillRect/>
            </a:stretch>
          </p:blipFill>
          <p:spPr>
            <a:xfrm>
              <a:off x="1492382" y="3762610"/>
              <a:ext cx="151066" cy="148997"/>
            </a:xfrm>
            <a:prstGeom prst="rect">
              <a:avLst/>
            </a:prstGeom>
            <a:effectLst/>
          </p:spPr>
        </p:pic>
        <p:sp>
          <p:nvSpPr>
            <p:cNvPr id="42" name="内容占位符 2"/>
            <p:cNvSpPr txBox="1"/>
            <p:nvPr/>
          </p:nvSpPr>
          <p:spPr>
            <a:xfrm>
              <a:off x="1624945" y="3643320"/>
              <a:ext cx="2304113"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2">
                <a:buSzPct val="100000"/>
              </a:pPr>
              <a:r>
                <a:rPr lang="en-US" altLang="zh-CN" sz="2000" dirty="0"/>
                <a:t>r = </a:t>
              </a:r>
              <a:r>
                <a:rPr lang="zh-CN" altLang="en-US" sz="2000" dirty="0"/>
                <a:t>空闲块的数目</a:t>
              </a:r>
              <a:r>
                <a:rPr lang="en-US" altLang="zh-CN" sz="2000" dirty="0"/>
                <a:t> </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00034" y="785800"/>
            <a:ext cx="8286808" cy="1631216"/>
          </a:xfrm>
          <a:prstGeom prst="rect">
            <a:avLst/>
          </a:prstGeom>
        </p:spPr>
        <p:txBody>
          <a:bodyPr wrap="square">
            <a:spAutoFit/>
          </a:bodyPr>
          <a:lstStyle/>
          <a:p>
            <a:r>
              <a:rPr lang="zh-CN" altLang="en-US" sz="2000" b="1" dirty="0">
                <a:solidFill>
                  <a:srgbClr val="11576A"/>
                </a:solidFill>
                <a:latin typeface="微软雅黑" panose="020B0503020204020204" pitchFamily="34" charset="-122"/>
                <a:ea typeface="微软雅黑" panose="020B0503020204020204" pitchFamily="34" charset="-122"/>
              </a:rPr>
              <a:t>系统为磁盘建立一张位图，在位图中每个物理块占</a:t>
            </a:r>
            <a:r>
              <a:rPr lang="en-US" altLang="zh-CN" sz="2000" b="1" dirty="0">
                <a:solidFill>
                  <a:srgbClr val="11576A"/>
                </a:solidFill>
                <a:latin typeface="微软雅黑" panose="020B0503020204020204" pitchFamily="34" charset="-122"/>
                <a:ea typeface="微软雅黑" panose="020B0503020204020204" pitchFamily="34" charset="-122"/>
              </a:rPr>
              <a:t>1</a:t>
            </a:r>
            <a:r>
              <a:rPr lang="zh-CN" altLang="en-US" sz="2000" b="1" dirty="0">
                <a:solidFill>
                  <a:srgbClr val="11576A"/>
                </a:solidFill>
                <a:latin typeface="微软雅黑" panose="020B0503020204020204" pitchFamily="34" charset="-122"/>
                <a:ea typeface="微软雅黑" panose="020B0503020204020204" pitchFamily="34" charset="-122"/>
              </a:rPr>
              <a:t>位，按物理块的顺序排列。“</a:t>
            </a:r>
            <a:r>
              <a:rPr lang="en-US" altLang="zh-CN" sz="2000" b="1" dirty="0">
                <a:solidFill>
                  <a:srgbClr val="11576A"/>
                </a:solidFill>
                <a:latin typeface="微软雅黑" panose="020B0503020204020204" pitchFamily="34" charset="-122"/>
                <a:ea typeface="微软雅黑" panose="020B0503020204020204" pitchFamily="34" charset="-122"/>
              </a:rPr>
              <a:t>1”</a:t>
            </a:r>
            <a:r>
              <a:rPr lang="zh-CN" altLang="en-US" sz="2000" b="1" dirty="0">
                <a:solidFill>
                  <a:srgbClr val="11576A"/>
                </a:solidFill>
                <a:latin typeface="微软雅黑" panose="020B0503020204020204" pitchFamily="34" charset="-122"/>
                <a:ea typeface="微软雅黑" panose="020B0503020204020204" pitchFamily="34" charset="-122"/>
              </a:rPr>
              <a:t>表示对应的物理块已占用，“</a:t>
            </a:r>
            <a:r>
              <a:rPr lang="en-US" altLang="zh-CN" sz="2000" b="1" dirty="0">
                <a:solidFill>
                  <a:srgbClr val="11576A"/>
                </a:solidFill>
                <a:latin typeface="微软雅黑" panose="020B0503020204020204" pitchFamily="34" charset="-122"/>
                <a:ea typeface="微软雅黑" panose="020B0503020204020204" pitchFamily="34" charset="-122"/>
              </a:rPr>
              <a:t>0”</a:t>
            </a:r>
            <a:r>
              <a:rPr lang="zh-CN" altLang="en-US" sz="2000" b="1" dirty="0">
                <a:solidFill>
                  <a:srgbClr val="11576A"/>
                </a:solidFill>
                <a:latin typeface="微软雅黑" panose="020B0503020204020204" pitchFamily="34" charset="-122"/>
                <a:ea typeface="微软雅黑" panose="020B0503020204020204" pitchFamily="34" charset="-122"/>
              </a:rPr>
              <a:t>表示空闲</a:t>
            </a:r>
          </a:p>
          <a:p>
            <a:r>
              <a:rPr lang="zh-CN" altLang="en-US" sz="2000" b="1" dirty="0">
                <a:solidFill>
                  <a:srgbClr val="11576A"/>
                </a:solidFill>
                <a:latin typeface="微软雅黑" panose="020B0503020204020204" pitchFamily="34" charset="-122"/>
                <a:ea typeface="微软雅黑" panose="020B0503020204020204" pitchFamily="34" charset="-122"/>
              </a:rPr>
              <a:t>第</a:t>
            </a:r>
            <a:r>
              <a:rPr lang="en-US" altLang="zh-CN" sz="2000" b="1" dirty="0" err="1">
                <a:solidFill>
                  <a:srgbClr val="11576A"/>
                </a:solidFill>
                <a:latin typeface="微软雅黑" panose="020B0503020204020204" pitchFamily="34" charset="-122"/>
                <a:ea typeface="微软雅黑" panose="020B0503020204020204" pitchFamily="34" charset="-122"/>
              </a:rPr>
              <a:t>i</a:t>
            </a:r>
            <a:r>
              <a:rPr lang="zh-CN" altLang="en-US" sz="2000" b="1" dirty="0">
                <a:solidFill>
                  <a:srgbClr val="11576A"/>
                </a:solidFill>
                <a:latin typeface="微软雅黑" panose="020B0503020204020204" pitchFamily="34" charset="-122"/>
                <a:ea typeface="微软雅黑" panose="020B0503020204020204" pitchFamily="34" charset="-122"/>
              </a:rPr>
              <a:t>行、第</a:t>
            </a:r>
            <a:r>
              <a:rPr lang="en-US" altLang="zh-CN" sz="2000" b="1" dirty="0">
                <a:solidFill>
                  <a:srgbClr val="11576A"/>
                </a:solidFill>
                <a:latin typeface="微软雅黑" panose="020B0503020204020204" pitchFamily="34" charset="-122"/>
                <a:ea typeface="微软雅黑" panose="020B0503020204020204" pitchFamily="34" charset="-122"/>
              </a:rPr>
              <a:t>j</a:t>
            </a:r>
            <a:r>
              <a:rPr lang="zh-CN" altLang="en-US" sz="2000" b="1" dirty="0">
                <a:solidFill>
                  <a:srgbClr val="11576A"/>
                </a:solidFill>
                <a:latin typeface="微软雅黑" panose="020B0503020204020204" pitchFamily="34" charset="-122"/>
                <a:ea typeface="微软雅黑" panose="020B0503020204020204" pitchFamily="34" charset="-122"/>
              </a:rPr>
              <a:t>列，则其相应的盘块号应按下式计算：  </a:t>
            </a:r>
          </a:p>
          <a:p>
            <a:r>
              <a:rPr lang="zh-CN" altLang="en-US" sz="2000" b="1" dirty="0">
                <a:solidFill>
                  <a:srgbClr val="11576A"/>
                </a:solidFill>
                <a:latin typeface="Times New Roman" panose="02020603050405020304" charset="0"/>
                <a:ea typeface="微软雅黑" panose="020B0503020204020204" pitchFamily="34" charset="-122"/>
                <a:cs typeface="Times New Roman" panose="02020603050405020304" charset="0"/>
              </a:rPr>
              <a:t>  </a:t>
            </a:r>
            <a:r>
              <a:rPr lang="en-US" altLang="zh-CN" sz="2000" b="1" i="1" dirty="0">
                <a:solidFill>
                  <a:srgbClr val="11576A"/>
                </a:solidFill>
                <a:latin typeface="Times New Roman" panose="02020603050405020304" charset="0"/>
                <a:ea typeface="微软雅黑" panose="020B0503020204020204" pitchFamily="34" charset="-122"/>
                <a:cs typeface="Times New Roman" panose="02020603050405020304" charset="0"/>
              </a:rPr>
              <a:t>b</a:t>
            </a:r>
            <a:r>
              <a:rPr lang="en-US" altLang="zh-CN" sz="2000" b="1" dirty="0">
                <a:solidFill>
                  <a:srgbClr val="11576A"/>
                </a:solidFill>
                <a:latin typeface="Times New Roman" panose="02020603050405020304" charset="0"/>
                <a:ea typeface="微软雅黑" panose="020B0503020204020204" pitchFamily="34" charset="-122"/>
                <a:cs typeface="Times New Roman" panose="02020603050405020304" charset="0"/>
              </a:rPr>
              <a:t> = </a:t>
            </a:r>
            <a:r>
              <a:rPr lang="en-US" altLang="zh-CN" sz="2000" b="1" i="1" dirty="0">
                <a:solidFill>
                  <a:srgbClr val="11576A"/>
                </a:solidFill>
                <a:latin typeface="Times New Roman" panose="02020603050405020304" charset="0"/>
                <a:ea typeface="微软雅黑" panose="020B0503020204020204" pitchFamily="34" charset="-122"/>
                <a:cs typeface="Times New Roman" panose="02020603050405020304" charset="0"/>
              </a:rPr>
              <a:t>n</a:t>
            </a:r>
            <a:r>
              <a:rPr lang="en-US" altLang="zh-CN" sz="2000" b="1" dirty="0">
                <a:solidFill>
                  <a:srgbClr val="11576A"/>
                </a:solidFill>
                <a:latin typeface="Times New Roman" panose="02020603050405020304" charset="0"/>
                <a:ea typeface="微软雅黑" panose="020B0503020204020204" pitchFamily="34" charset="-122"/>
                <a:cs typeface="Times New Roman" panose="02020603050405020304" charset="0"/>
              </a:rPr>
              <a:t>( </a:t>
            </a:r>
            <a:r>
              <a:rPr lang="en-US" altLang="zh-CN" sz="2000" b="1" i="1" dirty="0" err="1">
                <a:solidFill>
                  <a:srgbClr val="11576A"/>
                </a:solidFill>
                <a:latin typeface="Times New Roman" panose="02020603050405020304" charset="0"/>
                <a:ea typeface="微软雅黑" panose="020B0503020204020204" pitchFamily="34" charset="-122"/>
                <a:cs typeface="Times New Roman" panose="02020603050405020304" charset="0"/>
              </a:rPr>
              <a:t>i</a:t>
            </a:r>
            <a:r>
              <a:rPr lang="en-US" altLang="zh-CN" sz="2000" b="1" dirty="0">
                <a:solidFill>
                  <a:srgbClr val="11576A"/>
                </a:solidFill>
                <a:latin typeface="Times New Roman" panose="02020603050405020304" charset="0"/>
                <a:ea typeface="微软雅黑" panose="020B0503020204020204" pitchFamily="34" charset="-122"/>
                <a:cs typeface="Times New Roman" panose="02020603050405020304" charset="0"/>
              </a:rPr>
              <a:t>- 1 ) + </a:t>
            </a:r>
            <a:r>
              <a:rPr lang="en-US" altLang="zh-CN" sz="2000" b="1" i="1" dirty="0">
                <a:solidFill>
                  <a:srgbClr val="11576A"/>
                </a:solidFill>
                <a:latin typeface="Times New Roman" panose="02020603050405020304" charset="0"/>
                <a:ea typeface="微软雅黑" panose="020B0503020204020204" pitchFamily="34" charset="-122"/>
                <a:cs typeface="Times New Roman" panose="02020603050405020304" charset="0"/>
              </a:rPr>
              <a:t>j</a:t>
            </a:r>
          </a:p>
          <a:p>
            <a:r>
              <a:rPr lang="en-US" altLang="zh-CN" sz="2000" b="1" dirty="0">
                <a:solidFill>
                  <a:srgbClr val="11576A"/>
                </a:solidFill>
                <a:latin typeface="微软雅黑" panose="020B0503020204020204" pitchFamily="34" charset="-122"/>
                <a:ea typeface="微软雅黑" panose="020B0503020204020204" pitchFamily="34" charset="-122"/>
              </a:rPr>
              <a:t>  </a:t>
            </a:r>
            <a:r>
              <a:rPr lang="zh-CN" altLang="en-US" sz="2000" b="1" dirty="0">
                <a:solidFill>
                  <a:srgbClr val="11576A"/>
                </a:solidFill>
                <a:latin typeface="微软雅黑" panose="020B0503020204020204" pitchFamily="34" charset="-122"/>
                <a:ea typeface="微软雅黑" panose="020B0503020204020204" pitchFamily="34" charset="-122"/>
              </a:rPr>
              <a:t>式中， </a:t>
            </a:r>
            <a:r>
              <a:rPr lang="en-US" altLang="zh-CN" sz="2000" b="1" dirty="0">
                <a:solidFill>
                  <a:srgbClr val="11576A"/>
                </a:solidFill>
                <a:latin typeface="微软雅黑" panose="020B0503020204020204" pitchFamily="34" charset="-122"/>
                <a:ea typeface="微软雅黑" panose="020B0503020204020204" pitchFamily="34" charset="-122"/>
              </a:rPr>
              <a:t>n</a:t>
            </a:r>
            <a:r>
              <a:rPr lang="zh-CN" altLang="en-US" sz="2000" b="1" dirty="0">
                <a:solidFill>
                  <a:srgbClr val="11576A"/>
                </a:solidFill>
                <a:latin typeface="微软雅黑" panose="020B0503020204020204" pitchFamily="34" charset="-122"/>
                <a:ea typeface="微软雅黑" panose="020B0503020204020204" pitchFamily="34" charset="-122"/>
              </a:rPr>
              <a:t>代表每行的位数</a:t>
            </a:r>
            <a:endParaRPr lang="en-US" altLang="zh-CN" sz="2000" b="1" dirty="0">
              <a:solidFill>
                <a:srgbClr val="11576A"/>
              </a:solidFill>
              <a:latin typeface="微软雅黑" panose="020B0503020204020204" pitchFamily="34" charset="-122"/>
              <a:ea typeface="微软雅黑" panose="020B0503020204020204" pitchFamily="34" charset="-122"/>
            </a:endParaRPr>
          </a:p>
        </p:txBody>
      </p:sp>
      <p:sp>
        <p:nvSpPr>
          <p:cNvPr id="3"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空闲空间组织</a:t>
            </a:r>
            <a:r>
              <a:rPr lang="en-US" altLang="zh-CN" dirty="0"/>
              <a:t>: </a:t>
            </a:r>
            <a:r>
              <a:rPr lang="zh-CN" altLang="en-US" dirty="0"/>
              <a:t>位图</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pic>
        <p:nvPicPr>
          <p:cNvPr id="12290" name="Picture 2"/>
          <p:cNvPicPr>
            <a:picLocks noChangeAspect="1" noChangeArrowheads="1"/>
          </p:cNvPicPr>
          <p:nvPr/>
        </p:nvPicPr>
        <p:blipFill>
          <a:blip r:embed="rId2"/>
          <a:srcRect/>
          <a:stretch>
            <a:fillRect/>
          </a:stretch>
        </p:blipFill>
        <p:spPr bwMode="auto">
          <a:xfrm>
            <a:off x="5829077" y="3714758"/>
            <a:ext cx="3314923" cy="1304934"/>
          </a:xfrm>
          <a:prstGeom prst="rect">
            <a:avLst/>
          </a:prstGeom>
          <a:noFill/>
          <a:ln w="9525">
            <a:noFill/>
            <a:miter lim="800000"/>
            <a:headEnd/>
            <a:tailEnd/>
          </a:ln>
          <a:effectLst/>
        </p:spPr>
      </p:pic>
      <p:sp>
        <p:nvSpPr>
          <p:cNvPr id="5" name="矩形 4"/>
          <p:cNvSpPr/>
          <p:nvPr/>
        </p:nvSpPr>
        <p:spPr>
          <a:xfrm>
            <a:off x="642910" y="2357436"/>
            <a:ext cx="4857784" cy="2585323"/>
          </a:xfrm>
          <a:prstGeom prst="rect">
            <a:avLst/>
          </a:prstGeom>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分配</a:t>
            </a:r>
            <a:endParaRPr lang="en-US" altLang="zh-CN" b="1" dirty="0">
              <a:solidFill>
                <a:srgbClr val="FF0000"/>
              </a:solidFill>
              <a:latin typeface="微软雅黑" panose="020B0503020204020204" pitchFamily="34" charset="-122"/>
              <a:ea typeface="微软雅黑" panose="020B0503020204020204" pitchFamily="34" charset="-122"/>
            </a:endParaRPr>
          </a:p>
          <a:p>
            <a:pPr lvl="1"/>
            <a:r>
              <a:rPr lang="zh-CN" altLang="en-US" b="1" dirty="0">
                <a:solidFill>
                  <a:srgbClr val="11576A"/>
                </a:solidFill>
                <a:latin typeface="微软雅黑" panose="020B0503020204020204" pitchFamily="34" charset="-122"/>
                <a:ea typeface="微软雅黑" panose="020B0503020204020204" pitchFamily="34" charset="-122"/>
              </a:rPr>
              <a:t>顺序扫描位示图，从中找出一个或一组其值为“</a:t>
            </a:r>
            <a:r>
              <a:rPr lang="en-US" altLang="zh-CN" b="1" dirty="0">
                <a:solidFill>
                  <a:srgbClr val="11576A"/>
                </a:solidFill>
                <a:latin typeface="微软雅黑" panose="020B0503020204020204" pitchFamily="34" charset="-122"/>
                <a:ea typeface="微软雅黑" panose="020B0503020204020204" pitchFamily="34" charset="-122"/>
              </a:rPr>
              <a:t>0</a:t>
            </a:r>
            <a:r>
              <a:rPr lang="zh-CN" altLang="en-US" b="1" dirty="0">
                <a:solidFill>
                  <a:srgbClr val="11576A"/>
                </a:solidFill>
                <a:latin typeface="微软雅黑" panose="020B0503020204020204" pitchFamily="34" charset="-122"/>
                <a:ea typeface="微软雅黑" panose="020B0503020204020204" pitchFamily="34" charset="-122"/>
              </a:rPr>
              <a:t>”的二进制位。</a:t>
            </a:r>
          </a:p>
          <a:p>
            <a:pPr lvl="1"/>
            <a:r>
              <a:rPr lang="zh-CN" altLang="en-US" b="1" dirty="0">
                <a:solidFill>
                  <a:srgbClr val="11576A"/>
                </a:solidFill>
                <a:latin typeface="微软雅黑" panose="020B0503020204020204" pitchFamily="34" charset="-122"/>
                <a:ea typeface="微软雅黑" panose="020B0503020204020204" pitchFamily="34" charset="-122"/>
              </a:rPr>
              <a:t>将所找到的一个或一组二进制位，转换成与之相应的盘块号。假定找到的其值为“</a:t>
            </a:r>
            <a:r>
              <a:rPr lang="en-US" altLang="zh-CN" b="1" dirty="0">
                <a:solidFill>
                  <a:srgbClr val="11576A"/>
                </a:solidFill>
                <a:latin typeface="微软雅黑" panose="020B0503020204020204" pitchFamily="34" charset="-122"/>
                <a:ea typeface="微软雅黑" panose="020B0503020204020204" pitchFamily="34" charset="-122"/>
              </a:rPr>
              <a:t>0</a:t>
            </a:r>
            <a:r>
              <a:rPr lang="zh-CN" altLang="en-US" b="1" dirty="0">
                <a:solidFill>
                  <a:srgbClr val="11576A"/>
                </a:solidFill>
                <a:latin typeface="微软雅黑" panose="020B0503020204020204" pitchFamily="34" charset="-122"/>
                <a:ea typeface="微软雅黑" panose="020B0503020204020204" pitchFamily="34" charset="-122"/>
              </a:rPr>
              <a:t>”的二进制位，位于位示图的第</a:t>
            </a:r>
            <a:r>
              <a:rPr lang="en-US" altLang="zh-CN" b="1" dirty="0" err="1">
                <a:solidFill>
                  <a:srgbClr val="11576A"/>
                </a:solidFill>
                <a:latin typeface="微软雅黑" panose="020B0503020204020204" pitchFamily="34" charset="-122"/>
                <a:ea typeface="微软雅黑" panose="020B0503020204020204" pitchFamily="34" charset="-122"/>
              </a:rPr>
              <a:t>i</a:t>
            </a:r>
            <a:r>
              <a:rPr lang="zh-CN" altLang="en-US" b="1" dirty="0">
                <a:solidFill>
                  <a:srgbClr val="11576A"/>
                </a:solidFill>
                <a:latin typeface="微软雅黑" panose="020B0503020204020204" pitchFamily="34" charset="-122"/>
                <a:ea typeface="微软雅黑" panose="020B0503020204020204" pitchFamily="34" charset="-122"/>
              </a:rPr>
              <a:t>行、第</a:t>
            </a:r>
            <a:r>
              <a:rPr lang="en-US" altLang="zh-CN" b="1" dirty="0">
                <a:solidFill>
                  <a:srgbClr val="11576A"/>
                </a:solidFill>
                <a:latin typeface="微软雅黑" panose="020B0503020204020204" pitchFamily="34" charset="-122"/>
                <a:ea typeface="微软雅黑" panose="020B0503020204020204" pitchFamily="34" charset="-122"/>
              </a:rPr>
              <a:t>j</a:t>
            </a:r>
            <a:r>
              <a:rPr lang="zh-CN" altLang="en-US" b="1" dirty="0">
                <a:solidFill>
                  <a:srgbClr val="11576A"/>
                </a:solidFill>
                <a:latin typeface="微软雅黑" panose="020B0503020204020204" pitchFamily="34" charset="-122"/>
                <a:ea typeface="微软雅黑" panose="020B0503020204020204" pitchFamily="34" charset="-122"/>
              </a:rPr>
              <a:t>列，则其相应的盘块号应按下式计算：</a:t>
            </a:r>
            <a:r>
              <a:rPr lang="en-US" altLang="en-US" b="1" dirty="0">
                <a:solidFill>
                  <a:srgbClr val="11576A"/>
                </a:solidFill>
                <a:latin typeface="微软雅黑" panose="020B0503020204020204" pitchFamily="34" charset="-122"/>
                <a:ea typeface="微软雅黑" panose="020B0503020204020204" pitchFamily="34" charset="-122"/>
              </a:rPr>
              <a:t> </a:t>
            </a:r>
            <a:r>
              <a:rPr lang="en-US" altLang="zh-CN" b="1" dirty="0">
                <a:solidFill>
                  <a:srgbClr val="11576A"/>
                </a:solidFill>
                <a:latin typeface="微软雅黑" panose="020B0503020204020204" pitchFamily="34" charset="-122"/>
                <a:ea typeface="微软雅黑" panose="020B0503020204020204" pitchFamily="34" charset="-122"/>
              </a:rPr>
              <a:t>b=n</a:t>
            </a:r>
            <a:r>
              <a:rPr lang="zh-CN" altLang="en-US" b="1" dirty="0">
                <a:solidFill>
                  <a:srgbClr val="11576A"/>
                </a:solidFill>
                <a:latin typeface="微软雅黑" panose="020B0503020204020204" pitchFamily="34" charset="-122"/>
                <a:ea typeface="微软雅黑" panose="020B0503020204020204" pitchFamily="34" charset="-122"/>
              </a:rPr>
              <a:t>（</a:t>
            </a:r>
            <a:r>
              <a:rPr lang="en-US" altLang="zh-CN" b="1" dirty="0">
                <a:solidFill>
                  <a:srgbClr val="11576A"/>
                </a:solidFill>
                <a:latin typeface="微软雅黑" panose="020B0503020204020204" pitchFamily="34" charset="-122"/>
                <a:ea typeface="微软雅黑" panose="020B0503020204020204" pitchFamily="34" charset="-122"/>
              </a:rPr>
              <a:t>i-1</a:t>
            </a:r>
            <a:r>
              <a:rPr lang="zh-CN" altLang="en-US" b="1" dirty="0">
                <a:solidFill>
                  <a:srgbClr val="11576A"/>
                </a:solidFill>
                <a:latin typeface="微软雅黑" panose="020B0503020204020204" pitchFamily="34" charset="-122"/>
                <a:ea typeface="微软雅黑" panose="020B0503020204020204" pitchFamily="34" charset="-122"/>
              </a:rPr>
              <a:t>）</a:t>
            </a:r>
            <a:r>
              <a:rPr lang="en-US" altLang="zh-CN" b="1" dirty="0">
                <a:solidFill>
                  <a:srgbClr val="11576A"/>
                </a:solidFill>
                <a:latin typeface="微软雅黑" panose="020B0503020204020204" pitchFamily="34" charset="-122"/>
                <a:ea typeface="微软雅黑" panose="020B0503020204020204" pitchFamily="34" charset="-122"/>
              </a:rPr>
              <a:t>+j </a:t>
            </a:r>
            <a:r>
              <a:rPr lang="zh-CN" altLang="en-US" b="1" dirty="0">
                <a:solidFill>
                  <a:srgbClr val="11576A"/>
                </a:solidFill>
                <a:latin typeface="微软雅黑" panose="020B0503020204020204" pitchFamily="34" charset="-122"/>
                <a:ea typeface="微软雅黑" panose="020B0503020204020204" pitchFamily="34" charset="-122"/>
              </a:rPr>
              <a:t>式中，</a:t>
            </a:r>
            <a:r>
              <a:rPr lang="en-US" altLang="zh-CN" b="1" dirty="0">
                <a:solidFill>
                  <a:srgbClr val="11576A"/>
                </a:solidFill>
                <a:latin typeface="微软雅黑" panose="020B0503020204020204" pitchFamily="34" charset="-122"/>
                <a:ea typeface="微软雅黑" panose="020B0503020204020204" pitchFamily="34" charset="-122"/>
              </a:rPr>
              <a:t>n</a:t>
            </a:r>
            <a:r>
              <a:rPr lang="zh-CN" altLang="en-US" b="1" dirty="0">
                <a:solidFill>
                  <a:srgbClr val="11576A"/>
                </a:solidFill>
                <a:latin typeface="微软雅黑" panose="020B0503020204020204" pitchFamily="34" charset="-122"/>
                <a:ea typeface="微软雅黑" panose="020B0503020204020204" pitchFamily="34" charset="-122"/>
              </a:rPr>
              <a:t>代表每行的位数。</a:t>
            </a:r>
          </a:p>
          <a:p>
            <a:pPr lvl="1"/>
            <a:r>
              <a:rPr lang="zh-CN" altLang="en-US" b="1" dirty="0">
                <a:solidFill>
                  <a:srgbClr val="11576A"/>
                </a:solidFill>
                <a:latin typeface="微软雅黑" panose="020B0503020204020204" pitchFamily="34" charset="-122"/>
                <a:ea typeface="微软雅黑" panose="020B0503020204020204" pitchFamily="34" charset="-122"/>
              </a:rPr>
              <a:t>修改位示图，令</a:t>
            </a:r>
            <a:r>
              <a:rPr lang="en-US" altLang="zh-CN" b="1" dirty="0">
                <a:solidFill>
                  <a:srgbClr val="11576A"/>
                </a:solidFill>
                <a:latin typeface="微软雅黑" panose="020B0503020204020204" pitchFamily="34" charset="-122"/>
                <a:ea typeface="微软雅黑" panose="020B0503020204020204" pitchFamily="34" charset="-122"/>
              </a:rPr>
              <a:t>map[</a:t>
            </a:r>
            <a:r>
              <a:rPr lang="en-US" altLang="zh-CN" b="1" dirty="0" err="1">
                <a:solidFill>
                  <a:srgbClr val="11576A"/>
                </a:solidFill>
                <a:latin typeface="微软雅黑" panose="020B0503020204020204" pitchFamily="34" charset="-122"/>
                <a:ea typeface="微软雅黑" panose="020B0503020204020204" pitchFamily="34" charset="-122"/>
              </a:rPr>
              <a:t>i</a:t>
            </a:r>
            <a:r>
              <a:rPr lang="zh-CN" altLang="en-US" b="1" dirty="0">
                <a:solidFill>
                  <a:srgbClr val="11576A"/>
                </a:solidFill>
                <a:latin typeface="微软雅黑" panose="020B0503020204020204" pitchFamily="34" charset="-122"/>
                <a:ea typeface="微软雅黑" panose="020B0503020204020204" pitchFamily="34" charset="-122"/>
              </a:rPr>
              <a:t>，</a:t>
            </a:r>
            <a:r>
              <a:rPr lang="en-US" altLang="zh-CN" b="1" dirty="0">
                <a:solidFill>
                  <a:srgbClr val="11576A"/>
                </a:solidFill>
                <a:latin typeface="微软雅黑" panose="020B0503020204020204" pitchFamily="34" charset="-122"/>
                <a:ea typeface="微软雅黑" panose="020B0503020204020204" pitchFamily="34" charset="-122"/>
              </a:rPr>
              <a:t>j]=1</a:t>
            </a:r>
            <a:r>
              <a:rPr lang="zh-CN" altLang="en-US" b="1" dirty="0">
                <a:solidFill>
                  <a:srgbClr val="11576A"/>
                </a:solidFill>
                <a:latin typeface="微软雅黑" panose="020B0503020204020204" pitchFamily="34" charset="-122"/>
                <a:ea typeface="微软雅黑" panose="020B0503020204020204" pitchFamily="34" charset="-122"/>
              </a:rPr>
              <a:t>。</a:t>
            </a:r>
            <a:endParaRPr lang="en-US" altLang="zh-CN" b="1" dirty="0">
              <a:solidFill>
                <a:srgbClr val="11576A"/>
              </a:solidFill>
              <a:latin typeface="微软雅黑" panose="020B0503020204020204" pitchFamily="34" charset="-122"/>
              <a:ea typeface="微软雅黑" panose="020B0503020204020204" pitchFamily="34" charset="-122"/>
            </a:endParaRPr>
          </a:p>
        </p:txBody>
      </p:sp>
      <p:sp>
        <p:nvSpPr>
          <p:cNvPr id="6" name="矩形 5"/>
          <p:cNvSpPr/>
          <p:nvPr/>
        </p:nvSpPr>
        <p:spPr>
          <a:xfrm>
            <a:off x="5500694" y="1714494"/>
            <a:ext cx="3643306" cy="2031325"/>
          </a:xfrm>
          <a:prstGeom prst="rect">
            <a:avLst/>
          </a:prstGeom>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回收</a:t>
            </a:r>
          </a:p>
          <a:p>
            <a:pPr lvl="1"/>
            <a:r>
              <a:rPr lang="zh-CN" altLang="en-US" b="1" dirty="0">
                <a:solidFill>
                  <a:srgbClr val="11576A"/>
                </a:solidFill>
                <a:latin typeface="微软雅黑" panose="020B0503020204020204" pitchFamily="34" charset="-122"/>
                <a:ea typeface="微软雅黑" panose="020B0503020204020204" pitchFamily="34" charset="-122"/>
              </a:rPr>
              <a:t>将回收盘块的盘块号转换成位示图中的行号和列号。转换公式为：</a:t>
            </a:r>
          </a:p>
          <a:p>
            <a:pPr lvl="2"/>
            <a:r>
              <a:rPr lang="en-US" altLang="zh-CN" b="1" dirty="0" err="1">
                <a:solidFill>
                  <a:srgbClr val="11576A"/>
                </a:solidFill>
                <a:latin typeface="微软雅黑" panose="020B0503020204020204" pitchFamily="34" charset="-122"/>
                <a:ea typeface="微软雅黑" panose="020B0503020204020204" pitchFamily="34" charset="-122"/>
              </a:rPr>
              <a:t>i</a:t>
            </a:r>
            <a:r>
              <a:rPr lang="en-US" altLang="zh-CN" b="1" dirty="0">
                <a:solidFill>
                  <a:srgbClr val="11576A"/>
                </a:solidFill>
                <a:latin typeface="微软雅黑" panose="020B0503020204020204" pitchFamily="34" charset="-122"/>
                <a:ea typeface="微软雅黑" panose="020B0503020204020204" pitchFamily="34" charset="-122"/>
              </a:rPr>
              <a:t>=</a:t>
            </a:r>
            <a:r>
              <a:rPr lang="zh-CN" altLang="en-US" b="1" dirty="0">
                <a:solidFill>
                  <a:srgbClr val="11576A"/>
                </a:solidFill>
                <a:latin typeface="微软雅黑" panose="020B0503020204020204" pitchFamily="34" charset="-122"/>
                <a:ea typeface="微软雅黑" panose="020B0503020204020204" pitchFamily="34" charset="-122"/>
              </a:rPr>
              <a:t>（</a:t>
            </a:r>
            <a:r>
              <a:rPr lang="en-US" altLang="zh-CN" b="1" dirty="0">
                <a:solidFill>
                  <a:srgbClr val="11576A"/>
                </a:solidFill>
                <a:latin typeface="微软雅黑" panose="020B0503020204020204" pitchFamily="34" charset="-122"/>
                <a:ea typeface="微软雅黑" panose="020B0503020204020204" pitchFamily="34" charset="-122"/>
              </a:rPr>
              <a:t>b-1</a:t>
            </a:r>
            <a:r>
              <a:rPr lang="zh-CN" altLang="en-US" b="1" dirty="0">
                <a:solidFill>
                  <a:srgbClr val="11576A"/>
                </a:solidFill>
                <a:latin typeface="微软雅黑" panose="020B0503020204020204" pitchFamily="34" charset="-122"/>
                <a:ea typeface="微软雅黑" panose="020B0503020204020204" pitchFamily="34" charset="-122"/>
              </a:rPr>
              <a:t>）</a:t>
            </a:r>
            <a:r>
              <a:rPr lang="en-US" altLang="zh-CN" b="1" dirty="0">
                <a:solidFill>
                  <a:srgbClr val="11576A"/>
                </a:solidFill>
                <a:latin typeface="微软雅黑" panose="020B0503020204020204" pitchFamily="34" charset="-122"/>
                <a:ea typeface="微软雅黑" panose="020B0503020204020204" pitchFamily="34" charset="-122"/>
              </a:rPr>
              <a:t>DIV n+1</a:t>
            </a:r>
            <a:endParaRPr lang="zh-CN" altLang="en-US" b="1" dirty="0">
              <a:solidFill>
                <a:srgbClr val="11576A"/>
              </a:solidFill>
              <a:latin typeface="微软雅黑" panose="020B0503020204020204" pitchFamily="34" charset="-122"/>
              <a:ea typeface="微软雅黑" panose="020B0503020204020204" pitchFamily="34" charset="-122"/>
            </a:endParaRPr>
          </a:p>
          <a:p>
            <a:pPr lvl="2"/>
            <a:r>
              <a:rPr lang="en-US" altLang="zh-CN" b="1" dirty="0">
                <a:solidFill>
                  <a:srgbClr val="11576A"/>
                </a:solidFill>
                <a:latin typeface="微软雅黑" panose="020B0503020204020204" pitchFamily="34" charset="-122"/>
                <a:ea typeface="微软雅黑" panose="020B0503020204020204" pitchFamily="34" charset="-122"/>
              </a:rPr>
              <a:t>j=</a:t>
            </a:r>
            <a:r>
              <a:rPr lang="zh-CN" altLang="en-US" b="1" dirty="0">
                <a:solidFill>
                  <a:srgbClr val="11576A"/>
                </a:solidFill>
                <a:latin typeface="微软雅黑" panose="020B0503020204020204" pitchFamily="34" charset="-122"/>
                <a:ea typeface="微软雅黑" panose="020B0503020204020204" pitchFamily="34" charset="-122"/>
              </a:rPr>
              <a:t>（</a:t>
            </a:r>
            <a:r>
              <a:rPr lang="en-US" altLang="zh-CN" b="1" dirty="0">
                <a:solidFill>
                  <a:srgbClr val="11576A"/>
                </a:solidFill>
                <a:latin typeface="微软雅黑" panose="020B0503020204020204" pitchFamily="34" charset="-122"/>
                <a:ea typeface="微软雅黑" panose="020B0503020204020204" pitchFamily="34" charset="-122"/>
              </a:rPr>
              <a:t>b-1</a:t>
            </a:r>
            <a:r>
              <a:rPr lang="zh-CN" altLang="en-US" b="1" dirty="0">
                <a:solidFill>
                  <a:srgbClr val="11576A"/>
                </a:solidFill>
                <a:latin typeface="微软雅黑" panose="020B0503020204020204" pitchFamily="34" charset="-122"/>
                <a:ea typeface="微软雅黑" panose="020B0503020204020204" pitchFamily="34" charset="-122"/>
              </a:rPr>
              <a:t>）</a:t>
            </a:r>
            <a:r>
              <a:rPr lang="en-US" altLang="zh-CN" b="1" dirty="0">
                <a:solidFill>
                  <a:srgbClr val="11576A"/>
                </a:solidFill>
                <a:latin typeface="微软雅黑" panose="020B0503020204020204" pitchFamily="34" charset="-122"/>
                <a:ea typeface="微软雅黑" panose="020B0503020204020204" pitchFamily="34" charset="-122"/>
              </a:rPr>
              <a:t>MOD n+1</a:t>
            </a:r>
            <a:endParaRPr lang="zh-CN" altLang="en-US" b="1" dirty="0">
              <a:solidFill>
                <a:srgbClr val="11576A"/>
              </a:solidFill>
              <a:latin typeface="微软雅黑" panose="020B0503020204020204" pitchFamily="34" charset="-122"/>
              <a:ea typeface="微软雅黑" panose="020B0503020204020204" pitchFamily="34" charset="-122"/>
            </a:endParaRPr>
          </a:p>
          <a:p>
            <a:pPr lvl="1"/>
            <a:r>
              <a:rPr lang="zh-CN" altLang="en-US" b="1" dirty="0">
                <a:solidFill>
                  <a:srgbClr val="11576A"/>
                </a:solidFill>
                <a:latin typeface="微软雅黑" panose="020B0503020204020204" pitchFamily="34" charset="-122"/>
                <a:ea typeface="微软雅黑" panose="020B0503020204020204" pitchFamily="34" charset="-122"/>
              </a:rPr>
              <a:t>修改位示图，令</a:t>
            </a:r>
            <a:r>
              <a:rPr lang="en-US" altLang="zh-CN" b="1" dirty="0">
                <a:solidFill>
                  <a:srgbClr val="11576A"/>
                </a:solidFill>
                <a:latin typeface="微软雅黑" panose="020B0503020204020204" pitchFamily="34" charset="-122"/>
                <a:ea typeface="微软雅黑" panose="020B0503020204020204" pitchFamily="34" charset="-122"/>
              </a:rPr>
              <a:t>map[</a:t>
            </a:r>
            <a:r>
              <a:rPr lang="en-US" altLang="zh-CN" b="1" dirty="0" err="1">
                <a:solidFill>
                  <a:srgbClr val="11576A"/>
                </a:solidFill>
                <a:latin typeface="微软雅黑" panose="020B0503020204020204" pitchFamily="34" charset="-122"/>
                <a:ea typeface="微软雅黑" panose="020B0503020204020204" pitchFamily="34" charset="-122"/>
              </a:rPr>
              <a:t>i</a:t>
            </a:r>
            <a:r>
              <a:rPr lang="zh-CN" altLang="en-US" b="1" dirty="0">
                <a:solidFill>
                  <a:srgbClr val="11576A"/>
                </a:solidFill>
                <a:latin typeface="微软雅黑" panose="020B0503020204020204" pitchFamily="34" charset="-122"/>
                <a:ea typeface="微软雅黑" panose="020B0503020204020204" pitchFamily="34" charset="-122"/>
              </a:rPr>
              <a:t>，</a:t>
            </a:r>
            <a:r>
              <a:rPr lang="en-US" altLang="zh-CN" b="1" dirty="0">
                <a:solidFill>
                  <a:srgbClr val="11576A"/>
                </a:solidFill>
                <a:latin typeface="微软雅黑" panose="020B0503020204020204" pitchFamily="34" charset="-122"/>
                <a:ea typeface="微软雅黑" panose="020B0503020204020204" pitchFamily="34" charset="-122"/>
              </a:rPr>
              <a:t>j]=0</a:t>
            </a:r>
            <a:endParaRPr lang="zh-CN" altLang="en-US" b="1" dirty="0">
              <a:solidFill>
                <a:srgbClr val="11576A"/>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57224" y="1071553"/>
            <a:ext cx="7429552" cy="1938992"/>
          </a:xfrm>
          <a:prstGeom prst="rect">
            <a:avLst/>
          </a:prstGeom>
        </p:spPr>
        <p:txBody>
          <a:bodyPr wrap="squar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位图主要优点</a:t>
            </a:r>
          </a:p>
          <a:p>
            <a:r>
              <a:rPr lang="zh-CN" altLang="en-US" sz="2000" b="1" dirty="0">
                <a:solidFill>
                  <a:srgbClr val="11576A"/>
                </a:solidFill>
                <a:latin typeface="微软雅黑" panose="020B0503020204020204" pitchFamily="34" charset="-122"/>
                <a:ea typeface="微软雅黑" panose="020B0503020204020204" pitchFamily="34" charset="-122"/>
              </a:rPr>
              <a:t>从位示图中很容易找到一个或一组相邻接的空闲盘块。例如，现需要找到</a:t>
            </a:r>
            <a:r>
              <a:rPr lang="en-US" altLang="zh-CN" sz="2000" b="1" dirty="0">
                <a:solidFill>
                  <a:srgbClr val="11576A"/>
                </a:solidFill>
                <a:latin typeface="微软雅黑" panose="020B0503020204020204" pitchFamily="34" charset="-122"/>
                <a:ea typeface="微软雅黑" panose="020B0503020204020204" pitchFamily="34" charset="-122"/>
              </a:rPr>
              <a:t>6</a:t>
            </a:r>
            <a:r>
              <a:rPr lang="zh-CN" altLang="en-US" sz="2000" b="1" dirty="0">
                <a:solidFill>
                  <a:srgbClr val="11576A"/>
                </a:solidFill>
                <a:latin typeface="微软雅黑" panose="020B0503020204020204" pitchFamily="34" charset="-122"/>
                <a:ea typeface="微软雅黑" panose="020B0503020204020204" pitchFamily="34" charset="-122"/>
              </a:rPr>
              <a:t>个相邻接的空闲盘块，这只需在位示图中找出</a:t>
            </a:r>
            <a:r>
              <a:rPr lang="en-US" altLang="zh-CN" sz="2000" b="1" dirty="0">
                <a:solidFill>
                  <a:srgbClr val="11576A"/>
                </a:solidFill>
                <a:latin typeface="微软雅黑" panose="020B0503020204020204" pitchFamily="34" charset="-122"/>
                <a:ea typeface="微软雅黑" panose="020B0503020204020204" pitchFamily="34" charset="-122"/>
              </a:rPr>
              <a:t>6</a:t>
            </a:r>
            <a:r>
              <a:rPr lang="zh-CN" altLang="en-US" sz="2000" b="1" dirty="0">
                <a:solidFill>
                  <a:srgbClr val="11576A"/>
                </a:solidFill>
                <a:latin typeface="微软雅黑" panose="020B0503020204020204" pitchFamily="34" charset="-122"/>
                <a:ea typeface="微软雅黑" panose="020B0503020204020204" pitchFamily="34" charset="-122"/>
              </a:rPr>
              <a:t>个其值连续为“</a:t>
            </a:r>
            <a:r>
              <a:rPr lang="en-US" altLang="zh-CN" sz="2000" b="1" dirty="0">
                <a:solidFill>
                  <a:srgbClr val="11576A"/>
                </a:solidFill>
                <a:latin typeface="微软雅黑" panose="020B0503020204020204" pitchFamily="34" charset="-122"/>
                <a:ea typeface="微软雅黑" panose="020B0503020204020204" pitchFamily="34" charset="-122"/>
              </a:rPr>
              <a:t>0</a:t>
            </a:r>
            <a:r>
              <a:rPr lang="zh-CN" altLang="en-US" sz="2000" b="1" dirty="0">
                <a:solidFill>
                  <a:srgbClr val="11576A"/>
                </a:solidFill>
                <a:latin typeface="微软雅黑" panose="020B0503020204020204" pitchFamily="34" charset="-122"/>
                <a:ea typeface="微软雅黑" panose="020B0503020204020204" pitchFamily="34" charset="-122"/>
              </a:rPr>
              <a:t>”的位即可。此外，由于位示图很小，占用空间少，因而可将它保存在内存中，进而使每次进行盘区分配时，无须首先把盘区分配表读入内存，从而节省了许多磁盘的启动操作。</a:t>
            </a:r>
            <a:endParaRPr lang="en-US" altLang="zh-CN" sz="2000" b="1" dirty="0">
              <a:solidFill>
                <a:srgbClr val="11576A"/>
              </a:solidFill>
              <a:latin typeface="微软雅黑" panose="020B0503020204020204" pitchFamily="34" charset="-122"/>
              <a:ea typeface="微软雅黑" panose="020B0503020204020204" pitchFamily="34" charset="-122"/>
            </a:endParaRPr>
          </a:p>
        </p:txBody>
      </p:sp>
      <p:sp>
        <p:nvSpPr>
          <p:cNvPr id="3"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空闲空间组织</a:t>
            </a:r>
            <a:r>
              <a:rPr lang="en-US" altLang="zh-CN" dirty="0"/>
              <a:t>: </a:t>
            </a:r>
            <a:r>
              <a:rPr lang="zh-CN" altLang="en-US" dirty="0"/>
              <a:t>位图</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noChangeArrowheads="1"/>
          </p:cNvSpPr>
          <p:nvPr/>
        </p:nvSpPr>
        <p:spPr bwMode="auto">
          <a:xfrm>
            <a:off x="3755856" y="189267"/>
            <a:ext cx="1928808" cy="553998"/>
          </a:xfrm>
          <a:prstGeom prst="rect">
            <a:avLst/>
          </a:prstGeom>
          <a:noFill/>
          <a:ln w="9525">
            <a:noFill/>
            <a:miter lim="800000"/>
          </a:ln>
        </p:spPr>
        <p:txBody>
          <a:bodyPr wrap="square">
            <a:spAutoFit/>
          </a:bodyPr>
          <a:lstStyle/>
          <a:p>
            <a:r>
              <a:rPr lang="x-none" altLang="zh-CN" sz="3000" b="1" dirty="0">
                <a:solidFill>
                  <a:srgbClr val="11576A"/>
                </a:solidFill>
                <a:latin typeface="微软雅黑" panose="020B0503020204020204" pitchFamily="34" charset="-122"/>
                <a:ea typeface="微软雅黑" panose="020B0503020204020204" pitchFamily="34" charset="-122"/>
              </a:rPr>
              <a:t>主要内容</a:t>
            </a:r>
          </a:p>
        </p:txBody>
      </p:sp>
      <p:grpSp>
        <p:nvGrpSpPr>
          <p:cNvPr id="4" name="组合 1"/>
          <p:cNvGrpSpPr/>
          <p:nvPr/>
        </p:nvGrpSpPr>
        <p:grpSpPr>
          <a:xfrm>
            <a:off x="549284" y="1072186"/>
            <a:ext cx="8566529" cy="415290"/>
            <a:chOff x="520709" y="928676"/>
            <a:chExt cx="8566529" cy="415290"/>
          </a:xfrm>
        </p:grpSpPr>
        <p:sp>
          <p:nvSpPr>
            <p:cNvPr id="37"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7.1 文件和文件系统</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60"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5" name="组合 3"/>
          <p:cNvGrpSpPr/>
          <p:nvPr/>
        </p:nvGrpSpPr>
        <p:grpSpPr>
          <a:xfrm>
            <a:off x="549284" y="1449606"/>
            <a:ext cx="8568952" cy="415290"/>
            <a:chOff x="520709" y="2802785"/>
            <a:chExt cx="8568952" cy="415290"/>
          </a:xfrm>
        </p:grpSpPr>
        <p:sp>
          <p:nvSpPr>
            <p:cNvPr id="4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7.2 文件的逻辑结构与存取方法</a:t>
              </a:r>
              <a:endParaRPr lang="x-none" altLang="zh-CN" dirty="0"/>
            </a:p>
          </p:txBody>
        </p:sp>
        <p:sp>
          <p:nvSpPr>
            <p:cNvPr id="61"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3" name="组合 1"/>
          <p:cNvGrpSpPr/>
          <p:nvPr/>
        </p:nvGrpSpPr>
        <p:grpSpPr>
          <a:xfrm>
            <a:off x="549284" y="1851331"/>
            <a:ext cx="8566529" cy="415290"/>
            <a:chOff x="520709" y="928676"/>
            <a:chExt cx="8566529" cy="415290"/>
          </a:xfrm>
        </p:grpSpPr>
        <p:sp>
          <p:nvSpPr>
            <p:cNvPr id="14"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7.3 文件的物理结构与存储设备</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15"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6" name="组合 3"/>
          <p:cNvGrpSpPr/>
          <p:nvPr/>
        </p:nvGrpSpPr>
        <p:grpSpPr>
          <a:xfrm>
            <a:off x="549284" y="2221717"/>
            <a:ext cx="8568952" cy="415290"/>
            <a:chOff x="520709" y="2802785"/>
            <a:chExt cx="8568952" cy="415290"/>
          </a:xfrm>
        </p:grpSpPr>
        <p:sp>
          <p:nvSpPr>
            <p:cNvPr id="17"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7.4 文件存储空间管理</a:t>
              </a:r>
              <a:endParaRPr lang="x-none" altLang="zh-CN" dirty="0"/>
            </a:p>
          </p:txBody>
        </p:sp>
        <p:sp>
          <p:nvSpPr>
            <p:cNvPr id="18"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9" name="组合 1"/>
          <p:cNvGrpSpPr/>
          <p:nvPr/>
        </p:nvGrpSpPr>
        <p:grpSpPr>
          <a:xfrm>
            <a:off x="549284" y="2643811"/>
            <a:ext cx="8566529" cy="415290"/>
            <a:chOff x="520709" y="928676"/>
            <a:chExt cx="8566529" cy="415290"/>
          </a:xfrm>
        </p:grpSpPr>
        <p:sp>
          <p:nvSpPr>
            <p:cNvPr id="20"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7.5 文件目录 </a:t>
              </a:r>
            </a:p>
          </p:txBody>
        </p:sp>
        <p:sp>
          <p:nvSpPr>
            <p:cNvPr id="21"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22" name="组合 3"/>
          <p:cNvGrpSpPr/>
          <p:nvPr/>
        </p:nvGrpSpPr>
        <p:grpSpPr>
          <a:xfrm>
            <a:off x="549284" y="3014197"/>
            <a:ext cx="8568952" cy="415290"/>
            <a:chOff x="520709" y="2802785"/>
            <a:chExt cx="8568952" cy="415290"/>
          </a:xfrm>
        </p:grpSpPr>
        <p:sp>
          <p:nvSpPr>
            <p:cNvPr id="23"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7.6 文件共享与保护</a:t>
              </a:r>
              <a:endParaRPr lang="x-none" altLang="zh-CN" dirty="0"/>
            </a:p>
          </p:txBody>
        </p:sp>
        <p:sp>
          <p:nvSpPr>
            <p:cNvPr id="24"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7" name="组合 3"/>
          <p:cNvGrpSpPr/>
          <p:nvPr/>
        </p:nvGrpSpPr>
        <p:grpSpPr>
          <a:xfrm>
            <a:off x="546109" y="3429487"/>
            <a:ext cx="8568952" cy="415290"/>
            <a:chOff x="520709" y="2802785"/>
            <a:chExt cx="8568952" cy="415290"/>
          </a:xfrm>
        </p:grpSpPr>
        <p:sp>
          <p:nvSpPr>
            <p:cNvPr id="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7.7 文件的使用</a:t>
              </a:r>
              <a:endParaRPr lang="x-none" altLang="zh-CN" dirty="0"/>
            </a:p>
          </p:txBody>
        </p:sp>
        <p:sp>
          <p:nvSpPr>
            <p:cNvPr id="10"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1" name="组合 3"/>
          <p:cNvGrpSpPr/>
          <p:nvPr/>
        </p:nvGrpSpPr>
        <p:grpSpPr>
          <a:xfrm>
            <a:off x="540394" y="3867002"/>
            <a:ext cx="8568952" cy="415290"/>
            <a:chOff x="520709" y="2802785"/>
            <a:chExt cx="8568952" cy="415290"/>
          </a:xfrm>
        </p:grpSpPr>
        <p:sp>
          <p:nvSpPr>
            <p:cNvPr id="12"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7.8 文件系统与层次模型</a:t>
              </a:r>
              <a:endParaRPr lang="x-none" altLang="zh-CN" dirty="0"/>
            </a:p>
          </p:txBody>
        </p:sp>
        <p:sp>
          <p:nvSpPr>
            <p:cNvPr id="25"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spTree>
    <p:extLst>
      <p:ext uri="{BB962C8B-B14F-4D97-AF65-F5344CB8AC3E}">
        <p14:creationId xmlns:p14="http://schemas.microsoft.com/office/powerpoint/2010/main" val="311891599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2" presetID="22" presetClass="entr" presetSubtype="8"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8"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ctrTitle"/>
          </p:nvPr>
        </p:nvSpPr>
        <p:spPr>
          <a:xfrm>
            <a:off x="971550" y="1924050"/>
            <a:ext cx="7113588" cy="928688"/>
          </a:xfrm>
          <a:ln w="9525">
            <a:noFill/>
            <a:miter/>
          </a:ln>
        </p:spPr>
        <p:txBody>
          <a:bodyPr wrap="square" lIns="91440" tIns="45720" rIns="91440" bIns="45720" anchor="b"/>
          <a:lstStyle/>
          <a:p>
            <a:pPr defTabSz="457200" eaLnBrk="1" hangingPunct="1"/>
            <a:r>
              <a:rPr lang="x-none" altLang="zh-CN" sz="4000" b="1" kern="1200" dirty="0">
                <a:solidFill>
                  <a:srgbClr val="11576A"/>
                </a:solidFill>
                <a:latin typeface="微软雅黑" panose="020B0503020204020204" pitchFamily="34" charset="-122"/>
                <a:ea typeface="微软雅黑" panose="020B0503020204020204" pitchFamily="34" charset="-122"/>
                <a:cs typeface="+mj-cs"/>
              </a:rPr>
              <a:t>7.5</a:t>
            </a:r>
            <a:r>
              <a:rPr lang="zh-CN" altLang="en-US" sz="4000" b="1" kern="1200" dirty="0">
                <a:solidFill>
                  <a:srgbClr val="11576A"/>
                </a:solidFill>
                <a:latin typeface="微软雅黑" panose="020B0503020204020204" pitchFamily="34" charset="-122"/>
                <a:ea typeface="微软雅黑" panose="020B0503020204020204" pitchFamily="34" charset="-122"/>
                <a:cs typeface="+mj-cs"/>
              </a:rPr>
              <a:t> </a:t>
            </a:r>
            <a:r>
              <a:rPr lang="x-none" altLang="zh-CN" sz="4000" b="1" kern="1200" dirty="0">
                <a:solidFill>
                  <a:srgbClr val="11576A"/>
                </a:solidFill>
                <a:latin typeface="微软雅黑" panose="020B0503020204020204" pitchFamily="34" charset="-122"/>
                <a:ea typeface="微软雅黑" panose="020B0503020204020204" pitchFamily="34" charset="-122"/>
                <a:cs typeface="+mj-cs"/>
              </a:rPr>
              <a:t>文件目录</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2E5A4D49-9B87-4AAF-8DAB-C1F6C65EA64D}"/>
              </a:ext>
            </a:extLst>
          </p:cNvPr>
          <p:cNvSpPr>
            <a:spLocks noGrp="1"/>
          </p:cNvSpPr>
          <p:nvPr>
            <p:ph type="sldNum" sz="quarter" idx="12"/>
          </p:nvPr>
        </p:nvSpPr>
        <p:spPr/>
        <p:txBody>
          <a:bodyPr/>
          <a:lstStyle/>
          <a:p>
            <a:pPr defTabSz="685800" fontAlgn="base">
              <a:spcBef>
                <a:spcPct val="0"/>
              </a:spcBef>
              <a:spcAft>
                <a:spcPct val="0"/>
              </a:spcAft>
            </a:pPr>
            <a:fld id="{034FB00A-8B0F-42D2-B80C-C1445D0F7329}" type="slidenum">
              <a:rPr lang="en-US" altLang="zh-CN">
                <a:solidFill>
                  <a:srgbClr val="FFFFFF"/>
                </a:solidFill>
                <a:latin typeface="Arial" panose="020B0604020202020204" pitchFamily="34" charset="0"/>
                <a:ea typeface="宋体"/>
              </a:rPr>
              <a:pPr defTabSz="685800" fontAlgn="base">
                <a:spcBef>
                  <a:spcPct val="0"/>
                </a:spcBef>
                <a:spcAft>
                  <a:spcPct val="0"/>
                </a:spcAft>
              </a:pPr>
              <a:t>68</a:t>
            </a:fld>
            <a:endParaRPr lang="en-US" altLang="zh-CN">
              <a:solidFill>
                <a:srgbClr val="FFFFFF"/>
              </a:solidFill>
              <a:latin typeface="Arial" panose="020B0604020202020204" pitchFamily="34" charset="0"/>
              <a:ea typeface="宋体"/>
            </a:endParaRPr>
          </a:p>
        </p:txBody>
      </p:sp>
      <p:sp>
        <p:nvSpPr>
          <p:cNvPr id="138242" name="Rectangle 2">
            <a:extLst>
              <a:ext uri="{FF2B5EF4-FFF2-40B4-BE49-F238E27FC236}">
                <a16:creationId xmlns:a16="http://schemas.microsoft.com/office/drawing/2014/main" id="{70BB69DB-E582-4480-A5F3-EDA2342A0487}"/>
              </a:ext>
            </a:extLst>
          </p:cNvPr>
          <p:cNvSpPr>
            <a:spLocks noGrp="1" noChangeArrowheads="1"/>
          </p:cNvSpPr>
          <p:nvPr>
            <p:ph type="title"/>
          </p:nvPr>
        </p:nvSpPr>
        <p:spPr>
          <a:xfrm>
            <a:off x="1143000" y="0"/>
            <a:ext cx="6115050" cy="1096566"/>
          </a:xfrm>
        </p:spPr>
        <p:txBody>
          <a:bodyPr/>
          <a:lstStyle/>
          <a:p>
            <a:r>
              <a:rPr lang="en-US" altLang="zh-CN" b="1"/>
              <a:t>7.5 </a:t>
            </a:r>
            <a:r>
              <a:rPr lang="zh-CN" altLang="en-US" b="1"/>
              <a:t>文件目录</a:t>
            </a:r>
          </a:p>
        </p:txBody>
      </p:sp>
      <p:sp>
        <p:nvSpPr>
          <p:cNvPr id="138243" name="Rectangle 3">
            <a:extLst>
              <a:ext uri="{FF2B5EF4-FFF2-40B4-BE49-F238E27FC236}">
                <a16:creationId xmlns:a16="http://schemas.microsoft.com/office/drawing/2014/main" id="{87F03624-7AD7-470F-AC74-1B5BEE56E59D}"/>
              </a:ext>
            </a:extLst>
          </p:cNvPr>
          <p:cNvSpPr>
            <a:spLocks noGrp="1" noChangeArrowheads="1"/>
          </p:cNvSpPr>
          <p:nvPr>
            <p:ph type="body" idx="1"/>
          </p:nvPr>
        </p:nvSpPr>
        <p:spPr>
          <a:xfrm>
            <a:off x="1485900" y="914400"/>
            <a:ext cx="6229350" cy="4057650"/>
          </a:xfrm>
        </p:spPr>
        <p:txBody>
          <a:bodyPr/>
          <a:lstStyle/>
          <a:p>
            <a:r>
              <a:rPr lang="zh-CN" altLang="en-US" sz="2700" b="1">
                <a:solidFill>
                  <a:srgbClr val="FFCC00"/>
                </a:solidFill>
                <a:latin typeface="宋体" panose="02010600030101010101" pitchFamily="2" charset="-122"/>
                <a:ea typeface="黑体" panose="02010609060101010101" pitchFamily="49" charset="-122"/>
              </a:rPr>
              <a:t>为了有效地利用存储空间以及迅速准确地完成由文件名到文件物理块的转换，必须把文件名及其结构信息等按一定的组织结构排列，以方便文件的搜索</a:t>
            </a:r>
          </a:p>
          <a:p>
            <a:r>
              <a:rPr lang="zh-CN" altLang="en-US" sz="2700" b="1">
                <a:solidFill>
                  <a:srgbClr val="FFCC00"/>
                </a:solidFill>
                <a:ea typeface="黑体" panose="02010609060101010101" pitchFamily="49" charset="-122"/>
              </a:rPr>
              <a:t>文件目录具有将文件名转换成该文件在外存的物理位置的功能， 就是实现文件名与其存放盘块之间的映射， 这是文件目录所提供的最基本的功能。 </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分层文件系统</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grpSp>
        <p:nvGrpSpPr>
          <p:cNvPr id="2" name="组合 1"/>
          <p:cNvGrpSpPr/>
          <p:nvPr/>
        </p:nvGrpSpPr>
        <p:grpSpPr>
          <a:xfrm>
            <a:off x="844893" y="727185"/>
            <a:ext cx="3727107" cy="428628"/>
            <a:chOff x="844893" y="727185"/>
            <a:chExt cx="3727107" cy="428628"/>
          </a:xfrm>
        </p:grpSpPr>
        <p:sp>
          <p:nvSpPr>
            <p:cNvPr id="9" name="内容占位符 2"/>
            <p:cNvSpPr txBox="1"/>
            <p:nvPr/>
          </p:nvSpPr>
          <p:spPr>
            <a:xfrm>
              <a:off x="1142976" y="727185"/>
              <a:ext cx="342902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sz="1600" dirty="0"/>
                <a:t>文件以目录的方式组织起来</a:t>
              </a:r>
              <a:endParaRPr kumimoji="0" lang="zh-CN" altLang="en-US" sz="16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730838"/>
              <a:ext cx="433390" cy="338554"/>
            </a:xfrm>
            <a:prstGeom prst="rect">
              <a:avLst/>
            </a:prstGeom>
            <a:noFill/>
            <a:effectLst/>
          </p:spPr>
          <p:txBody>
            <a:bodyPr wrap="square" rtlCol="0">
              <a:spAutoFit/>
            </a:bodyPr>
            <a:lstStyle/>
            <a:p>
              <a:pPr marL="342900" indent="-342900">
                <a:spcBef>
                  <a:spcPct val="20000"/>
                </a:spcBef>
              </a:pPr>
              <a:r>
                <a:rPr lang="zh-CN" altLang="en-US" sz="1600" b="1" dirty="0">
                  <a:solidFill>
                    <a:srgbClr val="11576A"/>
                  </a:solidFill>
                  <a:latin typeface="张海山锐谐体2.0-授权联系：Samtype@QQ.com" pitchFamily="2" charset="-122"/>
                  <a:ea typeface="张海山锐谐体2.0-授权联系：Samtype@QQ.com" pitchFamily="2" charset="-122"/>
                </a:rPr>
                <a:t>■</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844893" y="966318"/>
            <a:ext cx="6155999" cy="533863"/>
            <a:chOff x="844893" y="966318"/>
            <a:chExt cx="6155999" cy="533863"/>
          </a:xfrm>
        </p:grpSpPr>
        <p:sp>
          <p:nvSpPr>
            <p:cNvPr id="37" name="内容占位符 2"/>
            <p:cNvSpPr txBox="1"/>
            <p:nvPr/>
          </p:nvSpPr>
          <p:spPr>
            <a:xfrm>
              <a:off x="1142976" y="971541"/>
              <a:ext cx="300039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sz="1600" dirty="0"/>
                <a:t>目录是一类特殊的文件</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8" name="TextBox 37"/>
            <p:cNvSpPr txBox="1"/>
            <p:nvPr/>
          </p:nvSpPr>
          <p:spPr>
            <a:xfrm>
              <a:off x="844893" y="966318"/>
              <a:ext cx="433390" cy="338554"/>
            </a:xfrm>
            <a:prstGeom prst="rect">
              <a:avLst/>
            </a:prstGeom>
            <a:noFill/>
            <a:effectLst/>
          </p:spPr>
          <p:txBody>
            <a:bodyPr wrap="square" rtlCol="0">
              <a:spAutoFit/>
            </a:bodyPr>
            <a:lstStyle/>
            <a:p>
              <a:pPr marL="342900" indent="-342900">
                <a:spcBef>
                  <a:spcPct val="20000"/>
                </a:spcBef>
              </a:pPr>
              <a:r>
                <a:rPr lang="zh-CN" altLang="en-US" sz="1600" b="1" dirty="0">
                  <a:solidFill>
                    <a:srgbClr val="11576A"/>
                  </a:solidFill>
                  <a:latin typeface="张海山锐谐体2.0-授权联系：Samtype@QQ.com" pitchFamily="2" charset="-122"/>
                  <a:ea typeface="张海山锐谐体2.0-授权联系：Samtype@QQ.com" pitchFamily="2" charset="-122"/>
                </a:rPr>
                <a:t>■</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pic>
          <p:nvPicPr>
            <p:cNvPr id="39" name="图片 38" descr="小点1.png"/>
            <p:cNvPicPr>
              <a:picLocks noChangeAspect="1"/>
            </p:cNvPicPr>
            <p:nvPr/>
          </p:nvPicPr>
          <p:blipFill>
            <a:blip r:embed="rId3" cstate="print"/>
            <a:stretch>
              <a:fillRect/>
            </a:stretch>
          </p:blipFill>
          <p:spPr>
            <a:xfrm>
              <a:off x="1262422" y="1307818"/>
              <a:ext cx="151066" cy="148997"/>
            </a:xfrm>
            <a:prstGeom prst="rect">
              <a:avLst/>
            </a:prstGeom>
            <a:effectLst/>
          </p:spPr>
        </p:pic>
        <p:sp>
          <p:nvSpPr>
            <p:cNvPr id="40" name="内容占位符 2"/>
            <p:cNvSpPr txBox="1"/>
            <p:nvPr/>
          </p:nvSpPr>
          <p:spPr>
            <a:xfrm>
              <a:off x="1394985" y="1226489"/>
              <a:ext cx="5605907" cy="27369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600" dirty="0"/>
                <a:t>目录的内容是文件索引表</a:t>
              </a:r>
              <a:r>
                <a:rPr lang="en-US" altLang="zh-CN" sz="1600" dirty="0"/>
                <a:t>&lt;</a:t>
              </a:r>
              <a:r>
                <a:rPr lang="zh-CN" altLang="en-US" sz="1600" dirty="0"/>
                <a:t>文件名</a:t>
              </a:r>
              <a:r>
                <a:rPr lang="en-US" altLang="zh-CN" sz="1600" dirty="0"/>
                <a:t>, </a:t>
              </a:r>
              <a:r>
                <a:rPr lang="zh-CN" altLang="en-US" sz="1600" dirty="0"/>
                <a:t>指向文件的指针</a:t>
              </a:r>
              <a:r>
                <a:rPr lang="en-US" altLang="zh-CN" sz="1600" dirty="0"/>
                <a:t>&gt;</a:t>
              </a:r>
              <a:endParaRPr kumimoji="0" lang="zh-CN" altLang="en-US" sz="16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4" name="组合 3"/>
          <p:cNvGrpSpPr/>
          <p:nvPr/>
        </p:nvGrpSpPr>
        <p:grpSpPr>
          <a:xfrm>
            <a:off x="844893" y="1433418"/>
            <a:ext cx="4441487" cy="654962"/>
            <a:chOff x="844893" y="1433418"/>
            <a:chExt cx="4441487" cy="654962"/>
          </a:xfrm>
        </p:grpSpPr>
        <p:sp>
          <p:nvSpPr>
            <p:cNvPr id="25" name="内容占位符 2"/>
            <p:cNvSpPr txBox="1"/>
            <p:nvPr/>
          </p:nvSpPr>
          <p:spPr>
            <a:xfrm>
              <a:off x="1142976" y="1444865"/>
              <a:ext cx="285752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sz="1600" dirty="0"/>
                <a:t>目录和文件的树型结构</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7" name="TextBox 26"/>
            <p:cNvSpPr txBox="1"/>
            <p:nvPr/>
          </p:nvSpPr>
          <p:spPr>
            <a:xfrm>
              <a:off x="844893" y="1433418"/>
              <a:ext cx="433390" cy="338554"/>
            </a:xfrm>
            <a:prstGeom prst="rect">
              <a:avLst/>
            </a:prstGeom>
            <a:noFill/>
            <a:effectLst/>
          </p:spPr>
          <p:txBody>
            <a:bodyPr wrap="square" rtlCol="0">
              <a:spAutoFit/>
            </a:bodyPr>
            <a:lstStyle/>
            <a:p>
              <a:pPr marL="342900" indent="-342900">
                <a:spcBef>
                  <a:spcPct val="20000"/>
                </a:spcBef>
              </a:pPr>
              <a:r>
                <a:rPr lang="zh-CN" altLang="en-US" sz="1600" b="1" dirty="0">
                  <a:solidFill>
                    <a:srgbClr val="11576A"/>
                  </a:solidFill>
                  <a:latin typeface="张海山锐谐体2.0-授权联系：Samtype@QQ.com" pitchFamily="2" charset="-122"/>
                  <a:ea typeface="张海山锐谐体2.0-授权联系：Samtype@QQ.com" pitchFamily="2" charset="-122"/>
                </a:rPr>
                <a:t>■</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pic>
          <p:nvPicPr>
            <p:cNvPr id="28" name="图片 27" descr="小点1.png"/>
            <p:cNvPicPr>
              <a:picLocks noChangeAspect="1"/>
            </p:cNvPicPr>
            <p:nvPr/>
          </p:nvPicPr>
          <p:blipFill>
            <a:blip r:embed="rId3" cstate="print"/>
            <a:stretch>
              <a:fillRect/>
            </a:stretch>
          </p:blipFill>
          <p:spPr>
            <a:xfrm>
              <a:off x="1262422" y="1804588"/>
              <a:ext cx="151066" cy="148997"/>
            </a:xfrm>
            <a:prstGeom prst="rect">
              <a:avLst/>
            </a:prstGeom>
            <a:effectLst/>
          </p:spPr>
        </p:pic>
        <p:sp>
          <p:nvSpPr>
            <p:cNvPr id="31" name="内容占位符 2"/>
            <p:cNvSpPr txBox="1"/>
            <p:nvPr/>
          </p:nvSpPr>
          <p:spPr>
            <a:xfrm>
              <a:off x="1394985" y="1723258"/>
              <a:ext cx="3891395" cy="3651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600" dirty="0"/>
                <a:t>早期的文件系统是扁平的</a:t>
              </a:r>
              <a:r>
                <a:rPr lang="en-US" altLang="zh-CN" sz="1600" dirty="0"/>
                <a:t> (</a:t>
              </a:r>
              <a:r>
                <a:rPr lang="zh-CN" altLang="en-US" sz="1600" dirty="0"/>
                <a:t>只有一层目录</a:t>
              </a:r>
              <a:r>
                <a:rPr lang="en-US" altLang="zh-CN" sz="1600" dirty="0"/>
                <a:t>)</a:t>
              </a:r>
              <a:endParaRPr lang="zh-CN" altLang="en-US" sz="1600" dirty="0"/>
            </a:p>
          </p:txBody>
        </p:sp>
      </p:grpSp>
      <p:sp>
        <p:nvSpPr>
          <p:cNvPr id="32" name="TextBox 4"/>
          <p:cNvSpPr txBox="1">
            <a:spLocks noChangeArrowheads="1"/>
          </p:cNvSpPr>
          <p:nvPr/>
        </p:nvSpPr>
        <p:spPr bwMode="auto">
          <a:xfrm>
            <a:off x="5384349" y="3100784"/>
            <a:ext cx="2776722" cy="338554"/>
          </a:xfrm>
          <a:prstGeom prst="rect">
            <a:avLst/>
          </a:prstGeom>
          <a:noFill/>
          <a:ln>
            <a:noFill/>
          </a:ln>
        </p:spPr>
        <p:txBody>
          <a:bodyPr wrap="none">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/spell/mail/</a:t>
            </a:r>
            <a:r>
              <a:rPr lang="en-US" altLang="zh-CN" sz="1600" b="1" dirty="0" err="1">
                <a:latin typeface="Courier New" panose="02070309020205020404" pitchFamily="49" charset="0"/>
                <a:ea typeface="+mn-ea"/>
                <a:cs typeface="Courier New" panose="02070309020205020404" pitchFamily="49" charset="0"/>
              </a:rPr>
              <a:t>prt</a:t>
            </a:r>
            <a:r>
              <a:rPr lang="en-US" altLang="zh-CN" sz="1600" b="1" dirty="0">
                <a:latin typeface="Courier New" panose="02070309020205020404" pitchFamily="49" charset="0"/>
                <a:ea typeface="+mn-ea"/>
                <a:cs typeface="Courier New" panose="02070309020205020404" pitchFamily="49" charset="0"/>
              </a:rPr>
              <a:t>/first</a:t>
            </a:r>
          </a:p>
        </p:txBody>
      </p:sp>
      <p:grpSp>
        <p:nvGrpSpPr>
          <p:cNvPr id="5" name="组合 15"/>
          <p:cNvGrpSpPr/>
          <p:nvPr/>
        </p:nvGrpSpPr>
        <p:grpSpPr>
          <a:xfrm>
            <a:off x="832526" y="2221266"/>
            <a:ext cx="4402480" cy="2795755"/>
            <a:chOff x="832526" y="2221266"/>
            <a:chExt cx="4402480" cy="2795755"/>
          </a:xfrm>
        </p:grpSpPr>
        <p:sp>
          <p:nvSpPr>
            <p:cNvPr id="41" name="矩形 40"/>
            <p:cNvSpPr/>
            <p:nvPr/>
          </p:nvSpPr>
          <p:spPr>
            <a:xfrm>
              <a:off x="910629" y="2743718"/>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44" name="TextBox 43"/>
            <p:cNvSpPr txBox="1"/>
            <p:nvPr/>
          </p:nvSpPr>
          <p:spPr>
            <a:xfrm>
              <a:off x="863006" y="2724993"/>
              <a:ext cx="450764" cy="261610"/>
            </a:xfrm>
            <a:prstGeom prst="rect">
              <a:avLst/>
            </a:prstGeom>
            <a:noFill/>
          </p:spPr>
          <p:txBody>
            <a:bodyPr wrap="none" rtlCol="0">
              <a:spAutoFit/>
            </a:bodyPr>
            <a:lstStyle/>
            <a:p>
              <a:r>
                <a:rPr lang="en-US" altLang="zh-CN" sz="1100" b="1" dirty="0">
                  <a:solidFill>
                    <a:srgbClr val="11576A"/>
                  </a:solidFill>
                  <a:latin typeface="+mn-ea"/>
                </a:rPr>
                <a:t>stat</a:t>
              </a:r>
              <a:endParaRPr lang="zh-CN" altLang="en-US" sz="1100" b="1" dirty="0">
                <a:solidFill>
                  <a:srgbClr val="11576A"/>
                </a:solidFill>
                <a:latin typeface="+mn-ea"/>
              </a:endParaRPr>
            </a:p>
          </p:txBody>
        </p:sp>
        <p:sp>
          <p:nvSpPr>
            <p:cNvPr id="47" name="矩形 46"/>
            <p:cNvSpPr/>
            <p:nvPr/>
          </p:nvSpPr>
          <p:spPr>
            <a:xfrm>
              <a:off x="1267651" y="2743718"/>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52" name="TextBox 51"/>
            <p:cNvSpPr txBox="1"/>
            <p:nvPr/>
          </p:nvSpPr>
          <p:spPr>
            <a:xfrm>
              <a:off x="1200976" y="2724993"/>
              <a:ext cx="487634" cy="261610"/>
            </a:xfrm>
            <a:prstGeom prst="rect">
              <a:avLst/>
            </a:prstGeom>
            <a:noFill/>
          </p:spPr>
          <p:txBody>
            <a:bodyPr wrap="none" rtlCol="0">
              <a:spAutoFit/>
            </a:bodyPr>
            <a:lstStyle/>
            <a:p>
              <a:r>
                <a:rPr lang="en-US" altLang="zh-CN" sz="1100" b="1" dirty="0">
                  <a:solidFill>
                    <a:srgbClr val="11576A"/>
                  </a:solidFill>
                  <a:latin typeface="+mn-ea"/>
                </a:rPr>
                <a:t>mail</a:t>
              </a:r>
              <a:endParaRPr lang="zh-CN" altLang="en-US" sz="1100" b="1" dirty="0">
                <a:solidFill>
                  <a:srgbClr val="11576A"/>
                </a:solidFill>
                <a:latin typeface="+mn-ea"/>
              </a:endParaRPr>
            </a:p>
          </p:txBody>
        </p:sp>
        <p:sp>
          <p:nvSpPr>
            <p:cNvPr id="54" name="矩形 53"/>
            <p:cNvSpPr/>
            <p:nvPr/>
          </p:nvSpPr>
          <p:spPr>
            <a:xfrm>
              <a:off x="1623145" y="2743718"/>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55" name="TextBox 54"/>
            <p:cNvSpPr txBox="1"/>
            <p:nvPr/>
          </p:nvSpPr>
          <p:spPr>
            <a:xfrm>
              <a:off x="1580285" y="2724993"/>
              <a:ext cx="445956" cy="261610"/>
            </a:xfrm>
            <a:prstGeom prst="rect">
              <a:avLst/>
            </a:prstGeom>
            <a:noFill/>
          </p:spPr>
          <p:txBody>
            <a:bodyPr wrap="none" rtlCol="0">
              <a:spAutoFit/>
            </a:bodyPr>
            <a:lstStyle/>
            <a:p>
              <a:r>
                <a:rPr lang="en-US" altLang="zh-CN" sz="1100" b="1" dirty="0">
                  <a:solidFill>
                    <a:srgbClr val="11576A"/>
                  </a:solidFill>
                  <a:latin typeface="+mn-ea"/>
                </a:rPr>
                <a:t>dist</a:t>
              </a:r>
              <a:endParaRPr lang="zh-CN" altLang="en-US" sz="1100" b="1" dirty="0">
                <a:solidFill>
                  <a:srgbClr val="11576A"/>
                </a:solidFill>
                <a:latin typeface="+mn-ea"/>
              </a:endParaRPr>
            </a:p>
          </p:txBody>
        </p:sp>
        <p:sp>
          <p:nvSpPr>
            <p:cNvPr id="66" name="矩形 65"/>
            <p:cNvSpPr/>
            <p:nvPr/>
          </p:nvSpPr>
          <p:spPr>
            <a:xfrm>
              <a:off x="3993846" y="2743718"/>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7" name="TextBox 66"/>
            <p:cNvSpPr txBox="1"/>
            <p:nvPr/>
          </p:nvSpPr>
          <p:spPr>
            <a:xfrm>
              <a:off x="4039612" y="2710704"/>
              <a:ext cx="279244" cy="261610"/>
            </a:xfrm>
            <a:prstGeom prst="rect">
              <a:avLst/>
            </a:prstGeom>
            <a:noFill/>
          </p:spPr>
          <p:txBody>
            <a:bodyPr wrap="none" rtlCol="0">
              <a:spAutoFit/>
            </a:bodyPr>
            <a:lstStyle/>
            <a:p>
              <a:r>
                <a:rPr lang="en-US" altLang="zh-CN" sz="1100" b="1" dirty="0">
                  <a:solidFill>
                    <a:srgbClr val="11576A"/>
                  </a:solidFill>
                  <a:latin typeface="+mn-ea"/>
                </a:rPr>
                <a:t>p</a:t>
              </a:r>
              <a:endParaRPr lang="zh-CN" altLang="en-US" sz="1100" b="1" dirty="0">
                <a:solidFill>
                  <a:srgbClr val="11576A"/>
                </a:solidFill>
                <a:latin typeface="+mn-ea"/>
              </a:endParaRPr>
            </a:p>
          </p:txBody>
        </p:sp>
        <p:sp>
          <p:nvSpPr>
            <p:cNvPr id="69" name="矩形 68"/>
            <p:cNvSpPr/>
            <p:nvPr/>
          </p:nvSpPr>
          <p:spPr>
            <a:xfrm>
              <a:off x="4350868" y="2743718"/>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70" name="TextBox 69"/>
            <p:cNvSpPr txBox="1"/>
            <p:nvPr/>
          </p:nvSpPr>
          <p:spPr>
            <a:xfrm>
              <a:off x="4397082" y="2724993"/>
              <a:ext cx="266420" cy="261610"/>
            </a:xfrm>
            <a:prstGeom prst="rect">
              <a:avLst/>
            </a:prstGeom>
            <a:noFill/>
          </p:spPr>
          <p:txBody>
            <a:bodyPr wrap="none" rtlCol="0">
              <a:spAutoFit/>
            </a:bodyPr>
            <a:lstStyle/>
            <a:p>
              <a:r>
                <a:rPr lang="en-US" altLang="zh-CN" sz="1100" b="1" dirty="0">
                  <a:solidFill>
                    <a:srgbClr val="11576A"/>
                  </a:solidFill>
                  <a:latin typeface="+mn-ea"/>
                </a:rPr>
                <a:t>e</a:t>
              </a:r>
              <a:endParaRPr lang="zh-CN" altLang="en-US" sz="1100" b="1" dirty="0">
                <a:solidFill>
                  <a:srgbClr val="11576A"/>
                </a:solidFill>
                <a:latin typeface="+mn-ea"/>
              </a:endParaRPr>
            </a:p>
          </p:txBody>
        </p:sp>
        <p:sp>
          <p:nvSpPr>
            <p:cNvPr id="72" name="矩形 71"/>
            <p:cNvSpPr/>
            <p:nvPr/>
          </p:nvSpPr>
          <p:spPr>
            <a:xfrm>
              <a:off x="4706362" y="2743718"/>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73" name="TextBox 72"/>
            <p:cNvSpPr txBox="1"/>
            <p:nvPr/>
          </p:nvSpPr>
          <p:spPr>
            <a:xfrm>
              <a:off x="4644450" y="2724993"/>
              <a:ext cx="487634" cy="261610"/>
            </a:xfrm>
            <a:prstGeom prst="rect">
              <a:avLst/>
            </a:prstGeom>
            <a:noFill/>
          </p:spPr>
          <p:txBody>
            <a:bodyPr wrap="none" rtlCol="0">
              <a:spAutoFit/>
            </a:bodyPr>
            <a:lstStyle/>
            <a:p>
              <a:r>
                <a:rPr lang="en-US" altLang="zh-CN" sz="1100" b="1" dirty="0">
                  <a:solidFill>
                    <a:srgbClr val="11576A"/>
                  </a:solidFill>
                  <a:latin typeface="+mn-ea"/>
                </a:rPr>
                <a:t>mail</a:t>
              </a:r>
              <a:endParaRPr lang="zh-CN" altLang="en-US" sz="1100" b="1" dirty="0">
                <a:solidFill>
                  <a:srgbClr val="11576A"/>
                </a:solidFill>
                <a:latin typeface="+mn-ea"/>
              </a:endParaRPr>
            </a:p>
          </p:txBody>
        </p:sp>
        <p:grpSp>
          <p:nvGrpSpPr>
            <p:cNvPr id="6" name="组合 141"/>
            <p:cNvGrpSpPr/>
            <p:nvPr/>
          </p:nvGrpSpPr>
          <p:grpSpPr>
            <a:xfrm>
              <a:off x="2160273" y="2724993"/>
              <a:ext cx="1637599" cy="261610"/>
              <a:chOff x="2497399" y="2738768"/>
              <a:chExt cx="1637599" cy="261610"/>
            </a:xfrm>
          </p:grpSpPr>
          <p:sp>
            <p:nvSpPr>
              <p:cNvPr id="57" name="矩形 56"/>
              <p:cNvSpPr/>
              <p:nvPr/>
            </p:nvSpPr>
            <p:spPr>
              <a:xfrm>
                <a:off x="2545022" y="2757493"/>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58" name="TextBox 57"/>
              <p:cNvSpPr txBox="1"/>
              <p:nvPr/>
            </p:nvSpPr>
            <p:spPr>
              <a:xfrm>
                <a:off x="2497399" y="2738768"/>
                <a:ext cx="468398" cy="261610"/>
              </a:xfrm>
              <a:prstGeom prst="rect">
                <a:avLst/>
              </a:prstGeom>
              <a:noFill/>
            </p:spPr>
            <p:txBody>
              <a:bodyPr wrap="none" rtlCol="0">
                <a:spAutoFit/>
              </a:bodyPr>
              <a:lstStyle/>
              <a:p>
                <a:r>
                  <a:rPr lang="en-US" altLang="zh-CN" sz="1100" b="1" dirty="0">
                    <a:solidFill>
                      <a:srgbClr val="11576A"/>
                    </a:solidFill>
                    <a:latin typeface="+mn-ea"/>
                  </a:rPr>
                  <a:t>find</a:t>
                </a:r>
                <a:endParaRPr lang="zh-CN" altLang="en-US" sz="1100" b="1" dirty="0">
                  <a:solidFill>
                    <a:srgbClr val="11576A"/>
                  </a:solidFill>
                  <a:latin typeface="+mn-ea"/>
                </a:endParaRPr>
              </a:p>
            </p:txBody>
          </p:sp>
          <p:sp>
            <p:nvSpPr>
              <p:cNvPr id="60" name="矩形 59"/>
              <p:cNvSpPr/>
              <p:nvPr/>
            </p:nvSpPr>
            <p:spPr>
              <a:xfrm>
                <a:off x="2902044" y="2757493"/>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1" name="TextBox 60"/>
              <p:cNvSpPr txBox="1"/>
              <p:nvPr/>
            </p:nvSpPr>
            <p:spPr>
              <a:xfrm>
                <a:off x="2825843" y="2738768"/>
                <a:ext cx="490840" cy="246221"/>
              </a:xfrm>
              <a:prstGeom prst="rect">
                <a:avLst/>
              </a:prstGeom>
              <a:noFill/>
            </p:spPr>
            <p:txBody>
              <a:bodyPr wrap="none" rtlCol="0">
                <a:spAutoFit/>
              </a:bodyPr>
              <a:lstStyle/>
              <a:p>
                <a:r>
                  <a:rPr lang="en-US" altLang="zh-CN" sz="1000" b="1" spc="-100" dirty="0">
                    <a:solidFill>
                      <a:srgbClr val="11576A"/>
                    </a:solidFill>
                    <a:latin typeface="+mn-ea"/>
                  </a:rPr>
                  <a:t>count</a:t>
                </a:r>
                <a:endParaRPr lang="zh-CN" altLang="en-US" sz="1000" b="1" spc="-100" dirty="0">
                  <a:solidFill>
                    <a:srgbClr val="11576A"/>
                  </a:solidFill>
                  <a:latin typeface="+mn-ea"/>
                </a:endParaRPr>
              </a:p>
            </p:txBody>
          </p:sp>
          <p:sp>
            <p:nvSpPr>
              <p:cNvPr id="63" name="矩形 62"/>
              <p:cNvSpPr/>
              <p:nvPr/>
            </p:nvSpPr>
            <p:spPr>
              <a:xfrm>
                <a:off x="3257538" y="2757493"/>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4" name="TextBox 63"/>
              <p:cNvSpPr txBox="1"/>
              <p:nvPr/>
            </p:nvSpPr>
            <p:spPr>
              <a:xfrm>
                <a:off x="3214678" y="2738768"/>
                <a:ext cx="439544" cy="261610"/>
              </a:xfrm>
              <a:prstGeom prst="rect">
                <a:avLst/>
              </a:prstGeom>
              <a:noFill/>
            </p:spPr>
            <p:txBody>
              <a:bodyPr wrap="none" rtlCol="0">
                <a:spAutoFit/>
              </a:bodyPr>
              <a:lstStyle/>
              <a:p>
                <a:r>
                  <a:rPr lang="en-US" altLang="zh-CN" sz="1100" b="1" dirty="0">
                    <a:solidFill>
                      <a:srgbClr val="11576A"/>
                    </a:solidFill>
                    <a:latin typeface="+mn-ea"/>
                  </a:rPr>
                  <a:t>hex</a:t>
                </a:r>
                <a:endParaRPr lang="zh-CN" altLang="en-US" sz="1100" b="1" dirty="0">
                  <a:solidFill>
                    <a:srgbClr val="11576A"/>
                  </a:solidFill>
                  <a:latin typeface="+mn-ea"/>
                </a:endParaRPr>
              </a:p>
            </p:txBody>
          </p:sp>
          <p:sp>
            <p:nvSpPr>
              <p:cNvPr id="75" name="矩形 74"/>
              <p:cNvSpPr/>
              <p:nvPr/>
            </p:nvSpPr>
            <p:spPr>
              <a:xfrm>
                <a:off x="3616445" y="2757493"/>
                <a:ext cx="46800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76" name="TextBox 75"/>
              <p:cNvSpPr txBox="1"/>
              <p:nvPr/>
            </p:nvSpPr>
            <p:spPr>
              <a:xfrm>
                <a:off x="3555993" y="2745976"/>
                <a:ext cx="579005" cy="246221"/>
              </a:xfrm>
              <a:prstGeom prst="rect">
                <a:avLst/>
              </a:prstGeom>
              <a:noFill/>
            </p:spPr>
            <p:txBody>
              <a:bodyPr wrap="none" rtlCol="0">
                <a:spAutoFit/>
              </a:bodyPr>
              <a:lstStyle/>
              <a:p>
                <a:r>
                  <a:rPr lang="en-US" altLang="zh-CN" sz="1000" b="1" spc="-100" dirty="0">
                    <a:solidFill>
                      <a:srgbClr val="11576A"/>
                    </a:solidFill>
                    <a:latin typeface="+mn-ea"/>
                  </a:rPr>
                  <a:t>reorder</a:t>
                </a:r>
                <a:endParaRPr lang="zh-CN" altLang="en-US" sz="1000" b="1" spc="-100" dirty="0">
                  <a:solidFill>
                    <a:srgbClr val="11576A"/>
                  </a:solidFill>
                  <a:latin typeface="+mn-ea"/>
                </a:endParaRPr>
              </a:p>
            </p:txBody>
          </p:sp>
        </p:grpSp>
        <p:sp>
          <p:nvSpPr>
            <p:cNvPr id="79" name="矩形 78"/>
            <p:cNvSpPr/>
            <p:nvPr/>
          </p:nvSpPr>
          <p:spPr>
            <a:xfrm>
              <a:off x="2228108" y="2247214"/>
              <a:ext cx="504000" cy="212728"/>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80" name="TextBox 79"/>
            <p:cNvSpPr txBox="1"/>
            <p:nvPr/>
          </p:nvSpPr>
          <p:spPr>
            <a:xfrm>
              <a:off x="2245723" y="2224927"/>
              <a:ext cx="449162" cy="261610"/>
            </a:xfrm>
            <a:prstGeom prst="rect">
              <a:avLst/>
            </a:prstGeom>
            <a:noFill/>
          </p:spPr>
          <p:txBody>
            <a:bodyPr wrap="none" rtlCol="0">
              <a:spAutoFit/>
            </a:bodyPr>
            <a:lstStyle/>
            <a:p>
              <a:r>
                <a:rPr lang="en-US" altLang="zh-CN" sz="1100" b="1" spc="-100" dirty="0">
                  <a:solidFill>
                    <a:srgbClr val="11576A"/>
                  </a:solidFill>
                  <a:latin typeface="+mn-ea"/>
                </a:rPr>
                <a:t>spell</a:t>
              </a:r>
              <a:endParaRPr lang="zh-CN" altLang="en-US" sz="1100" b="1" spc="-100" dirty="0">
                <a:solidFill>
                  <a:srgbClr val="11576A"/>
                </a:solidFill>
                <a:latin typeface="+mn-ea"/>
              </a:endParaRPr>
            </a:p>
          </p:txBody>
        </p:sp>
        <p:sp>
          <p:nvSpPr>
            <p:cNvPr id="82" name="矩形 81"/>
            <p:cNvSpPr/>
            <p:nvPr/>
          </p:nvSpPr>
          <p:spPr>
            <a:xfrm>
              <a:off x="2732102" y="2247214"/>
              <a:ext cx="357190" cy="212728"/>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83" name="TextBox 82"/>
            <p:cNvSpPr txBox="1"/>
            <p:nvPr/>
          </p:nvSpPr>
          <p:spPr>
            <a:xfrm>
              <a:off x="2705117" y="2224927"/>
              <a:ext cx="412292" cy="261610"/>
            </a:xfrm>
            <a:prstGeom prst="rect">
              <a:avLst/>
            </a:prstGeom>
            <a:noFill/>
          </p:spPr>
          <p:txBody>
            <a:bodyPr wrap="none" rtlCol="0">
              <a:spAutoFit/>
            </a:bodyPr>
            <a:lstStyle/>
            <a:p>
              <a:r>
                <a:rPr lang="en-US" altLang="zh-CN" sz="1100" b="1" dirty="0">
                  <a:solidFill>
                    <a:srgbClr val="11576A"/>
                  </a:solidFill>
                  <a:latin typeface="+mn-ea"/>
                </a:rPr>
                <a:t>bin</a:t>
              </a:r>
              <a:endParaRPr lang="zh-CN" altLang="en-US" sz="1100" b="1" dirty="0">
                <a:solidFill>
                  <a:srgbClr val="11576A"/>
                </a:solidFill>
                <a:latin typeface="+mn-ea"/>
              </a:endParaRPr>
            </a:p>
          </p:txBody>
        </p:sp>
        <p:sp>
          <p:nvSpPr>
            <p:cNvPr id="85" name="矩形 84"/>
            <p:cNvSpPr/>
            <p:nvPr/>
          </p:nvSpPr>
          <p:spPr>
            <a:xfrm>
              <a:off x="3091009" y="2247214"/>
              <a:ext cx="612000" cy="212728"/>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86" name="TextBox 85"/>
            <p:cNvSpPr txBox="1"/>
            <p:nvPr/>
          </p:nvSpPr>
          <p:spPr>
            <a:xfrm>
              <a:off x="3030557" y="2221266"/>
              <a:ext cx="708848" cy="246221"/>
            </a:xfrm>
            <a:prstGeom prst="rect">
              <a:avLst/>
            </a:prstGeom>
            <a:noFill/>
          </p:spPr>
          <p:txBody>
            <a:bodyPr wrap="none" rtlCol="0">
              <a:spAutoFit/>
            </a:bodyPr>
            <a:lstStyle/>
            <a:p>
              <a:r>
                <a:rPr lang="en-US" altLang="zh-CN" sz="1000" b="1" spc="-100" dirty="0">
                  <a:solidFill>
                    <a:srgbClr val="11576A"/>
                  </a:solidFill>
                  <a:latin typeface="+mn-ea"/>
                </a:rPr>
                <a:t>programs</a:t>
              </a:r>
              <a:endParaRPr lang="zh-CN" altLang="en-US" sz="1000" b="1" spc="-100" dirty="0">
                <a:solidFill>
                  <a:srgbClr val="11576A"/>
                </a:solidFill>
                <a:latin typeface="+mn-ea"/>
              </a:endParaRPr>
            </a:p>
          </p:txBody>
        </p:sp>
        <p:sp>
          <p:nvSpPr>
            <p:cNvPr id="218" name="TextBox 217"/>
            <p:cNvSpPr txBox="1"/>
            <p:nvPr/>
          </p:nvSpPr>
          <p:spPr>
            <a:xfrm>
              <a:off x="1788749" y="2224927"/>
              <a:ext cx="436338" cy="261610"/>
            </a:xfrm>
            <a:prstGeom prst="rect">
              <a:avLst/>
            </a:prstGeom>
            <a:noFill/>
          </p:spPr>
          <p:txBody>
            <a:bodyPr wrap="none" rtlCol="0">
              <a:spAutoFit/>
            </a:bodyPr>
            <a:lstStyle/>
            <a:p>
              <a:r>
                <a:rPr lang="en-US" altLang="zh-CN" sz="1100" b="1" spc="-100" dirty="0">
                  <a:solidFill>
                    <a:srgbClr val="11576A"/>
                  </a:solidFill>
                  <a:latin typeface="+mn-ea"/>
                </a:rPr>
                <a:t>root</a:t>
              </a:r>
              <a:endParaRPr lang="zh-CN" altLang="en-US" sz="1100" b="1" spc="-100" dirty="0">
                <a:solidFill>
                  <a:srgbClr val="11576A"/>
                </a:solidFill>
                <a:latin typeface="+mn-ea"/>
              </a:endParaRPr>
            </a:p>
          </p:txBody>
        </p:sp>
        <p:sp>
          <p:nvSpPr>
            <p:cNvPr id="89" name="矩形 88"/>
            <p:cNvSpPr/>
            <p:nvPr/>
          </p:nvSpPr>
          <p:spPr>
            <a:xfrm>
              <a:off x="910629" y="3535989"/>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90" name="TextBox 89"/>
            <p:cNvSpPr txBox="1"/>
            <p:nvPr/>
          </p:nvSpPr>
          <p:spPr>
            <a:xfrm>
              <a:off x="832526" y="3508610"/>
              <a:ext cx="524503" cy="261610"/>
            </a:xfrm>
            <a:prstGeom prst="rect">
              <a:avLst/>
            </a:prstGeom>
            <a:noFill/>
          </p:spPr>
          <p:txBody>
            <a:bodyPr wrap="none" rtlCol="0">
              <a:spAutoFit/>
            </a:bodyPr>
            <a:lstStyle/>
            <a:p>
              <a:r>
                <a:rPr lang="en-US" altLang="zh-CN" sz="1100" b="1" dirty="0" err="1">
                  <a:solidFill>
                    <a:srgbClr val="11576A"/>
                  </a:solidFill>
                  <a:latin typeface="+mn-ea"/>
                </a:rPr>
                <a:t>prog</a:t>
              </a:r>
              <a:endParaRPr lang="zh-CN" altLang="en-US" sz="1100" b="1" dirty="0">
                <a:solidFill>
                  <a:srgbClr val="11576A"/>
                </a:solidFill>
                <a:latin typeface="+mn-ea"/>
              </a:endParaRPr>
            </a:p>
          </p:txBody>
        </p:sp>
        <p:sp>
          <p:nvSpPr>
            <p:cNvPr id="92" name="矩形 91"/>
            <p:cNvSpPr/>
            <p:nvPr/>
          </p:nvSpPr>
          <p:spPr>
            <a:xfrm>
              <a:off x="1267651" y="3535989"/>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93" name="TextBox 92"/>
            <p:cNvSpPr txBox="1"/>
            <p:nvPr/>
          </p:nvSpPr>
          <p:spPr>
            <a:xfrm>
              <a:off x="1185736" y="3508610"/>
              <a:ext cx="526106" cy="261610"/>
            </a:xfrm>
            <a:prstGeom prst="rect">
              <a:avLst/>
            </a:prstGeom>
            <a:noFill/>
          </p:spPr>
          <p:txBody>
            <a:bodyPr wrap="none" rtlCol="0">
              <a:spAutoFit/>
            </a:bodyPr>
            <a:lstStyle/>
            <a:p>
              <a:r>
                <a:rPr lang="en-US" altLang="zh-CN" sz="1100" b="1" dirty="0">
                  <a:solidFill>
                    <a:srgbClr val="11576A"/>
                  </a:solidFill>
                  <a:latin typeface="+mn-ea"/>
                </a:rPr>
                <a:t>copy</a:t>
              </a:r>
              <a:endParaRPr lang="zh-CN" altLang="en-US" sz="1100" b="1" dirty="0">
                <a:solidFill>
                  <a:srgbClr val="11576A"/>
                </a:solidFill>
                <a:latin typeface="+mn-ea"/>
              </a:endParaRPr>
            </a:p>
          </p:txBody>
        </p:sp>
        <p:sp>
          <p:nvSpPr>
            <p:cNvPr id="95" name="矩形 94"/>
            <p:cNvSpPr/>
            <p:nvPr/>
          </p:nvSpPr>
          <p:spPr>
            <a:xfrm>
              <a:off x="1623145" y="3535989"/>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96" name="TextBox 95"/>
            <p:cNvSpPr txBox="1"/>
            <p:nvPr/>
          </p:nvSpPr>
          <p:spPr>
            <a:xfrm>
              <a:off x="1603145" y="3508610"/>
              <a:ext cx="396262" cy="261610"/>
            </a:xfrm>
            <a:prstGeom prst="rect">
              <a:avLst/>
            </a:prstGeom>
            <a:noFill/>
          </p:spPr>
          <p:txBody>
            <a:bodyPr wrap="none" rtlCol="0">
              <a:spAutoFit/>
            </a:bodyPr>
            <a:lstStyle/>
            <a:p>
              <a:r>
                <a:rPr lang="en-US" altLang="zh-CN" sz="1100" b="1" dirty="0" err="1">
                  <a:solidFill>
                    <a:srgbClr val="11576A"/>
                  </a:solidFill>
                  <a:latin typeface="+mn-ea"/>
                </a:rPr>
                <a:t>prt</a:t>
              </a:r>
              <a:endParaRPr lang="zh-CN" altLang="en-US" sz="1100" b="1" dirty="0">
                <a:solidFill>
                  <a:srgbClr val="11576A"/>
                </a:solidFill>
                <a:latin typeface="+mn-ea"/>
              </a:endParaRPr>
            </a:p>
          </p:txBody>
        </p:sp>
        <p:sp>
          <p:nvSpPr>
            <p:cNvPr id="98" name="矩形 97"/>
            <p:cNvSpPr/>
            <p:nvPr/>
          </p:nvSpPr>
          <p:spPr>
            <a:xfrm>
              <a:off x="1979018" y="3535989"/>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99" name="TextBox 98"/>
            <p:cNvSpPr txBox="1"/>
            <p:nvPr/>
          </p:nvSpPr>
          <p:spPr>
            <a:xfrm>
              <a:off x="1936158" y="3508610"/>
              <a:ext cx="442750" cy="261610"/>
            </a:xfrm>
            <a:prstGeom prst="rect">
              <a:avLst/>
            </a:prstGeom>
            <a:noFill/>
          </p:spPr>
          <p:txBody>
            <a:bodyPr wrap="none" rtlCol="0">
              <a:spAutoFit/>
            </a:bodyPr>
            <a:lstStyle/>
            <a:p>
              <a:r>
                <a:rPr lang="en-US" altLang="zh-CN" sz="1100" b="1" dirty="0">
                  <a:solidFill>
                    <a:srgbClr val="11576A"/>
                  </a:solidFill>
                  <a:latin typeface="+mn-ea"/>
                </a:rPr>
                <a:t>exp</a:t>
              </a:r>
              <a:endParaRPr lang="zh-CN" altLang="en-US" sz="1100" b="1" dirty="0">
                <a:solidFill>
                  <a:srgbClr val="11576A"/>
                </a:solidFill>
                <a:latin typeface="+mn-ea"/>
              </a:endParaRPr>
            </a:p>
          </p:txBody>
        </p:sp>
        <p:sp>
          <p:nvSpPr>
            <p:cNvPr id="104" name="矩形 103"/>
            <p:cNvSpPr/>
            <p:nvPr/>
          </p:nvSpPr>
          <p:spPr>
            <a:xfrm>
              <a:off x="3331420" y="3535990"/>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5" name="TextBox 104"/>
            <p:cNvSpPr txBox="1"/>
            <p:nvPr/>
          </p:nvSpPr>
          <p:spPr>
            <a:xfrm>
              <a:off x="3326818" y="3508611"/>
              <a:ext cx="394660" cy="261610"/>
            </a:xfrm>
            <a:prstGeom prst="rect">
              <a:avLst/>
            </a:prstGeom>
            <a:noFill/>
          </p:spPr>
          <p:txBody>
            <a:bodyPr wrap="none" rtlCol="0">
              <a:spAutoFit/>
            </a:bodyPr>
            <a:lstStyle/>
            <a:p>
              <a:r>
                <a:rPr lang="en-US" altLang="zh-CN" sz="1100" b="1" dirty="0">
                  <a:solidFill>
                    <a:srgbClr val="11576A"/>
                  </a:solidFill>
                  <a:latin typeface="+mn-ea"/>
                </a:rPr>
                <a:t>list</a:t>
              </a:r>
              <a:endParaRPr lang="zh-CN" altLang="en-US" sz="1100" b="1" dirty="0">
                <a:solidFill>
                  <a:srgbClr val="11576A"/>
                </a:solidFill>
                <a:latin typeface="+mn-ea"/>
              </a:endParaRPr>
            </a:p>
          </p:txBody>
        </p:sp>
        <p:sp>
          <p:nvSpPr>
            <p:cNvPr id="107" name="矩形 106"/>
            <p:cNvSpPr/>
            <p:nvPr/>
          </p:nvSpPr>
          <p:spPr>
            <a:xfrm>
              <a:off x="3686914" y="3535990"/>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8" name="TextBox 107"/>
            <p:cNvSpPr txBox="1"/>
            <p:nvPr/>
          </p:nvSpPr>
          <p:spPr>
            <a:xfrm>
              <a:off x="3625002" y="3508611"/>
              <a:ext cx="468398" cy="261610"/>
            </a:xfrm>
            <a:prstGeom prst="rect">
              <a:avLst/>
            </a:prstGeom>
            <a:noFill/>
          </p:spPr>
          <p:txBody>
            <a:bodyPr wrap="none" rtlCol="0">
              <a:spAutoFit/>
            </a:bodyPr>
            <a:lstStyle/>
            <a:p>
              <a:r>
                <a:rPr lang="en-US" altLang="zh-CN" sz="1100" b="1" dirty="0">
                  <a:solidFill>
                    <a:srgbClr val="11576A"/>
                  </a:solidFill>
                  <a:latin typeface="+mn-ea"/>
                </a:rPr>
                <a:t>find</a:t>
              </a:r>
              <a:endParaRPr lang="zh-CN" altLang="en-US" sz="1100" b="1" dirty="0">
                <a:solidFill>
                  <a:srgbClr val="11576A"/>
                </a:solidFill>
                <a:latin typeface="+mn-ea"/>
              </a:endParaRPr>
            </a:p>
          </p:txBody>
        </p:sp>
        <p:sp>
          <p:nvSpPr>
            <p:cNvPr id="110" name="矩形 109"/>
            <p:cNvSpPr/>
            <p:nvPr/>
          </p:nvSpPr>
          <p:spPr>
            <a:xfrm>
              <a:off x="2866566" y="3535131"/>
              <a:ext cx="46800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11" name="TextBox 110"/>
            <p:cNvSpPr txBox="1"/>
            <p:nvPr/>
          </p:nvSpPr>
          <p:spPr>
            <a:xfrm>
              <a:off x="2806114" y="3514960"/>
              <a:ext cx="579005" cy="246221"/>
            </a:xfrm>
            <a:prstGeom prst="rect">
              <a:avLst/>
            </a:prstGeom>
            <a:noFill/>
          </p:spPr>
          <p:txBody>
            <a:bodyPr wrap="none" rtlCol="0">
              <a:spAutoFit/>
            </a:bodyPr>
            <a:lstStyle/>
            <a:p>
              <a:r>
                <a:rPr lang="en-US" altLang="zh-CN" sz="1000" b="1" spc="-100" dirty="0">
                  <a:solidFill>
                    <a:srgbClr val="11576A"/>
                  </a:solidFill>
                  <a:latin typeface="+mn-ea"/>
                </a:rPr>
                <a:t>reorder</a:t>
              </a:r>
              <a:endParaRPr lang="zh-CN" altLang="en-US" sz="1000" b="1" spc="-100" dirty="0">
                <a:solidFill>
                  <a:srgbClr val="11576A"/>
                </a:solidFill>
                <a:latin typeface="+mn-ea"/>
              </a:endParaRPr>
            </a:p>
          </p:txBody>
        </p:sp>
        <p:sp>
          <p:nvSpPr>
            <p:cNvPr id="113" name="矩形 112"/>
            <p:cNvSpPr/>
            <p:nvPr/>
          </p:nvSpPr>
          <p:spPr>
            <a:xfrm>
              <a:off x="4238157" y="3535989"/>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14" name="TextBox 113"/>
            <p:cNvSpPr txBox="1"/>
            <p:nvPr/>
          </p:nvSpPr>
          <p:spPr>
            <a:xfrm>
              <a:off x="4197409" y="3508610"/>
              <a:ext cx="439544" cy="261610"/>
            </a:xfrm>
            <a:prstGeom prst="rect">
              <a:avLst/>
            </a:prstGeom>
            <a:noFill/>
          </p:spPr>
          <p:txBody>
            <a:bodyPr wrap="none" rtlCol="0">
              <a:spAutoFit/>
            </a:bodyPr>
            <a:lstStyle/>
            <a:p>
              <a:r>
                <a:rPr lang="en-US" altLang="zh-CN" sz="1100" b="1" dirty="0">
                  <a:solidFill>
                    <a:srgbClr val="11576A"/>
                  </a:solidFill>
                  <a:latin typeface="+mn-ea"/>
                </a:rPr>
                <a:t>hex</a:t>
              </a:r>
              <a:endParaRPr lang="zh-CN" altLang="en-US" sz="1100" b="1" dirty="0">
                <a:solidFill>
                  <a:srgbClr val="11576A"/>
                </a:solidFill>
                <a:latin typeface="+mn-ea"/>
              </a:endParaRPr>
            </a:p>
          </p:txBody>
        </p:sp>
        <p:sp>
          <p:nvSpPr>
            <p:cNvPr id="119" name="矩形 118"/>
            <p:cNvSpPr/>
            <p:nvPr/>
          </p:nvSpPr>
          <p:spPr>
            <a:xfrm>
              <a:off x="910629" y="4393246"/>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20" name="TextBox 119"/>
            <p:cNvSpPr txBox="1"/>
            <p:nvPr/>
          </p:nvSpPr>
          <p:spPr>
            <a:xfrm>
              <a:off x="901106" y="4365867"/>
              <a:ext cx="394660" cy="261610"/>
            </a:xfrm>
            <a:prstGeom prst="rect">
              <a:avLst/>
            </a:prstGeom>
            <a:noFill/>
          </p:spPr>
          <p:txBody>
            <a:bodyPr wrap="none" rtlCol="0">
              <a:spAutoFit/>
            </a:bodyPr>
            <a:lstStyle/>
            <a:p>
              <a:r>
                <a:rPr lang="en-US" altLang="zh-CN" sz="1100" b="1" dirty="0">
                  <a:solidFill>
                    <a:srgbClr val="11576A"/>
                  </a:solidFill>
                  <a:latin typeface="+mn-ea"/>
                </a:rPr>
                <a:t>list</a:t>
              </a:r>
              <a:endParaRPr lang="zh-CN" altLang="en-US" sz="1100" b="1" dirty="0">
                <a:solidFill>
                  <a:srgbClr val="11576A"/>
                </a:solidFill>
                <a:latin typeface="+mn-ea"/>
              </a:endParaRPr>
            </a:p>
          </p:txBody>
        </p:sp>
        <p:sp>
          <p:nvSpPr>
            <p:cNvPr id="122" name="矩形 121"/>
            <p:cNvSpPr/>
            <p:nvPr/>
          </p:nvSpPr>
          <p:spPr>
            <a:xfrm>
              <a:off x="1267651" y="4393246"/>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23" name="TextBox 122"/>
            <p:cNvSpPr txBox="1"/>
            <p:nvPr/>
          </p:nvSpPr>
          <p:spPr>
            <a:xfrm>
              <a:off x="1246696" y="4365867"/>
              <a:ext cx="415498" cy="261610"/>
            </a:xfrm>
            <a:prstGeom prst="rect">
              <a:avLst/>
            </a:prstGeom>
            <a:noFill/>
          </p:spPr>
          <p:txBody>
            <a:bodyPr wrap="none" rtlCol="0">
              <a:spAutoFit/>
            </a:bodyPr>
            <a:lstStyle/>
            <a:p>
              <a:r>
                <a:rPr lang="en-US" altLang="zh-CN" sz="1100" b="1" dirty="0" err="1">
                  <a:solidFill>
                    <a:srgbClr val="11576A"/>
                  </a:solidFill>
                  <a:latin typeface="+mn-ea"/>
                </a:rPr>
                <a:t>obj</a:t>
              </a:r>
              <a:endParaRPr lang="zh-CN" altLang="en-US" sz="1100" b="1" dirty="0">
                <a:solidFill>
                  <a:srgbClr val="11576A"/>
                </a:solidFill>
                <a:latin typeface="+mn-ea"/>
              </a:endParaRPr>
            </a:p>
          </p:txBody>
        </p:sp>
        <p:sp>
          <p:nvSpPr>
            <p:cNvPr id="125" name="矩形 124"/>
            <p:cNvSpPr/>
            <p:nvPr/>
          </p:nvSpPr>
          <p:spPr>
            <a:xfrm>
              <a:off x="1623145" y="4393246"/>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26" name="TextBox 125"/>
            <p:cNvSpPr txBox="1"/>
            <p:nvPr/>
          </p:nvSpPr>
          <p:spPr>
            <a:xfrm>
              <a:off x="1549805" y="4365867"/>
              <a:ext cx="513282" cy="261610"/>
            </a:xfrm>
            <a:prstGeom prst="rect">
              <a:avLst/>
            </a:prstGeom>
            <a:noFill/>
          </p:spPr>
          <p:txBody>
            <a:bodyPr wrap="none" rtlCol="0">
              <a:spAutoFit/>
            </a:bodyPr>
            <a:lstStyle/>
            <a:p>
              <a:r>
                <a:rPr lang="en-US" altLang="zh-CN" sz="1100" b="1" dirty="0">
                  <a:solidFill>
                    <a:srgbClr val="11576A"/>
                  </a:solidFill>
                  <a:latin typeface="+mn-ea"/>
                </a:rPr>
                <a:t>spell</a:t>
              </a:r>
              <a:endParaRPr lang="zh-CN" altLang="en-US" sz="1100" b="1" dirty="0">
                <a:solidFill>
                  <a:srgbClr val="11576A"/>
                </a:solidFill>
                <a:latin typeface="+mn-ea"/>
              </a:endParaRPr>
            </a:p>
          </p:txBody>
        </p:sp>
        <p:sp>
          <p:nvSpPr>
            <p:cNvPr id="128" name="矩形 127"/>
            <p:cNvSpPr/>
            <p:nvPr/>
          </p:nvSpPr>
          <p:spPr>
            <a:xfrm>
              <a:off x="2020296" y="4393246"/>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29" name="TextBox 128"/>
            <p:cNvSpPr txBox="1"/>
            <p:nvPr/>
          </p:nvSpPr>
          <p:spPr>
            <a:xfrm>
              <a:off x="2046016" y="4365867"/>
              <a:ext cx="349776" cy="261610"/>
            </a:xfrm>
            <a:prstGeom prst="rect">
              <a:avLst/>
            </a:prstGeom>
            <a:noFill/>
          </p:spPr>
          <p:txBody>
            <a:bodyPr wrap="none" rtlCol="0">
              <a:spAutoFit/>
            </a:bodyPr>
            <a:lstStyle/>
            <a:p>
              <a:r>
                <a:rPr lang="en-US" altLang="zh-CN" sz="1100" b="1" dirty="0">
                  <a:solidFill>
                    <a:srgbClr val="11576A"/>
                  </a:solidFill>
                  <a:latin typeface="+mn-ea"/>
                </a:rPr>
                <a:t>all</a:t>
              </a:r>
              <a:endParaRPr lang="zh-CN" altLang="en-US" sz="1100" b="1" dirty="0">
                <a:solidFill>
                  <a:srgbClr val="11576A"/>
                </a:solidFill>
                <a:latin typeface="+mn-ea"/>
              </a:endParaRPr>
            </a:p>
          </p:txBody>
        </p:sp>
        <p:sp>
          <p:nvSpPr>
            <p:cNvPr id="131" name="矩形 130"/>
            <p:cNvSpPr/>
            <p:nvPr/>
          </p:nvSpPr>
          <p:spPr>
            <a:xfrm>
              <a:off x="2409869" y="4393246"/>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32" name="TextBox 131"/>
            <p:cNvSpPr txBox="1"/>
            <p:nvPr/>
          </p:nvSpPr>
          <p:spPr>
            <a:xfrm>
              <a:off x="2377486" y="4365867"/>
              <a:ext cx="434734" cy="261610"/>
            </a:xfrm>
            <a:prstGeom prst="rect">
              <a:avLst/>
            </a:prstGeom>
            <a:noFill/>
          </p:spPr>
          <p:txBody>
            <a:bodyPr wrap="none" rtlCol="0">
              <a:spAutoFit/>
            </a:bodyPr>
            <a:lstStyle/>
            <a:p>
              <a:r>
                <a:rPr lang="en-US" altLang="zh-CN" sz="1100" b="1" dirty="0">
                  <a:solidFill>
                    <a:srgbClr val="11576A"/>
                  </a:solidFill>
                  <a:latin typeface="+mn-ea"/>
                </a:rPr>
                <a:t>last</a:t>
              </a:r>
              <a:endParaRPr lang="zh-CN" altLang="en-US" sz="1100" b="1" dirty="0">
                <a:solidFill>
                  <a:srgbClr val="11576A"/>
                </a:solidFill>
                <a:latin typeface="+mn-ea"/>
              </a:endParaRPr>
            </a:p>
          </p:txBody>
        </p:sp>
        <p:sp>
          <p:nvSpPr>
            <p:cNvPr id="134" name="矩形 133"/>
            <p:cNvSpPr/>
            <p:nvPr/>
          </p:nvSpPr>
          <p:spPr>
            <a:xfrm>
              <a:off x="2766891" y="4393246"/>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35" name="TextBox 134"/>
            <p:cNvSpPr txBox="1"/>
            <p:nvPr/>
          </p:nvSpPr>
          <p:spPr>
            <a:xfrm>
              <a:off x="2707836" y="4365867"/>
              <a:ext cx="470000" cy="261610"/>
            </a:xfrm>
            <a:prstGeom prst="rect">
              <a:avLst/>
            </a:prstGeom>
            <a:noFill/>
          </p:spPr>
          <p:txBody>
            <a:bodyPr wrap="none" rtlCol="0">
              <a:spAutoFit/>
            </a:bodyPr>
            <a:lstStyle/>
            <a:p>
              <a:r>
                <a:rPr lang="en-US" altLang="zh-CN" sz="1100" b="1" dirty="0">
                  <a:solidFill>
                    <a:srgbClr val="11576A"/>
                  </a:solidFill>
                  <a:latin typeface="+mn-ea"/>
                </a:rPr>
                <a:t>first</a:t>
              </a:r>
              <a:endParaRPr lang="zh-CN" altLang="en-US" sz="1100" b="1" dirty="0">
                <a:solidFill>
                  <a:srgbClr val="11576A"/>
                </a:solidFill>
                <a:latin typeface="+mn-ea"/>
              </a:endParaRPr>
            </a:p>
          </p:txBody>
        </p:sp>
        <p:sp>
          <p:nvSpPr>
            <p:cNvPr id="137" name="矩形 136"/>
            <p:cNvSpPr/>
            <p:nvPr/>
          </p:nvSpPr>
          <p:spPr>
            <a:xfrm>
              <a:off x="4592191" y="3535131"/>
              <a:ext cx="46800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38" name="TextBox 137"/>
            <p:cNvSpPr txBox="1"/>
            <p:nvPr/>
          </p:nvSpPr>
          <p:spPr>
            <a:xfrm>
              <a:off x="4546979" y="3514960"/>
              <a:ext cx="506870" cy="253916"/>
            </a:xfrm>
            <a:prstGeom prst="rect">
              <a:avLst/>
            </a:prstGeom>
            <a:noFill/>
          </p:spPr>
          <p:txBody>
            <a:bodyPr wrap="none" rtlCol="0">
              <a:spAutoFit/>
            </a:bodyPr>
            <a:lstStyle/>
            <a:p>
              <a:r>
                <a:rPr lang="en-US" altLang="zh-CN" sz="1050" b="1" spc="-100" dirty="0">
                  <a:solidFill>
                    <a:srgbClr val="11576A"/>
                  </a:solidFill>
                  <a:latin typeface="+mn-ea"/>
                </a:rPr>
                <a:t>count</a:t>
              </a:r>
              <a:endParaRPr lang="zh-CN" altLang="en-US" sz="1050" b="1" spc="-100" dirty="0">
                <a:solidFill>
                  <a:srgbClr val="11576A"/>
                </a:solidFill>
                <a:latin typeface="+mn-ea"/>
              </a:endParaRPr>
            </a:p>
          </p:txBody>
        </p:sp>
        <p:grpSp>
          <p:nvGrpSpPr>
            <p:cNvPr id="7" name="组合 150"/>
            <p:cNvGrpSpPr/>
            <p:nvPr/>
          </p:nvGrpSpPr>
          <p:grpSpPr>
            <a:xfrm>
              <a:off x="2839455" y="4613188"/>
              <a:ext cx="214314" cy="403833"/>
              <a:chOff x="3176581" y="4486287"/>
              <a:chExt cx="214314" cy="403833"/>
            </a:xfrm>
          </p:grpSpPr>
          <p:sp>
            <p:nvSpPr>
              <p:cNvPr id="139" name="椭圆 138"/>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46" name="直接箭头连接符 145"/>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0" name="组合 147"/>
            <p:cNvGrpSpPr/>
            <p:nvPr/>
          </p:nvGrpSpPr>
          <p:grpSpPr>
            <a:xfrm>
              <a:off x="2485437" y="4613188"/>
              <a:ext cx="214314" cy="403833"/>
              <a:chOff x="3176581" y="4486287"/>
              <a:chExt cx="214314" cy="403833"/>
            </a:xfrm>
          </p:grpSpPr>
          <p:sp>
            <p:nvSpPr>
              <p:cNvPr id="149" name="椭圆 148"/>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50" name="直接箭头连接符 149"/>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1" name="组合 151"/>
            <p:cNvGrpSpPr/>
            <p:nvPr/>
          </p:nvGrpSpPr>
          <p:grpSpPr>
            <a:xfrm>
              <a:off x="2091734" y="4613188"/>
              <a:ext cx="214314" cy="403833"/>
              <a:chOff x="3176581" y="4486287"/>
              <a:chExt cx="214314" cy="403833"/>
            </a:xfrm>
          </p:grpSpPr>
          <p:sp>
            <p:nvSpPr>
              <p:cNvPr id="153" name="椭圆 152"/>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54" name="直接箭头连接符 153"/>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3" name="组合 154"/>
            <p:cNvGrpSpPr/>
            <p:nvPr/>
          </p:nvGrpSpPr>
          <p:grpSpPr>
            <a:xfrm>
              <a:off x="1694856" y="4613188"/>
              <a:ext cx="214314" cy="403833"/>
              <a:chOff x="3176581" y="4486287"/>
              <a:chExt cx="214314" cy="403833"/>
            </a:xfrm>
          </p:grpSpPr>
          <p:sp>
            <p:nvSpPr>
              <p:cNvPr id="156" name="椭圆 155"/>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57" name="直接箭头连接符 156"/>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4" name="组合 157"/>
            <p:cNvGrpSpPr/>
            <p:nvPr/>
          </p:nvGrpSpPr>
          <p:grpSpPr>
            <a:xfrm>
              <a:off x="1336079" y="4613188"/>
              <a:ext cx="214314" cy="403833"/>
              <a:chOff x="3176581" y="4486287"/>
              <a:chExt cx="214314" cy="403833"/>
            </a:xfrm>
          </p:grpSpPr>
          <p:sp>
            <p:nvSpPr>
              <p:cNvPr id="159" name="椭圆 158"/>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60" name="直接箭头连接符 159"/>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5" name="组合 160"/>
            <p:cNvGrpSpPr/>
            <p:nvPr/>
          </p:nvGrpSpPr>
          <p:grpSpPr>
            <a:xfrm>
              <a:off x="977301" y="4613188"/>
              <a:ext cx="214314" cy="403833"/>
              <a:chOff x="3176581" y="4486287"/>
              <a:chExt cx="214314" cy="403833"/>
            </a:xfrm>
          </p:grpSpPr>
          <p:sp>
            <p:nvSpPr>
              <p:cNvPr id="162" name="椭圆 161"/>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63" name="直接箭头连接符 162"/>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6" name="组合 163"/>
            <p:cNvGrpSpPr/>
            <p:nvPr/>
          </p:nvGrpSpPr>
          <p:grpSpPr>
            <a:xfrm>
              <a:off x="3763383" y="3751171"/>
              <a:ext cx="214314" cy="403833"/>
              <a:chOff x="3176581" y="4486287"/>
              <a:chExt cx="214314" cy="403833"/>
            </a:xfrm>
          </p:grpSpPr>
          <p:sp>
            <p:nvSpPr>
              <p:cNvPr id="165" name="椭圆 164"/>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66" name="直接箭头连接符 165"/>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7" name="组合 166"/>
            <p:cNvGrpSpPr/>
            <p:nvPr/>
          </p:nvGrpSpPr>
          <p:grpSpPr>
            <a:xfrm>
              <a:off x="3403015" y="3751171"/>
              <a:ext cx="214314" cy="403833"/>
              <a:chOff x="3176581" y="4486287"/>
              <a:chExt cx="214314" cy="403833"/>
            </a:xfrm>
          </p:grpSpPr>
          <p:sp>
            <p:nvSpPr>
              <p:cNvPr id="168" name="椭圆 167"/>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69" name="直接箭头连接符 168"/>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8" name="组合 169"/>
            <p:cNvGrpSpPr/>
            <p:nvPr/>
          </p:nvGrpSpPr>
          <p:grpSpPr>
            <a:xfrm>
              <a:off x="2987087" y="3751171"/>
              <a:ext cx="214314" cy="403833"/>
              <a:chOff x="3176581" y="4486287"/>
              <a:chExt cx="214314" cy="403833"/>
            </a:xfrm>
          </p:grpSpPr>
          <p:sp>
            <p:nvSpPr>
              <p:cNvPr id="171" name="椭圆 170"/>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72" name="直接箭头连接符 171"/>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9" name="组合 172"/>
            <p:cNvGrpSpPr/>
            <p:nvPr/>
          </p:nvGrpSpPr>
          <p:grpSpPr>
            <a:xfrm>
              <a:off x="3396666" y="2965174"/>
              <a:ext cx="214314" cy="403833"/>
              <a:chOff x="3176581" y="4486287"/>
              <a:chExt cx="214314" cy="403833"/>
            </a:xfrm>
          </p:grpSpPr>
          <p:sp>
            <p:nvSpPr>
              <p:cNvPr id="174" name="椭圆 173"/>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75" name="直接箭头连接符 174"/>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20" name="组合 175"/>
            <p:cNvGrpSpPr/>
            <p:nvPr/>
          </p:nvGrpSpPr>
          <p:grpSpPr>
            <a:xfrm>
              <a:off x="2998205" y="2965174"/>
              <a:ext cx="214314" cy="403833"/>
              <a:chOff x="3176581" y="4486287"/>
              <a:chExt cx="214314" cy="403833"/>
            </a:xfrm>
          </p:grpSpPr>
          <p:sp>
            <p:nvSpPr>
              <p:cNvPr id="177" name="椭圆 176"/>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78" name="直接箭头连接符 177"/>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21" name="组合 178"/>
            <p:cNvGrpSpPr/>
            <p:nvPr/>
          </p:nvGrpSpPr>
          <p:grpSpPr>
            <a:xfrm>
              <a:off x="2639428" y="2965174"/>
              <a:ext cx="214314" cy="403833"/>
              <a:chOff x="3176581" y="4486287"/>
              <a:chExt cx="214314" cy="403833"/>
            </a:xfrm>
          </p:grpSpPr>
          <p:sp>
            <p:nvSpPr>
              <p:cNvPr id="180" name="椭圆 179"/>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81" name="直接箭头连接符 180"/>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22" name="组合 181"/>
            <p:cNvGrpSpPr/>
            <p:nvPr/>
          </p:nvGrpSpPr>
          <p:grpSpPr>
            <a:xfrm>
              <a:off x="2272706" y="2965174"/>
              <a:ext cx="214314" cy="403833"/>
              <a:chOff x="3176581" y="4486287"/>
              <a:chExt cx="214314" cy="403833"/>
            </a:xfrm>
          </p:grpSpPr>
          <p:sp>
            <p:nvSpPr>
              <p:cNvPr id="183" name="椭圆 182"/>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84" name="直接箭头连接符 183"/>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23" name="组合 191"/>
            <p:cNvGrpSpPr/>
            <p:nvPr/>
          </p:nvGrpSpPr>
          <p:grpSpPr>
            <a:xfrm>
              <a:off x="4723035" y="3758830"/>
              <a:ext cx="214314" cy="619833"/>
              <a:chOff x="5000628" y="3784510"/>
              <a:chExt cx="214314" cy="619833"/>
            </a:xfrm>
          </p:grpSpPr>
          <p:sp>
            <p:nvSpPr>
              <p:cNvPr id="186" name="椭圆 185"/>
              <p:cNvSpPr/>
              <p:nvPr/>
            </p:nvSpPr>
            <p:spPr>
              <a:xfrm>
                <a:off x="5000628" y="4190029"/>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87" name="直接箭头连接符 186"/>
              <p:cNvCxnSpPr/>
              <p:nvPr/>
            </p:nvCxnSpPr>
            <p:spPr>
              <a:xfrm rot="16200000" flipH="1">
                <a:off x="4906009" y="3982510"/>
                <a:ext cx="396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24" name="组合 190"/>
            <p:cNvGrpSpPr/>
            <p:nvPr/>
          </p:nvGrpSpPr>
          <p:grpSpPr>
            <a:xfrm>
              <a:off x="4303134" y="3758830"/>
              <a:ext cx="214314" cy="619833"/>
              <a:chOff x="4640260" y="3784510"/>
              <a:chExt cx="214314" cy="619833"/>
            </a:xfrm>
          </p:grpSpPr>
          <p:sp>
            <p:nvSpPr>
              <p:cNvPr id="189" name="椭圆 188"/>
              <p:cNvSpPr/>
              <p:nvPr/>
            </p:nvSpPr>
            <p:spPr>
              <a:xfrm>
                <a:off x="4640260" y="4190029"/>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90" name="直接箭头连接符 189"/>
              <p:cNvCxnSpPr/>
              <p:nvPr/>
            </p:nvCxnSpPr>
            <p:spPr>
              <a:xfrm rot="16200000" flipH="1">
                <a:off x="4545641" y="3982510"/>
                <a:ext cx="396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sp>
          <p:nvSpPr>
            <p:cNvPr id="194" name="椭圆 193"/>
            <p:cNvSpPr/>
            <p:nvPr/>
          </p:nvSpPr>
          <p:spPr>
            <a:xfrm>
              <a:off x="948726" y="3154693"/>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95" name="直接箭头连接符 194"/>
            <p:cNvCxnSpPr/>
            <p:nvPr/>
          </p:nvCxnSpPr>
          <p:spPr>
            <a:xfrm rot="16200000" flipH="1">
              <a:off x="962107" y="3055174"/>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96" name="椭圆 195"/>
            <p:cNvSpPr/>
            <p:nvPr/>
          </p:nvSpPr>
          <p:spPr>
            <a:xfrm>
              <a:off x="1905995" y="3107068"/>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00" name="直接箭头连接符 199"/>
            <p:cNvCxnSpPr/>
            <p:nvPr/>
          </p:nvCxnSpPr>
          <p:spPr>
            <a:xfrm rot="16200000" flipH="1">
              <a:off x="1804622" y="2972543"/>
              <a:ext cx="142876" cy="145595"/>
            </a:xfrm>
            <a:prstGeom prst="straightConnector1">
              <a:avLst/>
            </a:prstGeom>
            <a:ln w="28575">
              <a:solidFill>
                <a:srgbClr val="11576A"/>
              </a:solidFill>
              <a:tailEnd type="triangle" w="med" len="sm"/>
            </a:ln>
          </p:spPr>
          <p:style>
            <a:lnRef idx="1">
              <a:schemeClr val="accent1"/>
            </a:lnRef>
            <a:fillRef idx="0">
              <a:schemeClr val="accent1"/>
            </a:fillRef>
            <a:effectRef idx="0">
              <a:schemeClr val="accent1"/>
            </a:effectRef>
            <a:fontRef idx="minor">
              <a:schemeClr val="tx1"/>
            </a:fontRef>
          </p:style>
        </p:cxnSp>
        <p:sp>
          <p:nvSpPr>
            <p:cNvPr id="201" name="椭圆 200"/>
            <p:cNvSpPr/>
            <p:nvPr/>
          </p:nvSpPr>
          <p:spPr>
            <a:xfrm>
              <a:off x="5020692" y="3107068"/>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02" name="直接箭头连接符 201"/>
            <p:cNvCxnSpPr/>
            <p:nvPr/>
          </p:nvCxnSpPr>
          <p:spPr>
            <a:xfrm rot="16200000" flipH="1">
              <a:off x="4919319" y="2972543"/>
              <a:ext cx="142876" cy="145595"/>
            </a:xfrm>
            <a:prstGeom prst="straightConnector1">
              <a:avLst/>
            </a:prstGeom>
            <a:ln w="28575">
              <a:solidFill>
                <a:srgbClr val="11576A"/>
              </a:solidFill>
              <a:tailEnd type="triangle" w="med" len="sm"/>
            </a:ln>
          </p:spPr>
          <p:style>
            <a:lnRef idx="1">
              <a:schemeClr val="accent1"/>
            </a:lnRef>
            <a:fillRef idx="0">
              <a:schemeClr val="accent1"/>
            </a:fillRef>
            <a:effectRef idx="0">
              <a:schemeClr val="accent1"/>
            </a:effectRef>
            <a:fontRef idx="minor">
              <a:schemeClr val="tx1"/>
            </a:fontRef>
          </p:style>
        </p:cxnSp>
        <p:sp>
          <p:nvSpPr>
            <p:cNvPr id="203" name="椭圆 202"/>
            <p:cNvSpPr/>
            <p:nvPr/>
          </p:nvSpPr>
          <p:spPr>
            <a:xfrm>
              <a:off x="2334626" y="3897834"/>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04" name="直接箭头连接符 203"/>
            <p:cNvCxnSpPr/>
            <p:nvPr/>
          </p:nvCxnSpPr>
          <p:spPr>
            <a:xfrm rot="16200000" flipH="1">
              <a:off x="2233253" y="3763309"/>
              <a:ext cx="142876" cy="145595"/>
            </a:xfrm>
            <a:prstGeom prst="straightConnector1">
              <a:avLst/>
            </a:prstGeom>
            <a:ln w="28575">
              <a:solidFill>
                <a:srgbClr val="11576A"/>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207" name="直接箭头连接符 206"/>
            <p:cNvCxnSpPr>
              <a:stCxn id="52" idx="2"/>
            </p:cNvCxnSpPr>
            <p:nvPr/>
          </p:nvCxnSpPr>
          <p:spPr>
            <a:xfrm rot="16200000" flipH="1">
              <a:off x="1265828" y="3165567"/>
              <a:ext cx="538160" cy="180231"/>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直接箭头连接符 208"/>
            <p:cNvCxnSpPr>
              <a:stCxn id="67" idx="2"/>
              <a:endCxn id="105" idx="0"/>
            </p:cNvCxnSpPr>
            <p:nvPr/>
          </p:nvCxnSpPr>
          <p:spPr>
            <a:xfrm rot="5400000">
              <a:off x="3583543" y="2912919"/>
              <a:ext cx="536297" cy="655086"/>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直接箭头连接符 210"/>
            <p:cNvCxnSpPr>
              <a:stCxn id="70" idx="2"/>
            </p:cNvCxnSpPr>
            <p:nvPr/>
          </p:nvCxnSpPr>
          <p:spPr>
            <a:xfrm rot="16200000" flipH="1">
              <a:off x="4294478" y="3222416"/>
              <a:ext cx="528635" cy="57007"/>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直接箭头连接符 212"/>
            <p:cNvCxnSpPr>
              <a:stCxn id="90" idx="2"/>
              <a:endCxn id="123" idx="0"/>
            </p:cNvCxnSpPr>
            <p:nvPr/>
          </p:nvCxnSpPr>
          <p:spPr>
            <a:xfrm rot="16200000" flipH="1">
              <a:off x="976788" y="3888209"/>
              <a:ext cx="595647" cy="359667"/>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直接箭头连接符 214"/>
            <p:cNvCxnSpPr>
              <a:stCxn id="93" idx="2"/>
              <a:endCxn id="129" idx="0"/>
            </p:cNvCxnSpPr>
            <p:nvPr/>
          </p:nvCxnSpPr>
          <p:spPr>
            <a:xfrm rot="16200000" flipH="1">
              <a:off x="1537023" y="3681985"/>
              <a:ext cx="595647" cy="772115"/>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直接箭头连接符 216"/>
            <p:cNvCxnSpPr>
              <a:stCxn id="96" idx="2"/>
            </p:cNvCxnSpPr>
            <p:nvPr/>
          </p:nvCxnSpPr>
          <p:spPr>
            <a:xfrm rot="16200000" flipH="1">
              <a:off x="1981135" y="3590360"/>
              <a:ext cx="597505" cy="957223"/>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直接箭头连接符 219"/>
            <p:cNvCxnSpPr>
              <a:stCxn id="83" idx="2"/>
            </p:cNvCxnSpPr>
            <p:nvPr/>
          </p:nvCxnSpPr>
          <p:spPr>
            <a:xfrm rot="5400000">
              <a:off x="2786462" y="2610974"/>
              <a:ext cx="249238" cy="364"/>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箭头连接符 221"/>
            <p:cNvCxnSpPr>
              <a:stCxn id="80" idx="2"/>
            </p:cNvCxnSpPr>
            <p:nvPr/>
          </p:nvCxnSpPr>
          <p:spPr>
            <a:xfrm rot="5400000">
              <a:off x="2102433" y="2371078"/>
              <a:ext cx="252413" cy="483330"/>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直接箭头连接符 223"/>
            <p:cNvCxnSpPr>
              <a:stCxn id="86" idx="2"/>
              <a:endCxn id="66" idx="1"/>
            </p:cNvCxnSpPr>
            <p:nvPr/>
          </p:nvCxnSpPr>
          <p:spPr>
            <a:xfrm rot="16200000" flipH="1">
              <a:off x="3548784" y="2303684"/>
              <a:ext cx="271463" cy="599068"/>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sp>
        <p:nvSpPr>
          <p:cNvPr id="145" name="TextBox 4"/>
          <p:cNvSpPr txBox="1">
            <a:spLocks noChangeArrowheads="1"/>
          </p:cNvSpPr>
          <p:nvPr/>
        </p:nvSpPr>
        <p:spPr bwMode="auto">
          <a:xfrm>
            <a:off x="5401997" y="3817352"/>
            <a:ext cx="2159566" cy="338554"/>
          </a:xfrm>
          <a:prstGeom prst="rect">
            <a:avLst/>
          </a:prstGeom>
          <a:noFill/>
          <a:ln>
            <a:noFill/>
          </a:ln>
        </p:spPr>
        <p:txBody>
          <a:bodyPr wrap="none">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/programs/p/list</a:t>
            </a:r>
          </a:p>
        </p:txBody>
      </p:sp>
      <p:grpSp>
        <p:nvGrpSpPr>
          <p:cNvPr id="29" name="组合 17"/>
          <p:cNvGrpSpPr/>
          <p:nvPr/>
        </p:nvGrpSpPr>
        <p:grpSpPr>
          <a:xfrm>
            <a:off x="1210794" y="2210158"/>
            <a:ext cx="1977591" cy="2817830"/>
            <a:chOff x="1210794" y="2210158"/>
            <a:chExt cx="1977591" cy="2817830"/>
          </a:xfrm>
        </p:grpSpPr>
        <p:grpSp>
          <p:nvGrpSpPr>
            <p:cNvPr id="30" name="组合 5"/>
            <p:cNvGrpSpPr/>
            <p:nvPr/>
          </p:nvGrpSpPr>
          <p:grpSpPr>
            <a:xfrm>
              <a:off x="2227244" y="2210158"/>
              <a:ext cx="504000" cy="261610"/>
              <a:chOff x="2380508" y="2361931"/>
              <a:chExt cx="504000" cy="261610"/>
            </a:xfrm>
          </p:grpSpPr>
          <p:sp>
            <p:nvSpPr>
              <p:cNvPr id="188" name="矩形 187"/>
              <p:cNvSpPr/>
              <p:nvPr/>
            </p:nvSpPr>
            <p:spPr>
              <a:xfrm>
                <a:off x="2380508" y="2399614"/>
                <a:ext cx="50400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93" name="TextBox 79"/>
              <p:cNvSpPr txBox="1"/>
              <p:nvPr/>
            </p:nvSpPr>
            <p:spPr>
              <a:xfrm>
                <a:off x="2403044" y="2361931"/>
                <a:ext cx="449162" cy="261610"/>
              </a:xfrm>
              <a:prstGeom prst="rect">
                <a:avLst/>
              </a:prstGeom>
              <a:noFill/>
            </p:spPr>
            <p:txBody>
              <a:bodyPr wrap="none" rtlCol="0">
                <a:spAutoFit/>
              </a:bodyPr>
              <a:lstStyle/>
              <a:p>
                <a:r>
                  <a:rPr lang="en-US" altLang="zh-CN" sz="1100" b="1" spc="-100" dirty="0">
                    <a:latin typeface="+mn-ea"/>
                  </a:rPr>
                  <a:t>spell</a:t>
                </a:r>
                <a:endParaRPr lang="zh-CN" altLang="en-US" sz="1100" b="1" spc="-100" dirty="0">
                  <a:latin typeface="+mn-ea"/>
                </a:endParaRPr>
              </a:p>
            </p:txBody>
          </p:sp>
        </p:grpSp>
        <p:grpSp>
          <p:nvGrpSpPr>
            <p:cNvPr id="236" name="组合 16"/>
            <p:cNvGrpSpPr/>
            <p:nvPr/>
          </p:nvGrpSpPr>
          <p:grpSpPr>
            <a:xfrm>
              <a:off x="1210794" y="2717298"/>
              <a:ext cx="487634" cy="261610"/>
              <a:chOff x="6768625" y="2177376"/>
              <a:chExt cx="487634" cy="261610"/>
            </a:xfrm>
          </p:grpSpPr>
          <p:sp>
            <p:nvSpPr>
              <p:cNvPr id="199" name="矩形 198"/>
              <p:cNvSpPr/>
              <p:nvPr/>
            </p:nvSpPr>
            <p:spPr>
              <a:xfrm>
                <a:off x="6823750" y="2203799"/>
                <a:ext cx="35719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206" name="TextBox 51"/>
              <p:cNvSpPr txBox="1"/>
              <p:nvPr/>
            </p:nvSpPr>
            <p:spPr>
              <a:xfrm>
                <a:off x="6768625" y="2177376"/>
                <a:ext cx="487634" cy="261610"/>
              </a:xfrm>
              <a:prstGeom prst="rect">
                <a:avLst/>
              </a:prstGeom>
              <a:noFill/>
            </p:spPr>
            <p:txBody>
              <a:bodyPr wrap="none" rtlCol="0">
                <a:spAutoFit/>
              </a:bodyPr>
              <a:lstStyle/>
              <a:p>
                <a:r>
                  <a:rPr lang="en-US" altLang="zh-CN" sz="1100" b="1" dirty="0">
                    <a:latin typeface="+mn-ea"/>
                  </a:rPr>
                  <a:t>mail</a:t>
                </a:r>
                <a:endParaRPr lang="zh-CN" altLang="en-US" sz="1100" b="1" dirty="0">
                  <a:latin typeface="+mn-ea"/>
                </a:endParaRPr>
              </a:p>
            </p:txBody>
          </p:sp>
        </p:grpSp>
        <p:grpSp>
          <p:nvGrpSpPr>
            <p:cNvPr id="237" name="组合 9"/>
            <p:cNvGrpSpPr/>
            <p:nvPr/>
          </p:nvGrpSpPr>
          <p:grpSpPr>
            <a:xfrm>
              <a:off x="1609081" y="3515302"/>
              <a:ext cx="396262" cy="261610"/>
              <a:chOff x="1759905" y="3667850"/>
              <a:chExt cx="396262" cy="261610"/>
            </a:xfrm>
          </p:grpSpPr>
          <p:sp>
            <p:nvSpPr>
              <p:cNvPr id="208" name="矩形 207"/>
              <p:cNvSpPr/>
              <p:nvPr/>
            </p:nvSpPr>
            <p:spPr>
              <a:xfrm>
                <a:off x="1775545" y="3688389"/>
                <a:ext cx="35719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210" name="TextBox 95"/>
              <p:cNvSpPr txBox="1"/>
              <p:nvPr/>
            </p:nvSpPr>
            <p:spPr>
              <a:xfrm>
                <a:off x="1759905" y="3667850"/>
                <a:ext cx="396262" cy="261610"/>
              </a:xfrm>
              <a:prstGeom prst="rect">
                <a:avLst/>
              </a:prstGeom>
              <a:noFill/>
            </p:spPr>
            <p:txBody>
              <a:bodyPr wrap="none" rtlCol="0">
                <a:spAutoFit/>
              </a:bodyPr>
              <a:lstStyle/>
              <a:p>
                <a:r>
                  <a:rPr lang="en-US" altLang="zh-CN" sz="1100" b="1" dirty="0" err="1">
                    <a:latin typeface="+mn-ea"/>
                  </a:rPr>
                  <a:t>prt</a:t>
                </a:r>
                <a:endParaRPr lang="zh-CN" altLang="en-US" sz="1100" b="1" dirty="0">
                  <a:latin typeface="+mn-ea"/>
                </a:endParaRPr>
              </a:p>
            </p:txBody>
          </p:sp>
        </p:grpSp>
        <p:grpSp>
          <p:nvGrpSpPr>
            <p:cNvPr id="238" name="组合 10"/>
            <p:cNvGrpSpPr/>
            <p:nvPr/>
          </p:nvGrpSpPr>
          <p:grpSpPr>
            <a:xfrm>
              <a:off x="2718385" y="4377431"/>
              <a:ext cx="470000" cy="261610"/>
              <a:chOff x="2866933" y="4524861"/>
              <a:chExt cx="470000" cy="261610"/>
            </a:xfrm>
          </p:grpSpPr>
          <p:sp>
            <p:nvSpPr>
              <p:cNvPr id="212" name="矩形 211"/>
              <p:cNvSpPr/>
              <p:nvPr/>
            </p:nvSpPr>
            <p:spPr>
              <a:xfrm>
                <a:off x="2919291" y="4545646"/>
                <a:ext cx="35719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214" name="TextBox 134"/>
              <p:cNvSpPr txBox="1"/>
              <p:nvPr/>
            </p:nvSpPr>
            <p:spPr>
              <a:xfrm>
                <a:off x="2866933" y="4524861"/>
                <a:ext cx="470000" cy="261610"/>
              </a:xfrm>
              <a:prstGeom prst="rect">
                <a:avLst/>
              </a:prstGeom>
              <a:noFill/>
            </p:spPr>
            <p:txBody>
              <a:bodyPr wrap="none" rtlCol="0">
                <a:spAutoFit/>
              </a:bodyPr>
              <a:lstStyle/>
              <a:p>
                <a:r>
                  <a:rPr lang="en-US" altLang="zh-CN" sz="1100" b="1" dirty="0">
                    <a:latin typeface="+mn-ea"/>
                  </a:rPr>
                  <a:t>first</a:t>
                </a:r>
                <a:endParaRPr lang="zh-CN" altLang="en-US" sz="1100" b="1" dirty="0">
                  <a:latin typeface="+mn-ea"/>
                </a:endParaRPr>
              </a:p>
            </p:txBody>
          </p:sp>
        </p:grpSp>
        <p:cxnSp>
          <p:nvCxnSpPr>
            <p:cNvPr id="227" name="直接箭头连接符 226"/>
            <p:cNvCxnSpPr/>
            <p:nvPr/>
          </p:nvCxnSpPr>
          <p:spPr>
            <a:xfrm rot="5400000">
              <a:off x="2099959" y="2368156"/>
              <a:ext cx="252413" cy="4833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8" name="直接箭头连接符 227"/>
            <p:cNvCxnSpPr/>
            <p:nvPr/>
          </p:nvCxnSpPr>
          <p:spPr>
            <a:xfrm rot="16200000" flipH="1">
              <a:off x="1262537" y="3162957"/>
              <a:ext cx="538160" cy="18023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9" name="直接箭头连接符 228"/>
            <p:cNvCxnSpPr/>
            <p:nvPr/>
          </p:nvCxnSpPr>
          <p:spPr>
            <a:xfrm rot="16200000" flipH="1">
              <a:off x="1971115" y="3588502"/>
              <a:ext cx="597505" cy="95722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0" name="椭圆 229"/>
            <p:cNvSpPr/>
            <p:nvPr/>
          </p:nvSpPr>
          <p:spPr>
            <a:xfrm>
              <a:off x="2835679" y="4813674"/>
              <a:ext cx="214314" cy="214314"/>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31" name="直接箭头连接符 230"/>
            <p:cNvCxnSpPr/>
            <p:nvPr/>
          </p:nvCxnSpPr>
          <p:spPr>
            <a:xfrm rot="16200000" flipH="1">
              <a:off x="2852836" y="4712707"/>
              <a:ext cx="180000" cy="0"/>
            </a:xfrm>
            <a:prstGeom prst="straightConnector1">
              <a:avLst/>
            </a:prstGeom>
            <a:ln w="28575">
              <a:solidFill>
                <a:srgbClr val="C00000"/>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239" name="组合 18"/>
          <p:cNvGrpSpPr/>
          <p:nvPr/>
        </p:nvGrpSpPr>
        <p:grpSpPr>
          <a:xfrm>
            <a:off x="3046972" y="2230467"/>
            <a:ext cx="1317945" cy="1925181"/>
            <a:chOff x="3039884" y="2230467"/>
            <a:chExt cx="1317945" cy="1925181"/>
          </a:xfrm>
        </p:grpSpPr>
        <p:grpSp>
          <p:nvGrpSpPr>
            <p:cNvPr id="240" name="组合 12"/>
            <p:cNvGrpSpPr/>
            <p:nvPr/>
          </p:nvGrpSpPr>
          <p:grpSpPr>
            <a:xfrm>
              <a:off x="3039884" y="2230467"/>
              <a:ext cx="708848" cy="246221"/>
              <a:chOff x="3194985" y="2387402"/>
              <a:chExt cx="708848" cy="246221"/>
            </a:xfrm>
          </p:grpSpPr>
          <p:sp>
            <p:nvSpPr>
              <p:cNvPr id="216" name="矩形 215"/>
              <p:cNvSpPr/>
              <p:nvPr/>
            </p:nvSpPr>
            <p:spPr>
              <a:xfrm>
                <a:off x="3243409" y="2399614"/>
                <a:ext cx="61200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219" name="TextBox 85"/>
              <p:cNvSpPr txBox="1"/>
              <p:nvPr/>
            </p:nvSpPr>
            <p:spPr>
              <a:xfrm>
                <a:off x="3194985" y="2387402"/>
                <a:ext cx="708848" cy="246221"/>
              </a:xfrm>
              <a:prstGeom prst="rect">
                <a:avLst/>
              </a:prstGeom>
              <a:noFill/>
            </p:spPr>
            <p:txBody>
              <a:bodyPr wrap="none" rtlCol="0">
                <a:spAutoFit/>
              </a:bodyPr>
              <a:lstStyle/>
              <a:p>
                <a:r>
                  <a:rPr lang="en-US" altLang="zh-CN" sz="1000" b="1" spc="-100" dirty="0">
                    <a:latin typeface="+mn-ea"/>
                  </a:rPr>
                  <a:t>programs</a:t>
                </a:r>
                <a:endParaRPr lang="zh-CN" altLang="en-US" sz="1000" b="1" spc="-100" dirty="0">
                  <a:latin typeface="+mn-ea"/>
                </a:endParaRPr>
              </a:p>
            </p:txBody>
          </p:sp>
        </p:grpSp>
        <p:grpSp>
          <p:nvGrpSpPr>
            <p:cNvPr id="241" name="组合 13"/>
            <p:cNvGrpSpPr/>
            <p:nvPr/>
          </p:nvGrpSpPr>
          <p:grpSpPr>
            <a:xfrm>
              <a:off x="4000639" y="2715761"/>
              <a:ext cx="357190" cy="261610"/>
              <a:chOff x="4146246" y="2863104"/>
              <a:chExt cx="357190" cy="261610"/>
            </a:xfrm>
          </p:grpSpPr>
          <p:sp>
            <p:nvSpPr>
              <p:cNvPr id="221" name="矩形 220"/>
              <p:cNvSpPr/>
              <p:nvPr/>
            </p:nvSpPr>
            <p:spPr>
              <a:xfrm>
                <a:off x="4146246" y="2896118"/>
                <a:ext cx="35719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223" name="TextBox 66"/>
              <p:cNvSpPr txBox="1"/>
              <p:nvPr/>
            </p:nvSpPr>
            <p:spPr>
              <a:xfrm>
                <a:off x="4192012" y="2863104"/>
                <a:ext cx="279244" cy="261610"/>
              </a:xfrm>
              <a:prstGeom prst="rect">
                <a:avLst/>
              </a:prstGeom>
              <a:noFill/>
            </p:spPr>
            <p:txBody>
              <a:bodyPr wrap="none" rtlCol="0">
                <a:spAutoFit/>
              </a:bodyPr>
              <a:lstStyle/>
              <a:p>
                <a:r>
                  <a:rPr lang="en-US" altLang="zh-CN" sz="1100" b="1" dirty="0">
                    <a:latin typeface="+mn-ea"/>
                  </a:rPr>
                  <a:t>p</a:t>
                </a:r>
                <a:endParaRPr lang="zh-CN" altLang="en-US" sz="1100" b="1" dirty="0">
                  <a:latin typeface="+mn-ea"/>
                </a:endParaRPr>
              </a:p>
            </p:txBody>
          </p:sp>
        </p:grpSp>
        <p:grpSp>
          <p:nvGrpSpPr>
            <p:cNvPr id="242" name="组合 14"/>
            <p:cNvGrpSpPr/>
            <p:nvPr/>
          </p:nvGrpSpPr>
          <p:grpSpPr>
            <a:xfrm>
              <a:off x="3321389" y="3514719"/>
              <a:ext cx="394660" cy="261610"/>
              <a:chOff x="3479218" y="3663949"/>
              <a:chExt cx="394660" cy="261610"/>
            </a:xfrm>
          </p:grpSpPr>
          <p:sp>
            <p:nvSpPr>
              <p:cNvPr id="225" name="矩形 224"/>
              <p:cNvSpPr/>
              <p:nvPr/>
            </p:nvSpPr>
            <p:spPr>
              <a:xfrm>
                <a:off x="3483820" y="3688390"/>
                <a:ext cx="35719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226" name="TextBox 104"/>
              <p:cNvSpPr txBox="1"/>
              <p:nvPr/>
            </p:nvSpPr>
            <p:spPr>
              <a:xfrm>
                <a:off x="3479218" y="3663949"/>
                <a:ext cx="394660" cy="261610"/>
              </a:xfrm>
              <a:prstGeom prst="rect">
                <a:avLst/>
              </a:prstGeom>
              <a:noFill/>
            </p:spPr>
            <p:txBody>
              <a:bodyPr wrap="none" rtlCol="0">
                <a:spAutoFit/>
              </a:bodyPr>
              <a:lstStyle/>
              <a:p>
                <a:r>
                  <a:rPr lang="en-US" altLang="zh-CN" sz="1100" b="1" dirty="0">
                    <a:latin typeface="+mn-ea"/>
                  </a:rPr>
                  <a:t>list</a:t>
                </a:r>
                <a:endParaRPr lang="zh-CN" altLang="en-US" sz="1100" b="1" dirty="0">
                  <a:latin typeface="+mn-ea"/>
                </a:endParaRPr>
              </a:p>
            </p:txBody>
          </p:sp>
        </p:grpSp>
        <p:sp>
          <p:nvSpPr>
            <p:cNvPr id="232" name="椭圆 231"/>
            <p:cNvSpPr/>
            <p:nvPr/>
          </p:nvSpPr>
          <p:spPr>
            <a:xfrm>
              <a:off x="3406162" y="3941334"/>
              <a:ext cx="214314" cy="214314"/>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33" name="直接箭头连接符 232"/>
            <p:cNvCxnSpPr/>
            <p:nvPr/>
          </p:nvCxnSpPr>
          <p:spPr>
            <a:xfrm rot="16200000" flipH="1">
              <a:off x="3419618" y="3843983"/>
              <a:ext cx="180000" cy="0"/>
            </a:xfrm>
            <a:prstGeom prst="straightConnector1">
              <a:avLst/>
            </a:prstGeom>
            <a:ln w="38100">
              <a:solidFill>
                <a:srgbClr val="C00000"/>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34" name="直接箭头连接符 233"/>
            <p:cNvCxnSpPr/>
            <p:nvPr/>
          </p:nvCxnSpPr>
          <p:spPr>
            <a:xfrm rot="5400000">
              <a:off x="3565791" y="2909436"/>
              <a:ext cx="536297" cy="65508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直接箭头连接符 234"/>
            <p:cNvCxnSpPr/>
            <p:nvPr/>
          </p:nvCxnSpPr>
          <p:spPr>
            <a:xfrm rot="16200000" flipH="1">
              <a:off x="3544172" y="2299672"/>
              <a:ext cx="271463" cy="59906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26" name="Text Box 25"/>
          <p:cNvSpPr txBox="1"/>
          <p:nvPr/>
        </p:nvSpPr>
        <p:spPr>
          <a:xfrm>
            <a:off x="6300470" y="1203325"/>
            <a:ext cx="2728595" cy="1602105"/>
          </a:xfrm>
          <a:prstGeom prst="rect">
            <a:avLst/>
          </a:prstGeom>
          <a:noFill/>
        </p:spPr>
        <p:txBody>
          <a:bodyPr wrap="square" rtlCol="0" anchor="t">
            <a:spAutoFit/>
          </a:bodyPr>
          <a:lstStyle/>
          <a:p>
            <a:r>
              <a:rPr lang="en-US" altLang="zh-CN" sz="1600" b="1" dirty="0">
                <a:solidFill>
                  <a:srgbClr val="11576A"/>
                </a:solidFill>
                <a:latin typeface="微软雅黑" panose="020B0503020204020204" pitchFamily="34" charset="-122"/>
                <a:ea typeface="微软雅黑" panose="020B0503020204020204" pitchFamily="34" charset="-122"/>
                <a:sym typeface="+mn-ea"/>
              </a:rPr>
              <a:t>文件目录具有将文件名转换成该文件在外存的物理位置的功能， 就是实现</a:t>
            </a:r>
            <a:r>
              <a:rPr lang="en-US" altLang="zh-CN" sz="1600" b="1" dirty="0">
                <a:solidFill>
                  <a:srgbClr val="FF0000"/>
                </a:solidFill>
                <a:latin typeface="微软雅黑" panose="020B0503020204020204" pitchFamily="34" charset="-122"/>
                <a:ea typeface="微软雅黑" panose="020B0503020204020204" pitchFamily="34" charset="-122"/>
                <a:sym typeface="+mn-ea"/>
              </a:rPr>
              <a:t>文件名与其存放盘块之间的映射</a:t>
            </a:r>
            <a:r>
              <a:rPr lang="en-US" altLang="zh-CN" sz="1600" b="1" dirty="0">
                <a:solidFill>
                  <a:srgbClr val="11576A"/>
                </a:solidFill>
                <a:latin typeface="微软雅黑" panose="020B0503020204020204" pitchFamily="34" charset="-122"/>
                <a:ea typeface="微软雅黑" panose="020B0503020204020204" pitchFamily="34" charset="-122"/>
                <a:sym typeface="+mn-ea"/>
              </a:rPr>
              <a:t>， 这是文件目录所提供的最基本的功能</a:t>
            </a:r>
            <a:r>
              <a:rPr lang="zh-CN" altLang="en-US" b="1" dirty="0">
                <a:solidFill>
                  <a:srgbClr val="404040"/>
                </a:solidFill>
                <a:sym typeface="+mn-ea"/>
              </a:rPr>
              <a:t>。</a:t>
            </a:r>
            <a:endParaRPr lang="en-US"/>
          </a:p>
        </p:txBody>
      </p:sp>
      <p:sp>
        <p:nvSpPr>
          <p:cNvPr id="33" name="Text Box 32"/>
          <p:cNvSpPr txBox="1"/>
          <p:nvPr/>
        </p:nvSpPr>
        <p:spPr>
          <a:xfrm>
            <a:off x="3491865" y="4516120"/>
            <a:ext cx="5565140" cy="596265"/>
          </a:xfrm>
          <a:prstGeom prst="rect">
            <a:avLst/>
          </a:prstGeom>
          <a:noFill/>
        </p:spPr>
        <p:txBody>
          <a:bodyPr wrap="square" rtlCol="0" anchor="t">
            <a:spAutoFit/>
          </a:bodyPr>
          <a:lstStyle/>
          <a:p>
            <a:pPr eaLnBrk="1" hangingPunct="1"/>
            <a:r>
              <a:rPr lang="zh-CN" altLang="en-US" sz="1600" b="1" dirty="0">
                <a:solidFill>
                  <a:srgbClr val="11576A"/>
                </a:solidFill>
                <a:latin typeface="微软雅黑" panose="020B0503020204020204" pitchFamily="34" charset="-122"/>
                <a:ea typeface="微软雅黑" panose="020B0503020204020204" pitchFamily="34" charset="-122"/>
                <a:sym typeface="+mn-ea"/>
              </a:rPr>
              <a:t>在这种结构中把根目录称为根结点，把各级目录文件称中间结点，用方框表示。数据文件称为叶结点，用圆圈表示</a:t>
            </a:r>
            <a:endParaRPr lang="en-US" sz="160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up)">
                                      <p:cBhvr>
                                        <p:cTn id="31" dur="1000"/>
                                        <p:tgtEl>
                                          <p:spTgt spid="29"/>
                                        </p:tgtEl>
                                      </p:cBhvr>
                                    </p:animEffect>
                                  </p:childTnLst>
                                </p:cTn>
                              </p:par>
                            </p:childTnLst>
                          </p:cTn>
                        </p:par>
                        <p:par>
                          <p:cTn id="32" fill="hold">
                            <p:stCondLst>
                              <p:cond delay="1500"/>
                            </p:stCondLst>
                            <p:childTnLst>
                              <p:par>
                                <p:cTn id="33" presetID="35" presetClass="emph" presetSubtype="0" repeatCount="indefinite" fill="hold" nodeType="afterEffect">
                                  <p:stCondLst>
                                    <p:cond delay="0"/>
                                  </p:stCondLst>
                                  <p:endCondLst>
                                    <p:cond evt="onNext" delay="0">
                                      <p:tgtEl>
                                        <p:sldTgt/>
                                      </p:tgtEl>
                                    </p:cond>
                                  </p:endCondLst>
                                  <p:childTnLst>
                                    <p:anim calcmode="discrete" valueType="str">
                                      <p:cBhvr>
                                        <p:cTn id="34" dur="500" fill="hold"/>
                                        <p:tgtEl>
                                          <p:spTgt spid="29"/>
                                        </p:tgtEl>
                                        <p:attrNameLst>
                                          <p:attrName>style.visibility</p:attrName>
                                        </p:attrNameLst>
                                      </p:cBhvr>
                                      <p:tavLst>
                                        <p:tav tm="0">
                                          <p:val>
                                            <p:strVal val="hidden"/>
                                          </p:val>
                                        </p:tav>
                                        <p:tav tm="50000">
                                          <p:val>
                                            <p:strVal val="visible"/>
                                          </p:val>
                                        </p:tav>
                                      </p:tavLst>
                                    </p:anim>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29"/>
                                        </p:tgtEl>
                                        <p:attrNameLst>
                                          <p:attrName>style.visibility</p:attrName>
                                        </p:attrNameLst>
                                      </p:cBhvr>
                                      <p:to>
                                        <p:strVal val="hidden"/>
                                      </p:to>
                                    </p:set>
                                  </p:childTnLst>
                                </p:cTn>
                              </p:par>
                              <p:par>
                                <p:cTn id="39" presetID="22" presetClass="entr" presetSubtype="8" fill="hold" grpId="0" nodeType="withEffect">
                                  <p:stCondLst>
                                    <p:cond delay="0"/>
                                  </p:stCondLst>
                                  <p:childTnLst>
                                    <p:set>
                                      <p:cBhvr>
                                        <p:cTn id="40" dur="1" fill="hold">
                                          <p:stCondLst>
                                            <p:cond delay="0"/>
                                          </p:stCondLst>
                                        </p:cTn>
                                        <p:tgtEl>
                                          <p:spTgt spid="145"/>
                                        </p:tgtEl>
                                        <p:attrNameLst>
                                          <p:attrName>style.visibility</p:attrName>
                                        </p:attrNameLst>
                                      </p:cBhvr>
                                      <p:to>
                                        <p:strVal val="visible"/>
                                      </p:to>
                                    </p:set>
                                    <p:animEffect transition="in" filter="wipe(left)">
                                      <p:cBhvr>
                                        <p:cTn id="41" dur="500"/>
                                        <p:tgtEl>
                                          <p:spTgt spid="145"/>
                                        </p:tgtEl>
                                      </p:cBhvr>
                                    </p:animEffect>
                                  </p:childTnLst>
                                </p:cTn>
                              </p:par>
                            </p:childTnLst>
                          </p:cTn>
                        </p:par>
                        <p:par>
                          <p:cTn id="42" fill="hold">
                            <p:stCondLst>
                              <p:cond delay="0"/>
                            </p:stCondLst>
                            <p:childTnLst>
                              <p:par>
                                <p:cTn id="43" presetID="22" presetClass="entr" presetSubtype="1" fill="hold" nodeType="afterEffect">
                                  <p:stCondLst>
                                    <p:cond delay="0"/>
                                  </p:stCondLst>
                                  <p:childTnLst>
                                    <p:set>
                                      <p:cBhvr>
                                        <p:cTn id="44" dur="1" fill="hold">
                                          <p:stCondLst>
                                            <p:cond delay="0"/>
                                          </p:stCondLst>
                                        </p:cTn>
                                        <p:tgtEl>
                                          <p:spTgt spid="239"/>
                                        </p:tgtEl>
                                        <p:attrNameLst>
                                          <p:attrName>style.visibility</p:attrName>
                                        </p:attrNameLst>
                                      </p:cBhvr>
                                      <p:to>
                                        <p:strVal val="visible"/>
                                      </p:to>
                                    </p:set>
                                    <p:animEffect transition="in" filter="wipe(up)">
                                      <p:cBhvr>
                                        <p:cTn id="45" dur="1000"/>
                                        <p:tgtEl>
                                          <p:spTgt spid="239"/>
                                        </p:tgtEl>
                                      </p:cBhvr>
                                    </p:animEffect>
                                  </p:childTnLst>
                                </p:cTn>
                              </p:par>
                            </p:childTnLst>
                          </p:cTn>
                        </p:par>
                        <p:par>
                          <p:cTn id="46" fill="hold">
                            <p:stCondLst>
                              <p:cond delay="1000"/>
                            </p:stCondLst>
                            <p:childTnLst>
                              <p:par>
                                <p:cTn id="47" presetID="35" presetClass="emph" presetSubtype="0" repeatCount="indefinite" fill="hold" nodeType="afterEffect">
                                  <p:stCondLst>
                                    <p:cond delay="0"/>
                                  </p:stCondLst>
                                  <p:endCondLst>
                                    <p:cond evt="onNext" delay="0">
                                      <p:tgtEl>
                                        <p:sldTgt/>
                                      </p:tgtEl>
                                    </p:cond>
                                  </p:endCondLst>
                                  <p:childTnLst>
                                    <p:anim calcmode="discrete" valueType="str">
                                      <p:cBhvr>
                                        <p:cTn id="48" dur="500" fill="hold"/>
                                        <p:tgtEl>
                                          <p:spTgt spid="2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14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目录操作</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grpSp>
        <p:nvGrpSpPr>
          <p:cNvPr id="2" name="组合 1"/>
          <p:cNvGrpSpPr/>
          <p:nvPr/>
        </p:nvGrpSpPr>
        <p:grpSpPr>
          <a:xfrm>
            <a:off x="844893" y="1019164"/>
            <a:ext cx="2863011" cy="428628"/>
            <a:chOff x="844893" y="1019164"/>
            <a:chExt cx="2863011" cy="428628"/>
          </a:xfrm>
        </p:grpSpPr>
        <p:sp>
          <p:nvSpPr>
            <p:cNvPr id="9" name="内容占位符 2"/>
            <p:cNvSpPr txBox="1"/>
            <p:nvPr/>
          </p:nvSpPr>
          <p:spPr>
            <a:xfrm>
              <a:off x="1142976" y="1019164"/>
              <a:ext cx="256492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典型目录操作</a:t>
              </a: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1262422" y="1357304"/>
            <a:ext cx="1380752" cy="358322"/>
            <a:chOff x="1262422" y="1357304"/>
            <a:chExt cx="1380752" cy="358322"/>
          </a:xfrm>
        </p:grpSpPr>
        <p:pic>
          <p:nvPicPr>
            <p:cNvPr id="33" name="图片 32" descr="小点1.png"/>
            <p:cNvPicPr>
              <a:picLocks noChangeAspect="1"/>
            </p:cNvPicPr>
            <p:nvPr/>
          </p:nvPicPr>
          <p:blipFill>
            <a:blip r:embed="rId2" cstate="print"/>
            <a:stretch>
              <a:fillRect/>
            </a:stretch>
          </p:blipFill>
          <p:spPr>
            <a:xfrm>
              <a:off x="1262422" y="1462080"/>
              <a:ext cx="151066" cy="148997"/>
            </a:xfrm>
            <a:prstGeom prst="rect">
              <a:avLst/>
            </a:prstGeom>
            <a:effectLst/>
          </p:spPr>
        </p:pic>
        <p:sp>
          <p:nvSpPr>
            <p:cNvPr id="34" name="内容占位符 2"/>
            <p:cNvSpPr txBox="1"/>
            <p:nvPr/>
          </p:nvSpPr>
          <p:spPr>
            <a:xfrm>
              <a:off x="1394985" y="1357304"/>
              <a:ext cx="1248189"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搜索文件</a:t>
              </a:r>
            </a:p>
          </p:txBody>
        </p:sp>
      </p:grpSp>
      <p:grpSp>
        <p:nvGrpSpPr>
          <p:cNvPr id="4" name="组合 3"/>
          <p:cNvGrpSpPr/>
          <p:nvPr/>
        </p:nvGrpSpPr>
        <p:grpSpPr>
          <a:xfrm>
            <a:off x="1262422" y="1685466"/>
            <a:ext cx="1452190" cy="358322"/>
            <a:chOff x="1262422" y="1685466"/>
            <a:chExt cx="1452190" cy="358322"/>
          </a:xfrm>
        </p:grpSpPr>
        <p:pic>
          <p:nvPicPr>
            <p:cNvPr id="35" name="图片 34" descr="小点1.png"/>
            <p:cNvPicPr>
              <a:picLocks noChangeAspect="1"/>
            </p:cNvPicPr>
            <p:nvPr/>
          </p:nvPicPr>
          <p:blipFill>
            <a:blip r:embed="rId2" cstate="print"/>
            <a:stretch>
              <a:fillRect/>
            </a:stretch>
          </p:blipFill>
          <p:spPr>
            <a:xfrm>
              <a:off x="1262422" y="1790242"/>
              <a:ext cx="151066" cy="148997"/>
            </a:xfrm>
            <a:prstGeom prst="rect">
              <a:avLst/>
            </a:prstGeom>
            <a:effectLst/>
          </p:spPr>
        </p:pic>
        <p:sp>
          <p:nvSpPr>
            <p:cNvPr id="36" name="内容占位符 2"/>
            <p:cNvSpPr txBox="1"/>
            <p:nvPr/>
          </p:nvSpPr>
          <p:spPr>
            <a:xfrm>
              <a:off x="1394985" y="1685466"/>
              <a:ext cx="1319627"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创建文件</a:t>
              </a:r>
            </a:p>
          </p:txBody>
        </p:sp>
      </p:grpSp>
      <p:grpSp>
        <p:nvGrpSpPr>
          <p:cNvPr id="5" name="组合 4"/>
          <p:cNvGrpSpPr/>
          <p:nvPr/>
        </p:nvGrpSpPr>
        <p:grpSpPr>
          <a:xfrm>
            <a:off x="1262422" y="1984600"/>
            <a:ext cx="1452190" cy="313648"/>
            <a:chOff x="1262422" y="1984600"/>
            <a:chExt cx="1452190" cy="313648"/>
          </a:xfrm>
        </p:grpSpPr>
        <p:pic>
          <p:nvPicPr>
            <p:cNvPr id="39" name="图片 38" descr="小点1.png"/>
            <p:cNvPicPr>
              <a:picLocks noChangeAspect="1"/>
            </p:cNvPicPr>
            <p:nvPr/>
          </p:nvPicPr>
          <p:blipFill>
            <a:blip r:embed="rId2" cstate="print"/>
            <a:stretch>
              <a:fillRect/>
            </a:stretch>
          </p:blipFill>
          <p:spPr>
            <a:xfrm>
              <a:off x="1262422" y="2089376"/>
              <a:ext cx="151066" cy="148997"/>
            </a:xfrm>
            <a:prstGeom prst="rect">
              <a:avLst/>
            </a:prstGeom>
            <a:effectLst/>
          </p:spPr>
        </p:pic>
        <p:sp>
          <p:nvSpPr>
            <p:cNvPr id="40" name="内容占位符 2"/>
            <p:cNvSpPr txBox="1"/>
            <p:nvPr/>
          </p:nvSpPr>
          <p:spPr>
            <a:xfrm>
              <a:off x="1394985" y="1984600"/>
              <a:ext cx="1319627" cy="31364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删除文件</a:t>
              </a:r>
            </a:p>
          </p:txBody>
        </p:sp>
      </p:grpSp>
      <p:grpSp>
        <p:nvGrpSpPr>
          <p:cNvPr id="6" name="组合 10"/>
          <p:cNvGrpSpPr/>
          <p:nvPr/>
        </p:nvGrpSpPr>
        <p:grpSpPr>
          <a:xfrm>
            <a:off x="844893" y="3275235"/>
            <a:ext cx="4870115" cy="428628"/>
            <a:chOff x="844893" y="3275235"/>
            <a:chExt cx="4870115" cy="428628"/>
          </a:xfrm>
        </p:grpSpPr>
        <p:sp>
          <p:nvSpPr>
            <p:cNvPr id="25" name="内容占位符 2"/>
            <p:cNvSpPr txBox="1"/>
            <p:nvPr/>
          </p:nvSpPr>
          <p:spPr>
            <a:xfrm>
              <a:off x="1142976" y="3275235"/>
              <a:ext cx="457203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操作系统应该只允许内核修改目录</a:t>
              </a:r>
              <a:endPar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7" name="TextBox 26"/>
            <p:cNvSpPr txBox="1"/>
            <p:nvPr/>
          </p:nvSpPr>
          <p:spPr>
            <a:xfrm>
              <a:off x="844893" y="3275235"/>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7" name="组合 12"/>
          <p:cNvGrpSpPr/>
          <p:nvPr/>
        </p:nvGrpSpPr>
        <p:grpSpPr>
          <a:xfrm>
            <a:off x="1262422" y="3612243"/>
            <a:ext cx="2452322" cy="365122"/>
            <a:chOff x="1262422" y="3612243"/>
            <a:chExt cx="2452322" cy="365122"/>
          </a:xfrm>
        </p:grpSpPr>
        <p:pic>
          <p:nvPicPr>
            <p:cNvPr id="28" name="图片 27" descr="小点1.png"/>
            <p:cNvPicPr>
              <a:picLocks noChangeAspect="1"/>
            </p:cNvPicPr>
            <p:nvPr/>
          </p:nvPicPr>
          <p:blipFill>
            <a:blip r:embed="rId2" cstate="print"/>
            <a:stretch>
              <a:fillRect/>
            </a:stretch>
          </p:blipFill>
          <p:spPr>
            <a:xfrm>
              <a:off x="1262422" y="3717019"/>
              <a:ext cx="151066" cy="148997"/>
            </a:xfrm>
            <a:prstGeom prst="rect">
              <a:avLst/>
            </a:prstGeom>
            <a:effectLst/>
          </p:spPr>
        </p:pic>
        <p:sp>
          <p:nvSpPr>
            <p:cNvPr id="31" name="内容占位符 2"/>
            <p:cNvSpPr txBox="1"/>
            <p:nvPr/>
          </p:nvSpPr>
          <p:spPr>
            <a:xfrm>
              <a:off x="1394985" y="3612243"/>
              <a:ext cx="2319759" cy="3651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确保映射的完整性</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10" name="组合 9"/>
          <p:cNvGrpSpPr/>
          <p:nvPr/>
        </p:nvGrpSpPr>
        <p:grpSpPr>
          <a:xfrm>
            <a:off x="1262422" y="2922140"/>
            <a:ext cx="3523892" cy="363990"/>
            <a:chOff x="1262422" y="2922140"/>
            <a:chExt cx="3523892" cy="363990"/>
          </a:xfrm>
        </p:grpSpPr>
        <p:pic>
          <p:nvPicPr>
            <p:cNvPr id="24" name="图片 23" descr="小点1.png"/>
            <p:cNvPicPr>
              <a:picLocks noChangeAspect="1"/>
            </p:cNvPicPr>
            <p:nvPr/>
          </p:nvPicPr>
          <p:blipFill>
            <a:blip r:embed="rId2" cstate="print"/>
            <a:stretch>
              <a:fillRect/>
            </a:stretch>
          </p:blipFill>
          <p:spPr>
            <a:xfrm>
              <a:off x="1262422" y="3026916"/>
              <a:ext cx="151066" cy="148997"/>
            </a:xfrm>
            <a:prstGeom prst="rect">
              <a:avLst/>
            </a:prstGeom>
            <a:effectLst/>
          </p:spPr>
        </p:pic>
        <p:sp>
          <p:nvSpPr>
            <p:cNvPr id="29" name="内容占位符 2"/>
            <p:cNvSpPr txBox="1"/>
            <p:nvPr/>
          </p:nvSpPr>
          <p:spPr>
            <a:xfrm>
              <a:off x="1394985" y="2922140"/>
              <a:ext cx="3391329" cy="3639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遍历路径</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11" name="组合 13"/>
          <p:cNvGrpSpPr/>
          <p:nvPr/>
        </p:nvGrpSpPr>
        <p:grpSpPr>
          <a:xfrm>
            <a:off x="1262422" y="3916372"/>
            <a:ext cx="4317690" cy="365122"/>
            <a:chOff x="1262422" y="3916372"/>
            <a:chExt cx="4317690" cy="365122"/>
          </a:xfrm>
        </p:grpSpPr>
        <p:pic>
          <p:nvPicPr>
            <p:cNvPr id="50" name="图片 49" descr="小点1.png"/>
            <p:cNvPicPr>
              <a:picLocks noChangeAspect="1"/>
            </p:cNvPicPr>
            <p:nvPr/>
          </p:nvPicPr>
          <p:blipFill>
            <a:blip r:embed="rId2" cstate="print"/>
            <a:stretch>
              <a:fillRect/>
            </a:stretch>
          </p:blipFill>
          <p:spPr>
            <a:xfrm>
              <a:off x="1262422" y="4021148"/>
              <a:ext cx="151066" cy="148997"/>
            </a:xfrm>
            <a:prstGeom prst="rect">
              <a:avLst/>
            </a:prstGeom>
            <a:effectLst/>
          </p:spPr>
        </p:pic>
        <p:sp>
          <p:nvSpPr>
            <p:cNvPr id="51" name="内容占位符 2"/>
            <p:cNvSpPr txBox="1"/>
            <p:nvPr/>
          </p:nvSpPr>
          <p:spPr>
            <a:xfrm>
              <a:off x="1394985" y="3916372"/>
              <a:ext cx="4185127" cy="3651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应用程序通过系统调用访问目录</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13" name="组合 5"/>
          <p:cNvGrpSpPr/>
          <p:nvPr/>
        </p:nvGrpSpPr>
        <p:grpSpPr>
          <a:xfrm>
            <a:off x="1262422" y="2300512"/>
            <a:ext cx="1452190" cy="313648"/>
            <a:chOff x="1262422" y="2300512"/>
            <a:chExt cx="1452190" cy="313648"/>
          </a:xfrm>
        </p:grpSpPr>
        <p:pic>
          <p:nvPicPr>
            <p:cNvPr id="30" name="图片 29" descr="小点1.png"/>
            <p:cNvPicPr>
              <a:picLocks noChangeAspect="1"/>
            </p:cNvPicPr>
            <p:nvPr/>
          </p:nvPicPr>
          <p:blipFill>
            <a:blip r:embed="rId2" cstate="print"/>
            <a:stretch>
              <a:fillRect/>
            </a:stretch>
          </p:blipFill>
          <p:spPr>
            <a:xfrm>
              <a:off x="1262422" y="2405288"/>
              <a:ext cx="151066" cy="148997"/>
            </a:xfrm>
            <a:prstGeom prst="rect">
              <a:avLst/>
            </a:prstGeom>
            <a:effectLst/>
          </p:spPr>
        </p:pic>
        <p:sp>
          <p:nvSpPr>
            <p:cNvPr id="32" name="内容占位符 2"/>
            <p:cNvSpPr txBox="1"/>
            <p:nvPr/>
          </p:nvSpPr>
          <p:spPr>
            <a:xfrm>
              <a:off x="1394985" y="2300512"/>
              <a:ext cx="1319627" cy="31364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列目录</a:t>
              </a:r>
            </a:p>
          </p:txBody>
        </p:sp>
      </p:grpSp>
      <p:grpSp>
        <p:nvGrpSpPr>
          <p:cNvPr id="14" name="组合 6"/>
          <p:cNvGrpSpPr/>
          <p:nvPr/>
        </p:nvGrpSpPr>
        <p:grpSpPr>
          <a:xfrm>
            <a:off x="1262422" y="2618010"/>
            <a:ext cx="1809380" cy="313648"/>
            <a:chOff x="1262422" y="2618010"/>
            <a:chExt cx="1809380" cy="313648"/>
          </a:xfrm>
        </p:grpSpPr>
        <p:pic>
          <p:nvPicPr>
            <p:cNvPr id="41" name="图片 40" descr="小点1.png"/>
            <p:cNvPicPr>
              <a:picLocks noChangeAspect="1"/>
            </p:cNvPicPr>
            <p:nvPr/>
          </p:nvPicPr>
          <p:blipFill>
            <a:blip r:embed="rId2" cstate="print"/>
            <a:stretch>
              <a:fillRect/>
            </a:stretch>
          </p:blipFill>
          <p:spPr>
            <a:xfrm>
              <a:off x="1262422" y="2722786"/>
              <a:ext cx="151066" cy="148997"/>
            </a:xfrm>
            <a:prstGeom prst="rect">
              <a:avLst/>
            </a:prstGeom>
            <a:effectLst/>
          </p:spPr>
        </p:pic>
        <p:sp>
          <p:nvSpPr>
            <p:cNvPr id="42" name="内容占位符 2"/>
            <p:cNvSpPr txBox="1"/>
            <p:nvPr/>
          </p:nvSpPr>
          <p:spPr>
            <a:xfrm>
              <a:off x="1394985" y="2618010"/>
              <a:ext cx="1676817" cy="31364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重命名文件</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par>
                                <p:cTn id="14" presetID="22" presetClass="entr" presetSubtype="8"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par>
                                <p:cTn id="23" presetID="22" presetClass="entr" presetSubtype="8"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par>
                                <p:cTn id="31" presetID="22" presetClass="entr" presetSubtype="8"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par>
                                <p:cTn id="34" presetID="22" presetClass="entr" presetSubtype="8"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目录实现</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
        <p:nvSpPr>
          <p:cNvPr id="6" name="Text Box 5"/>
          <p:cNvSpPr txBox="1"/>
          <p:nvPr/>
        </p:nvSpPr>
        <p:spPr>
          <a:xfrm>
            <a:off x="755576" y="1419622"/>
            <a:ext cx="7997825" cy="1332230"/>
          </a:xfrm>
          <a:prstGeom prst="rect">
            <a:avLst/>
          </a:prstGeom>
          <a:noFill/>
        </p:spPr>
        <p:txBody>
          <a:bodyPr wrap="square" rtlCol="0" anchor="t">
            <a:spAutoFit/>
          </a:bodyPr>
          <a:lstStyle/>
          <a:p>
            <a:pPr eaLnBrk="1" hangingPunct="1"/>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sym typeface="+mn-ea"/>
              </a:rPr>
              <a:t>把文件名和对该文件实施控制管理的信息称为该文件的</a:t>
            </a:r>
            <a:r>
              <a:rPr lang="zh-CN" altLang="en-US" sz="2000" b="1" dirty="0">
                <a:solidFill>
                  <a:srgbClr val="FF0000"/>
                </a:solidFill>
                <a:latin typeface="微软雅黑" panose="020B0503020204020204" pitchFamily="34" charset="-122"/>
                <a:ea typeface="微软雅黑" panose="020B0503020204020204" pitchFamily="34" charset="-122"/>
                <a:sym typeface="+mn-ea"/>
              </a:rPr>
              <a:t>文件说明</a:t>
            </a:r>
            <a:r>
              <a:rPr lang="zh-CN" altLang="en-US" sz="2000" b="1" dirty="0">
                <a:solidFill>
                  <a:srgbClr val="11576A"/>
                </a:solidFill>
                <a:latin typeface="微软雅黑" panose="020B0503020204020204" pitchFamily="34" charset="-122"/>
                <a:ea typeface="微软雅黑" panose="020B0503020204020204" pitchFamily="34" charset="-122"/>
                <a:sym typeface="+mn-ea"/>
              </a:rPr>
              <a:t>，并把一个文件说明按一定的逻辑结构存放到</a:t>
            </a:r>
            <a:r>
              <a:rPr lang="zh-CN" altLang="en-US" sz="2000" b="1" dirty="0">
                <a:solidFill>
                  <a:srgbClr val="FF0000"/>
                </a:solidFill>
                <a:latin typeface="微软雅黑" panose="020B0503020204020204" pitchFamily="34" charset="-122"/>
                <a:ea typeface="微软雅黑" panose="020B0503020204020204" pitchFamily="34" charset="-122"/>
                <a:sym typeface="+mn-ea"/>
              </a:rPr>
              <a:t>物理存储块的一个表目</a:t>
            </a:r>
            <a:r>
              <a:rPr lang="zh-CN" altLang="en-US" sz="2000" b="1" dirty="0">
                <a:solidFill>
                  <a:srgbClr val="11576A"/>
                </a:solidFill>
                <a:latin typeface="微软雅黑" panose="020B0503020204020204" pitchFamily="34" charset="-122"/>
                <a:ea typeface="微软雅黑" panose="020B0503020204020204" pitchFamily="34" charset="-122"/>
                <a:sym typeface="+mn-ea"/>
              </a:rPr>
              <a:t>中。</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sym typeface="+mn-ea"/>
              </a:rPr>
              <a:t>利用文件说明信息可以完成对文件的创建、检索以及维护，因此也称为该</a:t>
            </a:r>
            <a:r>
              <a:rPr lang="zh-CN" altLang="en-US" sz="2000" b="1" dirty="0">
                <a:solidFill>
                  <a:srgbClr val="FF0000"/>
                </a:solidFill>
                <a:latin typeface="微软雅黑" panose="020B0503020204020204" pitchFamily="34" charset="-122"/>
                <a:ea typeface="微软雅黑" panose="020B0503020204020204" pitchFamily="34" charset="-122"/>
                <a:sym typeface="+mn-ea"/>
              </a:rPr>
              <a:t>文件的目录</a:t>
            </a:r>
            <a:r>
              <a:rPr lang="zh-CN" altLang="en-US" sz="2000" b="1" dirty="0">
                <a:solidFill>
                  <a:srgbClr val="11576A"/>
                </a:solidFill>
                <a:latin typeface="微软雅黑" panose="020B0503020204020204" pitchFamily="34" charset="-122"/>
                <a:ea typeface="微软雅黑" panose="020B0503020204020204" pitchFamily="34" charset="-122"/>
                <a:sym typeface="+mn-ea"/>
              </a:rPr>
              <a:t>，对</a:t>
            </a:r>
            <a:r>
              <a:rPr lang="zh-CN" altLang="en-US" sz="2000" b="1" dirty="0">
                <a:solidFill>
                  <a:srgbClr val="FF0000"/>
                </a:solidFill>
                <a:latin typeface="微软雅黑" panose="020B0503020204020204" pitchFamily="34" charset="-122"/>
                <a:ea typeface="微软雅黑" panose="020B0503020204020204" pitchFamily="34" charset="-122"/>
                <a:sym typeface="+mn-ea"/>
              </a:rPr>
              <a:t>文件目录</a:t>
            </a:r>
            <a:r>
              <a:rPr lang="zh-CN" altLang="en-US" sz="2000" b="1" dirty="0">
                <a:solidFill>
                  <a:srgbClr val="11576A"/>
                </a:solidFill>
                <a:latin typeface="微软雅黑" panose="020B0503020204020204" pitchFamily="34" charset="-122"/>
                <a:ea typeface="微软雅黑" panose="020B0503020204020204" pitchFamily="34" charset="-122"/>
                <a:sym typeface="+mn-ea"/>
              </a:rPr>
              <a:t>的管理就是对文件说明信息的管理。</a:t>
            </a:r>
            <a:endParaRPr lang="en-US" dirty="0"/>
          </a:p>
        </p:txBody>
      </p:sp>
    </p:spTree>
  </p:cSld>
  <p:clrMapOvr>
    <a:masterClrMapping/>
  </p:clrMapOvr>
  <p:transition>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33095" y="695325"/>
            <a:ext cx="7673340" cy="5294630"/>
          </a:xfrm>
          <a:prstGeom prst="rect">
            <a:avLst/>
          </a:prstGeom>
          <a:noFill/>
        </p:spPr>
        <p:txBody>
          <a:bodyPr wrap="square" rtlCol="0" anchor="t">
            <a:spAutoFit/>
          </a:bodyPr>
          <a:lstStyle/>
          <a:p>
            <a:pPr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文件的组成</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从文件管理角度看，一个文件包括文件说明体和文件体</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文件体指文件本身的信息</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文件说明也叫</a:t>
            </a:r>
            <a:r>
              <a:rPr lang="zh-CN" altLang="en-US" sz="2000" b="1" dirty="0">
                <a:solidFill>
                  <a:srgbClr val="FF0000"/>
                </a:solidFill>
                <a:latin typeface="微软雅黑" panose="020B0503020204020204" pitchFamily="34" charset="-122"/>
                <a:ea typeface="微软雅黑" panose="020B0503020204020204" pitchFamily="34" charset="-122"/>
                <a:sym typeface="+mn-ea"/>
              </a:rPr>
              <a:t>文件控制块(FCB)</a:t>
            </a:r>
          </a:p>
          <a:p>
            <a:pPr lvl="1"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FCB是OS为管理文件而设置的数据结构，存放了为管理文件所需的所有有关信息，FCB是文件存在的标志</a:t>
            </a:r>
          </a:p>
          <a:p>
            <a:pPr lvl="1" eaLnBrk="1" hangingPunct="1"/>
            <a:endParaRPr lang="zh-CN" altLang="en-US" sz="2000" b="1" dirty="0">
              <a:solidFill>
                <a:srgbClr val="11576A"/>
              </a:solidFill>
              <a:latin typeface="微软雅黑" panose="020B0503020204020204" pitchFamily="34" charset="-122"/>
              <a:ea typeface="微软雅黑" panose="020B0503020204020204" pitchFamily="34" charset="-122"/>
              <a:sym typeface="+mn-ea"/>
            </a:endParaRPr>
          </a:p>
          <a:p>
            <a:pPr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人们把</a:t>
            </a:r>
            <a:r>
              <a:rPr lang="zh-CN" altLang="en-US" sz="2000" b="1" dirty="0">
                <a:solidFill>
                  <a:srgbClr val="FF0000"/>
                </a:solidFill>
                <a:latin typeface="微软雅黑" panose="020B0503020204020204" pitchFamily="34" charset="-122"/>
                <a:ea typeface="微软雅黑" panose="020B0503020204020204" pitchFamily="34" charset="-122"/>
                <a:sym typeface="+mn-ea"/>
              </a:rPr>
              <a:t>文件控制块的有序集合称为文件目录</a:t>
            </a:r>
            <a:r>
              <a:rPr lang="zh-CN" altLang="en-US" sz="2000" b="1" dirty="0">
                <a:solidFill>
                  <a:srgbClr val="11576A"/>
                </a:solidFill>
                <a:latin typeface="微软雅黑" panose="020B0503020204020204" pitchFamily="34" charset="-122"/>
                <a:ea typeface="微软雅黑" panose="020B0503020204020204" pitchFamily="34" charset="-122"/>
                <a:sym typeface="+mn-ea"/>
              </a:rPr>
              <a:t>，即一个文件控制块就是一个</a:t>
            </a:r>
            <a:r>
              <a:rPr lang="zh-CN" altLang="en-US" sz="2000" b="1" dirty="0">
                <a:solidFill>
                  <a:srgbClr val="FF0000"/>
                </a:solidFill>
                <a:latin typeface="微软雅黑" panose="020B0503020204020204" pitchFamily="34" charset="-122"/>
                <a:ea typeface="微软雅黑" panose="020B0503020204020204" pitchFamily="34" charset="-122"/>
                <a:sym typeface="+mn-ea"/>
              </a:rPr>
              <a:t>文件目录项</a:t>
            </a:r>
            <a:r>
              <a:rPr lang="zh-CN" altLang="en-US" sz="2000" b="1" dirty="0">
                <a:solidFill>
                  <a:srgbClr val="11576A"/>
                </a:solidFill>
                <a:latin typeface="微软雅黑" panose="020B0503020204020204" pitchFamily="34" charset="-122"/>
                <a:ea typeface="微软雅黑" panose="020B0503020204020204" pitchFamily="34" charset="-122"/>
                <a:sym typeface="+mn-ea"/>
              </a:rPr>
              <a:t>。由文件目录组成的文件称为</a:t>
            </a:r>
            <a:r>
              <a:rPr lang="zh-CN" altLang="en-US" sz="2000" b="1" dirty="0">
                <a:solidFill>
                  <a:srgbClr val="FF0000"/>
                </a:solidFill>
                <a:latin typeface="微软雅黑" panose="020B0503020204020204" pitchFamily="34" charset="-122"/>
                <a:ea typeface="微软雅黑" panose="020B0503020204020204" pitchFamily="34" charset="-122"/>
                <a:sym typeface="+mn-ea"/>
              </a:rPr>
              <a:t>目录文件</a:t>
            </a:r>
            <a:r>
              <a:rPr lang="zh-CN" altLang="en-US" sz="2000" b="1" dirty="0">
                <a:solidFill>
                  <a:srgbClr val="11576A"/>
                </a:solidFill>
                <a:latin typeface="微软雅黑" panose="020B0503020204020204" pitchFamily="34" charset="-122"/>
                <a:ea typeface="微软雅黑" panose="020B0503020204020204" pitchFamily="34" charset="-122"/>
                <a:sym typeface="+mn-ea"/>
              </a:rPr>
              <a:t>。</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endParaRPr lang="zh-CN" altLang="en-US" sz="2000" b="1" dirty="0">
              <a:solidFill>
                <a:srgbClr val="FF0000"/>
              </a:solidFill>
              <a:latin typeface="微软雅黑" panose="020B0503020204020204" pitchFamily="34" charset="-122"/>
              <a:ea typeface="微软雅黑" panose="020B0503020204020204" pitchFamily="34" charset="-122"/>
              <a:sym typeface="+mn-ea"/>
            </a:endParaRPr>
          </a:p>
          <a:p>
            <a:pPr eaLnBrk="1" hangingPunct="1"/>
            <a:r>
              <a:rPr lang="zh-CN" altLang="en-US" sz="2000" b="1" dirty="0">
                <a:solidFill>
                  <a:srgbClr val="FF0000"/>
                </a:solidFill>
                <a:latin typeface="微软雅黑" panose="020B0503020204020204" pitchFamily="34" charset="-122"/>
                <a:ea typeface="微软雅黑" panose="020B0503020204020204" pitchFamily="34" charset="-122"/>
                <a:sym typeface="+mn-ea"/>
              </a:rPr>
              <a:t>文件目录</a:t>
            </a:r>
            <a:r>
              <a:rPr lang="zh-CN" altLang="en-US" sz="2000" b="1" dirty="0">
                <a:solidFill>
                  <a:srgbClr val="11576A"/>
                </a:solidFill>
                <a:latin typeface="微软雅黑" panose="020B0503020204020204" pitchFamily="34" charset="-122"/>
                <a:ea typeface="微软雅黑" panose="020B0503020204020204" pitchFamily="34" charset="-122"/>
                <a:sym typeface="+mn-ea"/>
              </a:rPr>
              <a:t>：把所有的FCB组织在一起，就构成了文件目录，即文件控制块的有序集合</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r>
              <a:rPr lang="zh-CN" altLang="en-US" sz="2000" b="1" dirty="0">
                <a:solidFill>
                  <a:srgbClr val="FF0000"/>
                </a:solidFill>
                <a:latin typeface="微软雅黑" panose="020B0503020204020204" pitchFamily="34" charset="-122"/>
                <a:ea typeface="微软雅黑" panose="020B0503020204020204" pitchFamily="34" charset="-122"/>
                <a:sym typeface="+mn-ea"/>
              </a:rPr>
              <a:t>目录文件</a:t>
            </a:r>
            <a:r>
              <a:rPr lang="zh-CN" altLang="en-US" sz="2000" b="1" dirty="0">
                <a:solidFill>
                  <a:srgbClr val="11576A"/>
                </a:solidFill>
                <a:latin typeface="微软雅黑" panose="020B0503020204020204" pitchFamily="34" charset="-122"/>
                <a:ea typeface="微软雅黑" panose="020B0503020204020204" pitchFamily="34" charset="-122"/>
                <a:sym typeface="+mn-ea"/>
              </a:rPr>
              <a:t>：为了实现对文件目录的管理，通常将文件目录以文件的形式保存在外存，这个文件就叫目录文件</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endParaRPr lang="en-US" sz="2000" dirty="0"/>
          </a:p>
          <a:p>
            <a:pPr eaLnBrk="1" hangingPunct="1"/>
            <a:endParaRPr lang="zh-CN" altLang="en-US" sz="2000" b="1" dirty="0">
              <a:solidFill>
                <a:srgbClr val="11576A"/>
              </a:solidFill>
              <a:latin typeface="微软雅黑" panose="020B0503020204020204" pitchFamily="34" charset="-122"/>
              <a:ea typeface="微软雅黑" panose="020B0503020204020204" pitchFamily="34" charset="-122"/>
              <a:sym typeface="+mn-ea"/>
            </a:endParaRPr>
          </a:p>
          <a:p>
            <a:pPr eaLnBrk="1" hangingPunct="1"/>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x-none" altLang="zh-CN" dirty="0"/>
              <a:t>文件</a:t>
            </a:r>
            <a:r>
              <a:rPr lang="zh-CN" altLang="en-US" dirty="0"/>
              <a:t>目录 </a:t>
            </a:r>
            <a:r>
              <a:rPr lang="x-none" altLang="zh-CN" dirty="0"/>
              <a:t>目录文件</a:t>
            </a:r>
            <a:endParaRPr kumimoji="0" lang="x-none" altLang="zh-CN"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a:extLst>
              <a:ext uri="{FF2B5EF4-FFF2-40B4-BE49-F238E27FC236}">
                <a16:creationId xmlns:a16="http://schemas.microsoft.com/office/drawing/2014/main" id="{8B9D8C3C-EF16-4083-B226-116EE6009907}"/>
              </a:ext>
            </a:extLst>
          </p:cNvPr>
          <p:cNvSpPr>
            <a:spLocks noGrp="1"/>
          </p:cNvSpPr>
          <p:nvPr>
            <p:ph type="sldNum" sz="quarter" idx="12"/>
          </p:nvPr>
        </p:nvSpPr>
        <p:spPr/>
        <p:txBody>
          <a:bodyPr/>
          <a:lstStyle/>
          <a:p>
            <a:fld id="{4248622C-AE6B-444D-9B72-C30AE7F537D9}" type="slidenum">
              <a:rPr lang="en-US" altLang="zh-CN"/>
              <a:pPr/>
              <a:t>73</a:t>
            </a:fld>
            <a:endParaRPr lang="en-US" altLang="zh-CN"/>
          </a:p>
        </p:txBody>
      </p:sp>
      <p:sp>
        <p:nvSpPr>
          <p:cNvPr id="143362" name="Rectangle 2">
            <a:extLst>
              <a:ext uri="{FF2B5EF4-FFF2-40B4-BE49-F238E27FC236}">
                <a16:creationId xmlns:a16="http://schemas.microsoft.com/office/drawing/2014/main" id="{89198571-ED66-4446-8282-328A7D383F70}"/>
              </a:ext>
            </a:extLst>
          </p:cNvPr>
          <p:cNvSpPr>
            <a:spLocks noGrp="1" noChangeArrowheads="1"/>
          </p:cNvSpPr>
          <p:nvPr>
            <p:ph type="body" idx="1"/>
          </p:nvPr>
        </p:nvSpPr>
        <p:spPr>
          <a:xfrm>
            <a:off x="1485900" y="628650"/>
            <a:ext cx="6115050" cy="4286250"/>
          </a:xfrm>
          <a:noFill/>
          <a:ln/>
        </p:spPr>
        <p:txBody>
          <a:bodyPr/>
          <a:lstStyle/>
          <a:p>
            <a:pPr>
              <a:lnSpc>
                <a:spcPct val="80000"/>
              </a:lnSpc>
            </a:pPr>
            <a:r>
              <a:rPr lang="zh-CN" altLang="en-US" b="1">
                <a:solidFill>
                  <a:srgbClr val="FFCC00"/>
                </a:solidFill>
                <a:latin typeface="黑体" panose="02010609060101010101" pitchFamily="49" charset="-122"/>
                <a:ea typeface="黑体" panose="02010609060101010101" pitchFamily="49" charset="-122"/>
              </a:rPr>
              <a:t>文件控制块的内容</a:t>
            </a:r>
          </a:p>
          <a:p>
            <a:pPr>
              <a:lnSpc>
                <a:spcPct val="80000"/>
              </a:lnSpc>
              <a:buFont typeface="Wingdings" panose="05000000000000000000" pitchFamily="2" charset="2"/>
              <a:buNone/>
            </a:pPr>
            <a:r>
              <a:rPr lang="zh-CN" altLang="en-US" b="1">
                <a:solidFill>
                  <a:srgbClr val="FFCC00"/>
                </a:solidFill>
                <a:latin typeface="黑体" panose="02010609060101010101" pitchFamily="49" charset="-122"/>
                <a:ea typeface="黑体" panose="02010609060101010101" pitchFamily="49" charset="-122"/>
              </a:rPr>
              <a:t>基本信息包括：</a:t>
            </a:r>
          </a:p>
          <a:p>
            <a:pPr>
              <a:lnSpc>
                <a:spcPct val="80000"/>
              </a:lnSpc>
              <a:buFont typeface="Wingdings" panose="05000000000000000000" pitchFamily="2" charset="2"/>
              <a:buNone/>
            </a:pPr>
            <a:r>
              <a:rPr lang="zh-CN" altLang="en-US" b="1">
                <a:solidFill>
                  <a:srgbClr val="FFCC00"/>
                </a:solidFill>
                <a:latin typeface="黑体" panose="02010609060101010101" pitchFamily="49" charset="-122"/>
                <a:ea typeface="黑体" panose="02010609060101010101" pitchFamily="49" charset="-122"/>
              </a:rPr>
              <a:t>    文件名  文件物理位置  文件逻辑结构。</a:t>
            </a:r>
          </a:p>
          <a:p>
            <a:pPr>
              <a:lnSpc>
                <a:spcPct val="80000"/>
              </a:lnSpc>
              <a:buFont typeface="Wingdings" panose="05000000000000000000" pitchFamily="2" charset="2"/>
              <a:buNone/>
            </a:pPr>
            <a:r>
              <a:rPr lang="zh-CN" altLang="en-US" b="1">
                <a:solidFill>
                  <a:srgbClr val="FFCC00"/>
                </a:solidFill>
                <a:latin typeface="黑体" panose="02010609060101010101" pitchFamily="49" charset="-122"/>
                <a:ea typeface="黑体" panose="02010609060101010101" pitchFamily="49" charset="-122"/>
              </a:rPr>
              <a:t>    文件的物理结构。</a:t>
            </a:r>
          </a:p>
          <a:p>
            <a:pPr>
              <a:lnSpc>
                <a:spcPct val="80000"/>
              </a:lnSpc>
              <a:buFont typeface="Wingdings" panose="05000000000000000000" pitchFamily="2" charset="2"/>
              <a:buNone/>
            </a:pPr>
            <a:r>
              <a:rPr lang="zh-CN" altLang="en-US" b="1">
                <a:solidFill>
                  <a:srgbClr val="FFCC00"/>
                </a:solidFill>
                <a:latin typeface="黑体" panose="02010609060101010101" pitchFamily="49" charset="-122"/>
                <a:ea typeface="黑体" panose="02010609060101010101" pitchFamily="49" charset="-122"/>
              </a:rPr>
              <a:t>存取控制信息包括：文件主的存取权限、核准用户的存取权限以及一般用户的存取权限。</a:t>
            </a:r>
          </a:p>
          <a:p>
            <a:pPr>
              <a:lnSpc>
                <a:spcPct val="80000"/>
              </a:lnSpc>
              <a:buFont typeface="Wingdings" panose="05000000000000000000" pitchFamily="2" charset="2"/>
              <a:buNone/>
            </a:pPr>
            <a:r>
              <a:rPr lang="zh-CN" altLang="en-US" b="1">
                <a:solidFill>
                  <a:srgbClr val="FFCC00"/>
                </a:solidFill>
                <a:latin typeface="黑体" panose="02010609060101010101" pitchFamily="49" charset="-122"/>
                <a:ea typeface="黑体" panose="02010609060101010101" pitchFamily="49" charset="-122"/>
              </a:rPr>
              <a:t>使用信息包括：文件的建立日期和时间、文件上一次修改的日期和时间及当前使用信息。</a:t>
            </a:r>
          </a:p>
          <a:p>
            <a:pPr>
              <a:lnSpc>
                <a:spcPct val="80000"/>
              </a:lnSpc>
              <a:buFont typeface="Wingdings" panose="05000000000000000000" pitchFamily="2" charset="2"/>
              <a:buNone/>
            </a:pPr>
            <a:r>
              <a:rPr lang="zh-CN" altLang="en-US" b="1">
                <a:solidFill>
                  <a:srgbClr val="FFCC00"/>
                </a:solidFill>
                <a:latin typeface="黑体" panose="02010609060101010101" pitchFamily="49" charset="-122"/>
                <a:ea typeface="黑体" panose="02010609060101010101" pitchFamily="49" charset="-122"/>
              </a:rPr>
              <a:t>对于不同操作系统的文件系统，由于功能不同，可能只含有上述信息中的某些部分</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88620" y="715645"/>
            <a:ext cx="8193405" cy="4333240"/>
          </a:xfrm>
          <a:prstGeom prst="rect">
            <a:avLst/>
          </a:prstGeom>
          <a:noFill/>
        </p:spPr>
        <p:txBody>
          <a:bodyPr wrap="square" rtlCol="0" anchor="t">
            <a:spAutoFit/>
          </a:bodyPr>
          <a:lstStyle/>
          <a:p>
            <a:pPr eaLnBrk="1" hangingPunct="1"/>
            <a:r>
              <a:rPr lang="zh-CN" altLang="en-US" b="1" dirty="0">
                <a:solidFill>
                  <a:srgbClr val="11576A"/>
                </a:solidFill>
                <a:latin typeface="微软雅黑" panose="020B0503020204020204" pitchFamily="34" charset="-122"/>
                <a:ea typeface="微软雅黑" panose="020B0503020204020204" pitchFamily="34" charset="-122"/>
                <a:sym typeface="+mn-ea"/>
              </a:rPr>
              <a:t>检索必要信息</a:t>
            </a:r>
            <a:r>
              <a:rPr lang="x-none" altLang="zh-CN" b="1" dirty="0">
                <a:solidFill>
                  <a:srgbClr val="11576A"/>
                </a:solidFill>
                <a:latin typeface="微软雅黑" panose="020B0503020204020204" pitchFamily="34" charset="-122"/>
                <a:ea typeface="微软雅黑" panose="020B0503020204020204" pitchFamily="34" charset="-122"/>
                <a:sym typeface="+mn-ea"/>
              </a:rPr>
              <a:t>：</a:t>
            </a:r>
            <a:r>
              <a:rPr lang="zh-CN" altLang="en-US" b="1" dirty="0">
                <a:solidFill>
                  <a:srgbClr val="11576A"/>
                </a:solidFill>
                <a:latin typeface="微软雅黑" panose="020B0503020204020204" pitchFamily="34" charset="-122"/>
                <a:ea typeface="微软雅黑" panose="020B0503020204020204" pitchFamily="34" charset="-122"/>
                <a:sym typeface="+mn-ea"/>
              </a:rPr>
              <a:t>文件名</a:t>
            </a:r>
            <a:endParaRPr lang="zh-CN" altLang="en-US" b="1" dirty="0">
              <a:solidFill>
                <a:srgbClr val="11576A"/>
              </a:solidFill>
              <a:latin typeface="微软雅黑" panose="020B0503020204020204" pitchFamily="34" charset="-122"/>
              <a:ea typeface="微软雅黑" panose="020B0503020204020204" pitchFamily="34" charset="-122"/>
            </a:endParaRPr>
          </a:p>
          <a:p>
            <a:pPr lvl="1" eaLnBrk="1" hangingPunct="1"/>
            <a:r>
              <a:rPr lang="zh-CN" altLang="en-US" b="1" dirty="0">
                <a:solidFill>
                  <a:srgbClr val="11576A"/>
                </a:solidFill>
                <a:latin typeface="微软雅黑" panose="020B0503020204020204" pitchFamily="34" charset="-122"/>
                <a:ea typeface="微软雅黑" panose="020B0503020204020204" pitchFamily="34" charset="-122"/>
                <a:sym typeface="+mn-ea"/>
              </a:rPr>
              <a:t>仅当找到一个目录项时，才从该目录项中读出该文件的物理地址。而其他该文件的信息，并不使用</a:t>
            </a:r>
            <a:endParaRPr lang="zh-CN" altLang="en-US" b="1" dirty="0">
              <a:solidFill>
                <a:srgbClr val="11576A"/>
              </a:solidFill>
              <a:latin typeface="微软雅黑" panose="020B0503020204020204" pitchFamily="34" charset="-122"/>
              <a:ea typeface="微软雅黑" panose="020B0503020204020204" pitchFamily="34" charset="-122"/>
            </a:endParaRPr>
          </a:p>
          <a:p>
            <a:pPr lvl="1" eaLnBrk="1" hangingPunct="1"/>
            <a:r>
              <a:rPr lang="zh-CN" altLang="en-US" b="1" dirty="0">
                <a:solidFill>
                  <a:srgbClr val="11576A"/>
                </a:solidFill>
                <a:latin typeface="微软雅黑" panose="020B0503020204020204" pitchFamily="34" charset="-122"/>
                <a:ea typeface="微软雅黑" panose="020B0503020204020204" pitchFamily="34" charset="-122"/>
                <a:sym typeface="+mn-ea"/>
              </a:rPr>
              <a:t>可以采用把文件名与文件描述信息分开的方法，使文件描述信息单独形成一个称为索引结点的数据结构。在每个目录项中，仅由文件名和指向该文件所对应的索引结点的指针所构成</a:t>
            </a:r>
            <a:endParaRPr lang="zh-CN" altLang="en-US" b="1" dirty="0">
              <a:solidFill>
                <a:srgbClr val="11576A"/>
              </a:solidFill>
              <a:latin typeface="微软雅黑" panose="020B0503020204020204" pitchFamily="34" charset="-122"/>
              <a:ea typeface="微软雅黑" panose="020B0503020204020204" pitchFamily="34" charset="-122"/>
            </a:endParaRPr>
          </a:p>
          <a:p>
            <a:pPr eaLnBrk="1" hangingPunct="1">
              <a:lnSpc>
                <a:spcPct val="120000"/>
              </a:lnSpc>
            </a:pPr>
            <a:r>
              <a:rPr lang="zh-CN" altLang="en-US" b="1" dirty="0">
                <a:solidFill>
                  <a:srgbClr val="FF0000"/>
                </a:solidFill>
                <a:latin typeface="微软雅黑" panose="020B0503020204020204" pitchFamily="34" charset="-122"/>
                <a:ea typeface="微软雅黑" panose="020B0503020204020204" pitchFamily="34" charset="-122"/>
                <a:sym typeface="+mn-ea"/>
              </a:rPr>
              <a:t>索引节点</a:t>
            </a:r>
          </a:p>
          <a:p>
            <a:pPr lvl="1" eaLnBrk="1" hangingPunct="1">
              <a:lnSpc>
                <a:spcPct val="120000"/>
              </a:lnSpc>
            </a:pPr>
            <a:r>
              <a:rPr lang="zh-CN" altLang="en-US" b="1" dirty="0">
                <a:solidFill>
                  <a:srgbClr val="11576A"/>
                </a:solidFill>
                <a:latin typeface="微软雅黑" panose="020B0503020204020204" pitchFamily="34" charset="-122"/>
                <a:ea typeface="微软雅黑" panose="020B0503020204020204" pitchFamily="34" charset="-122"/>
                <a:sym typeface="+mn-ea"/>
              </a:rPr>
              <a:t>目录文件存放在磁盘上的，文件很多时，要占用大量的盘块。查找目录的过程中，先将存放目录文件的第一个盘块中的目录调入内存，再把用户所给定的文件名与目录项中的文件名逐一比较。若未找到文件，便再将下一个盘块中的目录项调入内存。</a:t>
            </a:r>
            <a:endParaRPr lang="zh-CN" altLang="en-US" b="1" dirty="0">
              <a:solidFill>
                <a:srgbClr val="11576A"/>
              </a:solidFill>
              <a:latin typeface="微软雅黑" panose="020B0503020204020204" pitchFamily="34" charset="-122"/>
              <a:ea typeface="微软雅黑" panose="020B0503020204020204" pitchFamily="34" charset="-122"/>
            </a:endParaRPr>
          </a:p>
          <a:p>
            <a:pPr lvl="0" eaLnBrk="1" hangingPunct="1">
              <a:lnSpc>
                <a:spcPct val="120000"/>
              </a:lnSpc>
            </a:pPr>
            <a:r>
              <a:rPr lang="zh-CN" altLang="en-US" dirty="0">
                <a:solidFill>
                  <a:srgbClr val="11576A"/>
                </a:solidFill>
                <a:latin typeface="楷体" panose="02010609060101010101" pitchFamily="49" charset="-122"/>
                <a:ea typeface="楷体" panose="02010609060101010101" pitchFamily="49" charset="-122"/>
                <a:sym typeface="+mn-ea"/>
              </a:rPr>
              <a:t>一个FCB为64B，盘块大小为1KB，则每个盘块中只能存放16个FCB；若一个目录文件中共有640个FCB，需占用40个盘块，故平均查找一个文件需启动磁盘20次。</a:t>
            </a:r>
          </a:p>
          <a:p>
            <a:pPr eaLnBrk="1" hangingPunct="1"/>
            <a:endParaRPr lang="zh-CN" altLang="en-US" b="1" dirty="0">
              <a:solidFill>
                <a:srgbClr val="11576A"/>
              </a:solidFill>
              <a:latin typeface="微软雅黑" panose="020B0503020204020204" pitchFamily="34" charset="-122"/>
              <a:ea typeface="微软雅黑" panose="020B0503020204020204" pitchFamily="34" charset="-122"/>
            </a:endParaRPr>
          </a:p>
        </p:txBody>
      </p:sp>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x-none" dirty="0"/>
              <a:t>索引节点</a:t>
            </a:r>
            <a:endParaRPr kumimoji="0" lang="x-none" altLang="zh-CN"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a:extLst>
              <a:ext uri="{FF2B5EF4-FFF2-40B4-BE49-F238E27FC236}">
                <a16:creationId xmlns:a16="http://schemas.microsoft.com/office/drawing/2014/main" id="{26A1D8EE-7656-45EA-A33D-758D885E27C7}"/>
              </a:ext>
            </a:extLst>
          </p:cNvPr>
          <p:cNvSpPr>
            <a:spLocks noGrp="1"/>
          </p:cNvSpPr>
          <p:nvPr>
            <p:ph type="sldNum" sz="quarter" idx="12"/>
          </p:nvPr>
        </p:nvSpPr>
        <p:spPr/>
        <p:txBody>
          <a:bodyPr/>
          <a:lstStyle/>
          <a:p>
            <a:fld id="{10BA90D8-1A7F-4F1D-B34F-E4073EEE4228}" type="slidenum">
              <a:rPr lang="en-US" altLang="zh-CN"/>
              <a:pPr/>
              <a:t>75</a:t>
            </a:fld>
            <a:endParaRPr lang="en-US" altLang="zh-CN"/>
          </a:p>
        </p:txBody>
      </p:sp>
      <p:sp>
        <p:nvSpPr>
          <p:cNvPr id="285698" name="Rectangle 2">
            <a:extLst>
              <a:ext uri="{FF2B5EF4-FFF2-40B4-BE49-F238E27FC236}">
                <a16:creationId xmlns:a16="http://schemas.microsoft.com/office/drawing/2014/main" id="{5B64D2A7-A47C-4C7D-A884-5DE11B64B196}"/>
              </a:ext>
            </a:extLst>
          </p:cNvPr>
          <p:cNvSpPr>
            <a:spLocks noGrp="1" noChangeArrowheads="1"/>
          </p:cNvSpPr>
          <p:nvPr>
            <p:ph type="body" idx="1"/>
          </p:nvPr>
        </p:nvSpPr>
        <p:spPr>
          <a:xfrm>
            <a:off x="1371600" y="457200"/>
            <a:ext cx="6515100" cy="4572000"/>
          </a:xfrm>
          <a:noFill/>
          <a:ln/>
        </p:spPr>
        <p:txBody>
          <a:bodyPr/>
          <a:lstStyle/>
          <a:p>
            <a:pPr>
              <a:lnSpc>
                <a:spcPct val="90000"/>
              </a:lnSpc>
            </a:pPr>
            <a:r>
              <a:rPr lang="zh-CN" altLang="en-US" sz="2100" b="1">
                <a:solidFill>
                  <a:srgbClr val="FFCC00"/>
                </a:solidFill>
                <a:latin typeface="黑体" panose="02010609060101010101" pitchFamily="49" charset="-122"/>
                <a:ea typeface="黑体" panose="02010609060101010101" pitchFamily="49" charset="-122"/>
              </a:rPr>
              <a:t>一般来说，对目录管理的要求如下：</a:t>
            </a:r>
          </a:p>
          <a:p>
            <a:pPr>
              <a:lnSpc>
                <a:spcPct val="90000"/>
              </a:lnSpc>
            </a:pPr>
            <a:r>
              <a:rPr lang="en-US" altLang="zh-CN" sz="2100" b="1">
                <a:solidFill>
                  <a:srgbClr val="FFCC00"/>
                </a:solidFill>
                <a:latin typeface="黑体" panose="02010609060101010101" pitchFamily="49" charset="-122"/>
                <a:ea typeface="黑体" panose="02010609060101010101" pitchFamily="49" charset="-122"/>
              </a:rPr>
              <a:t>(1)</a:t>
            </a:r>
            <a:r>
              <a:rPr lang="zh-CN" altLang="en-US" sz="2100" b="1">
                <a:solidFill>
                  <a:srgbClr val="FFCC00"/>
                </a:solidFill>
                <a:latin typeface="黑体" panose="02010609060101010101" pitchFamily="49" charset="-122"/>
                <a:ea typeface="黑体" panose="02010609060101010101" pitchFamily="49" charset="-122"/>
              </a:rPr>
              <a:t>实现</a:t>
            </a:r>
            <a:r>
              <a:rPr lang="zh-CN" altLang="en-US" sz="2100" b="1">
                <a:solidFill>
                  <a:srgbClr val="FFCC00"/>
                </a:solidFill>
                <a:latin typeface="Times New Roman" panose="02020603050405020304" pitchFamily="18" charset="0"/>
                <a:ea typeface="黑体" panose="02010609060101010101" pitchFamily="49" charset="-122"/>
              </a:rPr>
              <a:t>“</a:t>
            </a:r>
            <a:r>
              <a:rPr lang="zh-CN" altLang="en-US" sz="2100" b="1">
                <a:solidFill>
                  <a:srgbClr val="FFCC00"/>
                </a:solidFill>
                <a:latin typeface="黑体" panose="02010609060101010101" pitchFamily="49" charset="-122"/>
                <a:ea typeface="黑体" panose="02010609060101010101" pitchFamily="49" charset="-122"/>
              </a:rPr>
              <a:t>按名存取</a:t>
            </a:r>
            <a:r>
              <a:rPr lang="zh-CN" altLang="en-US" sz="2100" b="1">
                <a:solidFill>
                  <a:srgbClr val="FFCC00"/>
                </a:solidFill>
                <a:latin typeface="Times New Roman" panose="02020603050405020304" pitchFamily="18" charset="0"/>
                <a:ea typeface="黑体" panose="02010609060101010101" pitchFamily="49" charset="-122"/>
              </a:rPr>
              <a:t>”</a:t>
            </a:r>
            <a:r>
              <a:rPr lang="zh-CN" altLang="en-US" sz="2100" b="1">
                <a:solidFill>
                  <a:srgbClr val="FFCC00"/>
                </a:solidFill>
                <a:latin typeface="黑体" panose="02010609060101010101" pitchFamily="49" charset="-122"/>
                <a:ea typeface="黑体" panose="02010609060101010101" pitchFamily="49" charset="-122"/>
              </a:rPr>
              <a:t>。用户只需提供文件名，就可以对文件进行操作。这既是文件目录管理的最基本功能，也是文件系统向用户提供的最基本服务。</a:t>
            </a:r>
          </a:p>
          <a:p>
            <a:pPr>
              <a:lnSpc>
                <a:spcPct val="90000"/>
              </a:lnSpc>
            </a:pPr>
            <a:r>
              <a:rPr lang="en-US" altLang="zh-CN" sz="2100" b="1">
                <a:solidFill>
                  <a:srgbClr val="FFCC00"/>
                </a:solidFill>
                <a:latin typeface="黑体" panose="02010609060101010101" pitchFamily="49" charset="-122"/>
                <a:ea typeface="黑体" panose="02010609060101010101" pitchFamily="49" charset="-122"/>
              </a:rPr>
              <a:t>(2)</a:t>
            </a:r>
            <a:r>
              <a:rPr lang="zh-CN" altLang="en-US" sz="2100" b="1">
                <a:solidFill>
                  <a:srgbClr val="FFCC00"/>
                </a:solidFill>
                <a:latin typeface="黑体" panose="02010609060101010101" pitchFamily="49" charset="-122"/>
                <a:ea typeface="黑体" panose="02010609060101010101" pitchFamily="49" charset="-122"/>
              </a:rPr>
              <a:t>提高检索速度。这就需要在设计文件系统时合理地设计目录结构，对大型文件系统来说，这是一个很重要的设计目标。</a:t>
            </a:r>
          </a:p>
          <a:p>
            <a:pPr>
              <a:lnSpc>
                <a:spcPct val="90000"/>
              </a:lnSpc>
            </a:pPr>
            <a:r>
              <a:rPr lang="en-US" altLang="zh-CN" sz="2100" b="1">
                <a:solidFill>
                  <a:srgbClr val="FFCC00"/>
                </a:solidFill>
                <a:latin typeface="黑体" panose="02010609060101010101" pitchFamily="49" charset="-122"/>
                <a:ea typeface="黑体" panose="02010609060101010101" pitchFamily="49" charset="-122"/>
              </a:rPr>
              <a:t>(3)</a:t>
            </a:r>
            <a:r>
              <a:rPr lang="zh-CN" altLang="en-US" sz="2100" b="1">
                <a:solidFill>
                  <a:srgbClr val="FFCC00"/>
                </a:solidFill>
                <a:latin typeface="黑体" panose="02010609060101010101" pitchFamily="49" charset="-122"/>
                <a:ea typeface="黑体" panose="02010609060101010101" pitchFamily="49" charset="-122"/>
              </a:rPr>
              <a:t>允许文件同名。文件系统可以通过不同工作目录来加以解决。</a:t>
            </a:r>
          </a:p>
          <a:p>
            <a:pPr>
              <a:lnSpc>
                <a:spcPct val="90000"/>
              </a:lnSpc>
            </a:pPr>
            <a:r>
              <a:rPr lang="en-US" altLang="zh-CN" sz="2100" b="1">
                <a:solidFill>
                  <a:srgbClr val="FFCC00"/>
                </a:solidFill>
                <a:latin typeface="黑体" panose="02010609060101010101" pitchFamily="49" charset="-122"/>
                <a:ea typeface="黑体" panose="02010609060101010101" pitchFamily="49" charset="-122"/>
              </a:rPr>
              <a:t>(4)</a:t>
            </a:r>
            <a:r>
              <a:rPr lang="zh-CN" altLang="en-US" sz="2100" b="1">
                <a:solidFill>
                  <a:srgbClr val="FFCC00"/>
                </a:solidFill>
                <a:latin typeface="黑体" panose="02010609060101010101" pitchFamily="49" charset="-122"/>
                <a:ea typeface="黑体" panose="02010609060101010101" pitchFamily="49" charset="-122"/>
              </a:rPr>
              <a:t>允许文件共享。应该允许多个用户共享一个文件，这样就可以节省文件的存储空间，也可以方便用户共享文件资源。当然，还需要相应的安全措施，以保证不同权限的用户只能取得相应的文件操作权限，防止越权行为。</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08330" y="769620"/>
            <a:ext cx="7608570" cy="2856230"/>
          </a:xfrm>
          <a:prstGeom prst="rect">
            <a:avLst/>
          </a:prstGeom>
          <a:noFill/>
        </p:spPr>
        <p:txBody>
          <a:bodyPr wrap="square" rtlCol="0" anchor="t">
            <a:spAutoFit/>
          </a:bodyPr>
          <a:lstStyle/>
          <a:p>
            <a:pPr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多级目录结构</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多级目录结构由根目录和各级目录组成，为管理上的方便，除根目录外，其它各级目录均以文件的形式组成目录文件</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根目录中的每个目录项可以对应一个目录文件，也可以对应一个数据文件，同样目录文件中的每个目录项可以对应一个目录文件。也可以对应一个数据文件。如此类推，就形成多级目录结构。</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也称树形目录结构</a:t>
            </a:r>
          </a:p>
          <a:p>
            <a:pPr eaLnBrk="1" hangingPunct="1"/>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endParaRPr lang="zh-CN" altLang="en-US" sz="2000" b="1" dirty="0">
              <a:solidFill>
                <a:srgbClr val="11576A"/>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835660" y="828675"/>
            <a:ext cx="7831455" cy="4038600"/>
          </a:xfrm>
          <a:prstGeom prst="rect">
            <a:avLst/>
          </a:prstGeom>
          <a:noFill/>
        </p:spPr>
        <p:txBody>
          <a:bodyPr wrap="square" rtlCol="0" anchor="t">
            <a:spAutoFit/>
          </a:bodyPr>
          <a:lstStyle/>
          <a:p>
            <a:pPr lvl="0" algn="l" eaLnBrk="1" fontAlgn="auto" hangingPunct="1">
              <a:lnSpc>
                <a:spcPct val="120000"/>
              </a:lnSpc>
            </a:pPr>
            <a:r>
              <a:rPr lang="zh-CN" altLang="en-US" sz="1800" b="1" dirty="0">
                <a:solidFill>
                  <a:srgbClr val="FF0000"/>
                </a:solidFill>
                <a:latin typeface="微软雅黑" panose="020B0503020204020204" pitchFamily="34" charset="-122"/>
                <a:ea typeface="微软雅黑" panose="020B0503020204020204" pitchFamily="34" charset="-122"/>
                <a:sym typeface="+mn-ea"/>
              </a:rPr>
              <a:t>路径名</a:t>
            </a:r>
            <a:r>
              <a:rPr lang="zh-CN" altLang="en-US" sz="1800" b="1" dirty="0">
                <a:solidFill>
                  <a:srgbClr val="11576A"/>
                </a:solidFill>
                <a:latin typeface="微软雅黑" panose="020B0503020204020204" pitchFamily="34" charset="-122"/>
                <a:ea typeface="微软雅黑" panose="020B0503020204020204" pitchFamily="34" charset="-122"/>
                <a:sym typeface="+mn-ea"/>
              </a:rPr>
              <a:t>：在多级目录结构中一个文件的唯一标识不再是文件名，而是从根结点开始，经过一个或多个中间结点，到达某个叶结点的一条路径。称这条路径为文件的路径名，它是文件的唯一标识，</a:t>
            </a:r>
            <a:r>
              <a:rPr lang="zh-CN" altLang="en-US" sz="1800" b="1" dirty="0">
                <a:solidFill>
                  <a:srgbClr val="FF0000"/>
                </a:solidFill>
                <a:latin typeface="微软雅黑" panose="020B0503020204020204" pitchFamily="34" charset="-122"/>
                <a:ea typeface="微软雅黑" panose="020B0503020204020204" pitchFamily="34" charset="-122"/>
                <a:sym typeface="+mn-ea"/>
              </a:rPr>
              <a:t>绝对路径</a:t>
            </a:r>
            <a:endParaRPr lang="zh-CN" altLang="en-US" sz="1800" b="1" strike="noStrike" noProof="1">
              <a:solidFill>
                <a:srgbClr val="FF0000"/>
              </a:solidFill>
              <a:latin typeface="微软雅黑" panose="020B0503020204020204" pitchFamily="34" charset="-122"/>
              <a:ea typeface="微软雅黑" panose="020B0503020204020204" pitchFamily="34" charset="-122"/>
              <a:sym typeface="+mn-ea"/>
            </a:endParaRPr>
          </a:p>
          <a:p>
            <a:pPr lvl="0" algn="l" eaLnBrk="1" fontAlgn="auto" hangingPunct="1">
              <a:lnSpc>
                <a:spcPct val="120000"/>
              </a:lnSpc>
            </a:pPr>
            <a:r>
              <a:rPr lang="zh-CN" altLang="en-US" sz="1800" b="1" dirty="0">
                <a:solidFill>
                  <a:srgbClr val="11576A"/>
                </a:solidFill>
                <a:latin typeface="微软雅黑" panose="020B0503020204020204" pitchFamily="34" charset="-122"/>
                <a:ea typeface="微软雅黑" panose="020B0503020204020204" pitchFamily="34" charset="-122"/>
                <a:sym typeface="+mn-ea"/>
              </a:rPr>
              <a:t>路径名由根目录和所经过的目录名和文件名以及分隔符组成，在UNIX中，路径各部分之间用“/”分隔。在MS-DOS中，其分隔符是“＼”，例如/d1/f1，  /d2/d5/f3，  /f7 </a:t>
            </a:r>
            <a:endParaRPr lang="zh-CN" altLang="en-US" sz="1800" b="1" strike="noStrike" noProof="1">
              <a:solidFill>
                <a:srgbClr val="11576A"/>
              </a:solidFill>
              <a:latin typeface="微软雅黑" panose="020B0503020204020204" pitchFamily="34" charset="-122"/>
              <a:ea typeface="微软雅黑" panose="020B0503020204020204" pitchFamily="34" charset="-122"/>
            </a:endParaRPr>
          </a:p>
          <a:p>
            <a:pPr lvl="0" algn="l" eaLnBrk="1" hangingPunct="1">
              <a:lnSpc>
                <a:spcPct val="120000"/>
              </a:lnSpc>
            </a:pPr>
            <a:r>
              <a:rPr lang="zh-CN" altLang="en-US" sz="1800" b="1" dirty="0">
                <a:solidFill>
                  <a:srgbClr val="11576A"/>
                </a:solidFill>
                <a:latin typeface="微软雅黑" panose="020B0503020204020204" pitchFamily="34" charset="-122"/>
                <a:ea typeface="微软雅黑" panose="020B0503020204020204" pitchFamily="34" charset="-122"/>
                <a:sym typeface="+mn-ea"/>
              </a:rPr>
              <a:t>另一种文件名表示法称为</a:t>
            </a:r>
            <a:r>
              <a:rPr lang="zh-CN" altLang="en-US" sz="1800" b="1" dirty="0">
                <a:solidFill>
                  <a:srgbClr val="FF0000"/>
                </a:solidFill>
                <a:latin typeface="微软雅黑" panose="020B0503020204020204" pitchFamily="34" charset="-122"/>
                <a:ea typeface="微软雅黑" panose="020B0503020204020204" pitchFamily="34" charset="-122"/>
                <a:sym typeface="+mn-ea"/>
              </a:rPr>
              <a:t>相对路径名</a:t>
            </a:r>
            <a:r>
              <a:rPr lang="zh-CN" altLang="en-US" sz="1800" b="1" dirty="0">
                <a:solidFill>
                  <a:srgbClr val="11576A"/>
                </a:solidFill>
                <a:latin typeface="微软雅黑" panose="020B0503020204020204" pitchFamily="34" charset="-122"/>
                <a:ea typeface="微软雅黑" panose="020B0503020204020204" pitchFamily="34" charset="-122"/>
                <a:sym typeface="+mn-ea"/>
              </a:rPr>
              <a:t>。 它常和工作目录(也称当前目录)的概念一起使用。用户可以指定一个目录作为当前的工作目录。这时，所有的路径名，如果不是从根目录开始，则都是相对于工作目录的。</a:t>
            </a:r>
            <a:endParaRPr lang="zh-CN" altLang="en-US" sz="1800" b="1" dirty="0">
              <a:solidFill>
                <a:srgbClr val="11576A"/>
              </a:solidFill>
              <a:latin typeface="微软雅黑" panose="020B0503020204020204" pitchFamily="34" charset="-122"/>
              <a:ea typeface="微软雅黑" panose="020B0503020204020204" pitchFamily="34" charset="-122"/>
            </a:endParaRPr>
          </a:p>
          <a:p>
            <a:pPr lvl="0" algn="l" eaLnBrk="1" hangingPunct="1">
              <a:lnSpc>
                <a:spcPct val="120000"/>
              </a:lnSpc>
            </a:pPr>
            <a:endParaRPr lang="zh-CN" altLang="en-US" sz="1800" b="1" dirty="0">
              <a:solidFill>
                <a:srgbClr val="11576A"/>
              </a:solidFill>
              <a:latin typeface="微软雅黑" panose="020B0503020204020204" pitchFamily="34" charset="-122"/>
              <a:ea typeface="微软雅黑" panose="020B0503020204020204" pitchFamily="34" charset="-122"/>
              <a:sym typeface="+mn-ea"/>
            </a:endParaRPr>
          </a:p>
          <a:p>
            <a:pPr lvl="0" algn="l" eaLnBrk="1" hangingPunct="1">
              <a:lnSpc>
                <a:spcPct val="120000"/>
              </a:lnSpc>
            </a:pPr>
            <a:r>
              <a:rPr lang="zh-CN" altLang="en-US" sz="1800" b="1" dirty="0">
                <a:solidFill>
                  <a:srgbClr val="11576A"/>
                </a:solidFill>
                <a:latin typeface="楷体" panose="02010609060101010101" pitchFamily="49" charset="-122"/>
                <a:ea typeface="楷体" panose="02010609060101010101" pitchFamily="49" charset="-122"/>
                <a:sym typeface="+mn-ea"/>
              </a:rPr>
              <a:t>例如，如果当前的工作目录是/usr/user/lu，则绝对路径名为/usr/user/lu/prog.c的文件可以简单地用prog.c来引用。</a:t>
            </a:r>
            <a:endParaRPr lang="zh-CN" altLang="en-US" sz="2000" b="1" dirty="0">
              <a:solidFill>
                <a:srgbClr val="11576A"/>
              </a:solidFill>
              <a:latin typeface="楷体" panose="02010609060101010101" pitchFamily="49" charset="-122"/>
              <a:ea typeface="楷体" panose="02010609060101010101" pitchFamily="49" charset="-122"/>
            </a:endParaRPr>
          </a:p>
        </p:txBody>
      </p:sp>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a:sym typeface="+mn-ea"/>
              </a:rPr>
              <a:t>多级目录结构</a:t>
            </a:r>
            <a:endParaRPr lang="en-US"/>
          </a:p>
          <a:p>
            <a:pPr lvl="0" algn="ctr">
              <a:spcBef>
                <a:spcPct val="0"/>
              </a:spcBef>
            </a:pP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名字解析</a:t>
            </a:r>
            <a:r>
              <a:rPr lang="zh-CN" altLang="zh-CN" dirty="0"/>
              <a:t>（</a:t>
            </a:r>
            <a:r>
              <a:rPr lang="zh-CN" altLang="en-US" dirty="0"/>
              <a:t>路径遍历）</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grpSp>
        <p:nvGrpSpPr>
          <p:cNvPr id="2" name="组合 2"/>
          <p:cNvGrpSpPr/>
          <p:nvPr/>
        </p:nvGrpSpPr>
        <p:grpSpPr>
          <a:xfrm>
            <a:off x="844893" y="742258"/>
            <a:ext cx="6727503" cy="428628"/>
            <a:chOff x="844893" y="742258"/>
            <a:chExt cx="6727503" cy="428628"/>
          </a:xfrm>
        </p:grpSpPr>
        <p:sp>
          <p:nvSpPr>
            <p:cNvPr id="9" name="内容占位符 2"/>
            <p:cNvSpPr txBox="1"/>
            <p:nvPr/>
          </p:nvSpPr>
          <p:spPr>
            <a:xfrm>
              <a:off x="1142976" y="742258"/>
              <a:ext cx="642942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名字解析</a:t>
              </a:r>
              <a:r>
                <a:rPr lang="en-US" altLang="zh-CN" dirty="0"/>
                <a:t>: </a:t>
              </a:r>
              <a:r>
                <a:rPr lang="zh-CN" altLang="en-US" dirty="0"/>
                <a:t>把逻辑名字转换成物理资源（如文件）</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74225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3"/>
          <p:cNvGrpSpPr/>
          <p:nvPr/>
        </p:nvGrpSpPr>
        <p:grpSpPr>
          <a:xfrm>
            <a:off x="1262422" y="1080398"/>
            <a:ext cx="7630058" cy="358322"/>
            <a:chOff x="1262422" y="1080398"/>
            <a:chExt cx="7630058" cy="358322"/>
          </a:xfrm>
        </p:grpSpPr>
        <p:pic>
          <p:nvPicPr>
            <p:cNvPr id="33" name="图片 32" descr="小点1.png"/>
            <p:cNvPicPr>
              <a:picLocks noChangeAspect="1"/>
            </p:cNvPicPr>
            <p:nvPr/>
          </p:nvPicPr>
          <p:blipFill>
            <a:blip r:embed="rId2" cstate="print"/>
            <a:stretch>
              <a:fillRect/>
            </a:stretch>
          </p:blipFill>
          <p:spPr>
            <a:xfrm>
              <a:off x="1262422" y="1185174"/>
              <a:ext cx="151066" cy="148997"/>
            </a:xfrm>
            <a:prstGeom prst="rect">
              <a:avLst/>
            </a:prstGeom>
            <a:effectLst/>
          </p:spPr>
        </p:pic>
        <p:sp>
          <p:nvSpPr>
            <p:cNvPr id="34" name="内容占位符 2"/>
            <p:cNvSpPr txBox="1"/>
            <p:nvPr/>
          </p:nvSpPr>
          <p:spPr>
            <a:xfrm>
              <a:off x="1394985" y="1080398"/>
              <a:ext cx="7497495"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依据路径名，在文件系统中找到实际文件位置</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4" name="组合 4"/>
          <p:cNvGrpSpPr/>
          <p:nvPr/>
        </p:nvGrpSpPr>
        <p:grpSpPr>
          <a:xfrm>
            <a:off x="1262422" y="1408560"/>
            <a:ext cx="4166834" cy="358322"/>
            <a:chOff x="1262422" y="1408560"/>
            <a:chExt cx="4166834" cy="358322"/>
          </a:xfrm>
        </p:grpSpPr>
        <p:pic>
          <p:nvPicPr>
            <p:cNvPr id="35" name="图片 34" descr="小点1.png"/>
            <p:cNvPicPr>
              <a:picLocks noChangeAspect="1"/>
            </p:cNvPicPr>
            <p:nvPr/>
          </p:nvPicPr>
          <p:blipFill>
            <a:blip r:embed="rId2" cstate="print"/>
            <a:stretch>
              <a:fillRect/>
            </a:stretch>
          </p:blipFill>
          <p:spPr>
            <a:xfrm>
              <a:off x="1262422" y="1513336"/>
              <a:ext cx="151066" cy="148997"/>
            </a:xfrm>
            <a:prstGeom prst="rect">
              <a:avLst/>
            </a:prstGeom>
            <a:effectLst/>
          </p:spPr>
        </p:pic>
        <p:sp>
          <p:nvSpPr>
            <p:cNvPr id="36" name="内容占位符 2"/>
            <p:cNvSpPr txBox="1"/>
            <p:nvPr/>
          </p:nvSpPr>
          <p:spPr>
            <a:xfrm>
              <a:off x="1394985" y="1408560"/>
              <a:ext cx="4034271"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遍历文件目录直到找到目标文件</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5" name="组合 5"/>
          <p:cNvGrpSpPr/>
          <p:nvPr/>
        </p:nvGrpSpPr>
        <p:grpSpPr>
          <a:xfrm>
            <a:off x="844893" y="1722208"/>
            <a:ext cx="3155603" cy="428628"/>
            <a:chOff x="844893" y="1722208"/>
            <a:chExt cx="3155603" cy="428628"/>
          </a:xfrm>
        </p:grpSpPr>
        <p:sp>
          <p:nvSpPr>
            <p:cNvPr id="25" name="内容占位符 2"/>
            <p:cNvSpPr txBox="1"/>
            <p:nvPr/>
          </p:nvSpPr>
          <p:spPr>
            <a:xfrm>
              <a:off x="1142976" y="1722208"/>
              <a:ext cx="285752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举例</a:t>
              </a:r>
              <a:r>
                <a:rPr lang="en-US" altLang="zh-CN" dirty="0"/>
                <a:t>: </a:t>
              </a:r>
              <a:r>
                <a:rPr lang="zh-CN" altLang="en-US" dirty="0"/>
                <a:t>解析</a:t>
              </a:r>
              <a:r>
                <a:rPr lang="en-US" altLang="zh-CN" dirty="0"/>
                <a:t>“/bin/</a:t>
              </a:r>
              <a:r>
                <a:rPr lang="en-US" altLang="zh-CN" dirty="0" err="1"/>
                <a:t>ls</a:t>
              </a:r>
              <a:r>
                <a:rPr lang="en-US" altLang="zh-CN" dirty="0"/>
                <a:t>”</a:t>
              </a:r>
            </a:p>
          </p:txBody>
        </p:sp>
        <p:sp>
          <p:nvSpPr>
            <p:cNvPr id="27" name="TextBox 26"/>
            <p:cNvSpPr txBox="1"/>
            <p:nvPr/>
          </p:nvSpPr>
          <p:spPr>
            <a:xfrm>
              <a:off x="844893" y="172220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6" name="组合 6"/>
          <p:cNvGrpSpPr/>
          <p:nvPr/>
        </p:nvGrpSpPr>
        <p:grpSpPr>
          <a:xfrm>
            <a:off x="1262422" y="2059216"/>
            <a:ext cx="4809776" cy="365122"/>
            <a:chOff x="1262422" y="2059216"/>
            <a:chExt cx="4809776" cy="365122"/>
          </a:xfrm>
        </p:grpSpPr>
        <p:pic>
          <p:nvPicPr>
            <p:cNvPr id="28" name="图片 27" descr="小点1.png"/>
            <p:cNvPicPr>
              <a:picLocks noChangeAspect="1"/>
            </p:cNvPicPr>
            <p:nvPr/>
          </p:nvPicPr>
          <p:blipFill>
            <a:blip r:embed="rId2" cstate="print"/>
            <a:stretch>
              <a:fillRect/>
            </a:stretch>
          </p:blipFill>
          <p:spPr>
            <a:xfrm>
              <a:off x="1262422" y="2163992"/>
              <a:ext cx="151066" cy="148997"/>
            </a:xfrm>
            <a:prstGeom prst="rect">
              <a:avLst/>
            </a:prstGeom>
            <a:effectLst/>
          </p:spPr>
        </p:pic>
        <p:sp>
          <p:nvSpPr>
            <p:cNvPr id="31" name="内容占位符 2"/>
            <p:cNvSpPr txBox="1"/>
            <p:nvPr/>
          </p:nvSpPr>
          <p:spPr>
            <a:xfrm>
              <a:off x="1394985" y="2059216"/>
              <a:ext cx="4677213" cy="3651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读取根目录的文件头</a:t>
              </a:r>
              <a:r>
                <a:rPr lang="en-US" altLang="zh-CN" dirty="0"/>
                <a:t> (</a:t>
              </a:r>
              <a:r>
                <a:rPr lang="zh-CN" altLang="en-US" dirty="0"/>
                <a:t>在磁盘固定位置）</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7" name="组合 9"/>
          <p:cNvGrpSpPr/>
          <p:nvPr/>
        </p:nvGrpSpPr>
        <p:grpSpPr>
          <a:xfrm>
            <a:off x="1262422" y="2384119"/>
            <a:ext cx="5181786" cy="365122"/>
            <a:chOff x="1262422" y="2363345"/>
            <a:chExt cx="5181786" cy="365122"/>
          </a:xfrm>
        </p:grpSpPr>
        <p:pic>
          <p:nvPicPr>
            <p:cNvPr id="50" name="图片 49" descr="小点1.png"/>
            <p:cNvPicPr>
              <a:picLocks noChangeAspect="1"/>
            </p:cNvPicPr>
            <p:nvPr/>
          </p:nvPicPr>
          <p:blipFill>
            <a:blip r:embed="rId2" cstate="print"/>
            <a:stretch>
              <a:fillRect/>
            </a:stretch>
          </p:blipFill>
          <p:spPr>
            <a:xfrm>
              <a:off x="1262422" y="2468121"/>
              <a:ext cx="151066" cy="148997"/>
            </a:xfrm>
            <a:prstGeom prst="rect">
              <a:avLst/>
            </a:prstGeom>
            <a:effectLst/>
          </p:spPr>
        </p:pic>
        <p:sp>
          <p:nvSpPr>
            <p:cNvPr id="51" name="内容占位符 2"/>
            <p:cNvSpPr txBox="1"/>
            <p:nvPr/>
          </p:nvSpPr>
          <p:spPr>
            <a:xfrm>
              <a:off x="1394985" y="2363345"/>
              <a:ext cx="5049223" cy="3651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读取根目录的数据块</a:t>
              </a:r>
              <a:r>
                <a:rPr lang="zh-CN" altLang="zh-CN" dirty="0"/>
                <a:t>，</a:t>
              </a:r>
              <a:r>
                <a:rPr lang="zh-CN" altLang="en-US" dirty="0"/>
                <a:t>搜索</a:t>
              </a:r>
              <a:r>
                <a:rPr lang="en-US" altLang="zh-CN" dirty="0"/>
                <a:t>“bin”</a:t>
              </a:r>
              <a:r>
                <a:rPr lang="zh-CN" altLang="en-US" dirty="0"/>
                <a:t>项</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10" name="组合 10"/>
          <p:cNvGrpSpPr/>
          <p:nvPr/>
        </p:nvGrpSpPr>
        <p:grpSpPr>
          <a:xfrm>
            <a:off x="1262422" y="2662012"/>
            <a:ext cx="2595198" cy="365122"/>
            <a:chOff x="1262422" y="2683780"/>
            <a:chExt cx="2595198" cy="365122"/>
          </a:xfrm>
        </p:grpSpPr>
        <p:pic>
          <p:nvPicPr>
            <p:cNvPr id="37" name="图片 36" descr="小点1.png"/>
            <p:cNvPicPr>
              <a:picLocks noChangeAspect="1"/>
            </p:cNvPicPr>
            <p:nvPr/>
          </p:nvPicPr>
          <p:blipFill>
            <a:blip r:embed="rId2" cstate="print"/>
            <a:stretch>
              <a:fillRect/>
            </a:stretch>
          </p:blipFill>
          <p:spPr>
            <a:xfrm>
              <a:off x="1262422" y="2788556"/>
              <a:ext cx="151066" cy="148997"/>
            </a:xfrm>
            <a:prstGeom prst="rect">
              <a:avLst/>
            </a:prstGeom>
            <a:effectLst/>
          </p:spPr>
        </p:pic>
        <p:sp>
          <p:nvSpPr>
            <p:cNvPr id="38" name="内容占位符 2"/>
            <p:cNvSpPr txBox="1"/>
            <p:nvPr/>
          </p:nvSpPr>
          <p:spPr>
            <a:xfrm>
              <a:off x="1394985" y="2683780"/>
              <a:ext cx="2462635" cy="3651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dirty="0"/>
                <a:t>读取</a:t>
              </a:r>
              <a:r>
                <a:rPr lang="en-US" altLang="zh-CN" dirty="0"/>
                <a:t>bin</a:t>
              </a:r>
              <a:r>
                <a:rPr lang="zh-CN" altLang="en-US" dirty="0"/>
                <a:t>的文件头</a:t>
              </a:r>
              <a:endParaRPr lang="en-US" altLang="zh-CN" dirty="0"/>
            </a:p>
          </p:txBody>
        </p:sp>
      </p:grpSp>
      <p:grpSp>
        <p:nvGrpSpPr>
          <p:cNvPr id="11" name="组合 12"/>
          <p:cNvGrpSpPr/>
          <p:nvPr/>
        </p:nvGrpSpPr>
        <p:grpSpPr>
          <a:xfrm>
            <a:off x="1262422" y="2987909"/>
            <a:ext cx="4166834" cy="365122"/>
            <a:chOff x="1262422" y="2987909"/>
            <a:chExt cx="4166834" cy="365122"/>
          </a:xfrm>
        </p:grpSpPr>
        <p:pic>
          <p:nvPicPr>
            <p:cNvPr id="43" name="图片 42" descr="小点1.png"/>
            <p:cNvPicPr>
              <a:picLocks noChangeAspect="1"/>
            </p:cNvPicPr>
            <p:nvPr/>
          </p:nvPicPr>
          <p:blipFill>
            <a:blip r:embed="rId2" cstate="print"/>
            <a:stretch>
              <a:fillRect/>
            </a:stretch>
          </p:blipFill>
          <p:spPr>
            <a:xfrm>
              <a:off x="1262422" y="3092685"/>
              <a:ext cx="151066" cy="148997"/>
            </a:xfrm>
            <a:prstGeom prst="rect">
              <a:avLst/>
            </a:prstGeom>
            <a:effectLst/>
          </p:spPr>
        </p:pic>
        <p:sp>
          <p:nvSpPr>
            <p:cNvPr id="44" name="内容占位符 2"/>
            <p:cNvSpPr txBox="1"/>
            <p:nvPr/>
          </p:nvSpPr>
          <p:spPr>
            <a:xfrm>
              <a:off x="1394985" y="2987909"/>
              <a:ext cx="4034271" cy="3651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读取</a:t>
              </a:r>
              <a:r>
                <a:rPr lang="en-US" altLang="zh-CN" dirty="0"/>
                <a:t>bin</a:t>
              </a:r>
              <a:r>
                <a:rPr lang="zh-CN" altLang="en-US" dirty="0"/>
                <a:t>的数据块</a:t>
              </a:r>
              <a:r>
                <a:rPr lang="en-US" altLang="zh-CN" dirty="0"/>
                <a:t>; </a:t>
              </a:r>
              <a:r>
                <a:rPr lang="zh-CN" altLang="en-US" dirty="0"/>
                <a:t>搜索</a:t>
              </a:r>
              <a:r>
                <a:rPr lang="en-US" altLang="zh-CN" dirty="0"/>
                <a:t>“</a:t>
              </a:r>
              <a:r>
                <a:rPr lang="en-US" altLang="zh-CN" dirty="0" err="1"/>
                <a:t>ls</a:t>
              </a:r>
              <a:r>
                <a:rPr lang="en-US" altLang="zh-CN" dirty="0"/>
                <a:t>”</a:t>
              </a:r>
              <a:r>
                <a:rPr lang="zh-CN" altLang="en-US" dirty="0"/>
                <a:t>顶</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13" name="组合 13"/>
          <p:cNvGrpSpPr/>
          <p:nvPr/>
        </p:nvGrpSpPr>
        <p:grpSpPr>
          <a:xfrm>
            <a:off x="1262422" y="3294976"/>
            <a:ext cx="2595198" cy="365122"/>
            <a:chOff x="1262422" y="3294976"/>
            <a:chExt cx="2595198" cy="365122"/>
          </a:xfrm>
        </p:grpSpPr>
        <p:pic>
          <p:nvPicPr>
            <p:cNvPr id="45" name="图片 44" descr="小点1.png"/>
            <p:cNvPicPr>
              <a:picLocks noChangeAspect="1"/>
            </p:cNvPicPr>
            <p:nvPr/>
          </p:nvPicPr>
          <p:blipFill>
            <a:blip r:embed="rId2" cstate="print"/>
            <a:stretch>
              <a:fillRect/>
            </a:stretch>
          </p:blipFill>
          <p:spPr>
            <a:xfrm>
              <a:off x="1262422" y="3399752"/>
              <a:ext cx="151066" cy="148997"/>
            </a:xfrm>
            <a:prstGeom prst="rect">
              <a:avLst/>
            </a:prstGeom>
            <a:effectLst/>
          </p:spPr>
        </p:pic>
        <p:sp>
          <p:nvSpPr>
            <p:cNvPr id="46" name="内容占位符 2"/>
            <p:cNvSpPr txBox="1"/>
            <p:nvPr/>
          </p:nvSpPr>
          <p:spPr>
            <a:xfrm>
              <a:off x="1394985" y="3294976"/>
              <a:ext cx="2462635" cy="3651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dirty="0"/>
                <a:t>读取</a:t>
              </a:r>
              <a:r>
                <a:rPr lang="en-US" altLang="zh-CN" dirty="0" err="1"/>
                <a:t>ls</a:t>
              </a:r>
              <a:r>
                <a:rPr lang="zh-CN" altLang="en-US" dirty="0"/>
                <a:t>的文件头</a:t>
              </a:r>
              <a:endParaRPr lang="en-US" altLang="zh-CN" dirty="0"/>
            </a:p>
          </p:txBody>
        </p:sp>
      </p:grpSp>
      <p:grpSp>
        <p:nvGrpSpPr>
          <p:cNvPr id="14" name="组合 14"/>
          <p:cNvGrpSpPr/>
          <p:nvPr/>
        </p:nvGrpSpPr>
        <p:grpSpPr>
          <a:xfrm>
            <a:off x="844893" y="3628806"/>
            <a:ext cx="3012727" cy="428628"/>
            <a:chOff x="844893" y="3628806"/>
            <a:chExt cx="3012727" cy="428628"/>
          </a:xfrm>
        </p:grpSpPr>
        <p:sp>
          <p:nvSpPr>
            <p:cNvPr id="47" name="内容占位符 2"/>
            <p:cNvSpPr txBox="1"/>
            <p:nvPr/>
          </p:nvSpPr>
          <p:spPr>
            <a:xfrm>
              <a:off x="1142976" y="3628806"/>
              <a:ext cx="271464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当前工作目录</a:t>
              </a:r>
              <a:r>
                <a:rPr lang="en-US" altLang="zh-CN" dirty="0"/>
                <a:t> (PWD)</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48" name="TextBox 47"/>
            <p:cNvSpPr txBox="1"/>
            <p:nvPr/>
          </p:nvSpPr>
          <p:spPr>
            <a:xfrm>
              <a:off x="844893" y="362880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15" name="组合 15"/>
          <p:cNvGrpSpPr/>
          <p:nvPr/>
        </p:nvGrpSpPr>
        <p:grpSpPr>
          <a:xfrm>
            <a:off x="1262422" y="3966946"/>
            <a:ext cx="5809908" cy="358322"/>
            <a:chOff x="1262422" y="3966946"/>
            <a:chExt cx="5809908" cy="358322"/>
          </a:xfrm>
        </p:grpSpPr>
        <p:pic>
          <p:nvPicPr>
            <p:cNvPr id="49" name="图片 48" descr="小点1.png"/>
            <p:cNvPicPr>
              <a:picLocks noChangeAspect="1"/>
            </p:cNvPicPr>
            <p:nvPr/>
          </p:nvPicPr>
          <p:blipFill>
            <a:blip r:embed="rId2" cstate="print"/>
            <a:stretch>
              <a:fillRect/>
            </a:stretch>
          </p:blipFill>
          <p:spPr>
            <a:xfrm>
              <a:off x="1262422" y="4071722"/>
              <a:ext cx="151066" cy="148997"/>
            </a:xfrm>
            <a:prstGeom prst="rect">
              <a:avLst/>
            </a:prstGeom>
            <a:effectLst/>
          </p:spPr>
        </p:pic>
        <p:sp>
          <p:nvSpPr>
            <p:cNvPr id="52" name="内容占位符 2"/>
            <p:cNvSpPr txBox="1"/>
            <p:nvPr/>
          </p:nvSpPr>
          <p:spPr>
            <a:xfrm>
              <a:off x="1394985" y="3966946"/>
              <a:ext cx="5677345"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每个进程都会指向一个文件目录用于解析文件名</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16" name="组合 16"/>
          <p:cNvGrpSpPr/>
          <p:nvPr/>
        </p:nvGrpSpPr>
        <p:grpSpPr>
          <a:xfrm>
            <a:off x="1262422" y="4295108"/>
            <a:ext cx="5595594" cy="571486"/>
            <a:chOff x="1262422" y="4295108"/>
            <a:chExt cx="5595594" cy="571486"/>
          </a:xfrm>
        </p:grpSpPr>
        <p:pic>
          <p:nvPicPr>
            <p:cNvPr id="53" name="图片 52" descr="小点1.png"/>
            <p:cNvPicPr>
              <a:picLocks noChangeAspect="1"/>
            </p:cNvPicPr>
            <p:nvPr/>
          </p:nvPicPr>
          <p:blipFill>
            <a:blip r:embed="rId2" cstate="print"/>
            <a:stretch>
              <a:fillRect/>
            </a:stretch>
          </p:blipFill>
          <p:spPr>
            <a:xfrm>
              <a:off x="1262422" y="4399884"/>
              <a:ext cx="151066" cy="148997"/>
            </a:xfrm>
            <a:prstGeom prst="rect">
              <a:avLst/>
            </a:prstGeom>
            <a:effectLst/>
          </p:spPr>
        </p:pic>
        <p:sp>
          <p:nvSpPr>
            <p:cNvPr id="54" name="内容占位符 2"/>
            <p:cNvSpPr txBox="1"/>
            <p:nvPr/>
          </p:nvSpPr>
          <p:spPr>
            <a:xfrm>
              <a:off x="1394985" y="4295108"/>
              <a:ext cx="5463031" cy="57148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允许用户指定相对路径来代替绝对路径</a:t>
              </a:r>
              <a:endParaRPr lang="en-US" altLang="zh-CN" dirty="0"/>
            </a:p>
            <a:p>
              <a:pPr marL="0" lvl="1" indent="0">
                <a:lnSpc>
                  <a:spcPct val="90000"/>
                </a:lnSpc>
              </a:pPr>
              <a:r>
                <a:rPr lang="zh-CN" altLang="en-US" dirty="0"/>
                <a:t>如，用</a:t>
              </a:r>
              <a:r>
                <a:rPr lang="en-US" altLang="zh-CN" dirty="0"/>
                <a:t> PWD=“/bin” </a:t>
              </a:r>
              <a:r>
                <a:rPr lang="zh-CN" altLang="en-US" dirty="0"/>
                <a:t>能够解析</a:t>
              </a:r>
              <a:r>
                <a:rPr lang="en-US" altLang="zh-CN" dirty="0"/>
                <a:t> “</a:t>
              </a:r>
              <a:r>
                <a:rPr lang="en-US" altLang="zh-CN" dirty="0" err="1"/>
                <a:t>ls</a:t>
              </a:r>
              <a:r>
                <a:rPr lang="en-US" altLang="zh-CN" dirty="0"/>
                <a:t>”</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par>
                                <p:cTn id="25" presetID="22" presetClass="entr" presetSubtype="8"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par>
                                <p:cTn id="33" presetID="22" presetClass="entr" presetSubtype="8"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left)">
                                      <p:cBhvr>
                                        <p:cTn id="5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09600" y="814705"/>
            <a:ext cx="7889875" cy="4380230"/>
          </a:xfrm>
          <a:prstGeom prst="rect">
            <a:avLst/>
          </a:prstGeom>
          <a:noFill/>
        </p:spPr>
        <p:txBody>
          <a:bodyPr wrap="square" rtlCol="0" anchor="t">
            <a:spAutoFit/>
          </a:bodyPr>
          <a:lstStyle/>
          <a:p>
            <a:pPr eaLnBrk="1" hangingPunct="1"/>
            <a:r>
              <a:rPr lang="zh-CN" altLang="en-US" sz="2000" b="1" dirty="0">
                <a:solidFill>
                  <a:srgbClr val="FF0000"/>
                </a:solidFill>
                <a:latin typeface="微软雅黑" panose="020B0503020204020204" pitchFamily="34" charset="-122"/>
                <a:ea typeface="微软雅黑" panose="020B0503020204020204" pitchFamily="34" charset="-122"/>
                <a:sym typeface="+mn-ea"/>
              </a:rPr>
              <a:t>目录管理的要求</a:t>
            </a:r>
          </a:p>
          <a:p>
            <a:pPr lvl="1"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实现“按名存取”。只提供文件名就可对文件进行操作。最基本功能，最基本服务。</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提高检索速度。合理地设计目录结构</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允许文件同名。便于用户按照自己的习惯来命名和使用文件，文件系统可以通过不同工作目录来加以解决。</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允许文件共享。在多用户系统中，应该允许多个用户共享一个文件，这样就可以节省文件的存储空间，也可以方便用户共享文件资源。需要相应的安全措施</a:t>
            </a:r>
          </a:p>
          <a:p>
            <a:pPr eaLnBrk="1" hangingPunct="1"/>
            <a:r>
              <a:rPr lang="zh-CN" altLang="en-US" sz="2000" b="1" dirty="0">
                <a:solidFill>
                  <a:srgbClr val="FF0000"/>
                </a:solidFill>
                <a:latin typeface="微软雅黑" panose="020B0503020204020204" pitchFamily="34" charset="-122"/>
                <a:ea typeface="微软雅黑" panose="020B0503020204020204" pitchFamily="34" charset="-122"/>
                <a:sym typeface="+mn-ea"/>
              </a:rPr>
              <a:t>特点</a:t>
            </a:r>
            <a:r>
              <a:rPr lang="zh-CN" altLang="en-US" sz="2000" b="1" dirty="0">
                <a:solidFill>
                  <a:srgbClr val="11576A"/>
                </a:solidFill>
                <a:latin typeface="微软雅黑" panose="020B0503020204020204" pitchFamily="34" charset="-122"/>
                <a:ea typeface="微软雅黑" panose="020B0503020204020204" pitchFamily="34" charset="-122"/>
                <a:sym typeface="+mn-ea"/>
              </a:rPr>
              <a:t>：</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层次清楚，便于管理，有利于文件的保护</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解决了文件重名问题，只要在同一目录下的文件名不发生冲突</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查找搜索速度快，线性、散列、二分等算法</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eaLnBrk="1" hangingPunct="1"/>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a:sym typeface="+mn-ea"/>
              </a:rPr>
              <a:t>目录</a:t>
            </a:r>
            <a:r>
              <a:rPr lang="x-none" altLang="zh-CN">
                <a:sym typeface="+mn-ea"/>
              </a:rPr>
              <a:t>管理功能及特点</a:t>
            </a:r>
          </a:p>
          <a:p>
            <a:pPr lvl="0" algn="ctr">
              <a:spcBef>
                <a:spcPct val="0"/>
              </a:spcBef>
            </a:pP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文件系统种类</a:t>
            </a:r>
          </a:p>
        </p:txBody>
      </p:sp>
      <p:grpSp>
        <p:nvGrpSpPr>
          <p:cNvPr id="2" name="组合 1"/>
          <p:cNvGrpSpPr/>
          <p:nvPr/>
        </p:nvGrpSpPr>
        <p:grpSpPr>
          <a:xfrm>
            <a:off x="844893" y="1019164"/>
            <a:ext cx="4941553" cy="696462"/>
            <a:chOff x="844893" y="1019164"/>
            <a:chExt cx="4941553" cy="696462"/>
          </a:xfrm>
        </p:grpSpPr>
        <p:sp>
          <p:nvSpPr>
            <p:cNvPr id="9" name="内容占位符 2"/>
            <p:cNvSpPr txBox="1"/>
            <p:nvPr/>
          </p:nvSpPr>
          <p:spPr>
            <a:xfrm>
              <a:off x="1142976" y="1019164"/>
              <a:ext cx="185738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磁盘文件系统</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33" name="图片 32" descr="小点1.png"/>
            <p:cNvPicPr>
              <a:picLocks noChangeAspect="1"/>
            </p:cNvPicPr>
            <p:nvPr/>
          </p:nvPicPr>
          <p:blipFill>
            <a:blip r:embed="rId2" cstate="print"/>
            <a:stretch>
              <a:fillRect/>
            </a:stretch>
          </p:blipFill>
          <p:spPr>
            <a:xfrm>
              <a:off x="1262422" y="1462080"/>
              <a:ext cx="151066" cy="148997"/>
            </a:xfrm>
            <a:prstGeom prst="rect">
              <a:avLst/>
            </a:prstGeom>
            <a:effectLst/>
          </p:spPr>
        </p:pic>
        <p:sp>
          <p:nvSpPr>
            <p:cNvPr id="34" name="内容占位符 2"/>
            <p:cNvSpPr txBox="1"/>
            <p:nvPr/>
          </p:nvSpPr>
          <p:spPr>
            <a:xfrm>
              <a:off x="1394985" y="1357304"/>
              <a:ext cx="4391461"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文件存储在数据存储设备上</a:t>
              </a:r>
              <a:r>
                <a:rPr lang="en-US" altLang="zh-CN" dirty="0"/>
                <a:t>, </a:t>
              </a:r>
              <a:r>
                <a:rPr lang="zh-CN" altLang="en-US" dirty="0"/>
                <a:t>如磁盘</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3" name="组合 2"/>
          <p:cNvGrpSpPr/>
          <p:nvPr/>
        </p:nvGrpSpPr>
        <p:grpSpPr>
          <a:xfrm>
            <a:off x="1262422" y="1685466"/>
            <a:ext cx="4881214" cy="358322"/>
            <a:chOff x="1262422" y="1685466"/>
            <a:chExt cx="4881214" cy="358322"/>
          </a:xfrm>
        </p:grpSpPr>
        <p:pic>
          <p:nvPicPr>
            <p:cNvPr id="35" name="图片 34" descr="小点1.png"/>
            <p:cNvPicPr>
              <a:picLocks noChangeAspect="1"/>
            </p:cNvPicPr>
            <p:nvPr/>
          </p:nvPicPr>
          <p:blipFill>
            <a:blip r:embed="rId2" cstate="print"/>
            <a:stretch>
              <a:fillRect/>
            </a:stretch>
          </p:blipFill>
          <p:spPr>
            <a:xfrm>
              <a:off x="1262422" y="1790242"/>
              <a:ext cx="151066" cy="148997"/>
            </a:xfrm>
            <a:prstGeom prst="rect">
              <a:avLst/>
            </a:prstGeom>
            <a:effectLst/>
          </p:spPr>
        </p:pic>
        <p:sp>
          <p:nvSpPr>
            <p:cNvPr id="36" name="内容占位符 2"/>
            <p:cNvSpPr txBox="1"/>
            <p:nvPr/>
          </p:nvSpPr>
          <p:spPr>
            <a:xfrm>
              <a:off x="1394985" y="1685466"/>
              <a:ext cx="4748651"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例如</a:t>
              </a:r>
              <a:r>
                <a:rPr lang="en-US" altLang="zh-CN" dirty="0"/>
                <a:t>: FAT, NTFS, ext2/3, ISO9660,</a:t>
              </a:r>
              <a:r>
                <a:rPr lang="zh-CN" altLang="en-US" dirty="0"/>
                <a:t>等</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4" name="组合 3"/>
          <p:cNvGrpSpPr/>
          <p:nvPr/>
        </p:nvGrpSpPr>
        <p:grpSpPr>
          <a:xfrm>
            <a:off x="844893" y="1999114"/>
            <a:ext cx="5227305" cy="702130"/>
            <a:chOff x="844893" y="1999114"/>
            <a:chExt cx="5227305" cy="702130"/>
          </a:xfrm>
        </p:grpSpPr>
        <p:sp>
          <p:nvSpPr>
            <p:cNvPr id="25" name="内容占位符 2"/>
            <p:cNvSpPr txBox="1"/>
            <p:nvPr/>
          </p:nvSpPr>
          <p:spPr>
            <a:xfrm>
              <a:off x="1142976" y="1999114"/>
              <a:ext cx="214314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数据库文件系统</a:t>
              </a:r>
              <a:endPar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7" name="TextBox 26"/>
            <p:cNvSpPr txBox="1"/>
            <p:nvPr/>
          </p:nvSpPr>
          <p:spPr>
            <a:xfrm>
              <a:off x="844893" y="199911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28" name="图片 27" descr="小点1.png"/>
            <p:cNvPicPr>
              <a:picLocks noChangeAspect="1"/>
            </p:cNvPicPr>
            <p:nvPr/>
          </p:nvPicPr>
          <p:blipFill>
            <a:blip r:embed="rId2" cstate="print"/>
            <a:stretch>
              <a:fillRect/>
            </a:stretch>
          </p:blipFill>
          <p:spPr>
            <a:xfrm>
              <a:off x="1262422" y="2440898"/>
              <a:ext cx="151066" cy="148997"/>
            </a:xfrm>
            <a:prstGeom prst="rect">
              <a:avLst/>
            </a:prstGeom>
            <a:effectLst/>
          </p:spPr>
        </p:pic>
        <p:sp>
          <p:nvSpPr>
            <p:cNvPr id="31" name="内容占位符 2"/>
            <p:cNvSpPr txBox="1"/>
            <p:nvPr/>
          </p:nvSpPr>
          <p:spPr>
            <a:xfrm>
              <a:off x="1394985" y="2336122"/>
              <a:ext cx="4677213" cy="3651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文件特征是可被寻址（辨识）的</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5" name="组合 4"/>
          <p:cNvGrpSpPr/>
          <p:nvPr/>
        </p:nvGrpSpPr>
        <p:grpSpPr>
          <a:xfrm>
            <a:off x="1262422" y="2640251"/>
            <a:ext cx="1880818" cy="365122"/>
            <a:chOff x="1262422" y="2640251"/>
            <a:chExt cx="1880818" cy="365122"/>
          </a:xfrm>
        </p:grpSpPr>
        <p:pic>
          <p:nvPicPr>
            <p:cNvPr id="50" name="图片 49" descr="小点1.png"/>
            <p:cNvPicPr>
              <a:picLocks noChangeAspect="1"/>
            </p:cNvPicPr>
            <p:nvPr/>
          </p:nvPicPr>
          <p:blipFill>
            <a:blip r:embed="rId2" cstate="print"/>
            <a:stretch>
              <a:fillRect/>
            </a:stretch>
          </p:blipFill>
          <p:spPr>
            <a:xfrm>
              <a:off x="1262422" y="2745027"/>
              <a:ext cx="151066" cy="148997"/>
            </a:xfrm>
            <a:prstGeom prst="rect">
              <a:avLst/>
            </a:prstGeom>
            <a:effectLst/>
          </p:spPr>
        </p:pic>
        <p:sp>
          <p:nvSpPr>
            <p:cNvPr id="51" name="内容占位符 2"/>
            <p:cNvSpPr txBox="1"/>
            <p:nvPr/>
          </p:nvSpPr>
          <p:spPr>
            <a:xfrm>
              <a:off x="1394985" y="2640251"/>
              <a:ext cx="1748255" cy="3651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dirty="0"/>
                <a:t>例如</a:t>
              </a:r>
              <a:r>
                <a:rPr lang="en-US" altLang="zh-CN" dirty="0"/>
                <a:t>: </a:t>
              </a:r>
              <a:r>
                <a:rPr lang="en-US" altLang="zh-CN" dirty="0" err="1"/>
                <a:t>WinFS</a:t>
              </a:r>
              <a:endParaRPr lang="en-US" altLang="zh-CN" dirty="0"/>
            </a:p>
          </p:txBody>
        </p:sp>
      </p:grpSp>
      <p:grpSp>
        <p:nvGrpSpPr>
          <p:cNvPr id="6" name="组合 5"/>
          <p:cNvGrpSpPr/>
          <p:nvPr/>
        </p:nvGrpSpPr>
        <p:grpSpPr>
          <a:xfrm>
            <a:off x="844893" y="2989714"/>
            <a:ext cx="3869983" cy="702130"/>
            <a:chOff x="844893" y="2989714"/>
            <a:chExt cx="3869983" cy="702130"/>
          </a:xfrm>
        </p:grpSpPr>
        <p:sp>
          <p:nvSpPr>
            <p:cNvPr id="37" name="内容占位符 2"/>
            <p:cNvSpPr txBox="1"/>
            <p:nvPr/>
          </p:nvSpPr>
          <p:spPr>
            <a:xfrm>
              <a:off x="1142976" y="2989714"/>
              <a:ext cx="214314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日志文件系统</a:t>
              </a:r>
              <a:endParaRPr kumimoji="0" lang="zh-CN" altLang="en-US"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38" name="TextBox 37"/>
            <p:cNvSpPr txBox="1"/>
            <p:nvPr/>
          </p:nvSpPr>
          <p:spPr>
            <a:xfrm>
              <a:off x="844893" y="298971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43" name="图片 42" descr="小点1.png"/>
            <p:cNvPicPr>
              <a:picLocks noChangeAspect="1"/>
            </p:cNvPicPr>
            <p:nvPr/>
          </p:nvPicPr>
          <p:blipFill>
            <a:blip r:embed="rId2" cstate="print"/>
            <a:stretch>
              <a:fillRect/>
            </a:stretch>
          </p:blipFill>
          <p:spPr>
            <a:xfrm>
              <a:off x="1262422" y="3431498"/>
              <a:ext cx="151066" cy="148997"/>
            </a:xfrm>
            <a:prstGeom prst="rect">
              <a:avLst/>
            </a:prstGeom>
            <a:effectLst/>
          </p:spPr>
        </p:pic>
        <p:sp>
          <p:nvSpPr>
            <p:cNvPr id="44" name="内容占位符 2"/>
            <p:cNvSpPr txBox="1"/>
            <p:nvPr/>
          </p:nvSpPr>
          <p:spPr>
            <a:xfrm>
              <a:off x="1394985" y="3326722"/>
              <a:ext cx="3319891" cy="3651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记录文件系统的修改</a:t>
              </a:r>
              <a:r>
                <a:rPr lang="en-US" altLang="zh-CN" dirty="0"/>
                <a:t>/</a:t>
              </a:r>
              <a:r>
                <a:rPr lang="zh-CN" altLang="en-US" dirty="0"/>
                <a:t>事件</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7" name="组合 6"/>
          <p:cNvGrpSpPr/>
          <p:nvPr/>
        </p:nvGrpSpPr>
        <p:grpSpPr>
          <a:xfrm>
            <a:off x="844893" y="3619960"/>
            <a:ext cx="4012859" cy="702130"/>
            <a:chOff x="844893" y="3619960"/>
            <a:chExt cx="4012859" cy="702130"/>
          </a:xfrm>
        </p:grpSpPr>
        <p:sp>
          <p:nvSpPr>
            <p:cNvPr id="47" name="内容占位符 2"/>
            <p:cNvSpPr txBox="1"/>
            <p:nvPr/>
          </p:nvSpPr>
          <p:spPr>
            <a:xfrm>
              <a:off x="1142976" y="3619960"/>
              <a:ext cx="292895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网络</a:t>
              </a:r>
              <a:r>
                <a:rPr lang="en-US" altLang="zh-CN" dirty="0"/>
                <a:t>/</a:t>
              </a:r>
              <a:r>
                <a:rPr lang="zh-CN" altLang="en-US" dirty="0"/>
                <a:t>分布式文件系统</a:t>
              </a:r>
              <a:endParaRPr kumimoji="0" lang="zh-CN" altLang="en-US"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48" name="TextBox 47"/>
            <p:cNvSpPr txBox="1"/>
            <p:nvPr/>
          </p:nvSpPr>
          <p:spPr>
            <a:xfrm>
              <a:off x="844893" y="361996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49" name="图片 48" descr="小点1.png"/>
            <p:cNvPicPr>
              <a:picLocks noChangeAspect="1"/>
            </p:cNvPicPr>
            <p:nvPr/>
          </p:nvPicPr>
          <p:blipFill>
            <a:blip r:embed="rId2" cstate="print"/>
            <a:stretch>
              <a:fillRect/>
            </a:stretch>
          </p:blipFill>
          <p:spPr>
            <a:xfrm>
              <a:off x="1262422" y="4061744"/>
              <a:ext cx="151066" cy="148997"/>
            </a:xfrm>
            <a:prstGeom prst="rect">
              <a:avLst/>
            </a:prstGeom>
            <a:effectLst/>
          </p:spPr>
        </p:pic>
        <p:sp>
          <p:nvSpPr>
            <p:cNvPr id="52" name="内容占位符 2"/>
            <p:cNvSpPr txBox="1"/>
            <p:nvPr/>
          </p:nvSpPr>
          <p:spPr>
            <a:xfrm>
              <a:off x="1394985" y="3956968"/>
              <a:ext cx="3462767" cy="3651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dirty="0"/>
                <a:t>例如</a:t>
              </a:r>
              <a:r>
                <a:rPr lang="en-US" altLang="zh-CN" dirty="0"/>
                <a:t>: NFS, SMB, AFS, GFS</a:t>
              </a:r>
            </a:p>
          </p:txBody>
        </p:sp>
      </p:grpSp>
      <p:grpSp>
        <p:nvGrpSpPr>
          <p:cNvPr id="10" name="组合 9"/>
          <p:cNvGrpSpPr/>
          <p:nvPr/>
        </p:nvGrpSpPr>
        <p:grpSpPr>
          <a:xfrm>
            <a:off x="844893" y="4287394"/>
            <a:ext cx="2798413" cy="428628"/>
            <a:chOff x="844893" y="4287394"/>
            <a:chExt cx="2798413" cy="428628"/>
          </a:xfrm>
        </p:grpSpPr>
        <p:sp>
          <p:nvSpPr>
            <p:cNvPr id="53" name="内容占位符 2"/>
            <p:cNvSpPr txBox="1"/>
            <p:nvPr/>
          </p:nvSpPr>
          <p:spPr>
            <a:xfrm>
              <a:off x="1142976" y="4287394"/>
              <a:ext cx="250033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特殊</a:t>
              </a:r>
              <a:r>
                <a:rPr lang="en-US" altLang="zh-CN" dirty="0"/>
                <a:t>/</a:t>
              </a:r>
              <a:r>
                <a:rPr lang="zh-CN" altLang="en-US" dirty="0"/>
                <a:t>虚拟文件系统</a:t>
              </a:r>
              <a:endParaRPr kumimoji="0" lang="zh-CN" altLang="en-US"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54" name="TextBox 53"/>
            <p:cNvSpPr txBox="1"/>
            <p:nvPr/>
          </p:nvSpPr>
          <p:spPr>
            <a:xfrm>
              <a:off x="844893" y="428739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noChangeArrowheads="1"/>
          </p:cNvSpPr>
          <p:nvPr/>
        </p:nvSpPr>
        <p:spPr bwMode="auto">
          <a:xfrm>
            <a:off x="3755856" y="189267"/>
            <a:ext cx="1928808" cy="553998"/>
          </a:xfrm>
          <a:prstGeom prst="rect">
            <a:avLst/>
          </a:prstGeom>
          <a:noFill/>
          <a:ln w="9525">
            <a:noFill/>
            <a:miter lim="800000"/>
          </a:ln>
        </p:spPr>
        <p:txBody>
          <a:bodyPr wrap="square">
            <a:spAutoFit/>
          </a:bodyPr>
          <a:lstStyle/>
          <a:p>
            <a:r>
              <a:rPr lang="x-none" altLang="zh-CN" sz="3000" b="1" dirty="0">
                <a:solidFill>
                  <a:srgbClr val="11576A"/>
                </a:solidFill>
                <a:latin typeface="微软雅黑" panose="020B0503020204020204" pitchFamily="34" charset="-122"/>
                <a:ea typeface="微软雅黑" panose="020B0503020204020204" pitchFamily="34" charset="-122"/>
              </a:rPr>
              <a:t>主要内容</a:t>
            </a:r>
          </a:p>
        </p:txBody>
      </p:sp>
      <p:grpSp>
        <p:nvGrpSpPr>
          <p:cNvPr id="4" name="组合 1"/>
          <p:cNvGrpSpPr/>
          <p:nvPr/>
        </p:nvGrpSpPr>
        <p:grpSpPr>
          <a:xfrm>
            <a:off x="549284" y="1072186"/>
            <a:ext cx="8566529" cy="415290"/>
            <a:chOff x="520709" y="928676"/>
            <a:chExt cx="8566529" cy="415290"/>
          </a:xfrm>
        </p:grpSpPr>
        <p:sp>
          <p:nvSpPr>
            <p:cNvPr id="37"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7.1 文件和文件系统</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60"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5" name="组合 3"/>
          <p:cNvGrpSpPr/>
          <p:nvPr/>
        </p:nvGrpSpPr>
        <p:grpSpPr>
          <a:xfrm>
            <a:off x="549284" y="1449606"/>
            <a:ext cx="8568952" cy="415290"/>
            <a:chOff x="520709" y="2802785"/>
            <a:chExt cx="8568952" cy="415290"/>
          </a:xfrm>
        </p:grpSpPr>
        <p:sp>
          <p:nvSpPr>
            <p:cNvPr id="4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7.2 文件的逻辑结构与存取方法</a:t>
              </a:r>
              <a:endParaRPr lang="x-none" altLang="zh-CN" dirty="0"/>
            </a:p>
          </p:txBody>
        </p:sp>
        <p:sp>
          <p:nvSpPr>
            <p:cNvPr id="61"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3" name="组合 1"/>
          <p:cNvGrpSpPr/>
          <p:nvPr/>
        </p:nvGrpSpPr>
        <p:grpSpPr>
          <a:xfrm>
            <a:off x="549284" y="1851331"/>
            <a:ext cx="8566529" cy="415290"/>
            <a:chOff x="520709" y="928676"/>
            <a:chExt cx="8566529" cy="415290"/>
          </a:xfrm>
        </p:grpSpPr>
        <p:sp>
          <p:nvSpPr>
            <p:cNvPr id="14"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7.3 文件的物理结构与存储设备</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15"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6" name="组合 3"/>
          <p:cNvGrpSpPr/>
          <p:nvPr/>
        </p:nvGrpSpPr>
        <p:grpSpPr>
          <a:xfrm>
            <a:off x="549284" y="2221717"/>
            <a:ext cx="8568952" cy="415290"/>
            <a:chOff x="520709" y="2802785"/>
            <a:chExt cx="8568952" cy="415290"/>
          </a:xfrm>
        </p:grpSpPr>
        <p:sp>
          <p:nvSpPr>
            <p:cNvPr id="17"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7.4 文件存储空间管理</a:t>
              </a:r>
              <a:endParaRPr lang="x-none" altLang="zh-CN" dirty="0"/>
            </a:p>
          </p:txBody>
        </p:sp>
        <p:sp>
          <p:nvSpPr>
            <p:cNvPr id="18"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9" name="组合 1"/>
          <p:cNvGrpSpPr/>
          <p:nvPr/>
        </p:nvGrpSpPr>
        <p:grpSpPr>
          <a:xfrm>
            <a:off x="549284" y="2643811"/>
            <a:ext cx="8566529" cy="415290"/>
            <a:chOff x="520709" y="928676"/>
            <a:chExt cx="8566529" cy="415290"/>
          </a:xfrm>
        </p:grpSpPr>
        <p:sp>
          <p:nvSpPr>
            <p:cNvPr id="20"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7.5 文件目录 </a:t>
              </a:r>
            </a:p>
          </p:txBody>
        </p:sp>
        <p:sp>
          <p:nvSpPr>
            <p:cNvPr id="21"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22" name="组合 3"/>
          <p:cNvGrpSpPr/>
          <p:nvPr/>
        </p:nvGrpSpPr>
        <p:grpSpPr>
          <a:xfrm>
            <a:off x="549284" y="3014197"/>
            <a:ext cx="8568952" cy="415290"/>
            <a:chOff x="520709" y="2802785"/>
            <a:chExt cx="8568952" cy="415290"/>
          </a:xfrm>
        </p:grpSpPr>
        <p:sp>
          <p:nvSpPr>
            <p:cNvPr id="23"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7.6 文件共享与保护</a:t>
              </a:r>
              <a:endParaRPr lang="x-none" altLang="zh-CN" dirty="0"/>
            </a:p>
          </p:txBody>
        </p:sp>
        <p:sp>
          <p:nvSpPr>
            <p:cNvPr id="24"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7" name="组合 3"/>
          <p:cNvGrpSpPr/>
          <p:nvPr/>
        </p:nvGrpSpPr>
        <p:grpSpPr>
          <a:xfrm>
            <a:off x="546109" y="3429487"/>
            <a:ext cx="8568952" cy="415290"/>
            <a:chOff x="520709" y="2802785"/>
            <a:chExt cx="8568952" cy="415290"/>
          </a:xfrm>
        </p:grpSpPr>
        <p:sp>
          <p:nvSpPr>
            <p:cNvPr id="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7.7 文件的使用</a:t>
              </a:r>
              <a:endParaRPr lang="x-none" altLang="zh-CN" dirty="0"/>
            </a:p>
          </p:txBody>
        </p:sp>
        <p:sp>
          <p:nvSpPr>
            <p:cNvPr id="10"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1" name="组合 3"/>
          <p:cNvGrpSpPr/>
          <p:nvPr/>
        </p:nvGrpSpPr>
        <p:grpSpPr>
          <a:xfrm>
            <a:off x="540394" y="3867002"/>
            <a:ext cx="8568952" cy="415290"/>
            <a:chOff x="520709" y="2802785"/>
            <a:chExt cx="8568952" cy="415290"/>
          </a:xfrm>
        </p:grpSpPr>
        <p:sp>
          <p:nvSpPr>
            <p:cNvPr id="12"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7.8 文件系统与层次模型</a:t>
              </a:r>
              <a:endParaRPr lang="x-none" altLang="zh-CN" dirty="0"/>
            </a:p>
          </p:txBody>
        </p:sp>
        <p:sp>
          <p:nvSpPr>
            <p:cNvPr id="25"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spTree>
    <p:extLst>
      <p:ext uri="{BB962C8B-B14F-4D97-AF65-F5344CB8AC3E}">
        <p14:creationId xmlns:p14="http://schemas.microsoft.com/office/powerpoint/2010/main" val="223697847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2" presetID="22" presetClass="entr" presetSubtype="8"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8"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ctrTitle"/>
          </p:nvPr>
        </p:nvSpPr>
        <p:spPr>
          <a:xfrm>
            <a:off x="971550" y="1924050"/>
            <a:ext cx="7113588" cy="928688"/>
          </a:xfrm>
          <a:ln w="9525">
            <a:noFill/>
            <a:miter/>
          </a:ln>
        </p:spPr>
        <p:txBody>
          <a:bodyPr wrap="square" lIns="91440" tIns="45720" rIns="91440" bIns="45720" anchor="b"/>
          <a:lstStyle/>
          <a:p>
            <a:pPr defTabSz="457200" eaLnBrk="1" hangingPunct="1"/>
            <a:r>
              <a:rPr lang="x-none" altLang="zh-CN" sz="4000" b="1" kern="1200" dirty="0">
                <a:solidFill>
                  <a:srgbClr val="11576A"/>
                </a:solidFill>
                <a:latin typeface="微软雅黑" panose="020B0503020204020204" pitchFamily="34" charset="-122"/>
                <a:ea typeface="微软雅黑" panose="020B0503020204020204" pitchFamily="34" charset="-122"/>
                <a:cs typeface="+mj-cs"/>
              </a:rPr>
              <a:t>7.6</a:t>
            </a:r>
            <a:r>
              <a:rPr lang="zh-CN" altLang="en-US" sz="4000" b="1" kern="1200" dirty="0">
                <a:solidFill>
                  <a:srgbClr val="11576A"/>
                </a:solidFill>
                <a:latin typeface="微软雅黑" panose="020B0503020204020204" pitchFamily="34" charset="-122"/>
                <a:ea typeface="微软雅黑" panose="020B0503020204020204" pitchFamily="34" charset="-122"/>
                <a:cs typeface="+mj-cs"/>
              </a:rPr>
              <a:t> </a:t>
            </a:r>
            <a:r>
              <a:rPr lang="x-none" altLang="zh-CN" sz="4000" b="1" kern="1200" dirty="0">
                <a:solidFill>
                  <a:srgbClr val="11576A"/>
                </a:solidFill>
                <a:latin typeface="微软雅黑" panose="020B0503020204020204" pitchFamily="34" charset="-122"/>
                <a:ea typeface="微软雅黑" panose="020B0503020204020204" pitchFamily="34" charset="-122"/>
                <a:cs typeface="+mj-cs"/>
              </a:rPr>
              <a:t>文件共享与保护</a:t>
            </a:r>
          </a:p>
        </p:txBody>
      </p:sp>
    </p:spTree>
  </p:cSld>
  <p:clrMapOvr>
    <a:masterClrMapping/>
  </p:clrMapOvr>
  <p:transition>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文件共享和访问控制</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grpSp>
        <p:nvGrpSpPr>
          <p:cNvPr id="2" name="组合 1"/>
          <p:cNvGrpSpPr/>
          <p:nvPr/>
        </p:nvGrpSpPr>
        <p:grpSpPr>
          <a:xfrm>
            <a:off x="844893" y="915566"/>
            <a:ext cx="4655801" cy="428628"/>
            <a:chOff x="844893" y="915566"/>
            <a:chExt cx="4655801" cy="428628"/>
          </a:xfrm>
        </p:grpSpPr>
        <p:sp>
          <p:nvSpPr>
            <p:cNvPr id="9" name="内容占位符 2"/>
            <p:cNvSpPr txBox="1"/>
            <p:nvPr/>
          </p:nvSpPr>
          <p:spPr>
            <a:xfrm>
              <a:off x="1142976" y="915566"/>
              <a:ext cx="435771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solidFill>
                    <a:srgbClr val="C00000"/>
                  </a:solidFill>
                </a:rPr>
                <a:t>多用户系统</a:t>
              </a:r>
              <a:r>
                <a:rPr lang="zh-CN" altLang="en-US" dirty="0"/>
                <a:t>中的文件共享是很必要的</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sp>
          <p:nvSpPr>
            <p:cNvPr id="12" name="TextBox 11"/>
            <p:cNvSpPr txBox="1"/>
            <p:nvPr/>
          </p:nvSpPr>
          <p:spPr>
            <a:xfrm>
              <a:off x="844893" y="91556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844893" y="1252574"/>
            <a:ext cx="1655405" cy="428628"/>
            <a:chOff x="844893" y="1252574"/>
            <a:chExt cx="1655405" cy="428628"/>
          </a:xfrm>
        </p:grpSpPr>
        <p:sp>
          <p:nvSpPr>
            <p:cNvPr id="21" name="内容占位符 2"/>
            <p:cNvSpPr txBox="1"/>
            <p:nvPr/>
          </p:nvSpPr>
          <p:spPr>
            <a:xfrm>
              <a:off x="1142976" y="1252574"/>
              <a:ext cx="135732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rPr>
                <a:t>访问控制</a:t>
              </a:r>
            </a:p>
          </p:txBody>
        </p:sp>
        <p:sp>
          <p:nvSpPr>
            <p:cNvPr id="32" name="TextBox 31"/>
            <p:cNvSpPr txBox="1"/>
            <p:nvPr/>
          </p:nvSpPr>
          <p:spPr>
            <a:xfrm>
              <a:off x="844893" y="125257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1262422" y="1589582"/>
            <a:ext cx="5829858" cy="358322"/>
            <a:chOff x="1262422" y="1589582"/>
            <a:chExt cx="5829858" cy="358322"/>
          </a:xfrm>
        </p:grpSpPr>
        <p:pic>
          <p:nvPicPr>
            <p:cNvPr id="33" name="图片 32" descr="小点1.png"/>
            <p:cNvPicPr>
              <a:picLocks noChangeAspect="1"/>
            </p:cNvPicPr>
            <p:nvPr/>
          </p:nvPicPr>
          <p:blipFill>
            <a:blip r:embed="rId3" cstate="print"/>
            <a:stretch>
              <a:fillRect/>
            </a:stretch>
          </p:blipFill>
          <p:spPr>
            <a:xfrm>
              <a:off x="1262422" y="1694358"/>
              <a:ext cx="151066" cy="148997"/>
            </a:xfrm>
            <a:prstGeom prst="rect">
              <a:avLst/>
            </a:prstGeom>
            <a:effectLst/>
          </p:spPr>
        </p:pic>
        <p:sp>
          <p:nvSpPr>
            <p:cNvPr id="34" name="内容占位符 2"/>
            <p:cNvSpPr txBox="1"/>
            <p:nvPr/>
          </p:nvSpPr>
          <p:spPr>
            <a:xfrm>
              <a:off x="1394985" y="1589582"/>
              <a:ext cx="5697295"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每个用户能够获得哪些文件的哪些访问权限</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5" name="组合 4"/>
          <p:cNvGrpSpPr/>
          <p:nvPr/>
        </p:nvGrpSpPr>
        <p:grpSpPr>
          <a:xfrm>
            <a:off x="1262422" y="1917744"/>
            <a:ext cx="5166966" cy="358322"/>
            <a:chOff x="1262422" y="1917744"/>
            <a:chExt cx="5166966" cy="358322"/>
          </a:xfrm>
        </p:grpSpPr>
        <p:pic>
          <p:nvPicPr>
            <p:cNvPr id="35" name="图片 34" descr="小点1.png"/>
            <p:cNvPicPr>
              <a:picLocks noChangeAspect="1"/>
            </p:cNvPicPr>
            <p:nvPr/>
          </p:nvPicPr>
          <p:blipFill>
            <a:blip r:embed="rId3" cstate="print"/>
            <a:stretch>
              <a:fillRect/>
            </a:stretch>
          </p:blipFill>
          <p:spPr>
            <a:xfrm>
              <a:off x="1262422" y="2022520"/>
              <a:ext cx="151066" cy="148997"/>
            </a:xfrm>
            <a:prstGeom prst="rect">
              <a:avLst/>
            </a:prstGeom>
            <a:effectLst/>
          </p:spPr>
        </p:pic>
        <p:sp>
          <p:nvSpPr>
            <p:cNvPr id="36" name="内容占位符 2"/>
            <p:cNvSpPr txBox="1"/>
            <p:nvPr/>
          </p:nvSpPr>
          <p:spPr>
            <a:xfrm>
              <a:off x="1394985" y="1917744"/>
              <a:ext cx="5034403" cy="3583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访问模式</a:t>
              </a:r>
              <a:r>
                <a:rPr lang="en-US" altLang="zh-CN" dirty="0"/>
                <a:t>: </a:t>
              </a:r>
              <a:r>
                <a:rPr lang="zh-CN" altLang="en-US" dirty="0"/>
                <a:t>读、写、执行、删除、列表等</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grpSp>
        <p:nvGrpSpPr>
          <p:cNvPr id="6" name="组合 5"/>
          <p:cNvGrpSpPr/>
          <p:nvPr/>
        </p:nvGrpSpPr>
        <p:grpSpPr>
          <a:xfrm>
            <a:off x="844893" y="2224810"/>
            <a:ext cx="3227041" cy="428628"/>
            <a:chOff x="844893" y="2224810"/>
            <a:chExt cx="3227041" cy="428628"/>
          </a:xfrm>
        </p:grpSpPr>
        <p:sp>
          <p:nvSpPr>
            <p:cNvPr id="37" name="内容占位符 2"/>
            <p:cNvSpPr txBox="1"/>
            <p:nvPr/>
          </p:nvSpPr>
          <p:spPr>
            <a:xfrm>
              <a:off x="1142976" y="2224810"/>
              <a:ext cx="292895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0" indent="0">
                <a:spcBef>
                  <a:spcPct val="20000"/>
                </a:spcBef>
              </a:pPr>
              <a:r>
                <a:rPr lang="zh-CN" altLang="en-US" dirty="0"/>
                <a:t>文件访问控制列表</a:t>
              </a:r>
              <a:r>
                <a:rPr lang="en-US" altLang="zh-CN" dirty="0"/>
                <a:t>(ACL)</a:t>
              </a:r>
              <a:endPar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8" name="TextBox 37"/>
            <p:cNvSpPr txBox="1"/>
            <p:nvPr/>
          </p:nvSpPr>
          <p:spPr>
            <a:xfrm>
              <a:off x="844893" y="222481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1262422" y="2561818"/>
            <a:ext cx="2452322" cy="365122"/>
            <a:chOff x="1262422" y="2561818"/>
            <a:chExt cx="2452322" cy="365122"/>
          </a:xfrm>
        </p:grpSpPr>
        <p:pic>
          <p:nvPicPr>
            <p:cNvPr id="39" name="图片 38" descr="小点1.png"/>
            <p:cNvPicPr>
              <a:picLocks noChangeAspect="1"/>
            </p:cNvPicPr>
            <p:nvPr/>
          </p:nvPicPr>
          <p:blipFill>
            <a:blip r:embed="rId3" cstate="print"/>
            <a:stretch>
              <a:fillRect/>
            </a:stretch>
          </p:blipFill>
          <p:spPr>
            <a:xfrm>
              <a:off x="1262422" y="2666594"/>
              <a:ext cx="151066" cy="148997"/>
            </a:xfrm>
            <a:prstGeom prst="rect">
              <a:avLst/>
            </a:prstGeom>
            <a:effectLst/>
          </p:spPr>
        </p:pic>
        <p:sp>
          <p:nvSpPr>
            <p:cNvPr id="40" name="内容占位符 2"/>
            <p:cNvSpPr txBox="1"/>
            <p:nvPr/>
          </p:nvSpPr>
          <p:spPr>
            <a:xfrm>
              <a:off x="1394985" y="2561818"/>
              <a:ext cx="2319759" cy="3651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en-US" altLang="zh-CN" dirty="0"/>
                <a:t>&lt;</a:t>
              </a:r>
              <a:r>
                <a:rPr lang="zh-CN" altLang="en-US" dirty="0"/>
                <a:t>文件实体</a:t>
              </a:r>
              <a:r>
                <a:rPr lang="en-US" altLang="zh-CN" dirty="0"/>
                <a:t>, </a:t>
              </a:r>
              <a:r>
                <a:rPr lang="zh-CN" altLang="en-US" dirty="0"/>
                <a:t>权限</a:t>
              </a:r>
              <a:r>
                <a:rPr lang="en-US" altLang="zh-CN" dirty="0"/>
                <a:t>&gt;</a:t>
              </a:r>
              <a:endParaRPr kumimoji="0" lang="zh-CN" altLang="en-US"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751840" y="906145"/>
            <a:ext cx="7633335" cy="3139321"/>
          </a:xfrm>
          <a:prstGeom prst="rect">
            <a:avLst/>
          </a:prstGeom>
          <a:noFill/>
        </p:spPr>
        <p:txBody>
          <a:bodyPr wrap="square" rtlCol="0" anchor="t">
            <a:spAutoFit/>
          </a:bodyPr>
          <a:lstStyle/>
          <a:p>
            <a:pPr eaLnBrk="1" hangingPunct="1"/>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sym typeface="+mn-ea"/>
              </a:rPr>
              <a:t>便于共享的文件目录</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sym typeface="+mn-ea"/>
              </a:rPr>
              <a:t>文件系统的一个重要任务就是为用户提供共享文件信息的手段</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对于某一个公用文件，如果每个用户都在文件系统内保留了一份该文件的副本，将浪费存储空间，如果系统提供了共享，则在存储设备上只需存储一个文件副本</a:t>
            </a:r>
          </a:p>
          <a:p>
            <a:pPr eaLnBrk="1" hangingPunct="1"/>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sym typeface="+mn-ea"/>
              </a:rPr>
              <a:t>任务</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如何实现文件共享；</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eaLnBrk="1" hangingPunct="1"/>
            <a:r>
              <a:rPr lang="zh-CN" altLang="en-US" sz="2000" b="1" dirty="0">
                <a:solidFill>
                  <a:srgbClr val="11576A"/>
                </a:solidFill>
                <a:latin typeface="微软雅黑" panose="020B0503020204020204" pitchFamily="34" charset="-122"/>
                <a:ea typeface="微软雅黑" panose="020B0503020204020204" pitchFamily="34" charset="-122"/>
                <a:sym typeface="+mn-ea"/>
              </a:rPr>
              <a:t>对各类需共享文件的用户如何进行存取控制，以保护文件的使用安全。</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endParaRPr lang="en-US" dirty="0"/>
          </a:p>
        </p:txBody>
      </p:sp>
      <p:sp>
        <p:nvSpPr>
          <p:cNvPr id="3" name="Text Box 2"/>
          <p:cNvSpPr txBox="1"/>
          <p:nvPr/>
        </p:nvSpPr>
        <p:spPr>
          <a:xfrm>
            <a:off x="3680460" y="2379345"/>
            <a:ext cx="309880" cy="365760"/>
          </a:xfrm>
          <a:prstGeom prst="rect">
            <a:avLst/>
          </a:prstGeom>
          <a:noFill/>
        </p:spPr>
        <p:txBody>
          <a:bodyPr wrap="none" rtlCol="0" anchor="t">
            <a:spAutoFit/>
          </a:bodyPr>
          <a:lstStyle/>
          <a:p>
            <a:pPr eaLnBrk="1" hangingPunct="1"/>
            <a:endParaRPr lang="en-US"/>
          </a:p>
        </p:txBody>
      </p:sp>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a:sym typeface="+mn-ea"/>
              </a:rPr>
              <a:t>文件共享</a:t>
            </a:r>
            <a:endParaRPr lang="en-US"/>
          </a:p>
          <a:p>
            <a:pPr lvl="0" algn="ctr">
              <a:spcBef>
                <a:spcPct val="0"/>
              </a:spcBef>
            </a:pP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3"/>
          <p:cNvSpPr>
            <a:spLocks noGrp="1"/>
          </p:cNvSpPr>
          <p:nvPr>
            <p:ph idx="1"/>
          </p:nvPr>
        </p:nvSpPr>
        <p:spPr>
          <a:xfrm>
            <a:off x="596265" y="762635"/>
            <a:ext cx="8173085" cy="4183380"/>
          </a:xfrm>
        </p:spPr>
        <p:txBody>
          <a:bodyPr wrap="square" lIns="68580" tIns="34290" rIns="68580" bIns="34290" anchor="t"/>
          <a:lstStyle/>
          <a:p>
            <a:pPr marL="0" indent="0" eaLnBrk="1" hangingPunct="1">
              <a:buNone/>
            </a:pPr>
            <a:r>
              <a:rPr lang="zh-CN" altLang="en-US" sz="1800" b="1" dirty="0">
                <a:solidFill>
                  <a:srgbClr val="11576A"/>
                </a:solidFill>
                <a:latin typeface="微软雅黑" panose="020B0503020204020204" pitchFamily="34" charset="-122"/>
                <a:ea typeface="微软雅黑" panose="020B0503020204020204" pitchFamily="34" charset="-122"/>
              </a:rPr>
              <a:t>把所有文件目录的内容分成两部分</a:t>
            </a:r>
          </a:p>
          <a:p>
            <a:pPr marL="0" indent="0" eaLnBrk="1" hangingPunct="1">
              <a:buNone/>
            </a:pPr>
            <a:r>
              <a:rPr lang="zh-CN" altLang="en-US" sz="18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1800" b="1" dirty="0">
                <a:solidFill>
                  <a:srgbClr val="FF0000"/>
                </a:solidFill>
                <a:latin typeface="微软雅黑" panose="020B0503020204020204" pitchFamily="34" charset="-122"/>
                <a:ea typeface="微软雅黑" panose="020B0503020204020204" pitchFamily="34" charset="-122"/>
              </a:rPr>
              <a:t>基本文件目录表BFD</a:t>
            </a:r>
            <a:r>
              <a:rPr lang="zh-CN" altLang="en-US" sz="1800" b="1" dirty="0">
                <a:solidFill>
                  <a:srgbClr val="11576A"/>
                </a:solidFill>
                <a:latin typeface="微软雅黑" panose="020B0503020204020204" pitchFamily="34" charset="-122"/>
                <a:ea typeface="微软雅黑" panose="020B0503020204020204" pitchFamily="34" charset="-122"/>
              </a:rPr>
              <a:t>－ 文件的结构信息、物理块号、存取控制和管理信息等，并</a:t>
            </a:r>
            <a:r>
              <a:rPr lang="x-none" altLang="zh-CN" sz="1800" b="1" dirty="0">
                <a:solidFill>
                  <a:srgbClr val="11576A"/>
                </a:solidFill>
                <a:latin typeface="微软雅黑" panose="020B0503020204020204" pitchFamily="34" charset="-122"/>
                <a:ea typeface="微软雅黑" panose="020B0503020204020204" pitchFamily="34" charset="-122"/>
              </a:rPr>
              <a:t>由</a:t>
            </a:r>
            <a:r>
              <a:rPr lang="zh-CN" altLang="en-US" sz="1800" b="1" dirty="0">
                <a:solidFill>
                  <a:srgbClr val="11576A"/>
                </a:solidFill>
                <a:latin typeface="微软雅黑" panose="020B0503020204020204" pitchFamily="34" charset="-122"/>
                <a:ea typeface="微软雅黑" panose="020B0503020204020204" pitchFamily="34" charset="-122"/>
              </a:rPr>
              <a:t>系统赋予唯一的内部标识来标识</a:t>
            </a:r>
          </a:p>
          <a:p>
            <a:pPr marL="0" indent="0" eaLnBrk="1" hangingPunct="1">
              <a:buNone/>
            </a:pPr>
            <a:r>
              <a:rPr lang="zh-CN" altLang="en-US" sz="18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1800" b="1" dirty="0">
                <a:solidFill>
                  <a:srgbClr val="FF0000"/>
                </a:solidFill>
                <a:latin typeface="微软雅黑" panose="020B0503020204020204" pitchFamily="34" charset="-122"/>
                <a:ea typeface="微软雅黑" panose="020B0503020204020204" pitchFamily="34" charset="-122"/>
              </a:rPr>
              <a:t>符号文件目录表SFD</a:t>
            </a:r>
            <a:r>
              <a:rPr lang="zh-CN" altLang="en-US" sz="1800" b="1" dirty="0">
                <a:solidFill>
                  <a:srgbClr val="11576A"/>
                </a:solidFill>
                <a:latin typeface="微软雅黑" panose="020B0503020204020204" pitchFamily="34" charset="-122"/>
                <a:ea typeface="微软雅黑" panose="020B0503020204020204" pitchFamily="34" charset="-122"/>
              </a:rPr>
              <a:t>：由用户给出的符号名和系统赋予文件内部标识符组成,每个用户一张</a:t>
            </a:r>
          </a:p>
        </p:txBody>
      </p:sp>
      <p:pic>
        <p:nvPicPr>
          <p:cNvPr id="163842" name="Picture 4"/>
          <p:cNvPicPr>
            <a:picLocks noGrp="1" noChangeAspect="1"/>
          </p:cNvPicPr>
          <p:nvPr/>
        </p:nvPicPr>
        <p:blipFill>
          <a:blip r:embed="rId3">
            <a:clrChange>
              <a:clrFrom>
                <a:srgbClr val="FFFFFF"/>
              </a:clrFrom>
              <a:clrTo>
                <a:srgbClr val="FFFFFF">
                  <a:alpha val="0"/>
                </a:srgbClr>
              </a:clrTo>
            </a:clrChange>
          </a:blip>
          <a:stretch>
            <a:fillRect/>
          </a:stretch>
        </p:blipFill>
        <p:spPr>
          <a:xfrm>
            <a:off x="2195830" y="1995805"/>
            <a:ext cx="4540250" cy="3125470"/>
          </a:xfrm>
          <a:prstGeom prst="rect">
            <a:avLst/>
          </a:prstGeom>
        </p:spPr>
      </p:pic>
      <p:sp>
        <p:nvSpPr>
          <p:cNvPr id="2" name="Text Box 1"/>
          <p:cNvSpPr txBox="1"/>
          <p:nvPr/>
        </p:nvSpPr>
        <p:spPr>
          <a:xfrm>
            <a:off x="6732270" y="2787650"/>
            <a:ext cx="2376805" cy="996950"/>
          </a:xfrm>
          <a:prstGeom prst="rect">
            <a:avLst/>
          </a:prstGeom>
          <a:noFill/>
        </p:spPr>
        <p:txBody>
          <a:bodyPr wrap="square" rtlCol="0" anchor="t">
            <a:spAutoFit/>
          </a:bodyPr>
          <a:lstStyle/>
          <a:p>
            <a:r>
              <a:rPr lang="zh-CN" altLang="en-US" sz="2000" b="1" dirty="0">
                <a:solidFill>
                  <a:srgbClr val="11576A"/>
                </a:solidFill>
                <a:latin typeface="微软雅黑" panose="020B0503020204020204" pitchFamily="34" charset="-122"/>
                <a:ea typeface="微软雅黑" panose="020B0503020204020204" pitchFamily="34" charset="-122"/>
                <a:sym typeface="+mn-ea"/>
              </a:rPr>
              <a:t>具有BFD和SFD的文件目录结构</a:t>
            </a:r>
            <a:br>
              <a:rPr lang="zh-CN" altLang="en-US" sz="2000" b="1" dirty="0">
                <a:solidFill>
                  <a:srgbClr val="11576A"/>
                </a:solidFill>
                <a:latin typeface="微软雅黑" panose="020B0503020204020204" pitchFamily="34" charset="-122"/>
                <a:ea typeface="微软雅黑" panose="020B0503020204020204" pitchFamily="34" charset="-122"/>
                <a:sym typeface="+mn-ea"/>
              </a:rPr>
            </a:br>
            <a:endParaRPr lang="en-US"/>
          </a:p>
        </p:txBody>
      </p:sp>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a:sym typeface="+mn-ea"/>
              </a:rPr>
              <a:t>文件共享</a:t>
            </a:r>
            <a:endParaRPr lang="en-US"/>
          </a:p>
          <a:p>
            <a:pPr lvl="0" algn="ctr">
              <a:spcBef>
                <a:spcPct val="0"/>
              </a:spcBef>
            </a:pP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内容占位符 2"/>
          <p:cNvSpPr>
            <a:spLocks noGrp="1"/>
          </p:cNvSpPr>
          <p:nvPr>
            <p:ph idx="1"/>
          </p:nvPr>
        </p:nvSpPr>
        <p:spPr>
          <a:xfrm>
            <a:off x="611505" y="843281"/>
            <a:ext cx="8013065" cy="1296421"/>
          </a:xfrm>
        </p:spPr>
        <p:txBody>
          <a:bodyPr wrap="square" lIns="68580" tIns="34290" rIns="68580" bIns="34290" anchor="t"/>
          <a:lstStyle/>
          <a:p>
            <a:pPr marL="0" indent="0" eaLnBrk="1" hangingPunct="1">
              <a:buNone/>
            </a:pPr>
            <a:r>
              <a:rPr lang="zh-CN" altLang="en-US" sz="2000" b="1" dirty="0">
                <a:solidFill>
                  <a:srgbClr val="FF0000"/>
                </a:solidFill>
                <a:latin typeface="微软雅黑" panose="020B0503020204020204" pitchFamily="34" charset="-122"/>
                <a:ea typeface="微软雅黑" panose="020B0503020204020204" pitchFamily="34" charset="-122"/>
              </a:rPr>
              <a:t>基于索引结点的共享方式（硬链接）</a:t>
            </a:r>
          </a:p>
          <a:p>
            <a:pPr marL="0" indent="0" eaLnBrk="1" hangingPunct="1">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rPr>
              <a:t>H所指的文件现在也出现在D目录下，D称为该共享文件的一个链接。</a:t>
            </a:r>
          </a:p>
        </p:txBody>
      </p:sp>
      <p:pic>
        <p:nvPicPr>
          <p:cNvPr id="166915" name="Picture 2"/>
          <p:cNvPicPr>
            <a:picLocks noChangeAspect="1"/>
          </p:cNvPicPr>
          <p:nvPr/>
        </p:nvPicPr>
        <p:blipFill>
          <a:blip r:embed="rId2">
            <a:clrChange>
              <a:clrFrom>
                <a:srgbClr val="FFFFFF"/>
              </a:clrFrom>
              <a:clrTo>
                <a:srgbClr val="FFFFFF">
                  <a:alpha val="0"/>
                </a:srgbClr>
              </a:clrTo>
            </a:clrChange>
          </a:blip>
          <a:stretch>
            <a:fillRect/>
          </a:stretch>
        </p:blipFill>
        <p:spPr>
          <a:xfrm>
            <a:off x="4860032" y="2373380"/>
            <a:ext cx="4174317" cy="2214261"/>
          </a:xfrm>
          <a:prstGeom prst="rect">
            <a:avLst/>
          </a:prstGeom>
          <a:noFill/>
          <a:ln w="9525">
            <a:noFill/>
            <a:miter/>
          </a:ln>
        </p:spPr>
      </p:pic>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a:sym typeface="+mn-ea"/>
              </a:rPr>
              <a:t>文件共享的模式</a:t>
            </a:r>
            <a:endParaRPr lang="en-US"/>
          </a:p>
          <a:p>
            <a:pPr lvl="0" algn="ctr">
              <a:spcBef>
                <a:spcPct val="0"/>
              </a:spcBef>
            </a:pP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pic>
        <p:nvPicPr>
          <p:cNvPr id="5" name="Picture 2"/>
          <p:cNvPicPr>
            <a:picLocks noChangeAspect="1"/>
          </p:cNvPicPr>
          <p:nvPr/>
        </p:nvPicPr>
        <p:blipFill>
          <a:blip r:embed="rId3">
            <a:clrChange>
              <a:clrFrom>
                <a:srgbClr val="FFFFFF"/>
              </a:clrFrom>
              <a:clrTo>
                <a:srgbClr val="FFFFFF">
                  <a:alpha val="0"/>
                </a:srgbClr>
              </a:clrTo>
            </a:clrChange>
          </a:blip>
          <a:stretch>
            <a:fillRect/>
          </a:stretch>
        </p:blipFill>
        <p:spPr>
          <a:xfrm>
            <a:off x="467544" y="2139702"/>
            <a:ext cx="3632075" cy="2428880"/>
          </a:xfrm>
          <a:prstGeom prst="rect">
            <a:avLst/>
          </a:prstGeom>
          <a:noFill/>
          <a:ln w="9525">
            <a:noFill/>
          </a:ln>
        </p:spPr>
      </p:pic>
    </p:spTree>
  </p:cSld>
  <p:clrMapOvr>
    <a:masterClrMapping/>
  </p:clrMapOvr>
  <p:transition>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内容占位符 2"/>
          <p:cNvSpPr>
            <a:spLocks noGrp="1"/>
          </p:cNvSpPr>
          <p:nvPr>
            <p:ph idx="1"/>
          </p:nvPr>
        </p:nvSpPr>
        <p:spPr>
          <a:xfrm>
            <a:off x="481965" y="770255"/>
            <a:ext cx="8401685" cy="4064635"/>
          </a:xfrm>
        </p:spPr>
        <p:txBody>
          <a:bodyPr wrap="square" lIns="68580" tIns="34290" rIns="68580" bIns="34290" anchor="t"/>
          <a:lstStyle/>
          <a:p>
            <a:pPr marL="0" indent="0" eaLnBrk="1" hangingPunct="1">
              <a:buNone/>
            </a:pPr>
            <a:r>
              <a:rPr lang="zh-CN" altLang="en-US" sz="2000" b="1" dirty="0">
                <a:solidFill>
                  <a:srgbClr val="FF0000"/>
                </a:solidFill>
                <a:latin typeface="微软雅黑" panose="020B0503020204020204" pitchFamily="34" charset="-122"/>
                <a:ea typeface="微软雅黑" panose="020B0503020204020204" pitchFamily="34" charset="-122"/>
              </a:rPr>
              <a:t>利用符号链实现文件共享（软链接）</a:t>
            </a:r>
          </a:p>
          <a:p>
            <a:pPr marL="0" indent="0">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rPr>
              <a:t>利用符号链接也可以实现文件共享。例如，B为了共享C的一个文件F，这时可以由系统创建一个LINK类型的新文件，并把新文件添加到B的目录中，以实现B的一个目录与文件F的链接。新文件中只包含被链接文件F的路径名，称这种链接方式为</a:t>
            </a:r>
            <a:r>
              <a:rPr lang="zh-CN" altLang="en-US" sz="2000" b="1" dirty="0">
                <a:solidFill>
                  <a:srgbClr val="FF0000"/>
                </a:solidFill>
                <a:latin typeface="微软雅黑" panose="020B0503020204020204" pitchFamily="34" charset="-122"/>
                <a:ea typeface="微软雅黑" panose="020B0503020204020204" pitchFamily="34" charset="-122"/>
              </a:rPr>
              <a:t>符号链</a:t>
            </a:r>
          </a:p>
          <a:p>
            <a:pPr marL="0" indent="0">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rPr>
              <a:t>只有文件所有者拥有指向其索引结点的指针，共享该文件的用户</a:t>
            </a:r>
            <a:r>
              <a:rPr lang="zh-CN" altLang="en-US" sz="2000" b="1" dirty="0">
                <a:solidFill>
                  <a:srgbClr val="FF0000"/>
                </a:solidFill>
                <a:latin typeface="微软雅黑" panose="020B0503020204020204" pitchFamily="34" charset="-122"/>
                <a:ea typeface="微软雅黑" panose="020B0503020204020204" pitchFamily="34" charset="-122"/>
              </a:rPr>
              <a:t>只有其路径名</a:t>
            </a:r>
            <a:r>
              <a:rPr lang="zh-CN" altLang="en-US" sz="2000" b="1" dirty="0">
                <a:solidFill>
                  <a:srgbClr val="11576A"/>
                </a:solidFill>
                <a:latin typeface="微软雅黑" panose="020B0503020204020204" pitchFamily="34" charset="-122"/>
                <a:ea typeface="微软雅黑" panose="020B0503020204020204" pitchFamily="34" charset="-122"/>
              </a:rPr>
              <a:t>。当删除文件后，其他用户通过符号链接访问该文件将导致失败。</a:t>
            </a:r>
          </a:p>
          <a:p>
            <a:pPr marL="0" indent="0" eaLnBrk="1" hangingPunct="1">
              <a:buNone/>
            </a:pPr>
            <a:r>
              <a:rPr lang="zh-CN" altLang="en-US" sz="2000" b="1" dirty="0">
                <a:solidFill>
                  <a:srgbClr val="11576A"/>
                </a:solidFill>
                <a:latin typeface="微软雅黑" panose="020B0503020204020204" pitchFamily="34" charset="-122"/>
                <a:ea typeface="微软雅黑" panose="020B0503020204020204" pitchFamily="34" charset="-122"/>
                <a:sym typeface="+mn-ea"/>
              </a:rPr>
              <a:t>缺点：</a:t>
            </a:r>
            <a:endParaRPr lang="en-US" altLang="zh-CN" sz="2000" b="1" dirty="0">
              <a:solidFill>
                <a:srgbClr val="11576A"/>
              </a:solidFill>
              <a:latin typeface="微软雅黑" panose="020B0503020204020204" pitchFamily="34" charset="-122"/>
              <a:ea typeface="微软雅黑" panose="020B0503020204020204" pitchFamily="34" charset="-122"/>
              <a:sym typeface="+mn-ea"/>
            </a:endParaRPr>
          </a:p>
          <a:p>
            <a:pPr marL="0" indent="0">
              <a:buNone/>
            </a:pPr>
            <a:r>
              <a:rPr lang="zh-CN" altLang="en-US" sz="18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1800" b="1" dirty="0">
                <a:solidFill>
                  <a:srgbClr val="11576A"/>
                </a:solidFill>
                <a:latin typeface="微软雅黑" panose="020B0503020204020204" pitchFamily="34" charset="-122"/>
                <a:ea typeface="微软雅黑" panose="020B0503020204020204" pitchFamily="34" charset="-122"/>
                <a:sym typeface="+mn-ea"/>
              </a:rPr>
              <a:t>当其他用户去读共享文件时，系统是根据给定的文件路径名逐个分量进行查找的，这些操作需要多次访问磁盘，这使共享文件的访问开销很大。</a:t>
            </a:r>
            <a:endParaRPr lang="en-US" altLang="zh-CN" sz="1800" b="1" dirty="0">
              <a:solidFill>
                <a:srgbClr val="11576A"/>
              </a:solidFill>
              <a:latin typeface="微软雅黑" panose="020B0503020204020204" pitchFamily="34" charset="-122"/>
              <a:ea typeface="微软雅黑" panose="020B0503020204020204" pitchFamily="34" charset="-122"/>
              <a:sym typeface="+mn-ea"/>
            </a:endParaRPr>
          </a:p>
          <a:p>
            <a:pPr marL="0" indent="0" eaLnBrk="1" hangingPunct="1">
              <a:buNone/>
            </a:pPr>
            <a:r>
              <a:rPr lang="zh-CN" altLang="en-US" sz="1800" b="1" dirty="0">
                <a:solidFill>
                  <a:srgbClr val="11576A"/>
                </a:solidFill>
                <a:latin typeface="微软雅黑" panose="020B0503020204020204" pitchFamily="34" charset="-122"/>
                <a:ea typeface="微软雅黑" panose="020B0503020204020204" pitchFamily="34" charset="-122"/>
                <a:sym typeface="+mn-ea"/>
              </a:rPr>
              <a:t>优点：只要提供一个机器的网络地址以及文件在该机器上的驻留路径，就可以链接全球任何地方的机器上的文件。</a:t>
            </a:r>
            <a:endParaRPr lang="zh-CN" altLang="en-US" sz="1800" b="1" dirty="0">
              <a:solidFill>
                <a:srgbClr val="11576A"/>
              </a:solidFill>
              <a:latin typeface="微软雅黑" panose="020B0503020204020204" pitchFamily="34" charset="-122"/>
              <a:ea typeface="微软雅黑" panose="020B0503020204020204" pitchFamily="34" charset="-122"/>
            </a:endParaRPr>
          </a:p>
          <a:p>
            <a:pPr marL="0" indent="0" eaLnBrk="1" hangingPunct="1">
              <a:buNone/>
            </a:pP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a:sym typeface="+mn-ea"/>
              </a:rPr>
              <a:t>文件共享的模式</a:t>
            </a:r>
            <a:endParaRPr lang="en-US"/>
          </a:p>
          <a:p>
            <a:pPr lvl="0" algn="ctr">
              <a:spcBef>
                <a:spcPct val="0"/>
              </a:spcBef>
            </a:pP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1010" name="Rectangle 3"/>
          <p:cNvSpPr>
            <a:spLocks noGrp="1"/>
          </p:cNvSpPr>
          <p:nvPr>
            <p:ph idx="1"/>
          </p:nvPr>
        </p:nvSpPr>
        <p:spPr>
          <a:xfrm>
            <a:off x="571472" y="785800"/>
            <a:ext cx="8027698" cy="4143403"/>
          </a:xfrm>
        </p:spPr>
        <p:txBody>
          <a:bodyPr wrap="square" lIns="68580" tIns="34290" rIns="68580" bIns="34290" anchor="t"/>
          <a:lstStyle/>
          <a:p>
            <a:pPr marL="0" lvl="0" indent="0" eaLnBrk="1" hangingPunct="1">
              <a:buNone/>
            </a:pPr>
            <a:r>
              <a:rPr lang="zh-CN" altLang="en-US" sz="2000" b="1" dirty="0">
                <a:solidFill>
                  <a:srgbClr val="11576A"/>
                </a:solidFill>
                <a:latin typeface="微软雅黑" panose="020B0503020204020204" pitchFamily="34" charset="-122"/>
                <a:ea typeface="微软雅黑" panose="020B0503020204020204" pitchFamily="34" charset="-122"/>
              </a:rPr>
              <a:t>目录文件同样存放在文件存储设备中。在存取一个文件时必须访问多级目录，如果访问每级目录时都必须到文件存储设备上去搜索的话，将浪费CPU处理时间，降低了处理速度，增加I/O设备的负担</a:t>
            </a:r>
            <a:r>
              <a:rPr lang="x-none" altLang="zh-CN" sz="2000" b="1" dirty="0">
                <a:solidFill>
                  <a:srgbClr val="11576A"/>
                </a:solidFill>
                <a:latin typeface="微软雅黑" panose="020B0503020204020204" pitchFamily="34" charset="-122"/>
                <a:ea typeface="微软雅黑" panose="020B0503020204020204" pitchFamily="34" charset="-122"/>
              </a:rPr>
              <a:t>。</a:t>
            </a:r>
          </a:p>
          <a:p>
            <a:pPr lvl="0" algn="just" eaLnBrk="1" hangingPunct="1">
              <a:buNone/>
            </a:pPr>
            <a:r>
              <a:rPr lang="zh-CN" altLang="en-US" sz="2000" b="1" dirty="0">
                <a:solidFill>
                  <a:srgbClr val="11576A"/>
                </a:solidFill>
                <a:latin typeface="微软雅黑" panose="020B0503020204020204" pitchFamily="34" charset="-122"/>
                <a:ea typeface="微软雅黑" panose="020B0503020204020204" pitchFamily="34" charset="-122"/>
                <a:sym typeface="+mn-ea"/>
              </a:rPr>
              <a:t>解决方法：</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0" algn="just">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sym typeface="+mn-ea"/>
              </a:rPr>
              <a:t>在系统初启动时将所有的目录文件读入内存，由文件系统在内存完成对各级目录的搜索。但是需要大量的内存支持，不可取。</a:t>
            </a:r>
          </a:p>
          <a:p>
            <a:pPr marL="0" lvl="1" algn="just">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sym typeface="+mn-ea"/>
              </a:rPr>
              <a:t>折中的方法：把当前正在使用的文件的目录表目复制到内存中，不需全部加载，又可显著的减少搜索目录的时间和I/O设备的负担。</a:t>
            </a:r>
          </a:p>
          <a:p>
            <a:pPr lvl="0" algn="just" eaLnBrk="1" hangingPunct="1">
              <a:buNone/>
            </a:pPr>
            <a:endParaRPr lang="en-US" altLang="zh-CN" sz="1800" b="1" dirty="0">
              <a:solidFill>
                <a:srgbClr val="11576A"/>
              </a:solidFill>
              <a:latin typeface="微软雅黑" panose="020B0503020204020204" pitchFamily="34" charset="-122"/>
              <a:ea typeface="微软雅黑" panose="020B0503020204020204" pitchFamily="34" charset="-122"/>
              <a:sym typeface="+mn-ea"/>
            </a:endParaRPr>
          </a:p>
          <a:p>
            <a:pPr lvl="0" algn="just">
              <a:buNone/>
            </a:pPr>
            <a:r>
              <a:rPr lang="zh-CN" altLang="en-US" sz="1800" b="1" dirty="0">
                <a:solidFill>
                  <a:srgbClr val="FF0000"/>
                </a:solidFill>
                <a:latin typeface="微软雅黑" panose="020B0503020204020204" pitchFamily="34" charset="-122"/>
                <a:ea typeface="微软雅黑" panose="020B0503020204020204" pitchFamily="34" charset="-122"/>
                <a:sym typeface="+mn-ea"/>
              </a:rPr>
              <a:t>打开文件(fopen)</a:t>
            </a:r>
            <a:r>
              <a:rPr lang="zh-CN" altLang="en-US" sz="1800" b="1" dirty="0">
                <a:solidFill>
                  <a:srgbClr val="11576A"/>
                </a:solidFill>
                <a:latin typeface="微软雅黑" panose="020B0503020204020204" pitchFamily="34" charset="-122"/>
                <a:ea typeface="微软雅黑" panose="020B0503020204020204" pitchFamily="34" charset="-122"/>
                <a:sym typeface="+mn-ea"/>
              </a:rPr>
              <a:t>：文件存储设备上的目录文件复制到内存的操作</a:t>
            </a:r>
            <a:endParaRPr lang="zh-CN" altLang="en-US" sz="1800" b="1" dirty="0">
              <a:solidFill>
                <a:srgbClr val="11576A"/>
              </a:solidFill>
              <a:latin typeface="微软雅黑" panose="020B0503020204020204" pitchFamily="34" charset="-122"/>
              <a:ea typeface="微软雅黑" panose="020B0503020204020204" pitchFamily="34" charset="-122"/>
            </a:endParaRPr>
          </a:p>
          <a:p>
            <a:pPr algn="just">
              <a:buNone/>
            </a:pPr>
            <a:r>
              <a:rPr lang="zh-CN" altLang="en-US" sz="1800" b="1" dirty="0">
                <a:solidFill>
                  <a:srgbClr val="FF0000"/>
                </a:solidFill>
                <a:latin typeface="微软雅黑" panose="020B0503020204020204" pitchFamily="34" charset="-122"/>
                <a:ea typeface="微软雅黑" panose="020B0503020204020204" pitchFamily="34" charset="-122"/>
                <a:sym typeface="+mn-ea"/>
              </a:rPr>
              <a:t>关闭文件(fclose)</a:t>
            </a:r>
            <a:r>
              <a:rPr lang="zh-CN" altLang="en-US" sz="1800" b="1" dirty="0">
                <a:solidFill>
                  <a:srgbClr val="11576A"/>
                </a:solidFill>
                <a:latin typeface="微软雅黑" panose="020B0503020204020204" pitchFamily="34" charset="-122"/>
                <a:ea typeface="微软雅黑" panose="020B0503020204020204" pitchFamily="34" charset="-122"/>
                <a:sym typeface="+mn-ea"/>
              </a:rPr>
              <a:t>：删除文件的内存副本的操作</a:t>
            </a:r>
            <a:endParaRPr lang="en-US" altLang="zh-CN" sz="1800" b="1" dirty="0">
              <a:solidFill>
                <a:srgbClr val="11576A"/>
              </a:solidFill>
              <a:latin typeface="微软雅黑" panose="020B0503020204020204" pitchFamily="34" charset="-122"/>
              <a:ea typeface="微软雅黑" panose="020B0503020204020204" pitchFamily="34" charset="-122"/>
              <a:sym typeface="+mn-ea"/>
            </a:endParaRPr>
          </a:p>
          <a:p>
            <a:pPr algn="just">
              <a:buNone/>
            </a:pPr>
            <a:r>
              <a:rPr lang="zh-CN" altLang="en-US" sz="1800" b="1" dirty="0">
                <a:solidFill>
                  <a:srgbClr val="11576A"/>
                </a:solidFill>
                <a:latin typeface="微软雅黑" panose="020B0503020204020204" pitchFamily="34" charset="-122"/>
                <a:ea typeface="微软雅黑" panose="020B0503020204020204" pitchFamily="34" charset="-122"/>
                <a:sym typeface="+mn-ea"/>
              </a:rPr>
              <a:t>这两个操作以系统调用的方式提供给用户</a:t>
            </a:r>
            <a:endParaRPr lang="x-none" altLang="zh-CN" sz="1800" b="1" dirty="0">
              <a:solidFill>
                <a:srgbClr val="11576A"/>
              </a:solidFill>
              <a:latin typeface="微软雅黑" panose="020B0503020204020204" pitchFamily="34" charset="-122"/>
              <a:ea typeface="微软雅黑" panose="020B0503020204020204" pitchFamily="34" charset="-122"/>
            </a:endParaRPr>
          </a:p>
        </p:txBody>
      </p:sp>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sym typeface="+mn-ea"/>
              </a:rPr>
              <a:t>文件存取问题</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3"/>
          <p:cNvSpPr>
            <a:spLocks noGrp="1"/>
          </p:cNvSpPr>
          <p:nvPr>
            <p:ph idx="1"/>
          </p:nvPr>
        </p:nvSpPr>
        <p:spPr>
          <a:xfrm>
            <a:off x="585470" y="852804"/>
            <a:ext cx="8101965" cy="4076399"/>
          </a:xfrm>
        </p:spPr>
        <p:txBody>
          <a:bodyPr wrap="square" lIns="68580" tIns="34290" rIns="68580" bIns="34290" anchor="t"/>
          <a:lstStyle/>
          <a:p>
            <a:pPr eaLnBrk="1" hangingPunct="1">
              <a:buNone/>
            </a:pPr>
            <a:r>
              <a:rPr lang="zh-CN" altLang="en-US" sz="2000" b="1" dirty="0">
                <a:solidFill>
                  <a:srgbClr val="11576A"/>
                </a:solidFill>
                <a:latin typeface="微软雅黑" panose="020B0503020204020204" pitchFamily="34" charset="-122"/>
                <a:ea typeface="微软雅黑" panose="020B0503020204020204" pitchFamily="34" charset="-122"/>
              </a:rPr>
              <a:t>文件的存取控制是和文件的共享、保护和保密三个问题紧密相关的</a:t>
            </a:r>
          </a:p>
          <a:p>
            <a:pPr eaLnBrk="1" hangingPunct="1">
              <a:buNone/>
            </a:pPr>
            <a:r>
              <a:rPr lang="zh-CN" altLang="en-US" sz="2000" b="1" dirty="0">
                <a:solidFill>
                  <a:srgbClr val="FF0000"/>
                </a:solidFill>
                <a:latin typeface="微软雅黑" panose="020B0503020204020204" pitchFamily="34" charset="-122"/>
                <a:ea typeface="微软雅黑" panose="020B0503020204020204" pitchFamily="34" charset="-122"/>
              </a:rPr>
              <a:t>共享</a:t>
            </a:r>
            <a:r>
              <a:rPr lang="zh-CN" altLang="en-US" sz="2000" b="1" dirty="0">
                <a:solidFill>
                  <a:srgbClr val="11576A"/>
                </a:solidFill>
                <a:latin typeface="微软雅黑" panose="020B0503020204020204" pitchFamily="34" charset="-122"/>
                <a:ea typeface="微软雅黑" panose="020B0503020204020204" pitchFamily="34" charset="-122"/>
              </a:rPr>
              <a:t>：不同的用户共同使用一个文件</a:t>
            </a:r>
          </a:p>
          <a:p>
            <a:pPr eaLnBrk="1" hangingPunct="1">
              <a:buNone/>
            </a:pPr>
            <a:r>
              <a:rPr lang="zh-CN" altLang="en-US" sz="2000" b="1" dirty="0">
                <a:solidFill>
                  <a:srgbClr val="FF0000"/>
                </a:solidFill>
                <a:latin typeface="微软雅黑" panose="020B0503020204020204" pitchFamily="34" charset="-122"/>
                <a:ea typeface="微软雅黑" panose="020B0503020204020204" pitchFamily="34" charset="-122"/>
              </a:rPr>
              <a:t>保护</a:t>
            </a:r>
            <a:r>
              <a:rPr lang="zh-CN" altLang="en-US" sz="2000" b="1" dirty="0">
                <a:solidFill>
                  <a:srgbClr val="11576A"/>
                </a:solidFill>
                <a:latin typeface="微软雅黑" panose="020B0503020204020204" pitchFamily="34" charset="-122"/>
                <a:ea typeface="微软雅黑" panose="020B0503020204020204" pitchFamily="34" charset="-122"/>
              </a:rPr>
              <a:t>：文件本身需要防止文件的拥有者本人和其他用户破坏文件内容</a:t>
            </a:r>
          </a:p>
          <a:p>
            <a:pPr eaLnBrk="1" hangingPunct="1">
              <a:buNone/>
            </a:pPr>
            <a:r>
              <a:rPr lang="zh-CN" altLang="en-US" sz="2000" b="1" dirty="0">
                <a:solidFill>
                  <a:srgbClr val="FF0000"/>
                </a:solidFill>
                <a:latin typeface="微软雅黑" panose="020B0503020204020204" pitchFamily="34" charset="-122"/>
                <a:ea typeface="微软雅黑" panose="020B0503020204020204" pitchFamily="34" charset="-122"/>
              </a:rPr>
              <a:t>保密</a:t>
            </a:r>
            <a:r>
              <a:rPr lang="zh-CN" altLang="en-US" sz="2000" b="1" dirty="0">
                <a:solidFill>
                  <a:srgbClr val="11576A"/>
                </a:solidFill>
                <a:latin typeface="微软雅黑" panose="020B0503020204020204" pitchFamily="34" charset="-122"/>
                <a:ea typeface="微软雅黑" panose="020B0503020204020204" pitchFamily="34" charset="-122"/>
              </a:rPr>
              <a:t>：未经文件拥有者许可，任何用户不得访问该文件</a:t>
            </a:r>
          </a:p>
          <a:p>
            <a:pPr eaLnBrk="1" hangingPunct="1">
              <a:buNone/>
            </a:pPr>
            <a:r>
              <a:rPr lang="zh-CN" altLang="en-US" sz="2000" b="1" dirty="0">
                <a:solidFill>
                  <a:srgbClr val="11576A"/>
                </a:solidFill>
                <a:latin typeface="微软雅黑" panose="020B0503020204020204" pitchFamily="34" charset="-122"/>
                <a:ea typeface="微软雅黑" panose="020B0503020204020204" pitchFamily="34" charset="-122"/>
                <a:sym typeface="+mn-ea"/>
              </a:rPr>
              <a:t>以上实际上是一个用户对文件的使用权限</a:t>
            </a:r>
            <a:r>
              <a:rPr lang="en-US" altLang="zh-CN" sz="2000" b="1" dirty="0">
                <a:solidFill>
                  <a:srgbClr val="11576A"/>
                </a:solidFill>
                <a:latin typeface="微软雅黑" panose="020B0503020204020204" pitchFamily="34" charset="-122"/>
                <a:ea typeface="微软雅黑" panose="020B0503020204020204" pitchFamily="34" charset="-122"/>
                <a:sym typeface="+mn-ea"/>
              </a:rPr>
              <a:t>(</a:t>
            </a:r>
            <a:r>
              <a:rPr lang="zh-CN" altLang="en-US" sz="2000" b="1" dirty="0">
                <a:solidFill>
                  <a:srgbClr val="11576A"/>
                </a:solidFill>
                <a:latin typeface="微软雅黑" panose="020B0503020204020204" pitchFamily="34" charset="-122"/>
                <a:ea typeface="微软雅黑" panose="020B0503020204020204" pitchFamily="34" charset="-122"/>
                <a:sym typeface="+mn-ea"/>
              </a:rPr>
              <a:t>读、写、执行</a:t>
            </a:r>
            <a:r>
              <a:rPr lang="en-US" altLang="zh-CN" sz="2000" b="1" dirty="0">
                <a:solidFill>
                  <a:srgbClr val="11576A"/>
                </a:solidFill>
                <a:latin typeface="微软雅黑" panose="020B0503020204020204" pitchFamily="34" charset="-122"/>
                <a:ea typeface="微软雅黑" panose="020B0503020204020204" pitchFamily="34" charset="-122"/>
                <a:sym typeface="+mn-ea"/>
              </a:rPr>
              <a:t>)</a:t>
            </a:r>
            <a:r>
              <a:rPr lang="zh-CN" altLang="en-US" sz="2000" b="1" dirty="0">
                <a:solidFill>
                  <a:srgbClr val="11576A"/>
                </a:solidFill>
                <a:latin typeface="微软雅黑" panose="020B0503020204020204" pitchFamily="34" charset="-122"/>
                <a:ea typeface="微软雅黑" panose="020B0503020204020204" pitchFamily="34" charset="-122"/>
                <a:sym typeface="+mn-ea"/>
              </a:rPr>
              <a:t>许可权问题</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buNone/>
            </a:pPr>
            <a:r>
              <a:rPr lang="zh-CN" altLang="en-US" sz="2000" b="1" dirty="0">
                <a:solidFill>
                  <a:srgbClr val="11576A"/>
                </a:solidFill>
                <a:latin typeface="微软雅黑" panose="020B0503020204020204" pitchFamily="34" charset="-122"/>
                <a:ea typeface="微软雅黑" panose="020B0503020204020204" pitchFamily="34" charset="-122"/>
                <a:sym typeface="+mn-ea"/>
              </a:rPr>
              <a:t>常见的文件的存取权限一般有以下几种：</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buNone/>
            </a:pPr>
            <a:r>
              <a:rPr lang="zh-CN" altLang="en-US" sz="2000" b="1" dirty="0">
                <a:solidFill>
                  <a:srgbClr val="11576A"/>
                </a:solidFill>
                <a:latin typeface="微软雅黑" panose="020B0503020204020204" pitchFamily="34" charset="-122"/>
                <a:ea typeface="微软雅黑" panose="020B0503020204020204" pitchFamily="34" charset="-122"/>
                <a:sym typeface="+mn-ea"/>
              </a:rPr>
              <a:t>E：表示只执行</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buNone/>
            </a:pPr>
            <a:r>
              <a:rPr lang="zh-CN" altLang="en-US" sz="2000" b="1" dirty="0">
                <a:solidFill>
                  <a:srgbClr val="11576A"/>
                </a:solidFill>
                <a:latin typeface="微软雅黑" panose="020B0503020204020204" pitchFamily="34" charset="-122"/>
                <a:ea typeface="微软雅黑" panose="020B0503020204020204" pitchFamily="34" charset="-122"/>
                <a:sym typeface="+mn-ea"/>
              </a:rPr>
              <a:t>R：表示只读</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buNone/>
            </a:pPr>
            <a:r>
              <a:rPr lang="zh-CN" altLang="en-US" sz="2000" b="1" dirty="0">
                <a:solidFill>
                  <a:srgbClr val="11576A"/>
                </a:solidFill>
                <a:latin typeface="微软雅黑" panose="020B0503020204020204" pitchFamily="34" charset="-122"/>
                <a:ea typeface="微软雅黑" panose="020B0503020204020204" pitchFamily="34" charset="-122"/>
                <a:sym typeface="+mn-ea"/>
              </a:rPr>
              <a:t>W：表示只写</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buNone/>
            </a:pPr>
            <a:r>
              <a:rPr lang="zh-CN" altLang="en-US" sz="2000" b="1" dirty="0">
                <a:solidFill>
                  <a:srgbClr val="11576A"/>
                </a:solidFill>
                <a:latin typeface="微软雅黑" panose="020B0503020204020204" pitchFamily="34" charset="-122"/>
                <a:ea typeface="微软雅黑" panose="020B0503020204020204" pitchFamily="34" charset="-122"/>
                <a:sym typeface="+mn-ea"/>
              </a:rPr>
              <a:t>B：表示只在文件尾写</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buNone/>
            </a:pPr>
            <a:r>
              <a:rPr lang="zh-CN" altLang="en-US" sz="2000" b="1" dirty="0">
                <a:solidFill>
                  <a:srgbClr val="11576A"/>
                </a:solidFill>
                <a:latin typeface="微软雅黑" panose="020B0503020204020204" pitchFamily="34" charset="-122"/>
                <a:ea typeface="微软雅黑" panose="020B0503020204020204" pitchFamily="34" charset="-122"/>
                <a:sym typeface="+mn-ea"/>
              </a:rPr>
              <a:t>D：表示删除</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a:sym typeface="+mn-ea"/>
              </a:rPr>
              <a:t>文件</a:t>
            </a:r>
            <a:r>
              <a:rPr lang="x-none">
                <a:sym typeface="+mn-ea"/>
              </a:rPr>
              <a:t>存取控制</a:t>
            </a:r>
            <a:endParaRPr kumimoji="0" lang="x-none"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3"/>
          <p:cNvSpPr>
            <a:spLocks noGrp="1"/>
          </p:cNvSpPr>
          <p:nvPr>
            <p:ph idx="1"/>
          </p:nvPr>
        </p:nvSpPr>
        <p:spPr>
          <a:xfrm>
            <a:off x="571473" y="808990"/>
            <a:ext cx="8143932" cy="3839845"/>
          </a:xfrm>
        </p:spPr>
        <p:txBody>
          <a:bodyPr wrap="square" lIns="68580" tIns="34290" rIns="68580" bIns="34290" anchor="t"/>
          <a:lstStyle/>
          <a:p>
            <a:pPr eaLnBrk="1" hangingPunct="1">
              <a:buNone/>
            </a:pPr>
            <a:r>
              <a:rPr lang="zh-CN" altLang="en-US" sz="2000" b="1" dirty="0">
                <a:solidFill>
                  <a:srgbClr val="11576A"/>
                </a:solidFill>
                <a:latin typeface="微软雅黑" panose="020B0503020204020204" pitchFamily="34" charset="-122"/>
                <a:ea typeface="微软雅黑" panose="020B0503020204020204" pitchFamily="34" charset="-122"/>
              </a:rPr>
              <a:t>文件系统的存取控制应做到：</a:t>
            </a:r>
            <a:endParaRPr lang="en-US" altLang="zh-CN" sz="2000" b="1" dirty="0">
              <a:solidFill>
                <a:srgbClr val="11576A"/>
              </a:solidFill>
              <a:latin typeface="微软雅黑" panose="020B0503020204020204" pitchFamily="34" charset="-122"/>
              <a:ea typeface="微软雅黑" panose="020B0503020204020204" pitchFamily="34" charset="-122"/>
            </a:endParaRPr>
          </a:p>
          <a:p>
            <a:pPr>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rPr>
              <a:t>对于拥有读、写或执行权限的用户，应该让其对文件进行相应的操作</a:t>
            </a:r>
            <a:endParaRPr lang="en-US" altLang="zh-CN" sz="2000" b="1" dirty="0">
              <a:solidFill>
                <a:srgbClr val="11576A"/>
              </a:solidFill>
              <a:latin typeface="微软雅黑" panose="020B0503020204020204" pitchFamily="34" charset="-122"/>
              <a:ea typeface="微软雅黑" panose="020B0503020204020204" pitchFamily="34" charset="-122"/>
            </a:endParaRPr>
          </a:p>
          <a:p>
            <a:pPr>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rPr>
              <a:t>对于没有读、写或执行权限的用户，应禁止其对文件进行相应的操作</a:t>
            </a:r>
            <a:endParaRPr lang="en-US" altLang="zh-CN" sz="2000" b="1" dirty="0">
              <a:solidFill>
                <a:srgbClr val="11576A"/>
              </a:solidFill>
              <a:latin typeface="微软雅黑" panose="020B0503020204020204" pitchFamily="34" charset="-122"/>
              <a:ea typeface="微软雅黑" panose="020B0503020204020204" pitchFamily="34" charset="-122"/>
            </a:endParaRPr>
          </a:p>
          <a:p>
            <a:pPr>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rPr>
              <a:t>应防止一个用户冒充其他用户对文件进行存取</a:t>
            </a:r>
            <a:endParaRPr lang="en-US" altLang="zh-CN" sz="2000" b="1" dirty="0">
              <a:solidFill>
                <a:srgbClr val="11576A"/>
              </a:solidFill>
              <a:latin typeface="微软雅黑" panose="020B0503020204020204" pitchFamily="34" charset="-122"/>
              <a:ea typeface="微软雅黑" panose="020B0503020204020204" pitchFamily="34" charset="-122"/>
            </a:endParaRPr>
          </a:p>
          <a:p>
            <a:pPr>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rPr>
              <a:t>应防止拥有存取权限的用户误用文件</a:t>
            </a:r>
            <a:endParaRPr lang="en-US" altLang="zh-CN" sz="2000" b="1" dirty="0">
              <a:solidFill>
                <a:srgbClr val="11576A"/>
              </a:solidFill>
              <a:latin typeface="微软雅黑" panose="020B0503020204020204" pitchFamily="34" charset="-122"/>
              <a:ea typeface="微软雅黑" panose="020B0503020204020204" pitchFamily="34" charset="-122"/>
            </a:endParaRPr>
          </a:p>
          <a:p>
            <a:pPr>
              <a:buNone/>
            </a:pPr>
            <a:r>
              <a:rPr lang="zh-CN" altLang="en-US" sz="2000" b="1" dirty="0">
                <a:solidFill>
                  <a:srgbClr val="11576A"/>
                </a:solidFill>
                <a:latin typeface="微软雅黑" panose="020B0503020204020204" pitchFamily="34" charset="-122"/>
                <a:ea typeface="微软雅黑" panose="020B0503020204020204" pitchFamily="34" charset="-122"/>
                <a:sym typeface="+mn-ea"/>
              </a:rPr>
              <a:t>这些功能由一组称为存取控制验证模块的程序提供，分三步进行验证</a:t>
            </a:r>
            <a:endParaRPr lang="en-US" altLang="zh-CN" sz="2000" b="1" dirty="0">
              <a:solidFill>
                <a:srgbClr val="11576A"/>
              </a:solidFill>
              <a:latin typeface="微软雅黑" panose="020B0503020204020204" pitchFamily="34" charset="-122"/>
              <a:ea typeface="微软雅黑" panose="020B0503020204020204" pitchFamily="34" charset="-122"/>
              <a:sym typeface="+mn-ea"/>
            </a:endParaRPr>
          </a:p>
          <a:p>
            <a:pPr>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sym typeface="+mn-ea"/>
              </a:rPr>
              <a:t>审定用户的存取权限</a:t>
            </a:r>
            <a:endParaRPr lang="en-US" altLang="zh-CN" sz="2000" b="1" dirty="0">
              <a:solidFill>
                <a:srgbClr val="11576A"/>
              </a:solidFill>
              <a:latin typeface="微软雅黑" panose="020B0503020204020204" pitchFamily="34" charset="-122"/>
              <a:ea typeface="微软雅黑" panose="020B0503020204020204" pitchFamily="34" charset="-122"/>
              <a:sym typeface="+mn-ea"/>
            </a:endParaRPr>
          </a:p>
          <a:p>
            <a:pPr>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sym typeface="+mn-ea"/>
              </a:rPr>
              <a:t>比较用户权限和本次存取要求是否一致</a:t>
            </a:r>
            <a:endParaRPr lang="en-US" altLang="zh-CN" sz="2000" b="1" dirty="0">
              <a:solidFill>
                <a:srgbClr val="11576A"/>
              </a:solidFill>
              <a:latin typeface="微软雅黑" panose="020B0503020204020204" pitchFamily="34" charset="-122"/>
              <a:ea typeface="微软雅黑" panose="020B0503020204020204" pitchFamily="34" charset="-122"/>
              <a:sym typeface="+mn-ea"/>
            </a:endParaRPr>
          </a:p>
          <a:p>
            <a:pPr>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sym typeface="+mn-ea"/>
              </a:rPr>
              <a:t>将存取要求和被访问的文件的保密性比较，看是否有冲突</a:t>
            </a:r>
            <a:endParaRPr lang="zh-CN" altLang="en-US" sz="2000" b="1" dirty="0">
              <a:solidFill>
                <a:srgbClr val="11576A"/>
              </a:solidFill>
              <a:latin typeface="微软雅黑" panose="020B0503020204020204" pitchFamily="34" charset="-122"/>
              <a:ea typeface="微软雅黑" panose="020B0503020204020204" pitchFamily="34" charset="-122"/>
            </a:endParaRPr>
          </a:p>
          <a:p>
            <a:pPr lvl="1" eaLnBrk="1" hangingPunct="1"/>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a:sym typeface="+mn-ea"/>
              </a:rPr>
              <a:t>文件</a:t>
            </a:r>
            <a:r>
              <a:rPr lang="x-none">
                <a:sym typeface="+mn-ea"/>
              </a:rPr>
              <a:t>存取控制</a:t>
            </a:r>
            <a:endParaRPr kumimoji="0" lang="x-none"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3"/>
          <p:cNvSpPr>
            <a:spLocks noGrp="1"/>
          </p:cNvSpPr>
          <p:nvPr>
            <p:ph idx="1"/>
          </p:nvPr>
        </p:nvSpPr>
        <p:spPr>
          <a:xfrm>
            <a:off x="776605" y="751205"/>
            <a:ext cx="7668895" cy="3773170"/>
          </a:xfrm>
        </p:spPr>
        <p:txBody>
          <a:bodyPr wrap="square" lIns="68580" tIns="34290" rIns="68580" bIns="34290" anchor="t"/>
          <a:lstStyle/>
          <a:p>
            <a:pPr marL="0" indent="0" eaLnBrk="1" hangingPunct="1">
              <a:buNone/>
            </a:pPr>
            <a:r>
              <a:rPr lang="zh-CN" altLang="en-US" sz="2000" b="1" dirty="0">
                <a:solidFill>
                  <a:srgbClr val="11576A"/>
                </a:solidFill>
                <a:latin typeface="微软雅黑" panose="020B0503020204020204" pitchFamily="34" charset="-122"/>
                <a:ea typeface="微软雅黑" panose="020B0503020204020204" pitchFamily="34" charset="-122"/>
              </a:rPr>
              <a:t>四种方式来验证用户的存取操作</a:t>
            </a:r>
            <a:endParaRPr lang="en-US" altLang="zh-CN" sz="2000" b="1" dirty="0">
              <a:solidFill>
                <a:srgbClr val="11576A"/>
              </a:solidFill>
              <a:latin typeface="微软雅黑" panose="020B0503020204020204" pitchFamily="34" charset="-122"/>
              <a:ea typeface="微软雅黑" panose="020B0503020204020204" pitchFamily="34" charset="-122"/>
            </a:endParaRPr>
          </a:p>
          <a:p>
            <a:pPr marL="0" indent="0">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rPr>
              <a:t>存取控制矩阵</a:t>
            </a:r>
            <a:endParaRPr lang="en-US" altLang="zh-CN" sz="2000" b="1" dirty="0">
              <a:solidFill>
                <a:srgbClr val="11576A"/>
              </a:solidFill>
              <a:latin typeface="微软雅黑" panose="020B0503020204020204" pitchFamily="34" charset="-122"/>
              <a:ea typeface="微软雅黑" panose="020B0503020204020204" pitchFamily="34" charset="-122"/>
            </a:endParaRPr>
          </a:p>
          <a:p>
            <a:pPr marL="0" indent="0">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rPr>
              <a:t>存取控制表</a:t>
            </a:r>
            <a:endParaRPr lang="en-US" altLang="zh-CN" sz="2000" b="1" dirty="0">
              <a:solidFill>
                <a:srgbClr val="11576A"/>
              </a:solidFill>
              <a:latin typeface="微软雅黑" panose="020B0503020204020204" pitchFamily="34" charset="-122"/>
              <a:ea typeface="微软雅黑" panose="020B0503020204020204" pitchFamily="34" charset="-122"/>
            </a:endParaRPr>
          </a:p>
          <a:p>
            <a:pPr marL="0" indent="0">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rPr>
              <a:t>口令</a:t>
            </a:r>
            <a:endParaRPr lang="en-US" altLang="zh-CN" sz="2000" b="1" dirty="0">
              <a:solidFill>
                <a:srgbClr val="11576A"/>
              </a:solidFill>
              <a:latin typeface="微软雅黑" panose="020B0503020204020204" pitchFamily="34" charset="-122"/>
              <a:ea typeface="微软雅黑" panose="020B0503020204020204" pitchFamily="34" charset="-122"/>
            </a:endParaRPr>
          </a:p>
          <a:p>
            <a:pPr marL="0" indent="0">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rPr>
              <a:t>密码术</a:t>
            </a:r>
            <a:endParaRPr lang="en-US" altLang="zh-CN" sz="2000" b="1" dirty="0">
              <a:solidFill>
                <a:srgbClr val="11576A"/>
              </a:solidFill>
              <a:latin typeface="微软雅黑" panose="020B0503020204020204" pitchFamily="34" charset="-122"/>
              <a:ea typeface="微软雅黑" panose="020B0503020204020204" pitchFamily="34" charset="-122"/>
            </a:endParaRPr>
          </a:p>
          <a:p>
            <a:pPr marL="0" indent="0">
              <a:buNone/>
            </a:pPr>
            <a:r>
              <a:rPr lang="zh-CN" altLang="en-US" sz="2000" b="1" dirty="0">
                <a:solidFill>
                  <a:srgbClr val="11576A"/>
                </a:solidFill>
                <a:latin typeface="微软雅黑" panose="020B0503020204020204" pitchFamily="34" charset="-122"/>
                <a:ea typeface="微软雅黑" panose="020B0503020204020204" pitchFamily="34" charset="-122"/>
              </a:rPr>
              <a:t>系统设计人员根据需要选择其中一种或几种并将相应的数据结构置于目录文件中，在用户存取文件时，进行验证</a:t>
            </a:r>
          </a:p>
          <a:p>
            <a:pPr lvl="1" eaLnBrk="1" hangingPunct="1"/>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a:sym typeface="+mn-ea"/>
              </a:rPr>
              <a:t>文件</a:t>
            </a:r>
            <a:r>
              <a:rPr lang="x-none">
                <a:sym typeface="+mn-ea"/>
              </a:rPr>
              <a:t>存取控制</a:t>
            </a:r>
            <a:endParaRPr kumimoji="0" lang="x-none"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3"/>
          <p:cNvSpPr>
            <a:spLocks noGrp="1"/>
          </p:cNvSpPr>
          <p:nvPr>
            <p:ph idx="1"/>
          </p:nvPr>
        </p:nvSpPr>
        <p:spPr>
          <a:xfrm>
            <a:off x="847090" y="894715"/>
            <a:ext cx="7793990" cy="3539490"/>
          </a:xfrm>
        </p:spPr>
        <p:txBody>
          <a:bodyPr wrap="square" lIns="68580" tIns="34290" rIns="68580" bIns="34290" anchor="t"/>
          <a:lstStyle/>
          <a:p>
            <a:pPr eaLnBrk="1" hangingPunct="1">
              <a:buNone/>
            </a:pPr>
            <a:r>
              <a:rPr lang="zh-CN" altLang="en-US" sz="2000" b="1" dirty="0">
                <a:solidFill>
                  <a:srgbClr val="FF0000"/>
                </a:solidFill>
                <a:latin typeface="微软雅黑" panose="020B0503020204020204" pitchFamily="34" charset="-122"/>
                <a:ea typeface="微软雅黑" panose="020B0503020204020204" pitchFamily="34" charset="-122"/>
                <a:sym typeface="+mn-ea"/>
              </a:rPr>
              <a:t>存取控制矩阵</a:t>
            </a:r>
            <a:endParaRPr lang="zh-CN" altLang="en-US" sz="2000" b="1" dirty="0">
              <a:solidFill>
                <a:srgbClr val="FF0000"/>
              </a:solidFill>
              <a:latin typeface="微软雅黑" panose="020B0503020204020204" pitchFamily="34" charset="-122"/>
              <a:ea typeface="微软雅黑" panose="020B0503020204020204" pitchFamily="34" charset="-122"/>
            </a:endParaRPr>
          </a:p>
          <a:p>
            <a:pPr>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sym typeface="+mn-ea"/>
              </a:rPr>
              <a:t>一维代表所有用户，一维代表系统中的所有文件</a:t>
            </a:r>
            <a:endParaRPr lang="zh-CN" altLang="en-US" sz="2000" b="1" dirty="0">
              <a:solidFill>
                <a:srgbClr val="11576A"/>
              </a:solidFill>
              <a:latin typeface="微软雅黑" panose="020B0503020204020204" pitchFamily="34" charset="-122"/>
              <a:ea typeface="微软雅黑" panose="020B0503020204020204" pitchFamily="34" charset="-122"/>
            </a:endParaRPr>
          </a:p>
          <a:p>
            <a:pPr>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sym typeface="+mn-ea"/>
              </a:rPr>
              <a:t>对应的矩阵元素则是用户对文件的存取控制权</a:t>
            </a:r>
            <a:endParaRPr lang="zh-CN" altLang="en-US" sz="2000" b="1" dirty="0">
              <a:solidFill>
                <a:srgbClr val="11576A"/>
              </a:solidFill>
              <a:latin typeface="微软雅黑" panose="020B0503020204020204" pitchFamily="34" charset="-122"/>
              <a:ea typeface="微软雅黑" panose="020B0503020204020204" pitchFamily="34" charset="-122"/>
            </a:endParaRPr>
          </a:p>
          <a:p>
            <a:pPr eaLnBrk="1" hangingPunct="1"/>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nvGrpSpPr>
          <p:cNvPr id="2" name="Group 4"/>
          <p:cNvGrpSpPr/>
          <p:nvPr/>
        </p:nvGrpSpPr>
        <p:grpSpPr>
          <a:xfrm>
            <a:off x="1691640" y="2143122"/>
            <a:ext cx="5086350" cy="1371600"/>
            <a:chOff x="144" y="2736"/>
            <a:chExt cx="5376" cy="1184"/>
          </a:xfrm>
        </p:grpSpPr>
        <p:grpSp>
          <p:nvGrpSpPr>
            <p:cNvPr id="3" name="Group 5"/>
            <p:cNvGrpSpPr/>
            <p:nvPr/>
          </p:nvGrpSpPr>
          <p:grpSpPr>
            <a:xfrm>
              <a:off x="144" y="2736"/>
              <a:ext cx="5376" cy="1184"/>
              <a:chOff x="-3" y="-3"/>
              <a:chExt cx="2698" cy="1760"/>
            </a:xfrm>
          </p:grpSpPr>
          <p:grpSp>
            <p:nvGrpSpPr>
              <p:cNvPr id="4" name="Group 6"/>
              <p:cNvGrpSpPr/>
              <p:nvPr/>
            </p:nvGrpSpPr>
            <p:grpSpPr>
              <a:xfrm>
                <a:off x="0" y="0"/>
                <a:ext cx="2692" cy="1754"/>
                <a:chOff x="0" y="0"/>
                <a:chExt cx="2692" cy="1754"/>
              </a:xfrm>
            </p:grpSpPr>
            <p:grpSp>
              <p:nvGrpSpPr>
                <p:cNvPr id="5" name="Group 7"/>
                <p:cNvGrpSpPr/>
                <p:nvPr/>
              </p:nvGrpSpPr>
              <p:grpSpPr>
                <a:xfrm>
                  <a:off x="0" y="0"/>
                  <a:ext cx="805" cy="632"/>
                  <a:chOff x="0" y="0"/>
                  <a:chExt cx="805" cy="632"/>
                </a:xfrm>
              </p:grpSpPr>
              <p:sp>
                <p:nvSpPr>
                  <p:cNvPr id="6" name="Rectangle 8"/>
                  <p:cNvSpPr/>
                  <p:nvPr/>
                </p:nvSpPr>
                <p:spPr>
                  <a:xfrm>
                    <a:off x="43" y="0"/>
                    <a:ext cx="762" cy="632"/>
                  </a:xfrm>
                  <a:prstGeom prst="rect">
                    <a:avLst/>
                  </a:prstGeom>
                  <a:noFill/>
                  <a:ln w="9525">
                    <a:noFill/>
                    <a:miter/>
                  </a:ln>
                </p:spPr>
                <p:txBody>
                  <a:bodyPr anchor="ctr"/>
                  <a:lstStyle/>
                  <a:p>
                    <a:pPr lvl="0" algn="just" eaLnBrk="1" hangingPunct="1"/>
                    <a:r>
                      <a:rPr lang="en-US" altLang="zh-CN" sz="1500" b="1" dirty="0">
                        <a:latin typeface="Times New Roman" panose="02020603050405020304" charset="0"/>
                        <a:ea typeface="宋体" panose="02010600030101010101" pitchFamily="2" charset="-122"/>
                      </a:rPr>
                      <a:t>          </a:t>
                    </a:r>
                    <a:r>
                      <a:rPr lang="zh-CN" altLang="en-US" sz="1500" b="1" dirty="0">
                        <a:latin typeface="Times New Roman" panose="02020603050405020304" charset="0"/>
                        <a:ea typeface="宋体" panose="02010600030101010101" pitchFamily="2" charset="-122"/>
                      </a:rPr>
                      <a:t>用户</a:t>
                    </a:r>
                  </a:p>
                  <a:p>
                    <a:pPr lvl="0" eaLnBrk="0" hangingPunct="0"/>
                    <a:r>
                      <a:rPr lang="zh-CN" altLang="en-US" sz="1500" b="1" dirty="0">
                        <a:latin typeface="Times New Roman" panose="02020603050405020304" charset="0"/>
                        <a:ea typeface="宋体" panose="02010600030101010101" pitchFamily="2" charset="-122"/>
                      </a:rPr>
                      <a:t>文件</a:t>
                    </a:r>
                    <a:endParaRPr sz="1500" b="1" dirty="0">
                      <a:latin typeface="Times New Roman" panose="02020603050405020304" charset="0"/>
                      <a:ea typeface="宋体" panose="02010600030101010101" pitchFamily="2" charset="-122"/>
                    </a:endParaRPr>
                  </a:p>
                </p:txBody>
              </p:sp>
              <p:sp>
                <p:nvSpPr>
                  <p:cNvPr id="7" name="Rectangle 9"/>
                  <p:cNvSpPr/>
                  <p:nvPr/>
                </p:nvSpPr>
                <p:spPr>
                  <a:xfrm>
                    <a:off x="0" y="0"/>
                    <a:ext cx="632" cy="632"/>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8" name="Group 10"/>
                <p:cNvGrpSpPr/>
                <p:nvPr/>
              </p:nvGrpSpPr>
              <p:grpSpPr>
                <a:xfrm>
                  <a:off x="632" y="0"/>
                  <a:ext cx="664" cy="632"/>
                  <a:chOff x="632" y="0"/>
                  <a:chExt cx="664" cy="632"/>
                </a:xfrm>
              </p:grpSpPr>
              <p:sp>
                <p:nvSpPr>
                  <p:cNvPr id="9" name="Rectangle 11"/>
                  <p:cNvSpPr/>
                  <p:nvPr/>
                </p:nvSpPr>
                <p:spPr>
                  <a:xfrm>
                    <a:off x="675" y="0"/>
                    <a:ext cx="578" cy="632"/>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Joan</a:t>
                    </a:r>
                    <a:endParaRPr sz="1500" b="1">
                      <a:latin typeface="Times New Roman" panose="02020603050405020304" charset="0"/>
                      <a:ea typeface="宋体" panose="02010600030101010101" pitchFamily="2" charset="-122"/>
                    </a:endParaRPr>
                  </a:p>
                </p:txBody>
              </p:sp>
              <p:sp>
                <p:nvSpPr>
                  <p:cNvPr id="10" name="Rectangle 12"/>
                  <p:cNvSpPr/>
                  <p:nvPr/>
                </p:nvSpPr>
                <p:spPr>
                  <a:xfrm>
                    <a:off x="632" y="0"/>
                    <a:ext cx="664" cy="632"/>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11" name="Group 13"/>
                <p:cNvGrpSpPr/>
                <p:nvPr/>
              </p:nvGrpSpPr>
              <p:grpSpPr>
                <a:xfrm>
                  <a:off x="1296" y="0"/>
                  <a:ext cx="662" cy="632"/>
                  <a:chOff x="1296" y="0"/>
                  <a:chExt cx="662" cy="632"/>
                </a:xfrm>
              </p:grpSpPr>
              <p:sp>
                <p:nvSpPr>
                  <p:cNvPr id="12" name="Rectangle 14"/>
                  <p:cNvSpPr/>
                  <p:nvPr/>
                </p:nvSpPr>
                <p:spPr>
                  <a:xfrm>
                    <a:off x="1339" y="0"/>
                    <a:ext cx="576" cy="632"/>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Alice</a:t>
                    </a:r>
                    <a:endParaRPr sz="1500" b="1">
                      <a:latin typeface="Times New Roman" panose="02020603050405020304" charset="0"/>
                      <a:ea typeface="宋体" panose="02010600030101010101" pitchFamily="2" charset="-122"/>
                    </a:endParaRPr>
                  </a:p>
                </p:txBody>
              </p:sp>
              <p:sp>
                <p:nvSpPr>
                  <p:cNvPr id="13" name="Rectangle 15"/>
                  <p:cNvSpPr/>
                  <p:nvPr/>
                </p:nvSpPr>
                <p:spPr>
                  <a:xfrm>
                    <a:off x="1296" y="0"/>
                    <a:ext cx="662" cy="632"/>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14" name="Group 16"/>
                <p:cNvGrpSpPr/>
                <p:nvPr/>
              </p:nvGrpSpPr>
              <p:grpSpPr>
                <a:xfrm>
                  <a:off x="1958" y="0"/>
                  <a:ext cx="734" cy="632"/>
                  <a:chOff x="1958" y="0"/>
                  <a:chExt cx="734" cy="632"/>
                </a:xfrm>
              </p:grpSpPr>
              <p:sp>
                <p:nvSpPr>
                  <p:cNvPr id="15" name="Rectangle 17"/>
                  <p:cNvSpPr/>
                  <p:nvPr/>
                </p:nvSpPr>
                <p:spPr>
                  <a:xfrm>
                    <a:off x="2001" y="0"/>
                    <a:ext cx="648" cy="632"/>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Tom</a:t>
                    </a:r>
                    <a:endParaRPr sz="1500" b="1">
                      <a:latin typeface="Times New Roman" panose="02020603050405020304" charset="0"/>
                      <a:ea typeface="宋体" panose="02010600030101010101" pitchFamily="2" charset="-122"/>
                    </a:endParaRPr>
                  </a:p>
                </p:txBody>
              </p:sp>
              <p:sp>
                <p:nvSpPr>
                  <p:cNvPr id="16" name="Rectangle 18"/>
                  <p:cNvSpPr/>
                  <p:nvPr/>
                </p:nvSpPr>
                <p:spPr>
                  <a:xfrm>
                    <a:off x="1958" y="0"/>
                    <a:ext cx="734" cy="632"/>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17" name="Group 19"/>
                <p:cNvGrpSpPr/>
                <p:nvPr/>
              </p:nvGrpSpPr>
              <p:grpSpPr>
                <a:xfrm>
                  <a:off x="0" y="632"/>
                  <a:ext cx="632" cy="374"/>
                  <a:chOff x="0" y="632"/>
                  <a:chExt cx="632" cy="374"/>
                </a:xfrm>
              </p:grpSpPr>
              <p:sp>
                <p:nvSpPr>
                  <p:cNvPr id="18" name="Rectangle 20"/>
                  <p:cNvSpPr/>
                  <p:nvPr/>
                </p:nvSpPr>
                <p:spPr>
                  <a:xfrm>
                    <a:off x="43" y="632"/>
                    <a:ext cx="546" cy="374"/>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FILE1</a:t>
                    </a:r>
                    <a:endParaRPr sz="1500" b="1">
                      <a:latin typeface="Times New Roman" panose="02020603050405020304" charset="0"/>
                      <a:ea typeface="宋体" panose="02010600030101010101" pitchFamily="2" charset="-122"/>
                    </a:endParaRPr>
                  </a:p>
                </p:txBody>
              </p:sp>
              <p:sp>
                <p:nvSpPr>
                  <p:cNvPr id="19" name="Rectangle 21"/>
                  <p:cNvSpPr/>
                  <p:nvPr/>
                </p:nvSpPr>
                <p:spPr>
                  <a:xfrm>
                    <a:off x="0" y="632"/>
                    <a:ext cx="632" cy="374"/>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20" name="Group 22"/>
                <p:cNvGrpSpPr/>
                <p:nvPr/>
              </p:nvGrpSpPr>
              <p:grpSpPr>
                <a:xfrm>
                  <a:off x="632" y="632"/>
                  <a:ext cx="664" cy="374"/>
                  <a:chOff x="632" y="632"/>
                  <a:chExt cx="664" cy="374"/>
                </a:xfrm>
              </p:grpSpPr>
              <p:sp>
                <p:nvSpPr>
                  <p:cNvPr id="21" name="Rectangle 23"/>
                  <p:cNvSpPr/>
                  <p:nvPr/>
                </p:nvSpPr>
                <p:spPr>
                  <a:xfrm>
                    <a:off x="675" y="632"/>
                    <a:ext cx="578" cy="374"/>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RW</a:t>
                    </a:r>
                    <a:endParaRPr sz="1500" b="1">
                      <a:latin typeface="Times New Roman" panose="02020603050405020304" charset="0"/>
                      <a:ea typeface="宋体" panose="02010600030101010101" pitchFamily="2" charset="-122"/>
                    </a:endParaRPr>
                  </a:p>
                </p:txBody>
              </p:sp>
              <p:sp>
                <p:nvSpPr>
                  <p:cNvPr id="22" name="Rectangle 24"/>
                  <p:cNvSpPr/>
                  <p:nvPr/>
                </p:nvSpPr>
                <p:spPr>
                  <a:xfrm>
                    <a:off x="632" y="632"/>
                    <a:ext cx="664" cy="374"/>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23" name="Group 25"/>
                <p:cNvGrpSpPr/>
                <p:nvPr/>
              </p:nvGrpSpPr>
              <p:grpSpPr>
                <a:xfrm>
                  <a:off x="1296" y="632"/>
                  <a:ext cx="662" cy="374"/>
                  <a:chOff x="1296" y="632"/>
                  <a:chExt cx="662" cy="374"/>
                </a:xfrm>
              </p:grpSpPr>
              <p:sp>
                <p:nvSpPr>
                  <p:cNvPr id="24" name="Rectangle 26"/>
                  <p:cNvSpPr/>
                  <p:nvPr/>
                </p:nvSpPr>
                <p:spPr>
                  <a:xfrm>
                    <a:off x="1339" y="632"/>
                    <a:ext cx="576" cy="374"/>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RWE</a:t>
                    </a:r>
                    <a:endParaRPr sz="1500" b="1">
                      <a:latin typeface="Times New Roman" panose="02020603050405020304" charset="0"/>
                      <a:ea typeface="宋体" panose="02010600030101010101" pitchFamily="2" charset="-122"/>
                    </a:endParaRPr>
                  </a:p>
                </p:txBody>
              </p:sp>
              <p:sp>
                <p:nvSpPr>
                  <p:cNvPr id="25" name="Rectangle 27"/>
                  <p:cNvSpPr/>
                  <p:nvPr/>
                </p:nvSpPr>
                <p:spPr>
                  <a:xfrm>
                    <a:off x="1296" y="632"/>
                    <a:ext cx="662" cy="374"/>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26" name="Group 28"/>
                <p:cNvGrpSpPr/>
                <p:nvPr/>
              </p:nvGrpSpPr>
              <p:grpSpPr>
                <a:xfrm>
                  <a:off x="1958" y="632"/>
                  <a:ext cx="734" cy="374"/>
                  <a:chOff x="1958" y="632"/>
                  <a:chExt cx="734" cy="374"/>
                </a:xfrm>
              </p:grpSpPr>
              <p:sp>
                <p:nvSpPr>
                  <p:cNvPr id="27" name="Rectangle 29"/>
                  <p:cNvSpPr/>
                  <p:nvPr/>
                </p:nvSpPr>
                <p:spPr>
                  <a:xfrm>
                    <a:off x="2001" y="632"/>
                    <a:ext cx="648" cy="374"/>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R</a:t>
                    </a:r>
                    <a:endParaRPr sz="1500" b="1">
                      <a:latin typeface="Times New Roman" panose="02020603050405020304" charset="0"/>
                      <a:ea typeface="宋体" panose="02010600030101010101" pitchFamily="2" charset="-122"/>
                    </a:endParaRPr>
                  </a:p>
                </p:txBody>
              </p:sp>
              <p:sp>
                <p:nvSpPr>
                  <p:cNvPr id="28" name="Rectangle 30"/>
                  <p:cNvSpPr/>
                  <p:nvPr/>
                </p:nvSpPr>
                <p:spPr>
                  <a:xfrm>
                    <a:off x="1958" y="632"/>
                    <a:ext cx="734" cy="374"/>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29" name="Group 31"/>
                <p:cNvGrpSpPr/>
                <p:nvPr/>
              </p:nvGrpSpPr>
              <p:grpSpPr>
                <a:xfrm>
                  <a:off x="0" y="1006"/>
                  <a:ext cx="632" cy="374"/>
                  <a:chOff x="0" y="1006"/>
                  <a:chExt cx="632" cy="374"/>
                </a:xfrm>
              </p:grpSpPr>
              <p:sp>
                <p:nvSpPr>
                  <p:cNvPr id="30" name="Rectangle 32"/>
                  <p:cNvSpPr/>
                  <p:nvPr/>
                </p:nvSpPr>
                <p:spPr>
                  <a:xfrm>
                    <a:off x="43" y="1006"/>
                    <a:ext cx="546" cy="374"/>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FILE2</a:t>
                    </a:r>
                    <a:endParaRPr sz="1500" b="1">
                      <a:latin typeface="Times New Roman" panose="02020603050405020304" charset="0"/>
                      <a:ea typeface="宋体" panose="02010600030101010101" pitchFamily="2" charset="-122"/>
                    </a:endParaRPr>
                  </a:p>
                </p:txBody>
              </p:sp>
              <p:sp>
                <p:nvSpPr>
                  <p:cNvPr id="31" name="Rectangle 33"/>
                  <p:cNvSpPr/>
                  <p:nvPr/>
                </p:nvSpPr>
                <p:spPr>
                  <a:xfrm>
                    <a:off x="0" y="1006"/>
                    <a:ext cx="632" cy="374"/>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32" name="Group 34"/>
                <p:cNvGrpSpPr/>
                <p:nvPr/>
              </p:nvGrpSpPr>
              <p:grpSpPr>
                <a:xfrm>
                  <a:off x="632" y="1006"/>
                  <a:ext cx="664" cy="374"/>
                  <a:chOff x="632" y="1006"/>
                  <a:chExt cx="664" cy="374"/>
                </a:xfrm>
              </p:grpSpPr>
              <p:sp>
                <p:nvSpPr>
                  <p:cNvPr id="33" name="Rectangle 35"/>
                  <p:cNvSpPr/>
                  <p:nvPr/>
                </p:nvSpPr>
                <p:spPr>
                  <a:xfrm>
                    <a:off x="675" y="1006"/>
                    <a:ext cx="578" cy="374"/>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R</a:t>
                    </a:r>
                    <a:endParaRPr sz="1500" b="1">
                      <a:latin typeface="Times New Roman" panose="02020603050405020304" charset="0"/>
                      <a:ea typeface="宋体" panose="02010600030101010101" pitchFamily="2" charset="-122"/>
                    </a:endParaRPr>
                  </a:p>
                </p:txBody>
              </p:sp>
              <p:sp>
                <p:nvSpPr>
                  <p:cNvPr id="34" name="Rectangle 36"/>
                  <p:cNvSpPr/>
                  <p:nvPr/>
                </p:nvSpPr>
                <p:spPr>
                  <a:xfrm>
                    <a:off x="632" y="1006"/>
                    <a:ext cx="664" cy="374"/>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35" name="Group 37"/>
                <p:cNvGrpSpPr/>
                <p:nvPr/>
              </p:nvGrpSpPr>
              <p:grpSpPr>
                <a:xfrm>
                  <a:off x="1296" y="1006"/>
                  <a:ext cx="662" cy="374"/>
                  <a:chOff x="1296" y="1006"/>
                  <a:chExt cx="662" cy="374"/>
                </a:xfrm>
              </p:grpSpPr>
              <p:sp>
                <p:nvSpPr>
                  <p:cNvPr id="36" name="Rectangle 38"/>
                  <p:cNvSpPr/>
                  <p:nvPr/>
                </p:nvSpPr>
                <p:spPr>
                  <a:xfrm>
                    <a:off x="1339" y="1006"/>
                    <a:ext cx="576" cy="374"/>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E</a:t>
                    </a:r>
                    <a:endParaRPr sz="1500" b="1">
                      <a:latin typeface="Times New Roman" panose="02020603050405020304" charset="0"/>
                      <a:ea typeface="宋体" panose="02010600030101010101" pitchFamily="2" charset="-122"/>
                    </a:endParaRPr>
                  </a:p>
                </p:txBody>
              </p:sp>
              <p:sp>
                <p:nvSpPr>
                  <p:cNvPr id="37" name="Rectangle 39"/>
                  <p:cNvSpPr/>
                  <p:nvPr/>
                </p:nvSpPr>
                <p:spPr>
                  <a:xfrm>
                    <a:off x="1296" y="1006"/>
                    <a:ext cx="662" cy="374"/>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38" name="Group 40"/>
                <p:cNvGrpSpPr/>
                <p:nvPr/>
              </p:nvGrpSpPr>
              <p:grpSpPr>
                <a:xfrm>
                  <a:off x="1958" y="1006"/>
                  <a:ext cx="734" cy="374"/>
                  <a:chOff x="1958" y="1006"/>
                  <a:chExt cx="734" cy="374"/>
                </a:xfrm>
              </p:grpSpPr>
              <p:sp>
                <p:nvSpPr>
                  <p:cNvPr id="39" name="Rectangle 41"/>
                  <p:cNvSpPr/>
                  <p:nvPr/>
                </p:nvSpPr>
                <p:spPr>
                  <a:xfrm>
                    <a:off x="2001" y="1006"/>
                    <a:ext cx="648" cy="374"/>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R</a:t>
                    </a:r>
                    <a:endParaRPr sz="1500" b="1">
                      <a:latin typeface="Times New Roman" panose="02020603050405020304" charset="0"/>
                      <a:ea typeface="宋体" panose="02010600030101010101" pitchFamily="2" charset="-122"/>
                    </a:endParaRPr>
                  </a:p>
                </p:txBody>
              </p:sp>
              <p:sp>
                <p:nvSpPr>
                  <p:cNvPr id="40" name="Rectangle 42"/>
                  <p:cNvSpPr/>
                  <p:nvPr/>
                </p:nvSpPr>
                <p:spPr>
                  <a:xfrm>
                    <a:off x="1958" y="1006"/>
                    <a:ext cx="734" cy="374"/>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41" name="Group 43"/>
                <p:cNvGrpSpPr/>
                <p:nvPr/>
              </p:nvGrpSpPr>
              <p:grpSpPr>
                <a:xfrm>
                  <a:off x="0" y="1380"/>
                  <a:ext cx="632" cy="374"/>
                  <a:chOff x="0" y="1380"/>
                  <a:chExt cx="632" cy="374"/>
                </a:xfrm>
              </p:grpSpPr>
              <p:sp>
                <p:nvSpPr>
                  <p:cNvPr id="42" name="Rectangle 44"/>
                  <p:cNvSpPr/>
                  <p:nvPr/>
                </p:nvSpPr>
                <p:spPr>
                  <a:xfrm>
                    <a:off x="43" y="1380"/>
                    <a:ext cx="546" cy="374"/>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FILE3</a:t>
                    </a:r>
                    <a:endParaRPr sz="1500" b="1">
                      <a:latin typeface="Times New Roman" panose="02020603050405020304" charset="0"/>
                      <a:ea typeface="宋体" panose="02010600030101010101" pitchFamily="2" charset="-122"/>
                    </a:endParaRPr>
                  </a:p>
                </p:txBody>
              </p:sp>
              <p:sp>
                <p:nvSpPr>
                  <p:cNvPr id="43" name="Rectangle 45"/>
                  <p:cNvSpPr/>
                  <p:nvPr/>
                </p:nvSpPr>
                <p:spPr>
                  <a:xfrm>
                    <a:off x="0" y="1380"/>
                    <a:ext cx="632" cy="374"/>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44" name="Group 46"/>
                <p:cNvGrpSpPr/>
                <p:nvPr/>
              </p:nvGrpSpPr>
              <p:grpSpPr>
                <a:xfrm>
                  <a:off x="632" y="1380"/>
                  <a:ext cx="664" cy="374"/>
                  <a:chOff x="632" y="1380"/>
                  <a:chExt cx="664" cy="374"/>
                </a:xfrm>
              </p:grpSpPr>
              <p:sp>
                <p:nvSpPr>
                  <p:cNvPr id="45" name="Rectangle 47"/>
                  <p:cNvSpPr/>
                  <p:nvPr/>
                </p:nvSpPr>
                <p:spPr>
                  <a:xfrm>
                    <a:off x="675" y="1380"/>
                    <a:ext cx="578" cy="374"/>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W</a:t>
                    </a:r>
                    <a:endParaRPr sz="1500" b="1">
                      <a:latin typeface="Times New Roman" panose="02020603050405020304" charset="0"/>
                      <a:ea typeface="宋体" panose="02010600030101010101" pitchFamily="2" charset="-122"/>
                    </a:endParaRPr>
                  </a:p>
                </p:txBody>
              </p:sp>
              <p:sp>
                <p:nvSpPr>
                  <p:cNvPr id="46" name="Rectangle 48"/>
                  <p:cNvSpPr/>
                  <p:nvPr/>
                </p:nvSpPr>
                <p:spPr>
                  <a:xfrm>
                    <a:off x="632" y="1380"/>
                    <a:ext cx="664" cy="374"/>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47" name="Group 49"/>
                <p:cNvGrpSpPr/>
                <p:nvPr/>
              </p:nvGrpSpPr>
              <p:grpSpPr>
                <a:xfrm>
                  <a:off x="1296" y="1380"/>
                  <a:ext cx="662" cy="374"/>
                  <a:chOff x="1296" y="1380"/>
                  <a:chExt cx="662" cy="374"/>
                </a:xfrm>
              </p:grpSpPr>
              <p:sp>
                <p:nvSpPr>
                  <p:cNvPr id="48" name="Rectangle 50"/>
                  <p:cNvSpPr/>
                  <p:nvPr/>
                </p:nvSpPr>
                <p:spPr>
                  <a:xfrm>
                    <a:off x="1339" y="1380"/>
                    <a:ext cx="576" cy="374"/>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E</a:t>
                    </a:r>
                    <a:endParaRPr sz="1500" b="1">
                      <a:latin typeface="Times New Roman" panose="02020603050405020304" charset="0"/>
                      <a:ea typeface="宋体" panose="02010600030101010101" pitchFamily="2" charset="-122"/>
                    </a:endParaRPr>
                  </a:p>
                </p:txBody>
              </p:sp>
              <p:sp>
                <p:nvSpPr>
                  <p:cNvPr id="49" name="Rectangle 51"/>
                  <p:cNvSpPr/>
                  <p:nvPr/>
                </p:nvSpPr>
                <p:spPr>
                  <a:xfrm>
                    <a:off x="1296" y="1380"/>
                    <a:ext cx="662" cy="374"/>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nvGrpSpPr>
                <p:cNvPr id="50" name="Group 52"/>
                <p:cNvGrpSpPr/>
                <p:nvPr/>
              </p:nvGrpSpPr>
              <p:grpSpPr>
                <a:xfrm>
                  <a:off x="1958" y="1380"/>
                  <a:ext cx="734" cy="374"/>
                  <a:chOff x="1958" y="1380"/>
                  <a:chExt cx="734" cy="374"/>
                </a:xfrm>
              </p:grpSpPr>
              <p:sp>
                <p:nvSpPr>
                  <p:cNvPr id="51" name="Rectangle 53"/>
                  <p:cNvSpPr/>
                  <p:nvPr/>
                </p:nvSpPr>
                <p:spPr>
                  <a:xfrm>
                    <a:off x="2001" y="1380"/>
                    <a:ext cx="648" cy="374"/>
                  </a:xfrm>
                  <a:prstGeom prst="rect">
                    <a:avLst/>
                  </a:prstGeom>
                  <a:noFill/>
                  <a:ln w="9525">
                    <a:noFill/>
                    <a:miter/>
                  </a:ln>
                </p:spPr>
                <p:txBody>
                  <a:bodyPr anchor="ctr"/>
                  <a:lstStyle/>
                  <a:p>
                    <a:pPr lvl="0" algn="ctr" eaLnBrk="1" hangingPunct="1"/>
                    <a:r>
                      <a:rPr lang="en-US" altLang="zh-CN" sz="1500" b="1">
                        <a:latin typeface="Times New Roman" panose="02020603050405020304" charset="0"/>
                        <a:ea typeface="宋体" panose="02010600030101010101" pitchFamily="2" charset="-122"/>
                      </a:rPr>
                      <a:t>RW</a:t>
                    </a:r>
                    <a:endParaRPr sz="1500" b="1">
                      <a:latin typeface="Times New Roman" panose="02020603050405020304" charset="0"/>
                      <a:ea typeface="宋体" panose="02010600030101010101" pitchFamily="2" charset="-122"/>
                    </a:endParaRPr>
                  </a:p>
                </p:txBody>
              </p:sp>
              <p:sp>
                <p:nvSpPr>
                  <p:cNvPr id="52" name="Rectangle 54"/>
                  <p:cNvSpPr/>
                  <p:nvPr/>
                </p:nvSpPr>
                <p:spPr>
                  <a:xfrm>
                    <a:off x="1958" y="1380"/>
                    <a:ext cx="734" cy="374"/>
                  </a:xfrm>
                  <a:prstGeom prst="rect">
                    <a:avLst/>
                  </a:prstGeom>
                  <a:noFill/>
                  <a:ln w="7"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grpSp>
          <p:sp>
            <p:nvSpPr>
              <p:cNvPr id="53" name="Rectangle 55"/>
              <p:cNvSpPr/>
              <p:nvPr/>
            </p:nvSpPr>
            <p:spPr>
              <a:xfrm>
                <a:off x="-3" y="-3"/>
                <a:ext cx="2698" cy="1760"/>
              </a:xfrm>
              <a:prstGeom prst="rect">
                <a:avLst/>
              </a:prstGeom>
              <a:noFill/>
              <a:ln w="9525" cap="flat" cmpd="sng">
                <a:solidFill>
                  <a:srgbClr val="A0A0A0"/>
                </a:solidFill>
                <a:prstDash val="solid"/>
                <a:miter/>
                <a:headEnd type="none" w="med" len="med"/>
                <a:tailEnd type="none" w="med" len="med"/>
              </a:ln>
            </p:spPr>
            <p:txBody>
              <a:bodyPr anchor="t"/>
              <a:lstStyle/>
              <a:p>
                <a:pPr lvl="0" eaLnBrk="1" hangingPunct="1"/>
                <a:endParaRPr lang="zh-CN" altLang="en-US" sz="1200">
                  <a:latin typeface="Arial" panose="020B0604020202020204" pitchFamily="34" charset="0"/>
                  <a:ea typeface="黑体" panose="02010609060101010101" pitchFamily="2" charset="-122"/>
                </a:endParaRPr>
              </a:p>
            </p:txBody>
          </p:sp>
        </p:grpSp>
        <p:sp>
          <p:nvSpPr>
            <p:cNvPr id="54" name="Line 56"/>
            <p:cNvSpPr/>
            <p:nvPr/>
          </p:nvSpPr>
          <p:spPr>
            <a:xfrm>
              <a:off x="144" y="2784"/>
              <a:ext cx="1248" cy="336"/>
            </a:xfrm>
            <a:prstGeom prst="line">
              <a:avLst/>
            </a:prstGeom>
            <a:ln w="9525" cap="flat" cmpd="sng">
              <a:solidFill>
                <a:schemeClr val="tx1"/>
              </a:solidFill>
              <a:prstDash val="solid"/>
              <a:round/>
              <a:headEnd type="none" w="med" len="med"/>
              <a:tailEnd type="none" w="med" len="med"/>
            </a:ln>
          </p:spPr>
          <p:txBody>
            <a:bodyPr anchor="t"/>
            <a:lstStyle/>
            <a:p>
              <a:pPr lvl="0" eaLnBrk="0" hangingPunct="0"/>
              <a:endParaRPr lang="zh-CN" altLang="en-US" sz="1350">
                <a:latin typeface="Arial" panose="020B0604020202020204" pitchFamily="34" charset="0"/>
                <a:ea typeface="黑体" panose="02010609060101010101" pitchFamily="2" charset="-122"/>
              </a:endParaRPr>
            </a:p>
          </p:txBody>
        </p:sp>
      </p:grpSp>
      <p:sp>
        <p:nvSpPr>
          <p:cNvPr id="56" name="Text Box 55"/>
          <p:cNvSpPr txBox="1"/>
          <p:nvPr/>
        </p:nvSpPr>
        <p:spPr>
          <a:xfrm>
            <a:off x="928662" y="3651885"/>
            <a:ext cx="6027763" cy="933450"/>
          </a:xfrm>
          <a:prstGeom prst="rect">
            <a:avLst/>
          </a:prstGeom>
          <a:noFill/>
        </p:spPr>
        <p:txBody>
          <a:bodyPr wrap="square" rtlCol="0" anchor="t">
            <a:spAutoFit/>
          </a:bodyPr>
          <a:lstStyle/>
          <a:p>
            <a:pPr eaLnBrk="1" hangingPunct="1"/>
            <a:r>
              <a:rPr lang="zh-CN" altLang="en-US" b="1" dirty="0">
                <a:solidFill>
                  <a:srgbClr val="11576A"/>
                </a:solidFill>
                <a:latin typeface="微软雅黑" panose="020B0503020204020204" pitchFamily="34" charset="-122"/>
                <a:ea typeface="微软雅黑" panose="020B0503020204020204" pitchFamily="34" charset="-122"/>
                <a:sym typeface="+mn-ea"/>
              </a:rPr>
              <a:t>存取控制矩阵</a:t>
            </a:r>
            <a:endParaRPr lang="zh-CN" altLang="en-US" b="1" dirty="0">
              <a:solidFill>
                <a:srgbClr val="11576A"/>
              </a:solidFill>
              <a:latin typeface="微软雅黑" panose="020B0503020204020204" pitchFamily="34" charset="-122"/>
              <a:ea typeface="微软雅黑" panose="020B0503020204020204" pitchFamily="34" charset="-122"/>
            </a:endParaRPr>
          </a:p>
          <a:p>
            <a:pPr eaLnBrk="1" hangingPunct="1"/>
            <a:r>
              <a:rPr lang="zh-CN" altLang="en-US" b="1" dirty="0">
                <a:solidFill>
                  <a:srgbClr val="11576A"/>
                </a:solidFill>
                <a:latin typeface="微软雅黑" panose="020B0503020204020204" pitchFamily="34" charset="-122"/>
                <a:ea typeface="微软雅黑" panose="020B0503020204020204" pitchFamily="34" charset="-122"/>
                <a:sym typeface="+mn-ea"/>
              </a:rPr>
              <a:t>优点：一目了然</a:t>
            </a:r>
            <a:endParaRPr lang="zh-CN" altLang="en-US" b="1" dirty="0">
              <a:solidFill>
                <a:srgbClr val="11576A"/>
              </a:solidFill>
              <a:latin typeface="微软雅黑" panose="020B0503020204020204" pitchFamily="34" charset="-122"/>
              <a:ea typeface="微软雅黑" panose="020B0503020204020204" pitchFamily="34" charset="-122"/>
            </a:endParaRPr>
          </a:p>
          <a:p>
            <a:pPr eaLnBrk="1" hangingPunct="1"/>
            <a:r>
              <a:rPr lang="zh-CN" altLang="en-US" b="1" dirty="0">
                <a:solidFill>
                  <a:srgbClr val="11576A"/>
                </a:solidFill>
                <a:latin typeface="微软雅黑" panose="020B0503020204020204" pitchFamily="34" charset="-122"/>
                <a:ea typeface="微软雅黑" panose="020B0503020204020204" pitchFamily="34" charset="-122"/>
                <a:sym typeface="+mn-ea"/>
              </a:rPr>
              <a:t>缺点：矩阵往往过大 </a:t>
            </a:r>
            <a:endParaRPr lang="en-US" dirty="0"/>
          </a:p>
        </p:txBody>
      </p:sp>
      <p:sp>
        <p:nvSpPr>
          <p:cNvPr id="5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a:sym typeface="+mn-ea"/>
              </a:rPr>
              <a:t>文件</a:t>
            </a:r>
            <a:r>
              <a:rPr lang="x-none">
                <a:sym typeface="+mn-ea"/>
              </a:rPr>
              <a:t>存取控制</a:t>
            </a:r>
            <a:endParaRPr kumimoji="0" lang="x-none"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4"/>
          <p:cNvSpPr>
            <a:spLocks noGrp="1"/>
          </p:cNvSpPr>
          <p:nvPr>
            <p:ph idx="1"/>
          </p:nvPr>
        </p:nvSpPr>
        <p:spPr>
          <a:xfrm>
            <a:off x="765810" y="883285"/>
            <a:ext cx="7735280" cy="3551555"/>
          </a:xfrm>
        </p:spPr>
        <p:txBody>
          <a:bodyPr wrap="square" lIns="68580" tIns="34290" rIns="68580" bIns="34290" anchor="t"/>
          <a:lstStyle/>
          <a:p>
            <a:pPr marL="0" indent="0" eaLnBrk="1" hangingPunct="1">
              <a:buNone/>
            </a:pPr>
            <a:r>
              <a:rPr lang="x-none" altLang="zh-CN" sz="2000" b="1" dirty="0">
                <a:solidFill>
                  <a:srgbClr val="FF0000"/>
                </a:solidFill>
                <a:latin typeface="微软雅黑" panose="020B0503020204020204" pitchFamily="34" charset="-122"/>
                <a:ea typeface="微软雅黑" panose="020B0503020204020204" pitchFamily="34" charset="-122"/>
              </a:rPr>
              <a:t>存</a:t>
            </a:r>
            <a:r>
              <a:rPr lang="zh-CN" altLang="en-US" sz="2000" b="1" dirty="0">
                <a:solidFill>
                  <a:srgbClr val="FF0000"/>
                </a:solidFill>
                <a:latin typeface="微软雅黑" panose="020B0503020204020204" pitchFamily="34" charset="-122"/>
                <a:ea typeface="微软雅黑" panose="020B0503020204020204" pitchFamily="34" charset="-122"/>
              </a:rPr>
              <a:t>取控制表</a:t>
            </a:r>
            <a:endParaRPr lang="en-US" altLang="zh-CN" sz="2000" b="1" dirty="0">
              <a:solidFill>
                <a:srgbClr val="FF0000"/>
              </a:solidFill>
              <a:latin typeface="微软雅黑" panose="020B0503020204020204" pitchFamily="34" charset="-122"/>
              <a:ea typeface="微软雅黑" panose="020B0503020204020204" pitchFamily="34" charset="-122"/>
            </a:endParaRPr>
          </a:p>
          <a:p>
            <a:pPr marL="0" indent="0">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rPr>
              <a:t>以文件为单位，把用户按某种关系划分为若干组，同时规定每组的存取控制权限</a:t>
            </a:r>
            <a:endParaRPr lang="en-US" altLang="zh-CN" sz="2000" b="1" dirty="0">
              <a:solidFill>
                <a:srgbClr val="11576A"/>
              </a:solidFill>
              <a:latin typeface="微软雅黑" panose="020B0503020204020204" pitchFamily="34" charset="-122"/>
              <a:ea typeface="微软雅黑" panose="020B0503020204020204" pitchFamily="34" charset="-122"/>
            </a:endParaRPr>
          </a:p>
          <a:p>
            <a:pPr marL="0" indent="0">
              <a:buNone/>
            </a:pPr>
            <a:r>
              <a:rPr lang="zh-CN" altLang="en-US" sz="20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2000" b="1" dirty="0">
                <a:solidFill>
                  <a:srgbClr val="11576A"/>
                </a:solidFill>
                <a:latin typeface="微软雅黑" panose="020B0503020204020204" pitchFamily="34" charset="-122"/>
                <a:ea typeface="微软雅黑" panose="020B0503020204020204" pitchFamily="34" charset="-122"/>
              </a:rPr>
              <a:t>每个文件都有一个存取控制表，存放在文件说明中</a:t>
            </a:r>
          </a:p>
        </p:txBody>
      </p:sp>
      <p:pic>
        <p:nvPicPr>
          <p:cNvPr id="182275" name="Picture 46" descr="未标题-1 拷贝"/>
          <p:cNvPicPr>
            <a:picLocks noChangeAspect="1"/>
          </p:cNvPicPr>
          <p:nvPr/>
        </p:nvPicPr>
        <p:blipFill>
          <a:blip r:embed="rId2">
            <a:clrChange>
              <a:clrFrom>
                <a:srgbClr val="FFFFFF"/>
              </a:clrFrom>
              <a:clrTo>
                <a:srgbClr val="FFFFFF">
                  <a:alpha val="0"/>
                </a:srgbClr>
              </a:clrTo>
            </a:clrChange>
          </a:blip>
          <a:stretch>
            <a:fillRect/>
          </a:stretch>
        </p:blipFill>
        <p:spPr>
          <a:xfrm>
            <a:off x="2915920" y="2427605"/>
            <a:ext cx="2914650" cy="2076450"/>
          </a:xfrm>
          <a:prstGeom prst="rect">
            <a:avLst/>
          </a:prstGeom>
          <a:noFill/>
          <a:ln w="9525">
            <a:noFill/>
            <a:miter/>
          </a:ln>
        </p:spPr>
      </p:pic>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a:sym typeface="+mn-ea"/>
              </a:rPr>
              <a:t>文件</a:t>
            </a:r>
            <a:r>
              <a:rPr lang="x-none">
                <a:sym typeface="+mn-ea"/>
              </a:rPr>
              <a:t>存取控制</a:t>
            </a:r>
            <a:endParaRPr kumimoji="0" lang="x-none"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3"/>
          <p:cNvSpPr>
            <a:spLocks noGrp="1"/>
          </p:cNvSpPr>
          <p:nvPr>
            <p:ph idx="1"/>
          </p:nvPr>
        </p:nvSpPr>
        <p:spPr>
          <a:xfrm>
            <a:off x="571472" y="785800"/>
            <a:ext cx="8358245" cy="3649675"/>
          </a:xfrm>
        </p:spPr>
        <p:txBody>
          <a:bodyPr wrap="square" lIns="68580" tIns="34290" rIns="68580" bIns="34290" anchor="t"/>
          <a:lstStyle/>
          <a:p>
            <a:pPr marL="0" indent="0">
              <a:buNone/>
            </a:pPr>
            <a:r>
              <a:rPr lang="zh-CN" altLang="en-US" sz="2000" b="1" dirty="0">
                <a:solidFill>
                  <a:srgbClr val="FF0000"/>
                </a:solidFill>
                <a:latin typeface="微软雅黑" panose="020B0503020204020204" pitchFamily="34" charset="-122"/>
                <a:ea typeface="微软雅黑" panose="020B0503020204020204" pitchFamily="34" charset="-122"/>
              </a:rPr>
              <a:t>口令</a:t>
            </a:r>
          </a:p>
          <a:p>
            <a:pPr lvl="0">
              <a:buNone/>
            </a:pPr>
            <a:r>
              <a:rPr lang="zh-CN" altLang="en-US" sz="16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1600" b="1" dirty="0">
                <a:solidFill>
                  <a:srgbClr val="11576A"/>
                </a:solidFill>
                <a:latin typeface="微软雅黑" panose="020B0503020204020204" pitchFamily="34" charset="-122"/>
                <a:ea typeface="微软雅黑" panose="020B0503020204020204" pitchFamily="34" charset="-122"/>
              </a:rPr>
              <a:t>当用户进入系统，为建立终端进程时获得系统使用权的口令</a:t>
            </a:r>
          </a:p>
          <a:p>
            <a:pPr lvl="0">
              <a:buNone/>
            </a:pPr>
            <a:r>
              <a:rPr lang="zh-CN" altLang="en-US" sz="1600" b="1" dirty="0">
                <a:solidFill>
                  <a:srgbClr val="11576A"/>
                </a:solidFill>
                <a:latin typeface="张海山锐谐体2.0-授权联系：Samtype@QQ.com" pitchFamily="2" charset="-122"/>
                <a:ea typeface="张海山锐谐体2.0-授权联系：Samtype@QQ.com" pitchFamily="2" charset="-122"/>
                <a:sym typeface="+mn-ea"/>
              </a:rPr>
              <a:t>■ </a:t>
            </a:r>
            <a:r>
              <a:rPr lang="zh-CN" altLang="en-US" sz="1600" b="1" dirty="0">
                <a:solidFill>
                  <a:srgbClr val="11576A"/>
                </a:solidFill>
                <a:latin typeface="微软雅黑" panose="020B0503020204020204" pitchFamily="34" charset="-122"/>
                <a:ea typeface="微软雅黑" panose="020B0503020204020204" pitchFamily="34" charset="-122"/>
              </a:rPr>
              <a:t>用户为自己的每个文件规定一个口令，将其置于文件说明中，有口令者才能访问文件</a:t>
            </a:r>
          </a:p>
          <a:p>
            <a:pPr eaLnBrk="1" hangingPunct="1">
              <a:buNone/>
            </a:pPr>
            <a:r>
              <a:rPr lang="zh-CN" altLang="en-US" sz="1600" b="1" dirty="0">
                <a:solidFill>
                  <a:srgbClr val="11576A"/>
                </a:solidFill>
                <a:latin typeface="微软雅黑" panose="020B0503020204020204" pitchFamily="34" charset="-122"/>
                <a:ea typeface="微软雅黑" panose="020B0503020204020204" pitchFamily="34" charset="-122"/>
              </a:rPr>
              <a:t>优点：简便，占用的内存单元以及验证口令所费时间都很少</a:t>
            </a:r>
          </a:p>
          <a:p>
            <a:pPr eaLnBrk="1" hangingPunct="1">
              <a:buNone/>
            </a:pPr>
            <a:r>
              <a:rPr lang="zh-CN" altLang="en-US" sz="1600" b="1" dirty="0">
                <a:solidFill>
                  <a:srgbClr val="11576A"/>
                </a:solidFill>
                <a:latin typeface="微软雅黑" panose="020B0503020204020204" pitchFamily="34" charset="-122"/>
                <a:ea typeface="微软雅黑" panose="020B0503020204020204" pitchFamily="34" charset="-122"/>
              </a:rPr>
              <a:t>缺点：保护级别少（可访问和不可访问）；保密性差</a:t>
            </a:r>
          </a:p>
          <a:p>
            <a:pPr marL="0" indent="0">
              <a:buNone/>
            </a:pPr>
            <a:r>
              <a:rPr lang="zh-CN" altLang="en-US" sz="2000" b="1" dirty="0">
                <a:solidFill>
                  <a:srgbClr val="FF0000"/>
                </a:solidFill>
                <a:latin typeface="微软雅黑" panose="020B0503020204020204" pitchFamily="34" charset="-122"/>
                <a:ea typeface="微软雅黑" panose="020B0503020204020204" pitchFamily="34" charset="-122"/>
                <a:sym typeface="+mn-ea"/>
              </a:rPr>
              <a:t>密码方式</a:t>
            </a:r>
            <a:endParaRPr lang="zh-CN" altLang="en-US" sz="2000" b="1" dirty="0">
              <a:solidFill>
                <a:srgbClr val="FF0000"/>
              </a:solidFill>
              <a:latin typeface="微软雅黑" panose="020B0503020204020204" pitchFamily="34" charset="-122"/>
              <a:ea typeface="微软雅黑" panose="020B0503020204020204" pitchFamily="34" charset="-122"/>
            </a:endParaRPr>
          </a:p>
          <a:p>
            <a:pPr eaLnBrk="1" hangingPunct="1">
              <a:buNone/>
            </a:pPr>
            <a:r>
              <a:rPr lang="zh-CN" altLang="en-US" sz="1600" b="1" dirty="0">
                <a:solidFill>
                  <a:srgbClr val="11576A"/>
                </a:solidFill>
                <a:latin typeface="微软雅黑" panose="020B0503020204020204" pitchFamily="34" charset="-122"/>
                <a:ea typeface="微软雅黑" panose="020B0503020204020204" pitchFamily="34" charset="-122"/>
                <a:sym typeface="+mn-ea"/>
              </a:rPr>
              <a:t>在用户创建源文件并将其写入存储设备时对文件进行编码加密，在读出文件时对其进行译码解密，</a:t>
            </a:r>
            <a:endParaRPr lang="zh-CN" altLang="en-US" sz="1600" b="1" dirty="0">
              <a:solidFill>
                <a:srgbClr val="11576A"/>
              </a:solidFill>
              <a:latin typeface="微软雅黑" panose="020B0503020204020204" pitchFamily="34" charset="-122"/>
              <a:ea typeface="微软雅黑" panose="020B0503020204020204" pitchFamily="34" charset="-122"/>
            </a:endParaRPr>
          </a:p>
          <a:p>
            <a:pPr eaLnBrk="1" hangingPunct="1">
              <a:buNone/>
            </a:pPr>
            <a:r>
              <a:rPr lang="zh-CN" altLang="en-US" sz="1600" b="1" dirty="0">
                <a:solidFill>
                  <a:srgbClr val="11576A"/>
                </a:solidFill>
                <a:latin typeface="微软雅黑" panose="020B0503020204020204" pitchFamily="34" charset="-122"/>
                <a:ea typeface="微软雅黑" panose="020B0503020204020204" pitchFamily="34" charset="-122"/>
                <a:sym typeface="+mn-ea"/>
              </a:rPr>
              <a:t>文件的加密和解密都需要用户提供一个代码键(KEY)</a:t>
            </a:r>
            <a:endParaRPr lang="zh-CN" altLang="en-US" sz="1600" b="1" dirty="0">
              <a:solidFill>
                <a:srgbClr val="11576A"/>
              </a:solidFill>
              <a:latin typeface="微软雅黑" panose="020B0503020204020204" pitchFamily="34" charset="-122"/>
              <a:ea typeface="微软雅黑" panose="020B0503020204020204" pitchFamily="34" charset="-122"/>
            </a:endParaRPr>
          </a:p>
          <a:p>
            <a:pPr eaLnBrk="1" hangingPunct="1"/>
            <a:endParaRPr lang="zh-CN" altLang="en-US" sz="1600" b="1" dirty="0">
              <a:solidFill>
                <a:srgbClr val="11576A"/>
              </a:solidFill>
              <a:latin typeface="微软雅黑" panose="020B0503020204020204" pitchFamily="34" charset="-122"/>
              <a:ea typeface="微软雅黑" panose="020B0503020204020204" pitchFamily="34" charset="-122"/>
            </a:endParaRPr>
          </a:p>
        </p:txBody>
      </p:sp>
      <p:pic>
        <p:nvPicPr>
          <p:cNvPr id="184323" name="Picture 5"/>
          <p:cNvPicPr>
            <a:picLocks noChangeAspect="1"/>
          </p:cNvPicPr>
          <p:nvPr/>
        </p:nvPicPr>
        <p:blipFill>
          <a:blip r:embed="rId2"/>
          <a:stretch>
            <a:fillRect/>
          </a:stretch>
        </p:blipFill>
        <p:spPr>
          <a:xfrm>
            <a:off x="785786" y="3486167"/>
            <a:ext cx="5200650" cy="1514475"/>
          </a:xfrm>
          <a:prstGeom prst="rect">
            <a:avLst/>
          </a:prstGeom>
          <a:noFill/>
          <a:ln w="9525">
            <a:noFill/>
            <a:miter/>
          </a:ln>
        </p:spPr>
      </p:pic>
      <p:sp>
        <p:nvSpPr>
          <p:cNvPr id="4" name="Text Box 3"/>
          <p:cNvSpPr txBox="1"/>
          <p:nvPr/>
        </p:nvSpPr>
        <p:spPr>
          <a:xfrm>
            <a:off x="5929322" y="3286130"/>
            <a:ext cx="3214678" cy="1754326"/>
          </a:xfrm>
          <a:prstGeom prst="rect">
            <a:avLst/>
          </a:prstGeom>
          <a:noFill/>
        </p:spPr>
        <p:txBody>
          <a:bodyPr wrap="square" rtlCol="0" anchor="t">
            <a:spAutoFit/>
          </a:bodyPr>
          <a:lstStyle/>
          <a:p>
            <a:pPr eaLnBrk="1" hangingPunct="1"/>
            <a:r>
              <a:rPr lang="zh-CN" altLang="en-US" b="1" dirty="0">
                <a:solidFill>
                  <a:srgbClr val="11576A"/>
                </a:solidFill>
                <a:latin typeface="微软雅黑" panose="020B0503020204020204" pitchFamily="34" charset="-122"/>
                <a:ea typeface="微软雅黑" panose="020B0503020204020204" pitchFamily="34" charset="-122"/>
                <a:sym typeface="+mn-ea"/>
              </a:rPr>
              <a:t>保密性强的优点，与口令不同，代码键没有存放在系统中，而是由用户自己掌握</a:t>
            </a:r>
            <a:endParaRPr lang="zh-CN" altLang="en-US" b="1" dirty="0">
              <a:solidFill>
                <a:srgbClr val="11576A"/>
              </a:solidFill>
              <a:latin typeface="微软雅黑" panose="020B0503020204020204" pitchFamily="34" charset="-122"/>
              <a:ea typeface="微软雅黑" panose="020B0503020204020204" pitchFamily="34" charset="-122"/>
            </a:endParaRPr>
          </a:p>
          <a:p>
            <a:pPr eaLnBrk="1" hangingPunct="1"/>
            <a:r>
              <a:rPr lang="zh-CN" altLang="en-US" b="1" dirty="0">
                <a:solidFill>
                  <a:srgbClr val="11576A"/>
                </a:solidFill>
                <a:latin typeface="微软雅黑" panose="020B0503020204020204" pitchFamily="34" charset="-122"/>
                <a:ea typeface="微软雅黑" panose="020B0503020204020204" pitchFamily="34" charset="-122"/>
                <a:sym typeface="+mn-ea"/>
              </a:rPr>
              <a:t>编码解码工作要消耗大量的处理时间，以牺牲系统开销为代价</a:t>
            </a:r>
            <a:endParaRPr lang="en-US" dirty="0"/>
          </a:p>
        </p:txBody>
      </p:sp>
      <p:sp>
        <p:nvSpPr>
          <p:cNvPr id="8" name="标题 1"/>
          <p:cNvSpPr txBox="1"/>
          <p:nvPr/>
        </p:nvSpPr>
        <p:spPr>
          <a:xfrm>
            <a:off x="428596" y="227678"/>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a:sym typeface="+mn-ea"/>
              </a:rPr>
              <a:t>文件</a:t>
            </a:r>
            <a:r>
              <a:rPr lang="x-none">
                <a:sym typeface="+mn-ea"/>
              </a:rPr>
              <a:t>存取控制</a:t>
            </a:r>
            <a:endParaRPr kumimoji="0" lang="x-none"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p:wipe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noChangeArrowheads="1"/>
          </p:cNvSpPr>
          <p:nvPr/>
        </p:nvSpPr>
        <p:spPr bwMode="auto">
          <a:xfrm>
            <a:off x="3755856" y="189267"/>
            <a:ext cx="1928808" cy="553998"/>
          </a:xfrm>
          <a:prstGeom prst="rect">
            <a:avLst/>
          </a:prstGeom>
          <a:noFill/>
          <a:ln w="9525">
            <a:noFill/>
            <a:miter lim="800000"/>
          </a:ln>
        </p:spPr>
        <p:txBody>
          <a:bodyPr wrap="square">
            <a:spAutoFit/>
          </a:bodyPr>
          <a:lstStyle/>
          <a:p>
            <a:r>
              <a:rPr lang="x-none" altLang="zh-CN" sz="3000" b="1" dirty="0">
                <a:solidFill>
                  <a:srgbClr val="11576A"/>
                </a:solidFill>
                <a:latin typeface="微软雅黑" panose="020B0503020204020204" pitchFamily="34" charset="-122"/>
                <a:ea typeface="微软雅黑" panose="020B0503020204020204" pitchFamily="34" charset="-122"/>
              </a:rPr>
              <a:t>主要内容</a:t>
            </a:r>
          </a:p>
        </p:txBody>
      </p:sp>
      <p:grpSp>
        <p:nvGrpSpPr>
          <p:cNvPr id="4" name="组合 1"/>
          <p:cNvGrpSpPr/>
          <p:nvPr/>
        </p:nvGrpSpPr>
        <p:grpSpPr>
          <a:xfrm>
            <a:off x="549284" y="1072186"/>
            <a:ext cx="8566529" cy="415290"/>
            <a:chOff x="520709" y="928676"/>
            <a:chExt cx="8566529" cy="415290"/>
          </a:xfrm>
        </p:grpSpPr>
        <p:sp>
          <p:nvSpPr>
            <p:cNvPr id="37"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7.1 文件和文件系统</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60"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5" name="组合 3"/>
          <p:cNvGrpSpPr/>
          <p:nvPr/>
        </p:nvGrpSpPr>
        <p:grpSpPr>
          <a:xfrm>
            <a:off x="549284" y="1449606"/>
            <a:ext cx="8568952" cy="415290"/>
            <a:chOff x="520709" y="2802785"/>
            <a:chExt cx="8568952" cy="415290"/>
          </a:xfrm>
        </p:grpSpPr>
        <p:sp>
          <p:nvSpPr>
            <p:cNvPr id="4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7.2 文件的逻辑结构与存取方法</a:t>
              </a:r>
              <a:endParaRPr lang="x-none" altLang="zh-CN" dirty="0"/>
            </a:p>
          </p:txBody>
        </p:sp>
        <p:sp>
          <p:nvSpPr>
            <p:cNvPr id="61"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3" name="组合 1"/>
          <p:cNvGrpSpPr/>
          <p:nvPr/>
        </p:nvGrpSpPr>
        <p:grpSpPr>
          <a:xfrm>
            <a:off x="549284" y="1851331"/>
            <a:ext cx="8566529" cy="415290"/>
            <a:chOff x="520709" y="928676"/>
            <a:chExt cx="8566529" cy="415290"/>
          </a:xfrm>
        </p:grpSpPr>
        <p:sp>
          <p:nvSpPr>
            <p:cNvPr id="14"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7.3 文件的物理结构与存储设备</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15"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6" name="组合 3"/>
          <p:cNvGrpSpPr/>
          <p:nvPr/>
        </p:nvGrpSpPr>
        <p:grpSpPr>
          <a:xfrm>
            <a:off x="549284" y="2221717"/>
            <a:ext cx="8568952" cy="415290"/>
            <a:chOff x="520709" y="2802785"/>
            <a:chExt cx="8568952" cy="415290"/>
          </a:xfrm>
        </p:grpSpPr>
        <p:sp>
          <p:nvSpPr>
            <p:cNvPr id="17"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7.4 文件存储空间管理</a:t>
              </a:r>
              <a:endParaRPr lang="x-none" altLang="zh-CN" dirty="0"/>
            </a:p>
          </p:txBody>
        </p:sp>
        <p:sp>
          <p:nvSpPr>
            <p:cNvPr id="18"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9" name="组合 1"/>
          <p:cNvGrpSpPr/>
          <p:nvPr/>
        </p:nvGrpSpPr>
        <p:grpSpPr>
          <a:xfrm>
            <a:off x="549284" y="2643811"/>
            <a:ext cx="8566529" cy="415290"/>
            <a:chOff x="520709" y="928676"/>
            <a:chExt cx="8566529" cy="415290"/>
          </a:xfrm>
        </p:grpSpPr>
        <p:sp>
          <p:nvSpPr>
            <p:cNvPr id="20"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7.5 文件目录 </a:t>
              </a:r>
            </a:p>
          </p:txBody>
        </p:sp>
        <p:sp>
          <p:nvSpPr>
            <p:cNvPr id="21"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22" name="组合 3"/>
          <p:cNvGrpSpPr/>
          <p:nvPr/>
        </p:nvGrpSpPr>
        <p:grpSpPr>
          <a:xfrm>
            <a:off x="549284" y="3014197"/>
            <a:ext cx="8568952" cy="415290"/>
            <a:chOff x="520709" y="2802785"/>
            <a:chExt cx="8568952" cy="415290"/>
          </a:xfrm>
        </p:grpSpPr>
        <p:sp>
          <p:nvSpPr>
            <p:cNvPr id="23"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7.6 文件共享与保护</a:t>
              </a:r>
              <a:endParaRPr lang="x-none" altLang="zh-CN" dirty="0"/>
            </a:p>
          </p:txBody>
        </p:sp>
        <p:sp>
          <p:nvSpPr>
            <p:cNvPr id="24"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7" name="组合 3"/>
          <p:cNvGrpSpPr/>
          <p:nvPr/>
        </p:nvGrpSpPr>
        <p:grpSpPr>
          <a:xfrm>
            <a:off x="546109" y="3429487"/>
            <a:ext cx="8568952" cy="415290"/>
            <a:chOff x="520709" y="2802785"/>
            <a:chExt cx="8568952" cy="415290"/>
          </a:xfrm>
        </p:grpSpPr>
        <p:sp>
          <p:nvSpPr>
            <p:cNvPr id="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7.7 文件的使用</a:t>
              </a:r>
              <a:endParaRPr lang="x-none" altLang="zh-CN" dirty="0"/>
            </a:p>
          </p:txBody>
        </p:sp>
        <p:sp>
          <p:nvSpPr>
            <p:cNvPr id="10"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1" name="组合 3"/>
          <p:cNvGrpSpPr/>
          <p:nvPr/>
        </p:nvGrpSpPr>
        <p:grpSpPr>
          <a:xfrm>
            <a:off x="540394" y="3867002"/>
            <a:ext cx="8568952" cy="415290"/>
            <a:chOff x="520709" y="2802785"/>
            <a:chExt cx="8568952" cy="415290"/>
          </a:xfrm>
        </p:grpSpPr>
        <p:sp>
          <p:nvSpPr>
            <p:cNvPr id="12"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7.8 文件系统与层次模型</a:t>
              </a:r>
              <a:endParaRPr lang="x-none" altLang="zh-CN" dirty="0"/>
            </a:p>
          </p:txBody>
        </p:sp>
        <p:sp>
          <p:nvSpPr>
            <p:cNvPr id="25"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spTree>
    <p:extLst>
      <p:ext uri="{BB962C8B-B14F-4D97-AF65-F5344CB8AC3E}">
        <p14:creationId xmlns:p14="http://schemas.microsoft.com/office/powerpoint/2010/main" val="49310388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2" presetID="22" presetClass="entr" presetSubtype="8"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8"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ctrTitle"/>
          </p:nvPr>
        </p:nvSpPr>
        <p:spPr>
          <a:xfrm>
            <a:off x="971550" y="1924050"/>
            <a:ext cx="7113588" cy="928688"/>
          </a:xfrm>
          <a:ln w="9525">
            <a:noFill/>
            <a:miter/>
          </a:ln>
        </p:spPr>
        <p:txBody>
          <a:bodyPr wrap="square" lIns="91440" tIns="45720" rIns="91440" bIns="45720" anchor="b"/>
          <a:lstStyle/>
          <a:p>
            <a:pPr defTabSz="457200" eaLnBrk="1" hangingPunct="1"/>
            <a:r>
              <a:rPr lang="x-none" altLang="zh-CN" sz="4000" b="1" kern="1200" dirty="0">
                <a:solidFill>
                  <a:srgbClr val="11576A"/>
                </a:solidFill>
                <a:latin typeface="微软雅黑" panose="020B0503020204020204" pitchFamily="34" charset="-122"/>
                <a:ea typeface="微软雅黑" panose="020B0503020204020204" pitchFamily="34" charset="-122"/>
                <a:cs typeface="+mj-cs"/>
              </a:rPr>
              <a:t>7.</a:t>
            </a:r>
            <a:r>
              <a:rPr lang="en-US" altLang="zh-CN" sz="4000" b="1" kern="1200" dirty="0">
                <a:solidFill>
                  <a:srgbClr val="11576A"/>
                </a:solidFill>
                <a:latin typeface="微软雅黑" panose="020B0503020204020204" pitchFamily="34" charset="-122"/>
                <a:ea typeface="微软雅黑" panose="020B0503020204020204" pitchFamily="34" charset="-122"/>
                <a:cs typeface="+mj-cs"/>
              </a:rPr>
              <a:t>7</a:t>
            </a:r>
            <a:r>
              <a:rPr lang="zh-CN" altLang="en-US" sz="4000" b="1" kern="1200" dirty="0">
                <a:solidFill>
                  <a:srgbClr val="11576A"/>
                </a:solidFill>
                <a:latin typeface="微软雅黑" panose="020B0503020204020204" pitchFamily="34" charset="-122"/>
                <a:ea typeface="微软雅黑" panose="020B0503020204020204" pitchFamily="34" charset="-122"/>
                <a:cs typeface="+mj-cs"/>
              </a:rPr>
              <a:t> </a:t>
            </a:r>
            <a:r>
              <a:rPr lang="x-none" altLang="zh-CN" sz="4000" b="1" kern="1200" dirty="0">
                <a:solidFill>
                  <a:srgbClr val="11576A"/>
                </a:solidFill>
                <a:latin typeface="微软雅黑" panose="020B0503020204020204" pitchFamily="34" charset="-122"/>
                <a:ea typeface="微软雅黑" panose="020B0503020204020204" pitchFamily="34" charset="-122"/>
                <a:cs typeface="+mj-cs"/>
              </a:rPr>
              <a:t>文件</a:t>
            </a:r>
            <a:r>
              <a:rPr lang="zh-CN" altLang="en-US" sz="4000" b="1" kern="1200">
                <a:solidFill>
                  <a:srgbClr val="11576A"/>
                </a:solidFill>
                <a:latin typeface="微软雅黑" panose="020B0503020204020204" pitchFamily="34" charset="-122"/>
                <a:ea typeface="微软雅黑" panose="020B0503020204020204" pitchFamily="34" charset="-122"/>
                <a:cs typeface="+mj-cs"/>
              </a:rPr>
              <a:t>的使用</a:t>
            </a:r>
            <a:endParaRPr lang="x-none" altLang="zh-CN" sz="4000" b="1" kern="1200" dirty="0">
              <a:solidFill>
                <a:srgbClr val="11576A"/>
              </a:solidFill>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50429393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457200" y="205979"/>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ct val="0"/>
              </a:spcBef>
              <a:buClrTx/>
              <a:buSzTx/>
              <a:buFontTx/>
              <a:buNone/>
              <a:defRPr/>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文件操作</a:t>
            </a:r>
            <a:r>
              <a:rPr lang="en-US" altLang="zh-CN" dirty="0">
                <a:cs typeface="+mj-cs"/>
              </a:rPr>
              <a:t>——</a:t>
            </a:r>
            <a:r>
              <a:rPr lang="zh-CN" altLang="en-US" dirty="0">
                <a:cs typeface="+mj-cs"/>
              </a:rPr>
              <a:t>文件系统对用户的接口</a:t>
            </a:r>
            <a:endPar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sp>
        <p:nvSpPr>
          <p:cNvPr id="3" name="矩形 2"/>
          <p:cNvSpPr/>
          <p:nvPr/>
        </p:nvSpPr>
        <p:spPr>
          <a:xfrm>
            <a:off x="642910" y="785800"/>
            <a:ext cx="7858180" cy="3323987"/>
          </a:xfrm>
          <a:prstGeom prst="rect">
            <a:avLst/>
          </a:prstGeom>
        </p:spPr>
        <p:txBody>
          <a:bodyPr wrap="square">
            <a:spAutoFit/>
          </a:bodyPr>
          <a:lstStyle/>
          <a:p>
            <a:pPr>
              <a:lnSpc>
                <a:spcPct val="150000"/>
              </a:lnSpc>
              <a:defRPr/>
            </a:pPr>
            <a:r>
              <a:rPr lang="zh-CN" altLang="en-US" sz="2000" b="1" noProof="1">
                <a:solidFill>
                  <a:srgbClr val="11576A"/>
                </a:solidFill>
                <a:latin typeface="微软雅黑" panose="020B0503020204020204" pitchFamily="34" charset="-122"/>
                <a:ea typeface="微软雅黑" panose="020B0503020204020204" pitchFamily="34" charset="-122"/>
              </a:rPr>
              <a:t>文件系统以系统调用方式或命令方式为用户提供服务：</a:t>
            </a:r>
            <a:endParaRPr lang="en-US" altLang="zh-CN" sz="2000" b="1" noProof="1">
              <a:solidFill>
                <a:srgbClr val="11576A"/>
              </a:solidFill>
              <a:latin typeface="微软雅黑" panose="020B0503020204020204" pitchFamily="34" charset="-122"/>
              <a:ea typeface="微软雅黑" panose="020B0503020204020204" pitchFamily="34" charset="-122"/>
            </a:endParaRPr>
          </a:p>
          <a:p>
            <a:pPr>
              <a:lnSpc>
                <a:spcPct val="150000"/>
              </a:lnSpc>
              <a:defRPr/>
            </a:pPr>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noProof="1">
                <a:solidFill>
                  <a:srgbClr val="11576A"/>
                </a:solidFill>
                <a:latin typeface="微软雅黑" panose="020B0503020204020204" pitchFamily="34" charset="-122"/>
                <a:ea typeface="微软雅黑" panose="020B0503020204020204" pitchFamily="34" charset="-122"/>
              </a:rPr>
              <a:t>关于设置和修改用户对文件的存取权限的服务</a:t>
            </a:r>
            <a:endParaRPr lang="en-US" altLang="zh-CN" sz="2000" b="1" noProof="1">
              <a:solidFill>
                <a:srgbClr val="11576A"/>
              </a:solidFill>
              <a:latin typeface="微软雅黑" panose="020B0503020204020204" pitchFamily="34" charset="-122"/>
              <a:ea typeface="微软雅黑" panose="020B0503020204020204" pitchFamily="34" charset="-122"/>
            </a:endParaRPr>
          </a:p>
          <a:p>
            <a:pPr>
              <a:lnSpc>
                <a:spcPct val="150000"/>
              </a:lnSpc>
              <a:defRPr/>
            </a:pPr>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noProof="1">
                <a:solidFill>
                  <a:srgbClr val="11576A"/>
                </a:solidFill>
                <a:latin typeface="微软雅黑" panose="020B0503020204020204" pitchFamily="34" charset="-122"/>
                <a:ea typeface="微软雅黑" panose="020B0503020204020204" pitchFamily="34" charset="-122"/>
              </a:rPr>
              <a:t>关于建立、改变和删除目录的服务</a:t>
            </a:r>
            <a:endParaRPr lang="en-US" altLang="zh-CN" sz="2000" b="1" noProof="1">
              <a:solidFill>
                <a:srgbClr val="11576A"/>
              </a:solidFill>
              <a:latin typeface="微软雅黑" panose="020B0503020204020204" pitchFamily="34" charset="-122"/>
              <a:ea typeface="微软雅黑" panose="020B0503020204020204" pitchFamily="34" charset="-122"/>
            </a:endParaRPr>
          </a:p>
          <a:p>
            <a:pPr>
              <a:lnSpc>
                <a:spcPct val="150000"/>
              </a:lnSpc>
              <a:defRPr/>
            </a:pPr>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noProof="1">
                <a:solidFill>
                  <a:srgbClr val="11576A"/>
                </a:solidFill>
                <a:latin typeface="微软雅黑" panose="020B0503020204020204" pitchFamily="34" charset="-122"/>
                <a:ea typeface="微软雅黑" panose="020B0503020204020204" pitchFamily="34" charset="-122"/>
              </a:rPr>
              <a:t>关于文件共享、设置访问路径的服务</a:t>
            </a:r>
            <a:endParaRPr lang="en-US" altLang="zh-CN" sz="2000" b="1" noProof="1">
              <a:solidFill>
                <a:srgbClr val="11576A"/>
              </a:solidFill>
              <a:latin typeface="微软雅黑" panose="020B0503020204020204" pitchFamily="34" charset="-122"/>
              <a:ea typeface="微软雅黑" panose="020B0503020204020204" pitchFamily="34" charset="-122"/>
            </a:endParaRPr>
          </a:p>
          <a:p>
            <a:pPr>
              <a:lnSpc>
                <a:spcPct val="150000"/>
              </a:lnSpc>
              <a:defRPr/>
            </a:pPr>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noProof="1">
                <a:solidFill>
                  <a:srgbClr val="11576A"/>
                </a:solidFill>
                <a:latin typeface="微软雅黑" panose="020B0503020204020204" pitchFamily="34" charset="-122"/>
                <a:ea typeface="微软雅黑" panose="020B0503020204020204" pitchFamily="34" charset="-122"/>
              </a:rPr>
              <a:t>创建、打开、读写、关闭以及撤销文件的服务</a:t>
            </a:r>
            <a:endParaRPr lang="en-US" altLang="zh-CN" sz="2000" b="1" noProof="1">
              <a:solidFill>
                <a:srgbClr val="11576A"/>
              </a:solidFill>
              <a:latin typeface="微软雅黑" panose="020B0503020204020204" pitchFamily="34" charset="-122"/>
              <a:ea typeface="微软雅黑" panose="020B0503020204020204" pitchFamily="34" charset="-122"/>
            </a:endParaRPr>
          </a:p>
          <a:p>
            <a:pPr>
              <a:lnSpc>
                <a:spcPct val="150000"/>
              </a:lnSpc>
              <a:defRPr/>
            </a:pPr>
            <a:r>
              <a:rPr lang="zh-CN" altLang="en-US" sz="2000" b="1" noProof="1">
                <a:solidFill>
                  <a:srgbClr val="11576A"/>
                </a:solidFill>
                <a:latin typeface="微软雅黑" panose="020B0503020204020204" pitchFamily="34" charset="-122"/>
                <a:ea typeface="微软雅黑" panose="020B0503020204020204" pitchFamily="34" charset="-122"/>
              </a:rPr>
              <a:t>这些服务的调用名和参数都因系统不同而不同，对文件操作的命令都是基于操作系统提供的系统调用</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477" y="987413"/>
            <a:ext cx="8072494" cy="3083921"/>
          </a:xfrm>
          <a:prstGeom prst="rect">
            <a:avLst/>
          </a:prstGeom>
        </p:spPr>
        <p:txBody>
          <a:bodyPr wrap="square">
            <a:spAutoFit/>
          </a:bodyPr>
          <a:lstStyle/>
          <a:p>
            <a:pPr>
              <a:lnSpc>
                <a:spcPct val="120000"/>
              </a:lnSpc>
            </a:pPr>
            <a:r>
              <a:rPr lang="zh-CN" altLang="en-US" b="1" dirty="0">
                <a:solidFill>
                  <a:srgbClr val="FF0000"/>
                </a:solidFill>
                <a:latin typeface="微软雅黑" panose="020B0503020204020204" pitchFamily="34" charset="-122"/>
                <a:ea typeface="微软雅黑" panose="020B0503020204020204" pitchFamily="34" charset="-122"/>
              </a:rPr>
              <a:t>创建文件</a:t>
            </a:r>
            <a:r>
              <a:rPr lang="zh-CN" altLang="en-US" b="1" dirty="0">
                <a:solidFill>
                  <a:srgbClr val="11576A"/>
                </a:solidFill>
                <a:latin typeface="微软雅黑" panose="020B0503020204020204" pitchFamily="34" charset="-122"/>
                <a:ea typeface="微软雅黑" panose="020B0503020204020204" pitchFamily="34" charset="-122"/>
              </a:rPr>
              <a:t>： 用户使用创建文件命令可以把一组相关联的信息作为文件保存，或者对一个已经存在的文件内容进行更新，即重写一个文件。</a:t>
            </a:r>
            <a:endParaRPr lang="en-US" altLang="zh-CN" b="1" dirty="0">
              <a:solidFill>
                <a:srgbClr val="11576A"/>
              </a:solidFill>
              <a:latin typeface="微软雅黑" panose="020B0503020204020204" pitchFamily="34" charset="-122"/>
              <a:ea typeface="微软雅黑" panose="020B0503020204020204" pitchFamily="34" charset="-122"/>
            </a:endParaRPr>
          </a:p>
          <a:p>
            <a:pPr>
              <a:lnSpc>
                <a:spcPct val="120000"/>
              </a:lnSpc>
            </a:pPr>
            <a:r>
              <a:rPr lang="zh-CN" altLang="en-US" b="1" dirty="0">
                <a:solidFill>
                  <a:srgbClr val="11576A"/>
                </a:solidFill>
                <a:latin typeface="张海山锐谐体2.0-授权联系：Samtype@QQ.com" pitchFamily="2" charset="-122"/>
                <a:ea typeface="张海山锐谐体2.0-授权联系：Samtype@QQ.com" pitchFamily="2" charset="-122"/>
              </a:rPr>
              <a:t>■ </a:t>
            </a:r>
            <a:r>
              <a:rPr lang="zh-CN" altLang="en-US" b="1" dirty="0">
                <a:solidFill>
                  <a:srgbClr val="11576A"/>
                </a:solidFill>
                <a:latin typeface="微软雅黑" panose="020B0503020204020204" pitchFamily="34" charset="-122"/>
                <a:ea typeface="微软雅黑" panose="020B0503020204020204" pitchFamily="34" charset="-122"/>
              </a:rPr>
              <a:t>当创建新文件时，系统首先要为新文件分配必要的外存空间，并在文件系统的目录中为之建立一个目录项。目录项中记录新文件的文件标识符、属性及在外存的物理地址等。</a:t>
            </a:r>
            <a:endParaRPr lang="en-US" altLang="zh-CN" b="1" dirty="0">
              <a:solidFill>
                <a:srgbClr val="11576A"/>
              </a:solidFill>
              <a:latin typeface="微软雅黑" panose="020B0503020204020204" pitchFamily="34" charset="-122"/>
              <a:ea typeface="微软雅黑" panose="020B0503020204020204" pitchFamily="34" charset="-122"/>
            </a:endParaRPr>
          </a:p>
          <a:p>
            <a:pPr>
              <a:lnSpc>
                <a:spcPct val="120000"/>
              </a:lnSpc>
            </a:pPr>
            <a:r>
              <a:rPr lang="zh-CN" altLang="en-US" b="1" dirty="0">
                <a:solidFill>
                  <a:srgbClr val="11576A"/>
                </a:solidFill>
                <a:latin typeface="张海山锐谐体2.0-授权联系：Samtype@QQ.com" pitchFamily="2" charset="-122"/>
                <a:ea typeface="张海山锐谐体2.0-授权联系：Samtype@QQ.com" pitchFamily="2" charset="-122"/>
              </a:rPr>
              <a:t>■ </a:t>
            </a:r>
            <a:r>
              <a:rPr lang="zh-CN" altLang="en-US" b="1" dirty="0">
                <a:solidFill>
                  <a:srgbClr val="11576A"/>
                </a:solidFill>
                <a:latin typeface="微软雅黑" panose="020B0503020204020204" pitchFamily="34" charset="-122"/>
                <a:ea typeface="微软雅黑" panose="020B0503020204020204" pitchFamily="34" charset="-122"/>
              </a:rPr>
              <a:t>若要更新一个已经存在的文件，会涉及已经分配的外存空间是否够用的问题。若重写文件小于已分配空间，文件存储空间会形成碎片；重写的文件大于已分配空间时，系统必须进行处理，给文件分配足够使用的空间。</a:t>
            </a:r>
            <a:endParaRPr lang="en-US" altLang="zh-CN" b="1" dirty="0">
              <a:solidFill>
                <a:srgbClr val="11576A"/>
              </a:solidFill>
              <a:latin typeface="微软雅黑" panose="020B0503020204020204" pitchFamily="34" charset="-122"/>
              <a:ea typeface="微软雅黑" panose="020B0503020204020204" pitchFamily="34" charset="-122"/>
            </a:endParaRPr>
          </a:p>
          <a:p>
            <a:pPr>
              <a:lnSpc>
                <a:spcPct val="120000"/>
              </a:lnSpc>
            </a:pPr>
            <a:endParaRPr lang="zh-CN" altLang="en-US" b="1" dirty="0">
              <a:solidFill>
                <a:srgbClr val="11576A"/>
              </a:solidFill>
              <a:latin typeface="微软雅黑" panose="020B0503020204020204" pitchFamily="34" charset="-122"/>
              <a:ea typeface="微软雅黑" panose="020B0503020204020204" pitchFamily="34" charset="-122"/>
            </a:endParaRPr>
          </a:p>
        </p:txBody>
      </p:sp>
      <p:sp>
        <p:nvSpPr>
          <p:cNvPr id="3" name="标题 1"/>
          <p:cNvSpPr txBox="1"/>
          <p:nvPr/>
        </p:nvSpPr>
        <p:spPr>
          <a:xfrm>
            <a:off x="457200" y="205979"/>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ct val="0"/>
              </a:spcBef>
              <a:buClrTx/>
              <a:buSzTx/>
              <a:buFontTx/>
              <a:buNone/>
              <a:defRPr/>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文件操作</a:t>
            </a:r>
          </a:p>
        </p:txBody>
      </p:sp>
    </p:spTree>
  </p:cSld>
  <p:clrMapOvr>
    <a:masterClrMapping/>
  </p:clrMapOvr>
  <p:transition>
    <p:wipe dir="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795" y="915452"/>
            <a:ext cx="8001056" cy="3152723"/>
          </a:xfrm>
          <a:prstGeom prst="rect">
            <a:avLst/>
          </a:prstGeom>
        </p:spPr>
        <p:txBody>
          <a:bodyPr wrap="square">
            <a:spAutoFit/>
          </a:bodyPr>
          <a:lstStyle/>
          <a:p>
            <a:pPr>
              <a:lnSpc>
                <a:spcPct val="140000"/>
              </a:lnSpc>
            </a:pPr>
            <a:r>
              <a:rPr lang="zh-CN" altLang="en-US" b="1" dirty="0">
                <a:solidFill>
                  <a:srgbClr val="FF0000"/>
                </a:solidFill>
                <a:latin typeface="微软雅黑" panose="020B0503020204020204" pitchFamily="34" charset="-122"/>
                <a:ea typeface="微软雅黑" panose="020B0503020204020204" pitchFamily="34" charset="-122"/>
              </a:rPr>
              <a:t>打开文件</a:t>
            </a:r>
            <a:r>
              <a:rPr lang="zh-CN" altLang="en-US" b="1" dirty="0">
                <a:solidFill>
                  <a:srgbClr val="11576A"/>
                </a:solidFill>
                <a:latin typeface="微软雅黑" panose="020B0503020204020204" pitchFamily="34" charset="-122"/>
                <a:ea typeface="微软雅黑" panose="020B0503020204020204" pitchFamily="34" charset="-122"/>
              </a:rPr>
              <a:t>：为了避免用户在每次访问文件时从外存中查找文件目录，系统提供了打开文件命令。打开文件命令的目的是将文件的目录信息放入主存，便于以后系统调用的快速存取。</a:t>
            </a:r>
            <a:endParaRPr lang="en-US" altLang="zh-CN" b="1" dirty="0">
              <a:solidFill>
                <a:srgbClr val="11576A"/>
              </a:solidFill>
              <a:latin typeface="微软雅黑" panose="020B0503020204020204" pitchFamily="34" charset="-122"/>
              <a:ea typeface="微软雅黑" panose="020B0503020204020204" pitchFamily="34" charset="-122"/>
            </a:endParaRPr>
          </a:p>
          <a:p>
            <a:pPr>
              <a:lnSpc>
                <a:spcPct val="140000"/>
              </a:lnSpc>
            </a:pPr>
            <a:r>
              <a:rPr lang="zh-CN" altLang="en-US" b="1" dirty="0">
                <a:solidFill>
                  <a:srgbClr val="11576A"/>
                </a:solidFill>
                <a:latin typeface="张海山锐谐体2.0-授权联系：Samtype@QQ.com" pitchFamily="2" charset="-122"/>
                <a:ea typeface="张海山锐谐体2.0-授权联系：Samtype@QQ.com" pitchFamily="2" charset="-122"/>
              </a:rPr>
              <a:t>■</a:t>
            </a:r>
            <a:r>
              <a:rPr lang="zh-CN" altLang="en-US" b="1" dirty="0">
                <a:solidFill>
                  <a:srgbClr val="11576A"/>
                </a:solidFill>
                <a:latin typeface="微软雅黑" panose="020B0503020204020204" pitchFamily="34" charset="-122"/>
                <a:ea typeface="微软雅黑" panose="020B0503020204020204" pitchFamily="34" charset="-122"/>
              </a:rPr>
              <a:t> 具体做法是：当用户首次打开一个文件时，系统根据用户给出的文件路径名，将待访问文件的目录信息读入内存的系统打开文件表（即活动文件表）的表目中，同时将系统打开文件表的表目的文件描述字</a:t>
            </a:r>
            <a:r>
              <a:rPr lang="en-US" altLang="zh-CN" b="1" dirty="0" err="1">
                <a:solidFill>
                  <a:srgbClr val="11576A"/>
                </a:solidFill>
                <a:latin typeface="微软雅黑" panose="020B0503020204020204" pitchFamily="34" charset="-122"/>
                <a:ea typeface="微软雅黑" panose="020B0503020204020204" pitchFamily="34" charset="-122"/>
              </a:rPr>
              <a:t>fd</a:t>
            </a:r>
            <a:r>
              <a:rPr lang="zh-CN" altLang="en-US" b="1" dirty="0">
                <a:solidFill>
                  <a:srgbClr val="11576A"/>
                </a:solidFill>
                <a:latin typeface="微软雅黑" panose="020B0503020204020204" pitchFamily="34" charset="-122"/>
                <a:ea typeface="微软雅黑" panose="020B0503020204020204" pitchFamily="34" charset="-122"/>
              </a:rPr>
              <a:t>返回给用户，建立起用户与将要使用文件之间的联系。用户打开文件后，可以多次使用，直到文件被关闭为止</a:t>
            </a:r>
          </a:p>
        </p:txBody>
      </p:sp>
      <p:sp>
        <p:nvSpPr>
          <p:cNvPr id="3" name="标题 1"/>
          <p:cNvSpPr txBox="1"/>
          <p:nvPr/>
        </p:nvSpPr>
        <p:spPr>
          <a:xfrm>
            <a:off x="457200" y="205979"/>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ct val="0"/>
              </a:spcBef>
              <a:buClrTx/>
              <a:buSzTx/>
              <a:buFontTx/>
              <a:buNone/>
              <a:defRPr/>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文件操作</a:t>
            </a:r>
          </a:p>
        </p:txBody>
      </p:sp>
    </p:spTree>
  </p:cSld>
  <p:clrMapOvr>
    <a:masterClrMapping/>
  </p:clrMapOvr>
  <p:transition>
    <p:wipe dir="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42910" y="928675"/>
            <a:ext cx="8072494" cy="3693319"/>
          </a:xfrm>
          <a:prstGeom prst="rect">
            <a:avLst/>
          </a:prstGeom>
        </p:spPr>
        <p:txBody>
          <a:bodyPr wrap="square">
            <a:spAutoFit/>
          </a:bodyPr>
          <a:lstStyle/>
          <a:p>
            <a:pPr>
              <a:lnSpc>
                <a:spcPct val="130000"/>
              </a:lnSpc>
            </a:pPr>
            <a:r>
              <a:rPr lang="zh-CN" altLang="en-US" b="1" dirty="0">
                <a:solidFill>
                  <a:srgbClr val="FF0000"/>
                </a:solidFill>
                <a:latin typeface="微软雅黑" panose="020B0503020204020204" pitchFamily="34" charset="-122"/>
                <a:ea typeface="微软雅黑" panose="020B0503020204020204" pitchFamily="34" charset="-122"/>
              </a:rPr>
              <a:t>读文件</a:t>
            </a:r>
            <a:r>
              <a:rPr lang="zh-CN" altLang="en-US" b="1" dirty="0">
                <a:solidFill>
                  <a:srgbClr val="11576A"/>
                </a:solidFill>
                <a:latin typeface="微软雅黑" panose="020B0503020204020204" pitchFamily="34" charset="-122"/>
                <a:ea typeface="微软雅黑" panose="020B0503020204020204" pitchFamily="34" charset="-122"/>
              </a:rPr>
              <a:t>：读文件命令的功能是把外存中文件的内容读入内存中指定的数据缓冲区。用户对于自己已经打开的文件，才能进行读操作。读文件命令需要给出文件名和存放文件内容的内存地址。</a:t>
            </a:r>
            <a:endParaRPr lang="en-US" altLang="zh-CN" b="1" dirty="0">
              <a:solidFill>
                <a:srgbClr val="11576A"/>
              </a:solidFill>
              <a:latin typeface="微软雅黑" panose="020B0503020204020204" pitchFamily="34" charset="-122"/>
              <a:ea typeface="微软雅黑" panose="020B0503020204020204" pitchFamily="34" charset="-122"/>
            </a:endParaRPr>
          </a:p>
          <a:p>
            <a:pPr>
              <a:lnSpc>
                <a:spcPct val="130000"/>
              </a:lnSpc>
            </a:pPr>
            <a:r>
              <a:rPr lang="zh-CN" altLang="en-US" b="1" dirty="0">
                <a:solidFill>
                  <a:srgbClr val="11576A"/>
                </a:solidFill>
                <a:latin typeface="微软雅黑" panose="020B0503020204020204" pitchFamily="34" charset="-122"/>
                <a:ea typeface="微软雅黑" panose="020B0503020204020204" pitchFamily="34" charset="-122"/>
              </a:rPr>
              <a:t>具体做法是：</a:t>
            </a:r>
            <a:endParaRPr lang="en-US" altLang="zh-CN" b="1" dirty="0">
              <a:solidFill>
                <a:srgbClr val="11576A"/>
              </a:solidFill>
              <a:latin typeface="微软雅黑" panose="020B0503020204020204" pitchFamily="34" charset="-122"/>
              <a:ea typeface="微软雅黑" panose="020B0503020204020204" pitchFamily="34" charset="-122"/>
            </a:endParaRPr>
          </a:p>
          <a:p>
            <a:pPr>
              <a:lnSpc>
                <a:spcPct val="130000"/>
              </a:lnSpc>
            </a:pPr>
            <a:r>
              <a:rPr lang="zh-CN" altLang="en-US" b="1" dirty="0">
                <a:solidFill>
                  <a:srgbClr val="11576A"/>
                </a:solidFill>
                <a:latin typeface="张海山锐谐体2.0-授权联系：Samtype@QQ.com" pitchFamily="2" charset="-122"/>
                <a:ea typeface="张海山锐谐体2.0-授权联系：Samtype@QQ.com" pitchFamily="2" charset="-122"/>
              </a:rPr>
              <a:t>■ </a:t>
            </a:r>
            <a:r>
              <a:rPr lang="zh-CN" altLang="en-US" b="1" dirty="0">
                <a:solidFill>
                  <a:srgbClr val="11576A"/>
                </a:solidFill>
                <a:latin typeface="微软雅黑" panose="020B0503020204020204" pitchFamily="34" charset="-122"/>
                <a:ea typeface="微软雅黑" panose="020B0503020204020204" pitchFamily="34" charset="-122"/>
              </a:rPr>
              <a:t>根据用户打开该文件时系统返回的文件描述字</a:t>
            </a:r>
            <a:r>
              <a:rPr lang="en-US" altLang="zh-CN" b="1" dirty="0" err="1">
                <a:solidFill>
                  <a:srgbClr val="11576A"/>
                </a:solidFill>
                <a:latin typeface="微软雅黑" panose="020B0503020204020204" pitchFamily="34" charset="-122"/>
                <a:ea typeface="微软雅黑" panose="020B0503020204020204" pitchFamily="34" charset="-122"/>
              </a:rPr>
              <a:t>fd</a:t>
            </a:r>
            <a:r>
              <a:rPr lang="zh-CN" altLang="en-US" b="1" dirty="0">
                <a:solidFill>
                  <a:srgbClr val="11576A"/>
                </a:solidFill>
                <a:latin typeface="微软雅黑" panose="020B0503020204020204" pitchFamily="34" charset="-122"/>
                <a:ea typeface="微软雅黑" panose="020B0503020204020204" pitchFamily="34" charset="-122"/>
              </a:rPr>
              <a:t>，找出系统打开文件表中的文件目录信息，以得到文件在外存的地址。</a:t>
            </a:r>
            <a:endParaRPr lang="en-US" altLang="zh-CN" b="1" dirty="0">
              <a:solidFill>
                <a:srgbClr val="11576A"/>
              </a:solidFill>
              <a:latin typeface="微软雅黑" panose="020B0503020204020204" pitchFamily="34" charset="-122"/>
              <a:ea typeface="微软雅黑" panose="020B0503020204020204" pitchFamily="34" charset="-122"/>
            </a:endParaRPr>
          </a:p>
          <a:p>
            <a:pPr>
              <a:lnSpc>
                <a:spcPct val="130000"/>
              </a:lnSpc>
            </a:pPr>
            <a:r>
              <a:rPr lang="zh-CN" altLang="en-US" b="1" dirty="0">
                <a:solidFill>
                  <a:srgbClr val="11576A"/>
                </a:solidFill>
                <a:latin typeface="张海山锐谐体2.0-授权联系：Samtype@QQ.com" pitchFamily="2" charset="-122"/>
                <a:ea typeface="张海山锐谐体2.0-授权联系：Samtype@QQ.com" pitchFamily="2" charset="-122"/>
              </a:rPr>
              <a:t>■ </a:t>
            </a:r>
            <a:r>
              <a:rPr lang="zh-CN" altLang="en-US" b="1" dirty="0">
                <a:solidFill>
                  <a:srgbClr val="11576A"/>
                </a:solidFill>
                <a:latin typeface="微软雅黑" panose="020B0503020204020204" pitchFamily="34" charset="-122"/>
                <a:ea typeface="微软雅黑" panose="020B0503020204020204" pitchFamily="34" charset="-122"/>
              </a:rPr>
              <a:t>当用户的请求得到系统响应时，启动</a:t>
            </a:r>
            <a:r>
              <a:rPr lang="en-US" altLang="zh-CN" b="1" dirty="0">
                <a:solidFill>
                  <a:srgbClr val="11576A"/>
                </a:solidFill>
                <a:latin typeface="微软雅黑" panose="020B0503020204020204" pitchFamily="34" charset="-122"/>
                <a:ea typeface="微软雅黑" panose="020B0503020204020204" pitchFamily="34" charset="-122"/>
              </a:rPr>
              <a:t>I/O</a:t>
            </a:r>
            <a:r>
              <a:rPr lang="zh-CN" altLang="en-US" b="1" dirty="0">
                <a:solidFill>
                  <a:srgbClr val="11576A"/>
                </a:solidFill>
                <a:latin typeface="微软雅黑" panose="020B0503020204020204" pitchFamily="34" charset="-122"/>
                <a:ea typeface="微软雅黑" panose="020B0503020204020204" pitchFamily="34" charset="-122"/>
              </a:rPr>
              <a:t>，进行数据传输，将外存的文件信息读入指定的内存地址。</a:t>
            </a:r>
            <a:endParaRPr lang="en-US" altLang="zh-CN" b="1" dirty="0">
              <a:solidFill>
                <a:srgbClr val="11576A"/>
              </a:solidFill>
              <a:latin typeface="微软雅黑" panose="020B0503020204020204" pitchFamily="34" charset="-122"/>
              <a:ea typeface="微软雅黑" panose="020B0503020204020204" pitchFamily="34" charset="-122"/>
            </a:endParaRPr>
          </a:p>
          <a:p>
            <a:pPr>
              <a:lnSpc>
                <a:spcPct val="130000"/>
              </a:lnSpc>
            </a:pPr>
            <a:r>
              <a:rPr lang="zh-CN" altLang="en-US" b="1" dirty="0">
                <a:solidFill>
                  <a:srgbClr val="11576A"/>
                </a:solidFill>
                <a:latin typeface="张海山锐谐体2.0-授权联系：Samtype@QQ.com" pitchFamily="2" charset="-122"/>
                <a:ea typeface="张海山锐谐体2.0-授权联系：Samtype@QQ.com" pitchFamily="2" charset="-122"/>
              </a:rPr>
              <a:t>■ </a:t>
            </a:r>
            <a:r>
              <a:rPr lang="zh-CN" altLang="en-US" b="1" dirty="0">
                <a:solidFill>
                  <a:srgbClr val="11576A"/>
                </a:solidFill>
                <a:latin typeface="微软雅黑" panose="020B0503020204020204" pitchFamily="34" charset="-122"/>
                <a:ea typeface="微软雅黑" panose="020B0503020204020204" pitchFamily="34" charset="-122"/>
              </a:rPr>
              <a:t>可以有多种读文件的方式：读一个文件的全部内容；读一个文件的若干个记录；读一个文件的若干个字符。</a:t>
            </a:r>
            <a:endParaRPr lang="en-US" altLang="zh-CN" b="1" dirty="0">
              <a:solidFill>
                <a:srgbClr val="11576A"/>
              </a:solidFill>
              <a:latin typeface="微软雅黑" panose="020B0503020204020204" pitchFamily="34" charset="-122"/>
              <a:ea typeface="微软雅黑" panose="020B0503020204020204" pitchFamily="34" charset="-122"/>
            </a:endParaRPr>
          </a:p>
        </p:txBody>
      </p:sp>
      <p:sp>
        <p:nvSpPr>
          <p:cNvPr id="3" name="标题 1"/>
          <p:cNvSpPr txBox="1"/>
          <p:nvPr/>
        </p:nvSpPr>
        <p:spPr>
          <a:xfrm>
            <a:off x="457200" y="205979"/>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ct val="0"/>
              </a:spcBef>
              <a:buClrTx/>
              <a:buSzTx/>
              <a:buFontTx/>
              <a:buNone/>
              <a:defRPr/>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文件操作</a:t>
            </a:r>
          </a:p>
        </p:txBody>
      </p:sp>
    </p:spTree>
  </p:cSld>
  <p:clrMapOvr>
    <a:masterClrMapping/>
  </p:clrMapOvr>
  <p:transition>
    <p:wipe dir="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85786" y="928676"/>
            <a:ext cx="7358114" cy="3637919"/>
          </a:xfrm>
          <a:prstGeom prst="rect">
            <a:avLst/>
          </a:prstGeom>
        </p:spPr>
        <p:txBody>
          <a:bodyPr wrap="square">
            <a:spAutoFit/>
          </a:bodyPr>
          <a:lstStyle/>
          <a:p>
            <a:pPr>
              <a:lnSpc>
                <a:spcPct val="160000"/>
              </a:lnSpc>
            </a:pPr>
            <a:r>
              <a:rPr lang="zh-CN" altLang="en-US" b="1" dirty="0">
                <a:solidFill>
                  <a:srgbClr val="FF0000"/>
                </a:solidFill>
                <a:latin typeface="微软雅黑" panose="020B0503020204020204" pitchFamily="34" charset="-122"/>
                <a:ea typeface="微软雅黑" panose="020B0503020204020204" pitchFamily="34" charset="-122"/>
              </a:rPr>
              <a:t>删除文件</a:t>
            </a:r>
            <a:r>
              <a:rPr lang="zh-CN" altLang="en-US" b="1" dirty="0">
                <a:solidFill>
                  <a:srgbClr val="11576A"/>
                </a:solidFill>
                <a:latin typeface="微软雅黑" panose="020B0503020204020204" pitchFamily="34" charset="-122"/>
                <a:ea typeface="微软雅黑" panose="020B0503020204020204" pitchFamily="34" charset="-122"/>
              </a:rPr>
              <a:t>：   当确信一个文件不再有用户使用时，可以使用删除文件命令将文件删除。在删除文件时，系统首先从目录表中检索出该文件的目录项，找到该文件所占用的文件存储空间，将其回收，然后删除该文件的目录项，使之成为空闲目录项。</a:t>
            </a:r>
            <a:endParaRPr lang="en-US" altLang="zh-CN" b="1" dirty="0">
              <a:solidFill>
                <a:srgbClr val="11576A"/>
              </a:solidFill>
              <a:latin typeface="微软雅黑" panose="020B0503020204020204" pitchFamily="34" charset="-122"/>
              <a:ea typeface="微软雅黑" panose="020B0503020204020204" pitchFamily="34" charset="-122"/>
            </a:endParaRPr>
          </a:p>
          <a:p>
            <a:pPr>
              <a:lnSpc>
                <a:spcPct val="160000"/>
              </a:lnSpc>
            </a:pPr>
            <a:r>
              <a:rPr lang="zh-CN" altLang="en-US" b="1" dirty="0">
                <a:solidFill>
                  <a:srgbClr val="FF0000"/>
                </a:solidFill>
                <a:latin typeface="微软雅黑" panose="020B0503020204020204" pitchFamily="34" charset="-122"/>
                <a:ea typeface="微软雅黑" panose="020B0503020204020204" pitchFamily="34" charset="-122"/>
              </a:rPr>
              <a:t>设置文件的读</a:t>
            </a:r>
            <a:r>
              <a:rPr lang="en-US" altLang="zh-CN" b="1" dirty="0">
                <a:solidFill>
                  <a:srgbClr val="FF0000"/>
                </a:solidFill>
                <a:latin typeface="微软雅黑" panose="020B0503020204020204" pitchFamily="34" charset="-122"/>
                <a:ea typeface="微软雅黑" panose="020B0503020204020204" pitchFamily="34" charset="-122"/>
              </a:rPr>
              <a:t>/</a:t>
            </a:r>
            <a:r>
              <a:rPr lang="zh-CN" altLang="en-US" b="1" dirty="0">
                <a:solidFill>
                  <a:srgbClr val="FF0000"/>
                </a:solidFill>
                <a:latin typeface="微软雅黑" panose="020B0503020204020204" pitchFamily="34" charset="-122"/>
                <a:ea typeface="微软雅黑" panose="020B0503020204020204" pitchFamily="34" charset="-122"/>
              </a:rPr>
              <a:t>写位置</a:t>
            </a:r>
            <a:r>
              <a:rPr lang="zh-CN" altLang="en-US" b="1" dirty="0">
                <a:solidFill>
                  <a:srgbClr val="11576A"/>
                </a:solidFill>
                <a:latin typeface="微软雅黑" panose="020B0503020204020204" pitchFamily="34" charset="-122"/>
                <a:ea typeface="微软雅黑" panose="020B0503020204020204" pitchFamily="34" charset="-122"/>
              </a:rPr>
              <a:t>。前述的文件读</a:t>
            </a:r>
            <a:r>
              <a:rPr lang="en-US" altLang="zh-CN" b="1" dirty="0">
                <a:solidFill>
                  <a:srgbClr val="11576A"/>
                </a:solidFill>
                <a:latin typeface="微软雅黑" panose="020B0503020204020204" pitchFamily="34" charset="-122"/>
                <a:ea typeface="微软雅黑" panose="020B0503020204020204" pitchFamily="34" charset="-122"/>
              </a:rPr>
              <a:t>/</a:t>
            </a:r>
            <a:r>
              <a:rPr lang="zh-CN" altLang="en-US" b="1" dirty="0">
                <a:solidFill>
                  <a:srgbClr val="11576A"/>
                </a:solidFill>
                <a:latin typeface="微软雅黑" panose="020B0503020204020204" pitchFamily="34" charset="-122"/>
                <a:ea typeface="微软雅黑" panose="020B0503020204020204" pitchFamily="34" charset="-122"/>
              </a:rPr>
              <a:t>写操作都只提供了对文件顺序存取的手段，即每次都是从文件的始端读或写。设置文件读</a:t>
            </a:r>
            <a:r>
              <a:rPr lang="en-US" altLang="zh-CN" b="1" dirty="0">
                <a:solidFill>
                  <a:srgbClr val="11576A"/>
                </a:solidFill>
                <a:latin typeface="微软雅黑" panose="020B0503020204020204" pitchFamily="34" charset="-122"/>
                <a:ea typeface="微软雅黑" panose="020B0503020204020204" pitchFamily="34" charset="-122"/>
              </a:rPr>
              <a:t>/</a:t>
            </a:r>
            <a:r>
              <a:rPr lang="zh-CN" altLang="en-US" b="1" dirty="0">
                <a:solidFill>
                  <a:srgbClr val="11576A"/>
                </a:solidFill>
                <a:latin typeface="微软雅黑" panose="020B0503020204020204" pitchFamily="34" charset="-122"/>
                <a:ea typeface="微软雅黑" panose="020B0503020204020204" pitchFamily="34" charset="-122"/>
              </a:rPr>
              <a:t>写位置的操作，用于设置文件读</a:t>
            </a:r>
            <a:r>
              <a:rPr lang="en-US" altLang="zh-CN" b="1" dirty="0">
                <a:solidFill>
                  <a:srgbClr val="11576A"/>
                </a:solidFill>
                <a:latin typeface="微软雅黑" panose="020B0503020204020204" pitchFamily="34" charset="-122"/>
                <a:ea typeface="微软雅黑" panose="020B0503020204020204" pitchFamily="34" charset="-122"/>
              </a:rPr>
              <a:t>/</a:t>
            </a:r>
            <a:r>
              <a:rPr lang="zh-CN" altLang="en-US" b="1" dirty="0">
                <a:solidFill>
                  <a:srgbClr val="11576A"/>
                </a:solidFill>
                <a:latin typeface="微软雅黑" panose="020B0503020204020204" pitchFamily="34" charset="-122"/>
                <a:ea typeface="微软雅黑" panose="020B0503020204020204" pitchFamily="34" charset="-122"/>
              </a:rPr>
              <a:t>写指针的位置，以便每次读</a:t>
            </a:r>
            <a:r>
              <a:rPr lang="en-US" altLang="zh-CN" b="1" dirty="0">
                <a:solidFill>
                  <a:srgbClr val="11576A"/>
                </a:solidFill>
                <a:latin typeface="微软雅黑" panose="020B0503020204020204" pitchFamily="34" charset="-122"/>
                <a:ea typeface="微软雅黑" panose="020B0503020204020204" pitchFamily="34" charset="-122"/>
              </a:rPr>
              <a:t>/</a:t>
            </a:r>
            <a:r>
              <a:rPr lang="zh-CN" altLang="en-US" b="1" dirty="0">
                <a:solidFill>
                  <a:srgbClr val="11576A"/>
                </a:solidFill>
                <a:latin typeface="微软雅黑" panose="020B0503020204020204" pitchFamily="34" charset="-122"/>
                <a:ea typeface="微软雅黑" panose="020B0503020204020204" pitchFamily="34" charset="-122"/>
              </a:rPr>
              <a:t>写文件时，不是从其始端而是从所设置的位置开始操作。</a:t>
            </a:r>
          </a:p>
        </p:txBody>
      </p:sp>
      <p:sp>
        <p:nvSpPr>
          <p:cNvPr id="3" name="标题 1"/>
          <p:cNvSpPr txBox="1"/>
          <p:nvPr/>
        </p:nvSpPr>
        <p:spPr>
          <a:xfrm>
            <a:off x="457200" y="205979"/>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ct val="0"/>
              </a:spcBef>
              <a:buClrTx/>
              <a:buSzTx/>
              <a:buFontTx/>
              <a:buNone/>
              <a:defRPr/>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文件操作</a:t>
            </a:r>
          </a:p>
        </p:txBody>
      </p:sp>
    </p:spTree>
  </p:cSld>
  <p:clrMapOvr>
    <a:masterClrMapping/>
  </p:clrMapOvr>
  <p:transition>
    <p:wipe dir="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noChangeArrowheads="1"/>
          </p:cNvSpPr>
          <p:nvPr/>
        </p:nvSpPr>
        <p:spPr bwMode="auto">
          <a:xfrm>
            <a:off x="3755856" y="189267"/>
            <a:ext cx="1928808" cy="553998"/>
          </a:xfrm>
          <a:prstGeom prst="rect">
            <a:avLst/>
          </a:prstGeom>
          <a:noFill/>
          <a:ln w="9525">
            <a:noFill/>
            <a:miter lim="800000"/>
          </a:ln>
        </p:spPr>
        <p:txBody>
          <a:bodyPr wrap="square">
            <a:spAutoFit/>
          </a:bodyPr>
          <a:lstStyle/>
          <a:p>
            <a:r>
              <a:rPr lang="x-none" altLang="zh-CN" sz="3000" b="1" dirty="0">
                <a:solidFill>
                  <a:srgbClr val="11576A"/>
                </a:solidFill>
                <a:latin typeface="微软雅黑" panose="020B0503020204020204" pitchFamily="34" charset="-122"/>
                <a:ea typeface="微软雅黑" panose="020B0503020204020204" pitchFamily="34" charset="-122"/>
              </a:rPr>
              <a:t>主要内容</a:t>
            </a:r>
          </a:p>
        </p:txBody>
      </p:sp>
      <p:grpSp>
        <p:nvGrpSpPr>
          <p:cNvPr id="4" name="组合 1"/>
          <p:cNvGrpSpPr/>
          <p:nvPr/>
        </p:nvGrpSpPr>
        <p:grpSpPr>
          <a:xfrm>
            <a:off x="549284" y="1072186"/>
            <a:ext cx="8566529" cy="415290"/>
            <a:chOff x="520709" y="928676"/>
            <a:chExt cx="8566529" cy="415290"/>
          </a:xfrm>
        </p:grpSpPr>
        <p:sp>
          <p:nvSpPr>
            <p:cNvPr id="37"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7.1 文件和文件系统</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60"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5" name="组合 3"/>
          <p:cNvGrpSpPr/>
          <p:nvPr/>
        </p:nvGrpSpPr>
        <p:grpSpPr>
          <a:xfrm>
            <a:off x="549284" y="1449606"/>
            <a:ext cx="8568952" cy="415290"/>
            <a:chOff x="520709" y="2802785"/>
            <a:chExt cx="8568952" cy="415290"/>
          </a:xfrm>
        </p:grpSpPr>
        <p:sp>
          <p:nvSpPr>
            <p:cNvPr id="4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7.2 文件的逻辑结构与存取方法</a:t>
              </a:r>
              <a:endParaRPr lang="x-none" altLang="zh-CN" dirty="0"/>
            </a:p>
          </p:txBody>
        </p:sp>
        <p:sp>
          <p:nvSpPr>
            <p:cNvPr id="61"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3" name="组合 1"/>
          <p:cNvGrpSpPr/>
          <p:nvPr/>
        </p:nvGrpSpPr>
        <p:grpSpPr>
          <a:xfrm>
            <a:off x="549284" y="1851331"/>
            <a:ext cx="8566529" cy="415290"/>
            <a:chOff x="520709" y="928676"/>
            <a:chExt cx="8566529" cy="415290"/>
          </a:xfrm>
        </p:grpSpPr>
        <p:sp>
          <p:nvSpPr>
            <p:cNvPr id="14"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7.3 文件的物理结构与存储设备</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15"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6" name="组合 3"/>
          <p:cNvGrpSpPr/>
          <p:nvPr/>
        </p:nvGrpSpPr>
        <p:grpSpPr>
          <a:xfrm>
            <a:off x="549284" y="2221717"/>
            <a:ext cx="8568952" cy="415290"/>
            <a:chOff x="520709" y="2802785"/>
            <a:chExt cx="8568952" cy="415290"/>
          </a:xfrm>
        </p:grpSpPr>
        <p:sp>
          <p:nvSpPr>
            <p:cNvPr id="17"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7.4 文件存储空间管理</a:t>
              </a:r>
              <a:endParaRPr lang="x-none" altLang="zh-CN" dirty="0"/>
            </a:p>
          </p:txBody>
        </p:sp>
        <p:sp>
          <p:nvSpPr>
            <p:cNvPr id="18"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9" name="组合 1"/>
          <p:cNvGrpSpPr/>
          <p:nvPr/>
        </p:nvGrpSpPr>
        <p:grpSpPr>
          <a:xfrm>
            <a:off x="549284" y="2643811"/>
            <a:ext cx="8566529" cy="415290"/>
            <a:chOff x="520709" y="928676"/>
            <a:chExt cx="8566529" cy="415290"/>
          </a:xfrm>
        </p:grpSpPr>
        <p:sp>
          <p:nvSpPr>
            <p:cNvPr id="20"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7.5 文件目录 </a:t>
              </a:r>
            </a:p>
          </p:txBody>
        </p:sp>
        <p:sp>
          <p:nvSpPr>
            <p:cNvPr id="21"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22" name="组合 3"/>
          <p:cNvGrpSpPr/>
          <p:nvPr/>
        </p:nvGrpSpPr>
        <p:grpSpPr>
          <a:xfrm>
            <a:off x="549284" y="3014197"/>
            <a:ext cx="8568952" cy="415290"/>
            <a:chOff x="520709" y="2802785"/>
            <a:chExt cx="8568952" cy="415290"/>
          </a:xfrm>
        </p:grpSpPr>
        <p:sp>
          <p:nvSpPr>
            <p:cNvPr id="23"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7.6 文件共享与保护</a:t>
              </a:r>
              <a:endParaRPr lang="x-none" altLang="zh-CN" dirty="0"/>
            </a:p>
          </p:txBody>
        </p:sp>
        <p:sp>
          <p:nvSpPr>
            <p:cNvPr id="24"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7" name="组合 3"/>
          <p:cNvGrpSpPr/>
          <p:nvPr/>
        </p:nvGrpSpPr>
        <p:grpSpPr>
          <a:xfrm>
            <a:off x="546109" y="3429487"/>
            <a:ext cx="8568952" cy="415290"/>
            <a:chOff x="520709" y="2802785"/>
            <a:chExt cx="8568952" cy="415290"/>
          </a:xfrm>
        </p:grpSpPr>
        <p:sp>
          <p:nvSpPr>
            <p:cNvPr id="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7.7 文件的使用</a:t>
              </a:r>
              <a:endParaRPr lang="x-none" altLang="zh-CN" dirty="0"/>
            </a:p>
          </p:txBody>
        </p:sp>
        <p:sp>
          <p:nvSpPr>
            <p:cNvPr id="10"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1" name="组合 3"/>
          <p:cNvGrpSpPr/>
          <p:nvPr/>
        </p:nvGrpSpPr>
        <p:grpSpPr>
          <a:xfrm>
            <a:off x="540394" y="3867002"/>
            <a:ext cx="8568952" cy="415290"/>
            <a:chOff x="520709" y="2802785"/>
            <a:chExt cx="8568952" cy="415290"/>
          </a:xfrm>
        </p:grpSpPr>
        <p:sp>
          <p:nvSpPr>
            <p:cNvPr id="12"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7.8 文件系统与层次模型</a:t>
              </a:r>
              <a:endParaRPr lang="x-none" altLang="zh-CN" dirty="0"/>
            </a:p>
          </p:txBody>
        </p:sp>
        <p:sp>
          <p:nvSpPr>
            <p:cNvPr id="25"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spTree>
    <p:extLst>
      <p:ext uri="{BB962C8B-B14F-4D97-AF65-F5344CB8AC3E}">
        <p14:creationId xmlns:p14="http://schemas.microsoft.com/office/powerpoint/2010/main" val="255584719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2" presetID="22" presetClass="entr" presetSubtype="8"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8"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ctrTitle"/>
          </p:nvPr>
        </p:nvSpPr>
        <p:spPr>
          <a:xfrm>
            <a:off x="971550" y="1924050"/>
            <a:ext cx="7113588" cy="928688"/>
          </a:xfrm>
          <a:ln w="9525">
            <a:noFill/>
            <a:miter/>
          </a:ln>
        </p:spPr>
        <p:txBody>
          <a:bodyPr wrap="square" lIns="91440" tIns="45720" rIns="91440" bIns="45720" anchor="b"/>
          <a:lstStyle/>
          <a:p>
            <a:pPr defTabSz="457200" eaLnBrk="1" hangingPunct="1"/>
            <a:r>
              <a:rPr lang="x-none" altLang="zh-CN" sz="4000" b="1" kern="1200" dirty="0">
                <a:solidFill>
                  <a:srgbClr val="11576A"/>
                </a:solidFill>
                <a:latin typeface="微软雅黑" panose="020B0503020204020204" pitchFamily="34" charset="-122"/>
                <a:ea typeface="微软雅黑" panose="020B0503020204020204" pitchFamily="34" charset="-122"/>
                <a:cs typeface="+mj-cs"/>
              </a:rPr>
              <a:t>7.8</a:t>
            </a:r>
            <a:r>
              <a:rPr lang="zh-CN" altLang="en-US" sz="4000" b="1" kern="1200" dirty="0">
                <a:solidFill>
                  <a:srgbClr val="11576A"/>
                </a:solidFill>
                <a:latin typeface="微软雅黑" panose="020B0503020204020204" pitchFamily="34" charset="-122"/>
                <a:ea typeface="微软雅黑" panose="020B0503020204020204" pitchFamily="34" charset="-122"/>
                <a:cs typeface="+mj-cs"/>
              </a:rPr>
              <a:t> </a:t>
            </a:r>
            <a:r>
              <a:rPr lang="x-none" altLang="zh-CN" sz="4000" b="1" kern="1200" dirty="0">
                <a:solidFill>
                  <a:srgbClr val="11576A"/>
                </a:solidFill>
                <a:latin typeface="微软雅黑" panose="020B0503020204020204" pitchFamily="34" charset="-122"/>
                <a:ea typeface="微软雅黑" panose="020B0503020204020204" pitchFamily="34" charset="-122"/>
                <a:cs typeface="+mj-cs"/>
              </a:rPr>
              <a:t>文件系统层次模型</a:t>
            </a:r>
          </a:p>
        </p:txBody>
      </p:sp>
    </p:spTree>
  </p:cSld>
  <p:clrMapOvr>
    <a:masterClrMapping/>
  </p:clrMapOvr>
  <p:transition>
    <p:wipe dir="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3643306" y="4774168"/>
            <a:ext cx="2031325" cy="369332"/>
          </a:xfrm>
          <a:prstGeom prst="rect">
            <a:avLst/>
          </a:prstGeom>
        </p:spPr>
        <p:txBody>
          <a:bodyPr wrap="none">
            <a:spAutoFit/>
          </a:bodyPr>
          <a:lstStyle/>
          <a:p>
            <a:r>
              <a:rPr lang="zh-CN" altLang="en-US" b="1" noProof="1">
                <a:solidFill>
                  <a:srgbClr val="11576A"/>
                </a:solidFill>
                <a:latin typeface="微软雅黑" panose="020B0503020204020204" pitchFamily="34" charset="-122"/>
                <a:ea typeface="微软雅黑" panose="020B0503020204020204" pitchFamily="34" charset="-122"/>
              </a:rPr>
              <a:t>文件系统软件架构</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 name="标题 1"/>
          <p:cNvSpPr txBox="1"/>
          <p:nvPr/>
        </p:nvSpPr>
        <p:spPr>
          <a:xfrm>
            <a:off x="395536" y="172065"/>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ct val="0"/>
              </a:spcBef>
              <a:buClrTx/>
              <a:buSzTx/>
              <a:buFontTx/>
              <a:buNone/>
              <a:defRPr/>
            </a:pPr>
            <a:r>
              <a:rPr kumimoji="0" lang="zh-CN" altLang="en-US"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rPr>
              <a:t>文件</a:t>
            </a:r>
            <a:r>
              <a:rPr lang="zh-CN" altLang="en-US" dirty="0">
                <a:cs typeface="+mj-cs"/>
              </a:rPr>
              <a:t>系统的</a:t>
            </a:r>
            <a:r>
              <a:rPr lang="x-none" altLang="zh-CN" dirty="0">
                <a:cs typeface="+mj-cs"/>
              </a:rPr>
              <a:t>软件架构</a:t>
            </a:r>
            <a:endParaRPr kumimoji="0" lang="x-none" altLang="zh-CN" sz="3000" b="1" i="0" u="none" strike="noStrike" kern="1200" cap="none" spc="0" normalizeH="0" baseline="0" noProof="0" dirty="0">
              <a:ln>
                <a:noFill/>
              </a:ln>
              <a:solidFill>
                <a:srgbClr val="11576A"/>
              </a:solidFill>
              <a:effectLst/>
              <a:uLnTx/>
              <a:uFillTx/>
              <a:latin typeface="微软雅黑" panose="020B0503020204020204" pitchFamily="34" charset="-122"/>
              <a:ea typeface="微软雅黑" panose="020B0503020204020204" pitchFamily="34" charset="-122"/>
              <a:cs typeface="+mj-cs"/>
            </a:endParaRPr>
          </a:p>
        </p:txBody>
      </p:sp>
      <p:pic>
        <p:nvPicPr>
          <p:cNvPr id="18" name="Picture 4"/>
          <p:cNvPicPr>
            <a:picLocks noGrp="1" noChangeAspect="1"/>
          </p:cNvPicPr>
          <p:nvPr/>
        </p:nvPicPr>
        <p:blipFill>
          <a:blip r:embed="rId2"/>
          <a:stretch>
            <a:fillRect/>
          </a:stretch>
        </p:blipFill>
        <p:spPr>
          <a:xfrm>
            <a:off x="2570290" y="785782"/>
            <a:ext cx="3104341" cy="4357718"/>
          </a:xfrm>
          <a:prstGeom prst="rect">
            <a:avLst/>
          </a:prstGeom>
          <a:noFill/>
          <a:ln w="9525">
            <a:noFill/>
          </a:ln>
        </p:spPr>
      </p:pic>
    </p:spTree>
  </p:cSld>
  <p:clrMapOvr>
    <a:masterClrMapping/>
  </p:clrMapOvr>
  <p:transition>
    <p:wipe dir="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noChangeArrowheads="1"/>
          </p:cNvSpPr>
          <p:nvPr/>
        </p:nvSpPr>
        <p:spPr bwMode="auto">
          <a:xfrm>
            <a:off x="3755856" y="189267"/>
            <a:ext cx="1928808" cy="553998"/>
          </a:xfrm>
          <a:prstGeom prst="rect">
            <a:avLst/>
          </a:prstGeom>
          <a:noFill/>
          <a:ln w="9525">
            <a:noFill/>
            <a:miter lim="800000"/>
          </a:ln>
        </p:spPr>
        <p:txBody>
          <a:bodyPr wrap="square">
            <a:spAutoFit/>
          </a:bodyPr>
          <a:lstStyle/>
          <a:p>
            <a:r>
              <a:rPr lang="x-none" altLang="zh-CN" sz="3000" b="1" dirty="0">
                <a:solidFill>
                  <a:srgbClr val="11576A"/>
                </a:solidFill>
                <a:latin typeface="微软雅黑" panose="020B0503020204020204" pitchFamily="34" charset="-122"/>
                <a:ea typeface="微软雅黑" panose="020B0503020204020204" pitchFamily="34" charset="-122"/>
              </a:rPr>
              <a:t>主要内容</a:t>
            </a:r>
          </a:p>
        </p:txBody>
      </p:sp>
      <p:grpSp>
        <p:nvGrpSpPr>
          <p:cNvPr id="4" name="组合 1"/>
          <p:cNvGrpSpPr/>
          <p:nvPr/>
        </p:nvGrpSpPr>
        <p:grpSpPr>
          <a:xfrm>
            <a:off x="549284" y="1072186"/>
            <a:ext cx="8566529" cy="415290"/>
            <a:chOff x="520709" y="928676"/>
            <a:chExt cx="8566529" cy="415290"/>
          </a:xfrm>
        </p:grpSpPr>
        <p:sp>
          <p:nvSpPr>
            <p:cNvPr id="37"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7.1 文件和文件系统</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60"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5" name="组合 3"/>
          <p:cNvGrpSpPr/>
          <p:nvPr/>
        </p:nvGrpSpPr>
        <p:grpSpPr>
          <a:xfrm>
            <a:off x="549284" y="1449606"/>
            <a:ext cx="8568952" cy="415290"/>
            <a:chOff x="520709" y="2802785"/>
            <a:chExt cx="8568952" cy="415290"/>
          </a:xfrm>
        </p:grpSpPr>
        <p:sp>
          <p:nvSpPr>
            <p:cNvPr id="4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7.2 文件的逻辑结构与存取方法</a:t>
              </a:r>
              <a:endParaRPr lang="x-none" altLang="zh-CN" dirty="0"/>
            </a:p>
          </p:txBody>
        </p:sp>
        <p:sp>
          <p:nvSpPr>
            <p:cNvPr id="61"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3" name="组合 1"/>
          <p:cNvGrpSpPr/>
          <p:nvPr/>
        </p:nvGrpSpPr>
        <p:grpSpPr>
          <a:xfrm>
            <a:off x="549284" y="1851331"/>
            <a:ext cx="8566529" cy="415290"/>
            <a:chOff x="520709" y="928676"/>
            <a:chExt cx="8566529" cy="415290"/>
          </a:xfrm>
        </p:grpSpPr>
        <p:sp>
          <p:nvSpPr>
            <p:cNvPr id="14"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7.3 文件的物理结构与存储设备</a:t>
              </a:r>
              <a:endParaRPr lang="x-none" altLang="zh-CN" sz="2000" b="1" dirty="0">
                <a:solidFill>
                  <a:srgbClr val="FF0000"/>
                </a:solidFill>
                <a:latin typeface="微软雅黑" panose="020B0503020204020204" pitchFamily="34" charset="-122"/>
                <a:ea typeface="微软雅黑" panose="020B0503020204020204" pitchFamily="34" charset="-122"/>
                <a:sym typeface="Times New Roman" panose="02020603050405020304" charset="0"/>
              </a:endParaRPr>
            </a:p>
          </p:txBody>
        </p:sp>
        <p:sp>
          <p:nvSpPr>
            <p:cNvPr id="15"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6" name="组合 3"/>
          <p:cNvGrpSpPr/>
          <p:nvPr/>
        </p:nvGrpSpPr>
        <p:grpSpPr>
          <a:xfrm>
            <a:off x="549284" y="2221717"/>
            <a:ext cx="8568952" cy="415290"/>
            <a:chOff x="520709" y="2802785"/>
            <a:chExt cx="8568952" cy="415290"/>
          </a:xfrm>
        </p:grpSpPr>
        <p:sp>
          <p:nvSpPr>
            <p:cNvPr id="17"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7.4 文件存储空间管理</a:t>
              </a:r>
              <a:endParaRPr lang="x-none" altLang="zh-CN" dirty="0"/>
            </a:p>
          </p:txBody>
        </p:sp>
        <p:sp>
          <p:nvSpPr>
            <p:cNvPr id="18"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9" name="组合 1"/>
          <p:cNvGrpSpPr/>
          <p:nvPr/>
        </p:nvGrpSpPr>
        <p:grpSpPr>
          <a:xfrm>
            <a:off x="549284" y="2643811"/>
            <a:ext cx="8566529" cy="415290"/>
            <a:chOff x="520709" y="928676"/>
            <a:chExt cx="8566529" cy="415290"/>
          </a:xfrm>
        </p:grpSpPr>
        <p:sp>
          <p:nvSpPr>
            <p:cNvPr id="20" name="TextBox 36"/>
            <p:cNvSpPr txBox="1"/>
            <p:nvPr/>
          </p:nvSpPr>
          <p:spPr>
            <a:xfrm>
              <a:off x="871900" y="928676"/>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7.5 文件目录 </a:t>
              </a:r>
            </a:p>
          </p:txBody>
        </p:sp>
        <p:sp>
          <p:nvSpPr>
            <p:cNvPr id="21" name="矩形 8"/>
            <p:cNvSpPr>
              <a:spLocks noChangeArrowheads="1"/>
            </p:cNvSpPr>
            <p:nvPr/>
          </p:nvSpPr>
          <p:spPr bwMode="auto">
            <a:xfrm>
              <a:off x="520709" y="9291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22" name="组合 3"/>
          <p:cNvGrpSpPr/>
          <p:nvPr/>
        </p:nvGrpSpPr>
        <p:grpSpPr>
          <a:xfrm>
            <a:off x="549284" y="3014197"/>
            <a:ext cx="8568952" cy="415290"/>
            <a:chOff x="520709" y="2802785"/>
            <a:chExt cx="8568952" cy="415290"/>
          </a:xfrm>
        </p:grpSpPr>
        <p:sp>
          <p:nvSpPr>
            <p:cNvPr id="23"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7.6 文件共享与保护</a:t>
              </a:r>
              <a:endParaRPr lang="x-none" altLang="zh-CN" dirty="0"/>
            </a:p>
          </p:txBody>
        </p:sp>
        <p:sp>
          <p:nvSpPr>
            <p:cNvPr id="24"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7" name="组合 3"/>
          <p:cNvGrpSpPr/>
          <p:nvPr/>
        </p:nvGrpSpPr>
        <p:grpSpPr>
          <a:xfrm>
            <a:off x="546109" y="3429487"/>
            <a:ext cx="8568952" cy="415290"/>
            <a:chOff x="520709" y="2802785"/>
            <a:chExt cx="8568952" cy="415290"/>
          </a:xfrm>
        </p:grpSpPr>
        <p:sp>
          <p:nvSpPr>
            <p:cNvPr id="9"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7.7 文件的使用</a:t>
              </a:r>
              <a:endParaRPr lang="x-none" altLang="zh-CN" dirty="0"/>
            </a:p>
          </p:txBody>
        </p:sp>
        <p:sp>
          <p:nvSpPr>
            <p:cNvPr id="10"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grpSp>
        <p:nvGrpSpPr>
          <p:cNvPr id="11" name="组合 3"/>
          <p:cNvGrpSpPr/>
          <p:nvPr/>
        </p:nvGrpSpPr>
        <p:grpSpPr>
          <a:xfrm>
            <a:off x="540394" y="3867002"/>
            <a:ext cx="8568952" cy="415290"/>
            <a:chOff x="520709" y="2802785"/>
            <a:chExt cx="8568952" cy="415290"/>
          </a:xfrm>
        </p:grpSpPr>
        <p:sp>
          <p:nvSpPr>
            <p:cNvPr id="12" name="TextBox 48"/>
            <p:cNvSpPr txBox="1"/>
            <p:nvPr/>
          </p:nvSpPr>
          <p:spPr>
            <a:xfrm>
              <a:off x="874323" y="2802785"/>
              <a:ext cx="8215338" cy="415290"/>
            </a:xfrm>
            <a:prstGeom prst="rect">
              <a:avLst/>
            </a:prstGeom>
            <a:noFill/>
          </p:spPr>
          <p:txBody>
            <a:bodyPr wrap="square" rtlCol="0">
              <a:spAutoFit/>
            </a:bodyPr>
            <a:lstStyle/>
            <a:p>
              <a:pPr marL="342900" lvl="1" indent="-342900">
                <a:lnSpc>
                  <a:spcPct val="95000"/>
                </a:lnSpc>
                <a:spcBef>
                  <a:spcPct val="20000"/>
                </a:spcBef>
              </a:pPr>
              <a:r>
                <a:rPr lang="x-none" altLang="zh-CN" sz="2000" b="1" dirty="0">
                  <a:solidFill>
                    <a:srgbClr val="11576A"/>
                  </a:solidFill>
                  <a:latin typeface="微软雅黑" panose="020B0503020204020204" pitchFamily="34" charset="-122"/>
                  <a:ea typeface="微软雅黑" panose="020B0503020204020204" pitchFamily="34" charset="-122"/>
                  <a:sym typeface="Times New Roman" panose="02020603050405020304" charset="0"/>
                </a:rPr>
                <a:t>7.8 文件系统与层次模型</a:t>
              </a:r>
              <a:endParaRPr lang="x-none" altLang="zh-CN" dirty="0"/>
            </a:p>
          </p:txBody>
        </p:sp>
        <p:sp>
          <p:nvSpPr>
            <p:cNvPr id="25" name="矩形 8"/>
            <p:cNvSpPr>
              <a:spLocks noChangeArrowheads="1"/>
            </p:cNvSpPr>
            <p:nvPr/>
          </p:nvSpPr>
          <p:spPr bwMode="auto">
            <a:xfrm>
              <a:off x="520709" y="2809474"/>
              <a:ext cx="415925" cy="369888"/>
            </a:xfrm>
            <a:prstGeom prst="rect">
              <a:avLst/>
            </a:prstGeom>
            <a:noFill/>
            <a:ln w="9525">
              <a:noFill/>
              <a:miter lim="800000"/>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anose="020F0502020204030204" charset="0"/>
              </a:endParaRPr>
            </a:p>
          </p:txBody>
        </p:sp>
      </p:grpSp>
    </p:spTree>
    <p:extLst>
      <p:ext uri="{BB962C8B-B14F-4D97-AF65-F5344CB8AC3E}">
        <p14:creationId xmlns:p14="http://schemas.microsoft.com/office/powerpoint/2010/main" val="206308213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2" presetID="22" presetClass="entr" presetSubtype="8"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8"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微软雅黑">
      <a:majorFont>
        <a:latin typeface="MS PGothic"/>
        <a:ea typeface="微软雅黑"/>
        <a:cs typeface=""/>
      </a:majorFont>
      <a:minorFont>
        <a:latin typeface="MS PGothic"/>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eam">
  <a:themeElements>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fontScheme name="Beam">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Beam 1">
        <a:dk1>
          <a:srgbClr val="1A006C"/>
        </a:dk1>
        <a:lt1>
          <a:srgbClr val="FFFFFF"/>
        </a:lt1>
        <a:dk2>
          <a:srgbClr val="000066"/>
        </a:dk2>
        <a:lt2>
          <a:srgbClr val="CCCCFF"/>
        </a:lt2>
        <a:accent1>
          <a:srgbClr val="0099CC"/>
        </a:accent1>
        <a:accent2>
          <a:srgbClr val="6600CC"/>
        </a:accent2>
        <a:accent3>
          <a:srgbClr val="AAAAB8"/>
        </a:accent3>
        <a:accent4>
          <a:srgbClr val="DADADA"/>
        </a:accent4>
        <a:accent5>
          <a:srgbClr val="AACAE2"/>
        </a:accent5>
        <a:accent6>
          <a:srgbClr val="5C00B9"/>
        </a:accent6>
        <a:hlink>
          <a:srgbClr val="9999FF"/>
        </a:hlink>
        <a:folHlink>
          <a:srgbClr val="33CCCC"/>
        </a:folHlink>
      </a:clrScheme>
      <a:clrMap bg1="dk2" tx1="lt1" bg2="dk1" tx2="lt2" accent1="accent1" accent2="accent2" accent3="accent3" accent4="accent4" accent5="accent5" accent6="accent6" hlink="hlink" folHlink="folHlink"/>
    </a:extraClrScheme>
    <a:extraClrScheme>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clrMap bg1="dk2" tx1="lt1" bg2="dk1" tx2="lt2" accent1="accent1" accent2="accent2" accent3="accent3" accent4="accent4" accent5="accent5" accent6="accent6" hlink="hlink" folHlink="folHlink"/>
    </a:extraClrScheme>
    <a:extraClrScheme>
      <a:clrScheme name="Beam 3">
        <a:dk1>
          <a:srgbClr val="3F4873"/>
        </a:dk1>
        <a:lt1>
          <a:srgbClr val="FFFFFF"/>
        </a:lt1>
        <a:dk2>
          <a:srgbClr val="4F598D"/>
        </a:dk2>
        <a:lt2>
          <a:srgbClr val="CCECFF"/>
        </a:lt2>
        <a:accent1>
          <a:srgbClr val="0099CC"/>
        </a:accent1>
        <a:accent2>
          <a:srgbClr val="4C8470"/>
        </a:accent2>
        <a:accent3>
          <a:srgbClr val="B2B5C5"/>
        </a:accent3>
        <a:accent4>
          <a:srgbClr val="DADADA"/>
        </a:accent4>
        <a:accent5>
          <a:srgbClr val="AACAE2"/>
        </a:accent5>
        <a:accent6>
          <a:srgbClr val="447765"/>
        </a:accent6>
        <a:hlink>
          <a:srgbClr val="99CC00"/>
        </a:hlink>
        <a:folHlink>
          <a:srgbClr val="96A4C8"/>
        </a:folHlink>
      </a:clrScheme>
      <a:clrMap bg1="dk2" tx1="lt1" bg2="dk1" tx2="lt2" accent1="accent1" accent2="accent2" accent3="accent3" accent4="accent4" accent5="accent5" accent6="accent6" hlink="hlink" folHlink="folHlink"/>
    </a:extraClrScheme>
    <a:extraClrScheme>
      <a:clrScheme name="Beam 4">
        <a:dk1>
          <a:srgbClr val="006E6B"/>
        </a:dk1>
        <a:lt1>
          <a:srgbClr val="FFFFFF"/>
        </a:lt1>
        <a:dk2>
          <a:srgbClr val="008080"/>
        </a:dk2>
        <a:lt2>
          <a:srgbClr val="E2EFCD"/>
        </a:lt2>
        <a:accent1>
          <a:srgbClr val="33CCCC"/>
        </a:accent1>
        <a:accent2>
          <a:srgbClr val="6352B8"/>
        </a:accent2>
        <a:accent3>
          <a:srgbClr val="AAC0C0"/>
        </a:accent3>
        <a:accent4>
          <a:srgbClr val="DADADA"/>
        </a:accent4>
        <a:accent5>
          <a:srgbClr val="ADE2E2"/>
        </a:accent5>
        <a:accent6>
          <a:srgbClr val="5949A6"/>
        </a:accent6>
        <a:hlink>
          <a:srgbClr val="CCFFFF"/>
        </a:hlink>
        <a:folHlink>
          <a:srgbClr val="99CCFF"/>
        </a:folHlink>
      </a:clrScheme>
      <a:clrMap bg1="dk2" tx1="lt1" bg2="dk1" tx2="lt2" accent1="accent1" accent2="accent2" accent3="accent3" accent4="accent4" accent5="accent5" accent6="accent6" hlink="hlink" folHlink="folHlink"/>
    </a:extraClrScheme>
    <a:extraClrScheme>
      <a:clrScheme name="Beam 5">
        <a:dk1>
          <a:srgbClr val="48562C"/>
        </a:dk1>
        <a:lt1>
          <a:srgbClr val="FFFFFF"/>
        </a:lt1>
        <a:dk2>
          <a:srgbClr val="546434"/>
        </a:dk2>
        <a:lt2>
          <a:srgbClr val="FFFFCC"/>
        </a:lt2>
        <a:accent1>
          <a:srgbClr val="7B8A6E"/>
        </a:accent1>
        <a:accent2>
          <a:srgbClr val="527C3A"/>
        </a:accent2>
        <a:accent3>
          <a:srgbClr val="B3B8AE"/>
        </a:accent3>
        <a:accent4>
          <a:srgbClr val="DADADA"/>
        </a:accent4>
        <a:accent5>
          <a:srgbClr val="BFC4BA"/>
        </a:accent5>
        <a:accent6>
          <a:srgbClr val="497034"/>
        </a:accent6>
        <a:hlink>
          <a:srgbClr val="55B55E"/>
        </a:hlink>
        <a:folHlink>
          <a:srgbClr val="85B3B1"/>
        </a:folHlink>
      </a:clrScheme>
      <a:clrMap bg1="dk2" tx1="lt1" bg2="dk1" tx2="lt2" accent1="accent1" accent2="accent2" accent3="accent3" accent4="accent4" accent5="accent5" accent6="accent6" hlink="hlink" folHlink="folHlink"/>
    </a:extraClrScheme>
    <a:extraClrScheme>
      <a:clrScheme name="Beam 6">
        <a:dk1>
          <a:srgbClr val="96B29E"/>
        </a:dk1>
        <a:lt1>
          <a:srgbClr val="FFFFFF"/>
        </a:lt1>
        <a:dk2>
          <a:srgbClr val="A5BDAC"/>
        </a:dk2>
        <a:lt2>
          <a:srgbClr val="FFFFCC"/>
        </a:lt2>
        <a:accent1>
          <a:srgbClr val="4E8880"/>
        </a:accent1>
        <a:accent2>
          <a:srgbClr val="2F71B9"/>
        </a:accent2>
        <a:accent3>
          <a:srgbClr val="CFDBD2"/>
        </a:accent3>
        <a:accent4>
          <a:srgbClr val="DADADA"/>
        </a:accent4>
        <a:accent5>
          <a:srgbClr val="B2C3C0"/>
        </a:accent5>
        <a:accent6>
          <a:srgbClr val="2A66A7"/>
        </a:accent6>
        <a:hlink>
          <a:srgbClr val="9DC0E7"/>
        </a:hlink>
        <a:folHlink>
          <a:srgbClr val="54CA89"/>
        </a:folHlink>
      </a:clrScheme>
      <a:clrMap bg1="dk2" tx1="lt1" bg2="dk1" tx2="lt2" accent1="accent1" accent2="accent2" accent3="accent3" accent4="accent4" accent5="accent5" accent6="accent6" hlink="hlink" folHlink="folHlink"/>
    </a:extraClrScheme>
    <a:extraClrScheme>
      <a:clrScheme name="Beam 7">
        <a:dk1>
          <a:srgbClr val="D49C00"/>
        </a:dk1>
        <a:lt1>
          <a:srgbClr val="FFFFFF"/>
        </a:lt1>
        <a:dk2>
          <a:srgbClr val="CC9900"/>
        </a:dk2>
        <a:lt2>
          <a:srgbClr val="CEBD40"/>
        </a:lt2>
        <a:accent1>
          <a:srgbClr val="CC6600"/>
        </a:accent1>
        <a:accent2>
          <a:srgbClr val="808000"/>
        </a:accent2>
        <a:accent3>
          <a:srgbClr val="E2CAAA"/>
        </a:accent3>
        <a:accent4>
          <a:srgbClr val="DADADA"/>
        </a:accent4>
        <a:accent5>
          <a:srgbClr val="E2B8AA"/>
        </a:accent5>
        <a:accent6>
          <a:srgbClr val="737300"/>
        </a:accent6>
        <a:hlink>
          <a:srgbClr val="FF9900"/>
        </a:hlink>
        <a:folHlink>
          <a:srgbClr val="FFFF99"/>
        </a:folHlink>
      </a:clrScheme>
      <a:clrMap bg1="dk2" tx1="lt1" bg2="dk1" tx2="lt2" accent1="accent1" accent2="accent2" accent3="accent3" accent4="accent4" accent5="accent5" accent6="accent6" hlink="hlink" folHlink="folHlink"/>
    </a:extraClrScheme>
    <a:extraClrScheme>
      <a:clrScheme name="Beam 8">
        <a:dk1>
          <a:srgbClr val="881700"/>
        </a:dk1>
        <a:lt1>
          <a:srgbClr val="FAF9E6"/>
        </a:lt1>
        <a:dk2>
          <a:srgbClr val="990000"/>
        </a:dk2>
        <a:lt2>
          <a:srgbClr val="EADC78"/>
        </a:lt2>
        <a:accent1>
          <a:srgbClr val="FF6600"/>
        </a:accent1>
        <a:accent2>
          <a:srgbClr val="B86D52"/>
        </a:accent2>
        <a:accent3>
          <a:srgbClr val="CAAAAA"/>
        </a:accent3>
        <a:accent4>
          <a:srgbClr val="D6D5C4"/>
        </a:accent4>
        <a:accent5>
          <a:srgbClr val="FFB8AA"/>
        </a:accent5>
        <a:accent6>
          <a:srgbClr val="A66249"/>
        </a:accent6>
        <a:hlink>
          <a:srgbClr val="D78D15"/>
        </a:hlink>
        <a:folHlink>
          <a:srgbClr val="C6B37E"/>
        </a:folHlink>
      </a:clrScheme>
      <a:clrMap bg1="dk2" tx1="lt1" bg2="dk1" tx2="lt2" accent1="accent1" accent2="accent2" accent3="accent3" accent4="accent4" accent5="accent5" accent6="accent6" hlink="hlink" folHlink="folHlink"/>
    </a:extraClrScheme>
    <a:extraClrScheme>
      <a:clrScheme name="Beam 9">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5CC98"/>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Beam">
  <a:themeElements>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fontScheme name="Beam">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Beam 1">
        <a:dk1>
          <a:srgbClr val="1A006C"/>
        </a:dk1>
        <a:lt1>
          <a:srgbClr val="FFFFFF"/>
        </a:lt1>
        <a:dk2>
          <a:srgbClr val="000066"/>
        </a:dk2>
        <a:lt2>
          <a:srgbClr val="CCCCFF"/>
        </a:lt2>
        <a:accent1>
          <a:srgbClr val="0099CC"/>
        </a:accent1>
        <a:accent2>
          <a:srgbClr val="6600CC"/>
        </a:accent2>
        <a:accent3>
          <a:srgbClr val="AAAAB8"/>
        </a:accent3>
        <a:accent4>
          <a:srgbClr val="DADADA"/>
        </a:accent4>
        <a:accent5>
          <a:srgbClr val="AACAE2"/>
        </a:accent5>
        <a:accent6>
          <a:srgbClr val="5C00B9"/>
        </a:accent6>
        <a:hlink>
          <a:srgbClr val="9999FF"/>
        </a:hlink>
        <a:folHlink>
          <a:srgbClr val="33CCCC"/>
        </a:folHlink>
      </a:clrScheme>
      <a:clrMap bg1="dk2" tx1="lt1" bg2="dk1" tx2="lt2" accent1="accent1" accent2="accent2" accent3="accent3" accent4="accent4" accent5="accent5" accent6="accent6" hlink="hlink" folHlink="folHlink"/>
    </a:extraClrScheme>
    <a:extraClrScheme>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clrMap bg1="dk2" tx1="lt1" bg2="dk1" tx2="lt2" accent1="accent1" accent2="accent2" accent3="accent3" accent4="accent4" accent5="accent5" accent6="accent6" hlink="hlink" folHlink="folHlink"/>
    </a:extraClrScheme>
    <a:extraClrScheme>
      <a:clrScheme name="Beam 3">
        <a:dk1>
          <a:srgbClr val="3F4873"/>
        </a:dk1>
        <a:lt1>
          <a:srgbClr val="FFFFFF"/>
        </a:lt1>
        <a:dk2>
          <a:srgbClr val="4F598D"/>
        </a:dk2>
        <a:lt2>
          <a:srgbClr val="CCECFF"/>
        </a:lt2>
        <a:accent1>
          <a:srgbClr val="0099CC"/>
        </a:accent1>
        <a:accent2>
          <a:srgbClr val="4C8470"/>
        </a:accent2>
        <a:accent3>
          <a:srgbClr val="B2B5C5"/>
        </a:accent3>
        <a:accent4>
          <a:srgbClr val="DADADA"/>
        </a:accent4>
        <a:accent5>
          <a:srgbClr val="AACAE2"/>
        </a:accent5>
        <a:accent6>
          <a:srgbClr val="447765"/>
        </a:accent6>
        <a:hlink>
          <a:srgbClr val="99CC00"/>
        </a:hlink>
        <a:folHlink>
          <a:srgbClr val="96A4C8"/>
        </a:folHlink>
      </a:clrScheme>
      <a:clrMap bg1="dk2" tx1="lt1" bg2="dk1" tx2="lt2" accent1="accent1" accent2="accent2" accent3="accent3" accent4="accent4" accent5="accent5" accent6="accent6" hlink="hlink" folHlink="folHlink"/>
    </a:extraClrScheme>
    <a:extraClrScheme>
      <a:clrScheme name="Beam 4">
        <a:dk1>
          <a:srgbClr val="006E6B"/>
        </a:dk1>
        <a:lt1>
          <a:srgbClr val="FFFFFF"/>
        </a:lt1>
        <a:dk2>
          <a:srgbClr val="008080"/>
        </a:dk2>
        <a:lt2>
          <a:srgbClr val="E2EFCD"/>
        </a:lt2>
        <a:accent1>
          <a:srgbClr val="33CCCC"/>
        </a:accent1>
        <a:accent2>
          <a:srgbClr val="6352B8"/>
        </a:accent2>
        <a:accent3>
          <a:srgbClr val="AAC0C0"/>
        </a:accent3>
        <a:accent4>
          <a:srgbClr val="DADADA"/>
        </a:accent4>
        <a:accent5>
          <a:srgbClr val="ADE2E2"/>
        </a:accent5>
        <a:accent6>
          <a:srgbClr val="5949A6"/>
        </a:accent6>
        <a:hlink>
          <a:srgbClr val="CCFFFF"/>
        </a:hlink>
        <a:folHlink>
          <a:srgbClr val="99CCFF"/>
        </a:folHlink>
      </a:clrScheme>
      <a:clrMap bg1="dk2" tx1="lt1" bg2="dk1" tx2="lt2" accent1="accent1" accent2="accent2" accent3="accent3" accent4="accent4" accent5="accent5" accent6="accent6" hlink="hlink" folHlink="folHlink"/>
    </a:extraClrScheme>
    <a:extraClrScheme>
      <a:clrScheme name="Beam 5">
        <a:dk1>
          <a:srgbClr val="48562C"/>
        </a:dk1>
        <a:lt1>
          <a:srgbClr val="FFFFFF"/>
        </a:lt1>
        <a:dk2>
          <a:srgbClr val="546434"/>
        </a:dk2>
        <a:lt2>
          <a:srgbClr val="FFFFCC"/>
        </a:lt2>
        <a:accent1>
          <a:srgbClr val="7B8A6E"/>
        </a:accent1>
        <a:accent2>
          <a:srgbClr val="527C3A"/>
        </a:accent2>
        <a:accent3>
          <a:srgbClr val="B3B8AE"/>
        </a:accent3>
        <a:accent4>
          <a:srgbClr val="DADADA"/>
        </a:accent4>
        <a:accent5>
          <a:srgbClr val="BFC4BA"/>
        </a:accent5>
        <a:accent6>
          <a:srgbClr val="497034"/>
        </a:accent6>
        <a:hlink>
          <a:srgbClr val="55B55E"/>
        </a:hlink>
        <a:folHlink>
          <a:srgbClr val="85B3B1"/>
        </a:folHlink>
      </a:clrScheme>
      <a:clrMap bg1="dk2" tx1="lt1" bg2="dk1" tx2="lt2" accent1="accent1" accent2="accent2" accent3="accent3" accent4="accent4" accent5="accent5" accent6="accent6" hlink="hlink" folHlink="folHlink"/>
    </a:extraClrScheme>
    <a:extraClrScheme>
      <a:clrScheme name="Beam 6">
        <a:dk1>
          <a:srgbClr val="96B29E"/>
        </a:dk1>
        <a:lt1>
          <a:srgbClr val="FFFFFF"/>
        </a:lt1>
        <a:dk2>
          <a:srgbClr val="A5BDAC"/>
        </a:dk2>
        <a:lt2>
          <a:srgbClr val="FFFFCC"/>
        </a:lt2>
        <a:accent1>
          <a:srgbClr val="4E8880"/>
        </a:accent1>
        <a:accent2>
          <a:srgbClr val="2F71B9"/>
        </a:accent2>
        <a:accent3>
          <a:srgbClr val="CFDBD2"/>
        </a:accent3>
        <a:accent4>
          <a:srgbClr val="DADADA"/>
        </a:accent4>
        <a:accent5>
          <a:srgbClr val="B2C3C0"/>
        </a:accent5>
        <a:accent6>
          <a:srgbClr val="2A66A7"/>
        </a:accent6>
        <a:hlink>
          <a:srgbClr val="9DC0E7"/>
        </a:hlink>
        <a:folHlink>
          <a:srgbClr val="54CA89"/>
        </a:folHlink>
      </a:clrScheme>
      <a:clrMap bg1="dk2" tx1="lt1" bg2="dk1" tx2="lt2" accent1="accent1" accent2="accent2" accent3="accent3" accent4="accent4" accent5="accent5" accent6="accent6" hlink="hlink" folHlink="folHlink"/>
    </a:extraClrScheme>
    <a:extraClrScheme>
      <a:clrScheme name="Beam 7">
        <a:dk1>
          <a:srgbClr val="D49C00"/>
        </a:dk1>
        <a:lt1>
          <a:srgbClr val="FFFFFF"/>
        </a:lt1>
        <a:dk2>
          <a:srgbClr val="CC9900"/>
        </a:dk2>
        <a:lt2>
          <a:srgbClr val="CEBD40"/>
        </a:lt2>
        <a:accent1>
          <a:srgbClr val="CC6600"/>
        </a:accent1>
        <a:accent2>
          <a:srgbClr val="808000"/>
        </a:accent2>
        <a:accent3>
          <a:srgbClr val="E2CAAA"/>
        </a:accent3>
        <a:accent4>
          <a:srgbClr val="DADADA"/>
        </a:accent4>
        <a:accent5>
          <a:srgbClr val="E2B8AA"/>
        </a:accent5>
        <a:accent6>
          <a:srgbClr val="737300"/>
        </a:accent6>
        <a:hlink>
          <a:srgbClr val="FF9900"/>
        </a:hlink>
        <a:folHlink>
          <a:srgbClr val="FFFF99"/>
        </a:folHlink>
      </a:clrScheme>
      <a:clrMap bg1="dk2" tx1="lt1" bg2="dk1" tx2="lt2" accent1="accent1" accent2="accent2" accent3="accent3" accent4="accent4" accent5="accent5" accent6="accent6" hlink="hlink" folHlink="folHlink"/>
    </a:extraClrScheme>
    <a:extraClrScheme>
      <a:clrScheme name="Beam 8">
        <a:dk1>
          <a:srgbClr val="881700"/>
        </a:dk1>
        <a:lt1>
          <a:srgbClr val="FAF9E6"/>
        </a:lt1>
        <a:dk2>
          <a:srgbClr val="990000"/>
        </a:dk2>
        <a:lt2>
          <a:srgbClr val="EADC78"/>
        </a:lt2>
        <a:accent1>
          <a:srgbClr val="FF6600"/>
        </a:accent1>
        <a:accent2>
          <a:srgbClr val="B86D52"/>
        </a:accent2>
        <a:accent3>
          <a:srgbClr val="CAAAAA"/>
        </a:accent3>
        <a:accent4>
          <a:srgbClr val="D6D5C4"/>
        </a:accent4>
        <a:accent5>
          <a:srgbClr val="FFB8AA"/>
        </a:accent5>
        <a:accent6>
          <a:srgbClr val="A66249"/>
        </a:accent6>
        <a:hlink>
          <a:srgbClr val="D78D15"/>
        </a:hlink>
        <a:folHlink>
          <a:srgbClr val="C6B37E"/>
        </a:folHlink>
      </a:clrScheme>
      <a:clrMap bg1="dk2" tx1="lt1" bg2="dk1" tx2="lt2" accent1="accent1" accent2="accent2" accent3="accent3" accent4="accent4" accent5="accent5" accent6="accent6" hlink="hlink" folHlink="folHlink"/>
    </a:extraClrScheme>
    <a:extraClrScheme>
      <a:clrScheme name="Beam 9">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5CC98"/>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TotalTime>
  <Words>8562</Words>
  <Application>Microsoft Office PowerPoint</Application>
  <PresentationFormat>全屏显示(16:9)</PresentationFormat>
  <Paragraphs>946</Paragraphs>
  <Slides>105</Slides>
  <Notes>26</Notes>
  <HiddenSlides>1</HiddenSlides>
  <MMClips>0</MMClips>
  <ScaleCrop>false</ScaleCrop>
  <HeadingPairs>
    <vt:vector size="8" baseType="variant">
      <vt:variant>
        <vt:lpstr>已用的字体</vt:lpstr>
      </vt:variant>
      <vt:variant>
        <vt:i4>12</vt:i4>
      </vt:variant>
      <vt:variant>
        <vt:lpstr>主题</vt:lpstr>
      </vt:variant>
      <vt:variant>
        <vt:i4>3</vt:i4>
      </vt:variant>
      <vt:variant>
        <vt:lpstr>嵌入 OLE 服务器</vt:lpstr>
      </vt:variant>
      <vt:variant>
        <vt:i4>1</vt:i4>
      </vt:variant>
      <vt:variant>
        <vt:lpstr>幻灯片标题</vt:lpstr>
      </vt:variant>
      <vt:variant>
        <vt:i4>105</vt:i4>
      </vt:variant>
    </vt:vector>
  </HeadingPairs>
  <TitlesOfParts>
    <vt:vector size="121" baseType="lpstr">
      <vt:lpstr>Monotype Sorts</vt:lpstr>
      <vt:lpstr>黑体</vt:lpstr>
      <vt:lpstr>楷体</vt:lpstr>
      <vt:lpstr>宋体</vt:lpstr>
      <vt:lpstr>微软雅黑</vt:lpstr>
      <vt:lpstr>张海山锐谐体2.0-授权联系：Samtype@QQ.com</vt:lpstr>
      <vt:lpstr>Arial</vt:lpstr>
      <vt:lpstr>Calibri</vt:lpstr>
      <vt:lpstr>Courier New</vt:lpstr>
      <vt:lpstr>Symbol</vt:lpstr>
      <vt:lpstr>Times New Roman</vt:lpstr>
      <vt:lpstr>Wingdings</vt:lpstr>
      <vt:lpstr>Office 主题</vt:lpstr>
      <vt:lpstr>Beam</vt:lpstr>
      <vt:lpstr>1_Beam</vt:lpstr>
      <vt:lpstr>位图图像</vt:lpstr>
      <vt:lpstr>第七章 文件系统管理</vt:lpstr>
      <vt:lpstr>第7章 文件系统管理</vt:lpstr>
      <vt:lpstr>PowerPoint 演示文稿</vt:lpstr>
      <vt:lpstr>7.1 文件和文件系统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7.2 文件逻辑结构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7.3 文件物理结构与存储设备 文件分配</vt:lpstr>
      <vt:lpstr>PowerPoint 演示文稿</vt:lpstr>
      <vt:lpstr>PowerPoint 演示文稿</vt:lpstr>
      <vt:lpstr>连续结构</vt:lpstr>
      <vt:lpstr>PowerPoint 演示文稿</vt:lpstr>
      <vt:lpstr>PowerPoint 演示文稿</vt:lpstr>
      <vt:lpstr>串联（链式）结构（链式分配）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7.3.4文件存储设备</vt:lpstr>
      <vt:lpstr>顺序存取设备－磁带</vt:lpstr>
      <vt:lpstr>直接存取设备－磁盘</vt:lpstr>
      <vt:lpstr>PowerPoint 演示文稿</vt:lpstr>
      <vt:lpstr>PowerPoint 演示文稿</vt:lpstr>
      <vt:lpstr>7.4 文件存储空间管理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7.5 文件目录</vt:lpstr>
      <vt:lpstr>7.5 文件目录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7.6 文件共享与保护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7.7 文件的使用</vt:lpstr>
      <vt:lpstr>PowerPoint 演示文稿</vt:lpstr>
      <vt:lpstr>PowerPoint 演示文稿</vt:lpstr>
      <vt:lpstr>PowerPoint 演示文稿</vt:lpstr>
      <vt:lpstr>PowerPoint 演示文稿</vt:lpstr>
      <vt:lpstr>PowerPoint 演示文稿</vt:lpstr>
      <vt:lpstr>PowerPoint 演示文稿</vt:lpstr>
      <vt:lpstr>7.8 文件系统层次模型</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霞 张</cp:lastModifiedBy>
  <cp:revision>1363</cp:revision>
  <dcterms:created xsi:type="dcterms:W3CDTF">2019-11-21T02:47:07Z</dcterms:created>
  <dcterms:modified xsi:type="dcterms:W3CDTF">2025-11-17T03:33:39Z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2052-10.1.0.6757</vt:lpwstr>
  </property>
</Properties>
</file>