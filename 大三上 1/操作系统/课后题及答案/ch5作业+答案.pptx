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5715000" cy="9144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1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2164" y="56"/>
      </p:cViewPr>
      <p:guideLst>
        <p:guide orient="horz" pos="2880"/>
        <p:guide pos="18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1" Type="http://schemas.openxmlformats.org/officeDocument/2006/relationships/image" Target="../media/image3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2.jpe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image" Target="../media/image1.jpe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image" Target="../media/image3.png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20" Type="http://schemas.openxmlformats.org/officeDocument/2006/relationships/image" Target="../media/image3.png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19" Type="http://schemas.openxmlformats.org/officeDocument/2006/relationships/image" Target="../media/image4.png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image" Target="../media/image5.png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10" Type="http://schemas.openxmlformats.org/officeDocument/2006/relationships/tags" Target="../tags/tag62.xml"/><Relationship Id="rId19" Type="http://schemas.openxmlformats.org/officeDocument/2006/relationships/image" Target="../media/image3.png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image" Target="../media/image6.png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3.png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存储管理</a:t>
            </a:r>
            <a:b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课后作业</a:t>
            </a: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71500" y="635000"/>
            <a:ext cx="4572000" cy="508000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有作业序列：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[A, B, C]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分别要求内存大小为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25K]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，系统中空闲区（以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为单位）如图所示，请给出最先适配、最佳适配、最差适配三种算法组成的空闲区链表，再分析哪种适配算法合适。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若进程序列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[A,B,C]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要求的内存大小为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A=18K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B=25K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C=30K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，哪种算法更合适？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分）</a:t>
            </a: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以上版本雨课堂</a:t>
            </a: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6184900" y="8382000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b="1"/>
              <a:t>解答：</a:t>
            </a:r>
            <a:endParaRPr lang="zh-CN" altLang="en-US" sz="2000">
              <a:ea typeface="Calibri" panose="020F0502020204030204"/>
            </a:endParaRPr>
          </a:p>
        </p:txBody>
      </p:sp>
      <p:pic>
        <p:nvPicPr>
          <p:cNvPr id="2050" name="Picture 2" descr="C:\Users\bunny\AppData\Local\Temp\ksohtml3276\wps4.jpg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3214690" y="5572131"/>
            <a:ext cx="1843092" cy="3573435"/>
          </a:xfrm>
          <a:prstGeom prst="rect">
            <a:avLst/>
          </a:prstGeom>
          <a:noFill/>
        </p:spPr>
      </p:pic>
      <p:pic>
        <p:nvPicPr>
          <p:cNvPr id="2052" name="Picture 4" descr="C:\Users\bunny\AppData\Local\Temp\ksohtml3276\wps5.jpg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6367045" y="1714480"/>
            <a:ext cx="4562948" cy="2714644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>
            <p:custDataLst>
              <p:tags r:id="rId7"/>
            </p:custDataLst>
          </p:nvPr>
        </p:nvSpPr>
        <p:spPr>
          <a:xfrm>
            <a:off x="6350000" y="4700191"/>
            <a:ext cx="4612640" cy="2799715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[A:21K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B:30K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C:25K]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最先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适配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算法和最佳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适配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无法给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C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分配内存</a:t>
            </a:r>
            <a:endParaRPr lang="zh-CN" sz="2400"/>
          </a:p>
          <a:p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但最差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适配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可以完美给三个进程分配内存。</a:t>
            </a:r>
            <a:endParaRPr lang="zh-CN" sz="2400"/>
          </a:p>
          <a:p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[A:18K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B:25K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C:30K]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最先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适配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和最差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适配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算法无法给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C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分配内存，</a:t>
            </a:r>
            <a:endParaRPr lang="zh-CN" sz="2400"/>
          </a:p>
          <a:p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但最佳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适配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可以完美给三个进程分配内存。</a:t>
            </a:r>
            <a:endParaRPr lang="zh-CN" altLang="en-US" sz="220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2" name="RemarkBack"/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Block"/>
            <p:cNvSpPr/>
            <p:nvPr>
              <p:custDataLst>
                <p:tags r:id="rId16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TitleText"/>
            <p:cNvSpPr txBox="1"/>
            <p:nvPr>
              <p:custDataLst>
                <p:tags r:id="rId17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答案解析</a:t>
              </a:r>
            </a:p>
          </p:txBody>
        </p:sp>
      </p:grpSp>
      <p:grpSp>
        <p:nvGrpSpPr>
          <p:cNvPr id="9" name="组合 8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8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 descr="tmp8544.tmp"/>
          <p:cNvPicPr/>
          <p:nvPr>
            <p:custDataLst>
              <p:tags r:id="rId1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571500" y="635000"/>
            <a:ext cx="4572000" cy="658020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在某分页存储管理系统中，逻辑地址长度为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位，页面大小为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，现有一逻辑地址为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2FA6H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，且第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页依次存放在物理帧第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帧中，问相对应的物理地址为多少？（以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进制给出物理地址）（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分）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以上版本雨课堂</a:t>
            </a: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6184900" y="8382000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3416320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zh-CN" altLang="en-US" sz="2400" b="1">
                <a:latin typeface="Courier New" panose="02070309020205020404"/>
                <a:cs typeface="Courier New" panose="02070309020205020404"/>
              </a:rPr>
              <a:t>解答：</a:t>
            </a:r>
            <a:endParaRPr lang="zh-CN" altLang="en-US" sz="240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由</a:t>
            </a:r>
            <a:r>
              <a:rPr lang="en-US" sz="24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4096B</a:t>
            </a:r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页面大小，可知逻辑地址低</a:t>
            </a:r>
            <a:r>
              <a:rPr lang="en-US" sz="24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12</a:t>
            </a:r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位作为页内偏移，</a:t>
            </a:r>
            <a:endParaRPr lang="zh-CN" sz="2400"/>
          </a:p>
          <a:p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逻辑地址总长</a:t>
            </a:r>
            <a:r>
              <a:rPr lang="en-US" sz="24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16</a:t>
            </a:r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位，故高</a:t>
            </a:r>
            <a:r>
              <a:rPr lang="en-US" sz="24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4</a:t>
            </a:r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位用于表示页号，</a:t>
            </a:r>
            <a:endParaRPr lang="zh-CN" sz="2400"/>
          </a:p>
          <a:p>
            <a:r>
              <a:rPr lang="en-US" sz="24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2FA6H</a:t>
            </a:r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的逻辑地址，其虚拟页号为</a:t>
            </a:r>
            <a:r>
              <a:rPr lang="en-US" sz="24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2</a:t>
            </a:r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，对应物理帧为</a:t>
            </a:r>
            <a:r>
              <a:rPr lang="en-US" sz="24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11</a:t>
            </a:r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，因此拼接上页内偏移</a:t>
            </a:r>
            <a:r>
              <a:rPr lang="en-US" sz="24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FA6H</a:t>
            </a:r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，</a:t>
            </a:r>
            <a:endParaRPr lang="zh-CN" sz="2400"/>
          </a:p>
          <a:p>
            <a:r>
              <a:rPr lang="zh-CN" altLang="en-US" sz="2400">
                <a:latin typeface="Courier New" panose="02070309020205020404"/>
                <a:cs typeface="Courier New" panose="02070309020205020404"/>
              </a:rPr>
              <a:t>得到物理地址为</a:t>
            </a:r>
            <a:r>
              <a:rPr lang="en-US" sz="24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BFA6H.</a:t>
            </a:r>
            <a:endParaRPr lang="zh-CN" altLang="en-US" sz="240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0"/>
            <a:ext cx="571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解答：</a:t>
            </a:r>
            <a:endParaRPr kumimoji="0" lang="zh-CN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由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4096B</a:t>
            </a: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页面大小，可知逻辑地址低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</a:t>
            </a: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位作为页内偏移，</a:t>
            </a:r>
            <a:endParaRPr kumimoji="0" lang="zh-CN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逻辑地址总长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</a:t>
            </a: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位，故高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</a:t>
            </a: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位用于表示页号，</a:t>
            </a:r>
            <a:endParaRPr kumimoji="0" lang="zh-CN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2FA6H</a:t>
            </a: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的逻辑地址，其虚拟页号为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</a:t>
            </a: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，对应物理帧为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11</a:t>
            </a: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，因此拼接上页内偏移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FA6H</a:t>
            </a: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，</a:t>
            </a:r>
            <a:endParaRPr kumimoji="0" lang="zh-CN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得到物理地址为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BFA6H.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1" name="RemarkBack"/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markBlock"/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TitleText"/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答案解析</a:t>
              </a:r>
            </a:p>
          </p:txBody>
        </p:sp>
      </p:grpSp>
      <p:grpSp>
        <p:nvGrpSpPr>
          <p:cNvPr id="8" name="组合 7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2" name="图片 1" descr="tmp8544.tmp"/>
          <p:cNvPicPr/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571500" y="635000"/>
            <a:ext cx="4714892" cy="243680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设某计算机的逻辑地址空间和物理地址空间均为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64KB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，按字节编址。若某进程最多需要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页，页的大小为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1KB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，操作系统采用固定分配局部置换策略为此进程分配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个块，页表如下所示。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以上版本雨课堂</a:t>
            </a:r>
          </a:p>
        </p:txBody>
      </p:sp>
      <p:pic>
        <p:nvPicPr>
          <p:cNvPr id="18433" name="Picture 1" descr="C:\Users\bunny\AppData\Roaming\Tencent\Users\75808858\QQ\WinTemp\RichOle\$[1[T@X{CV%9(SBLT_@_H92.png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571484" y="3000364"/>
            <a:ext cx="4572032" cy="1626927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571500" y="4857752"/>
            <a:ext cx="4714892" cy="35083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当前时刻，要访问逻辑地址为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17CAH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（十六进制）的数据，请回答下列问题：</a:t>
            </a:r>
          </a:p>
          <a:p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）该逻辑地址对应的页号是多少？（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分）</a:t>
            </a:r>
          </a:p>
          <a:p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）若分别采用先进先出、最近最久未使用、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置换算法，该逻辑地址对应的物理地址分别是多少（用十六进制表示）？要求给出计算过程。（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分）</a:t>
            </a: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6184900" y="8382000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6350000" y="635000"/>
            <a:ext cx="4612640" cy="7786747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zh-CN" altLang="en-US" sz="2000" b="1">
                <a:latin typeface="Courier New" panose="02070309020205020404"/>
                <a:cs typeface="Courier New" panose="02070309020205020404"/>
              </a:rPr>
              <a:t>解答：</a:t>
            </a:r>
            <a:endParaRPr lang="zh-CN" altLang="en-US" sz="200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由题地址空间为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64KB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，页的大小为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1K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，按字节编址，可知逻辑地址和物理地址均为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16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位，高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6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位作为页号，其余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10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位为页内偏移地址。</a:t>
            </a:r>
            <a:endParaRPr lang="zh-CN" sz="2000"/>
          </a:p>
          <a:p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）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17CAH=0001011111001010B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，该逻辑地址的页号为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000101H=5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，其不在内存，页内地址为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970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。</a:t>
            </a:r>
            <a:endParaRPr lang="zh-CN" sz="2000"/>
          </a:p>
          <a:p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2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）采用先进先出，应置换出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3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号页，对应帧号为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9=1001B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，则物理地址为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1001B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和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1111001010B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拼接，得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10 0111 1100 1010B=27CAH 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9*1024+970=10186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）；</a:t>
            </a:r>
            <a:endParaRPr lang="zh-CN" sz="2000"/>
          </a:p>
          <a:p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采用最近最久未使用，应置换出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号页，对应帧号为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7=0111B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，则物理地址为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0111B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和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1111001010B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拼接，得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01 1111 1100 1010B=1FCAH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7*1024+970=8138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）；</a:t>
            </a:r>
            <a:endParaRPr lang="zh-CN" sz="2000"/>
          </a:p>
          <a:p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采用改进型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Clock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算法，应置换出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2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号页，对应帧号为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2=0010B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，则物理地址为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0010B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和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1111001010B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的拼接，得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00 1011 1100 1010B=0BCAH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2*1024+970=3018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）。</a:t>
            </a:r>
            <a:endParaRPr lang="zh-CN" sz="2000"/>
          </a:p>
          <a:p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（题目写的是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Clock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，若有同学用普通</a:t>
            </a:r>
            <a:r>
              <a:rPr lang="en-US" sz="20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Clock</a:t>
            </a:r>
            <a:r>
              <a:rPr lang="zh-CN" altLang="en-US" sz="2000">
                <a:latin typeface="Courier New" panose="02070309020205020404"/>
                <a:cs typeface="Courier New" panose="02070309020205020404"/>
              </a:rPr>
              <a:t>得到和第二个一样的答案也算对）</a:t>
            </a:r>
            <a:endParaRPr lang="zh-CN" sz="2000"/>
          </a:p>
        </p:txBody>
      </p:sp>
      <p:grpSp>
        <p:nvGrpSpPr>
          <p:cNvPr id="16" name="组合 15"/>
          <p:cNvGrpSpPr/>
          <p:nvPr>
            <p:custDataLst>
              <p:tags r:id="rId8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/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/>
            <p:cNvSpPr/>
            <p:nvPr>
              <p:custDataLst>
                <p:tags r:id="rId16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/>
            <p:cNvSpPr txBox="1"/>
            <p:nvPr>
              <p:custDataLst>
                <p:tags r:id="rId17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答案解析</a:t>
              </a:r>
            </a:p>
          </p:txBody>
        </p:sp>
      </p:grpSp>
      <p:grpSp>
        <p:nvGrpSpPr>
          <p:cNvPr id="8" name="组合 7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2" name="图片 1" descr="tmp8544.tmp"/>
          <p:cNvPicPr/>
          <p:nvPr>
            <p:custDataLst>
              <p:tags r:id="rId10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571516" y="849314"/>
            <a:ext cx="4572000" cy="415131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4.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一个程序段表如右表所示，写出下列指令在执行时产生的结果。 （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zh-CN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分）</a:t>
            </a:r>
            <a:endParaRPr lang="en-US" altLang="zh-CN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（1）STORE R1,[0,70]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（2）STORE R1,[1,20]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（3）LOAD R1,[3,20]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（4）LOAD R1,[3,100]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（5）JMP [2,100]</a:t>
            </a:r>
          </a:p>
          <a:p>
            <a:endParaRPr lang="zh-CN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以上版本雨课堂</a:t>
            </a:r>
          </a:p>
        </p:txBody>
      </p:sp>
      <p:pic>
        <p:nvPicPr>
          <p:cNvPr id="19457" name="Picture 1" descr="C:\Users\bunny\AppData\Roaming\Tencent\Users\75808858\QQ\WinTemp\RichOle\VH]2~R)PP9F3C8AO]0W_%GN.p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500046" y="4714876"/>
            <a:ext cx="4708540" cy="2780902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6184900" y="8382000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6357961" y="635000"/>
            <a:ext cx="4612640" cy="7201972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200" b="1">
                <a:latin typeface="Courier New" panose="02070309020205020404"/>
                <a:cs typeface="Courier New" panose="02070309020205020404"/>
              </a:rPr>
              <a:t>解答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：</a:t>
            </a:r>
            <a:endParaRPr lang="zh-CN" sz="2400"/>
          </a:p>
          <a:p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）从段表中可知，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号段的存在位为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，表示相应的段没有装入内存，因此产生缺段中断；</a:t>
            </a:r>
            <a:endParaRPr lang="zh-CN" sz="2400"/>
          </a:p>
          <a:p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2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） 从段表中可知，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号段的存在位为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，且地址合法。但指令对内存的访问方式为写与存取控制字段的只读不符，故产生越权中断；</a:t>
            </a:r>
            <a:endParaRPr lang="zh-CN" sz="2400"/>
          </a:p>
          <a:p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3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） 从段表中可知，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3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号段的存在位为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，且地址合法，内存起始地址为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8000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，段长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80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，存取控制为读，访问方式也合法。形成物理地址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8000+20=8020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后，指令把该单元的内容载入到寄存器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R1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中；</a:t>
            </a:r>
            <a:endParaRPr lang="zh-CN" sz="2400"/>
          </a:p>
          <a:p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4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） 从段表中可知，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3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号段的存在位为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，段内地址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100&gt;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段长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80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，产生越界中断；</a:t>
            </a:r>
            <a:endParaRPr lang="zh-CN" sz="2400"/>
          </a:p>
          <a:p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（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5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） 从段表中可知，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2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号段的存在位为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，且地址合法，访问权限合法。形成物理地址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3000+100=3100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，跳转到内存单元</a:t>
            </a:r>
            <a:r>
              <a:rPr lang="en-US" sz="2200"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3100</a:t>
            </a:r>
            <a:r>
              <a:rPr lang="zh-CN" altLang="en-US" sz="2200">
                <a:latin typeface="Courier New" panose="02070309020205020404"/>
                <a:cs typeface="Courier New" panose="02070309020205020404"/>
              </a:rPr>
              <a:t>继续执行。</a:t>
            </a:r>
            <a:endParaRPr lang="zh-CN" sz="2400"/>
          </a:p>
        </p:txBody>
      </p:sp>
      <p:grpSp>
        <p:nvGrpSpPr>
          <p:cNvPr id="15" name="组合 14"/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2" name="RemarkBack"/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Block"/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TitleText"/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答案解析</a:t>
              </a:r>
            </a:p>
          </p:txBody>
        </p:sp>
      </p:grpSp>
      <p:grpSp>
        <p:nvGrpSpPr>
          <p:cNvPr id="8" name="组合 7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2" name="图片 1" descr="tmp8544.tmp"/>
          <p:cNvPicPr/>
          <p:nvPr>
            <p:custDataLst>
              <p:tags r:id="rId9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571500" y="635000"/>
            <a:ext cx="4572000" cy="66516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设某进程有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个页，若在主存中只允许装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即驻留集为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，进程运行时，实际访问页面的顺序为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。试用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页面置换算法列出各自页面淘汰顺序和缺页中断次数，以及最后留在主存的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页顺序。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采用预调入策略，一开始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个页已经载入内存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以上版本雨课堂</a:t>
            </a: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6184900" y="8382000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endParaRPr lang="zh-CN" altLang="en-US" sz="2000" dirty="0"/>
          </a:p>
          <a:p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481" name="AutoShape 1" descr="C:\Users\bunny\AppData\Roaming\Tencent\Users\75808858\QQ\WinTemp\RichOle\6SS3)0%MCQWG GATIBM_Q.png"/>
          <p:cNvSpPr>
            <a:spLocks noChangeAspect="1" noChangeArrowheads="1"/>
          </p:cNvSpPr>
          <p:nvPr/>
        </p:nvSpPr>
        <p:spPr bwMode="auto">
          <a:xfrm>
            <a:off x="0" y="0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482" name="AutoShape 2" descr="C:\Users\bunny\AppData\Roaming\Tencent\Users\75808858\QQ\WinTemp\RichOle\6SS3)0%MCQWG GATIBM_Q.png"/>
          <p:cNvSpPr>
            <a:spLocks noChangeAspect="1" noChangeArrowheads="1"/>
          </p:cNvSpPr>
          <p:nvPr/>
        </p:nvSpPr>
        <p:spPr bwMode="auto">
          <a:xfrm>
            <a:off x="0" y="0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483" name="AutoShape 3" descr="C:\Users\bunny\AppData\Roaming\Tencent\Users\75808858\QQ\WinTemp\RichOle\6SS3)0%MCQWG GATIBM_Q.png"/>
          <p:cNvSpPr>
            <a:spLocks noChangeAspect="1" noChangeArrowheads="1"/>
          </p:cNvSpPr>
          <p:nvPr/>
        </p:nvSpPr>
        <p:spPr bwMode="auto">
          <a:xfrm>
            <a:off x="0" y="0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484" name="AutoShape 4" descr="C:\Users\bunny\AppData\Roaming\Tencent\Users\75808858\QQ\WinTemp\RichOle\6SS3)0%MCQWG GATIBM_Q.png"/>
          <p:cNvSpPr>
            <a:spLocks noChangeAspect="1" noChangeArrowheads="1"/>
          </p:cNvSpPr>
          <p:nvPr/>
        </p:nvSpPr>
        <p:spPr bwMode="auto">
          <a:xfrm>
            <a:off x="0" y="0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485" name="AutoShape 5" descr="C:\Users\bunny\AppData\Roaming\Tencent\Users\75808858\QQ\WinTemp\RichOle\6SS3)0%MCQWG GATIBM_Q.png"/>
          <p:cNvSpPr>
            <a:spLocks noChangeAspect="1" noChangeArrowheads="1"/>
          </p:cNvSpPr>
          <p:nvPr/>
        </p:nvSpPr>
        <p:spPr bwMode="auto">
          <a:xfrm>
            <a:off x="0" y="0"/>
            <a:ext cx="300038" cy="30003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0487" name="Picture 7" descr="C:\Users\bunny\AppData\Roaming\Tencent\Users\75808858\QQ\WinTemp\RichOle\WD6YR9X8ESQU[DB[]0@D~BS.png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6143649" y="1428728"/>
            <a:ext cx="5012914" cy="6173622"/>
          </a:xfrm>
          <a:prstGeom prst="rect">
            <a:avLst/>
          </a:prstGeom>
          <a:noFill/>
        </p:spPr>
      </p:pic>
      <p:grpSp>
        <p:nvGrpSpPr>
          <p:cNvPr id="14" name="组合 13"/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1" name="RemarkBack"/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markBlock"/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TitleText"/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答案解析</a:t>
              </a:r>
            </a:p>
          </p:txBody>
        </p:sp>
      </p:grpSp>
      <p:grpSp>
        <p:nvGrpSpPr>
          <p:cNvPr id="8" name="组合 7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4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2" name="图片 1" descr="tmp8544.tmp"/>
          <p:cNvPicPr/>
          <p:nvPr>
            <p:custDataLst>
              <p:tags r:id="rId9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HASREMARK" val="True"/>
  <p:tag name="PROBLEMVOICEALLOWED" val="True"/>
  <p:tag name="PROBLEMREMARK" val="[A:21K，B:30K，C:25K]最先适配算法和最佳适配无法给C分配内存&#10;但最差适配可以完美给三个进程分配内存。&#10;[A:18K，B:25K，C:30K]最先适配和最差适配算法无法给C分配内存，&#10;但最佳适配可以完美给三个进程分配内存。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HASREMARK" val="True"/>
  <p:tag name="PROBLEMREMARK" val="解答：&#10;由4096B页面大小，可知逻辑地址低12位作为页内偏移，&#10;逻辑地址总长16位，故高4位用于表示页号，&#10;2FA6H的逻辑地址，其虚拟页号为2，对应物理帧为11，因此拼接上页内偏移FA6H，&#10;得到物理地址为BFA6H."/>
  <p:tag name="PROBLEMVOICEALLOWE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HASREMARK" val="True"/>
  <p:tag name="PROBLEMREMARK" val="解答：&#10;由题地址空间为64KB，页的大小为1K，按字节编址，可知逻辑地址和物理地址均为16位，高6位作为页号，其余10位为页内偏移地址。&#10;（1）17CAH=0001011111001010B，该逻辑地址的页号为000101H=5，其不在内存，页内地址为970。&#10;（2）采用先进先出，应置换出3号页，对应帧号为9=1001B，则物理地址为1001B和1111001010B拼接，得10 0111 1100 1010B=27CAH （9*1024+970=10186）；&#10;采用最近最久未使用，应置换出0号页，对应帧号为7=0111B，则物理地址为0111B和1111001010B拼接，得01 1111 1100 1010B=1FCAH（7*1024+970=8138）；&#10;采用改进型Clock算法，应置换出2号页，对应帧号为2=0010B，则物理地址为0010B和1111001010B的拼接，得00 1011 1100 1010B=0BCAH（2*1024+970=3018）。&#10;（题目写的是Clock，若有同学用普通Clock得到和第二个一样的答案也算对）"/>
  <p:tag name="PROBLEMVOICEALLOWE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HASREMARK" val="True"/>
  <p:tag name="PROBLEMREMARK" val="解答：&#10;（1）从段表中可知，0号段的存在位为0，表示相应的段没有装入内存，因此产生缺段中断；&#10;（2） 从段表中可知，1号段的存在位为1，且地址合法。但指令对内存的访问方式为写与存取控制字段的只读不符，故产生越权中断；&#10;（3） 从段表中可知，3号段的存在位为1，且地址合法，内存起始地址为8000，段长80，存取控制为读，访问方式也合法。形成物理地址8000+20=8020后，指令把该单元的内容载入到寄存器R1中；&#10;（4） 从段表中可知，3号段的存在位为1，段内地址100&gt;段长80，产生越界中断；&#10;（5） 从段表中可知，2号段的存在位为1，且地址合法，访问权限合法。形成物理地址3000+100=3100，跳转到内存单元3100继续执行。"/>
  <p:tag name="PROBLEMVOICEALLOWE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HASREMARK" val="True"/>
  <p:tag name="PROBLEMREMARK" val="&#10;"/>
  <p:tag name="PROBLEMVOICEALLOWE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1390</Words>
  <Application>Microsoft Office PowerPoint</Application>
  <PresentationFormat>全屏显示(16:10)</PresentationFormat>
  <Paragraphs>69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宋体</vt:lpstr>
      <vt:lpstr>微软雅黑</vt:lpstr>
      <vt:lpstr>Arial</vt:lpstr>
      <vt:lpstr>Calibri</vt:lpstr>
      <vt:lpstr>Courier New</vt:lpstr>
      <vt:lpstr>Times New Roman</vt:lpstr>
      <vt:lpstr>Office 主题</vt:lpstr>
      <vt:lpstr>存储管理 课后作业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第三次作业</dc:title>
  <dc:creator>bunny</dc:creator>
  <cp:lastModifiedBy>张 霞</cp:lastModifiedBy>
  <cp:revision>24</cp:revision>
  <dcterms:created xsi:type="dcterms:W3CDTF">2022-10-09T13:09:30Z</dcterms:created>
  <dcterms:modified xsi:type="dcterms:W3CDTF">2024-11-07T01:26:44Z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2052-11.1.0.8865</vt:lpwstr>
  </property>
</Properties>
</file>