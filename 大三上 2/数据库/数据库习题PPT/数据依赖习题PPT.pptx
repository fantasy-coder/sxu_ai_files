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351" r:id="rId3"/>
    <p:sldId id="353" r:id="rId4"/>
    <p:sldId id="354" r:id="rId5"/>
    <p:sldId id="451" r:id="rId6"/>
    <p:sldId id="450" r:id="rId7"/>
    <p:sldId id="452" r:id="rId8"/>
    <p:sldId id="421" r:id="rId9"/>
    <p:sldId id="422" r:id="rId10"/>
    <p:sldId id="423" r:id="rId11"/>
    <p:sldId id="453" r:id="rId12"/>
    <p:sldId id="445" r:id="rId13"/>
    <p:sldId id="449" r:id="rId14"/>
    <p:sldId id="366" r:id="rId15"/>
    <p:sldId id="367" r:id="rId16"/>
    <p:sldId id="368" r:id="rId17"/>
    <p:sldId id="370" r:id="rId18"/>
    <p:sldId id="427" r:id="rId19"/>
    <p:sldId id="371" r:id="rId20"/>
    <p:sldId id="372" r:id="rId21"/>
    <p:sldId id="410" r:id="rId22"/>
    <p:sldId id="417" r:id="rId23"/>
    <p:sldId id="455" r:id="rId24"/>
    <p:sldId id="418" r:id="rId25"/>
    <p:sldId id="419" r:id="rId26"/>
    <p:sldId id="424" r:id="rId27"/>
    <p:sldId id="456" r:id="rId28"/>
    <p:sldId id="425" r:id="rId29"/>
    <p:sldId id="426" r:id="rId30"/>
    <p:sldId id="465" r:id="rId31"/>
    <p:sldId id="467" r:id="rId32"/>
    <p:sldId id="468" r:id="rId33"/>
    <p:sldId id="469" r:id="rId34"/>
    <p:sldId id="470" r:id="rId35"/>
  </p:sldIdLst>
  <p:sldSz cx="9144000" cy="6858000" type="screen4x3"/>
  <p:notesSz cx="6797675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66FF"/>
    <a:srgbClr val="D9FDA5"/>
    <a:srgbClr val="FFFFFF"/>
    <a:srgbClr val="D9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7" autoAdjust="0"/>
    <p:restoredTop sz="80092" autoAdjust="0"/>
  </p:normalViewPr>
  <p:slideViewPr>
    <p:cSldViewPr snapToObjects="1">
      <p:cViewPr varScale="1">
        <p:scale>
          <a:sx n="69" d="100"/>
          <a:sy n="69" d="100"/>
        </p:scale>
        <p:origin x="1906" y="48"/>
      </p:cViewPr>
      <p:guideLst>
        <p:guide orient="horz" pos="2142"/>
        <p:guide pos="2880"/>
      </p:guideLst>
    </p:cSldViewPr>
  </p:slideViewPr>
  <p:outlineViewPr>
    <p:cViewPr>
      <p:scale>
        <a:sx n="33" d="100"/>
        <a:sy n="33" d="100"/>
      </p:scale>
      <p:origin x="0" y="18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7.xml"/><Relationship Id="rId2" Type="http://schemas.openxmlformats.org/officeDocument/2006/relationships/slide" Target="slides/slide26.xml"/><Relationship Id="rId1" Type="http://schemas.openxmlformats.org/officeDocument/2006/relationships/slide" Target="slides/slide18.xml"/><Relationship Id="rId5" Type="http://schemas.openxmlformats.org/officeDocument/2006/relationships/slide" Target="slides/slide29.xml"/><Relationship Id="rId4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B92B8-150F-4FA9-9248-136239898D9A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DA61D-2DF9-4AF9-8E21-7F02EB0EF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992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870" cy="49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65" tIns="45482" rIns="90965" bIns="4548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48" y="1"/>
            <a:ext cx="2946448" cy="49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65" tIns="45482" rIns="90965" bIns="4548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D557796-EEBA-4DBC-B322-5BD63D8678F2}" type="datetimeFigureOut">
              <a:rPr lang="zh-CN" altLang="en-US"/>
              <a:pPr>
                <a:defRPr/>
              </a:pPr>
              <a:t>2023/12/15</a:t>
            </a:fld>
            <a:endParaRPr lang="en-US"/>
          </a:p>
        </p:txBody>
      </p:sp>
      <p:sp>
        <p:nvSpPr>
          <p:cNvPr id="1566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17575" y="744538"/>
            <a:ext cx="4960938" cy="3722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8978" y="4716144"/>
            <a:ext cx="5438140" cy="4466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65" tIns="45482" rIns="90965" bIns="4548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129"/>
            <a:ext cx="2944870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65" tIns="45482" rIns="90965" bIns="45482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48" y="9429129"/>
            <a:ext cx="2946448" cy="49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65" tIns="45482" rIns="90965" bIns="45482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29B0E5-E848-46B2-BFB8-A4B79E33D372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120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29B0E5-E848-46B2-BFB8-A4B79E33D372}" type="slidenum">
              <a:rPr lang="zh-CN" alt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29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29B0E5-E848-46B2-BFB8-A4B79E33D372}" type="slidenum">
              <a:rPr lang="zh-CN" alt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46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0938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29B0E5-E848-46B2-BFB8-A4B79E33D372}" type="slidenum">
              <a:rPr lang="zh-CN" alt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60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9850"/>
            <a:ext cx="40386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9850"/>
            <a:ext cx="40386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-36513"/>
            <a:ext cx="2057400" cy="62309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-36513"/>
            <a:ext cx="6019800" cy="62309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未命名_副本"/>
          <p:cNvPicPr>
            <a:picLocks noChangeAspect="1" noChangeArrowheads="1"/>
          </p:cNvPicPr>
          <p:nvPr userDrawn="1"/>
        </p:nvPicPr>
        <p:blipFill>
          <a:blip r:embed="rId13" cstate="print"/>
          <a:srcRect l="1405" t="12910" r="2878" b="10757"/>
          <a:stretch>
            <a:fillRect/>
          </a:stretch>
        </p:blipFill>
        <p:spPr bwMode="auto">
          <a:xfrm>
            <a:off x="-19050" y="838200"/>
            <a:ext cx="9158288" cy="578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 descr="图片2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-19050" y="6453188"/>
            <a:ext cx="9163050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 descr="图片2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-19050" y="-25400"/>
            <a:ext cx="916305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36513"/>
            <a:ext cx="82296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39850"/>
            <a:ext cx="8229600" cy="485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5510213" y="6454775"/>
            <a:ext cx="4103687" cy="334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1600" b="1">
              <a:solidFill>
                <a:schemeClr val="bg1"/>
              </a:solidFill>
            </a:endParaRPr>
          </a:p>
        </p:txBody>
      </p:sp>
      <p:sp>
        <p:nvSpPr>
          <p:cNvPr id="2056" name="WordArt 8"/>
          <p:cNvSpPr>
            <a:spLocks noChangeArrowheads="1" noChangeShapeType="1"/>
          </p:cNvSpPr>
          <p:nvPr userDrawn="1"/>
        </p:nvSpPr>
        <p:spPr bwMode="auto">
          <a:xfrm rot="-1980000">
            <a:off x="1908175" y="2205038"/>
            <a:ext cx="5337175" cy="29765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9525">
                  <a:solidFill>
                    <a:schemeClr val="bg1"/>
                  </a:solidFill>
                  <a:round/>
                  <a:headEnd/>
                  <a:tailEnd/>
                </a:ln>
                <a:noFill/>
                <a:latin typeface="华文琥珀"/>
                <a:ea typeface="华文琥珀"/>
              </a:rPr>
              <a:t>山西大学</a:t>
            </a:r>
          </a:p>
          <a:p>
            <a:pPr algn="ctr"/>
            <a:endParaRPr lang="zh-CN" altLang="en-US" sz="3600" kern="10" dirty="0">
              <a:ln w="9525">
                <a:solidFill>
                  <a:schemeClr val="bg1"/>
                </a:solidFill>
                <a:round/>
                <a:headEnd/>
                <a:tailEnd/>
              </a:ln>
              <a:noFill/>
              <a:latin typeface="华文琥珀"/>
              <a:ea typeface="华文琥珀"/>
            </a:endParaRPr>
          </a:p>
          <a:p>
            <a:pPr algn="ctr"/>
            <a:endParaRPr lang="zh-CN" altLang="en-US" sz="3600" kern="10" dirty="0">
              <a:ln w="9525">
                <a:solidFill>
                  <a:schemeClr val="bg1"/>
                </a:solidFill>
                <a:round/>
                <a:headEnd/>
                <a:tailEnd/>
              </a:ln>
              <a:noFill/>
              <a:latin typeface="华文琥珀"/>
              <a:ea typeface="华文琥珀"/>
            </a:endParaRPr>
          </a:p>
          <a:p>
            <a:pPr algn="ctr"/>
            <a:r>
              <a:rPr lang="zh-CN" altLang="en-US" sz="3600" kern="10" dirty="0">
                <a:ln w="9525">
                  <a:solidFill>
                    <a:schemeClr val="bg1"/>
                  </a:solidFill>
                  <a:round/>
                  <a:headEnd/>
                  <a:tailEnd/>
                </a:ln>
                <a:noFill/>
                <a:latin typeface="华文琥珀"/>
                <a:ea typeface="华文琥珀"/>
              </a:rPr>
              <a:t>数据库系统概论</a:t>
            </a:r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5465763" y="6516688"/>
            <a:ext cx="4103687" cy="334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b="1">
                <a:solidFill>
                  <a:schemeClr val="bg1"/>
                </a:solidFill>
              </a:rPr>
              <a:t>An Introduction to Database System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506" y="5569538"/>
            <a:ext cx="909637" cy="9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2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eaLnBrk="1" hangingPunct="1"/>
            <a:endParaRPr lang="zh-CN" altLang="zh-CN" sz="3600"/>
          </a:p>
        </p:txBody>
      </p:sp>
      <p:sp>
        <p:nvSpPr>
          <p:cNvPr id="3075" name="副标题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zh-CN">
              <a:solidFill>
                <a:srgbClr val="898989"/>
              </a:solidFill>
            </a:endParaRPr>
          </a:p>
        </p:txBody>
      </p:sp>
      <p:pic>
        <p:nvPicPr>
          <p:cNvPr id="3076" name="Picture 3"/>
          <p:cNvPicPr>
            <a:picLocks noChangeAspect="1" noChangeArrowheads="1"/>
          </p:cNvPicPr>
          <p:nvPr/>
        </p:nvPicPr>
        <p:blipFill>
          <a:blip r:embed="rId2" cstate="print">
            <a:lum bright="4000" contrast="-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395536" y="1629296"/>
            <a:ext cx="8208963" cy="3527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buSzPct val="100000"/>
            </a:pPr>
            <a:r>
              <a:rPr lang="zh-CN" altLang="en-US" sz="60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数据库系统概论</a:t>
            </a:r>
            <a:endParaRPr lang="en-US" sz="6000" b="1" dirty="0">
              <a:solidFill>
                <a:schemeClr val="bg1"/>
              </a:solidFill>
              <a:latin typeface="黑体" pitchFamily="49" charset="-122"/>
              <a:ea typeface="黑体" pitchFamily="49" charset="-122"/>
              <a:sym typeface="黑体" pitchFamily="49" charset="-122"/>
            </a:endParaRPr>
          </a:p>
          <a:p>
            <a:pPr algn="ctr">
              <a:buSzPct val="100000"/>
            </a:pPr>
            <a:r>
              <a:rPr lang="en-US" altLang="zh-CN" sz="3600" b="1" dirty="0">
                <a:solidFill>
                  <a:schemeClr val="bg1"/>
                </a:solidFill>
                <a:latin typeface="Times New Roman" pitchFamily="18" charset="0"/>
                <a:sym typeface="Times New Roman" pitchFamily="18" charset="0"/>
              </a:rPr>
              <a:t>An Introduction to Database System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sym typeface="Times New Roman" pitchFamily="18" charset="0"/>
            </a:endParaRPr>
          </a:p>
          <a:p>
            <a:pPr algn="ctr">
              <a:buSzPct val="100000"/>
            </a:pPr>
            <a:endParaRPr lang="zh-CN" altLang="en-US" sz="6000" b="1" dirty="0">
              <a:solidFill>
                <a:schemeClr val="bg1"/>
              </a:solidFill>
              <a:latin typeface="黑体" pitchFamily="49" charset="-122"/>
              <a:ea typeface="黑体" pitchFamily="49" charset="-122"/>
              <a:sym typeface="黑体" pitchFamily="49" charset="-122"/>
            </a:endParaRPr>
          </a:p>
          <a:p>
            <a:pPr algn="ctr">
              <a:buSzPct val="100000"/>
            </a:pPr>
            <a:r>
              <a:rPr lang="zh-CN" altLang="en-US" sz="48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第六章  关系数据理论</a:t>
            </a:r>
          </a:p>
          <a:p>
            <a:pPr algn="ctr">
              <a:buSzPct val="100000"/>
            </a:pPr>
            <a:br>
              <a:rPr lang="zh-CN" altLang="en-US" sz="6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</a:br>
            <a:endParaRPr lang="en-US" altLang="zh-CN" sz="3600" b="1" dirty="0">
              <a:solidFill>
                <a:schemeClr val="bg1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3078" name="Rectangle 3"/>
          <p:cNvSpPr>
            <a:spLocks noChangeArrowheads="1"/>
          </p:cNvSpPr>
          <p:nvPr/>
        </p:nvSpPr>
        <p:spPr bwMode="auto">
          <a:xfrm>
            <a:off x="1980083" y="5568950"/>
            <a:ext cx="5256213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zh-CN" altLang="en-US" sz="2400" b="1" dirty="0">
                <a:solidFill>
                  <a:schemeClr val="bg1"/>
                </a:solidFill>
                <a:latin typeface="Times-Roman" charset="0"/>
                <a:ea typeface="隶书" pitchFamily="49" charset="-122"/>
                <a:sym typeface="Times-Roman" charset="0"/>
              </a:rPr>
              <a:t>山西大学计算机与信息技术学院</a:t>
            </a:r>
            <a:endParaRPr lang="en-US" sz="2400" b="1" dirty="0">
              <a:solidFill>
                <a:schemeClr val="bg1"/>
              </a:solidFill>
              <a:latin typeface="Times-Roman" charset="0"/>
              <a:ea typeface="隶书" pitchFamily="49" charset="-122"/>
              <a:sym typeface="Times-Roman" charset="0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</a:pPr>
            <a:endParaRPr lang="zh-CN" altLang="en-US" sz="2400" b="1" dirty="0">
              <a:solidFill>
                <a:schemeClr val="bg1"/>
              </a:solidFill>
              <a:latin typeface="Times-Roman" charset="0"/>
              <a:ea typeface="隶书" pitchFamily="49" charset="-122"/>
              <a:sym typeface="Times-Roman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3899098" cy="1128713"/>
          </a:xfrm>
        </p:spPr>
        <p:txBody>
          <a:bodyPr/>
          <a:lstStyle/>
          <a:p>
            <a:r>
              <a:rPr lang="zh-CN" altLang="en-US" sz="3600">
                <a:sym typeface="微软雅黑" pitchFamily="34" charset="-122"/>
              </a:rPr>
              <a:t>求闭包算法</a:t>
            </a:r>
            <a:endParaRPr lang="zh-CN" altLang="en-US" sz="3600" dirty="0">
              <a:sym typeface="微软雅黑" pitchFamily="34" charset="-122"/>
            </a:endParaRPr>
          </a:p>
        </p:txBody>
      </p:sp>
      <p:sp>
        <p:nvSpPr>
          <p:cNvPr id="10035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 marL="514350" indent="-514350">
              <a:buFont typeface="+mj-ea"/>
              <a:buAutoNum type="circleNumDbPlain"/>
            </a:pPr>
            <a:r>
              <a:rPr lang="zh-CN" altLang="en-US" dirty="0">
                <a:sym typeface="Calibri" pitchFamily="34" charset="0"/>
              </a:rPr>
              <a:t>令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0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=0</a:t>
            </a:r>
            <a:endParaRPr lang="zh-CN" altLang="en-US" dirty="0">
              <a:sym typeface="Calibri" pitchFamily="34" charset="0"/>
            </a:endParaRP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>
                <a:sym typeface="Calibri" pitchFamily="34" charset="0"/>
              </a:rPr>
              <a:t>求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zh-CN" altLang="en-US" dirty="0">
                <a:sym typeface="Calibri" pitchFamily="34" charset="0"/>
              </a:rPr>
              <a:t>，这里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 ={ 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 |(</a:t>
            </a:r>
            <a:r>
              <a:rPr lang="en-US" altLang="zh-CN" dirty="0">
                <a:sym typeface="Symbol" pitchFamily="18" charset="2"/>
              </a:rPr>
              <a:t>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V</a:t>
            </a:r>
            <a:r>
              <a:rPr lang="en-US" altLang="zh-CN" dirty="0">
                <a:sym typeface="Calibri" pitchFamily="34" charset="0"/>
              </a:rPr>
              <a:t>)( </a:t>
            </a:r>
            <a:r>
              <a:rPr lang="en-US" altLang="zh-CN" dirty="0">
                <a:sym typeface="Symbol" pitchFamily="18" charset="2"/>
              </a:rPr>
              <a:t>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W</a:t>
            </a:r>
            <a:r>
              <a:rPr lang="en-US" altLang="zh-CN" dirty="0">
                <a:sym typeface="Calibri" pitchFamily="34" charset="0"/>
              </a:rPr>
              <a:t>)(</a:t>
            </a:r>
            <a:r>
              <a:rPr lang="en-US" altLang="zh-CN" i="1" dirty="0">
                <a:sym typeface="Calibri" pitchFamily="34" charset="0"/>
              </a:rPr>
              <a:t>V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W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i="1" dirty="0">
                <a:sym typeface="Calibri" pitchFamily="34" charset="0"/>
              </a:rPr>
              <a:t>F</a:t>
            </a:r>
            <a:endParaRPr lang="zh-CN" altLang="en-US" i="1" dirty="0">
              <a:sym typeface="Calibri" pitchFamily="34" charset="0"/>
            </a:endParaRPr>
          </a:p>
          <a:p>
            <a:pPr marL="514350" indent="-514350">
              <a:buNone/>
            </a:pPr>
            <a:r>
              <a:rPr lang="en-US" altLang="zh-CN" dirty="0">
                <a:sym typeface="Calibri" pitchFamily="34" charset="0"/>
              </a:rPr>
              <a:t>                                           ∧</a:t>
            </a:r>
            <a:r>
              <a:rPr lang="en-US" altLang="zh-CN" i="1" dirty="0">
                <a:sym typeface="Calibri" pitchFamily="34" charset="0"/>
              </a:rPr>
              <a:t>V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i="1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∧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W</a:t>
            </a:r>
            <a:r>
              <a:rPr lang="en-US" altLang="zh-CN" dirty="0">
                <a:sym typeface="Calibri" pitchFamily="34" charset="0"/>
              </a:rPr>
              <a:t>)}</a:t>
            </a:r>
            <a:r>
              <a:rPr lang="zh-CN" altLang="en-US" dirty="0">
                <a:sym typeface="Calibri" pitchFamily="34" charset="0"/>
              </a:rPr>
              <a:t>。</a:t>
            </a:r>
          </a:p>
          <a:p>
            <a:pPr marL="514350" indent="-514350">
              <a:buFont typeface="+mj-ea"/>
              <a:buAutoNum type="circleNumDbPlain" startAt="3"/>
            </a:pP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</a:t>
            </a:r>
            <a:r>
              <a:rPr lang="en-US" altLang="zh-CN" baseline="30000" dirty="0">
                <a:sym typeface="Calibri" pitchFamily="34" charset="0"/>
              </a:rPr>
              <a:t>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∪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 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zh-CN" altLang="en-US" baseline="30000" dirty="0">
              <a:sym typeface="Calibri" pitchFamily="34" charset="0"/>
            </a:endParaRPr>
          </a:p>
          <a:p>
            <a:pPr marL="514350" indent="-514350">
              <a:buFont typeface="+mj-ea"/>
              <a:buAutoNum type="circleNumDbPlain" startAt="3"/>
            </a:pPr>
            <a:r>
              <a:rPr lang="zh-CN" altLang="en-US" dirty="0">
                <a:sym typeface="Calibri" pitchFamily="34" charset="0"/>
              </a:rPr>
              <a:t>判断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</a:t>
            </a:r>
            <a:r>
              <a:rPr lang="en-US" altLang="zh-CN" baseline="30000" dirty="0">
                <a:sym typeface="Calibri" pitchFamily="34" charset="0"/>
              </a:rPr>
              <a:t>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 。</a:t>
            </a:r>
          </a:p>
          <a:p>
            <a:pPr marL="514350" indent="-514350">
              <a:buFont typeface="+mj-ea"/>
              <a:buAutoNum type="circleNumDbPlain" startAt="3"/>
            </a:pPr>
            <a:r>
              <a:rPr lang="zh-CN" altLang="en-US" dirty="0">
                <a:sym typeface="Calibri" pitchFamily="34" charset="0"/>
              </a:rPr>
              <a:t>若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</a:t>
            </a:r>
            <a:r>
              <a:rPr lang="en-US" altLang="zh-CN" baseline="30000" dirty="0">
                <a:sym typeface="Calibri" pitchFamily="34" charset="0"/>
              </a:rPr>
              <a:t>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与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相等或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就是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i="1" baseline="-25000" dirty="0">
                <a:sym typeface="Calibri" pitchFamily="34" charset="0"/>
              </a:rPr>
              <a:t>F</a:t>
            </a:r>
            <a:r>
              <a:rPr lang="en-US" altLang="zh-CN" baseline="30000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，</a:t>
            </a:r>
          </a:p>
          <a:p>
            <a:pPr marL="514350" indent="-514350">
              <a:buNone/>
            </a:pPr>
            <a:r>
              <a:rPr lang="en-US" altLang="zh-CN" dirty="0">
                <a:sym typeface="Calibri" pitchFamily="34" charset="0"/>
              </a:rPr>
              <a:t>	</a:t>
            </a:r>
            <a:r>
              <a:rPr lang="zh-CN" altLang="en-US" dirty="0">
                <a:sym typeface="Calibri" pitchFamily="34" charset="0"/>
              </a:rPr>
              <a:t>算法终止。</a:t>
            </a:r>
          </a:p>
          <a:p>
            <a:pPr marL="514350" indent="-514350">
              <a:buFont typeface="+mj-ea"/>
              <a:buAutoNum type="circleNumDbPlain" startAt="6"/>
            </a:pPr>
            <a:r>
              <a:rPr lang="zh-CN" altLang="en-US" dirty="0">
                <a:sym typeface="Calibri" pitchFamily="34" charset="0"/>
              </a:rPr>
              <a:t>若否，则</a:t>
            </a:r>
            <a:r>
              <a:rPr lang="en-US" altLang="zh-CN" i="1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1，返回第</a:t>
            </a:r>
            <a:r>
              <a:rPr lang="zh-CN" altLang="en-US" dirty="0"/>
              <a:t>②</a:t>
            </a:r>
            <a:r>
              <a:rPr lang="zh-CN" altLang="en-US" dirty="0">
                <a:sym typeface="Calibri" pitchFamily="34" charset="0"/>
              </a:rPr>
              <a:t>步。</a:t>
            </a:r>
            <a:endParaRPr lang="zh-CN" altLang="en-US" dirty="0"/>
          </a:p>
        </p:txBody>
      </p:sp>
      <p:sp>
        <p:nvSpPr>
          <p:cNvPr id="100358" name="AutoShape 4"/>
          <p:cNvSpPr>
            <a:spLocks noChangeArrowheads="1"/>
          </p:cNvSpPr>
          <p:nvPr/>
        </p:nvSpPr>
        <p:spPr bwMode="auto">
          <a:xfrm>
            <a:off x="4356298" y="188640"/>
            <a:ext cx="4248150" cy="1079500"/>
          </a:xfrm>
          <a:prstGeom prst="wedgeRoundRectCallout">
            <a:avLst>
              <a:gd name="adj1" fmla="val -46486"/>
              <a:gd name="adj2" fmla="val 96764"/>
              <a:gd name="adj3" fmla="val 16667"/>
            </a:avLst>
          </a:prstGeom>
          <a:gradFill rotWithShape="1">
            <a:gsLst>
              <a:gs pos="0">
                <a:srgbClr val="D9FDA5"/>
              </a:gs>
              <a:gs pos="34998">
                <a:srgbClr val="E3FEBF"/>
              </a:gs>
              <a:gs pos="100000">
                <a:srgbClr val="F4FEE6"/>
              </a:gs>
            </a:gsLst>
            <a:lin ang="5400000" scaled="1"/>
          </a:gradFill>
          <a:ln w="9525">
            <a:solidFill>
              <a:srgbClr val="84EE26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buClr>
                <a:schemeClr val="accent1"/>
              </a:buClr>
              <a:buSzPct val="90000"/>
              <a:buFont typeface="Monotype Sorts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对</a:t>
            </a:r>
            <a:r>
              <a:rPr lang="en-US" altLang="zh-CN" b="1" i="1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X</a:t>
            </a:r>
            <a:r>
              <a:rPr lang="en-US" altLang="zh-CN" b="1" i="1" baseline="60000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(</a:t>
            </a:r>
            <a:r>
              <a:rPr lang="en-US" altLang="zh-CN" b="1" i="1" baseline="60000" dirty="0" err="1">
                <a:solidFill>
                  <a:srgbClr val="000000"/>
                </a:solidFill>
                <a:latin typeface="+mn-lt"/>
                <a:sym typeface="Times New Roman" pitchFamily="18" charset="0"/>
              </a:rPr>
              <a:t>i</a:t>
            </a:r>
            <a:r>
              <a:rPr lang="en-US" altLang="zh-CN" b="1" baseline="60000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中的每个元素，依次检查相应的函数依赖</a:t>
            </a:r>
            <a:r>
              <a:rPr lang="en-US" altLang="zh-CN" sz="2000" b="1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,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将依赖它的属性加入</a:t>
            </a:r>
            <a:r>
              <a:rPr lang="en-US" altLang="zh-CN" sz="2000" b="1" i="1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latin typeface="+mn-lt"/>
                <a:sym typeface="Times New Roman" pitchFamily="18" charset="0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+mn-lt"/>
              <a:ea typeface="黑体" pitchFamily="49" charset="-122"/>
              <a:sym typeface="Times New Roman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10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8" grpId="0" bldLvl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/>
          </a:p>
        </p:txBody>
      </p:sp>
      <p:sp>
        <p:nvSpPr>
          <p:cNvPr id="102403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0240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数据依赖的公理系统（续）</a:t>
            </a:r>
          </a:p>
        </p:txBody>
      </p:sp>
      <p:sp>
        <p:nvSpPr>
          <p:cNvPr id="10240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28638" y="1098551"/>
            <a:ext cx="8229600" cy="567055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dirty="0">
                <a:sym typeface="Calibri" pitchFamily="34" charset="0"/>
              </a:rPr>
              <a:t>[</a:t>
            </a:r>
            <a:r>
              <a:rPr lang="zh-CN" altLang="en-US" dirty="0">
                <a:sym typeface="Calibri" pitchFamily="34" charset="0"/>
              </a:rPr>
              <a:t>例</a:t>
            </a:r>
            <a:r>
              <a:rPr lang="en-US" altLang="zh-CN" dirty="0">
                <a:sym typeface="Calibri" pitchFamily="34" charset="0"/>
              </a:rPr>
              <a:t>6.11]  </a:t>
            </a:r>
            <a:r>
              <a:rPr lang="zh-CN" altLang="en-US" dirty="0">
                <a:sym typeface="Calibri" pitchFamily="34" charset="0"/>
              </a:rPr>
              <a:t>已知关系模式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dirty="0">
                <a:sym typeface="Calibri" pitchFamily="34" charset="0"/>
              </a:rPr>
              <a:t>&lt;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dirty="0">
                <a:sym typeface="Calibri" pitchFamily="34" charset="0"/>
              </a:rPr>
              <a:t>&gt;</a:t>
            </a:r>
            <a:r>
              <a:rPr lang="zh-CN" altLang="en-US" dirty="0">
                <a:sym typeface="Calibri" pitchFamily="34" charset="0"/>
              </a:rPr>
              <a:t>，其中</a:t>
            </a:r>
            <a:endParaRPr lang="zh-CN" altLang="en-US" sz="3200" dirty="0">
              <a:sym typeface="Calibri" pitchFamily="34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dirty="0">
                <a:sym typeface="Calibri" pitchFamily="34" charset="0"/>
              </a:rPr>
              <a:t>	</a:t>
            </a:r>
            <a:r>
              <a:rPr lang="en-US" altLang="zh-CN" sz="2800" i="1" dirty="0">
                <a:sym typeface="Calibri" pitchFamily="34" charset="0"/>
              </a:rPr>
              <a:t>U</a:t>
            </a:r>
            <a:r>
              <a:rPr lang="en-US" altLang="zh-CN" sz="2800" dirty="0">
                <a:sym typeface="Calibri" pitchFamily="34" charset="0"/>
              </a:rPr>
              <a:t>={</a:t>
            </a:r>
            <a:r>
              <a:rPr lang="en-US" altLang="zh-CN" sz="2800" i="1" dirty="0">
                <a:sym typeface="Calibri" pitchFamily="34" charset="0"/>
              </a:rPr>
              <a:t>A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B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C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D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E</a:t>
            </a:r>
            <a:r>
              <a:rPr lang="en-US" altLang="zh-CN" sz="2800" dirty="0">
                <a:sym typeface="Calibri" pitchFamily="34" charset="0"/>
              </a:rPr>
              <a:t>}</a:t>
            </a:r>
            <a:r>
              <a:rPr lang="zh-CN" altLang="en-US" sz="2800" dirty="0">
                <a:sym typeface="Calibri" pitchFamily="34" charset="0"/>
              </a:rPr>
              <a:t>；</a:t>
            </a:r>
            <a:endParaRPr lang="zh-CN" altLang="en-US" sz="3200" dirty="0">
              <a:sym typeface="Calibri" pitchFamily="34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>
                <a:sym typeface="Calibri" pitchFamily="34" charset="0"/>
              </a:rPr>
              <a:t>	</a:t>
            </a:r>
            <a:r>
              <a:rPr lang="en-US" altLang="zh-CN" sz="2800" i="1" dirty="0">
                <a:sym typeface="Calibri" pitchFamily="34" charset="0"/>
              </a:rPr>
              <a:t>F</a:t>
            </a:r>
            <a:r>
              <a:rPr lang="en-US" altLang="zh-CN" sz="2800" dirty="0">
                <a:sym typeface="Calibri" pitchFamily="34" charset="0"/>
              </a:rPr>
              <a:t>={</a:t>
            </a:r>
            <a:r>
              <a:rPr lang="en-US" altLang="zh-CN" sz="2800" i="1" dirty="0">
                <a:sym typeface="Calibri" pitchFamily="34" charset="0"/>
              </a:rPr>
              <a:t>AB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C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B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D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C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E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EC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B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AC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B</a:t>
            </a:r>
            <a:r>
              <a:rPr lang="en-US" altLang="zh-CN" sz="2800" dirty="0">
                <a:sym typeface="Calibri" pitchFamily="34" charset="0"/>
              </a:rPr>
              <a:t>}</a:t>
            </a:r>
            <a:r>
              <a:rPr lang="zh-CN" altLang="en-US" sz="2800" dirty="0">
                <a:sym typeface="Calibri" pitchFamily="34" charset="0"/>
              </a:rPr>
              <a:t>。</a:t>
            </a:r>
            <a:endParaRPr lang="zh-CN" altLang="en-US" sz="3200" dirty="0">
              <a:sym typeface="Calibri" pitchFamily="34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>
                <a:sym typeface="Calibri" pitchFamily="34" charset="0"/>
              </a:rPr>
              <a:t>	求(</a:t>
            </a:r>
            <a:r>
              <a:rPr lang="en-US" altLang="zh-CN" sz="2800" i="1" dirty="0">
                <a:sym typeface="Calibri" pitchFamily="34" charset="0"/>
              </a:rPr>
              <a:t>AB</a:t>
            </a:r>
            <a:r>
              <a:rPr lang="zh-CN" altLang="en-US" sz="2800" dirty="0">
                <a:sym typeface="Calibri" pitchFamily="34" charset="0"/>
              </a:rPr>
              <a:t>)</a:t>
            </a:r>
            <a:r>
              <a:rPr lang="en-US" altLang="zh-CN" sz="2800" baseline="-25000" dirty="0">
                <a:sym typeface="Calibri" pitchFamily="34" charset="0"/>
              </a:rPr>
              <a:t>F</a:t>
            </a:r>
            <a:r>
              <a:rPr lang="en-US" altLang="zh-CN" sz="2800" baseline="30000" dirty="0">
                <a:sym typeface="Calibri" pitchFamily="34" charset="0"/>
              </a:rPr>
              <a:t>+</a:t>
            </a:r>
            <a:r>
              <a:rPr lang="en-US" altLang="zh-CN" sz="2800" dirty="0">
                <a:sym typeface="Calibri" pitchFamily="34" charset="0"/>
              </a:rPr>
              <a:t> </a:t>
            </a:r>
            <a:r>
              <a:rPr lang="zh-CN" altLang="en-US" sz="2800" dirty="0">
                <a:sym typeface="Calibri" pitchFamily="34" charset="0"/>
              </a:rPr>
              <a:t>。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文本框 4"/>
          <p:cNvSpPr>
            <a:spLocks noChangeArrowheads="1"/>
          </p:cNvSpPr>
          <p:nvPr/>
        </p:nvSpPr>
        <p:spPr bwMode="auto">
          <a:xfrm>
            <a:off x="664973" y="5984913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数据依赖的公理系统（续）</a:t>
            </a:r>
          </a:p>
        </p:txBody>
      </p:sp>
      <p:sp>
        <p:nvSpPr>
          <p:cNvPr id="10342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48713" y="1723394"/>
            <a:ext cx="8435280" cy="4261519"/>
          </a:xfrm>
        </p:spPr>
        <p:txBody>
          <a:bodyPr/>
          <a:lstStyle/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ym typeface="Calibri" pitchFamily="34" charset="0"/>
              </a:rPr>
              <a:t>解 ：由算法</a:t>
            </a:r>
            <a:r>
              <a:rPr lang="en-US" altLang="zh-CN" dirty="0">
                <a:sym typeface="Calibri" pitchFamily="34" charset="0"/>
              </a:rPr>
              <a:t>6.1</a:t>
            </a:r>
            <a:r>
              <a:rPr lang="zh-CN" altLang="en-US" dirty="0">
                <a:sym typeface="Calibri" pitchFamily="34" charset="0"/>
              </a:rPr>
              <a:t>，设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0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AB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计算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：逐一的扫描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集合中各个函数依赖，找左部为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i="1" dirty="0">
                <a:sym typeface="Calibri" pitchFamily="34" charset="0"/>
              </a:rPr>
              <a:t>A</a:t>
            </a:r>
            <a:r>
              <a:rPr lang="zh-CN" altLang="en-US" dirty="0">
                <a:sym typeface="Calibri" pitchFamily="34" charset="0"/>
              </a:rPr>
              <a:t>、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zh-CN" altLang="en-US" dirty="0">
                <a:sym typeface="Calibri" pitchFamily="34" charset="0"/>
              </a:rPr>
              <a:t>或</a:t>
            </a:r>
            <a:r>
              <a:rPr lang="en-US" altLang="zh-CN" i="1" dirty="0">
                <a:sym typeface="Calibri" pitchFamily="34" charset="0"/>
              </a:rPr>
              <a:t>AB</a:t>
            </a:r>
            <a:r>
              <a:rPr lang="zh-CN" altLang="en-US" dirty="0">
                <a:sym typeface="Calibri" pitchFamily="34" charset="0"/>
              </a:rPr>
              <a:t>的函数依赖。得到两个：</a:t>
            </a:r>
            <a:r>
              <a:rPr lang="en-US" altLang="zh-CN" i="1" dirty="0">
                <a:sym typeface="Calibri" pitchFamily="34" charset="0"/>
              </a:rPr>
              <a:t>AB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D</a:t>
            </a:r>
            <a:r>
              <a:rPr lang="zh-CN" altLang="en-US" dirty="0">
                <a:sym typeface="Calibri" pitchFamily="34" charset="0"/>
              </a:rPr>
              <a:t>。于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是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AB</a:t>
            </a:r>
            <a:r>
              <a:rPr lang="en-US" altLang="zh-CN" dirty="0">
                <a:sym typeface="Calibri" pitchFamily="34" charset="0"/>
              </a:rPr>
              <a:t>∪</a:t>
            </a:r>
            <a:r>
              <a:rPr lang="en-US" altLang="zh-CN" i="1" dirty="0">
                <a:sym typeface="Calibri" pitchFamily="34" charset="0"/>
              </a:rPr>
              <a:t>CD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ABCD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因为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0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≠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，所以再找出左部为</a:t>
            </a:r>
            <a:r>
              <a:rPr lang="en-US" altLang="zh-CN" i="1" dirty="0">
                <a:sym typeface="Calibri" pitchFamily="34" charset="0"/>
              </a:rPr>
              <a:t>ABCD</a:t>
            </a:r>
            <a:r>
              <a:rPr lang="zh-CN" altLang="en-US" dirty="0">
                <a:sym typeface="Calibri" pitchFamily="34" charset="0"/>
              </a:rPr>
              <a:t>子集的那些函数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依赖，又得到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E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AC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zh-CN" altLang="en-US" dirty="0">
                <a:sym typeface="Calibri" pitchFamily="34" charset="0"/>
              </a:rPr>
              <a:t>，于是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2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∪</a:t>
            </a:r>
            <a:r>
              <a:rPr lang="en-US" altLang="zh-CN" i="1" dirty="0">
                <a:sym typeface="Calibri" pitchFamily="34" charset="0"/>
              </a:rPr>
              <a:t>BE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ABCDE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因为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2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已等于全部属性集合，所以(</a:t>
            </a:r>
            <a:r>
              <a:rPr lang="en-US" altLang="zh-CN" i="1" dirty="0">
                <a:sym typeface="Calibri" pitchFamily="34" charset="0"/>
              </a:rPr>
              <a:t>AB</a:t>
            </a:r>
            <a:r>
              <a:rPr lang="zh-CN" altLang="en-US" dirty="0">
                <a:sym typeface="Calibri" pitchFamily="34" charset="0"/>
              </a:rPr>
              <a:t>)</a:t>
            </a:r>
            <a:r>
              <a:rPr lang="en-US" altLang="zh-CN" i="1" baseline="-25000" dirty="0">
                <a:sym typeface="Calibri" pitchFamily="34" charset="0"/>
              </a:rPr>
              <a:t>F</a:t>
            </a:r>
            <a:r>
              <a:rPr lang="en-US" altLang="zh-CN" baseline="30000" dirty="0">
                <a:sym typeface="Calibri" pitchFamily="34" charset="0"/>
              </a:rPr>
              <a:t>+</a:t>
            </a:r>
            <a:r>
              <a:rPr lang="en-US" altLang="zh-CN" dirty="0">
                <a:sym typeface="Calibri" pitchFamily="34" charset="0"/>
              </a:rPr>
              <a:t> =</a:t>
            </a:r>
            <a:r>
              <a:rPr lang="en-US" altLang="zh-CN" i="1" dirty="0">
                <a:sym typeface="Calibri" pitchFamily="34" charset="0"/>
              </a:rPr>
              <a:t>ABCDE</a:t>
            </a:r>
            <a:r>
              <a:rPr lang="zh-CN" altLang="en-US" dirty="0">
                <a:sym typeface="Calibri" pitchFamily="34" charset="0"/>
              </a:rPr>
              <a:t>。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zh-CN" altLang="en-US" sz="1800" dirty="0">
              <a:sym typeface="Calibri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ym typeface="Calibri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9511" y="930451"/>
            <a:ext cx="85358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i="1" dirty="0">
                <a:sym typeface="Calibri" pitchFamily="34" charset="0"/>
              </a:rPr>
              <a:t>F</a:t>
            </a:r>
            <a:r>
              <a:rPr lang="en-US" altLang="zh-CN" sz="2800" dirty="0">
                <a:sym typeface="Calibri" pitchFamily="34" charset="0"/>
              </a:rPr>
              <a:t>={</a:t>
            </a:r>
            <a:r>
              <a:rPr lang="en-US" altLang="zh-CN" sz="2800" i="1" dirty="0">
                <a:sym typeface="Calibri" pitchFamily="34" charset="0"/>
              </a:rPr>
              <a:t>AB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C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B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D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C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E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EC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B</a:t>
            </a:r>
            <a:r>
              <a:rPr lang="zh-CN" altLang="en-US" sz="2800" dirty="0">
                <a:sym typeface="Calibri" pitchFamily="34" charset="0"/>
              </a:rPr>
              <a:t>, </a:t>
            </a:r>
            <a:r>
              <a:rPr lang="en-US" altLang="zh-CN" sz="2800" i="1" dirty="0">
                <a:sym typeface="Calibri" pitchFamily="34" charset="0"/>
              </a:rPr>
              <a:t>AC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B</a:t>
            </a:r>
            <a:r>
              <a:rPr lang="en-US" altLang="zh-CN" sz="2800" dirty="0">
                <a:sym typeface="Calibri" pitchFamily="34" charset="0"/>
              </a:rPr>
              <a:t>}</a:t>
            </a:r>
            <a:r>
              <a:rPr lang="zh-CN" altLang="en-US" sz="2800" dirty="0">
                <a:sym typeface="Calibri" pitchFamily="34" charset="0"/>
              </a:rPr>
              <a:t>。</a:t>
            </a:r>
            <a:endParaRPr lang="zh-CN" altLang="en-US" sz="3200" dirty="0">
              <a:sym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0240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数据依赖的公理系统（续）</a:t>
            </a:r>
          </a:p>
        </p:txBody>
      </p:sp>
      <p:sp>
        <p:nvSpPr>
          <p:cNvPr id="10240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28638" y="1098551"/>
            <a:ext cx="8229600" cy="3842617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dirty="0">
                <a:sym typeface="Calibri" pitchFamily="34" charset="0"/>
              </a:rPr>
              <a:t>[</a:t>
            </a:r>
            <a:r>
              <a:rPr lang="zh-CN" altLang="en-US" dirty="0">
                <a:sym typeface="Calibri" pitchFamily="34" charset="0"/>
              </a:rPr>
              <a:t>扩展例</a:t>
            </a:r>
            <a:r>
              <a:rPr lang="en-US" altLang="zh-CN" dirty="0">
                <a:sym typeface="Calibri" pitchFamily="34" charset="0"/>
              </a:rPr>
              <a:t>]  </a:t>
            </a:r>
            <a:r>
              <a:rPr lang="zh-CN" altLang="en-US" dirty="0">
                <a:sym typeface="Calibri" pitchFamily="34" charset="0"/>
              </a:rPr>
              <a:t>已知关系模式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dirty="0">
                <a:sym typeface="Calibri" pitchFamily="34" charset="0"/>
              </a:rPr>
              <a:t>&lt;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dirty="0">
                <a:sym typeface="Calibri" pitchFamily="34" charset="0"/>
              </a:rPr>
              <a:t>&gt;</a:t>
            </a:r>
            <a:r>
              <a:rPr lang="zh-CN" altLang="en-US" dirty="0">
                <a:sym typeface="Calibri" pitchFamily="34" charset="0"/>
              </a:rPr>
              <a:t>，其中</a:t>
            </a:r>
            <a:endParaRPr lang="zh-CN" altLang="en-US" sz="3200" dirty="0">
              <a:sym typeface="Calibri" pitchFamily="34" charset="0"/>
            </a:endParaRPr>
          </a:p>
          <a:p>
            <a:pPr lvl="1">
              <a:lnSpc>
                <a:spcPct val="150000"/>
              </a:lnSpc>
              <a:buNone/>
            </a:pPr>
            <a:r>
              <a:rPr lang="zh-CN" altLang="en-US" dirty="0">
                <a:sym typeface="Calibri" pitchFamily="34" charset="0"/>
              </a:rPr>
              <a:t>	</a:t>
            </a:r>
            <a:r>
              <a:rPr lang="en-US" altLang="zh-CN" sz="2800" i="1" dirty="0">
                <a:sym typeface="Calibri" pitchFamily="34" charset="0"/>
              </a:rPr>
              <a:t>U</a:t>
            </a:r>
            <a:r>
              <a:rPr lang="en-US" altLang="zh-CN" sz="2800" dirty="0">
                <a:sym typeface="Calibri" pitchFamily="34" charset="0"/>
              </a:rPr>
              <a:t>={</a:t>
            </a:r>
            <a:r>
              <a:rPr lang="en-US" altLang="zh-CN" sz="2800" i="1" dirty="0">
                <a:sym typeface="Calibri" pitchFamily="34" charset="0"/>
              </a:rPr>
              <a:t>A,B,C,D,E,G,H,P</a:t>
            </a:r>
            <a:r>
              <a:rPr lang="en-US" altLang="zh-CN" sz="2800" dirty="0">
                <a:sym typeface="Calibri" pitchFamily="34" charset="0"/>
              </a:rPr>
              <a:t>}</a:t>
            </a:r>
            <a:r>
              <a:rPr lang="zh-CN" altLang="en-US" sz="2800" dirty="0">
                <a:sym typeface="Calibri" pitchFamily="34" charset="0"/>
              </a:rPr>
              <a:t>；</a:t>
            </a:r>
            <a:endParaRPr lang="zh-CN" altLang="en-US" sz="3200" dirty="0">
              <a:sym typeface="Calibri" pitchFamily="34" charset="0"/>
            </a:endParaRPr>
          </a:p>
          <a:p>
            <a:pPr lvl="1">
              <a:lnSpc>
                <a:spcPct val="150000"/>
              </a:lnSpc>
              <a:buNone/>
            </a:pPr>
            <a:r>
              <a:rPr lang="zh-CN" altLang="en-US" sz="2800" dirty="0">
                <a:sym typeface="Calibri" pitchFamily="34" charset="0"/>
              </a:rPr>
              <a:t>	</a:t>
            </a:r>
            <a:r>
              <a:rPr lang="en-US" altLang="zh-CN" sz="2800" i="1" dirty="0">
                <a:sym typeface="Calibri" pitchFamily="34" charset="0"/>
              </a:rPr>
              <a:t>F</a:t>
            </a:r>
            <a:r>
              <a:rPr lang="en-US" altLang="zh-CN" sz="2800" dirty="0">
                <a:sym typeface="Calibri" pitchFamily="34" charset="0"/>
              </a:rPr>
              <a:t>={</a:t>
            </a:r>
            <a:r>
              <a:rPr lang="en-US" altLang="zh-CN" sz="2800" i="1" dirty="0">
                <a:sym typeface="Calibri" pitchFamily="34" charset="0"/>
              </a:rPr>
              <a:t>AB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CE, A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C,GP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B, EP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A, CDE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P, HB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P, D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HG, ABC</a:t>
            </a:r>
            <a:r>
              <a:rPr lang="en-US" altLang="zh-CN" sz="2800" dirty="0">
                <a:sym typeface="Calibri" pitchFamily="34" charset="0"/>
              </a:rPr>
              <a:t>→</a:t>
            </a:r>
            <a:r>
              <a:rPr lang="en-US" altLang="zh-CN" sz="2800" i="1" dirty="0">
                <a:sym typeface="Calibri" pitchFamily="34" charset="0"/>
              </a:rPr>
              <a:t>DG</a:t>
            </a:r>
            <a:r>
              <a:rPr lang="en-US" altLang="zh-CN" sz="2800" dirty="0">
                <a:sym typeface="Calibri" pitchFamily="34" charset="0"/>
              </a:rPr>
              <a:t>}</a:t>
            </a:r>
            <a:r>
              <a:rPr lang="zh-CN" altLang="en-US" sz="2800" dirty="0">
                <a:sym typeface="Calibri" pitchFamily="34" charset="0"/>
              </a:rPr>
              <a:t>。</a:t>
            </a:r>
            <a:endParaRPr lang="zh-CN" altLang="en-US" sz="3200" dirty="0">
              <a:sym typeface="Calibri" pitchFamily="34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>
                <a:sym typeface="Calibri" pitchFamily="34" charset="0"/>
              </a:rPr>
              <a:t>	求(</a:t>
            </a:r>
            <a:r>
              <a:rPr lang="en-US" altLang="zh-CN" sz="2800" i="1" dirty="0">
                <a:sym typeface="Calibri" pitchFamily="34" charset="0"/>
              </a:rPr>
              <a:t>D</a:t>
            </a:r>
            <a:r>
              <a:rPr lang="zh-CN" altLang="en-US" sz="2800" dirty="0">
                <a:sym typeface="Calibri" pitchFamily="34" charset="0"/>
              </a:rPr>
              <a:t>)</a:t>
            </a:r>
            <a:r>
              <a:rPr lang="en-US" altLang="zh-CN" sz="2800" baseline="-25000" dirty="0">
                <a:sym typeface="Calibri" pitchFamily="34" charset="0"/>
              </a:rPr>
              <a:t>F</a:t>
            </a:r>
            <a:r>
              <a:rPr lang="en-US" altLang="zh-CN" sz="2800" baseline="30000" dirty="0">
                <a:sym typeface="Calibri" pitchFamily="34" charset="0"/>
              </a:rPr>
              <a:t>+</a:t>
            </a:r>
            <a:r>
              <a:rPr lang="en-US" altLang="zh-CN" sz="2800" dirty="0">
                <a:sym typeface="Calibri" pitchFamily="34" charset="0"/>
              </a:rPr>
              <a:t> </a:t>
            </a:r>
            <a:r>
              <a:rPr lang="zh-CN" altLang="en-US" sz="2800" dirty="0">
                <a:sym typeface="Calibri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571232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文本框 4"/>
          <p:cNvSpPr>
            <a:spLocks noChangeArrowheads="1"/>
          </p:cNvSpPr>
          <p:nvPr/>
        </p:nvSpPr>
        <p:spPr bwMode="auto">
          <a:xfrm>
            <a:off x="664973" y="5984913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数据依赖的公理系统（续）</a:t>
            </a:r>
          </a:p>
        </p:txBody>
      </p:sp>
      <p:sp>
        <p:nvSpPr>
          <p:cNvPr id="10342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51520" y="1196752"/>
            <a:ext cx="8280920" cy="4392488"/>
          </a:xfrm>
        </p:spPr>
        <p:txBody>
          <a:bodyPr/>
          <a:lstStyle/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ym typeface="Calibri" pitchFamily="34" charset="0"/>
              </a:rPr>
              <a:t>解 ：由算法</a:t>
            </a:r>
            <a:r>
              <a:rPr lang="en-US" altLang="zh-CN" dirty="0">
                <a:sym typeface="Calibri" pitchFamily="34" charset="0"/>
              </a:rPr>
              <a:t>6.1</a:t>
            </a:r>
            <a:r>
              <a:rPr lang="zh-CN" altLang="en-US" dirty="0">
                <a:sym typeface="Calibri" pitchFamily="34" charset="0"/>
              </a:rPr>
              <a:t>，设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0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D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计算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：逐一的扫描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集合中各个函数依赖，找左部为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i="1" dirty="0">
                <a:sym typeface="Calibri" pitchFamily="34" charset="0"/>
              </a:rPr>
              <a:t>D</a:t>
            </a:r>
            <a:r>
              <a:rPr lang="zh-CN" altLang="en-US" dirty="0">
                <a:sym typeface="Calibri" pitchFamily="34" charset="0"/>
              </a:rPr>
              <a:t>的函数依赖。得到：</a:t>
            </a:r>
            <a:r>
              <a:rPr lang="en-US" altLang="zh-CN" i="1" dirty="0">
                <a:sym typeface="Calibri" pitchFamily="34" charset="0"/>
              </a:rPr>
              <a:t> D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HG 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于是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D</a:t>
            </a:r>
            <a:r>
              <a:rPr lang="en-US" altLang="zh-CN" dirty="0">
                <a:sym typeface="Calibri" pitchFamily="34" charset="0"/>
              </a:rPr>
              <a:t>∪</a:t>
            </a:r>
            <a:r>
              <a:rPr lang="en-US" altLang="zh-CN" i="1" dirty="0">
                <a:sym typeface="Calibri" pitchFamily="34" charset="0"/>
              </a:rPr>
              <a:t>HG 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DHG 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因为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0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≠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，所以再找出左部为</a:t>
            </a:r>
            <a:r>
              <a:rPr lang="en-US" altLang="zh-CN" i="1" dirty="0">
                <a:sym typeface="Calibri" pitchFamily="34" charset="0"/>
              </a:rPr>
              <a:t>DHG</a:t>
            </a:r>
            <a:r>
              <a:rPr lang="zh-CN" altLang="en-US" dirty="0">
                <a:sym typeface="Calibri" pitchFamily="34" charset="0"/>
              </a:rPr>
              <a:t>子集的那些函数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依赖，没有找到，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于是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2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 DHG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dirty="0">
                <a:sym typeface="Calibri" pitchFamily="34" charset="0"/>
              </a:rPr>
              <a:t>所以(</a:t>
            </a:r>
            <a:r>
              <a:rPr lang="en-US" altLang="zh-CN" i="1" dirty="0">
                <a:sym typeface="Calibri" pitchFamily="34" charset="0"/>
              </a:rPr>
              <a:t>D</a:t>
            </a:r>
            <a:r>
              <a:rPr lang="zh-CN" altLang="en-US" dirty="0">
                <a:sym typeface="Calibri" pitchFamily="34" charset="0"/>
              </a:rPr>
              <a:t>)</a:t>
            </a:r>
            <a:r>
              <a:rPr lang="en-US" altLang="zh-CN" i="1" baseline="-25000" dirty="0">
                <a:sym typeface="Calibri" pitchFamily="34" charset="0"/>
              </a:rPr>
              <a:t>F</a:t>
            </a:r>
            <a:r>
              <a:rPr lang="en-US" altLang="zh-CN" baseline="30000" dirty="0">
                <a:sym typeface="Calibri" pitchFamily="34" charset="0"/>
              </a:rPr>
              <a:t>+</a:t>
            </a:r>
            <a:r>
              <a:rPr lang="en-US" altLang="zh-CN" dirty="0">
                <a:sym typeface="Calibri" pitchFamily="34" charset="0"/>
              </a:rPr>
              <a:t> =</a:t>
            </a:r>
            <a:r>
              <a:rPr lang="en-US" altLang="zh-CN" i="1" dirty="0">
                <a:sym typeface="Calibri" pitchFamily="34" charset="0"/>
              </a:rPr>
              <a:t> DHG</a:t>
            </a:r>
            <a:r>
              <a:rPr lang="zh-CN" altLang="en-US" dirty="0">
                <a:sym typeface="Calibri" pitchFamily="34" charset="0"/>
              </a:rPr>
              <a:t>。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zh-CN" altLang="en-US" sz="1800" dirty="0">
              <a:sym typeface="Calibri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92062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" y="959279"/>
            <a:ext cx="9144000" cy="76297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803" y="1904082"/>
            <a:ext cx="3463826" cy="4921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6" y="2578035"/>
            <a:ext cx="9144000" cy="26983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5452656"/>
            <a:ext cx="75438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7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893" y="1268760"/>
            <a:ext cx="8812213" cy="4724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180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   求候选键算法：</a:t>
            </a:r>
            <a:b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只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FD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右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部出现的属性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不属于候选码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b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CC0000"/>
                </a:solidFill>
                <a:ea typeface="宋体" panose="02010600030101010101" pitchFamily="2" charset="-122"/>
              </a:rPr>
              <a:t>只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FD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左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部出现的属性，</a:t>
            </a:r>
            <a:r>
              <a:rPr lang="zh-CN" altLang="en-US" b="1" dirty="0">
                <a:solidFill>
                  <a:srgbClr val="CC0000"/>
                </a:solidFill>
                <a:ea typeface="宋体" panose="02010600030101010101" pitchFamily="2" charset="-122"/>
              </a:rPr>
              <a:t>一定存在于某候选码当中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b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006600"/>
                </a:solidFill>
                <a:ea typeface="宋体" panose="02010600030101010101" pitchFamily="2" charset="-122"/>
              </a:rPr>
              <a:t>外部属性</a:t>
            </a:r>
            <a:r>
              <a:rPr lang="zh-CN" altLang="en-US" b="1" dirty="0">
                <a:solidFill>
                  <a:srgbClr val="FF00FF"/>
                </a:solidFill>
                <a:ea typeface="宋体" panose="02010600030101010101" pitchFamily="2" charset="-122"/>
              </a:rPr>
              <a:t>一定存在于任何候选码当中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b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4.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其他属性逐个与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的属性组合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求属性闭包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直至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的闭包等于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U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，若等于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U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，则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为候选码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/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57200" y="-30163"/>
            <a:ext cx="8229600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buFontTx/>
            </a:pPr>
            <a:r>
              <a:rPr lang="zh-CN" altLang="en-US" sz="3600" kern="0">
                <a:sym typeface="微软雅黑" pitchFamily="34" charset="-122"/>
              </a:rPr>
              <a:t>求候选码</a:t>
            </a:r>
            <a:endParaRPr lang="zh-CN" altLang="en-US" sz="3600" kern="0" dirty="0"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2066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9931"/>
            <a:ext cx="8686800" cy="57912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  <a:tabLst>
                <a:tab pos="571500" algn="l"/>
              </a:tabLst>
            </a:pPr>
            <a:r>
              <a:rPr lang="en-US" altLang="zh-CN" sz="2400" dirty="0">
                <a:solidFill>
                  <a:srgbClr val="000000"/>
                </a:solidFill>
                <a:ea typeface="宋体" panose="02010600030101010101" pitchFamily="2" charset="-122"/>
              </a:rPr>
              <a:t>	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R&lt;</a:t>
            </a:r>
            <a:r>
              <a:rPr lang="en-US" altLang="zh-CN" sz="2400" b="1" dirty="0" err="1">
                <a:solidFill>
                  <a:srgbClr val="000000"/>
                </a:solidFill>
                <a:ea typeface="宋体" panose="02010600030101010101" pitchFamily="2" charset="-122"/>
              </a:rPr>
              <a:t>U,F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&gt;,U=(</a:t>
            </a:r>
            <a:r>
              <a:rPr lang="en-US" altLang="zh-CN" sz="2400" b="1" dirty="0" err="1">
                <a:solidFill>
                  <a:srgbClr val="000000"/>
                </a:solidFill>
                <a:ea typeface="宋体" panose="02010600030101010101" pitchFamily="2" charset="-122"/>
              </a:rPr>
              <a:t>A,B,C,D,E,G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tabLst>
                <a:tab pos="5715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               F={AB--&gt;</a:t>
            </a:r>
            <a:r>
              <a:rPr lang="en-US" altLang="zh-CN" sz="2400" b="1" dirty="0" err="1">
                <a:solidFill>
                  <a:srgbClr val="000000"/>
                </a:solidFill>
                <a:ea typeface="宋体" panose="02010600030101010101" pitchFamily="2" charset="-122"/>
              </a:rPr>
              <a:t>C,CD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--&gt;</a:t>
            </a:r>
            <a:r>
              <a:rPr lang="en-US" altLang="zh-CN" sz="2400" b="1" dirty="0" err="1">
                <a:solidFill>
                  <a:srgbClr val="000000"/>
                </a:solidFill>
                <a:ea typeface="宋体" panose="02010600030101010101" pitchFamily="2" charset="-122"/>
              </a:rPr>
              <a:t>E,E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--&gt;</a:t>
            </a:r>
            <a:r>
              <a:rPr lang="en-US" altLang="zh-CN" sz="2400" b="1" dirty="0" err="1">
                <a:solidFill>
                  <a:srgbClr val="000000"/>
                </a:solidFill>
                <a:ea typeface="宋体" panose="02010600030101010101" pitchFamily="2" charset="-122"/>
              </a:rPr>
              <a:t>A.A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--&gt;G},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求候选码。</a:t>
            </a:r>
          </a:p>
          <a:p>
            <a:pPr marL="0" indent="0" eaLnBrk="1" hangingPunct="1">
              <a:buFontTx/>
              <a:buNone/>
              <a:tabLst>
                <a:tab pos="571500" algn="l"/>
              </a:tabLst>
            </a:pP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	</a:t>
            </a:r>
            <a:endParaRPr lang="en-US" altLang="zh-CN" sz="2200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79388" y="1742256"/>
            <a:ext cx="8686800" cy="47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	</a:t>
            </a:r>
            <a:r>
              <a:rPr lang="zh-CN" altLang="en-US" sz="2200" b="1" dirty="0">
                <a:solidFill>
                  <a:srgbClr val="000000"/>
                </a:solidFill>
              </a:rPr>
              <a:t>因</a:t>
            </a:r>
            <a:r>
              <a:rPr lang="en-US" altLang="zh-CN" sz="2200" b="1" dirty="0">
                <a:solidFill>
                  <a:srgbClr val="000000"/>
                </a:solidFill>
              </a:rPr>
              <a:t>G</a:t>
            </a:r>
            <a:r>
              <a:rPr lang="zh-CN" altLang="en-US" sz="2200" b="1" dirty="0">
                <a:solidFill>
                  <a:srgbClr val="000000"/>
                </a:solidFill>
              </a:rPr>
              <a:t>只在右边出现</a:t>
            </a:r>
            <a:r>
              <a:rPr lang="en-US" altLang="zh-CN" sz="2200" b="1" dirty="0">
                <a:solidFill>
                  <a:srgbClr val="000000"/>
                </a:solidFill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</a:rPr>
              <a:t>所以</a:t>
            </a:r>
            <a:r>
              <a:rPr lang="en-US" altLang="zh-CN" sz="2200" b="1" dirty="0">
                <a:solidFill>
                  <a:srgbClr val="000000"/>
                </a:solidFill>
              </a:rPr>
              <a:t>G</a:t>
            </a:r>
            <a:r>
              <a:rPr lang="zh-CN" altLang="en-US" sz="2200" b="1" dirty="0">
                <a:solidFill>
                  <a:srgbClr val="000000"/>
                </a:solidFill>
              </a:rPr>
              <a:t>一定不属于候选码</a:t>
            </a:r>
            <a:r>
              <a:rPr lang="en-US" altLang="zh-CN" sz="2200" b="1" dirty="0">
                <a:solidFill>
                  <a:srgbClr val="000000"/>
                </a:solidFill>
              </a:rPr>
              <a:t>;</a:t>
            </a:r>
            <a:r>
              <a:rPr lang="zh-CN" altLang="en-US" sz="2200" b="1" dirty="0">
                <a:solidFill>
                  <a:srgbClr val="000000"/>
                </a:solidFill>
              </a:rPr>
              <a:t>而</a:t>
            </a:r>
            <a:r>
              <a:rPr lang="en-US" altLang="zh-CN" sz="2200" b="1" dirty="0" err="1">
                <a:solidFill>
                  <a:srgbClr val="000000"/>
                </a:solidFill>
              </a:rPr>
              <a:t>B,D</a:t>
            </a:r>
            <a:r>
              <a:rPr lang="zh-CN" altLang="en-US" sz="2200" b="1" dirty="0">
                <a:solidFill>
                  <a:srgbClr val="000000"/>
                </a:solidFill>
              </a:rPr>
              <a:t>只在左边出现</a:t>
            </a:r>
            <a:r>
              <a:rPr lang="en-US" altLang="zh-CN" sz="2200" b="1" dirty="0">
                <a:solidFill>
                  <a:srgbClr val="000000"/>
                </a:solidFill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</a:rPr>
              <a:t>所以</a:t>
            </a:r>
            <a:r>
              <a:rPr lang="en-US" altLang="zh-CN" sz="2200" b="1" dirty="0" err="1">
                <a:solidFill>
                  <a:srgbClr val="000000"/>
                </a:solidFill>
              </a:rPr>
              <a:t>B,D</a:t>
            </a:r>
            <a:r>
              <a:rPr lang="zh-CN" altLang="en-US" sz="2200" b="1" dirty="0">
                <a:solidFill>
                  <a:srgbClr val="000000"/>
                </a:solidFill>
              </a:rPr>
              <a:t>一定属于候选码</a:t>
            </a:r>
            <a:r>
              <a:rPr lang="en-US" altLang="zh-CN" sz="2200" b="1" dirty="0">
                <a:solidFill>
                  <a:srgbClr val="000000"/>
                </a:solidFill>
              </a:rPr>
              <a:t>;BD</a:t>
            </a:r>
            <a:r>
              <a:rPr lang="zh-CN" altLang="en-US" sz="2200" b="1" dirty="0">
                <a:solidFill>
                  <a:srgbClr val="000000"/>
                </a:solidFill>
              </a:rPr>
              <a:t>的闭包还是</a:t>
            </a:r>
            <a:r>
              <a:rPr lang="en-US" altLang="zh-CN" sz="2200" b="1" dirty="0">
                <a:solidFill>
                  <a:srgbClr val="000000"/>
                </a:solidFill>
              </a:rPr>
              <a:t>BD,</a:t>
            </a:r>
            <a:r>
              <a:rPr lang="zh-CN" altLang="en-US" sz="2200" b="1" dirty="0">
                <a:solidFill>
                  <a:srgbClr val="000000"/>
                </a:solidFill>
              </a:rPr>
              <a:t>则对</a:t>
            </a:r>
            <a:r>
              <a:rPr lang="en-US" altLang="zh-CN" sz="2200" b="1" dirty="0">
                <a:solidFill>
                  <a:srgbClr val="000000"/>
                </a:solidFill>
              </a:rPr>
              <a:t>BD</a:t>
            </a:r>
            <a:r>
              <a:rPr lang="zh-CN" altLang="en-US" sz="2200" b="1" dirty="0">
                <a:solidFill>
                  <a:srgbClr val="000000"/>
                </a:solidFill>
              </a:rPr>
              <a:t>进行组合</a:t>
            </a:r>
            <a:r>
              <a:rPr lang="en-US" altLang="zh-CN" sz="2200" b="1" dirty="0">
                <a:solidFill>
                  <a:srgbClr val="000000"/>
                </a:solidFill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</a:rPr>
              <a:t>除了</a:t>
            </a:r>
            <a:r>
              <a:rPr lang="en-US" altLang="zh-CN" sz="2200" b="1" dirty="0">
                <a:solidFill>
                  <a:srgbClr val="000000"/>
                </a:solidFill>
              </a:rPr>
              <a:t>G</a:t>
            </a:r>
            <a:r>
              <a:rPr lang="zh-CN" altLang="en-US" sz="2200" b="1" dirty="0">
                <a:solidFill>
                  <a:srgbClr val="000000"/>
                </a:solidFill>
              </a:rPr>
              <a:t>以外</a:t>
            </a:r>
            <a:r>
              <a:rPr lang="en-US" altLang="zh-CN" sz="2200" b="1" dirty="0">
                <a:solidFill>
                  <a:srgbClr val="000000"/>
                </a:solidFill>
              </a:rPr>
              <a:t>,BD</a:t>
            </a:r>
            <a:r>
              <a:rPr lang="zh-CN" altLang="en-US" sz="2200" b="1" dirty="0">
                <a:solidFill>
                  <a:srgbClr val="000000"/>
                </a:solidFill>
              </a:rPr>
              <a:t>可以跟</a:t>
            </a:r>
            <a:r>
              <a:rPr lang="en-US" altLang="zh-CN" sz="2200" b="1" dirty="0" err="1">
                <a:solidFill>
                  <a:srgbClr val="000000"/>
                </a:solidFill>
              </a:rPr>
              <a:t>A,C,E</a:t>
            </a:r>
            <a:r>
              <a:rPr lang="zh-CN" altLang="en-US" sz="2200" b="1" dirty="0">
                <a:solidFill>
                  <a:srgbClr val="000000"/>
                </a:solidFill>
              </a:rPr>
              <a:t>进行组合</a:t>
            </a:r>
            <a:br>
              <a:rPr lang="zh-CN" altLang="en-US" sz="2200" b="1" dirty="0">
                <a:solidFill>
                  <a:srgbClr val="000000"/>
                </a:solidFill>
              </a:rPr>
            </a:br>
            <a:r>
              <a:rPr lang="zh-CN" altLang="en-US" sz="2200" b="1" dirty="0">
                <a:solidFill>
                  <a:srgbClr val="000000"/>
                </a:solidFill>
              </a:rPr>
              <a:t>	</a:t>
            </a:r>
            <a:r>
              <a:rPr lang="zh-CN" altLang="en-US" sz="2200" b="1" dirty="0">
                <a:solidFill>
                  <a:srgbClr val="FF3300"/>
                </a:solidFill>
              </a:rPr>
              <a:t>先看</a:t>
            </a:r>
            <a:r>
              <a:rPr lang="en-US" altLang="zh-CN" sz="2200" b="1" dirty="0">
                <a:solidFill>
                  <a:srgbClr val="FF3300"/>
                </a:solidFill>
              </a:rPr>
              <a:t>ABD</a:t>
            </a:r>
            <a:br>
              <a:rPr lang="en-US" altLang="zh-CN" sz="2200" b="1" dirty="0">
                <a:solidFill>
                  <a:srgbClr val="000000"/>
                </a:solidFill>
              </a:rPr>
            </a:br>
            <a:r>
              <a:rPr lang="en-US" altLang="zh-CN" sz="2200" b="1" dirty="0">
                <a:solidFill>
                  <a:srgbClr val="000000"/>
                </a:solidFill>
              </a:rPr>
              <a:t>	ABD</a:t>
            </a:r>
            <a:r>
              <a:rPr lang="zh-CN" altLang="en-US" sz="2200" b="1" dirty="0">
                <a:solidFill>
                  <a:srgbClr val="000000"/>
                </a:solidFill>
              </a:rPr>
              <a:t>本身自包</a:t>
            </a:r>
            <a:r>
              <a:rPr lang="en-US" altLang="zh-CN" sz="2200" b="1" dirty="0">
                <a:solidFill>
                  <a:srgbClr val="000000"/>
                </a:solidFill>
              </a:rPr>
              <a:t>ABD,</a:t>
            </a:r>
            <a:r>
              <a:rPr lang="zh-CN" altLang="en-US" sz="2200" b="1" dirty="0">
                <a:solidFill>
                  <a:srgbClr val="000000"/>
                </a:solidFill>
              </a:rPr>
              <a:t>而</a:t>
            </a:r>
            <a:r>
              <a:rPr lang="en-US" altLang="zh-CN" sz="2200" b="1" dirty="0">
                <a:solidFill>
                  <a:srgbClr val="000000"/>
                </a:solidFill>
              </a:rPr>
              <a:t>AB--&gt;</a:t>
            </a:r>
            <a:r>
              <a:rPr lang="en-US" altLang="zh-CN" sz="2200" b="1" dirty="0" err="1">
                <a:solidFill>
                  <a:srgbClr val="000000"/>
                </a:solidFill>
              </a:rPr>
              <a:t>C,CD</a:t>
            </a:r>
            <a:r>
              <a:rPr lang="en-US" altLang="zh-CN" sz="2200" b="1" dirty="0">
                <a:solidFill>
                  <a:srgbClr val="000000"/>
                </a:solidFill>
              </a:rPr>
              <a:t>--&gt;</a:t>
            </a:r>
            <a:r>
              <a:rPr lang="en-US" altLang="zh-CN" sz="2200" b="1" dirty="0" err="1">
                <a:solidFill>
                  <a:srgbClr val="000000"/>
                </a:solidFill>
              </a:rPr>
              <a:t>E,A</a:t>
            </a:r>
            <a:r>
              <a:rPr lang="en-US" altLang="zh-CN" sz="2200" b="1" dirty="0">
                <a:solidFill>
                  <a:srgbClr val="000000"/>
                </a:solidFill>
              </a:rPr>
              <a:t>--&gt;G,</a:t>
            </a:r>
            <a:r>
              <a:rPr lang="zh-CN" altLang="en-US" sz="2200" b="1" dirty="0">
                <a:solidFill>
                  <a:srgbClr val="000000"/>
                </a:solidFill>
              </a:rPr>
              <a:t>所以</a:t>
            </a:r>
            <a:r>
              <a:rPr lang="en-US" altLang="zh-CN" sz="2200" b="1" dirty="0">
                <a:solidFill>
                  <a:srgbClr val="000000"/>
                </a:solidFill>
              </a:rPr>
              <a:t>ABD</a:t>
            </a:r>
            <a:r>
              <a:rPr lang="zh-CN" altLang="en-US" sz="2200" b="1" dirty="0">
                <a:solidFill>
                  <a:srgbClr val="000000"/>
                </a:solidFill>
              </a:rPr>
              <a:t>的闭包为</a:t>
            </a:r>
            <a:r>
              <a:rPr lang="en-US" altLang="zh-CN" sz="2200" b="1" dirty="0" err="1">
                <a:solidFill>
                  <a:srgbClr val="000000"/>
                </a:solidFill>
              </a:rPr>
              <a:t>ABDCEG</a:t>
            </a:r>
            <a:r>
              <a:rPr lang="en-US" altLang="zh-CN" sz="2200" b="1" dirty="0">
                <a:solidFill>
                  <a:srgbClr val="000000"/>
                </a:solidFill>
              </a:rPr>
              <a:t>=U</a:t>
            </a:r>
            <a:br>
              <a:rPr lang="en-US" altLang="zh-CN" sz="2200" b="1" dirty="0">
                <a:solidFill>
                  <a:srgbClr val="000000"/>
                </a:solidFill>
              </a:rPr>
            </a:br>
            <a:r>
              <a:rPr lang="en-US" altLang="zh-CN" sz="2200" b="1" dirty="0">
                <a:solidFill>
                  <a:srgbClr val="000000"/>
                </a:solidFill>
              </a:rPr>
              <a:t>	</a:t>
            </a:r>
            <a:r>
              <a:rPr lang="zh-CN" altLang="en-US" sz="2200" b="1" dirty="0">
                <a:solidFill>
                  <a:srgbClr val="FF3300"/>
                </a:solidFill>
              </a:rPr>
              <a:t>再看</a:t>
            </a:r>
            <a:r>
              <a:rPr lang="en-US" altLang="zh-CN" sz="2200" b="1" dirty="0" err="1">
                <a:solidFill>
                  <a:srgbClr val="FF3300"/>
                </a:solidFill>
              </a:rPr>
              <a:t>BDC</a:t>
            </a:r>
            <a:br>
              <a:rPr lang="en-US" altLang="zh-CN" sz="2200" b="1" dirty="0">
                <a:solidFill>
                  <a:srgbClr val="000000"/>
                </a:solidFill>
              </a:rPr>
            </a:br>
            <a:r>
              <a:rPr lang="en-US" altLang="zh-CN" sz="2200" b="1" dirty="0">
                <a:solidFill>
                  <a:srgbClr val="000000"/>
                </a:solidFill>
              </a:rPr>
              <a:t>	CD--&gt;</a:t>
            </a:r>
            <a:r>
              <a:rPr lang="en-US" altLang="zh-CN" sz="2200" b="1" dirty="0" err="1">
                <a:solidFill>
                  <a:srgbClr val="000000"/>
                </a:solidFill>
              </a:rPr>
              <a:t>E,E</a:t>
            </a:r>
            <a:r>
              <a:rPr lang="en-US" altLang="zh-CN" sz="2200" b="1" dirty="0">
                <a:solidFill>
                  <a:srgbClr val="000000"/>
                </a:solidFill>
              </a:rPr>
              <a:t>--&gt;</a:t>
            </a:r>
            <a:r>
              <a:rPr lang="en-US" altLang="zh-CN" sz="2200" b="1" dirty="0" err="1">
                <a:solidFill>
                  <a:srgbClr val="000000"/>
                </a:solidFill>
              </a:rPr>
              <a:t>A,A</a:t>
            </a:r>
            <a:r>
              <a:rPr lang="en-US" altLang="zh-CN" sz="2200" b="1" dirty="0">
                <a:solidFill>
                  <a:srgbClr val="000000"/>
                </a:solidFill>
              </a:rPr>
              <a:t>--&gt;</a:t>
            </a:r>
            <a:r>
              <a:rPr lang="en-US" altLang="zh-CN" sz="2200" b="1" dirty="0" err="1">
                <a:solidFill>
                  <a:srgbClr val="000000"/>
                </a:solidFill>
              </a:rPr>
              <a:t>G,BDC</a:t>
            </a:r>
            <a:r>
              <a:rPr lang="zh-CN" altLang="en-US" sz="2200" b="1" dirty="0">
                <a:solidFill>
                  <a:srgbClr val="000000"/>
                </a:solidFill>
              </a:rPr>
              <a:t>本身自包</a:t>
            </a:r>
            <a:r>
              <a:rPr lang="en-US" altLang="zh-CN" sz="2200" b="1" dirty="0">
                <a:solidFill>
                  <a:srgbClr val="000000"/>
                </a:solidFill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</a:rPr>
              <a:t>所以</a:t>
            </a:r>
            <a:r>
              <a:rPr lang="en-US" altLang="zh-CN" sz="2200" b="1" dirty="0" err="1">
                <a:solidFill>
                  <a:srgbClr val="000000"/>
                </a:solidFill>
              </a:rPr>
              <a:t>BDC</a:t>
            </a:r>
            <a:r>
              <a:rPr lang="zh-CN" altLang="en-US" sz="2200" b="1" dirty="0">
                <a:solidFill>
                  <a:srgbClr val="000000"/>
                </a:solidFill>
              </a:rPr>
              <a:t>的闭包为</a:t>
            </a:r>
            <a:r>
              <a:rPr lang="en-US" altLang="zh-CN" sz="2200" b="1" dirty="0" err="1">
                <a:solidFill>
                  <a:srgbClr val="000000"/>
                </a:solidFill>
              </a:rPr>
              <a:t>BDCEAG</a:t>
            </a:r>
            <a:r>
              <a:rPr lang="en-US" altLang="zh-CN" sz="2200" b="1" dirty="0">
                <a:solidFill>
                  <a:srgbClr val="000000"/>
                </a:solidFill>
              </a:rPr>
              <a:t>=U</a:t>
            </a:r>
            <a:br>
              <a:rPr lang="en-US" altLang="zh-CN" sz="2200" b="1" dirty="0">
                <a:solidFill>
                  <a:srgbClr val="000000"/>
                </a:solidFill>
              </a:rPr>
            </a:br>
            <a:r>
              <a:rPr lang="en-US" altLang="zh-CN" sz="2200" b="1" dirty="0">
                <a:solidFill>
                  <a:srgbClr val="000000"/>
                </a:solidFill>
              </a:rPr>
              <a:t>	</a:t>
            </a:r>
            <a:r>
              <a:rPr lang="zh-CN" altLang="en-US" sz="2200" b="1" dirty="0">
                <a:solidFill>
                  <a:srgbClr val="FF3300"/>
                </a:solidFill>
              </a:rPr>
              <a:t>最后看</a:t>
            </a:r>
            <a:r>
              <a:rPr lang="en-US" altLang="zh-CN" sz="2200" b="1" dirty="0">
                <a:solidFill>
                  <a:srgbClr val="FF3300"/>
                </a:solidFill>
              </a:rPr>
              <a:t>BDE</a:t>
            </a:r>
            <a:br>
              <a:rPr lang="en-US" altLang="zh-CN" sz="2200" b="1" dirty="0">
                <a:solidFill>
                  <a:srgbClr val="000000"/>
                </a:solidFill>
              </a:rPr>
            </a:br>
            <a:r>
              <a:rPr lang="en-US" altLang="zh-CN" sz="2200" b="1" dirty="0">
                <a:solidFill>
                  <a:srgbClr val="000000"/>
                </a:solidFill>
              </a:rPr>
              <a:t>	E--&gt;</a:t>
            </a:r>
            <a:r>
              <a:rPr lang="en-US" altLang="zh-CN" sz="2200" b="1" dirty="0" err="1">
                <a:solidFill>
                  <a:srgbClr val="000000"/>
                </a:solidFill>
              </a:rPr>
              <a:t>A,A</a:t>
            </a:r>
            <a:r>
              <a:rPr lang="en-US" altLang="zh-CN" sz="2200" b="1" dirty="0">
                <a:solidFill>
                  <a:srgbClr val="000000"/>
                </a:solidFill>
              </a:rPr>
              <a:t>--&gt;</a:t>
            </a:r>
            <a:r>
              <a:rPr lang="en-US" altLang="zh-CN" sz="2200" b="1" dirty="0" err="1">
                <a:solidFill>
                  <a:srgbClr val="000000"/>
                </a:solidFill>
              </a:rPr>
              <a:t>G,AB</a:t>
            </a:r>
            <a:r>
              <a:rPr lang="en-US" altLang="zh-CN" sz="2200" b="1" dirty="0">
                <a:solidFill>
                  <a:srgbClr val="000000"/>
                </a:solidFill>
              </a:rPr>
              <a:t>--&gt;</a:t>
            </a:r>
            <a:r>
              <a:rPr lang="en-US" altLang="zh-CN" sz="2200" b="1" dirty="0" err="1">
                <a:solidFill>
                  <a:srgbClr val="000000"/>
                </a:solidFill>
              </a:rPr>
              <a:t>C,BDE</a:t>
            </a:r>
            <a:r>
              <a:rPr lang="zh-CN" altLang="en-US" sz="2200" b="1" dirty="0">
                <a:solidFill>
                  <a:srgbClr val="000000"/>
                </a:solidFill>
              </a:rPr>
              <a:t>本身自包</a:t>
            </a:r>
            <a:r>
              <a:rPr lang="en-US" altLang="zh-CN" sz="2200" b="1" dirty="0">
                <a:solidFill>
                  <a:srgbClr val="000000"/>
                </a:solidFill>
              </a:rPr>
              <a:t>,</a:t>
            </a:r>
            <a:r>
              <a:rPr lang="zh-CN" altLang="en-US" sz="2200" b="1" dirty="0">
                <a:solidFill>
                  <a:srgbClr val="000000"/>
                </a:solidFill>
              </a:rPr>
              <a:t>所以</a:t>
            </a:r>
            <a:r>
              <a:rPr lang="en-US" altLang="zh-CN" sz="2200" b="1" dirty="0">
                <a:solidFill>
                  <a:srgbClr val="000000"/>
                </a:solidFill>
              </a:rPr>
              <a:t>BDE</a:t>
            </a:r>
            <a:r>
              <a:rPr lang="zh-CN" altLang="en-US" sz="2200" b="1" dirty="0">
                <a:solidFill>
                  <a:srgbClr val="000000"/>
                </a:solidFill>
              </a:rPr>
              <a:t>的闭包为</a:t>
            </a:r>
            <a:r>
              <a:rPr lang="en-US" altLang="zh-CN" sz="2200" b="1" dirty="0" err="1">
                <a:solidFill>
                  <a:srgbClr val="000000"/>
                </a:solidFill>
              </a:rPr>
              <a:t>BDEAGC</a:t>
            </a:r>
            <a:r>
              <a:rPr lang="en-US" altLang="zh-CN" sz="2200" b="1" dirty="0">
                <a:solidFill>
                  <a:srgbClr val="000000"/>
                </a:solidFill>
              </a:rPr>
              <a:t>=U</a:t>
            </a:r>
          </a:p>
          <a:p>
            <a:pPr algn="l" eaLnBrk="1" hangingPunct="1">
              <a:lnSpc>
                <a:spcPct val="100000"/>
              </a:lnSpc>
              <a:buFontTx/>
              <a:buNone/>
            </a:pPr>
            <a:r>
              <a:rPr lang="en-US" altLang="zh-CN" sz="2200" b="1" dirty="0">
                <a:solidFill>
                  <a:srgbClr val="000000"/>
                </a:solidFill>
              </a:rPr>
              <a:t>	</a:t>
            </a:r>
            <a:r>
              <a:rPr lang="zh-CN" altLang="en-US" sz="2200" b="1" dirty="0">
                <a:solidFill>
                  <a:srgbClr val="000000"/>
                </a:solidFill>
              </a:rPr>
              <a:t>因为</a:t>
            </a:r>
            <a:r>
              <a:rPr lang="en-US" altLang="zh-CN" sz="2200" b="1" dirty="0">
                <a:solidFill>
                  <a:srgbClr val="000000"/>
                </a:solidFill>
              </a:rPr>
              <a:t>(ABD)</a:t>
            </a:r>
            <a:r>
              <a:rPr lang="zh-CN" altLang="en-US" sz="2200" b="1" dirty="0">
                <a:solidFill>
                  <a:srgbClr val="000000"/>
                </a:solidFill>
              </a:rPr>
              <a:t>、</a:t>
            </a:r>
            <a:r>
              <a:rPr lang="en-US" altLang="zh-CN" sz="2200" b="1" dirty="0">
                <a:solidFill>
                  <a:srgbClr val="000000"/>
                </a:solidFill>
              </a:rPr>
              <a:t>(BCD)</a:t>
            </a:r>
            <a:r>
              <a:rPr lang="zh-CN" altLang="en-US" sz="2200" b="1" dirty="0">
                <a:solidFill>
                  <a:srgbClr val="000000"/>
                </a:solidFill>
              </a:rPr>
              <a:t>、</a:t>
            </a:r>
            <a:r>
              <a:rPr lang="en-US" altLang="zh-CN" sz="2200" b="1" dirty="0">
                <a:solidFill>
                  <a:srgbClr val="000000"/>
                </a:solidFill>
              </a:rPr>
              <a:t>(BDE)</a:t>
            </a:r>
            <a:r>
              <a:rPr lang="zh-CN" altLang="en-US" sz="2200" b="1" dirty="0">
                <a:solidFill>
                  <a:srgbClr val="000000"/>
                </a:solidFill>
              </a:rPr>
              <a:t>的闭包都是</a:t>
            </a:r>
            <a:r>
              <a:rPr lang="en-US" altLang="zh-CN" sz="2200" b="1" dirty="0" err="1">
                <a:solidFill>
                  <a:srgbClr val="000000"/>
                </a:solidFill>
              </a:rPr>
              <a:t>ABCDEG</a:t>
            </a:r>
            <a:r>
              <a:rPr lang="zh-CN" altLang="en-US" sz="2200" b="1" dirty="0">
                <a:solidFill>
                  <a:srgbClr val="000000"/>
                </a:solidFill>
              </a:rPr>
              <a:t>所以本问题的候选码有</a:t>
            </a:r>
            <a:r>
              <a:rPr lang="en-US" altLang="zh-CN" sz="2200" b="1" dirty="0">
                <a:solidFill>
                  <a:srgbClr val="000000"/>
                </a:solidFill>
              </a:rPr>
              <a:t>3</a:t>
            </a:r>
            <a:r>
              <a:rPr lang="zh-CN" altLang="en-US" sz="2200" b="1" dirty="0">
                <a:solidFill>
                  <a:srgbClr val="000000"/>
                </a:solidFill>
              </a:rPr>
              <a:t>个分别是</a:t>
            </a:r>
            <a:r>
              <a:rPr lang="en-US" altLang="zh-CN" sz="2200" b="1" dirty="0">
                <a:solidFill>
                  <a:srgbClr val="000000"/>
                </a:solidFill>
              </a:rPr>
              <a:t>ABC</a:t>
            </a:r>
            <a:r>
              <a:rPr lang="zh-CN" altLang="en-US" sz="2200" b="1" dirty="0">
                <a:solidFill>
                  <a:srgbClr val="000000"/>
                </a:solidFill>
              </a:rPr>
              <a:t>、</a:t>
            </a:r>
            <a:r>
              <a:rPr lang="en-US" altLang="zh-CN" sz="2200" b="1" dirty="0">
                <a:solidFill>
                  <a:srgbClr val="000000"/>
                </a:solidFill>
              </a:rPr>
              <a:t>BCD</a:t>
            </a:r>
            <a:r>
              <a:rPr lang="zh-CN" altLang="en-US" sz="2200" b="1" dirty="0">
                <a:solidFill>
                  <a:srgbClr val="000000"/>
                </a:solidFill>
              </a:rPr>
              <a:t>和</a:t>
            </a:r>
            <a:r>
              <a:rPr lang="en-US" altLang="zh-CN" sz="2200" b="1" dirty="0">
                <a:solidFill>
                  <a:srgbClr val="000000"/>
                </a:solidFill>
              </a:rPr>
              <a:t>BDE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数据依赖的公理系统（续）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73BE5E-266E-38ED-8656-7D7349821EC1}"/>
              </a:ext>
            </a:extLst>
          </p:cNvPr>
          <p:cNvSpPr/>
          <p:nvPr/>
        </p:nvSpPr>
        <p:spPr>
          <a:xfrm>
            <a:off x="7664368" y="146869"/>
            <a:ext cx="1419235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2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L:B</a:t>
            </a:r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D</a:t>
            </a:r>
          </a:p>
          <a:p>
            <a:r>
              <a:rPr lang="en-US" altLang="zh-CN" sz="2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R:G</a:t>
            </a:r>
            <a:endParaRPr lang="en-US" altLang="zh-CN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LR</a:t>
            </a:r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: </a:t>
            </a:r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 C E</a:t>
            </a:r>
          </a:p>
          <a:p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N:</a:t>
            </a:r>
            <a:r>
              <a:rPr lang="zh-CN" alt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无</a:t>
            </a:r>
            <a:endParaRPr lang="en-US" altLang="zh-CN" sz="2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1656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63688"/>
            <a:ext cx="8686800" cy="5580062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  <a:tabLst>
                <a:tab pos="57150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：举例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R&lt;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U,F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U=(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ABCDEF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  <a:tabLst>
                <a:tab pos="571500" algn="l"/>
              </a:tabLst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                 F={AB--&gt;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C,BD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--&gt;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E,E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--&gt;A}，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求</a:t>
            </a:r>
            <a:r>
              <a:rPr lang="zh-CN" altLang="en-US" b="1" dirty="0">
                <a:solidFill>
                  <a:srgbClr val="FF00FF"/>
                </a:solidFill>
                <a:ea typeface="宋体" panose="02010600030101010101" pitchFamily="2" charset="-122"/>
              </a:rPr>
              <a:t>候选</a:t>
            </a:r>
            <a:r>
              <a:rPr lang="zh-CN" altLang="en-US" dirty="0">
                <a:solidFill>
                  <a:srgbClr val="FF00FF"/>
                </a:solidFill>
                <a:ea typeface="宋体" panose="02010600030101010101" pitchFamily="2" charset="-122"/>
              </a:rPr>
              <a:t>码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b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79388" y="2889251"/>
            <a:ext cx="8686800" cy="2555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</a:rPr>
              <a:t>	</a:t>
            </a:r>
            <a:r>
              <a:rPr lang="zh-CN" altLang="en-US" sz="2400" b="1" dirty="0">
                <a:solidFill>
                  <a:srgbClr val="000000"/>
                </a:solidFill>
              </a:rPr>
              <a:t>因为</a:t>
            </a:r>
            <a:r>
              <a:rPr lang="en-US" altLang="zh-CN" sz="2400" b="1" dirty="0">
                <a:solidFill>
                  <a:srgbClr val="000000"/>
                </a:solidFill>
              </a:rPr>
              <a:t>BD</a:t>
            </a:r>
            <a:r>
              <a:rPr lang="zh-CN" altLang="en-US" sz="2400" b="1" dirty="0">
                <a:solidFill>
                  <a:srgbClr val="000000"/>
                </a:solidFill>
              </a:rPr>
              <a:t>只在</a:t>
            </a:r>
            <a:r>
              <a:rPr lang="en-US" altLang="zh-CN" sz="2400" b="1" dirty="0">
                <a:solidFill>
                  <a:srgbClr val="000000"/>
                </a:solidFill>
              </a:rPr>
              <a:t>FD</a:t>
            </a:r>
            <a:r>
              <a:rPr lang="zh-CN" altLang="en-US" sz="2400" b="1" dirty="0">
                <a:solidFill>
                  <a:srgbClr val="000000"/>
                </a:solidFill>
              </a:rPr>
              <a:t>的左边出现，故</a:t>
            </a:r>
            <a:r>
              <a:rPr lang="en-US" altLang="zh-CN" sz="2400" b="1" dirty="0">
                <a:solidFill>
                  <a:srgbClr val="000000"/>
                </a:solidFill>
              </a:rPr>
              <a:t>BD</a:t>
            </a:r>
            <a:r>
              <a:rPr lang="zh-CN" altLang="en-US" sz="2400" b="1" dirty="0">
                <a:solidFill>
                  <a:srgbClr val="000000"/>
                </a:solidFill>
              </a:rPr>
              <a:t>一定属于候选码当中；又因</a:t>
            </a:r>
            <a:r>
              <a:rPr lang="en-US" altLang="zh-CN" sz="2400" b="1" dirty="0">
                <a:solidFill>
                  <a:srgbClr val="000000"/>
                </a:solidFill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</a:rPr>
              <a:t>是</a:t>
            </a:r>
            <a:r>
              <a:rPr lang="en-US" altLang="zh-CN" sz="2400" b="1" dirty="0">
                <a:solidFill>
                  <a:srgbClr val="000000"/>
                </a:solidFill>
              </a:rPr>
              <a:t>FD</a:t>
            </a:r>
            <a:r>
              <a:rPr lang="zh-CN" altLang="en-US" sz="2400" b="1" dirty="0">
                <a:solidFill>
                  <a:srgbClr val="000000"/>
                </a:solidFill>
              </a:rPr>
              <a:t>的外部属性，所以</a:t>
            </a:r>
            <a:r>
              <a:rPr lang="en-US" altLang="zh-CN" sz="2400" b="1" dirty="0">
                <a:solidFill>
                  <a:srgbClr val="000000"/>
                </a:solidFill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</a:rPr>
              <a:t>也属于候选码当中；</a:t>
            </a:r>
            <a:r>
              <a:rPr lang="en-US" altLang="zh-CN" sz="2400" b="1" dirty="0" err="1">
                <a:solidFill>
                  <a:srgbClr val="000000"/>
                </a:solidFill>
              </a:rPr>
              <a:t>BDF</a:t>
            </a:r>
            <a:r>
              <a:rPr lang="zh-CN" altLang="en-US" sz="2400" b="1" dirty="0">
                <a:solidFill>
                  <a:srgbClr val="000000"/>
                </a:solidFill>
              </a:rPr>
              <a:t>的闭包，是否等于</a:t>
            </a:r>
            <a:r>
              <a:rPr lang="en-US" altLang="zh-CN" sz="2400" b="1" dirty="0">
                <a:solidFill>
                  <a:srgbClr val="000000"/>
                </a:solidFill>
              </a:rPr>
              <a:t>U</a:t>
            </a:r>
            <a:r>
              <a:rPr lang="zh-CN" altLang="en-US" sz="2400" b="1" dirty="0">
                <a:solidFill>
                  <a:srgbClr val="000000"/>
                </a:solidFill>
              </a:rPr>
              <a:t>，若成立则</a:t>
            </a:r>
            <a:r>
              <a:rPr lang="en-US" altLang="zh-CN" sz="2400" b="1" dirty="0" err="1">
                <a:solidFill>
                  <a:srgbClr val="000000"/>
                </a:solidFill>
              </a:rPr>
              <a:t>BDF</a:t>
            </a:r>
            <a:r>
              <a:rPr lang="zh-CN" altLang="en-US" sz="2400" b="1" dirty="0">
                <a:solidFill>
                  <a:srgbClr val="000000"/>
                </a:solidFill>
              </a:rPr>
              <a:t>就是候选键。</a:t>
            </a:r>
            <a:r>
              <a:rPr lang="en-US" altLang="zh-CN" sz="2400" b="1" dirty="0" err="1">
                <a:solidFill>
                  <a:srgbClr val="000000"/>
                </a:solidFill>
              </a:rPr>
              <a:t>BDF</a:t>
            </a:r>
            <a:r>
              <a:rPr lang="zh-CN" altLang="en-US" sz="2400" b="1" dirty="0">
                <a:solidFill>
                  <a:srgbClr val="000000"/>
                </a:solidFill>
              </a:rPr>
              <a:t>由于自包</a:t>
            </a:r>
            <a:r>
              <a:rPr lang="en-US" altLang="zh-CN" sz="2400" b="1" dirty="0">
                <a:solidFill>
                  <a:srgbClr val="000000"/>
                </a:solidFill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</a:rPr>
              <a:t>所以有</a:t>
            </a:r>
            <a:r>
              <a:rPr lang="en-US" altLang="zh-CN" sz="2400" b="1" dirty="0" err="1">
                <a:solidFill>
                  <a:srgbClr val="000000"/>
                </a:solidFill>
              </a:rPr>
              <a:t>BDF</a:t>
            </a:r>
            <a:r>
              <a:rPr lang="en-US" altLang="zh-CN" sz="2400" b="1" dirty="0">
                <a:solidFill>
                  <a:srgbClr val="000000"/>
                </a:solidFill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</a:rPr>
              <a:t>然后</a:t>
            </a:r>
            <a:r>
              <a:rPr lang="en-US" altLang="zh-CN" sz="2400" b="1" dirty="0">
                <a:solidFill>
                  <a:srgbClr val="000000"/>
                </a:solidFill>
              </a:rPr>
              <a:t>BD--&gt;</a:t>
            </a:r>
            <a:r>
              <a:rPr lang="en-US" altLang="zh-CN" sz="2400" b="1" dirty="0" err="1">
                <a:solidFill>
                  <a:srgbClr val="000000"/>
                </a:solidFill>
              </a:rPr>
              <a:t>E,E</a:t>
            </a:r>
            <a:r>
              <a:rPr lang="en-US" altLang="zh-CN" sz="2400" b="1" dirty="0">
                <a:solidFill>
                  <a:srgbClr val="000000"/>
                </a:solidFill>
              </a:rPr>
              <a:t>--&gt;A,</a:t>
            </a:r>
            <a:r>
              <a:rPr lang="zh-CN" altLang="en-US" sz="2400" b="1" dirty="0">
                <a:solidFill>
                  <a:srgbClr val="000000"/>
                </a:solidFill>
              </a:rPr>
              <a:t>而</a:t>
            </a:r>
            <a:r>
              <a:rPr lang="en-US" altLang="zh-CN" sz="2400" b="1" dirty="0">
                <a:solidFill>
                  <a:srgbClr val="000000"/>
                </a:solidFill>
              </a:rPr>
              <a:t>AB--&gt;C,</a:t>
            </a:r>
            <a:r>
              <a:rPr lang="zh-CN" altLang="en-US" sz="2400" b="1" dirty="0">
                <a:solidFill>
                  <a:srgbClr val="000000"/>
                </a:solidFill>
              </a:rPr>
              <a:t>所以</a:t>
            </a:r>
            <a:r>
              <a:rPr lang="en-US" altLang="zh-CN" sz="2400" b="1" dirty="0" err="1">
                <a:solidFill>
                  <a:srgbClr val="000000"/>
                </a:solidFill>
              </a:rPr>
              <a:t>BDF</a:t>
            </a:r>
            <a:r>
              <a:rPr lang="zh-CN" altLang="en-US" sz="2400" b="1" dirty="0">
                <a:solidFill>
                  <a:srgbClr val="000000"/>
                </a:solidFill>
              </a:rPr>
              <a:t>是</a:t>
            </a:r>
            <a:r>
              <a:rPr lang="en-US" altLang="zh-CN" sz="2400" b="1" dirty="0">
                <a:solidFill>
                  <a:srgbClr val="000000"/>
                </a:solidFill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</a:rPr>
              <a:t>的</a:t>
            </a:r>
            <a:r>
              <a:rPr lang="zh-CN" altLang="en-US" sz="2400" b="1" dirty="0">
                <a:solidFill>
                  <a:srgbClr val="FF00FF"/>
                </a:solidFill>
              </a:rPr>
              <a:t>候选码</a:t>
            </a:r>
            <a:r>
              <a:rPr lang="en-US" altLang="zh-CN" sz="2400" b="1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数据依赖的公理系统（续）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170989-2E18-B38A-6D2D-76811D8D45EB}"/>
              </a:ext>
            </a:extLst>
          </p:cNvPr>
          <p:cNvSpPr/>
          <p:nvPr/>
        </p:nvSpPr>
        <p:spPr>
          <a:xfrm>
            <a:off x="7664368" y="901968"/>
            <a:ext cx="1162754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2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L:B</a:t>
            </a:r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D</a:t>
            </a:r>
          </a:p>
          <a:p>
            <a:r>
              <a:rPr lang="en-US" altLang="zh-CN" sz="2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R:C</a:t>
            </a:r>
            <a:endParaRPr lang="en-US" altLang="zh-CN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LR</a:t>
            </a:r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: </a:t>
            </a:r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 E</a:t>
            </a:r>
          </a:p>
          <a:p>
            <a:r>
              <a:rPr lang="en-US" altLang="zh-CN" sz="2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N:F</a:t>
            </a:r>
            <a:endParaRPr lang="en-US" altLang="zh-CN" sz="2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260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10" y="836712"/>
            <a:ext cx="9144000" cy="269837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528323"/>
            <a:ext cx="4352925" cy="838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15" y="5229200"/>
            <a:ext cx="8743950" cy="10572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44553A8-0BB8-0959-C882-5B1F1F121031}"/>
              </a:ext>
            </a:extLst>
          </p:cNvPr>
          <p:cNvSpPr/>
          <p:nvPr/>
        </p:nvSpPr>
        <p:spPr>
          <a:xfrm>
            <a:off x="6012160" y="3736045"/>
            <a:ext cx="1177182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20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L:B</a:t>
            </a:r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D</a:t>
            </a:r>
          </a:p>
          <a:p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R:</a:t>
            </a:r>
            <a:r>
              <a:rPr lang="zh-CN" alt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无</a:t>
            </a:r>
            <a:endParaRPr lang="en-US" altLang="zh-CN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LR</a:t>
            </a:r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: </a:t>
            </a:r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 </a:t>
            </a:r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</a:t>
            </a:r>
            <a:endParaRPr lang="en-US" altLang="zh-CN" sz="2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N:</a:t>
            </a:r>
            <a:r>
              <a:rPr lang="zh-CN" alt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无</a:t>
            </a:r>
            <a:endParaRPr lang="en-US" altLang="zh-CN" sz="2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8263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57163"/>
            <a:ext cx="2000250" cy="685800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练习题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214438"/>
            <a:ext cx="5943600" cy="2928937"/>
          </a:xfrm>
        </p:spPr>
        <p:txBody>
          <a:bodyPr/>
          <a:lstStyle/>
          <a:p>
            <a:pPr marL="609600" indent="-609600">
              <a:lnSpc>
                <a:spcPct val="12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指明下列关系模式属于第几范式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09600" indent="-609600">
              <a:lnSpc>
                <a:spcPct val="120000"/>
              </a:lnSpc>
              <a:spcBef>
                <a:spcPct val="5000"/>
              </a:spcBef>
              <a:buSzPct val="110000"/>
              <a:buFont typeface="Wingdings" panose="05000000000000000000" pitchFamily="2" charset="2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F={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XY→Z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609600" indent="-609600">
              <a:lnSpc>
                <a:spcPct val="120000"/>
              </a:lnSpc>
              <a:spcBef>
                <a:spcPct val="5000"/>
              </a:spcBef>
              <a:buSzPct val="110000"/>
              <a:buFont typeface="Wingdings" panose="05000000000000000000" pitchFamily="2" charset="2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F={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XZ→Y,Y→Z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609600" indent="-609600">
              <a:lnSpc>
                <a:spcPct val="120000"/>
              </a:lnSpc>
              <a:spcBef>
                <a:spcPct val="5000"/>
              </a:spcBef>
              <a:buSzPct val="110000"/>
              <a:buFont typeface="Wingdings" panose="05000000000000000000" pitchFamily="2" charset="2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F={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Y→Z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Y→X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X→YZ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609600" indent="-609600">
              <a:lnSpc>
                <a:spcPct val="120000"/>
              </a:lnSpc>
              <a:spcBef>
                <a:spcPct val="5000"/>
              </a:spcBef>
              <a:buSzPct val="110000"/>
              <a:buFont typeface="Wingdings" panose="05000000000000000000" pitchFamily="2" charset="2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F={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X→Y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X→Z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609600" indent="-609600">
              <a:lnSpc>
                <a:spcPct val="120000"/>
              </a:lnSpc>
              <a:spcBef>
                <a:spcPct val="5000"/>
              </a:spcBef>
              <a:buSzPct val="110000"/>
              <a:buFont typeface="Wingdings" panose="05000000000000000000" pitchFamily="2" charset="2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W,X,Y,Z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F={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X→Z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WX→Y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5508625" y="4514850"/>
            <a:ext cx="3059113" cy="180975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1.BCNF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码：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2.3NF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码：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XZ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3.BCNF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码：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4.BCNF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码：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5.1NF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码：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74288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57163"/>
            <a:ext cx="2000250" cy="685800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FF"/>
                </a:solidFill>
              </a:rPr>
              <a:t>练习题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670"/>
            <a:ext cx="9144000" cy="24693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778" y="4005064"/>
            <a:ext cx="433387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7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1571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b="1">
                <a:solidFill>
                  <a:schemeClr val="bg1"/>
                </a:solidFill>
                <a:sym typeface="微软雅黑" pitchFamily="34" charset="-122"/>
              </a:rPr>
              <a:t>求最小覆盖</a:t>
            </a:r>
            <a:endParaRPr lang="zh-CN" altLang="en-US" sz="3600" dirty="0">
              <a:sym typeface="微软雅黑" pitchFamily="34" charset="-122"/>
            </a:endParaRPr>
          </a:p>
        </p:txBody>
      </p:sp>
      <p:sp>
        <p:nvSpPr>
          <p:cNvPr id="11571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909638"/>
            <a:ext cx="8229600" cy="5448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定理</a:t>
            </a:r>
            <a:r>
              <a:rPr lang="en-US" altLang="zh-CN" dirty="0">
                <a:sym typeface="Calibri" pitchFamily="34" charset="0"/>
              </a:rPr>
              <a:t>6.3  </a:t>
            </a:r>
            <a:r>
              <a:rPr lang="zh-CN" altLang="en-US" dirty="0">
                <a:sym typeface="Calibri" pitchFamily="34" charset="0"/>
              </a:rPr>
              <a:t>每一个函数依赖集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均等价于一个极小函数依赖集</a:t>
            </a:r>
            <a:r>
              <a:rPr lang="en-US" altLang="zh-CN" i="1" dirty="0" err="1">
                <a:sym typeface="Calibri" pitchFamily="34" charset="0"/>
              </a:rPr>
              <a:t>F</a:t>
            </a:r>
            <a:r>
              <a:rPr lang="en-US" altLang="zh-CN" i="1" baseline="-25000" dirty="0" err="1">
                <a:sym typeface="Calibri" pitchFamily="34" charset="0"/>
              </a:rPr>
              <a:t>m</a:t>
            </a:r>
            <a:r>
              <a:rPr lang="zh-CN" altLang="en-US" dirty="0">
                <a:sym typeface="Calibri" pitchFamily="34" charset="0"/>
              </a:rPr>
              <a:t>。此</a:t>
            </a:r>
            <a:r>
              <a:rPr lang="en-US" altLang="zh-CN" i="1" dirty="0" err="1">
                <a:sym typeface="Calibri" pitchFamily="34" charset="0"/>
              </a:rPr>
              <a:t>F</a:t>
            </a:r>
            <a:r>
              <a:rPr lang="en-US" altLang="zh-CN" i="1" baseline="-25000" dirty="0" err="1">
                <a:sym typeface="Calibri" pitchFamily="34" charset="0"/>
              </a:rPr>
              <a:t>m</a:t>
            </a:r>
            <a:r>
              <a:rPr lang="zh-CN" altLang="en-US" dirty="0">
                <a:sym typeface="Calibri" pitchFamily="34" charset="0"/>
              </a:rPr>
              <a:t>称为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的最小依赖集。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证：构造性证明，分三步对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进行“极小化处理”，找出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的一个最小依赖集。</a:t>
            </a:r>
          </a:p>
          <a:p>
            <a:pPr lvl="2">
              <a:lnSpc>
                <a:spcPct val="120000"/>
              </a:lnSpc>
              <a:buNone/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1</a:t>
            </a:r>
            <a:r>
              <a:rPr lang="zh-CN" altLang="en-US" dirty="0">
                <a:sym typeface="Calibri" pitchFamily="34" charset="0"/>
              </a:rPr>
              <a:t>）逐一检查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中各函数依赖</a:t>
            </a:r>
            <a:r>
              <a:rPr lang="en-US" altLang="zh-CN" i="1" dirty="0" err="1">
                <a:sym typeface="Calibri" pitchFamily="34" charset="0"/>
              </a:rPr>
              <a:t>FD</a:t>
            </a:r>
            <a:r>
              <a:rPr lang="en-US" altLang="zh-CN" i="1" baseline="-25000" dirty="0" err="1">
                <a:sym typeface="Calibri" pitchFamily="34" charset="0"/>
              </a:rPr>
              <a:t>i</a:t>
            </a:r>
            <a:r>
              <a:rPr lang="zh-CN" altLang="en-US" dirty="0">
                <a:sym typeface="Calibri" pitchFamily="34" charset="0"/>
              </a:rPr>
              <a:t>：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dirty="0">
                <a:sym typeface="Calibri" pitchFamily="34" charset="0"/>
              </a:rPr>
              <a:t>   </a:t>
            </a:r>
            <a:r>
              <a:rPr lang="en-US" altLang="zh-CN" sz="2200" dirty="0">
                <a:sym typeface="Calibri" pitchFamily="34" charset="0"/>
              </a:rPr>
              <a:t>		      </a:t>
            </a:r>
            <a:r>
              <a:rPr lang="zh-CN" altLang="en-US" sz="2200" dirty="0">
                <a:sym typeface="Calibri" pitchFamily="34" charset="0"/>
              </a:rPr>
              <a:t> 若</a:t>
            </a:r>
            <a:r>
              <a:rPr lang="en-US" altLang="zh-CN" sz="2200" i="1" dirty="0">
                <a:sym typeface="Calibri" pitchFamily="34" charset="0"/>
              </a:rPr>
              <a:t>Y</a:t>
            </a:r>
            <a:r>
              <a:rPr lang="en-US" altLang="zh-CN" sz="2200" dirty="0">
                <a:sym typeface="Calibri" pitchFamily="34" charset="0"/>
              </a:rPr>
              <a:t>=</a:t>
            </a:r>
            <a:r>
              <a:rPr lang="en-US" altLang="zh-CN" sz="2200" i="1" dirty="0">
                <a:sym typeface="Calibri" pitchFamily="34" charset="0"/>
              </a:rPr>
              <a:t>A</a:t>
            </a:r>
            <a:r>
              <a:rPr lang="en-US" altLang="zh-CN" sz="2200" i="1" baseline="-25000" dirty="0">
                <a:sym typeface="Calibri" pitchFamily="34" charset="0"/>
              </a:rPr>
              <a:t>1</a:t>
            </a:r>
            <a:r>
              <a:rPr lang="en-US" altLang="zh-CN" sz="2200" i="1" dirty="0">
                <a:sym typeface="Calibri" pitchFamily="34" charset="0"/>
              </a:rPr>
              <a:t>A</a:t>
            </a:r>
            <a:r>
              <a:rPr lang="en-US" altLang="zh-CN" sz="2200" i="1" baseline="-25000" dirty="0">
                <a:sym typeface="Calibri" pitchFamily="34" charset="0"/>
              </a:rPr>
              <a:t>2</a:t>
            </a:r>
            <a:r>
              <a:rPr lang="en-US" altLang="zh-CN" sz="2200" i="1" dirty="0">
                <a:sym typeface="Calibri" pitchFamily="34" charset="0"/>
              </a:rPr>
              <a:t> …</a:t>
            </a:r>
            <a:r>
              <a:rPr lang="en-US" altLang="zh-CN" sz="2200" i="1" dirty="0" err="1">
                <a:sym typeface="Calibri" pitchFamily="34" charset="0"/>
              </a:rPr>
              <a:t>A</a:t>
            </a:r>
            <a:r>
              <a:rPr lang="en-US" altLang="zh-CN" sz="2200" i="1" baseline="-25000" dirty="0" err="1">
                <a:sym typeface="Calibri" pitchFamily="34" charset="0"/>
              </a:rPr>
              <a:t>k</a:t>
            </a:r>
            <a:r>
              <a:rPr lang="zh-CN" altLang="en-US" sz="2200" dirty="0">
                <a:sym typeface="Calibri" pitchFamily="34" charset="0"/>
              </a:rPr>
              <a:t>，</a:t>
            </a:r>
            <a:r>
              <a:rPr lang="en-US" altLang="zh-CN" sz="2200" i="1" dirty="0">
                <a:sym typeface="Calibri" pitchFamily="34" charset="0"/>
              </a:rPr>
              <a:t>k</a:t>
            </a:r>
            <a:r>
              <a:rPr lang="en-US" altLang="zh-CN" sz="2200" dirty="0">
                <a:sym typeface="Calibri" pitchFamily="34" charset="0"/>
              </a:rPr>
              <a:t>≥2</a:t>
            </a:r>
            <a:r>
              <a:rPr lang="zh-CN" altLang="en-US" sz="2200" dirty="0">
                <a:sym typeface="Calibri" pitchFamily="34" charset="0"/>
              </a:rPr>
              <a:t>，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dirty="0">
                <a:sym typeface="Calibri" pitchFamily="34" charset="0"/>
              </a:rPr>
              <a:t>    </a:t>
            </a:r>
            <a:r>
              <a:rPr lang="en-US" altLang="zh-CN" sz="2200" dirty="0">
                <a:sym typeface="Calibri" pitchFamily="34" charset="0"/>
              </a:rPr>
              <a:t>		       </a:t>
            </a:r>
            <a:r>
              <a:rPr lang="zh-CN" altLang="en-US" sz="2200" dirty="0">
                <a:sym typeface="Calibri" pitchFamily="34" charset="0"/>
              </a:rPr>
              <a:t>则用</a:t>
            </a:r>
            <a:r>
              <a:rPr lang="en-US" altLang="zh-CN" sz="2200" dirty="0">
                <a:sym typeface="Calibri" pitchFamily="34" charset="0"/>
              </a:rPr>
              <a:t>{</a:t>
            </a:r>
            <a:r>
              <a:rPr lang="en-US" altLang="zh-CN" sz="2200" i="1" dirty="0" err="1">
                <a:sym typeface="Calibri" pitchFamily="34" charset="0"/>
              </a:rPr>
              <a:t>X</a:t>
            </a:r>
            <a:r>
              <a:rPr lang="en-US" altLang="zh-CN" sz="2200" dirty="0" err="1">
                <a:sym typeface="Calibri" pitchFamily="34" charset="0"/>
              </a:rPr>
              <a:t>→</a:t>
            </a:r>
            <a:r>
              <a:rPr lang="en-US" altLang="zh-CN" sz="2200" i="1" dirty="0" err="1">
                <a:sym typeface="Calibri" pitchFamily="34" charset="0"/>
              </a:rPr>
              <a:t>A</a:t>
            </a:r>
            <a:r>
              <a:rPr lang="en-US" altLang="zh-CN" sz="2200" i="1" baseline="-25000" dirty="0" err="1">
                <a:sym typeface="Calibri" pitchFamily="34" charset="0"/>
              </a:rPr>
              <a:t>j</a:t>
            </a:r>
            <a:r>
              <a:rPr lang="en-US" altLang="zh-CN" sz="2200" dirty="0">
                <a:sym typeface="Calibri" pitchFamily="34" charset="0"/>
              </a:rPr>
              <a:t> </a:t>
            </a:r>
            <a:r>
              <a:rPr lang="en-US" altLang="zh-CN" dirty="0">
                <a:sym typeface="Calibri" pitchFamily="34" charset="0"/>
              </a:rPr>
              <a:t>|</a:t>
            </a:r>
            <a:r>
              <a:rPr lang="en-US" altLang="zh-CN" sz="2200" dirty="0">
                <a:sym typeface="Calibri" pitchFamily="34" charset="0"/>
              </a:rPr>
              <a:t> </a:t>
            </a:r>
            <a:r>
              <a:rPr lang="en-US" altLang="zh-CN" sz="2200" i="1" dirty="0">
                <a:sym typeface="Calibri" pitchFamily="34" charset="0"/>
              </a:rPr>
              <a:t>j</a:t>
            </a:r>
            <a:r>
              <a:rPr lang="en-US" altLang="zh-CN" sz="2200" dirty="0">
                <a:sym typeface="Calibri" pitchFamily="34" charset="0"/>
              </a:rPr>
              <a:t>=1</a:t>
            </a:r>
            <a:r>
              <a:rPr lang="zh-CN" altLang="en-US" sz="2200" dirty="0">
                <a:sym typeface="Calibri" pitchFamily="34" charset="0"/>
              </a:rPr>
              <a:t>,</a:t>
            </a:r>
            <a:r>
              <a:rPr lang="en-US" altLang="zh-CN" sz="2200" dirty="0">
                <a:sym typeface="Calibri" pitchFamily="34" charset="0"/>
              </a:rPr>
              <a:t>2</a:t>
            </a:r>
            <a:r>
              <a:rPr lang="zh-CN" altLang="en-US" sz="2200" dirty="0">
                <a:sym typeface="Calibri" pitchFamily="34" charset="0"/>
              </a:rPr>
              <a:t>,</a:t>
            </a:r>
            <a:r>
              <a:rPr lang="en-US" altLang="zh-CN" sz="2200" dirty="0">
                <a:sym typeface="Calibri" pitchFamily="34" charset="0"/>
              </a:rPr>
              <a:t>…</a:t>
            </a:r>
            <a:r>
              <a:rPr lang="zh-CN" altLang="en-US" sz="2200" dirty="0">
                <a:sym typeface="Calibri" pitchFamily="34" charset="0"/>
              </a:rPr>
              <a:t>,</a:t>
            </a:r>
            <a:r>
              <a:rPr lang="en-US" altLang="zh-CN" sz="2200" i="1" dirty="0">
                <a:sym typeface="Calibri" pitchFamily="34" charset="0"/>
              </a:rPr>
              <a:t>k</a:t>
            </a:r>
            <a:r>
              <a:rPr lang="en-US" altLang="zh-CN" sz="2200" dirty="0">
                <a:sym typeface="Calibri" pitchFamily="34" charset="0"/>
              </a:rPr>
              <a:t>}</a:t>
            </a:r>
            <a:r>
              <a:rPr lang="zh-CN" altLang="en-US" sz="2200" dirty="0">
                <a:sym typeface="Calibri" pitchFamily="34" charset="0"/>
              </a:rPr>
              <a:t>来取代</a:t>
            </a:r>
            <a:r>
              <a:rPr lang="en-US" altLang="zh-CN" sz="2200" i="1" dirty="0">
                <a:sym typeface="Calibri" pitchFamily="34" charset="0"/>
              </a:rPr>
              <a:t>X</a:t>
            </a:r>
            <a:r>
              <a:rPr lang="en-US" altLang="zh-CN" sz="2200" dirty="0">
                <a:sym typeface="Calibri" pitchFamily="34" charset="0"/>
              </a:rPr>
              <a:t>→</a:t>
            </a:r>
            <a:r>
              <a:rPr lang="en-US" altLang="zh-CN" sz="2200" i="1" dirty="0">
                <a:sym typeface="Calibri" pitchFamily="34" charset="0"/>
              </a:rPr>
              <a:t>Y</a:t>
            </a:r>
            <a:r>
              <a:rPr lang="zh-CN" altLang="en-US" sz="2200" dirty="0">
                <a:sym typeface="Calibri" pitchFamily="34" charset="0"/>
              </a:rPr>
              <a:t>。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dirty="0">
                <a:sym typeface="Calibri" pitchFamily="34" charset="0"/>
              </a:rPr>
              <a:t>    </a:t>
            </a:r>
            <a:r>
              <a:rPr lang="en-US" altLang="zh-CN" sz="2200" dirty="0">
                <a:sym typeface="Calibri" pitchFamily="34" charset="0"/>
              </a:rPr>
              <a:t>		       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  <a:hlinkClick r:id="" action="ppaction://noaction"/>
              </a:rPr>
              <a:t>引理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  <a:hlinkClick r:id="" action="ppaction://noaction"/>
              </a:rPr>
              <a:t>6.1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保证了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F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变换前后的等价性。</a:t>
            </a:r>
            <a:endParaRPr lang="zh-CN" altLang="en-US" sz="22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16740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b="1">
                <a:solidFill>
                  <a:schemeClr val="bg1"/>
                </a:solidFill>
                <a:sym typeface="微软雅黑" pitchFamily="34" charset="-122"/>
              </a:rPr>
              <a:t>求最小覆盖</a:t>
            </a:r>
            <a:r>
              <a:rPr lang="zh-CN" altLang="en-US" sz="3600">
                <a:sym typeface="微软雅黑" pitchFamily="34" charset="-122"/>
              </a:rPr>
              <a:t>（</a:t>
            </a:r>
            <a:r>
              <a:rPr lang="zh-CN" altLang="en-US" sz="3600" dirty="0">
                <a:sym typeface="微软雅黑" pitchFamily="34" charset="-122"/>
              </a:rPr>
              <a:t>续）</a:t>
            </a:r>
          </a:p>
        </p:txBody>
      </p:sp>
      <p:sp>
        <p:nvSpPr>
          <p:cNvPr id="116741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323528" y="980728"/>
            <a:ext cx="8229600" cy="2952328"/>
          </a:xfrm>
        </p:spPr>
        <p:txBody>
          <a:bodyPr/>
          <a:lstStyle/>
          <a:p>
            <a:pPr lvl="2">
              <a:lnSpc>
                <a:spcPct val="150000"/>
              </a:lnSpc>
              <a:buNone/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2</a:t>
            </a:r>
            <a:r>
              <a:rPr lang="zh-CN" altLang="en-US" dirty="0">
                <a:sym typeface="Calibri" pitchFamily="34" charset="0"/>
              </a:rPr>
              <a:t>）逐一检查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中各函数依赖</a:t>
            </a:r>
            <a:r>
              <a:rPr lang="en-US" altLang="zh-CN" i="1" dirty="0" err="1">
                <a:sym typeface="Calibri" pitchFamily="34" charset="0"/>
              </a:rPr>
              <a:t>FD</a:t>
            </a:r>
            <a:r>
              <a:rPr lang="en-US" altLang="zh-CN" i="1" baseline="-25000" dirty="0" err="1">
                <a:sym typeface="Calibri" pitchFamily="34" charset="0"/>
              </a:rPr>
              <a:t>i</a:t>
            </a:r>
            <a:r>
              <a:rPr lang="zh-CN" altLang="en-US" dirty="0">
                <a:sym typeface="Calibri" pitchFamily="34" charset="0"/>
              </a:rPr>
              <a:t>：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zh-CN" altLang="en-US" dirty="0">
                <a:sym typeface="Calibri" pitchFamily="34" charset="0"/>
              </a:rPr>
              <a:t>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ym typeface="Calibri" pitchFamily="34" charset="0"/>
              </a:rPr>
              <a:t>    </a:t>
            </a:r>
            <a:r>
              <a:rPr lang="en-US" altLang="zh-CN" sz="2200" dirty="0">
                <a:sym typeface="Calibri" pitchFamily="34" charset="0"/>
              </a:rPr>
              <a:t>	        </a:t>
            </a:r>
            <a:r>
              <a:rPr lang="zh-CN" altLang="en-US" sz="2200" dirty="0">
                <a:sym typeface="Calibri" pitchFamily="34" charset="0"/>
              </a:rPr>
              <a:t>令</a:t>
            </a:r>
            <a:r>
              <a:rPr lang="en-US" altLang="zh-CN" sz="2200" i="1" dirty="0">
                <a:sym typeface="Calibri" pitchFamily="34" charset="0"/>
              </a:rPr>
              <a:t>G</a:t>
            </a:r>
            <a:r>
              <a:rPr lang="en-US" altLang="zh-CN" sz="2200" dirty="0">
                <a:sym typeface="Calibri" pitchFamily="34" charset="0"/>
              </a:rPr>
              <a:t>=</a:t>
            </a:r>
            <a:r>
              <a:rPr lang="en-US" altLang="zh-CN" sz="2200" i="1" dirty="0">
                <a:sym typeface="Calibri" pitchFamily="34" charset="0"/>
              </a:rPr>
              <a:t>F</a:t>
            </a:r>
            <a:r>
              <a:rPr lang="en-US" altLang="zh-CN" sz="2200" dirty="0">
                <a:sym typeface="Calibri" pitchFamily="34" charset="0"/>
              </a:rPr>
              <a:t>-{</a:t>
            </a:r>
            <a:r>
              <a:rPr lang="en-US" altLang="zh-CN" sz="2200" i="1" dirty="0">
                <a:sym typeface="Calibri" pitchFamily="34" charset="0"/>
              </a:rPr>
              <a:t>X</a:t>
            </a:r>
            <a:r>
              <a:rPr lang="en-US" altLang="zh-CN" sz="2200" dirty="0">
                <a:sym typeface="Calibri" pitchFamily="34" charset="0"/>
              </a:rPr>
              <a:t>→</a:t>
            </a:r>
            <a:r>
              <a:rPr lang="en-US" altLang="zh-CN" sz="2200" i="1" dirty="0">
                <a:sym typeface="Calibri" pitchFamily="34" charset="0"/>
              </a:rPr>
              <a:t>A</a:t>
            </a:r>
            <a:r>
              <a:rPr lang="en-US" altLang="zh-CN" sz="2200" dirty="0">
                <a:sym typeface="Calibri" pitchFamily="34" charset="0"/>
              </a:rPr>
              <a:t>}</a:t>
            </a:r>
            <a:r>
              <a:rPr lang="zh-CN" altLang="en-US" sz="2200" dirty="0">
                <a:sym typeface="Calibri" pitchFamily="34" charset="0"/>
              </a:rPr>
              <a:t>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ym typeface="Calibri" pitchFamily="34" charset="0"/>
              </a:rPr>
              <a:t>   </a:t>
            </a:r>
            <a:r>
              <a:rPr lang="en-US" altLang="zh-CN" sz="2200" dirty="0">
                <a:sym typeface="Calibri" pitchFamily="34" charset="0"/>
              </a:rPr>
              <a:t>	      </a:t>
            </a:r>
            <a:r>
              <a:rPr lang="zh-CN" altLang="en-US" sz="2200" dirty="0">
                <a:sym typeface="Calibri" pitchFamily="34" charset="0"/>
              </a:rPr>
              <a:t> 若</a:t>
            </a:r>
            <a:r>
              <a:rPr lang="en-US" altLang="zh-CN" sz="2200" i="1" dirty="0">
                <a:sym typeface="Calibri" pitchFamily="34" charset="0"/>
              </a:rPr>
              <a:t>A</a:t>
            </a:r>
            <a:r>
              <a:rPr lang="en-US" altLang="zh-CN" sz="2200" dirty="0">
                <a:sym typeface="Symbol" pitchFamily="18" charset="2"/>
              </a:rPr>
              <a:t></a:t>
            </a:r>
            <a:r>
              <a:rPr lang="en-US" altLang="zh-CN" sz="2200" i="1" dirty="0">
                <a:sym typeface="Calibri" pitchFamily="34" charset="0"/>
              </a:rPr>
              <a:t>X</a:t>
            </a:r>
            <a:r>
              <a:rPr lang="en-US" altLang="zh-CN" sz="2200" i="1" baseline="-25000" dirty="0">
                <a:sym typeface="Calibri" pitchFamily="34" charset="0"/>
              </a:rPr>
              <a:t>G</a:t>
            </a:r>
            <a:r>
              <a:rPr lang="en-US" altLang="zh-CN" sz="2200" baseline="30000" dirty="0">
                <a:sym typeface="Calibri" pitchFamily="34" charset="0"/>
              </a:rPr>
              <a:t>+</a:t>
            </a:r>
            <a:r>
              <a:rPr lang="zh-CN" altLang="en-US" sz="2200" dirty="0">
                <a:sym typeface="Calibri" pitchFamily="34" charset="0"/>
              </a:rPr>
              <a:t>，则从</a:t>
            </a:r>
            <a:r>
              <a:rPr lang="en-US" altLang="zh-CN" sz="2200" i="1" dirty="0">
                <a:sym typeface="Calibri" pitchFamily="34" charset="0"/>
              </a:rPr>
              <a:t>F</a:t>
            </a:r>
            <a:r>
              <a:rPr lang="zh-CN" altLang="en-US" sz="2200" dirty="0">
                <a:sym typeface="Calibri" pitchFamily="34" charset="0"/>
              </a:rPr>
              <a:t>中去掉此函数依赖。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ym typeface="Calibri" pitchFamily="34" charset="0"/>
              </a:rPr>
              <a:t>   </a:t>
            </a:r>
            <a:r>
              <a:rPr lang="en-US" altLang="zh-CN" sz="2200" dirty="0">
                <a:sym typeface="Calibri" pitchFamily="34" charset="0"/>
              </a:rPr>
              <a:t>	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   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    由于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F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与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G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 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等价的充要条件是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A</a:t>
            </a:r>
            <a:r>
              <a:rPr lang="en-US" altLang="zh-CN" sz="2200" dirty="0">
                <a:solidFill>
                  <a:srgbClr val="FF00FF"/>
                </a:solidFill>
                <a:sym typeface="Symbol" pitchFamily="18" charset="2"/>
              </a:rPr>
              <a:t>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X</a:t>
            </a:r>
            <a:r>
              <a:rPr lang="en-US" altLang="zh-CN" sz="2200" i="1" baseline="-25000" dirty="0">
                <a:solidFill>
                  <a:srgbClr val="FF00FF"/>
                </a:solidFill>
                <a:sym typeface="Calibri" pitchFamily="34" charset="0"/>
              </a:rPr>
              <a:t>G</a:t>
            </a:r>
            <a:r>
              <a:rPr lang="en-US" altLang="zh-CN" sz="2200" baseline="30000" dirty="0">
                <a:solidFill>
                  <a:srgbClr val="FF00FF"/>
                </a:solidFill>
                <a:sym typeface="Calibri" pitchFamily="34" charset="0"/>
              </a:rPr>
              <a:t>+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   	       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因此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F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变换前后是等价的。</a:t>
            </a:r>
            <a:endParaRPr lang="zh-CN" altLang="en-US" dirty="0">
              <a:solidFill>
                <a:srgbClr val="FF00F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B27486-86C8-A6B9-9463-FE2A1C91DA71}"/>
              </a:ext>
            </a:extLst>
          </p:cNvPr>
          <p:cNvSpPr txBox="1"/>
          <p:nvPr/>
        </p:nvSpPr>
        <p:spPr>
          <a:xfrm>
            <a:off x="1907704" y="4284264"/>
            <a:ext cx="4816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F=</a:t>
            </a:r>
            <a:r>
              <a:rPr lang="en-US" altLang="zh-CN" sz="1800" i="1" dirty="0">
                <a:solidFill>
                  <a:srgbClr val="0070C0"/>
                </a:solidFill>
                <a:sym typeface="Calibri" pitchFamily="34" charset="0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{…,…,</a:t>
            </a:r>
            <a:r>
              <a:rPr lang="en-US" altLang="zh-CN" sz="1800" i="1" dirty="0" err="1">
                <a:solidFill>
                  <a:srgbClr val="0070C0"/>
                </a:solidFill>
                <a:sym typeface="Calibri" pitchFamily="34" charset="0"/>
              </a:rPr>
              <a:t>X</a:t>
            </a:r>
            <a:r>
              <a:rPr lang="en-US" altLang="zh-CN" sz="1800" dirty="0" err="1">
                <a:solidFill>
                  <a:srgbClr val="0070C0"/>
                </a:solidFill>
                <a:sym typeface="Calibri" pitchFamily="34" charset="0"/>
              </a:rPr>
              <a:t>→</a:t>
            </a:r>
            <a:r>
              <a:rPr lang="en-US" altLang="zh-CN" sz="1800" i="1" dirty="0" err="1">
                <a:solidFill>
                  <a:srgbClr val="0070C0"/>
                </a:solidFill>
                <a:sym typeface="Calibri" pitchFamily="34" charset="0"/>
              </a:rPr>
              <a:t>A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,…,…}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D8109D-B19A-9B48-0436-1670D2E5D128}"/>
              </a:ext>
            </a:extLst>
          </p:cNvPr>
          <p:cNvSpPr txBox="1"/>
          <p:nvPr/>
        </p:nvSpPr>
        <p:spPr>
          <a:xfrm>
            <a:off x="1907704" y="4967551"/>
            <a:ext cx="4816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i="1" dirty="0">
                <a:solidFill>
                  <a:srgbClr val="0070C0"/>
                </a:solidFill>
                <a:sym typeface="Calibri" pitchFamily="34" charset="0"/>
              </a:rPr>
              <a:t>G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=</a:t>
            </a:r>
            <a:r>
              <a:rPr lang="en-US" altLang="zh-CN" sz="1800" i="1" dirty="0">
                <a:solidFill>
                  <a:srgbClr val="0070C0"/>
                </a:solidFill>
                <a:sym typeface="Calibri" pitchFamily="34" charset="0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{…,…,…,…}</a:t>
            </a:r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141F88DF-52F6-5C43-FCD8-B1ABA89A91ED}"/>
              </a:ext>
            </a:extLst>
          </p:cNvPr>
          <p:cNvSpPr/>
          <p:nvPr/>
        </p:nvSpPr>
        <p:spPr bwMode="auto">
          <a:xfrm>
            <a:off x="2987824" y="4725144"/>
            <a:ext cx="189735" cy="288032"/>
          </a:xfrm>
          <a:prstGeom prst="upArrow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384983-CCB6-BA2A-A07F-B7470E048BF8}"/>
              </a:ext>
            </a:extLst>
          </p:cNvPr>
          <p:cNvSpPr txBox="1"/>
          <p:nvPr/>
        </p:nvSpPr>
        <p:spPr>
          <a:xfrm>
            <a:off x="3203225" y="4684494"/>
            <a:ext cx="864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i="1" dirty="0" err="1">
                <a:solidFill>
                  <a:srgbClr val="FF00FF"/>
                </a:solidFill>
                <a:sym typeface="Calibri" pitchFamily="34" charset="0"/>
              </a:rPr>
              <a:t>A</a:t>
            </a:r>
            <a:r>
              <a:rPr lang="en-US" altLang="zh-CN" sz="1800" dirty="0" err="1">
                <a:solidFill>
                  <a:srgbClr val="FF00FF"/>
                </a:solidFill>
                <a:sym typeface="Symbol" pitchFamily="18" charset="2"/>
              </a:rPr>
              <a:t></a:t>
            </a:r>
            <a:r>
              <a:rPr lang="en-US" altLang="zh-CN" sz="1800" i="1" dirty="0" err="1">
                <a:solidFill>
                  <a:srgbClr val="FF00FF"/>
                </a:solidFill>
                <a:sym typeface="Calibri" pitchFamily="34" charset="0"/>
              </a:rPr>
              <a:t>X</a:t>
            </a:r>
            <a:r>
              <a:rPr lang="en-US" altLang="zh-CN" sz="1800" i="1" baseline="-25000" dirty="0" err="1">
                <a:solidFill>
                  <a:srgbClr val="FF00FF"/>
                </a:solidFill>
                <a:sym typeface="Calibri" pitchFamily="34" charset="0"/>
              </a:rPr>
              <a:t>G</a:t>
            </a:r>
            <a:r>
              <a:rPr lang="en-US" altLang="zh-CN" sz="1800" baseline="30000" dirty="0">
                <a:solidFill>
                  <a:srgbClr val="FF00FF"/>
                </a:solidFill>
                <a:sym typeface="Calibri" pitchFamily="34" charset="0"/>
              </a:rPr>
              <a:t>+ 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b="1">
                <a:solidFill>
                  <a:schemeClr val="bg1"/>
                </a:solidFill>
                <a:sym typeface="微软雅黑" pitchFamily="34" charset="-122"/>
              </a:rPr>
              <a:t>求最小覆盖</a:t>
            </a:r>
            <a:r>
              <a:rPr lang="zh-CN" altLang="en-US" sz="3600">
                <a:sym typeface="微软雅黑" pitchFamily="34" charset="-122"/>
              </a:rPr>
              <a:t>（</a:t>
            </a:r>
            <a:r>
              <a:rPr lang="zh-CN" altLang="en-US" sz="3600" dirty="0">
                <a:sym typeface="微软雅黑" pitchFamily="34" charset="-122"/>
              </a:rPr>
              <a:t>续）</a:t>
            </a:r>
          </a:p>
        </p:txBody>
      </p:sp>
      <p:sp>
        <p:nvSpPr>
          <p:cNvPr id="11776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95536" y="908721"/>
            <a:ext cx="8229600" cy="4536504"/>
          </a:xfrm>
        </p:spPr>
        <p:txBody>
          <a:bodyPr/>
          <a:lstStyle/>
          <a:p>
            <a:pPr lvl="2">
              <a:lnSpc>
                <a:spcPct val="90000"/>
              </a:lnSpc>
              <a:buNone/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3</a:t>
            </a:r>
            <a:r>
              <a:rPr lang="zh-CN" altLang="en-US" dirty="0">
                <a:sym typeface="Calibri" pitchFamily="34" charset="0"/>
              </a:rPr>
              <a:t>）逐一取出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中各函数依赖</a:t>
            </a:r>
            <a:r>
              <a:rPr lang="en-US" altLang="zh-CN" i="1" dirty="0" err="1">
                <a:sym typeface="Calibri" pitchFamily="34" charset="0"/>
              </a:rPr>
              <a:t>FD</a:t>
            </a:r>
            <a:r>
              <a:rPr lang="en-US" altLang="zh-CN" i="1" baseline="-25000" dirty="0" err="1">
                <a:sym typeface="Calibri" pitchFamily="34" charset="0"/>
              </a:rPr>
              <a:t>i</a:t>
            </a:r>
            <a:r>
              <a:rPr lang="zh-CN" altLang="en-US" dirty="0">
                <a:sym typeface="Calibri" pitchFamily="34" charset="0"/>
              </a:rPr>
              <a:t>：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zh-CN" altLang="en-US" dirty="0">
                <a:sym typeface="Calibri" pitchFamily="34" charset="0"/>
              </a:rPr>
              <a:t>，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200" dirty="0">
                <a:sym typeface="Calibri" pitchFamily="34" charset="0"/>
              </a:rPr>
              <a:t>    </a:t>
            </a:r>
            <a:r>
              <a:rPr lang="en-US" altLang="zh-CN" sz="2200" dirty="0">
                <a:sym typeface="Calibri" pitchFamily="34" charset="0"/>
              </a:rPr>
              <a:t>	       </a:t>
            </a:r>
            <a:r>
              <a:rPr lang="zh-CN" altLang="en-US" sz="2200" dirty="0">
                <a:sym typeface="Calibri" pitchFamily="34" charset="0"/>
              </a:rPr>
              <a:t>设</a:t>
            </a:r>
            <a:r>
              <a:rPr lang="en-US" altLang="zh-CN" sz="2200" i="1" dirty="0">
                <a:sym typeface="Calibri" pitchFamily="34" charset="0"/>
              </a:rPr>
              <a:t>X</a:t>
            </a:r>
            <a:r>
              <a:rPr lang="en-US" altLang="zh-CN" sz="2200" dirty="0">
                <a:sym typeface="Calibri" pitchFamily="34" charset="0"/>
              </a:rPr>
              <a:t>=</a:t>
            </a:r>
            <a:r>
              <a:rPr lang="en-US" altLang="zh-CN" sz="2200" i="1" dirty="0">
                <a:sym typeface="Calibri" pitchFamily="34" charset="0"/>
              </a:rPr>
              <a:t>B</a:t>
            </a:r>
            <a:r>
              <a:rPr lang="en-US" altLang="zh-CN" sz="2200" i="1" baseline="-25000" dirty="0">
                <a:sym typeface="Calibri" pitchFamily="34" charset="0"/>
              </a:rPr>
              <a:t>1</a:t>
            </a:r>
            <a:r>
              <a:rPr lang="en-US" altLang="zh-CN" sz="2200" i="1" dirty="0">
                <a:sym typeface="Calibri" pitchFamily="34" charset="0"/>
              </a:rPr>
              <a:t>B</a:t>
            </a:r>
            <a:r>
              <a:rPr lang="en-US" altLang="zh-CN" sz="2200" i="1" baseline="-25000" dirty="0">
                <a:sym typeface="Calibri" pitchFamily="34" charset="0"/>
              </a:rPr>
              <a:t>2</a:t>
            </a:r>
            <a:r>
              <a:rPr lang="en-US" altLang="zh-CN" sz="2200" i="1" dirty="0">
                <a:sym typeface="Calibri" pitchFamily="34" charset="0"/>
              </a:rPr>
              <a:t>…</a:t>
            </a:r>
            <a:r>
              <a:rPr lang="en-US" altLang="zh-CN" sz="2200" i="1" dirty="0" err="1">
                <a:sym typeface="Calibri" pitchFamily="34" charset="0"/>
              </a:rPr>
              <a:t>B</a:t>
            </a:r>
            <a:r>
              <a:rPr lang="en-US" altLang="zh-CN" sz="2200" i="1" baseline="-25000" dirty="0" err="1">
                <a:sym typeface="Calibri" pitchFamily="34" charset="0"/>
              </a:rPr>
              <a:t>m</a:t>
            </a:r>
            <a:r>
              <a:rPr lang="zh-CN" altLang="en-US" sz="2200" dirty="0">
                <a:sym typeface="Calibri" pitchFamily="34" charset="0"/>
              </a:rPr>
              <a:t>，</a:t>
            </a:r>
            <a:r>
              <a:rPr lang="en-US" altLang="zh-CN" sz="2200" i="1" dirty="0">
                <a:sym typeface="Calibri" pitchFamily="34" charset="0"/>
              </a:rPr>
              <a:t>m</a:t>
            </a:r>
            <a:r>
              <a:rPr lang="en-US" altLang="zh-CN" sz="2200" dirty="0">
                <a:sym typeface="Calibri" pitchFamily="34" charset="0"/>
              </a:rPr>
              <a:t>≥2</a:t>
            </a:r>
            <a:r>
              <a:rPr lang="zh-CN" altLang="en-US" sz="2200" dirty="0">
                <a:sym typeface="Calibri" pitchFamily="34" charset="0"/>
              </a:rPr>
              <a:t>，</a:t>
            </a:r>
            <a:endParaRPr lang="en-US" altLang="zh-CN" sz="2200" dirty="0">
              <a:sym typeface="Calibri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200" dirty="0">
                <a:sym typeface="Calibri" pitchFamily="34" charset="0"/>
              </a:rPr>
              <a:t>                   </a:t>
            </a:r>
            <a:r>
              <a:rPr lang="zh-CN" altLang="en-US" sz="2200" dirty="0">
                <a:sym typeface="Calibri" pitchFamily="34" charset="0"/>
              </a:rPr>
              <a:t>逐一考查</a:t>
            </a:r>
            <a:r>
              <a:rPr lang="en-US" altLang="zh-CN" sz="2200" i="1" dirty="0">
                <a:sym typeface="Calibri" pitchFamily="34" charset="0"/>
              </a:rPr>
              <a:t>B</a:t>
            </a:r>
            <a:r>
              <a:rPr lang="en-US" altLang="zh-CN" sz="2200" i="1" baseline="-25000" dirty="0">
                <a:sym typeface="Calibri" pitchFamily="34" charset="0"/>
              </a:rPr>
              <a:t>i</a:t>
            </a:r>
            <a:r>
              <a:rPr lang="en-US" altLang="zh-CN" sz="2200" i="1" dirty="0">
                <a:sym typeface="Calibri" pitchFamily="34" charset="0"/>
              </a:rPr>
              <a:t> </a:t>
            </a:r>
            <a:r>
              <a:rPr lang="zh-CN" altLang="en-US" sz="2200" dirty="0">
                <a:sym typeface="Calibri" pitchFamily="34" charset="0"/>
              </a:rPr>
              <a:t>（</a:t>
            </a:r>
            <a:r>
              <a:rPr lang="en-US" altLang="zh-CN" sz="2200" i="1" dirty="0">
                <a:sym typeface="Calibri" pitchFamily="34" charset="0"/>
              </a:rPr>
              <a:t>i</a:t>
            </a:r>
            <a:r>
              <a:rPr lang="en-US" altLang="zh-CN" sz="2200" dirty="0">
                <a:sym typeface="Calibri" pitchFamily="34" charset="0"/>
              </a:rPr>
              <a:t>=1</a:t>
            </a:r>
            <a:r>
              <a:rPr lang="zh-CN" altLang="en-US" sz="2200" dirty="0">
                <a:sym typeface="Calibri" pitchFamily="34" charset="0"/>
              </a:rPr>
              <a:t>，</a:t>
            </a:r>
            <a:r>
              <a:rPr lang="en-US" altLang="zh-CN" sz="2200" dirty="0">
                <a:sym typeface="Calibri" pitchFamily="34" charset="0"/>
              </a:rPr>
              <a:t>2</a:t>
            </a:r>
            <a:r>
              <a:rPr lang="zh-CN" altLang="en-US" sz="2200" dirty="0">
                <a:sym typeface="Calibri" pitchFamily="34" charset="0"/>
              </a:rPr>
              <a:t>，</a:t>
            </a:r>
            <a:r>
              <a:rPr lang="en-US" altLang="zh-CN" sz="2200" dirty="0">
                <a:sym typeface="Calibri" pitchFamily="34" charset="0"/>
              </a:rPr>
              <a:t>…</a:t>
            </a:r>
            <a:r>
              <a:rPr lang="zh-CN" altLang="en-US" sz="2200" dirty="0">
                <a:sym typeface="Calibri" pitchFamily="34" charset="0"/>
              </a:rPr>
              <a:t>，</a:t>
            </a:r>
            <a:r>
              <a:rPr lang="en-US" altLang="zh-CN" sz="2200" i="1" dirty="0">
                <a:sym typeface="Calibri" pitchFamily="34" charset="0"/>
              </a:rPr>
              <a:t>m</a:t>
            </a:r>
            <a:r>
              <a:rPr lang="zh-CN" altLang="en-US" sz="2200" dirty="0">
                <a:sym typeface="Calibri" pitchFamily="34" charset="0"/>
              </a:rPr>
              <a:t>），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200" dirty="0">
                <a:sym typeface="Calibri" pitchFamily="34" charset="0"/>
              </a:rPr>
              <a:t>    </a:t>
            </a:r>
            <a:r>
              <a:rPr lang="en-US" altLang="zh-CN" sz="2200" dirty="0">
                <a:sym typeface="Calibri" pitchFamily="34" charset="0"/>
              </a:rPr>
              <a:t>	       </a:t>
            </a:r>
            <a:r>
              <a:rPr lang="zh-CN" altLang="en-US" sz="2200" dirty="0">
                <a:sym typeface="Calibri" pitchFamily="34" charset="0"/>
              </a:rPr>
              <a:t>若</a:t>
            </a:r>
            <a:r>
              <a:rPr lang="en-US" altLang="zh-CN" sz="2200" i="1" dirty="0">
                <a:sym typeface="Calibri" pitchFamily="34" charset="0"/>
              </a:rPr>
              <a:t>A</a:t>
            </a:r>
            <a:r>
              <a:rPr lang="en-US" altLang="zh-CN" sz="2200" dirty="0">
                <a:sym typeface="Calibri" pitchFamily="34" charset="0"/>
              </a:rPr>
              <a:t> </a:t>
            </a:r>
            <a:r>
              <a:rPr lang="en-US" altLang="zh-CN" sz="2200" dirty="0">
                <a:sym typeface="Symbol" pitchFamily="18" charset="2"/>
              </a:rPr>
              <a:t></a:t>
            </a:r>
            <a:r>
              <a:rPr lang="zh-CN" altLang="en-US" sz="2200" dirty="0">
                <a:sym typeface="Calibri" pitchFamily="34" charset="0"/>
              </a:rPr>
              <a:t>(</a:t>
            </a:r>
            <a:r>
              <a:rPr lang="en-US" altLang="zh-CN" sz="2200" dirty="0">
                <a:sym typeface="Calibri" pitchFamily="34" charset="0"/>
              </a:rPr>
              <a:t>X-B</a:t>
            </a:r>
            <a:r>
              <a:rPr lang="en-US" altLang="zh-CN" sz="2200" i="1" baseline="-25000" dirty="0">
                <a:sym typeface="Calibri" pitchFamily="34" charset="0"/>
              </a:rPr>
              <a:t>i</a:t>
            </a:r>
            <a:r>
              <a:rPr lang="en-US" altLang="zh-CN" sz="2200" baseline="-25000" dirty="0">
                <a:sym typeface="Calibri" pitchFamily="34" charset="0"/>
              </a:rPr>
              <a:t> </a:t>
            </a:r>
            <a:r>
              <a:rPr lang="zh-CN" altLang="en-US" sz="2200" dirty="0">
                <a:sym typeface="Calibri" pitchFamily="34" charset="0"/>
              </a:rPr>
              <a:t>)</a:t>
            </a:r>
            <a:r>
              <a:rPr lang="en-US" altLang="zh-CN" sz="2200" i="1" baseline="-25000" dirty="0">
                <a:sym typeface="Calibri" pitchFamily="34" charset="0"/>
              </a:rPr>
              <a:t>F</a:t>
            </a:r>
            <a:r>
              <a:rPr lang="en-US" altLang="zh-CN" sz="2200" baseline="30000" dirty="0">
                <a:sym typeface="Calibri" pitchFamily="34" charset="0"/>
              </a:rPr>
              <a:t>+</a:t>
            </a:r>
            <a:r>
              <a:rPr lang="zh-CN" altLang="en-US" sz="2200" dirty="0">
                <a:sym typeface="Calibri" pitchFamily="34" charset="0"/>
              </a:rPr>
              <a:t>，则以</a:t>
            </a:r>
            <a:r>
              <a:rPr lang="en-US" altLang="zh-CN" sz="2200" i="1" dirty="0">
                <a:sym typeface="Calibri" pitchFamily="34" charset="0"/>
              </a:rPr>
              <a:t>X</a:t>
            </a:r>
            <a:r>
              <a:rPr lang="en-US" altLang="zh-CN" sz="2200" dirty="0">
                <a:sym typeface="Calibri" pitchFamily="34" charset="0"/>
              </a:rPr>
              <a:t>-</a:t>
            </a:r>
            <a:r>
              <a:rPr lang="en-US" altLang="zh-CN" sz="2200" i="1" dirty="0">
                <a:sym typeface="Calibri" pitchFamily="34" charset="0"/>
              </a:rPr>
              <a:t>B</a:t>
            </a:r>
            <a:r>
              <a:rPr lang="en-US" altLang="zh-CN" sz="2200" i="1" baseline="-25000" dirty="0">
                <a:sym typeface="Calibri" pitchFamily="34" charset="0"/>
              </a:rPr>
              <a:t>i</a:t>
            </a:r>
            <a:r>
              <a:rPr lang="en-US" altLang="zh-CN" sz="2200" dirty="0">
                <a:sym typeface="Calibri" pitchFamily="34" charset="0"/>
              </a:rPr>
              <a:t> </a:t>
            </a:r>
            <a:r>
              <a:rPr lang="zh-CN" altLang="en-US" sz="2200" dirty="0">
                <a:sym typeface="Calibri" pitchFamily="34" charset="0"/>
              </a:rPr>
              <a:t>取代</a:t>
            </a:r>
            <a:r>
              <a:rPr lang="en-US" altLang="zh-CN" sz="2200" i="1" dirty="0">
                <a:sym typeface="Calibri" pitchFamily="34" charset="0"/>
              </a:rPr>
              <a:t>X</a:t>
            </a:r>
            <a:r>
              <a:rPr lang="zh-CN" altLang="en-US" sz="2200" dirty="0">
                <a:sym typeface="Calibri" pitchFamily="34" charset="0"/>
              </a:rPr>
              <a:t>。</a:t>
            </a:r>
            <a:endParaRPr lang="en-US" altLang="zh-CN" sz="2200" dirty="0">
              <a:sym typeface="Calibri" pitchFamily="34" charset="0"/>
            </a:endParaRP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endParaRPr lang="zh-CN" altLang="en-US" sz="2200" dirty="0">
              <a:sym typeface="Calibri" pitchFamily="34" charset="0"/>
            </a:endParaRPr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200" dirty="0">
                <a:sym typeface="Calibri" pitchFamily="34" charset="0"/>
              </a:rPr>
              <a:t>  </a:t>
            </a:r>
            <a:r>
              <a:rPr lang="en-US" altLang="zh-CN" sz="2200" dirty="0">
                <a:sym typeface="Calibri" pitchFamily="34" charset="0"/>
              </a:rPr>
              <a:t>	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由于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F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与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F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-{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X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→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A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}∪{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Z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→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A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}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等价的充要条件是</a:t>
            </a:r>
            <a:endParaRPr lang="en-US" altLang="zh-CN" sz="2200" dirty="0">
              <a:solidFill>
                <a:srgbClr val="FF00FF"/>
              </a:solidFill>
              <a:sym typeface="Calibri" pitchFamily="34" charset="0"/>
            </a:endParaRPr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	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A</a:t>
            </a:r>
            <a:r>
              <a:rPr lang="en-US" altLang="zh-CN" sz="2200" dirty="0">
                <a:solidFill>
                  <a:srgbClr val="FF00FF"/>
                </a:solidFill>
                <a:sym typeface="Symbol" pitchFamily="18" charset="2"/>
              </a:rPr>
              <a:t>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Z</a:t>
            </a:r>
            <a:r>
              <a:rPr lang="en-US" altLang="zh-CN" sz="2200" i="1" baseline="-25000" dirty="0">
                <a:solidFill>
                  <a:srgbClr val="FF00FF"/>
                </a:solidFill>
                <a:sym typeface="Calibri" pitchFamily="34" charset="0"/>
              </a:rPr>
              <a:t>F</a:t>
            </a:r>
            <a:r>
              <a:rPr lang="en-US" altLang="zh-CN" sz="2200" baseline="30000" dirty="0">
                <a:solidFill>
                  <a:srgbClr val="FF00FF"/>
                </a:solidFill>
                <a:sym typeface="Calibri" pitchFamily="34" charset="0"/>
              </a:rPr>
              <a:t>+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 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，其中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Z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=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X</a:t>
            </a:r>
            <a:r>
              <a:rPr lang="en-US" altLang="zh-CN" sz="2200" dirty="0">
                <a:solidFill>
                  <a:srgbClr val="FF00FF"/>
                </a:solidFill>
                <a:sym typeface="Calibri" pitchFamily="34" charset="0"/>
              </a:rPr>
              <a:t>-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B</a:t>
            </a:r>
            <a:r>
              <a:rPr lang="en-US" altLang="zh-CN" sz="2200" i="1" baseline="-25000" dirty="0">
                <a:solidFill>
                  <a:srgbClr val="FF00FF"/>
                </a:solidFill>
                <a:sym typeface="Calibri" pitchFamily="34" charset="0"/>
              </a:rPr>
              <a:t>i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 </a:t>
            </a:r>
            <a:r>
              <a:rPr lang="zh-CN" altLang="en-US" sz="2200" i="1" dirty="0">
                <a:solidFill>
                  <a:srgbClr val="FF00FF"/>
                </a:solidFill>
                <a:sym typeface="Calibri" pitchFamily="34" charset="0"/>
              </a:rPr>
              <a:t>，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因此</a:t>
            </a:r>
            <a:r>
              <a:rPr lang="en-US" altLang="zh-CN" sz="2200" i="1" dirty="0">
                <a:solidFill>
                  <a:srgbClr val="FF00FF"/>
                </a:solidFill>
                <a:sym typeface="Calibri" pitchFamily="34" charset="0"/>
              </a:rPr>
              <a:t>F</a:t>
            </a:r>
            <a:r>
              <a:rPr lang="zh-CN" altLang="en-US" sz="2200" dirty="0">
                <a:solidFill>
                  <a:srgbClr val="FF00FF"/>
                </a:solidFill>
                <a:sym typeface="Calibri" pitchFamily="34" charset="0"/>
              </a:rPr>
              <a:t>变换前后是等价的。</a:t>
            </a:r>
            <a:endParaRPr lang="en-US" sz="2200" dirty="0">
              <a:solidFill>
                <a:srgbClr val="FF00FF"/>
              </a:solidFill>
              <a:sym typeface="Calibri" pitchFamily="34" charset="0"/>
            </a:endParaRPr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2200" dirty="0">
                <a:sym typeface="Calibri" pitchFamily="34" charset="0"/>
              </a:rPr>
              <a:t>	</a:t>
            </a:r>
            <a:r>
              <a:rPr lang="zh-CN" altLang="en-US" sz="2200" dirty="0">
                <a:sym typeface="Calibri" pitchFamily="34" charset="0"/>
              </a:rPr>
              <a:t>最后剩下的</a:t>
            </a:r>
            <a:r>
              <a:rPr lang="en-US" altLang="zh-CN" sz="2200" i="1" dirty="0">
                <a:sym typeface="Calibri" pitchFamily="34" charset="0"/>
              </a:rPr>
              <a:t>F</a:t>
            </a:r>
            <a:r>
              <a:rPr lang="zh-CN" altLang="en-US" sz="2200" dirty="0">
                <a:sym typeface="Calibri" pitchFamily="34" charset="0"/>
              </a:rPr>
              <a:t>就一定是极小依赖集。</a:t>
            </a:r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200" dirty="0">
                <a:sym typeface="Calibri" pitchFamily="34" charset="0"/>
              </a:rPr>
              <a:t>    </a:t>
            </a:r>
            <a:r>
              <a:rPr lang="en-US" altLang="zh-CN" sz="2200" dirty="0">
                <a:sym typeface="Calibri" pitchFamily="34" charset="0"/>
              </a:rPr>
              <a:t>	</a:t>
            </a:r>
            <a:r>
              <a:rPr lang="zh-CN" altLang="en-US" sz="2200" dirty="0">
                <a:sym typeface="Calibri" pitchFamily="34" charset="0"/>
              </a:rPr>
              <a:t>因为对</a:t>
            </a:r>
            <a:r>
              <a:rPr lang="en-US" altLang="zh-CN" sz="2200" i="1" dirty="0">
                <a:sym typeface="Calibri" pitchFamily="34" charset="0"/>
              </a:rPr>
              <a:t>F</a:t>
            </a:r>
            <a:r>
              <a:rPr lang="zh-CN" altLang="en-US" sz="2200" dirty="0">
                <a:sym typeface="Calibri" pitchFamily="34" charset="0"/>
              </a:rPr>
              <a:t>的</a:t>
            </a:r>
            <a:r>
              <a:rPr lang="zh-CN" altLang="en-US" sz="2200" dirty="0">
                <a:latin typeface="宋体" pitchFamily="2" charset="-122"/>
                <a:sym typeface="Calibri" pitchFamily="34" charset="0"/>
              </a:rPr>
              <a:t>每一次“改造”都</a:t>
            </a:r>
            <a:r>
              <a:rPr lang="zh-CN" altLang="en-US" sz="2200" dirty="0">
                <a:sym typeface="Calibri" pitchFamily="34" charset="0"/>
              </a:rPr>
              <a:t>保证了改造前后的两个函数 </a:t>
            </a:r>
            <a:endParaRPr lang="en-US" altLang="zh-CN" sz="2200" dirty="0">
              <a:sym typeface="Calibri" pitchFamily="34" charset="0"/>
            </a:endParaRPr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200" dirty="0">
                <a:sym typeface="Calibri" pitchFamily="34" charset="0"/>
              </a:rPr>
              <a:t>            </a:t>
            </a:r>
            <a:r>
              <a:rPr lang="zh-CN" altLang="en-US" sz="2200" dirty="0">
                <a:sym typeface="Calibri" pitchFamily="34" charset="0"/>
              </a:rPr>
              <a:t>依赖集等价，因此剩下的</a:t>
            </a:r>
            <a:r>
              <a:rPr lang="en-US" altLang="zh-CN" sz="2200" i="1" dirty="0">
                <a:sym typeface="Calibri" pitchFamily="34" charset="0"/>
              </a:rPr>
              <a:t>F</a:t>
            </a:r>
            <a:r>
              <a:rPr lang="zh-CN" altLang="en-US" sz="2200" dirty="0">
                <a:sym typeface="Calibri" pitchFamily="34" charset="0"/>
              </a:rPr>
              <a:t>与原来的</a:t>
            </a:r>
            <a:r>
              <a:rPr lang="en-US" altLang="zh-CN" sz="2200" i="1" dirty="0">
                <a:sym typeface="Calibri" pitchFamily="34" charset="0"/>
              </a:rPr>
              <a:t>F</a:t>
            </a:r>
            <a:r>
              <a:rPr lang="zh-CN" altLang="en-US" sz="2200" dirty="0">
                <a:sym typeface="Calibri" pitchFamily="34" charset="0"/>
              </a:rPr>
              <a:t>等价。</a:t>
            </a:r>
          </a:p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200" dirty="0">
                <a:sym typeface="Calibri" pitchFamily="34" charset="0"/>
              </a:rPr>
              <a:t>    </a:t>
            </a:r>
            <a:r>
              <a:rPr lang="en-US" altLang="zh-CN" sz="2200" dirty="0">
                <a:sym typeface="Calibri" pitchFamily="34" charset="0"/>
              </a:rPr>
              <a:t>	</a:t>
            </a:r>
            <a:r>
              <a:rPr lang="zh-CN" altLang="en-US" sz="2200" dirty="0">
                <a:sym typeface="Calibri" pitchFamily="34" charset="0"/>
              </a:rPr>
              <a:t>证毕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endParaRPr lang="zh-CN" altLang="en-US" sz="2200" dirty="0">
              <a:sym typeface="Calibri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1CBF8A-A03E-DD7C-475F-4CFCE559EF9C}"/>
              </a:ext>
            </a:extLst>
          </p:cNvPr>
          <p:cNvSpPr txBox="1"/>
          <p:nvPr/>
        </p:nvSpPr>
        <p:spPr>
          <a:xfrm>
            <a:off x="2347542" y="5373216"/>
            <a:ext cx="2358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F=</a:t>
            </a:r>
            <a:r>
              <a:rPr lang="en-US" altLang="zh-CN" sz="1800" i="1" dirty="0">
                <a:solidFill>
                  <a:srgbClr val="0070C0"/>
                </a:solidFill>
                <a:sym typeface="Calibri" pitchFamily="34" charset="0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{…,…,</a:t>
            </a:r>
            <a:r>
              <a:rPr lang="en-US" altLang="zh-CN" sz="1800" i="1" dirty="0" err="1">
                <a:solidFill>
                  <a:srgbClr val="0070C0"/>
                </a:solidFill>
                <a:sym typeface="Calibri" pitchFamily="34" charset="0"/>
              </a:rPr>
              <a:t>X</a:t>
            </a:r>
            <a:r>
              <a:rPr lang="en-US" altLang="zh-CN" sz="1800" dirty="0" err="1">
                <a:solidFill>
                  <a:srgbClr val="0070C0"/>
                </a:solidFill>
                <a:sym typeface="Calibri" pitchFamily="34" charset="0"/>
              </a:rPr>
              <a:t>→</a:t>
            </a:r>
            <a:r>
              <a:rPr lang="en-US" altLang="zh-CN" sz="1800" i="1" dirty="0" err="1">
                <a:solidFill>
                  <a:srgbClr val="0070C0"/>
                </a:solidFill>
                <a:sym typeface="Calibri" pitchFamily="34" charset="0"/>
              </a:rPr>
              <a:t>A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,…,…}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ACAFC2-A7D9-7CFA-54F2-973458A1E108}"/>
              </a:ext>
            </a:extLst>
          </p:cNvPr>
          <p:cNvSpPr txBox="1"/>
          <p:nvPr/>
        </p:nvSpPr>
        <p:spPr>
          <a:xfrm>
            <a:off x="2347542" y="6056503"/>
            <a:ext cx="4816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i="1" dirty="0">
                <a:solidFill>
                  <a:srgbClr val="0070C0"/>
                </a:solidFill>
                <a:sym typeface="Calibri" pitchFamily="34" charset="0"/>
              </a:rPr>
              <a:t>G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=</a:t>
            </a:r>
            <a:r>
              <a:rPr lang="en-US" altLang="zh-CN" sz="1800" i="1" dirty="0">
                <a:solidFill>
                  <a:srgbClr val="0070C0"/>
                </a:solidFill>
                <a:sym typeface="Calibri" pitchFamily="34" charset="0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{…,…,</a:t>
            </a:r>
            <a:r>
              <a:rPr lang="en-US" altLang="zh-CN" i="1" dirty="0" err="1">
                <a:solidFill>
                  <a:srgbClr val="0070C0"/>
                </a:solidFill>
                <a:sym typeface="Calibri" pitchFamily="34" charset="0"/>
              </a:rPr>
              <a:t>Z</a:t>
            </a:r>
            <a:r>
              <a:rPr lang="en-US" altLang="zh-CN" dirty="0" err="1">
                <a:solidFill>
                  <a:srgbClr val="0070C0"/>
                </a:solidFill>
                <a:sym typeface="Calibri" pitchFamily="34" charset="0"/>
              </a:rPr>
              <a:t>→</a:t>
            </a:r>
            <a:r>
              <a:rPr lang="en-US" altLang="zh-CN" i="1" dirty="0" err="1">
                <a:solidFill>
                  <a:srgbClr val="0070C0"/>
                </a:solidFill>
                <a:sym typeface="Calibri" pitchFamily="34" charset="0"/>
              </a:rPr>
              <a:t>A</a:t>
            </a:r>
            <a:r>
              <a:rPr lang="en-US" altLang="zh-CN" dirty="0">
                <a:solidFill>
                  <a:srgbClr val="0070C0"/>
                </a:solidFill>
                <a:sym typeface="Calibri" pitchFamily="34" charset="0"/>
              </a:rPr>
              <a:t>,</a:t>
            </a:r>
            <a:r>
              <a:rPr lang="en-US" altLang="zh-CN" i="1" dirty="0">
                <a:solidFill>
                  <a:srgbClr val="0070C0"/>
                </a:solidFill>
                <a:sym typeface="Calibri" pitchFamily="34" charset="0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…,…}</a:t>
            </a:r>
          </a:p>
        </p:txBody>
      </p:sp>
      <p:sp>
        <p:nvSpPr>
          <p:cNvPr id="4" name="箭头: 上 3">
            <a:extLst>
              <a:ext uri="{FF2B5EF4-FFF2-40B4-BE49-F238E27FC236}">
                <a16:creationId xmlns:a16="http://schemas.microsoft.com/office/drawing/2014/main" id="{137EFEC0-71D7-0BBB-7A6C-529E98FF2354}"/>
              </a:ext>
            </a:extLst>
          </p:cNvPr>
          <p:cNvSpPr/>
          <p:nvPr/>
        </p:nvSpPr>
        <p:spPr bwMode="auto">
          <a:xfrm rot="5400000">
            <a:off x="5051547" y="5234106"/>
            <a:ext cx="193260" cy="761240"/>
          </a:xfrm>
          <a:prstGeom prst="upArrow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D30A13-CAB6-C2EF-3E16-36101B51C6BB}"/>
              </a:ext>
            </a:extLst>
          </p:cNvPr>
          <p:cNvSpPr txBox="1"/>
          <p:nvPr/>
        </p:nvSpPr>
        <p:spPr>
          <a:xfrm>
            <a:off x="4715818" y="5196866"/>
            <a:ext cx="864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i="1" dirty="0" err="1">
                <a:solidFill>
                  <a:srgbClr val="FF00FF"/>
                </a:solidFill>
                <a:sym typeface="Calibri" pitchFamily="34" charset="0"/>
              </a:rPr>
              <a:t>A</a:t>
            </a:r>
            <a:r>
              <a:rPr lang="en-US" altLang="zh-CN" sz="1800" dirty="0" err="1">
                <a:solidFill>
                  <a:srgbClr val="FF00FF"/>
                </a:solidFill>
                <a:sym typeface="Symbol" pitchFamily="18" charset="2"/>
              </a:rPr>
              <a:t>Z</a:t>
            </a:r>
            <a:r>
              <a:rPr lang="en-US" altLang="zh-CN" i="1" baseline="-25000" dirty="0" err="1">
                <a:solidFill>
                  <a:srgbClr val="FF00FF"/>
                </a:solidFill>
                <a:sym typeface="Calibri" pitchFamily="34" charset="0"/>
              </a:rPr>
              <a:t>F</a:t>
            </a:r>
            <a:r>
              <a:rPr lang="en-US" altLang="zh-CN" sz="1800" baseline="30000" dirty="0">
                <a:solidFill>
                  <a:srgbClr val="FF00FF"/>
                </a:solidFill>
                <a:sym typeface="Calibri" pitchFamily="34" charset="0"/>
              </a:rPr>
              <a:t>+ 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631328-3B81-AC6E-1BD4-F0C45CD8348F}"/>
              </a:ext>
            </a:extLst>
          </p:cNvPr>
          <p:cNvSpPr txBox="1"/>
          <p:nvPr/>
        </p:nvSpPr>
        <p:spPr>
          <a:xfrm>
            <a:off x="5525819" y="5370070"/>
            <a:ext cx="310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i="1" dirty="0">
                <a:solidFill>
                  <a:srgbClr val="0070C0"/>
                </a:solidFill>
                <a:sym typeface="Calibri" pitchFamily="34" charset="0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{…,…,</a:t>
            </a:r>
            <a:r>
              <a:rPr lang="en-US" altLang="zh-CN" sz="1800" i="1" dirty="0" err="1">
                <a:solidFill>
                  <a:srgbClr val="0070C0"/>
                </a:solidFill>
                <a:sym typeface="Calibri" pitchFamily="34" charset="0"/>
              </a:rPr>
              <a:t>X</a:t>
            </a:r>
            <a:r>
              <a:rPr lang="en-US" altLang="zh-CN" sz="1800" dirty="0" err="1">
                <a:solidFill>
                  <a:srgbClr val="0070C0"/>
                </a:solidFill>
                <a:sym typeface="Calibri" pitchFamily="34" charset="0"/>
              </a:rPr>
              <a:t>→</a:t>
            </a:r>
            <a:r>
              <a:rPr lang="en-US" altLang="zh-CN" sz="1800" i="1" dirty="0" err="1">
                <a:solidFill>
                  <a:srgbClr val="0070C0"/>
                </a:solidFill>
                <a:sym typeface="Calibri" pitchFamily="34" charset="0"/>
              </a:rPr>
              <a:t>A</a:t>
            </a:r>
            <a:r>
              <a:rPr lang="en-US" altLang="zh-CN" dirty="0" err="1">
                <a:solidFill>
                  <a:srgbClr val="0070C0"/>
                </a:solidFill>
                <a:sym typeface="Calibri" pitchFamily="34" charset="0"/>
              </a:rPr>
              <a:t>,</a:t>
            </a:r>
            <a:r>
              <a:rPr lang="en-US" altLang="zh-CN" i="1" dirty="0" err="1">
                <a:solidFill>
                  <a:srgbClr val="0070C0"/>
                </a:solidFill>
                <a:sym typeface="Calibri" pitchFamily="34" charset="0"/>
              </a:rPr>
              <a:t>Z</a:t>
            </a:r>
            <a:r>
              <a:rPr lang="en-US" altLang="zh-CN" dirty="0" err="1">
                <a:solidFill>
                  <a:srgbClr val="0070C0"/>
                </a:solidFill>
                <a:sym typeface="Calibri" pitchFamily="34" charset="0"/>
              </a:rPr>
              <a:t>→</a:t>
            </a:r>
            <a:r>
              <a:rPr lang="en-US" altLang="zh-CN" i="1" dirty="0" err="1">
                <a:solidFill>
                  <a:srgbClr val="0070C0"/>
                </a:solidFill>
                <a:sym typeface="Calibri" pitchFamily="34" charset="0"/>
              </a:rPr>
              <a:t>A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…,…}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AAF092-D4A4-B06D-11CC-691EA24A3264}"/>
              </a:ext>
            </a:extLst>
          </p:cNvPr>
          <p:cNvSpPr txBox="1"/>
          <p:nvPr/>
        </p:nvSpPr>
        <p:spPr>
          <a:xfrm>
            <a:off x="5528797" y="6084004"/>
            <a:ext cx="310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i="1" dirty="0">
                <a:solidFill>
                  <a:srgbClr val="0070C0"/>
                </a:solidFill>
                <a:sym typeface="Calibri" pitchFamily="34" charset="0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{…,…,</a:t>
            </a:r>
            <a:r>
              <a:rPr lang="en-US" altLang="zh-CN" sz="1800" i="1" dirty="0" err="1">
                <a:solidFill>
                  <a:srgbClr val="0070C0"/>
                </a:solidFill>
                <a:sym typeface="Calibri" pitchFamily="34" charset="0"/>
              </a:rPr>
              <a:t>X</a:t>
            </a:r>
            <a:r>
              <a:rPr lang="en-US" altLang="zh-CN" sz="1800" dirty="0" err="1">
                <a:solidFill>
                  <a:srgbClr val="0070C0"/>
                </a:solidFill>
                <a:sym typeface="Calibri" pitchFamily="34" charset="0"/>
              </a:rPr>
              <a:t>→</a:t>
            </a:r>
            <a:r>
              <a:rPr lang="en-US" altLang="zh-CN" sz="1800" i="1" dirty="0" err="1">
                <a:solidFill>
                  <a:srgbClr val="0070C0"/>
                </a:solidFill>
                <a:sym typeface="Calibri" pitchFamily="34" charset="0"/>
              </a:rPr>
              <a:t>A</a:t>
            </a:r>
            <a:r>
              <a:rPr lang="en-US" altLang="zh-CN" dirty="0" err="1">
                <a:solidFill>
                  <a:srgbClr val="0070C0"/>
                </a:solidFill>
                <a:sym typeface="Calibri" pitchFamily="34" charset="0"/>
              </a:rPr>
              <a:t>,</a:t>
            </a:r>
            <a:r>
              <a:rPr lang="en-US" altLang="zh-CN" i="1" dirty="0" err="1">
                <a:solidFill>
                  <a:srgbClr val="0070C0"/>
                </a:solidFill>
                <a:sym typeface="Calibri" pitchFamily="34" charset="0"/>
              </a:rPr>
              <a:t>Z</a:t>
            </a:r>
            <a:r>
              <a:rPr lang="en-US" altLang="zh-CN" dirty="0" err="1">
                <a:solidFill>
                  <a:srgbClr val="0070C0"/>
                </a:solidFill>
                <a:sym typeface="Calibri" pitchFamily="34" charset="0"/>
              </a:rPr>
              <a:t>→</a:t>
            </a:r>
            <a:r>
              <a:rPr lang="en-US" altLang="zh-CN" i="1" dirty="0" err="1">
                <a:solidFill>
                  <a:srgbClr val="0070C0"/>
                </a:solidFill>
                <a:sym typeface="Calibri" pitchFamily="34" charset="0"/>
              </a:rPr>
              <a:t>A</a:t>
            </a:r>
            <a:r>
              <a:rPr lang="en-US" altLang="zh-CN" sz="1800" dirty="0">
                <a:solidFill>
                  <a:srgbClr val="0070C0"/>
                </a:solidFill>
                <a:sym typeface="Calibri" pitchFamily="34" charset="0"/>
              </a:rPr>
              <a:t>…,…}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00D76C47-05F3-4E6D-554D-67BC700A7805}"/>
              </a:ext>
            </a:extLst>
          </p:cNvPr>
          <p:cNvSpPr/>
          <p:nvPr/>
        </p:nvSpPr>
        <p:spPr bwMode="auto">
          <a:xfrm rot="5400000">
            <a:off x="5051745" y="5904078"/>
            <a:ext cx="193260" cy="761240"/>
          </a:xfrm>
          <a:prstGeom prst="upArrow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C1E12F-AFCE-FBAF-5C66-7C01E22FB16F}"/>
              </a:ext>
            </a:extLst>
          </p:cNvPr>
          <p:cNvSpPr txBox="1"/>
          <p:nvPr/>
        </p:nvSpPr>
        <p:spPr>
          <a:xfrm>
            <a:off x="4787401" y="5866838"/>
            <a:ext cx="864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 err="1">
                <a:solidFill>
                  <a:srgbClr val="FF00FF"/>
                </a:solidFill>
                <a:sym typeface="Calibri" pitchFamily="34" charset="0"/>
              </a:rPr>
              <a:t>Z</a:t>
            </a:r>
            <a:r>
              <a:rPr lang="en-US" altLang="zh-CN" dirty="0" err="1">
                <a:solidFill>
                  <a:srgbClr val="FF00FF"/>
                </a:solidFill>
                <a:sym typeface="Symbol" pitchFamily="18" charset="2"/>
              </a:rPr>
              <a:t>X</a:t>
            </a:r>
            <a:r>
              <a:rPr lang="en-US" altLang="zh-CN" sz="1800" baseline="30000" dirty="0">
                <a:solidFill>
                  <a:srgbClr val="FF00FF"/>
                </a:solidFill>
                <a:sym typeface="Calibri" pitchFamily="34" charset="0"/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1981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数据依赖的公理系统（续）</a:t>
            </a:r>
          </a:p>
        </p:txBody>
      </p:sp>
      <p:sp>
        <p:nvSpPr>
          <p:cNvPr id="119813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zh-CN" dirty="0">
                <a:sym typeface="Calibri" pitchFamily="34" charset="0"/>
              </a:rPr>
              <a:t>[</a:t>
            </a:r>
            <a:r>
              <a:rPr lang="zh-CN" altLang="en-US" dirty="0">
                <a:sym typeface="Calibri" pitchFamily="34" charset="0"/>
              </a:rPr>
              <a:t>例</a:t>
            </a:r>
            <a:r>
              <a:rPr lang="en-US" altLang="zh-CN" dirty="0">
                <a:sym typeface="Calibri" pitchFamily="34" charset="0"/>
              </a:rPr>
              <a:t>6.13]  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dirty="0">
                <a:sym typeface="Calibri" pitchFamily="34" charset="0"/>
              </a:rPr>
              <a:t>={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}</a:t>
            </a:r>
            <a:endParaRPr lang="zh-CN" altLang="en-US" dirty="0">
              <a:sym typeface="Calibri" pitchFamily="34" charset="0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sym typeface="Calibri" pitchFamily="34" charset="0"/>
              </a:rPr>
              <a:t>       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的最小依赖集：</a:t>
            </a:r>
          </a:p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dirty="0">
                <a:sym typeface="Calibri" pitchFamily="34" charset="0"/>
              </a:rPr>
              <a:t>          	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i="1" baseline="-25000" dirty="0">
                <a:sym typeface="Calibri" pitchFamily="34" charset="0"/>
              </a:rPr>
              <a:t>m1</a:t>
            </a:r>
            <a:r>
              <a:rPr lang="en-US" altLang="zh-CN" dirty="0">
                <a:sym typeface="Calibri" pitchFamily="34" charset="0"/>
              </a:rPr>
              <a:t>= {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}  </a:t>
            </a:r>
            <a:endParaRPr lang="zh-CN" altLang="en-US" dirty="0">
              <a:sym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836712"/>
            <a:ext cx="8429625" cy="5448647"/>
          </a:xfrm>
        </p:spPr>
        <p:txBody>
          <a:bodyPr/>
          <a:lstStyle/>
          <a:p>
            <a:pPr algn="just">
              <a:lnSpc>
                <a:spcPct val="13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解：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1.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化右部为单一属性：</a:t>
            </a: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                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F=﹛A→B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B→A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B→C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A→C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C→A﹜</a:t>
            </a: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         2.  </a:t>
            </a:r>
            <a:r>
              <a:rPr lang="en-US" altLang="zh-CN" sz="2000" b="1" dirty="0">
                <a:latin typeface="Times New Roman" pitchFamily="18" charset="0"/>
                <a:ea typeface="+mj-ea"/>
                <a:cs typeface="Times New Roman" pitchFamily="18" charset="0"/>
              </a:rPr>
              <a:t>① </a:t>
            </a:r>
            <a:r>
              <a:rPr lang="zh-CN" altLang="en-US" sz="2000" b="1" dirty="0">
                <a:latin typeface="Times New Roman" pitchFamily="18" charset="0"/>
                <a:ea typeface="+mj-ea"/>
                <a:cs typeface="Times New Roman" pitchFamily="18" charset="0"/>
              </a:rPr>
              <a:t>在</a:t>
            </a:r>
            <a:r>
              <a:rPr lang="en-US" altLang="zh-CN" sz="2000" b="1" dirty="0">
                <a:latin typeface="Times New Roman" pitchFamily="18" charset="0"/>
                <a:ea typeface="+mj-ea"/>
                <a:cs typeface="Times New Roman" pitchFamily="18" charset="0"/>
              </a:rPr>
              <a:t>F</a:t>
            </a:r>
            <a:r>
              <a:rPr lang="zh-CN" altLang="en-US" sz="2000" b="1" dirty="0">
                <a:latin typeface="Times New Roman" pitchFamily="18" charset="0"/>
                <a:ea typeface="+mj-ea"/>
                <a:cs typeface="Times New Roman" pitchFamily="18" charset="0"/>
              </a:rPr>
              <a:t>中去掉</a:t>
            </a:r>
            <a:r>
              <a:rPr lang="en-US" altLang="zh-CN" sz="2000" b="1" dirty="0">
                <a:latin typeface="Times New Roman" pitchFamily="18" charset="0"/>
                <a:ea typeface="+mj-ea"/>
                <a:cs typeface="Times New Roman" pitchFamily="18" charset="0"/>
              </a:rPr>
              <a:t>A→B</a:t>
            </a:r>
            <a:r>
              <a:rPr lang="zh-CN" altLang="en-US" sz="2000" b="1" dirty="0">
                <a:latin typeface="Times New Roman" pitchFamily="18" charset="0"/>
                <a:ea typeface="+mj-ea"/>
                <a:cs typeface="Times New Roman" pitchFamily="18" charset="0"/>
              </a:rPr>
              <a:t>，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记</a:t>
            </a:r>
            <a:r>
              <a:rPr lang="en-US" altLang="zh-CN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G=F -﹛A→B﹜</a:t>
            </a:r>
            <a:endParaRPr lang="en-US" altLang="zh-CN" sz="2000" b="1" dirty="0">
              <a:solidFill>
                <a:srgbClr val="FF00FF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                   (A)</a:t>
            </a:r>
            <a:r>
              <a:rPr lang="en-US" altLang="zh-CN" sz="2000" baseline="-25000" dirty="0">
                <a:latin typeface="Times New Roman" pitchFamily="18" charset="0"/>
                <a:ea typeface="+mj-ea"/>
                <a:cs typeface="Times New Roman" pitchFamily="18" charset="0"/>
              </a:rPr>
              <a:t>G</a:t>
            </a:r>
            <a:r>
              <a:rPr lang="en-US" altLang="zh-CN" sz="2000" baseline="30000" dirty="0"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={AC}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，∵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B 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  <a:sym typeface="Symbol" pitchFamily="18" charset="2"/>
              </a:rPr>
              <a:t>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(A)</a:t>
            </a:r>
            <a:r>
              <a:rPr lang="en-US" altLang="zh-CN" sz="2000" baseline="-25000" dirty="0"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2000" baseline="30000" dirty="0"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，∴不去掉。</a:t>
            </a: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           ② 在</a:t>
            </a:r>
            <a:r>
              <a:rPr lang="en-US" altLang="zh-CN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F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中去掉</a:t>
            </a:r>
            <a:r>
              <a:rPr lang="en-US" altLang="zh-CN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B→A 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，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记</a:t>
            </a:r>
            <a:r>
              <a:rPr lang="en-US" altLang="zh-CN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G=F -﹛B→A﹜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endParaRPr lang="en-US" altLang="zh-CN" sz="2000" b="1" dirty="0">
              <a:solidFill>
                <a:srgbClr val="FF00FF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                (B)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2000" baseline="30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={ABC}</a:t>
            </a:r>
            <a:r>
              <a:rPr lang="zh-CN" altLang="en-US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，∵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A∈ (B)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2000" baseline="30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，∴应去掉。 </a:t>
            </a: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zh-CN" altLang="en-US" sz="2000" b="1" dirty="0">
                <a:latin typeface="Times New Roman" pitchFamily="18" charset="0"/>
                <a:ea typeface="+mj-ea"/>
                <a:cs typeface="Times New Roman" pitchFamily="18" charset="0"/>
              </a:rPr>
              <a:t>               ③ 在</a:t>
            </a:r>
            <a:r>
              <a:rPr lang="en-US" altLang="zh-CN" sz="2000" b="1" dirty="0">
                <a:latin typeface="Times New Roman" pitchFamily="18" charset="0"/>
                <a:ea typeface="+mj-ea"/>
                <a:cs typeface="Times New Roman" pitchFamily="18" charset="0"/>
              </a:rPr>
              <a:t>F</a:t>
            </a:r>
            <a:r>
              <a:rPr lang="zh-CN" altLang="en-US" sz="2000" b="1" dirty="0">
                <a:latin typeface="Times New Roman" pitchFamily="18" charset="0"/>
                <a:ea typeface="+mj-ea"/>
                <a:cs typeface="Times New Roman" pitchFamily="18" charset="0"/>
              </a:rPr>
              <a:t>中去掉</a:t>
            </a:r>
            <a:r>
              <a:rPr lang="en-US" altLang="zh-CN" sz="2000" b="1" dirty="0">
                <a:latin typeface="Times New Roman" pitchFamily="18" charset="0"/>
                <a:ea typeface="+mj-ea"/>
                <a:cs typeface="Times New Roman" pitchFamily="18" charset="0"/>
              </a:rPr>
              <a:t>B→C </a:t>
            </a:r>
            <a:r>
              <a:rPr lang="zh-CN" altLang="en-US" sz="2000" b="1" dirty="0">
                <a:latin typeface="Times New Roman" pitchFamily="18" charset="0"/>
                <a:ea typeface="+mj-ea"/>
                <a:cs typeface="Times New Roman" pitchFamily="18" charset="0"/>
              </a:rPr>
              <a:t>，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记</a:t>
            </a:r>
            <a:r>
              <a:rPr lang="en-US" altLang="zh-CN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G=F -﹛B→C﹜</a:t>
            </a:r>
            <a:endParaRPr lang="en-US" altLang="zh-CN" sz="2000" b="1" dirty="0">
              <a:solidFill>
                <a:srgbClr val="FF00FF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                   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(B)</a:t>
            </a:r>
            <a:r>
              <a:rPr lang="en-US" altLang="zh-CN" sz="2000" baseline="-25000" dirty="0"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2000" baseline="30000" dirty="0"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={B}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，∵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C 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  <a:sym typeface="Symbol" pitchFamily="18" charset="2"/>
              </a:rPr>
              <a:t>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(B)</a:t>
            </a:r>
            <a:r>
              <a:rPr lang="en-US" altLang="zh-CN" sz="2000" baseline="-25000" dirty="0"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2000" baseline="30000" dirty="0"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，∴不去掉。</a:t>
            </a: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           ④ 在</a:t>
            </a:r>
            <a:r>
              <a:rPr lang="en-US" altLang="zh-CN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F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中去掉</a:t>
            </a:r>
            <a:r>
              <a:rPr lang="en-US" altLang="zh-CN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A→C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，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记</a:t>
            </a:r>
            <a:r>
              <a:rPr lang="en-US" altLang="zh-CN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G=F -﹛A→C﹜</a:t>
            </a:r>
            <a:endParaRPr lang="en-US" altLang="zh-CN" sz="2000" b="1" dirty="0">
              <a:solidFill>
                <a:srgbClr val="FF00FF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                 (A)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2000" baseline="30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={ABC}</a:t>
            </a:r>
            <a:r>
              <a:rPr lang="zh-CN" altLang="en-US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，∵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C∈ (A)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2000" baseline="30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FF00FF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，∴应去掉</a:t>
            </a: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zh-CN" altLang="en-US" sz="2000" b="1" dirty="0">
                <a:latin typeface="Times New Roman" pitchFamily="18" charset="0"/>
                <a:ea typeface="+mj-ea"/>
                <a:cs typeface="Times New Roman" pitchFamily="18" charset="0"/>
              </a:rPr>
              <a:t>               ⑤ 在</a:t>
            </a:r>
            <a:r>
              <a:rPr lang="en-US" altLang="zh-CN" sz="2000" b="1" dirty="0">
                <a:latin typeface="Times New Roman" pitchFamily="18" charset="0"/>
                <a:ea typeface="+mj-ea"/>
                <a:cs typeface="Times New Roman" pitchFamily="18" charset="0"/>
              </a:rPr>
              <a:t>F</a:t>
            </a:r>
            <a:r>
              <a:rPr lang="zh-CN" altLang="en-US" sz="2000" b="1" dirty="0">
                <a:latin typeface="Times New Roman" pitchFamily="18" charset="0"/>
                <a:ea typeface="+mj-ea"/>
                <a:cs typeface="Times New Roman" pitchFamily="18" charset="0"/>
              </a:rPr>
              <a:t>中去掉</a:t>
            </a:r>
            <a:r>
              <a:rPr lang="en-US" altLang="zh-CN" sz="2000" b="1" dirty="0">
                <a:latin typeface="Times New Roman" pitchFamily="18" charset="0"/>
                <a:ea typeface="+mj-ea"/>
                <a:cs typeface="Times New Roman" pitchFamily="18" charset="0"/>
              </a:rPr>
              <a:t>C→A</a:t>
            </a:r>
            <a:r>
              <a:rPr lang="zh-CN" altLang="en-US" sz="2000" b="1" dirty="0">
                <a:latin typeface="Times New Roman" pitchFamily="18" charset="0"/>
                <a:ea typeface="+mj-ea"/>
                <a:cs typeface="Times New Roman" pitchFamily="18" charset="0"/>
              </a:rPr>
              <a:t>，</a:t>
            </a:r>
            <a:r>
              <a:rPr lang="zh-CN" altLang="en-US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记</a:t>
            </a:r>
            <a:r>
              <a:rPr lang="en-US" altLang="zh-CN" sz="20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G=F -﹛C→A﹜</a:t>
            </a:r>
            <a:endParaRPr lang="en-US" altLang="zh-CN" sz="2000" b="1" dirty="0">
              <a:solidFill>
                <a:srgbClr val="FF00FF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                    (C)</a:t>
            </a:r>
            <a:r>
              <a:rPr lang="en-US" altLang="zh-CN" sz="2000" baseline="-25000" dirty="0"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2000" baseline="30000" dirty="0"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={C}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，∵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A 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  <a:sym typeface="Symbol" pitchFamily="18" charset="2"/>
              </a:rPr>
              <a:t>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(C)</a:t>
            </a:r>
            <a:r>
              <a:rPr lang="en-US" altLang="zh-CN" sz="2000" baseline="-25000" dirty="0"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2000" baseline="30000" dirty="0">
                <a:latin typeface="Times New Roman" pitchFamily="18" charset="0"/>
                <a:ea typeface="+mj-ea"/>
                <a:cs typeface="Times New Roman" pitchFamily="18" charset="0"/>
              </a:rPr>
              <a:t>+</a:t>
            </a:r>
            <a:r>
              <a:rPr lang="en-US" altLang="zh-CN" sz="2000" dirty="0"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  <a:ea typeface="+mj-ea"/>
                <a:cs typeface="Times New Roman" pitchFamily="18" charset="0"/>
              </a:rPr>
              <a:t>，∴不去掉。</a:t>
            </a: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33DF1360-4CE4-10EB-F7A3-FF98C95254CD}"/>
              </a:ext>
            </a:extLst>
          </p:cNvPr>
          <p:cNvSpPr/>
          <p:nvPr/>
        </p:nvSpPr>
        <p:spPr bwMode="auto">
          <a:xfrm>
            <a:off x="3131840" y="1268760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乘号 2">
            <a:extLst>
              <a:ext uri="{FF2B5EF4-FFF2-40B4-BE49-F238E27FC236}">
                <a16:creationId xmlns:a16="http://schemas.microsoft.com/office/drawing/2014/main" id="{ECE4B5FB-3CF0-EB6E-22CA-C8DD746C54E5}"/>
              </a:ext>
            </a:extLst>
          </p:cNvPr>
          <p:cNvSpPr/>
          <p:nvPr/>
        </p:nvSpPr>
        <p:spPr bwMode="auto">
          <a:xfrm>
            <a:off x="4861190" y="1268760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" name="乘号 3">
            <a:extLst>
              <a:ext uri="{FF2B5EF4-FFF2-40B4-BE49-F238E27FC236}">
                <a16:creationId xmlns:a16="http://schemas.microsoft.com/office/drawing/2014/main" id="{51472426-127A-15F5-7918-69D02FF50EE6}"/>
              </a:ext>
            </a:extLst>
          </p:cNvPr>
          <p:cNvSpPr/>
          <p:nvPr/>
        </p:nvSpPr>
        <p:spPr bwMode="auto">
          <a:xfrm>
            <a:off x="2267744" y="1268760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乘号 4">
            <a:extLst>
              <a:ext uri="{FF2B5EF4-FFF2-40B4-BE49-F238E27FC236}">
                <a16:creationId xmlns:a16="http://schemas.microsoft.com/office/drawing/2014/main" id="{717E7560-DB69-C999-5610-DD2B37B4D150}"/>
              </a:ext>
            </a:extLst>
          </p:cNvPr>
          <p:cNvSpPr/>
          <p:nvPr/>
        </p:nvSpPr>
        <p:spPr bwMode="auto">
          <a:xfrm>
            <a:off x="3995936" y="1268760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乘号 5">
            <a:extLst>
              <a:ext uri="{FF2B5EF4-FFF2-40B4-BE49-F238E27FC236}">
                <a16:creationId xmlns:a16="http://schemas.microsoft.com/office/drawing/2014/main" id="{A0674FD1-6DAF-72FA-D07F-191405133D4B}"/>
              </a:ext>
            </a:extLst>
          </p:cNvPr>
          <p:cNvSpPr/>
          <p:nvPr/>
        </p:nvSpPr>
        <p:spPr bwMode="auto">
          <a:xfrm>
            <a:off x="5796136" y="1268760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567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/>
          </a:p>
        </p:txBody>
      </p:sp>
      <p:sp>
        <p:nvSpPr>
          <p:cNvPr id="120835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2083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数据依赖的公理系统（续）</a:t>
            </a:r>
          </a:p>
        </p:txBody>
      </p:sp>
      <p:sp>
        <p:nvSpPr>
          <p:cNvPr id="12083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的最小依赖集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i="1" baseline="-25000" dirty="0">
                <a:sym typeface="Calibri" pitchFamily="34" charset="0"/>
              </a:rPr>
              <a:t>m</a:t>
            </a:r>
            <a:r>
              <a:rPr lang="zh-CN" altLang="en-US" i="1" u="sng" dirty="0">
                <a:solidFill>
                  <a:srgbClr val="FF0000"/>
                </a:solidFill>
                <a:sym typeface="Calibri" pitchFamily="34" charset="0"/>
              </a:rPr>
              <a:t>不一定是唯一</a:t>
            </a:r>
            <a:r>
              <a:rPr lang="zh-CN" altLang="en-US" dirty="0">
                <a:sym typeface="Calibri" pitchFamily="34" charset="0"/>
              </a:rPr>
              <a:t>的，它与对各函数依赖</a:t>
            </a:r>
            <a:r>
              <a:rPr lang="en-US" altLang="zh-CN" i="1" dirty="0" err="1">
                <a:sym typeface="Calibri" pitchFamily="34" charset="0"/>
              </a:rPr>
              <a:t>FD</a:t>
            </a:r>
            <a:r>
              <a:rPr lang="en-US" altLang="zh-CN" i="1" baseline="-25000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及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zh-CN" altLang="en-US" dirty="0">
                <a:sym typeface="Calibri" pitchFamily="34" charset="0"/>
              </a:rPr>
              <a:t>中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各属性的处置顺序有关。 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/>
          </a:p>
        </p:txBody>
      </p:sp>
      <p:sp>
        <p:nvSpPr>
          <p:cNvPr id="12185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21860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数据依赖的公理系统（续）</a:t>
            </a:r>
          </a:p>
        </p:txBody>
      </p:sp>
      <p:sp>
        <p:nvSpPr>
          <p:cNvPr id="121861" name="Rectangle 1027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dirty="0">
                <a:sym typeface="Calibri" pitchFamily="34" charset="0"/>
              </a:rPr>
              <a:t>[</a:t>
            </a:r>
            <a:r>
              <a:rPr lang="zh-CN" altLang="en-US" dirty="0">
                <a:sym typeface="Calibri" pitchFamily="34" charset="0"/>
              </a:rPr>
              <a:t>例</a:t>
            </a:r>
            <a:r>
              <a:rPr lang="en-US" altLang="zh-CN" dirty="0">
                <a:sym typeface="Calibri" pitchFamily="34" charset="0"/>
              </a:rPr>
              <a:t>6.13] </a:t>
            </a:r>
            <a:r>
              <a:rPr lang="zh-CN" altLang="en-US" dirty="0">
                <a:sym typeface="Calibri" pitchFamily="34" charset="0"/>
              </a:rPr>
              <a:t>（续）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>
                <a:sym typeface="Calibri" pitchFamily="34" charset="0"/>
              </a:rPr>
              <a:t>           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dirty="0">
                <a:sym typeface="Calibri" pitchFamily="34" charset="0"/>
              </a:rPr>
              <a:t>={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}</a:t>
            </a:r>
            <a:endParaRPr lang="zh-CN" altLang="en-US" dirty="0">
              <a:sym typeface="Calibri" pitchFamily="34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ym typeface="Calibri" pitchFamily="34" charset="0"/>
              </a:rPr>
              <a:t>    </a:t>
            </a:r>
            <a:endParaRPr lang="zh-CN" altLang="en-US" dirty="0">
              <a:sym typeface="Calibri" pitchFamily="34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ym typeface="Calibri" pitchFamily="34" charset="0"/>
              </a:rPr>
              <a:t>   </a:t>
            </a:r>
            <a:r>
              <a:rPr lang="zh-CN" altLang="en-US" dirty="0">
                <a:sym typeface="Calibri" pitchFamily="34" charset="0"/>
              </a:rPr>
              <a:t>	 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i="1" baseline="-25000" dirty="0">
                <a:sym typeface="Calibri" pitchFamily="34" charset="0"/>
              </a:rPr>
              <a:t>m1</a:t>
            </a:r>
            <a:r>
              <a:rPr lang="zh-CN" altLang="en-US" dirty="0">
                <a:sym typeface="Calibri" pitchFamily="34" charset="0"/>
              </a:rPr>
              <a:t>、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i="1" baseline="-25000" dirty="0">
                <a:sym typeface="Calibri" pitchFamily="34" charset="0"/>
              </a:rPr>
              <a:t>m2</a:t>
            </a:r>
            <a:r>
              <a:rPr lang="zh-CN" altLang="en-US" dirty="0">
                <a:sym typeface="Calibri" pitchFamily="34" charset="0"/>
              </a:rPr>
              <a:t>都是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的最小依赖集：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>
                <a:sym typeface="Calibri" pitchFamily="34" charset="0"/>
              </a:rPr>
              <a:t>          	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i="1" baseline="-25000" dirty="0">
                <a:sym typeface="Calibri" pitchFamily="34" charset="0"/>
              </a:rPr>
              <a:t>m1</a:t>
            </a:r>
            <a:r>
              <a:rPr lang="en-US" altLang="zh-CN" dirty="0">
                <a:sym typeface="Calibri" pitchFamily="34" charset="0"/>
              </a:rPr>
              <a:t>= {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}  </a:t>
            </a:r>
            <a:endParaRPr lang="zh-CN" altLang="en-US" dirty="0">
              <a:sym typeface="Calibri" pitchFamily="34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ym typeface="Calibri" pitchFamily="34" charset="0"/>
              </a:rPr>
              <a:t>          </a:t>
            </a:r>
            <a:r>
              <a:rPr lang="zh-CN" altLang="en-US" dirty="0">
                <a:sym typeface="Calibri" pitchFamily="34" charset="0"/>
              </a:rPr>
              <a:t>	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i="1" baseline="-25000" dirty="0">
                <a:sym typeface="Calibri" pitchFamily="34" charset="0"/>
              </a:rPr>
              <a:t>m2</a:t>
            </a:r>
            <a:r>
              <a:rPr lang="en-US" altLang="zh-CN" dirty="0">
                <a:sym typeface="Calibri" pitchFamily="34" charset="0"/>
              </a:rPr>
              <a:t>= {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i="1" dirty="0">
                <a:sym typeface="Calibri" pitchFamily="34" charset="0"/>
              </a:rPr>
              <a:t>C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} </a:t>
            </a:r>
            <a:endParaRPr lang="zh-CN" altLang="en-US" dirty="0">
              <a:sym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/>
          </a:p>
        </p:txBody>
      </p:sp>
      <p:sp>
        <p:nvSpPr>
          <p:cNvPr id="112643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12644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在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dirty="0">
                <a:sym typeface="Calibri" pitchFamily="34" charset="0"/>
              </a:rPr>
              <a:t>&lt;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en-US" altLang="zh-CN" dirty="0">
                <a:sym typeface="Calibri" pitchFamily="34" charset="0"/>
              </a:rPr>
              <a:t>,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dirty="0">
                <a:sym typeface="Calibri" pitchFamily="34" charset="0"/>
              </a:rPr>
              <a:t>&gt;</a:t>
            </a:r>
            <a:r>
              <a:rPr lang="zh-CN" altLang="en-US" dirty="0">
                <a:sym typeface="Calibri" pitchFamily="34" charset="0"/>
              </a:rPr>
              <a:t>中可以用与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等价的依赖集</a:t>
            </a:r>
            <a:r>
              <a:rPr lang="en-US" altLang="zh-CN" i="1" dirty="0">
                <a:sym typeface="Calibri" pitchFamily="34" charset="0"/>
              </a:rPr>
              <a:t>G</a:t>
            </a:r>
            <a:r>
              <a:rPr lang="zh-CN" altLang="en-US" dirty="0">
                <a:sym typeface="Calibri" pitchFamily="34" charset="0"/>
              </a:rPr>
              <a:t>来取代</a:t>
            </a:r>
            <a:r>
              <a:rPr lang="en-US" altLang="zh-CN" i="1" dirty="0">
                <a:sym typeface="Calibri" pitchFamily="34" charset="0"/>
              </a:rPr>
              <a:t>F</a:t>
            </a:r>
            <a:endParaRPr lang="zh-CN" altLang="en-US" i="1" dirty="0">
              <a:sym typeface="Calibri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原因：两个关系模式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baseline="-25000" dirty="0">
                <a:sym typeface="Calibri" pitchFamily="34" charset="0"/>
              </a:rPr>
              <a:t>1</a:t>
            </a:r>
            <a:r>
              <a:rPr lang="en-US" altLang="zh-CN" dirty="0">
                <a:sym typeface="Calibri" pitchFamily="34" charset="0"/>
              </a:rPr>
              <a:t> &lt;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en-US" altLang="zh-CN" dirty="0">
                <a:sym typeface="Calibri" pitchFamily="34" charset="0"/>
              </a:rPr>
              <a:t>,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dirty="0">
                <a:sym typeface="Calibri" pitchFamily="34" charset="0"/>
              </a:rPr>
              <a:t>&gt;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baseline="-25000" dirty="0">
                <a:sym typeface="Calibri" pitchFamily="34" charset="0"/>
              </a:rPr>
              <a:t>2</a:t>
            </a:r>
            <a:r>
              <a:rPr lang="en-US" altLang="zh-CN" dirty="0">
                <a:sym typeface="Calibri" pitchFamily="34" charset="0"/>
              </a:rPr>
              <a:t>&lt;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en-US" altLang="zh-CN" dirty="0">
                <a:sym typeface="Calibri" pitchFamily="34" charset="0"/>
              </a:rPr>
              <a:t>,</a:t>
            </a:r>
            <a:r>
              <a:rPr lang="en-US" altLang="zh-CN" i="1" dirty="0">
                <a:sym typeface="Calibri" pitchFamily="34" charset="0"/>
              </a:rPr>
              <a:t>G</a:t>
            </a:r>
            <a:r>
              <a:rPr lang="en-US" altLang="zh-CN" dirty="0">
                <a:sym typeface="Calibri" pitchFamily="34" charset="0"/>
              </a:rPr>
              <a:t>&gt;</a:t>
            </a:r>
            <a:r>
              <a:rPr lang="zh-CN" altLang="en-US" dirty="0">
                <a:sym typeface="Calibri" pitchFamily="34" charset="0"/>
              </a:rPr>
              <a:t>，如果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与</a:t>
            </a:r>
            <a:r>
              <a:rPr lang="en-US" altLang="zh-CN" i="1" dirty="0">
                <a:sym typeface="Calibri" pitchFamily="34" charset="0"/>
              </a:rPr>
              <a:t>G</a:t>
            </a:r>
            <a:r>
              <a:rPr lang="zh-CN" altLang="en-US" dirty="0">
                <a:sym typeface="Calibri" pitchFamily="34" charset="0"/>
              </a:rPr>
              <a:t>等价，那么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baseline="-25000" dirty="0">
                <a:sym typeface="Calibri" pitchFamily="34" charset="0"/>
              </a:rPr>
              <a:t>1</a:t>
            </a:r>
            <a:r>
              <a:rPr lang="zh-CN" altLang="en-US" dirty="0">
                <a:sym typeface="Calibri" pitchFamily="34" charset="0"/>
              </a:rPr>
              <a:t>的关系一定是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baseline="-25000" dirty="0">
                <a:sym typeface="Calibri" pitchFamily="34" charset="0"/>
              </a:rPr>
              <a:t>2</a:t>
            </a:r>
            <a:r>
              <a:rPr lang="zh-CN" altLang="en-US" dirty="0">
                <a:sym typeface="Calibri" pitchFamily="34" charset="0"/>
              </a:rPr>
              <a:t>的关系。反过来，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baseline="-25000" dirty="0">
                <a:sym typeface="Calibri" pitchFamily="34" charset="0"/>
              </a:rPr>
              <a:t>2</a:t>
            </a:r>
            <a:r>
              <a:rPr lang="zh-CN" altLang="en-US" dirty="0">
                <a:sym typeface="Calibri" pitchFamily="34" charset="0"/>
              </a:rPr>
              <a:t>的关系也一定是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baseline="-25000" dirty="0">
                <a:sym typeface="Calibri" pitchFamily="34" charset="0"/>
              </a:rPr>
              <a:t>1</a:t>
            </a:r>
            <a:r>
              <a:rPr lang="zh-CN" altLang="en-US" dirty="0">
                <a:sym typeface="Calibri" pitchFamily="34" charset="0"/>
              </a:rPr>
              <a:t>的关系。  </a:t>
            </a:r>
            <a:endParaRPr lang="zh-CN" altLang="en-US" dirty="0"/>
          </a:p>
        </p:txBody>
      </p:sp>
      <p:sp>
        <p:nvSpPr>
          <p:cNvPr id="112645" name="Rectangle 2"/>
          <p:cNvSpPr>
            <a:spLocks noGrp="1" noChangeArrowheads="1"/>
          </p:cNvSpPr>
          <p:nvPr/>
        </p:nvSpPr>
        <p:spPr bwMode="auto">
          <a:xfrm>
            <a:off x="457200" y="41275"/>
            <a:ext cx="82296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sym typeface="微软雅黑" pitchFamily="34" charset="-122"/>
              </a:rPr>
              <a:t>数据依赖的公理系统（续） 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9"/>
          <p:cNvSpPr>
            <a:spLocks noChangeArrowheads="1"/>
          </p:cNvSpPr>
          <p:nvPr/>
        </p:nvSpPr>
        <p:spPr bwMode="auto">
          <a:xfrm>
            <a:off x="331109" y="1988840"/>
            <a:ext cx="883607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600" b="1" dirty="0">
                <a:latin typeface="Tahoma" panose="020B0604030504040204" pitchFamily="34" charset="0"/>
              </a:rPr>
              <a:t>例：学生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(</a:t>
            </a:r>
            <a:r>
              <a:rPr kumimoji="1" lang="zh-CN" altLang="en-US" sz="2600" b="1" dirty="0">
                <a:solidFill>
                  <a:srgbClr val="FF0000"/>
                </a:solidFill>
                <a:latin typeface="Tahoma" panose="020B0604030504040204" pitchFamily="34" charset="0"/>
              </a:rPr>
              <a:t>学号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姓名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系名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系主任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solidFill>
                  <a:srgbClr val="FF0000"/>
                </a:solidFill>
                <a:latin typeface="Tahoma" panose="020B0604030504040204" pitchFamily="34" charset="0"/>
              </a:rPr>
              <a:t>课程号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课程名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分数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48483" name="Rectangle 10"/>
          <p:cNvSpPr>
            <a:spLocks noChangeArrowheads="1"/>
          </p:cNvSpPr>
          <p:nvPr/>
        </p:nvSpPr>
        <p:spPr bwMode="auto">
          <a:xfrm>
            <a:off x="1042988" y="2636912"/>
            <a:ext cx="756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99"/>
                </a:solidFill>
              </a:rPr>
              <a:t>F={</a:t>
            </a:r>
            <a:r>
              <a:rPr kumimoji="1" lang="zh-CN" altLang="en-US" sz="2400" b="1" dirty="0"/>
              <a:t>学号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姓名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课程号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课程名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系名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系主任</a:t>
            </a:r>
            <a:r>
              <a:rPr kumimoji="1" lang="en-US" altLang="zh-CN" sz="2400" b="1" dirty="0"/>
              <a:t>,</a:t>
            </a:r>
          </a:p>
          <a:p>
            <a:pPr eaLnBrk="1" hangingPunct="1"/>
            <a:r>
              <a:rPr kumimoji="1" lang="en-US" altLang="zh-CN" sz="2400" b="1" dirty="0"/>
              <a:t>  </a:t>
            </a:r>
            <a:r>
              <a:rPr kumimoji="1" lang="zh-CN" altLang="en-US" sz="2400" b="1" dirty="0"/>
              <a:t>学号→系主任，学号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系名</a:t>
            </a:r>
            <a:r>
              <a:rPr kumimoji="1" lang="en-US" altLang="zh-CN" sz="2400" b="1" dirty="0"/>
              <a:t>, </a:t>
            </a:r>
            <a:r>
              <a:rPr lang="en-US" altLang="zh-CN" sz="2400" b="1" dirty="0"/>
              <a:t>(</a:t>
            </a:r>
            <a:r>
              <a:rPr kumimoji="1" lang="zh-CN" altLang="en-US" sz="2400" b="1" dirty="0"/>
              <a:t>学号</a:t>
            </a:r>
            <a:r>
              <a:rPr lang="en-US" altLang="zh-CN" sz="2400" b="1" dirty="0"/>
              <a:t>,</a:t>
            </a:r>
            <a:r>
              <a:rPr kumimoji="1" lang="zh-CN" altLang="en-US" sz="2400" b="1" dirty="0"/>
              <a:t>课程号</a:t>
            </a:r>
            <a:r>
              <a:rPr lang="en-US" altLang="zh-CN" sz="2400" b="1" dirty="0"/>
              <a:t>) → </a:t>
            </a:r>
            <a:r>
              <a:rPr kumimoji="1" lang="zh-CN" altLang="en-US" sz="2400" b="1" dirty="0"/>
              <a:t>分数</a:t>
            </a: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</a:p>
        </p:txBody>
      </p:sp>
      <p:sp>
        <p:nvSpPr>
          <p:cNvPr id="5" name="Rectangle 2"/>
          <p:cNvSpPr>
            <a:spLocks noGrp="1" noChangeArrowheads="1"/>
          </p:cNvSpPr>
          <p:nvPr/>
        </p:nvSpPr>
        <p:spPr bwMode="auto">
          <a:xfrm>
            <a:off x="474250" y="0"/>
            <a:ext cx="82296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sym typeface="微软雅黑" pitchFamily="34" charset="-122"/>
              </a:rPr>
              <a:t>数据依赖的公理系统（续） </a:t>
            </a:r>
          </a:p>
        </p:txBody>
      </p:sp>
    </p:spTree>
    <p:extLst>
      <p:ext uri="{BB962C8B-B14F-4D97-AF65-F5344CB8AC3E}">
        <p14:creationId xmlns:p14="http://schemas.microsoft.com/office/powerpoint/2010/main" val="1957561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9"/>
          <p:cNvSpPr>
            <a:spLocks noChangeArrowheads="1"/>
          </p:cNvSpPr>
          <p:nvPr/>
        </p:nvSpPr>
        <p:spPr bwMode="auto">
          <a:xfrm>
            <a:off x="323850" y="832693"/>
            <a:ext cx="883607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600" b="1" dirty="0">
                <a:latin typeface="Tahoma" panose="020B0604030504040204" pitchFamily="34" charset="0"/>
              </a:rPr>
              <a:t>例：学生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(</a:t>
            </a:r>
            <a:r>
              <a:rPr kumimoji="1" lang="zh-CN" altLang="en-US" sz="2600" b="1" dirty="0">
                <a:solidFill>
                  <a:srgbClr val="FF0000"/>
                </a:solidFill>
                <a:latin typeface="Tahoma" panose="020B0604030504040204" pitchFamily="34" charset="0"/>
              </a:rPr>
              <a:t>学号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姓名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系名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系主任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solidFill>
                  <a:srgbClr val="FF0000"/>
                </a:solidFill>
                <a:latin typeface="Tahoma" panose="020B0604030504040204" pitchFamily="34" charset="0"/>
              </a:rPr>
              <a:t>课程号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课程名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, </a:t>
            </a:r>
            <a:r>
              <a:rPr kumimoji="1" lang="zh-CN" altLang="en-US" sz="2600" b="1" dirty="0">
                <a:latin typeface="Tahoma" panose="020B0604030504040204" pitchFamily="34" charset="0"/>
              </a:rPr>
              <a:t>分数</a:t>
            </a:r>
            <a:r>
              <a:rPr kumimoji="1" lang="en-US" altLang="zh-CN" sz="2600" b="1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48483" name="Rectangle 10"/>
          <p:cNvSpPr>
            <a:spLocks noChangeArrowheads="1"/>
          </p:cNvSpPr>
          <p:nvPr/>
        </p:nvSpPr>
        <p:spPr bwMode="auto">
          <a:xfrm>
            <a:off x="1042988" y="1404193"/>
            <a:ext cx="756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99"/>
                </a:solidFill>
              </a:rPr>
              <a:t>F={</a:t>
            </a:r>
            <a:r>
              <a:rPr kumimoji="1" lang="zh-CN" altLang="en-US" sz="2400" b="1" dirty="0"/>
              <a:t>学号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姓名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课程号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课程名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系名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系主任</a:t>
            </a:r>
            <a:r>
              <a:rPr kumimoji="1" lang="en-US" altLang="zh-CN" sz="2400" b="1" dirty="0"/>
              <a:t>,</a:t>
            </a:r>
          </a:p>
          <a:p>
            <a:pPr eaLnBrk="1" hangingPunct="1"/>
            <a:r>
              <a:rPr kumimoji="1" lang="en-US" altLang="zh-CN" sz="2400" b="1" dirty="0"/>
              <a:t>  </a:t>
            </a:r>
            <a:r>
              <a:rPr kumimoji="1" lang="zh-CN" altLang="en-US" sz="2400" b="1" dirty="0"/>
              <a:t>学号→系主任，学号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系名</a:t>
            </a:r>
            <a:r>
              <a:rPr kumimoji="1" lang="en-US" altLang="zh-CN" sz="2400" b="1" dirty="0"/>
              <a:t>, </a:t>
            </a:r>
            <a:r>
              <a:rPr lang="en-US" altLang="zh-CN" sz="2400" b="1" dirty="0"/>
              <a:t>(</a:t>
            </a:r>
            <a:r>
              <a:rPr kumimoji="1" lang="zh-CN" altLang="en-US" sz="2400" b="1" dirty="0"/>
              <a:t>学号</a:t>
            </a:r>
            <a:r>
              <a:rPr lang="en-US" altLang="zh-CN" sz="2400" b="1" dirty="0"/>
              <a:t>,</a:t>
            </a:r>
            <a:r>
              <a:rPr kumimoji="1" lang="zh-CN" altLang="en-US" sz="2400" b="1" dirty="0"/>
              <a:t>课程号</a:t>
            </a:r>
            <a:r>
              <a:rPr lang="en-US" altLang="zh-CN" sz="2400" b="1" dirty="0"/>
              <a:t>) → </a:t>
            </a:r>
            <a:r>
              <a:rPr kumimoji="1" lang="zh-CN" altLang="en-US" sz="2400" b="1" dirty="0"/>
              <a:t>分数</a:t>
            </a: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</a:p>
        </p:txBody>
      </p:sp>
      <p:sp>
        <p:nvSpPr>
          <p:cNvPr id="148484" name="Rectangle 11"/>
          <p:cNvSpPr>
            <a:spLocks noChangeArrowheads="1"/>
          </p:cNvSpPr>
          <p:nvPr/>
        </p:nvSpPr>
        <p:spPr bwMode="auto">
          <a:xfrm>
            <a:off x="971550" y="2261443"/>
            <a:ext cx="7704138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、使每一函数依赖右边单属性化：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0099"/>
                </a:solidFill>
              </a:rPr>
              <a:t>逐一检查</a:t>
            </a:r>
            <a:r>
              <a:rPr lang="en-US" altLang="zh-CN" sz="2400" b="1" dirty="0">
                <a:solidFill>
                  <a:srgbClr val="000099"/>
                </a:solidFill>
              </a:rPr>
              <a:t>F</a:t>
            </a:r>
            <a:r>
              <a:rPr lang="zh-CN" altLang="en-US" sz="2400" b="1" dirty="0">
                <a:solidFill>
                  <a:srgbClr val="000099"/>
                </a:solidFill>
              </a:rPr>
              <a:t>中各函数依赖</a:t>
            </a:r>
            <a:r>
              <a:rPr lang="en-US" altLang="zh-CN" sz="2400" b="1" dirty="0" err="1">
                <a:solidFill>
                  <a:srgbClr val="000099"/>
                </a:solidFill>
              </a:rPr>
              <a:t>FD</a:t>
            </a:r>
            <a:r>
              <a:rPr lang="en-US" altLang="zh-CN" sz="2400" b="1" baseline="-25000" dirty="0" err="1">
                <a:solidFill>
                  <a:srgbClr val="000099"/>
                </a:solidFill>
              </a:rPr>
              <a:t>i</a:t>
            </a:r>
            <a:r>
              <a:rPr lang="zh-CN" altLang="en-US" sz="2400" b="1" dirty="0">
                <a:solidFill>
                  <a:srgbClr val="000099"/>
                </a:solidFill>
              </a:rPr>
              <a:t>：</a:t>
            </a:r>
            <a:r>
              <a:rPr lang="en-US" altLang="zh-CN" sz="2400" b="1" dirty="0" err="1">
                <a:solidFill>
                  <a:srgbClr val="000099"/>
                </a:solidFill>
              </a:rPr>
              <a:t>X→Y</a:t>
            </a:r>
            <a:r>
              <a:rPr lang="zh-CN" altLang="en-US" sz="2400" b="1" dirty="0">
                <a:solidFill>
                  <a:srgbClr val="000099"/>
                </a:solidFill>
              </a:rPr>
              <a:t>，若</a:t>
            </a:r>
            <a:r>
              <a:rPr lang="en-US" altLang="zh-CN" sz="2400" b="1" dirty="0">
                <a:solidFill>
                  <a:srgbClr val="000099"/>
                </a:solidFill>
              </a:rPr>
              <a:t>Y=</a:t>
            </a:r>
            <a:r>
              <a:rPr lang="en-US" altLang="zh-CN" sz="2400" b="1" dirty="0" err="1">
                <a:solidFill>
                  <a:srgbClr val="000099"/>
                </a:solidFill>
              </a:rPr>
              <a:t>A</a:t>
            </a:r>
            <a:r>
              <a:rPr lang="en-US" altLang="zh-CN" sz="2400" b="1" baseline="-25000" dirty="0" err="1">
                <a:solidFill>
                  <a:srgbClr val="000099"/>
                </a:solidFill>
              </a:rPr>
              <a:t>1</a:t>
            </a:r>
            <a:r>
              <a:rPr lang="en-US" altLang="zh-CN" sz="2400" b="1" dirty="0" err="1">
                <a:solidFill>
                  <a:srgbClr val="000099"/>
                </a:solidFill>
              </a:rPr>
              <a:t>A</a:t>
            </a:r>
            <a:r>
              <a:rPr lang="en-US" altLang="zh-CN" sz="2400" b="1" baseline="-25000" dirty="0" err="1">
                <a:solidFill>
                  <a:srgbClr val="000099"/>
                </a:solidFill>
              </a:rPr>
              <a:t>2</a:t>
            </a:r>
            <a:r>
              <a:rPr lang="en-US" altLang="zh-CN" sz="2400" b="1" dirty="0">
                <a:solidFill>
                  <a:srgbClr val="000099"/>
                </a:solidFill>
              </a:rPr>
              <a:t>…</a:t>
            </a:r>
            <a:r>
              <a:rPr lang="en-US" altLang="zh-CN" sz="2400" b="1" dirty="0" err="1">
                <a:solidFill>
                  <a:srgbClr val="000099"/>
                </a:solidFill>
              </a:rPr>
              <a:t>A</a:t>
            </a:r>
            <a:r>
              <a:rPr lang="en-US" altLang="zh-CN" sz="2400" b="1" baseline="-25000" dirty="0" err="1">
                <a:solidFill>
                  <a:srgbClr val="000099"/>
                </a:solidFill>
              </a:rPr>
              <a:t>k</a:t>
            </a:r>
            <a:r>
              <a:rPr lang="zh-CN" altLang="en-US" sz="2400" b="1" dirty="0">
                <a:solidFill>
                  <a:srgbClr val="000099"/>
                </a:solidFill>
              </a:rPr>
              <a:t>，则以 </a:t>
            </a:r>
            <a:r>
              <a:rPr lang="en-US" altLang="zh-CN" sz="2400" b="1" dirty="0">
                <a:solidFill>
                  <a:srgbClr val="000099"/>
                </a:solidFill>
              </a:rPr>
              <a:t>{ </a:t>
            </a:r>
            <a:r>
              <a:rPr lang="en-US" altLang="zh-CN" sz="2400" b="1" dirty="0" err="1">
                <a:solidFill>
                  <a:srgbClr val="000099"/>
                </a:solidFill>
              </a:rPr>
              <a:t>X→A</a:t>
            </a:r>
            <a:r>
              <a:rPr lang="en-US" altLang="zh-CN" sz="2400" b="1" baseline="-25000" dirty="0" err="1">
                <a:solidFill>
                  <a:srgbClr val="000099"/>
                </a:solidFill>
              </a:rPr>
              <a:t>j</a:t>
            </a:r>
            <a:r>
              <a:rPr lang="en-US" altLang="zh-CN" sz="2400" b="1" baseline="-25000" dirty="0">
                <a:solidFill>
                  <a:srgbClr val="000099"/>
                </a:solidFill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</a:rPr>
              <a:t>|j=1,2,…,k} </a:t>
            </a:r>
            <a:r>
              <a:rPr lang="zh-CN" altLang="en-US" sz="2400" b="1" dirty="0">
                <a:solidFill>
                  <a:srgbClr val="000099"/>
                </a:solidFill>
              </a:rPr>
              <a:t>取代</a:t>
            </a:r>
            <a:r>
              <a:rPr lang="en-US" altLang="zh-CN" sz="2400" b="1" dirty="0" err="1">
                <a:solidFill>
                  <a:srgbClr val="000099"/>
                </a:solidFill>
              </a:rPr>
              <a:t>X→Y</a:t>
            </a:r>
            <a:r>
              <a:rPr lang="zh-CN" altLang="en-US" sz="2400" b="1" dirty="0">
                <a:solidFill>
                  <a:srgbClr val="000099"/>
                </a:solidFill>
              </a:rPr>
              <a:t>。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、去掉多余的函数依赖：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b="1" dirty="0"/>
              <a:t>去掉：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学号</a:t>
            </a:r>
            <a:r>
              <a:rPr lang="zh-CN" altLang="en-US" sz="24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姓名</a:t>
            </a:r>
            <a:endParaRPr lang="zh-CN" altLang="en-US" sz="24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 err="1">
                <a:solidFill>
                  <a:srgbClr val="000099"/>
                </a:solidFill>
              </a:rPr>
              <a:t>G1</a:t>
            </a:r>
            <a:r>
              <a:rPr lang="en-US" altLang="zh-CN" sz="2400" b="1" dirty="0">
                <a:solidFill>
                  <a:srgbClr val="000099"/>
                </a:solidFill>
              </a:rPr>
              <a:t>={</a:t>
            </a:r>
            <a:r>
              <a:rPr kumimoji="1" lang="zh-CN" altLang="en-US" sz="2400" b="1" dirty="0"/>
              <a:t>课程号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课程名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系名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系主任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学号→系主任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b="1" dirty="0"/>
              <a:t>      学号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系名</a:t>
            </a:r>
            <a:r>
              <a:rPr kumimoji="1" lang="en-US" altLang="zh-CN" sz="2400" b="1" dirty="0"/>
              <a:t>, </a:t>
            </a:r>
            <a:r>
              <a:rPr lang="en-US" altLang="zh-CN" sz="2400" b="1" dirty="0"/>
              <a:t>(</a:t>
            </a:r>
            <a:r>
              <a:rPr kumimoji="1" lang="zh-CN" altLang="en-US" sz="2400" b="1" dirty="0"/>
              <a:t>学号</a:t>
            </a:r>
            <a:r>
              <a:rPr lang="en-US" altLang="zh-CN" sz="2400" b="1" dirty="0"/>
              <a:t>,</a:t>
            </a:r>
            <a:r>
              <a:rPr kumimoji="1" lang="zh-CN" altLang="en-US" sz="2400" b="1" dirty="0"/>
              <a:t>课程号</a:t>
            </a:r>
            <a:r>
              <a:rPr lang="en-US" altLang="zh-CN" sz="2400" b="1" dirty="0"/>
              <a:t>) → </a:t>
            </a:r>
            <a:r>
              <a:rPr kumimoji="1" lang="zh-CN" altLang="en-US" sz="2400" b="1" dirty="0"/>
              <a:t>分数</a:t>
            </a: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  <a:r>
              <a:rPr lang="zh-CN" altLang="en-US" sz="2400" b="1" dirty="0">
                <a:solidFill>
                  <a:srgbClr val="000099"/>
                </a:solidFill>
              </a:rPr>
              <a:t>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0099"/>
                </a:solidFill>
              </a:rPr>
              <a:t>求（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学号）</a:t>
            </a:r>
            <a:r>
              <a:rPr lang="en-US" altLang="zh-CN" sz="2400" b="1" baseline="-25000" dirty="0" err="1">
                <a:solidFill>
                  <a:srgbClr val="000099"/>
                </a:solidFill>
              </a:rPr>
              <a:t>G1</a:t>
            </a:r>
            <a:r>
              <a:rPr lang="en-US" altLang="zh-CN" sz="2400" b="1" baseline="30000" dirty="0">
                <a:solidFill>
                  <a:srgbClr val="000099"/>
                </a:solidFill>
              </a:rPr>
              <a:t>+ </a:t>
            </a:r>
            <a:r>
              <a:rPr lang="zh-CN" altLang="en-US" sz="2400" b="1" baseline="30000" dirty="0">
                <a:solidFill>
                  <a:srgbClr val="000099"/>
                </a:solidFill>
              </a:rPr>
              <a:t>，</a:t>
            </a:r>
            <a:r>
              <a:rPr lang="zh-CN" altLang="en-US" sz="2400" b="1" dirty="0">
                <a:solidFill>
                  <a:srgbClr val="000099"/>
                </a:solidFill>
              </a:rPr>
              <a:t>检查“姓名”是否属于该闭包。如果是则去掉该函数依赖。同理检查其他四个函数依赖。</a:t>
            </a:r>
          </a:p>
        </p:txBody>
      </p:sp>
      <p:sp>
        <p:nvSpPr>
          <p:cNvPr id="5" name="Rectangle 2"/>
          <p:cNvSpPr>
            <a:spLocks noGrp="1" noChangeArrowheads="1"/>
          </p:cNvSpPr>
          <p:nvPr/>
        </p:nvSpPr>
        <p:spPr bwMode="auto">
          <a:xfrm>
            <a:off x="474250" y="0"/>
            <a:ext cx="82296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sym typeface="微软雅黑" pitchFamily="34" charset="-122"/>
              </a:rPr>
              <a:t>数据依赖的公理系统（续） </a:t>
            </a: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83040231-E61A-5023-4995-7B37CE802F52}"/>
              </a:ext>
            </a:extLst>
          </p:cNvPr>
          <p:cNvSpPr/>
          <p:nvPr/>
        </p:nvSpPr>
        <p:spPr bwMode="auto">
          <a:xfrm>
            <a:off x="1979712" y="1344091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586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4"/>
          <p:cNvSpPr>
            <a:spLocks noChangeArrowheads="1"/>
          </p:cNvSpPr>
          <p:nvPr/>
        </p:nvSpPr>
        <p:spPr bwMode="auto">
          <a:xfrm>
            <a:off x="1188393" y="1628800"/>
            <a:ext cx="676721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kumimoji="1" lang="zh-CN" altLang="en-US" sz="2200" b="1" dirty="0"/>
              <a:t>去掉：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课程号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课程名</a:t>
            </a:r>
            <a:endParaRPr lang="zh-CN" altLang="en-US" sz="22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z="2200" dirty="0"/>
              <a:t> </a:t>
            </a:r>
            <a:r>
              <a:rPr lang="en-US" altLang="zh-CN" sz="2200" b="1" dirty="0" err="1">
                <a:solidFill>
                  <a:srgbClr val="000099"/>
                </a:solidFill>
              </a:rPr>
              <a:t>G2</a:t>
            </a:r>
            <a:r>
              <a:rPr lang="en-US" altLang="zh-CN" sz="2200" b="1" dirty="0">
                <a:solidFill>
                  <a:srgbClr val="000099"/>
                </a:solidFill>
              </a:rPr>
              <a:t>={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学号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姓名，</a:t>
            </a:r>
            <a:r>
              <a:rPr kumimoji="1" lang="zh-CN" altLang="en-US" sz="2200" b="1" dirty="0"/>
              <a:t>系名</a:t>
            </a:r>
            <a:r>
              <a:rPr lang="zh-CN" altLang="en-US" sz="2200" b="1" dirty="0"/>
              <a:t>→</a:t>
            </a:r>
            <a:r>
              <a:rPr kumimoji="1" lang="zh-CN" altLang="en-US" sz="2200" b="1" dirty="0"/>
              <a:t>系主任</a:t>
            </a:r>
            <a:r>
              <a:rPr kumimoji="1" lang="en-US" altLang="zh-CN" sz="2200" b="1" dirty="0"/>
              <a:t>,</a:t>
            </a:r>
            <a:r>
              <a:rPr kumimoji="1" lang="zh-CN" altLang="en-US" sz="2200" b="1" dirty="0"/>
              <a:t>学号→系主任</a:t>
            </a:r>
          </a:p>
          <a:p>
            <a:pPr eaLnBrk="1" hangingPunct="1">
              <a:lnSpc>
                <a:spcPct val="100000"/>
              </a:lnSpc>
            </a:pPr>
            <a:r>
              <a:rPr kumimoji="1" lang="zh-CN" altLang="en-US" sz="2200" b="1" dirty="0"/>
              <a:t>      学号</a:t>
            </a:r>
            <a:r>
              <a:rPr lang="zh-CN" altLang="en-US" sz="2200" b="1" dirty="0"/>
              <a:t>→</a:t>
            </a:r>
            <a:r>
              <a:rPr kumimoji="1" lang="zh-CN" altLang="en-US" sz="2200" b="1" dirty="0"/>
              <a:t>系名</a:t>
            </a:r>
            <a:r>
              <a:rPr kumimoji="1" lang="en-US" altLang="zh-CN" sz="2200" b="1" dirty="0"/>
              <a:t>, </a:t>
            </a:r>
            <a:r>
              <a:rPr lang="en-US" altLang="zh-CN" sz="2200" b="1" dirty="0"/>
              <a:t>(</a:t>
            </a:r>
            <a:r>
              <a:rPr kumimoji="1" lang="zh-CN" altLang="en-US" sz="2200" b="1" dirty="0"/>
              <a:t>学号</a:t>
            </a:r>
            <a:r>
              <a:rPr lang="en-US" altLang="zh-CN" sz="2200" b="1" dirty="0"/>
              <a:t>,</a:t>
            </a:r>
            <a:r>
              <a:rPr kumimoji="1" lang="zh-CN" altLang="en-US" sz="2200" b="1" dirty="0"/>
              <a:t>课程号</a:t>
            </a:r>
            <a:r>
              <a:rPr lang="en-US" altLang="zh-CN" sz="2200" b="1" dirty="0"/>
              <a:t>) → </a:t>
            </a:r>
            <a:r>
              <a:rPr kumimoji="1" lang="zh-CN" altLang="en-US" sz="2200" b="1" dirty="0"/>
              <a:t>分数</a:t>
            </a:r>
            <a:r>
              <a:rPr lang="en-US" altLang="zh-CN" sz="2200" b="1" dirty="0">
                <a:solidFill>
                  <a:srgbClr val="000099"/>
                </a:solidFill>
              </a:rPr>
              <a:t>}</a:t>
            </a:r>
            <a:endParaRPr kumimoji="1" lang="en-US" altLang="zh-CN" sz="22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kumimoji="1" lang="zh-CN" altLang="en-US" sz="2200" b="1" dirty="0"/>
              <a:t>去掉：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系名→系主任</a:t>
            </a:r>
          </a:p>
          <a:p>
            <a:pPr eaLnBrk="1" hangingPunct="1">
              <a:lnSpc>
                <a:spcPct val="100000"/>
              </a:lnSpc>
            </a:pPr>
            <a:r>
              <a:rPr kumimoji="1" lang="en-US" altLang="zh-CN" sz="2200" b="1" dirty="0" err="1"/>
              <a:t>G3</a:t>
            </a:r>
            <a:r>
              <a:rPr kumimoji="1" lang="en-US" altLang="zh-CN" sz="2200" b="1" dirty="0"/>
              <a:t>=</a:t>
            </a:r>
            <a:r>
              <a:rPr lang="en-US" altLang="zh-CN" sz="2200" b="1" dirty="0"/>
              <a:t>{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学号→姓名，课程号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课程名，</a:t>
            </a:r>
            <a:r>
              <a:rPr kumimoji="1" lang="zh-CN" altLang="en-US" sz="2200" b="1" dirty="0"/>
              <a:t> 学号</a:t>
            </a:r>
            <a:r>
              <a:rPr lang="zh-CN" altLang="en-US" sz="2200" b="1" dirty="0"/>
              <a:t>→</a:t>
            </a:r>
            <a:r>
              <a:rPr kumimoji="1" lang="zh-CN" altLang="en-US" sz="2200" b="1" dirty="0"/>
              <a:t>系名</a:t>
            </a:r>
            <a:r>
              <a:rPr kumimoji="1" lang="en-US" altLang="zh-CN" sz="2200" b="1" dirty="0"/>
              <a:t>,</a:t>
            </a:r>
          </a:p>
          <a:p>
            <a:pPr eaLnBrk="1" hangingPunct="1">
              <a:lnSpc>
                <a:spcPct val="100000"/>
              </a:lnSpc>
            </a:pPr>
            <a:r>
              <a:rPr kumimoji="1" lang="en-US" altLang="zh-CN" sz="2200" b="1" dirty="0"/>
              <a:t>      </a:t>
            </a:r>
            <a:r>
              <a:rPr kumimoji="1" lang="zh-CN" altLang="en-US" sz="2200" b="1" dirty="0"/>
              <a:t>学号→系主任</a:t>
            </a:r>
            <a:r>
              <a:rPr kumimoji="1" lang="en-US" altLang="zh-CN" sz="2200" b="1" dirty="0"/>
              <a:t>,</a:t>
            </a:r>
            <a:r>
              <a:rPr lang="en-US" altLang="zh-CN" sz="2200" b="1" dirty="0"/>
              <a:t>(</a:t>
            </a:r>
            <a:r>
              <a:rPr kumimoji="1" lang="zh-CN" altLang="en-US" sz="2200" b="1" dirty="0"/>
              <a:t>学号</a:t>
            </a:r>
            <a:r>
              <a:rPr lang="en-US" altLang="zh-CN" sz="2200" b="1" dirty="0"/>
              <a:t>,</a:t>
            </a:r>
            <a:r>
              <a:rPr kumimoji="1" lang="zh-CN" altLang="en-US" sz="2200" b="1" dirty="0"/>
              <a:t>课程号</a:t>
            </a:r>
            <a:r>
              <a:rPr lang="en-US" altLang="zh-CN" sz="2200" b="1" dirty="0"/>
              <a:t>) → </a:t>
            </a:r>
            <a:r>
              <a:rPr kumimoji="1" lang="zh-CN" altLang="en-US" sz="2200" b="1" dirty="0"/>
              <a:t>分数</a:t>
            </a:r>
            <a:r>
              <a:rPr lang="en-US" altLang="zh-CN" sz="2200" b="1" dirty="0"/>
              <a:t>}</a:t>
            </a:r>
          </a:p>
          <a:p>
            <a:pPr eaLnBrk="1" hangingPunct="1">
              <a:lnSpc>
                <a:spcPct val="100000"/>
              </a:lnSpc>
            </a:pPr>
            <a:r>
              <a:rPr kumimoji="1" lang="zh-CN" altLang="en-US" sz="2200" b="1" dirty="0"/>
              <a:t>去掉：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学号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系主任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sz="2200" b="1" dirty="0" err="1">
                <a:solidFill>
                  <a:srgbClr val="000099"/>
                </a:solidFill>
              </a:rPr>
              <a:t>G4</a:t>
            </a:r>
            <a:r>
              <a:rPr lang="en-US" altLang="zh-CN" sz="2200" b="1" dirty="0">
                <a:solidFill>
                  <a:srgbClr val="000099"/>
                </a:solidFill>
              </a:rPr>
              <a:t>={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学号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姓名，课程号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课程名，</a:t>
            </a:r>
            <a:r>
              <a:rPr kumimoji="1" lang="zh-CN" altLang="en-US" sz="2200" b="1" dirty="0"/>
              <a:t>学号</a:t>
            </a:r>
            <a:r>
              <a:rPr lang="zh-CN" altLang="en-US" sz="2200" b="1" dirty="0"/>
              <a:t>→</a:t>
            </a:r>
            <a:r>
              <a:rPr kumimoji="1" lang="zh-CN" altLang="en-US" sz="2200" b="1" dirty="0"/>
              <a:t>系名，</a:t>
            </a:r>
          </a:p>
          <a:p>
            <a:pPr eaLnBrk="1" hangingPunct="1">
              <a:lnSpc>
                <a:spcPct val="100000"/>
              </a:lnSpc>
            </a:pPr>
            <a:r>
              <a:rPr kumimoji="1" lang="zh-CN" altLang="en-US" sz="2200" b="1" dirty="0"/>
              <a:t>      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系名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系主任</a:t>
            </a:r>
            <a:r>
              <a:rPr kumimoji="1" lang="en-US" altLang="zh-CN" sz="2200" b="1" dirty="0"/>
              <a:t>, </a:t>
            </a:r>
            <a:r>
              <a:rPr lang="en-US" altLang="zh-CN" sz="2200" b="1" dirty="0"/>
              <a:t>(</a:t>
            </a:r>
            <a:r>
              <a:rPr kumimoji="1" lang="zh-CN" altLang="en-US" sz="2200" b="1" dirty="0"/>
              <a:t>学号</a:t>
            </a:r>
            <a:r>
              <a:rPr lang="en-US" altLang="zh-CN" sz="2200" b="1" dirty="0"/>
              <a:t>,</a:t>
            </a:r>
            <a:r>
              <a:rPr kumimoji="1" lang="zh-CN" altLang="en-US" sz="2200" b="1" dirty="0"/>
              <a:t>课程号</a:t>
            </a:r>
            <a:r>
              <a:rPr lang="en-US" altLang="zh-CN" sz="2200" b="1" dirty="0"/>
              <a:t>) → </a:t>
            </a:r>
            <a:r>
              <a:rPr kumimoji="1" lang="zh-CN" altLang="en-US" sz="2200" b="1" dirty="0"/>
              <a:t>分数</a:t>
            </a:r>
            <a:r>
              <a:rPr lang="en-US" altLang="zh-CN" sz="2200" b="1" dirty="0">
                <a:solidFill>
                  <a:srgbClr val="000099"/>
                </a:solidFill>
              </a:rPr>
              <a:t>}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sz="2200" b="1" dirty="0">
                <a:solidFill>
                  <a:srgbClr val="000099"/>
                </a:solidFill>
              </a:rPr>
              <a:t>    </a:t>
            </a:r>
            <a:r>
              <a:rPr lang="zh-CN" altLang="en-US" sz="2200" b="1" dirty="0">
                <a:solidFill>
                  <a:srgbClr val="000099"/>
                </a:solidFill>
              </a:rPr>
              <a:t>因学号在</a:t>
            </a:r>
            <a:r>
              <a:rPr lang="en-US" altLang="zh-CN" sz="2200" b="1" dirty="0" err="1">
                <a:solidFill>
                  <a:srgbClr val="000099"/>
                </a:solidFill>
              </a:rPr>
              <a:t>G4</a:t>
            </a:r>
            <a:r>
              <a:rPr lang="zh-CN" altLang="en-US" sz="2200" b="1" dirty="0">
                <a:solidFill>
                  <a:srgbClr val="000099"/>
                </a:solidFill>
              </a:rPr>
              <a:t>上的闭包包含系主任，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200" b="1" dirty="0">
                <a:solidFill>
                  <a:srgbClr val="000099"/>
                </a:solidFill>
              </a:rPr>
              <a:t>    所以函数依赖</a:t>
            </a:r>
            <a:r>
              <a:rPr kumimoji="1" lang="zh-CN" altLang="en-US" sz="2200" b="1" dirty="0"/>
              <a:t>学号</a:t>
            </a:r>
            <a:r>
              <a:rPr lang="zh-CN" altLang="en-US" sz="2200" b="1" dirty="0"/>
              <a:t>→</a:t>
            </a:r>
            <a:r>
              <a:rPr kumimoji="1" lang="zh-CN" altLang="en-US" sz="2200" b="1" dirty="0"/>
              <a:t>系主任</a:t>
            </a:r>
            <a:r>
              <a:rPr lang="zh-CN" altLang="en-US" sz="2200" b="1" dirty="0">
                <a:solidFill>
                  <a:srgbClr val="000099"/>
                </a:solidFill>
              </a:rPr>
              <a:t>可以去掉。</a:t>
            </a:r>
          </a:p>
          <a:p>
            <a:pPr eaLnBrk="1" hangingPunct="1">
              <a:lnSpc>
                <a:spcPct val="100000"/>
              </a:lnSpc>
            </a:pPr>
            <a:r>
              <a:rPr kumimoji="1" lang="zh-CN" altLang="en-US" sz="2200" b="1" dirty="0"/>
              <a:t>去掉：</a:t>
            </a:r>
            <a:r>
              <a:rPr kumimoji="1" lang="zh-CN" altLang="en-US" sz="2200" b="1" dirty="0">
                <a:solidFill>
                  <a:srgbClr val="FF0000"/>
                </a:solidFill>
              </a:rPr>
              <a:t>学号</a:t>
            </a:r>
            <a:r>
              <a:rPr lang="zh-CN" altLang="en-US" sz="2200" b="1" dirty="0">
                <a:solidFill>
                  <a:srgbClr val="FF0000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00"/>
                </a:solidFill>
              </a:rPr>
              <a:t>系名</a:t>
            </a:r>
            <a:endParaRPr lang="zh-CN" altLang="en-US" sz="22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2200" b="1" dirty="0" err="1">
                <a:solidFill>
                  <a:srgbClr val="000099"/>
                </a:solidFill>
              </a:rPr>
              <a:t>G5</a:t>
            </a:r>
            <a:r>
              <a:rPr lang="en-US" altLang="zh-CN" sz="2200" b="1" dirty="0">
                <a:solidFill>
                  <a:srgbClr val="000099"/>
                </a:solidFill>
              </a:rPr>
              <a:t>={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学号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姓名，课程号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课程名，系名</a:t>
            </a:r>
            <a:r>
              <a:rPr lang="zh-CN" altLang="en-US" sz="22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200" b="1" dirty="0">
                <a:solidFill>
                  <a:srgbClr val="FF00FF"/>
                </a:solidFill>
              </a:rPr>
              <a:t>系主任</a:t>
            </a:r>
            <a:r>
              <a:rPr kumimoji="1" lang="en-US" altLang="zh-CN" sz="2200" b="1" dirty="0"/>
              <a:t>, 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sz="2200" b="1" dirty="0"/>
              <a:t>         (</a:t>
            </a:r>
            <a:r>
              <a:rPr kumimoji="1" lang="zh-CN" altLang="en-US" sz="2200" b="1" dirty="0"/>
              <a:t>学号</a:t>
            </a:r>
            <a:r>
              <a:rPr lang="en-US" altLang="zh-CN" sz="2200" b="1" dirty="0"/>
              <a:t>,</a:t>
            </a:r>
            <a:r>
              <a:rPr kumimoji="1" lang="zh-CN" altLang="en-US" sz="2200" b="1" dirty="0"/>
              <a:t>课程号</a:t>
            </a:r>
            <a:r>
              <a:rPr lang="en-US" altLang="zh-CN" sz="2200" b="1" dirty="0"/>
              <a:t>) → </a:t>
            </a:r>
            <a:r>
              <a:rPr kumimoji="1" lang="zh-CN" altLang="en-US" sz="2200" b="1" dirty="0"/>
              <a:t>分数</a:t>
            </a:r>
            <a:r>
              <a:rPr lang="en-US" altLang="zh-CN" sz="2200" b="1" dirty="0">
                <a:solidFill>
                  <a:srgbClr val="000099"/>
                </a:solidFill>
              </a:rPr>
              <a:t>}</a:t>
            </a:r>
            <a:endParaRPr lang="en-US" altLang="zh-CN" sz="2400" b="1" dirty="0">
              <a:solidFill>
                <a:srgbClr val="000099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457200" y="41275"/>
            <a:ext cx="82296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sym typeface="微软雅黑" pitchFamily="34" charset="-122"/>
              </a:rPr>
              <a:t>数据依赖的公理系统（续） </a:t>
            </a: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C8339887-A292-CFC6-4BBE-B7DC0E0FC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808588"/>
            <a:ext cx="756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99"/>
                </a:solidFill>
              </a:rPr>
              <a:t>F={</a:t>
            </a:r>
            <a:r>
              <a:rPr kumimoji="1" lang="zh-CN" altLang="en-US" sz="2400" b="1" dirty="0"/>
              <a:t>学号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姓名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课程号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课程名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系名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系主任</a:t>
            </a:r>
            <a:r>
              <a:rPr kumimoji="1" lang="en-US" altLang="zh-CN" sz="2400" b="1" dirty="0"/>
              <a:t>,</a:t>
            </a:r>
          </a:p>
          <a:p>
            <a:pPr eaLnBrk="1" hangingPunct="1"/>
            <a:r>
              <a:rPr kumimoji="1" lang="en-US" altLang="zh-CN" sz="2400" b="1" dirty="0"/>
              <a:t>  </a:t>
            </a:r>
            <a:r>
              <a:rPr kumimoji="1" lang="zh-CN" altLang="en-US" sz="2400" b="1" dirty="0"/>
              <a:t>学号→系主任，学号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系名</a:t>
            </a:r>
            <a:r>
              <a:rPr kumimoji="1" lang="en-US" altLang="zh-CN" sz="2400" b="1" dirty="0"/>
              <a:t>, </a:t>
            </a:r>
            <a:r>
              <a:rPr lang="en-US" altLang="zh-CN" sz="2400" b="1" dirty="0"/>
              <a:t>(</a:t>
            </a:r>
            <a:r>
              <a:rPr kumimoji="1" lang="zh-CN" altLang="en-US" sz="2400" b="1" dirty="0"/>
              <a:t>学号</a:t>
            </a:r>
            <a:r>
              <a:rPr lang="en-US" altLang="zh-CN" sz="2400" b="1" dirty="0"/>
              <a:t>,</a:t>
            </a:r>
            <a:r>
              <a:rPr kumimoji="1" lang="zh-CN" altLang="en-US" sz="2400" b="1" dirty="0"/>
              <a:t>课程号</a:t>
            </a:r>
            <a:r>
              <a:rPr lang="en-US" altLang="zh-CN" sz="2400" b="1" dirty="0"/>
              <a:t>) → </a:t>
            </a:r>
            <a:r>
              <a:rPr kumimoji="1" lang="zh-CN" altLang="en-US" sz="2400" b="1" dirty="0"/>
              <a:t>分数</a:t>
            </a: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</a:p>
        </p:txBody>
      </p:sp>
      <p:sp>
        <p:nvSpPr>
          <p:cNvPr id="4" name="乘号 3">
            <a:extLst>
              <a:ext uri="{FF2B5EF4-FFF2-40B4-BE49-F238E27FC236}">
                <a16:creationId xmlns:a16="http://schemas.microsoft.com/office/drawing/2014/main" id="{9D22C9C6-FC5A-0261-DD2C-D878C8F012B2}"/>
              </a:ext>
            </a:extLst>
          </p:cNvPr>
          <p:cNvSpPr/>
          <p:nvPr/>
        </p:nvSpPr>
        <p:spPr bwMode="auto">
          <a:xfrm>
            <a:off x="3923928" y="776992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乘号 4">
            <a:extLst>
              <a:ext uri="{FF2B5EF4-FFF2-40B4-BE49-F238E27FC236}">
                <a16:creationId xmlns:a16="http://schemas.microsoft.com/office/drawing/2014/main" id="{99A84522-8538-309C-7C46-FA27CAC0635B}"/>
              </a:ext>
            </a:extLst>
          </p:cNvPr>
          <p:cNvSpPr/>
          <p:nvPr/>
        </p:nvSpPr>
        <p:spPr bwMode="auto">
          <a:xfrm>
            <a:off x="5868144" y="776992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乘号 5">
            <a:extLst>
              <a:ext uri="{FF2B5EF4-FFF2-40B4-BE49-F238E27FC236}">
                <a16:creationId xmlns:a16="http://schemas.microsoft.com/office/drawing/2014/main" id="{62213D87-11E2-0285-41BD-A82B0F717718}"/>
              </a:ext>
            </a:extLst>
          </p:cNvPr>
          <p:cNvSpPr/>
          <p:nvPr/>
        </p:nvSpPr>
        <p:spPr bwMode="auto">
          <a:xfrm>
            <a:off x="1681336" y="1168385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7" name="乘号 6">
            <a:extLst>
              <a:ext uri="{FF2B5EF4-FFF2-40B4-BE49-F238E27FC236}">
                <a16:creationId xmlns:a16="http://schemas.microsoft.com/office/drawing/2014/main" id="{A3F46C09-CB78-2E29-8587-797DA5C66563}"/>
              </a:ext>
            </a:extLst>
          </p:cNvPr>
          <p:cNvSpPr/>
          <p:nvPr/>
        </p:nvSpPr>
        <p:spPr bwMode="auto">
          <a:xfrm>
            <a:off x="3788296" y="1146565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9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7" grpId="0" animBg="1"/>
      <p:bldP spid="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4"/>
          <p:cNvSpPr>
            <a:spLocks noChangeArrowheads="1"/>
          </p:cNvSpPr>
          <p:nvPr/>
        </p:nvSpPr>
        <p:spPr bwMode="auto">
          <a:xfrm>
            <a:off x="971550" y="1988840"/>
            <a:ext cx="74168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/>
              <a:t>去掉： </a:t>
            </a:r>
            <a:r>
              <a:rPr lang="en-US" altLang="zh-CN" sz="2400" b="1" dirty="0">
                <a:solidFill>
                  <a:srgbClr val="FF00FF"/>
                </a:solidFill>
              </a:rPr>
              <a:t>(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学号</a:t>
            </a:r>
            <a:r>
              <a:rPr lang="en-US" altLang="zh-CN" sz="2400" b="1" dirty="0">
                <a:solidFill>
                  <a:srgbClr val="FF00FF"/>
                </a:solidFill>
              </a:rPr>
              <a:t>,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课程号</a:t>
            </a:r>
            <a:r>
              <a:rPr lang="en-US" altLang="zh-CN" sz="2400" b="1" dirty="0">
                <a:solidFill>
                  <a:srgbClr val="FF00FF"/>
                </a:solidFill>
              </a:rPr>
              <a:t>) → 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分数</a:t>
            </a:r>
          </a:p>
          <a:p>
            <a:pPr eaLnBrk="1" hangingPunct="1"/>
            <a:r>
              <a:rPr lang="en-US" altLang="zh-CN" sz="2400" b="1" dirty="0" err="1">
                <a:solidFill>
                  <a:srgbClr val="000099"/>
                </a:solidFill>
              </a:rPr>
              <a:t>G6</a:t>
            </a:r>
            <a:r>
              <a:rPr lang="en-US" altLang="zh-CN" sz="2400" b="1" dirty="0">
                <a:solidFill>
                  <a:srgbClr val="000099"/>
                </a:solidFill>
              </a:rPr>
              <a:t>={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学号</a:t>
            </a:r>
            <a:r>
              <a:rPr lang="zh-CN" altLang="en-US" sz="24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姓名，课程号</a:t>
            </a:r>
            <a:r>
              <a:rPr lang="zh-CN" altLang="en-US" sz="24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课程名，系名</a:t>
            </a:r>
            <a:r>
              <a:rPr lang="zh-CN" altLang="en-US" sz="24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系主任</a:t>
            </a:r>
            <a:r>
              <a:rPr kumimoji="1" lang="en-US" altLang="zh-CN" sz="2400" b="1" dirty="0"/>
              <a:t>, </a:t>
            </a:r>
          </a:p>
          <a:p>
            <a:pPr eaLnBrk="1" hangingPunct="1"/>
            <a:r>
              <a:rPr kumimoji="1" lang="zh-CN" altLang="en-US" sz="2400" b="1" dirty="0">
                <a:solidFill>
                  <a:srgbClr val="FF00FF"/>
                </a:solidFill>
              </a:rPr>
              <a:t>学号</a:t>
            </a:r>
            <a:r>
              <a:rPr lang="zh-CN" altLang="en-US" sz="2400" b="1" dirty="0">
                <a:solidFill>
                  <a:srgbClr val="FF00FF"/>
                </a:solidFill>
              </a:rPr>
              <a:t>→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系名</a:t>
            </a: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  <a:r>
              <a:rPr lang="zh-CN" altLang="en-US" sz="2400" b="1" dirty="0">
                <a:solidFill>
                  <a:srgbClr val="000099"/>
                </a:solidFill>
              </a:rPr>
              <a:t>。</a:t>
            </a:r>
          </a:p>
          <a:p>
            <a:pPr eaLnBrk="1" hangingPunct="1"/>
            <a:endParaRPr lang="zh-CN" altLang="en-US" sz="2400" b="1" dirty="0">
              <a:solidFill>
                <a:srgbClr val="000099"/>
              </a:solidFill>
            </a:endParaRPr>
          </a:p>
          <a:p>
            <a:pPr eaLnBrk="1" hangingPunct="1"/>
            <a:r>
              <a:rPr lang="en-US" altLang="zh-CN" sz="2400" b="1" dirty="0" err="1">
                <a:solidFill>
                  <a:srgbClr val="000099"/>
                </a:solidFill>
              </a:rPr>
              <a:t>G7</a:t>
            </a:r>
            <a:r>
              <a:rPr lang="en-US" altLang="zh-CN" sz="2400" b="1" dirty="0">
                <a:solidFill>
                  <a:srgbClr val="000099"/>
                </a:solidFill>
              </a:rPr>
              <a:t>={</a:t>
            </a:r>
            <a:r>
              <a:rPr lang="zh-CN" altLang="en-US" sz="2400" b="1" dirty="0">
                <a:solidFill>
                  <a:srgbClr val="000099"/>
                </a:solidFill>
              </a:rPr>
              <a:t>学号→姓名，课程号→课程名，系名→系主任</a:t>
            </a:r>
            <a:r>
              <a:rPr lang="en-US" altLang="zh-CN" sz="2400" b="1" dirty="0">
                <a:solidFill>
                  <a:srgbClr val="000099"/>
                </a:solidFill>
              </a:rPr>
              <a:t>, </a:t>
            </a:r>
          </a:p>
          <a:p>
            <a:pPr eaLnBrk="1" hangingPunct="1"/>
            <a:r>
              <a:rPr lang="zh-CN" altLang="en-US" sz="2400" b="1" dirty="0">
                <a:solidFill>
                  <a:srgbClr val="000099"/>
                </a:solidFill>
              </a:rPr>
              <a:t>学号→系名， </a:t>
            </a:r>
            <a:r>
              <a:rPr lang="en-US" altLang="zh-CN" sz="2400" b="1" dirty="0">
                <a:solidFill>
                  <a:srgbClr val="000099"/>
                </a:solidFill>
              </a:rPr>
              <a:t>(</a:t>
            </a:r>
            <a:r>
              <a:rPr lang="zh-CN" altLang="en-US" sz="2400" b="1" dirty="0">
                <a:solidFill>
                  <a:srgbClr val="000099"/>
                </a:solidFill>
              </a:rPr>
              <a:t>学号</a:t>
            </a:r>
            <a:r>
              <a:rPr lang="en-US" altLang="zh-CN" sz="2400" b="1" dirty="0">
                <a:solidFill>
                  <a:srgbClr val="000099"/>
                </a:solidFill>
              </a:rPr>
              <a:t>,</a:t>
            </a:r>
            <a:r>
              <a:rPr lang="zh-CN" altLang="en-US" sz="2400" b="1" dirty="0">
                <a:solidFill>
                  <a:srgbClr val="000099"/>
                </a:solidFill>
              </a:rPr>
              <a:t>课程号</a:t>
            </a:r>
            <a:r>
              <a:rPr lang="en-US" altLang="zh-CN" sz="2400" b="1" dirty="0">
                <a:solidFill>
                  <a:srgbClr val="000099"/>
                </a:solidFill>
              </a:rPr>
              <a:t>) → </a:t>
            </a:r>
            <a:r>
              <a:rPr lang="zh-CN" altLang="en-US" sz="2400" b="1" dirty="0">
                <a:solidFill>
                  <a:srgbClr val="000099"/>
                </a:solidFill>
              </a:rPr>
              <a:t>分数</a:t>
            </a: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</a:p>
          <a:p>
            <a:pPr eaLnBrk="1" hangingPunct="1"/>
            <a:endParaRPr lang="en-US" altLang="zh-CN" sz="2400" b="1" dirty="0">
              <a:solidFill>
                <a:srgbClr val="000099"/>
              </a:solidFill>
            </a:endParaRPr>
          </a:p>
          <a:p>
            <a:pPr eaLnBrk="1" hangingPunct="1"/>
            <a:r>
              <a:rPr lang="en-US" altLang="zh-CN" sz="2400" b="1" dirty="0">
                <a:solidFill>
                  <a:srgbClr val="000099"/>
                </a:solidFill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</a:rPr>
              <a:t>、</a:t>
            </a:r>
            <a:r>
              <a:rPr lang="zh-CN" altLang="en-US" sz="2400" b="1" dirty="0"/>
              <a:t>去掉每一函数依赖左边多余的属性</a:t>
            </a:r>
          </a:p>
          <a:p>
            <a:pPr eaLnBrk="1" hangingPunct="1"/>
            <a:r>
              <a:rPr lang="zh-CN" altLang="en-US" sz="2400" b="1" dirty="0">
                <a:solidFill>
                  <a:srgbClr val="FF00FF"/>
                </a:solidFill>
              </a:rPr>
              <a:t>    </a:t>
            </a:r>
            <a:r>
              <a:rPr lang="en-US" altLang="zh-CN" sz="2400" b="1" dirty="0">
                <a:solidFill>
                  <a:srgbClr val="FF00FF"/>
                </a:solidFill>
              </a:rPr>
              <a:t>(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学号</a:t>
            </a:r>
            <a:r>
              <a:rPr lang="en-US" altLang="zh-CN" sz="2400" b="1" dirty="0">
                <a:solidFill>
                  <a:srgbClr val="FF00FF"/>
                </a:solidFill>
              </a:rPr>
              <a:t>,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课程号</a:t>
            </a:r>
            <a:r>
              <a:rPr lang="en-US" altLang="zh-CN" sz="2400" b="1" dirty="0">
                <a:solidFill>
                  <a:srgbClr val="FF00FF"/>
                </a:solidFill>
              </a:rPr>
              <a:t>) → </a:t>
            </a:r>
            <a:r>
              <a:rPr kumimoji="1" lang="zh-CN" altLang="en-US" sz="2400" b="1" dirty="0">
                <a:solidFill>
                  <a:srgbClr val="FF00FF"/>
                </a:solidFill>
              </a:rPr>
              <a:t>分数</a:t>
            </a:r>
            <a:r>
              <a:rPr lang="zh-CN" altLang="en-US" sz="2400" b="1" dirty="0">
                <a:solidFill>
                  <a:srgbClr val="000099"/>
                </a:solidFill>
              </a:rPr>
              <a:t>，分别检查“学号”、“课程号”在</a:t>
            </a:r>
            <a:r>
              <a:rPr lang="en-US" altLang="zh-CN" sz="2400" b="1" dirty="0" err="1">
                <a:solidFill>
                  <a:srgbClr val="000099"/>
                </a:solidFill>
              </a:rPr>
              <a:t>G7</a:t>
            </a:r>
            <a:r>
              <a:rPr lang="zh-CN" altLang="en-US" sz="2400" b="1" dirty="0">
                <a:solidFill>
                  <a:srgbClr val="000099"/>
                </a:solidFill>
              </a:rPr>
              <a:t>上的闭包是否包含“分数”，由于不包含，所以</a:t>
            </a:r>
            <a:r>
              <a:rPr lang="en-US" altLang="zh-CN" sz="2400" b="1" dirty="0" err="1">
                <a:solidFill>
                  <a:srgbClr val="000099"/>
                </a:solidFill>
              </a:rPr>
              <a:t>G7</a:t>
            </a:r>
            <a:r>
              <a:rPr lang="zh-CN" altLang="en-US" sz="2400" b="1" dirty="0">
                <a:solidFill>
                  <a:srgbClr val="000099"/>
                </a:solidFill>
              </a:rPr>
              <a:t>为最小函数依赖集。</a:t>
            </a: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457200" y="41275"/>
            <a:ext cx="82296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sym typeface="微软雅黑" pitchFamily="34" charset="-122"/>
              </a:rPr>
              <a:t>数据依赖的公理系统（续） </a:t>
            </a: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906E52C8-197F-B9BB-1E20-4D7A1D32D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993030"/>
            <a:ext cx="756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99"/>
                </a:solidFill>
              </a:rPr>
              <a:t>F={</a:t>
            </a:r>
            <a:r>
              <a:rPr kumimoji="1" lang="zh-CN" altLang="en-US" sz="2400" b="1" dirty="0"/>
              <a:t>学号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姓名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课程号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课程名</a:t>
            </a:r>
            <a:r>
              <a:rPr kumimoji="1" lang="en-US" altLang="zh-CN" sz="2400" b="1" dirty="0"/>
              <a:t>,</a:t>
            </a:r>
            <a:r>
              <a:rPr kumimoji="1" lang="zh-CN" altLang="en-US" sz="2400" b="1" dirty="0"/>
              <a:t>系名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系主任</a:t>
            </a:r>
            <a:r>
              <a:rPr kumimoji="1" lang="en-US" altLang="zh-CN" sz="2400" b="1" dirty="0"/>
              <a:t>,</a:t>
            </a:r>
          </a:p>
          <a:p>
            <a:pPr eaLnBrk="1" hangingPunct="1"/>
            <a:r>
              <a:rPr kumimoji="1" lang="en-US" altLang="zh-CN" sz="2400" b="1" dirty="0"/>
              <a:t>  </a:t>
            </a:r>
            <a:r>
              <a:rPr kumimoji="1" lang="zh-CN" altLang="en-US" sz="2400" b="1" dirty="0"/>
              <a:t>学号→系主任，学号</a:t>
            </a:r>
            <a:r>
              <a:rPr lang="zh-CN" altLang="en-US" sz="2400" b="1" dirty="0"/>
              <a:t>→</a:t>
            </a:r>
            <a:r>
              <a:rPr kumimoji="1" lang="zh-CN" altLang="en-US" sz="2400" b="1" dirty="0"/>
              <a:t>系名</a:t>
            </a:r>
            <a:r>
              <a:rPr kumimoji="1" lang="en-US" altLang="zh-CN" sz="2400" b="1" dirty="0"/>
              <a:t>, </a:t>
            </a:r>
            <a:r>
              <a:rPr lang="en-US" altLang="zh-CN" sz="2400" b="1" dirty="0"/>
              <a:t>(</a:t>
            </a:r>
            <a:r>
              <a:rPr kumimoji="1" lang="zh-CN" altLang="en-US" sz="2400" b="1" dirty="0"/>
              <a:t>学号</a:t>
            </a:r>
            <a:r>
              <a:rPr lang="en-US" altLang="zh-CN" sz="2400" b="1" dirty="0"/>
              <a:t>,</a:t>
            </a:r>
            <a:r>
              <a:rPr kumimoji="1" lang="zh-CN" altLang="en-US" sz="2400" b="1" dirty="0"/>
              <a:t>课程号</a:t>
            </a:r>
            <a:r>
              <a:rPr lang="en-US" altLang="zh-CN" sz="2400" b="1" dirty="0"/>
              <a:t>) → </a:t>
            </a:r>
            <a:r>
              <a:rPr kumimoji="1" lang="zh-CN" altLang="en-US" sz="2400" b="1" dirty="0"/>
              <a:t>分数</a:t>
            </a:r>
            <a:r>
              <a:rPr lang="en-US" altLang="zh-CN" sz="2400" b="1" dirty="0">
                <a:solidFill>
                  <a:srgbClr val="000099"/>
                </a:solidFill>
              </a:rPr>
              <a:t>}</a:t>
            </a:r>
          </a:p>
        </p:txBody>
      </p:sp>
      <p:sp>
        <p:nvSpPr>
          <p:cNvPr id="4" name="乘号 3">
            <a:extLst>
              <a:ext uri="{FF2B5EF4-FFF2-40B4-BE49-F238E27FC236}">
                <a16:creationId xmlns:a16="http://schemas.microsoft.com/office/drawing/2014/main" id="{6D386051-8806-F425-53DF-BC010B78E63C}"/>
              </a:ext>
            </a:extLst>
          </p:cNvPr>
          <p:cNvSpPr/>
          <p:nvPr/>
        </p:nvSpPr>
        <p:spPr bwMode="auto">
          <a:xfrm>
            <a:off x="1681336" y="1295850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乘号 4">
            <a:extLst>
              <a:ext uri="{FF2B5EF4-FFF2-40B4-BE49-F238E27FC236}">
                <a16:creationId xmlns:a16="http://schemas.microsoft.com/office/drawing/2014/main" id="{DF4C77D8-5E5D-9E95-ABD3-A4E7666D8106}"/>
              </a:ext>
            </a:extLst>
          </p:cNvPr>
          <p:cNvSpPr/>
          <p:nvPr/>
        </p:nvSpPr>
        <p:spPr bwMode="auto">
          <a:xfrm>
            <a:off x="6835512" y="1328969"/>
            <a:ext cx="576064" cy="504056"/>
          </a:xfrm>
          <a:prstGeom prst="mathMultiply">
            <a:avLst/>
          </a:prstGeom>
          <a:solidFill>
            <a:srgbClr val="FF00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7F07404-DE39-05A2-EED6-C9FB5EF1ECC9}"/>
              </a:ext>
            </a:extLst>
          </p:cNvPr>
          <p:cNvCxnSpPr>
            <a:cxnSpLocks/>
          </p:cNvCxnSpPr>
          <p:nvPr/>
        </p:nvCxnSpPr>
        <p:spPr bwMode="auto">
          <a:xfrm>
            <a:off x="5312040" y="1404192"/>
            <a:ext cx="402236" cy="395714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4D78E74-9D82-6849-820A-47F3D02C1660}"/>
              </a:ext>
            </a:extLst>
          </p:cNvPr>
          <p:cNvCxnSpPr>
            <a:cxnSpLocks/>
          </p:cNvCxnSpPr>
          <p:nvPr/>
        </p:nvCxnSpPr>
        <p:spPr bwMode="auto">
          <a:xfrm>
            <a:off x="6113980" y="1412776"/>
            <a:ext cx="402236" cy="395714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8219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05826"/>
            <a:ext cx="8607425" cy="2304256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例：已知关系模式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(U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F)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U=﹛A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J﹜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F=﹛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A→B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A→DE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AF→GHI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﹜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的极小函数依赖集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altLang="zh-C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640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31" y="620688"/>
            <a:ext cx="8607425" cy="5929312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例：已知关系模式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(U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F)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U=﹛A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J﹜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F=﹛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A→B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A→DE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AF→GHI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﹜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的极小函数依赖集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altLang="zh-C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化右部为单一属性：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则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F=﹛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A→D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        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﹜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A → B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：记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G=F -﹛</a:t>
            </a:r>
            <a:r>
              <a:rPr lang="en-US" altLang="zh-CN" sz="2000" b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A→B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﹜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因为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﹛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ACDEB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B∈ (A)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，因此可以去掉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F=F-﹛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﹜=﹛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→ C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：记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G=F-﹛ </a:t>
            </a:r>
            <a:r>
              <a:rPr lang="en-US" altLang="zh-CN" sz="2000" b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﹜</a:t>
            </a:r>
            <a:r>
              <a:rPr lang="zh-CN" altLang="en-US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因为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﹛ADEB﹜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，因此不能去掉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F=﹛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17660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28625" y="714375"/>
            <a:ext cx="8464550" cy="566737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altLang="zh-CN" sz="2000" b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A→E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：记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G=F-﹛</a:t>
            </a:r>
            <a:r>
              <a:rPr lang="en-US" altLang="zh-CN" sz="2000" b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A→E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﹜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因为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﹛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ACDEB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E∈ (A)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，因此可以去掉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F=F-﹛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A→E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=﹛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  同理考察：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，它们都不能去掉。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故记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为：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F=﹛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函数依赖左部的分解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﹛DEB﹜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B∈ (D)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因此，可以用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代替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DE→B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记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F=﹛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﹜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296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988" y="1484784"/>
            <a:ext cx="8286750" cy="3929062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②.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因为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﹛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ACDEB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﹛F﹜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所以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(F)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不能用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A→G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F→G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代替 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记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F=﹛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同理，可考察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，它们都应保留。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所以，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=﹛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A→D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D→B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AF→I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I→J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﹜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829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/>
              <a:t>范式分解题</a:t>
            </a:r>
            <a:endParaRPr lang="en-US" sz="3600" dirty="0"/>
          </a:p>
        </p:txBody>
      </p:sp>
      <p:sp>
        <p:nvSpPr>
          <p:cNvPr id="154627" name="内容占位符 4"/>
          <p:cNvSpPr>
            <a:spLocks noGrp="1" noChangeArrowheads="1"/>
          </p:cNvSpPr>
          <p:nvPr>
            <p:ph idx="4294967295"/>
          </p:nvPr>
        </p:nvSpPr>
        <p:spPr>
          <a:xfrm>
            <a:off x="323528" y="1098550"/>
            <a:ext cx="8640960" cy="509587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1</a:t>
            </a:r>
            <a:r>
              <a:rPr lang="zh-CN" altLang="en-US" dirty="0"/>
              <a:t>、设有一个记录各个球队队员每场比赛进球数的关系模式</a:t>
            </a:r>
            <a:endParaRPr lang="en-US" altLang="zh-CN" dirty="0"/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 R(</a:t>
            </a:r>
            <a:r>
              <a:rPr lang="zh-CN" altLang="en-US" dirty="0"/>
              <a:t>队员编号，比赛场次，进球数，球队名，队长名</a:t>
            </a:r>
            <a:r>
              <a:rPr lang="en-US" altLang="zh-CN" dirty="0"/>
              <a:t>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如果规定，每个队员只能属于一个球队，每个球队只有一个队长。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Wingdings" pitchFamily="2" charset="2"/>
              <a:buAutoNum type="arabicParenBoth"/>
            </a:pPr>
            <a:r>
              <a:rPr lang="zh-CN" altLang="en-US" dirty="0"/>
              <a:t>试写出关系模式</a:t>
            </a:r>
            <a:r>
              <a:rPr lang="en-US" altLang="zh-CN" dirty="0"/>
              <a:t>R</a:t>
            </a:r>
            <a:r>
              <a:rPr lang="zh-CN" altLang="en-US" dirty="0"/>
              <a:t>的基本函数依赖和主码。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F={</a:t>
            </a:r>
            <a:r>
              <a:rPr lang="zh-CN" altLang="en-US" dirty="0"/>
              <a:t>队员编号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dirty="0"/>
              <a:t>球队名，球队名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dirty="0"/>
              <a:t>队长名，</a:t>
            </a:r>
            <a:r>
              <a:rPr lang="en-US" altLang="zh-CN" dirty="0"/>
              <a:t>(</a:t>
            </a:r>
            <a:r>
              <a:rPr lang="zh-CN" altLang="en-US" dirty="0"/>
              <a:t>队员编号，比赛场次</a:t>
            </a:r>
            <a:r>
              <a:rPr lang="en-US" altLang="zh-CN" dirty="0"/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dirty="0"/>
              <a:t>进球数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主码</a:t>
            </a:r>
            <a:r>
              <a:rPr lang="en-US" altLang="zh-CN" dirty="0"/>
              <a:t>: (</a:t>
            </a:r>
            <a:r>
              <a:rPr lang="zh-CN" altLang="en-US" dirty="0"/>
              <a:t>队员编号，比赛场次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413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220"/>
            <a:ext cx="8229600" cy="1128713"/>
          </a:xfrm>
        </p:spPr>
        <p:txBody>
          <a:bodyPr/>
          <a:lstStyle/>
          <a:p>
            <a:r>
              <a:rPr lang="zh-CN" altLang="en-US" sz="3600" dirty="0"/>
              <a:t>范式分解题</a:t>
            </a:r>
            <a:endParaRPr lang="en-US" sz="3600" dirty="0"/>
          </a:p>
        </p:txBody>
      </p:sp>
      <p:sp>
        <p:nvSpPr>
          <p:cNvPr id="2" name="内容占位符 4">
            <a:extLst>
              <a:ext uri="{FF2B5EF4-FFF2-40B4-BE49-F238E27FC236}">
                <a16:creationId xmlns:a16="http://schemas.microsoft.com/office/drawing/2014/main" id="{42EECE80-868E-8772-EF2A-3B9BB1A73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54058"/>
            <a:ext cx="8507288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kern="0" dirty="0"/>
              <a:t>(2) </a:t>
            </a:r>
            <a:r>
              <a:rPr lang="zh-CN" altLang="en-US" kern="0" dirty="0"/>
              <a:t>说明</a:t>
            </a:r>
            <a:r>
              <a:rPr lang="en-US" altLang="zh-CN" kern="0" dirty="0"/>
              <a:t>R</a:t>
            </a:r>
            <a:r>
              <a:rPr lang="zh-CN" altLang="en-US" kern="0" dirty="0"/>
              <a:t>不是</a:t>
            </a:r>
            <a:r>
              <a:rPr lang="en-US" altLang="zh-CN" kern="0" dirty="0" err="1"/>
              <a:t>2NF</a:t>
            </a:r>
            <a:r>
              <a:rPr lang="zh-CN" altLang="en-US" kern="0" dirty="0"/>
              <a:t>模式的理由，并把</a:t>
            </a:r>
            <a:r>
              <a:rPr lang="en-US" altLang="zh-CN" kern="0" dirty="0"/>
              <a:t>R</a:t>
            </a:r>
            <a:r>
              <a:rPr lang="zh-CN" altLang="en-US" kern="0" dirty="0"/>
              <a:t>分解成</a:t>
            </a:r>
            <a:r>
              <a:rPr lang="en-US" altLang="zh-CN" kern="0" dirty="0" err="1"/>
              <a:t>2NF</a:t>
            </a:r>
            <a:endParaRPr lang="zh-CN" altLang="en-US" kern="0" dirty="0"/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0F554EA9-2F1F-DAD3-A47C-5D75456F7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362" y="3910790"/>
            <a:ext cx="8507288" cy="1093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因为含有部分函数依赖，队员编号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dirty="0"/>
              <a:t>球队名， </a:t>
            </a:r>
            <a:r>
              <a:rPr lang="en-US" altLang="zh-CN" dirty="0"/>
              <a:t>(</a:t>
            </a:r>
            <a:r>
              <a:rPr lang="zh-CN" altLang="en-US" dirty="0"/>
              <a:t>队员编号，比赛场次</a:t>
            </a:r>
            <a:r>
              <a:rPr lang="en-US" altLang="zh-CN" dirty="0"/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dirty="0"/>
              <a:t>球队名</a:t>
            </a:r>
            <a:endParaRPr lang="zh-CN" altLang="en-US" kern="0" dirty="0"/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4FDC0D25-F0E4-59DB-46B7-1FEF9B933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87" y="5661248"/>
            <a:ext cx="8507288" cy="702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R2</a:t>
            </a:r>
            <a:r>
              <a:rPr lang="en-US" altLang="zh-CN" dirty="0"/>
              <a:t>={</a:t>
            </a:r>
            <a:r>
              <a:rPr lang="zh-CN" altLang="en-US" dirty="0"/>
              <a:t>队员编号，比赛场次，进球数</a:t>
            </a:r>
            <a:r>
              <a:rPr lang="en-US" altLang="zh-CN" dirty="0"/>
              <a:t>}</a:t>
            </a:r>
            <a:endParaRPr lang="zh-CN" altLang="en-US" kern="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222764E-36E4-DA11-5F67-F666ACB39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33" y="4987372"/>
            <a:ext cx="8507288" cy="702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2NF</a:t>
            </a:r>
            <a:r>
              <a:rPr lang="en-US" altLang="zh-CN" dirty="0"/>
              <a:t>: </a:t>
            </a:r>
            <a:r>
              <a:rPr lang="en-US" altLang="zh-CN" dirty="0" err="1"/>
              <a:t>R1</a:t>
            </a:r>
            <a:r>
              <a:rPr lang="en-US" altLang="zh-CN" dirty="0"/>
              <a:t>={</a:t>
            </a:r>
            <a:r>
              <a:rPr lang="zh-CN" altLang="en-US" dirty="0"/>
              <a:t>队员编号，球队名，队长名</a:t>
            </a:r>
            <a:r>
              <a:rPr lang="en-US" altLang="zh-CN" dirty="0"/>
              <a:t>}</a:t>
            </a:r>
            <a:endParaRPr lang="zh-CN" altLang="en-US" kern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8409A6-277A-88F9-5F37-DC2032C0B6DD}"/>
              </a:ext>
            </a:extLst>
          </p:cNvPr>
          <p:cNvSpPr txBox="1"/>
          <p:nvPr/>
        </p:nvSpPr>
        <p:spPr>
          <a:xfrm>
            <a:off x="460308" y="911389"/>
            <a:ext cx="8504180" cy="210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buFont typeface="Wingdings" pitchFamily="2" charset="2"/>
              <a:buAutoNum type="arabicParenBoth"/>
            </a:pPr>
            <a:r>
              <a:rPr lang="zh-CN" altLang="en-US" sz="2800" b="1" dirty="0"/>
              <a:t>试写出关系模式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的基本函数依赖和主码。</a:t>
            </a:r>
            <a:endParaRPr lang="en-US" altLang="zh-CN" sz="28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b="1" dirty="0"/>
              <a:t> F={</a:t>
            </a:r>
            <a:r>
              <a:rPr lang="zh-CN" altLang="en-US" sz="2800" b="1" dirty="0"/>
              <a:t>队员编号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2800" b="1" dirty="0"/>
              <a:t>球队名，球队名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2800" b="1" dirty="0"/>
              <a:t>队长名，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队员编号，比赛场次</a:t>
            </a:r>
            <a:r>
              <a:rPr lang="en-US" altLang="zh-CN" sz="2800" b="1" dirty="0"/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sz="2800" b="1" dirty="0"/>
              <a:t>进球数</a:t>
            </a:r>
            <a:r>
              <a:rPr lang="en-US" altLang="zh-CN" sz="2800" b="1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b="1" dirty="0"/>
              <a:t>主码</a:t>
            </a:r>
            <a:r>
              <a:rPr lang="en-US" altLang="zh-CN" sz="2800" b="1" dirty="0"/>
              <a:t>: (</a:t>
            </a:r>
            <a:r>
              <a:rPr lang="zh-CN" altLang="en-US" sz="2800" b="1" dirty="0"/>
              <a:t>队员编号，比赛场次</a:t>
            </a:r>
            <a:r>
              <a:rPr lang="en-US" altLang="zh-CN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277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220"/>
            <a:ext cx="8229600" cy="1128713"/>
          </a:xfrm>
        </p:spPr>
        <p:txBody>
          <a:bodyPr/>
          <a:lstStyle/>
          <a:p>
            <a:r>
              <a:rPr lang="zh-CN" altLang="en-US" sz="3600" dirty="0"/>
              <a:t>范式分解题</a:t>
            </a:r>
            <a:endParaRPr lang="en-US" sz="3600" dirty="0"/>
          </a:p>
        </p:txBody>
      </p:sp>
      <p:sp>
        <p:nvSpPr>
          <p:cNvPr id="2" name="内容占位符 4">
            <a:extLst>
              <a:ext uri="{FF2B5EF4-FFF2-40B4-BE49-F238E27FC236}">
                <a16:creationId xmlns:a16="http://schemas.microsoft.com/office/drawing/2014/main" id="{42EECE80-868E-8772-EF2A-3B9BB1A73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33" y="1641389"/>
            <a:ext cx="8507288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kern="0" dirty="0"/>
              <a:t>（</a:t>
            </a:r>
            <a:r>
              <a:rPr lang="en-US" altLang="zh-CN" kern="0" dirty="0"/>
              <a:t>3</a:t>
            </a:r>
            <a:r>
              <a:rPr lang="zh-CN" altLang="en-US" kern="0" dirty="0"/>
              <a:t>）进而将</a:t>
            </a:r>
            <a:r>
              <a:rPr lang="en-US" altLang="zh-CN" kern="0" dirty="0"/>
              <a:t>R</a:t>
            </a:r>
            <a:r>
              <a:rPr lang="zh-CN" altLang="en-US" kern="0" dirty="0"/>
              <a:t>分解成</a:t>
            </a:r>
            <a:r>
              <a:rPr lang="en-US" altLang="zh-CN" kern="0" dirty="0" err="1"/>
              <a:t>3NF</a:t>
            </a:r>
            <a:r>
              <a:rPr lang="zh-CN" altLang="en-US" kern="0" dirty="0"/>
              <a:t>，并说明理由</a:t>
            </a: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0F554EA9-2F1F-DAD3-A47C-5D75456F7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841" y="2510645"/>
            <a:ext cx="8507288" cy="1093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在</a:t>
            </a:r>
            <a:r>
              <a:rPr lang="en-US" altLang="zh-CN" dirty="0" err="1"/>
              <a:t>2NF</a:t>
            </a:r>
            <a:r>
              <a:rPr lang="zh-CN" altLang="en-US" dirty="0"/>
              <a:t>中，</a:t>
            </a:r>
            <a:r>
              <a:rPr lang="en-US" altLang="zh-CN" dirty="0" err="1"/>
              <a:t>R1</a:t>
            </a:r>
            <a:r>
              <a:rPr lang="zh-CN" altLang="en-US" dirty="0"/>
              <a:t>的主键是</a:t>
            </a:r>
            <a:r>
              <a:rPr lang="en-US" altLang="zh-CN" dirty="0"/>
              <a:t>: </a:t>
            </a:r>
            <a:r>
              <a:rPr lang="zh-CN" altLang="en-US" dirty="0"/>
              <a:t>队员编号，队员编号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en-US" dirty="0"/>
              <a:t>队长名，是传递函数依赖关系</a:t>
            </a:r>
            <a:endParaRPr lang="zh-CN" altLang="en-US" kern="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222764E-36E4-DA11-5F67-F666ACB39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006975"/>
            <a:ext cx="7103303" cy="2087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3NF</a:t>
            </a:r>
            <a:r>
              <a:rPr lang="en-US" altLang="zh-CN" dirty="0"/>
              <a:t>: </a:t>
            </a:r>
            <a:r>
              <a:rPr lang="en-US" altLang="zh-CN" dirty="0" err="1"/>
              <a:t>R11</a:t>
            </a:r>
            <a:r>
              <a:rPr lang="en-US" altLang="zh-CN" dirty="0"/>
              <a:t>={</a:t>
            </a:r>
            <a:r>
              <a:rPr lang="zh-CN" altLang="en-US" dirty="0"/>
              <a:t>队员编号，球队名</a:t>
            </a:r>
            <a:r>
              <a:rPr lang="en-US" altLang="zh-CN" dirty="0"/>
              <a:t>}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R12</a:t>
            </a:r>
            <a:r>
              <a:rPr lang="en-US" altLang="zh-CN" dirty="0"/>
              <a:t>={</a:t>
            </a:r>
            <a:r>
              <a:rPr lang="zh-CN" altLang="en-US" dirty="0"/>
              <a:t>球队名，队长名</a:t>
            </a:r>
            <a:r>
              <a:rPr lang="en-US" altLang="zh-CN" dirty="0"/>
              <a:t>}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R2</a:t>
            </a:r>
            <a:r>
              <a:rPr lang="en-US" altLang="zh-CN" dirty="0"/>
              <a:t>={</a:t>
            </a:r>
            <a:r>
              <a:rPr lang="zh-CN" altLang="en-US" dirty="0"/>
              <a:t>队员编号，比赛场次，进球数</a:t>
            </a:r>
            <a:r>
              <a:rPr lang="en-US" altLang="zh-CN" dirty="0"/>
              <a:t>}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7192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/>
              <a:t>范式分解题</a:t>
            </a:r>
            <a:endParaRPr lang="en-US" sz="36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305568-4A94-D38B-E9C1-6BAB22576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09" y="908720"/>
            <a:ext cx="850728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/>
              <a:t>2</a:t>
            </a:r>
            <a:r>
              <a:rPr lang="zh-CN" altLang="en-US" sz="2400" b="1" dirty="0"/>
              <a:t>、设有关系模式 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（职工名，项目名，工资，部门名，部门经理）</a:t>
            </a:r>
          </a:p>
          <a:p>
            <a:r>
              <a:rPr lang="zh-CN" altLang="en-US" sz="2400" b="1" dirty="0"/>
              <a:t>如果规定，每个职工可参加多个项目，各领一份工资；每个项目只属于一个部门管理；每个部门只有一个经理。</a:t>
            </a:r>
          </a:p>
          <a:p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）试写出关系模式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的基本函数依赖和主码。</a:t>
            </a:r>
          </a:p>
          <a:p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）说明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不是</a:t>
            </a:r>
            <a:r>
              <a:rPr lang="en-US" altLang="zh-CN" sz="2400" b="1" dirty="0" err="1"/>
              <a:t>2NF</a:t>
            </a:r>
            <a:r>
              <a:rPr lang="zh-CN" altLang="en-US" sz="2400" b="1" dirty="0"/>
              <a:t>模式的理由，并把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分解成</a:t>
            </a:r>
            <a:r>
              <a:rPr lang="en-US" altLang="zh-CN" sz="2400" b="1" dirty="0" err="1"/>
              <a:t>2NF</a:t>
            </a:r>
            <a:r>
              <a:rPr lang="zh-CN" altLang="en-US" sz="2400" b="1" dirty="0"/>
              <a:t>。</a:t>
            </a:r>
          </a:p>
          <a:p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）进而将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分解成</a:t>
            </a:r>
            <a:r>
              <a:rPr lang="en-US" altLang="zh-CN" sz="2400" b="1" dirty="0" err="1"/>
              <a:t>3NF</a:t>
            </a:r>
            <a:r>
              <a:rPr lang="zh-CN" altLang="en-US" sz="2400" b="1" dirty="0"/>
              <a:t>，并说明理由。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7BFCB0-5D59-6ED9-2D57-793512EB7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4010288"/>
            <a:ext cx="8305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）根据题意，可知有如下的函数依赖关系：</a:t>
            </a:r>
          </a:p>
          <a:p>
            <a:r>
              <a:rPr lang="en-US" altLang="zh-CN" sz="2400" dirty="0"/>
              <a:t>         (</a:t>
            </a:r>
            <a:r>
              <a:rPr lang="zh-CN" altLang="en-US" sz="2400" dirty="0"/>
              <a:t>职工名，项目名</a:t>
            </a:r>
            <a:r>
              <a:rPr lang="en-US" altLang="zh-CN" sz="2400" dirty="0"/>
              <a:t>)→</a:t>
            </a:r>
            <a:r>
              <a:rPr lang="zh-CN" altLang="en-US" sz="2400" dirty="0"/>
              <a:t>工资</a:t>
            </a:r>
          </a:p>
          <a:p>
            <a:r>
              <a:rPr lang="zh-CN" altLang="en-US" sz="2400" dirty="0"/>
              <a:t>         项目名→部门名</a:t>
            </a:r>
          </a:p>
          <a:p>
            <a:r>
              <a:rPr lang="zh-CN" altLang="en-US" sz="2400" dirty="0"/>
              <a:t>         部门名→部门经理</a:t>
            </a:r>
          </a:p>
          <a:p>
            <a:r>
              <a:rPr lang="zh-CN" altLang="en-US" sz="2400" dirty="0"/>
              <a:t>         所以，主键为</a:t>
            </a:r>
            <a:r>
              <a:rPr lang="en-US" altLang="zh-CN" sz="2400" dirty="0"/>
              <a:t>(</a:t>
            </a:r>
            <a:r>
              <a:rPr lang="zh-CN" altLang="en-US" sz="2400" dirty="0"/>
              <a:t>职工名，项目名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7987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220"/>
            <a:ext cx="8229600" cy="1128713"/>
          </a:xfrm>
        </p:spPr>
        <p:txBody>
          <a:bodyPr/>
          <a:lstStyle/>
          <a:p>
            <a:r>
              <a:rPr lang="zh-CN" altLang="en-US" sz="3600" dirty="0"/>
              <a:t>范式分解题</a:t>
            </a:r>
            <a:endParaRPr lang="en-US" sz="36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1D0BCA7-5441-A1A0-8E4B-BCD5EC15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852936"/>
            <a:ext cx="865549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）根据（</a:t>
            </a:r>
            <a:r>
              <a:rPr lang="en-US" altLang="zh-CN" sz="2400" dirty="0"/>
              <a:t>1</a:t>
            </a:r>
            <a:r>
              <a:rPr lang="zh-CN" altLang="en-US" sz="2400" dirty="0"/>
              <a:t>），由于部门名、部门经理只是部分依赖于主键，所以该关系模式不是</a:t>
            </a:r>
            <a:r>
              <a:rPr lang="en-US" altLang="zh-CN" sz="2400" dirty="0" err="1"/>
              <a:t>2NF</a:t>
            </a:r>
            <a:r>
              <a:rPr lang="zh-CN" altLang="en-US" sz="2400" dirty="0"/>
              <a:t>。应该做如下分解：</a:t>
            </a:r>
          </a:p>
          <a:p>
            <a:r>
              <a:rPr lang="en-US" altLang="zh-CN" sz="2400" dirty="0"/>
              <a:t>         </a:t>
            </a:r>
            <a:r>
              <a:rPr lang="en-US" altLang="zh-CN" sz="2400" dirty="0" err="1"/>
              <a:t>R1</a:t>
            </a:r>
            <a:r>
              <a:rPr lang="zh-CN" altLang="en-US" sz="2400" dirty="0"/>
              <a:t>（项目名，部门名，部门经理）</a:t>
            </a:r>
          </a:p>
          <a:p>
            <a:r>
              <a:rPr lang="en-US" altLang="zh-CN" sz="2400" dirty="0"/>
              <a:t>         </a:t>
            </a:r>
            <a:r>
              <a:rPr lang="en-US" altLang="zh-CN" sz="2400" dirty="0" err="1"/>
              <a:t>R2</a:t>
            </a:r>
            <a:r>
              <a:rPr lang="zh-CN" altLang="en-US" sz="2400" dirty="0"/>
              <a:t>（职工名，项目名，工资）是</a:t>
            </a:r>
            <a:r>
              <a:rPr lang="en-US" altLang="zh-CN" sz="2400" dirty="0" err="1"/>
              <a:t>3NF</a:t>
            </a:r>
            <a:r>
              <a:rPr lang="zh-CN" altLang="en-US" sz="2400" dirty="0"/>
              <a:t>模式。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88880D3-9770-4C2F-1589-734988B5B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4580039"/>
            <a:ext cx="86554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 err="1"/>
              <a:t>R2</a:t>
            </a:r>
            <a:r>
              <a:rPr lang="zh-CN" altLang="en-US" sz="2400" dirty="0"/>
              <a:t>已经是</a:t>
            </a:r>
            <a:r>
              <a:rPr lang="en-US" altLang="zh-CN" sz="2400" dirty="0" err="1"/>
              <a:t>3NF</a:t>
            </a:r>
            <a:r>
              <a:rPr lang="zh-CN" altLang="en-US" sz="2400" dirty="0"/>
              <a:t>，但</a:t>
            </a:r>
            <a:r>
              <a:rPr lang="en-US" altLang="zh-CN" sz="2400" dirty="0" err="1"/>
              <a:t>R1</a:t>
            </a:r>
            <a:r>
              <a:rPr lang="zh-CN" altLang="en-US" sz="2400" dirty="0"/>
              <a:t>不是，因为部门经理传递依赖于项目名，故应该做如下分解：</a:t>
            </a:r>
          </a:p>
          <a:p>
            <a:r>
              <a:rPr lang="en-US" altLang="zh-CN" sz="2400" dirty="0"/>
              <a:t>         </a:t>
            </a:r>
            <a:r>
              <a:rPr lang="en-US" altLang="zh-CN" sz="2400" dirty="0" err="1"/>
              <a:t>R11</a:t>
            </a:r>
            <a:r>
              <a:rPr lang="zh-CN" altLang="en-US" sz="2400" dirty="0"/>
              <a:t>（项目名，部门名）</a:t>
            </a:r>
          </a:p>
          <a:p>
            <a:r>
              <a:rPr lang="en-US" altLang="zh-CN" sz="2400" dirty="0"/>
              <a:t>         </a:t>
            </a:r>
            <a:r>
              <a:rPr lang="en-US" altLang="zh-CN" sz="2400" dirty="0" err="1"/>
              <a:t>R12</a:t>
            </a:r>
            <a:r>
              <a:rPr lang="zh-CN" altLang="en-US" sz="2400" dirty="0"/>
              <a:t>（部门名，部门经理）</a:t>
            </a:r>
          </a:p>
          <a:p>
            <a:r>
              <a:rPr lang="zh-CN" altLang="en-US" sz="2400" dirty="0"/>
              <a:t>分解后形成的三个关系模式</a:t>
            </a:r>
            <a:r>
              <a:rPr lang="en-US" altLang="zh-CN" sz="2400" dirty="0" err="1"/>
              <a:t>R11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R12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R2</a:t>
            </a:r>
            <a:r>
              <a:rPr lang="zh-CN" altLang="en-US" sz="2400" dirty="0"/>
              <a:t>均是</a:t>
            </a:r>
            <a:r>
              <a:rPr lang="en-US" altLang="zh-CN" sz="2400" dirty="0" err="1"/>
              <a:t>3NF</a:t>
            </a:r>
            <a:r>
              <a:rPr lang="zh-CN" altLang="en-US" sz="2400" dirty="0"/>
              <a:t>模式。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45297A2-327C-AD60-F362-52EEB9CA3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913944"/>
            <a:ext cx="8305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）根据题意，可知有如下的函数依赖关系：</a:t>
            </a:r>
          </a:p>
          <a:p>
            <a:r>
              <a:rPr lang="en-US" altLang="zh-CN" sz="2400" dirty="0"/>
              <a:t>         (</a:t>
            </a:r>
            <a:r>
              <a:rPr lang="zh-CN" altLang="en-US" sz="2400" dirty="0"/>
              <a:t>职工名，项目名</a:t>
            </a:r>
            <a:r>
              <a:rPr lang="en-US" altLang="zh-CN" sz="2400" dirty="0"/>
              <a:t>)→</a:t>
            </a:r>
            <a:r>
              <a:rPr lang="zh-CN" altLang="en-US" sz="2400" dirty="0"/>
              <a:t>工资</a:t>
            </a:r>
          </a:p>
          <a:p>
            <a:r>
              <a:rPr lang="zh-CN" altLang="en-US" sz="2400" dirty="0"/>
              <a:t>         项目名→部门名</a:t>
            </a:r>
          </a:p>
          <a:p>
            <a:r>
              <a:rPr lang="zh-CN" altLang="en-US" sz="2400" dirty="0"/>
              <a:t>         部门名→部门经理</a:t>
            </a:r>
          </a:p>
          <a:p>
            <a:r>
              <a:rPr lang="zh-CN" altLang="en-US" sz="2400" dirty="0"/>
              <a:t>         所以，主键为</a:t>
            </a:r>
            <a:r>
              <a:rPr lang="en-US" altLang="zh-CN" sz="2400" dirty="0"/>
              <a:t>(</a:t>
            </a:r>
            <a:r>
              <a:rPr lang="zh-CN" altLang="en-US" sz="2400" dirty="0"/>
              <a:t>职工名，项目名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4934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4233</Words>
  <Application>Microsoft Office PowerPoint</Application>
  <PresentationFormat>全屏显示(4:3)</PresentationFormat>
  <Paragraphs>273</Paragraphs>
  <Slides>34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Monotype Sorts</vt:lpstr>
      <vt:lpstr>Times-Roman</vt:lpstr>
      <vt:lpstr>黑体</vt:lpstr>
      <vt:lpstr>华文琥珀</vt:lpstr>
      <vt:lpstr>宋体</vt:lpstr>
      <vt:lpstr>微软雅黑</vt:lpstr>
      <vt:lpstr>Arial</vt:lpstr>
      <vt:lpstr>Calibri</vt:lpstr>
      <vt:lpstr>Tahoma</vt:lpstr>
      <vt:lpstr>Times New Roman</vt:lpstr>
      <vt:lpstr>Wingdings</vt:lpstr>
      <vt:lpstr>数据库系统概论</vt:lpstr>
      <vt:lpstr>PowerPoint 演示文稿</vt:lpstr>
      <vt:lpstr>求闭包算法</vt:lpstr>
      <vt:lpstr>数据依赖的公理系统（续）</vt:lpstr>
      <vt:lpstr>数据依赖的公理系统（续）</vt:lpstr>
      <vt:lpstr>数据依赖的公理系统（续）</vt:lpstr>
      <vt:lpstr>数据依赖的公理系统（续）</vt:lpstr>
      <vt:lpstr>PowerPoint 演示文稿</vt:lpstr>
      <vt:lpstr>PowerPoint 演示文稿</vt:lpstr>
      <vt:lpstr>数据依赖的公理系统（续）</vt:lpstr>
      <vt:lpstr>数据依赖的公理系统（续）</vt:lpstr>
      <vt:lpstr>PowerPoint 演示文稿</vt:lpstr>
      <vt:lpstr>练习题</vt:lpstr>
      <vt:lpstr>练习题</vt:lpstr>
      <vt:lpstr>求最小覆盖</vt:lpstr>
      <vt:lpstr>求最小覆盖（续）</vt:lpstr>
      <vt:lpstr>求最小覆盖（续）</vt:lpstr>
      <vt:lpstr>数据依赖的公理系统（续）</vt:lpstr>
      <vt:lpstr>PowerPoint 演示文稿</vt:lpstr>
      <vt:lpstr>数据依赖的公理系统（续）</vt:lpstr>
      <vt:lpstr>数据依赖的公理系统（续）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范式分解题</vt:lpstr>
      <vt:lpstr>范式分解题</vt:lpstr>
      <vt:lpstr>范式分解题</vt:lpstr>
      <vt:lpstr>范式分解题</vt:lpstr>
      <vt:lpstr>范式分解题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2023-12-15T14:04:31Z</dcterms:modified>
</cp:coreProperties>
</file>